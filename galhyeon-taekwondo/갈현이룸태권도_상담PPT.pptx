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4.png"/><Relationship Id="rId6" Type="http://schemas.openxmlformats.org/officeDocument/2006/relationships/image" Target="../media/image-7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3.png"/><Relationship Id="rId5" Type="http://schemas.openxmlformats.org/officeDocument/2006/relationships/image" Target="../media/image-8-3.png"/><Relationship Id="rId6" Type="http://schemas.openxmlformats.org/officeDocument/2006/relationships/image" Target="../media/image-8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02_logo_brush" descr="A02_logo_brus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859328"/>
            <a:ext cx="6572250" cy="2138969"/>
          </a:xfrm>
          <a:prstGeom prst="rect">
            <a:avLst/>
          </a:prstGeom>
        </p:spPr>
      </p:pic>
      <p:pic>
        <p:nvPicPr>
          <p:cNvPr id="3" name="C01_cover_kick" descr="C01_cover_ki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0148" y="1714500"/>
            <a:ext cx="2133004" cy="3337560"/>
          </a:xfrm>
          <a:prstGeom prst="rect">
            <a:avLst/>
          </a:prstGeom>
        </p:spPr>
      </p:pic>
      <p:sp>
        <p:nvSpPr>
          <p:cNvPr id="4" name="표지 글자 3"/>
          <p:cNvSpPr txBox="1"/>
          <p:nvPr/>
        </p:nvSpPr>
        <p:spPr>
          <a:xfrm>
            <a:off x="285750" y="4796314"/>
            <a:ext cx="35928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90" spc="40" kern="0" dirty="0">
                <a:solidFill>
                  <a:srgbClr val="3D414C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1 / 9</a:t>
            </a:r>
            <a:endParaRPr lang="en-US" sz="990" dirty="0"/>
          </a:p>
        </p:txBody>
      </p:sp>
      <p:sp>
        <p:nvSpPr>
          <p:cNvPr id="5" name="표지 글자 4"/>
          <p:cNvSpPr txBox="1"/>
          <p:nvPr/>
        </p:nvSpPr>
        <p:spPr>
          <a:xfrm>
            <a:off x="662940" y="401479"/>
            <a:ext cx="3453274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30" spc="-49" kern="0" dirty="0">
                <a:solidFill>
                  <a:srgbClr val="262A35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배우고 · 성장하고 · 이루다</a:t>
            </a:r>
            <a:endParaRPr lang="en-US" sz="2430" dirty="0"/>
          </a:p>
        </p:txBody>
      </p:sp>
      <p:sp>
        <p:nvSpPr>
          <p:cNvPr id="6" name="표지 글자 5"/>
          <p:cNvSpPr txBox="1"/>
          <p:nvPr/>
        </p:nvSpPr>
        <p:spPr>
          <a:xfrm>
            <a:off x="1531620" y="3059668"/>
            <a:ext cx="454111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85" spc="297" kern="0" dirty="0">
                <a:solidFill>
                  <a:srgbClr val="15182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GALHYEON IRUM TAEKWONDO</a:t>
            </a:r>
            <a:endParaRPr lang="en-US" sz="1485" dirty="0"/>
          </a:p>
        </p:txBody>
      </p:sp>
      <p:sp>
        <p:nvSpPr>
          <p:cNvPr id="7" name="표지 글자 6"/>
          <p:cNvSpPr txBox="1"/>
          <p:nvPr/>
        </p:nvSpPr>
        <p:spPr>
          <a:xfrm rot="-150000">
            <a:off x="881601" y="3388272"/>
            <a:ext cx="4231572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4752"/>
              </a:lnSpc>
              <a:buNone/>
            </a:pPr>
            <a:r>
              <a:rPr lang="en-US" sz="3960" spc="119" kern="0" dirty="0">
                <a:solidFill>
                  <a:srgbClr val="1B1E28"/>
                </a:solidFill>
                <a:latin typeface="Ownglyph SeokyoungChae" pitchFamily="34" charset="0"/>
                <a:ea typeface="Ownglyph SeokyoungChae" pitchFamily="34" charset="-122"/>
                <a:cs typeface="Ownglyph SeokyoungChae" pitchFamily="34" charset="-120"/>
              </a:rPr>
              <a:t>아이의 오늘이</a:t>
            </a:r>
            <a:endParaRPr lang="en-US" sz="3960" dirty="0"/>
          </a:p>
          <a:p>
            <a:pPr algn="l" indent="0" marL="0">
              <a:lnSpc>
                <a:spcPts val="4752"/>
              </a:lnSpc>
              <a:buNone/>
            </a:pPr>
            <a:r>
              <a:rPr lang="en-US" sz="3960" spc="119" kern="0" dirty="0">
                <a:solidFill>
                  <a:srgbClr val="1B1E28"/>
                </a:solidFill>
                <a:latin typeface="Ownglyph SeokyoungChae" pitchFamily="34" charset="0"/>
                <a:ea typeface="Ownglyph SeokyoungChae" pitchFamily="34" charset="-122"/>
                <a:cs typeface="Ownglyph SeokyoungChae" pitchFamily="34" charset="-120"/>
              </a:rPr>
              <a:t>더 건강한 내일로 이어집니다.</a:t>
            </a:r>
            <a:endParaRPr lang="en-US" sz="39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교육 철학 ellipse 1"/>
          <p:cNvSpPr/>
          <p:nvPr/>
        </p:nvSpPr>
        <p:spPr>
          <a:xfrm>
            <a:off x="765810" y="205740"/>
            <a:ext cx="845820" cy="845820"/>
          </a:xfrm>
          <a:prstGeom prst="ellipse">
            <a:avLst/>
          </a:prstGeom>
          <a:solidFill>
            <a:srgbClr val="E2302A"/>
          </a:solidFill>
          <a:ln/>
          <a:effectLst>
            <a:outerShdw sx="100000" sy="100000" kx="0" ky="0" algn="bl" rotWithShape="0" blurRad="101600" dist="25400" dir="5400000">
              <a:srgbClr val="2A2040">
                <a:alpha val="12000"/>
              </a:srgbClr>
            </a:outerShdw>
          </a:effectLst>
        </p:spPr>
      </p:sp>
      <p:pic>
        <p:nvPicPr>
          <p:cNvPr id="3" name="I01_body" descr="I01_bod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931670"/>
            <a:ext cx="1440180" cy="1440180"/>
          </a:xfrm>
          <a:prstGeom prst="rect">
            <a:avLst/>
          </a:prstGeom>
        </p:spPr>
      </p:pic>
      <p:pic>
        <p:nvPicPr>
          <p:cNvPr id="4" name="I02_mind" descr="I02_min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0345" y="1876075"/>
            <a:ext cx="1440180" cy="1437069"/>
          </a:xfrm>
          <a:prstGeom prst="rect">
            <a:avLst/>
          </a:prstGeom>
        </p:spPr>
      </p:pic>
      <p:pic>
        <p:nvPicPr>
          <p:cNvPr id="5" name="I03_confidence" descr="I03_confidenc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2045" y="1876072"/>
            <a:ext cx="1440180" cy="1437076"/>
          </a:xfrm>
          <a:prstGeom prst="rect">
            <a:avLst/>
          </a:prstGeom>
        </p:spPr>
      </p:pic>
      <p:pic>
        <p:nvPicPr>
          <p:cNvPr id="6" name="I04_social" descr="I04_socia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3740" y="1877611"/>
            <a:ext cx="1440180" cy="1433999"/>
          </a:xfrm>
          <a:prstGeom prst="rect">
            <a:avLst/>
          </a:prstGeom>
        </p:spPr>
      </p:pic>
      <p:sp>
        <p:nvSpPr>
          <p:cNvPr id="7" name="교육 철학 글자 6"/>
          <p:cNvSpPr txBox="1"/>
          <p:nvPr/>
        </p:nvSpPr>
        <p:spPr>
          <a:xfrm>
            <a:off x="848706" y="382905"/>
            <a:ext cx="680028" cy="5200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150" dirty="0">
                <a:solidFill>
                  <a:srgbClr val="FFFFFF"/>
                </a:solidFill>
                <a:latin typeface="Recipekorea" pitchFamily="34" charset="0"/>
                <a:ea typeface="Recipekorea" pitchFamily="34" charset="-122"/>
                <a:cs typeface="Recipekorea" pitchFamily="34" charset="-120"/>
              </a:rPr>
              <a:t>01</a:t>
            </a:r>
            <a:endParaRPr lang="en-US" sz="3150" dirty="0"/>
          </a:p>
        </p:txBody>
      </p:sp>
      <p:sp>
        <p:nvSpPr>
          <p:cNvPr id="8" name="교육 철학 글자 7"/>
          <p:cNvSpPr txBox="1"/>
          <p:nvPr/>
        </p:nvSpPr>
        <p:spPr>
          <a:xfrm>
            <a:off x="1885950" y="257175"/>
            <a:ext cx="2716682" cy="7372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500" spc="-23" kern="0" dirty="0">
                <a:solidFill>
                  <a:srgbClr val="16224F"/>
                </a:solidFill>
                <a:latin typeface="Recipekorea" pitchFamily="34" charset="0"/>
                <a:ea typeface="Recipekorea" pitchFamily="34" charset="-122"/>
                <a:cs typeface="Recipekorea" pitchFamily="34" charset="-120"/>
              </a:rPr>
              <a:t>교육 철학</a:t>
            </a:r>
            <a:endParaRPr lang="en-US" sz="4500" dirty="0"/>
          </a:p>
        </p:txBody>
      </p:sp>
      <p:sp>
        <p:nvSpPr>
          <p:cNvPr id="9" name="교육 철학 글자 8"/>
          <p:cNvSpPr txBox="1"/>
          <p:nvPr/>
        </p:nvSpPr>
        <p:spPr>
          <a:xfrm>
            <a:off x="1735874" y="1069268"/>
            <a:ext cx="5672252" cy="7520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961"/>
              </a:lnSpc>
              <a:buNone/>
            </a:pPr>
            <a:r>
              <a:rPr lang="en-US" sz="2115" spc="-42" kern="0" dirty="0">
                <a:solidFill>
                  <a:srgbClr val="2B2F3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“태권도를 통해 아이의 몸과 마음이 함께 성장하는</a:t>
            </a:r>
            <a:endParaRPr lang="en-US" sz="2115" dirty="0"/>
          </a:p>
          <a:p>
            <a:pPr algn="ctr" indent="0" marL="0">
              <a:lnSpc>
                <a:spcPts val="2961"/>
              </a:lnSpc>
              <a:buNone/>
            </a:pPr>
            <a:r>
              <a:rPr lang="en-US" sz="2115" spc="-42" kern="0" dirty="0">
                <a:solidFill>
                  <a:srgbClr val="2B2F3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건강하고 바른 인재를 키웁니다.”</a:t>
            </a:r>
            <a:endParaRPr lang="en-US" sz="2115" dirty="0"/>
          </a:p>
        </p:txBody>
      </p:sp>
      <p:sp>
        <p:nvSpPr>
          <p:cNvPr id="10" name="교육 철학 글자 9"/>
          <p:cNvSpPr txBox="1"/>
          <p:nvPr/>
        </p:nvSpPr>
        <p:spPr>
          <a:xfrm>
            <a:off x="373847" y="3469005"/>
            <a:ext cx="1949787" cy="4171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20" dirty="0">
                <a:solidFill>
                  <a:srgbClr val="16224F"/>
                </a:solidFill>
                <a:latin typeface="Recipekorea" pitchFamily="34" charset="0"/>
                <a:ea typeface="Recipekorea" pitchFamily="34" charset="-122"/>
                <a:cs typeface="Recipekorea" pitchFamily="34" charset="-120"/>
              </a:rPr>
              <a:t>건강한 신체</a:t>
            </a:r>
            <a:endParaRPr lang="en-US" sz="2520" dirty="0"/>
          </a:p>
        </p:txBody>
      </p:sp>
      <p:sp>
        <p:nvSpPr>
          <p:cNvPr id="11" name="교육 철학 글자 10"/>
          <p:cNvSpPr txBox="1"/>
          <p:nvPr/>
        </p:nvSpPr>
        <p:spPr>
          <a:xfrm>
            <a:off x="684886" y="3931547"/>
            <a:ext cx="1327709" cy="5843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620" spc="-32" kern="0" dirty="0">
                <a:solidFill>
                  <a:srgbClr val="3A3E4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기초 체력과</a:t>
            </a:r>
            <a:endParaRPr lang="en-US" sz="1620" dirty="0"/>
          </a:p>
          <a:p>
            <a:pPr algn="ctr" indent="0" marL="0">
              <a:lnSpc>
                <a:spcPts val="2300"/>
              </a:lnSpc>
              <a:buNone/>
            </a:pPr>
            <a:r>
              <a:rPr lang="en-US" sz="1620" spc="-32" kern="0" dirty="0">
                <a:solidFill>
                  <a:srgbClr val="3A3E4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운동 능력 향상</a:t>
            </a:r>
            <a:endParaRPr lang="en-US" sz="1620" dirty="0"/>
          </a:p>
        </p:txBody>
      </p:sp>
      <p:sp>
        <p:nvSpPr>
          <p:cNvPr id="12" name="교육 철학 글자 11"/>
          <p:cNvSpPr txBox="1"/>
          <p:nvPr/>
        </p:nvSpPr>
        <p:spPr>
          <a:xfrm>
            <a:off x="2693671" y="3411855"/>
            <a:ext cx="1573440" cy="4171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20" dirty="0">
                <a:solidFill>
                  <a:srgbClr val="16224F"/>
                </a:solidFill>
                <a:latin typeface="Recipekorea" pitchFamily="34" charset="0"/>
                <a:ea typeface="Recipekorea" pitchFamily="34" charset="-122"/>
                <a:cs typeface="Recipekorea" pitchFamily="34" charset="-120"/>
              </a:rPr>
              <a:t>바른 인성</a:t>
            </a:r>
            <a:endParaRPr lang="en-US" sz="2520" dirty="0"/>
          </a:p>
        </p:txBody>
      </p:sp>
      <p:sp>
        <p:nvSpPr>
          <p:cNvPr id="13" name="교육 철학 글자 12"/>
          <p:cNvSpPr txBox="1"/>
          <p:nvPr/>
        </p:nvSpPr>
        <p:spPr>
          <a:xfrm>
            <a:off x="2762174" y="3874366"/>
            <a:ext cx="1436522" cy="87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620" spc="-32" kern="0" dirty="0">
                <a:solidFill>
                  <a:srgbClr val="3A3E4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예의, 인내, 질서</a:t>
            </a:r>
            <a:endParaRPr lang="en-US" sz="1620" dirty="0"/>
          </a:p>
          <a:p>
            <a:pPr algn="ctr" indent="0" marL="0">
              <a:lnSpc>
                <a:spcPts val="2300"/>
              </a:lnSpc>
              <a:buNone/>
            </a:pPr>
            <a:r>
              <a:rPr lang="en-US" sz="1620" spc="-32" kern="0" dirty="0">
                <a:solidFill>
                  <a:srgbClr val="3A3E4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배려 등 올바른</a:t>
            </a:r>
            <a:endParaRPr lang="en-US" sz="1620" dirty="0"/>
          </a:p>
          <a:p>
            <a:pPr algn="ctr" indent="0" marL="0">
              <a:lnSpc>
                <a:spcPts val="2300"/>
              </a:lnSpc>
              <a:buNone/>
            </a:pPr>
            <a:r>
              <a:rPr lang="en-US" sz="1620" spc="-32" kern="0" dirty="0">
                <a:solidFill>
                  <a:srgbClr val="3A3E4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가치관 형성</a:t>
            </a:r>
            <a:endParaRPr lang="en-US" sz="1620" dirty="0"/>
          </a:p>
        </p:txBody>
      </p:sp>
      <p:sp>
        <p:nvSpPr>
          <p:cNvPr id="14" name="교육 철학 글자 13"/>
          <p:cNvSpPr txBox="1"/>
          <p:nvPr/>
        </p:nvSpPr>
        <p:spPr>
          <a:xfrm>
            <a:off x="5085893" y="3411855"/>
            <a:ext cx="1132484" cy="4171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20" dirty="0">
                <a:solidFill>
                  <a:srgbClr val="16224F"/>
                </a:solidFill>
                <a:latin typeface="Recipekorea" pitchFamily="34" charset="0"/>
                <a:ea typeface="Recipekorea" pitchFamily="34" charset="-122"/>
                <a:cs typeface="Recipekorea" pitchFamily="34" charset="-120"/>
              </a:rPr>
              <a:t>자신감</a:t>
            </a:r>
            <a:endParaRPr lang="en-US" sz="2520" dirty="0"/>
          </a:p>
        </p:txBody>
      </p:sp>
      <p:sp>
        <p:nvSpPr>
          <p:cNvPr id="15" name="교육 철학 글자 14"/>
          <p:cNvSpPr txBox="1"/>
          <p:nvPr/>
        </p:nvSpPr>
        <p:spPr>
          <a:xfrm>
            <a:off x="4916777" y="3874397"/>
            <a:ext cx="1470627" cy="5843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620" spc="-32" kern="0" dirty="0">
                <a:solidFill>
                  <a:srgbClr val="3A3E4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도전하는 마음과</a:t>
            </a:r>
            <a:endParaRPr lang="en-US" sz="1620" dirty="0"/>
          </a:p>
          <a:p>
            <a:pPr algn="ctr" indent="0" marL="0">
              <a:lnSpc>
                <a:spcPts val="2300"/>
              </a:lnSpc>
              <a:buNone/>
            </a:pPr>
            <a:r>
              <a:rPr lang="en-US" sz="1620" spc="-32" kern="0" dirty="0">
                <a:solidFill>
                  <a:srgbClr val="3A3E4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성취 경험</a:t>
            </a:r>
            <a:endParaRPr lang="en-US" sz="1620" dirty="0"/>
          </a:p>
        </p:txBody>
      </p:sp>
      <p:sp>
        <p:nvSpPr>
          <p:cNvPr id="16" name="교육 철학 글자 15"/>
          <p:cNvSpPr txBox="1"/>
          <p:nvPr/>
        </p:nvSpPr>
        <p:spPr>
          <a:xfrm>
            <a:off x="7217588" y="3411855"/>
            <a:ext cx="1132484" cy="4171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20" dirty="0">
                <a:solidFill>
                  <a:srgbClr val="16224F"/>
                </a:solidFill>
                <a:latin typeface="Recipekorea" pitchFamily="34" charset="0"/>
                <a:ea typeface="Recipekorea" pitchFamily="34" charset="-122"/>
                <a:cs typeface="Recipekorea" pitchFamily="34" charset="-120"/>
              </a:rPr>
              <a:t>사회성</a:t>
            </a:r>
            <a:endParaRPr lang="en-US" sz="2520" dirty="0"/>
          </a:p>
        </p:txBody>
      </p:sp>
      <p:sp>
        <p:nvSpPr>
          <p:cNvPr id="17" name="교육 철학 글자 16"/>
          <p:cNvSpPr txBox="1"/>
          <p:nvPr/>
        </p:nvSpPr>
        <p:spPr>
          <a:xfrm>
            <a:off x="7242996" y="3874397"/>
            <a:ext cx="1081578" cy="5843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620" spc="-32" kern="0" dirty="0">
                <a:solidFill>
                  <a:srgbClr val="3A3E4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함께 배우며</a:t>
            </a:r>
            <a:endParaRPr lang="en-US" sz="1620" dirty="0"/>
          </a:p>
          <a:p>
            <a:pPr algn="ctr" indent="0" marL="0">
              <a:lnSpc>
                <a:spcPts val="2300"/>
              </a:lnSpc>
              <a:buNone/>
            </a:pPr>
            <a:r>
              <a:rPr lang="en-US" sz="1620" spc="-32" kern="0" dirty="0">
                <a:solidFill>
                  <a:srgbClr val="3A3E4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더불어 성장</a:t>
            </a:r>
            <a:endParaRPr lang="en-US" sz="1620" dirty="0"/>
          </a:p>
        </p:txBody>
      </p:sp>
      <p:sp>
        <p:nvSpPr>
          <p:cNvPr id="18" name="교육 철학 글자 17"/>
          <p:cNvSpPr txBox="1"/>
          <p:nvPr/>
        </p:nvSpPr>
        <p:spPr>
          <a:xfrm>
            <a:off x="285750" y="4796314"/>
            <a:ext cx="37929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90" spc="40" kern="0" dirty="0">
                <a:solidFill>
                  <a:srgbClr val="3D414C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2 / 9</a:t>
            </a:r>
            <a:endParaRPr lang="en-US" sz="99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유치부 프로그램 rrect 1"/>
          <p:cNvSpPr/>
          <p:nvPr/>
        </p:nvSpPr>
        <p:spPr>
          <a:xfrm>
            <a:off x="5657850" y="262890"/>
            <a:ext cx="3234690" cy="857250"/>
          </a:xfrm>
          <a:prstGeom prst="roundRect">
            <a:avLst>
              <a:gd name="adj" fmla="val 29333"/>
            </a:avLst>
          </a:prstGeom>
          <a:solidFill>
            <a:srgbClr val="FCD6DD"/>
          </a:solidFill>
          <a:ln/>
        </p:spPr>
      </p:sp>
      <p:sp>
        <p:nvSpPr>
          <p:cNvPr id="3" name="유치부 프로그램 rrect 2"/>
          <p:cNvSpPr/>
          <p:nvPr/>
        </p:nvSpPr>
        <p:spPr>
          <a:xfrm>
            <a:off x="274320" y="1394460"/>
            <a:ext cx="1623060" cy="3554730"/>
          </a:xfrm>
          <a:prstGeom prst="roundRect">
            <a:avLst>
              <a:gd name="adj" fmla="val 8451"/>
            </a:avLst>
          </a:prstGeom>
          <a:solidFill>
            <a:srgbClr val="FDE3E8"/>
          </a:solidFill>
          <a:ln w="17145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2A2040">
                <a:alpha val="12000"/>
              </a:srgbClr>
            </a:outerShdw>
          </a:effectLst>
        </p:spPr>
      </p:sp>
      <p:sp>
        <p:nvSpPr>
          <p:cNvPr id="4" name="유치부 프로그램 rrect 3"/>
          <p:cNvSpPr/>
          <p:nvPr/>
        </p:nvSpPr>
        <p:spPr>
          <a:xfrm>
            <a:off x="1994535" y="1394460"/>
            <a:ext cx="1623060" cy="3554730"/>
          </a:xfrm>
          <a:prstGeom prst="roundRect">
            <a:avLst>
              <a:gd name="adj" fmla="val 8451"/>
            </a:avLst>
          </a:prstGeom>
          <a:solidFill>
            <a:srgbClr val="FEF3D1"/>
          </a:solidFill>
          <a:ln w="17145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2A2040">
                <a:alpha val="12000"/>
              </a:srgbClr>
            </a:outerShdw>
          </a:effectLst>
        </p:spPr>
      </p:sp>
      <p:sp>
        <p:nvSpPr>
          <p:cNvPr id="5" name="유치부 프로그램 rrect 4"/>
          <p:cNvSpPr/>
          <p:nvPr/>
        </p:nvSpPr>
        <p:spPr>
          <a:xfrm>
            <a:off x="3714750" y="1394460"/>
            <a:ext cx="1623060" cy="3554730"/>
          </a:xfrm>
          <a:prstGeom prst="roundRect">
            <a:avLst>
              <a:gd name="adj" fmla="val 8451"/>
            </a:avLst>
          </a:prstGeom>
          <a:solidFill>
            <a:srgbClr val="E1EDFD"/>
          </a:solidFill>
          <a:ln w="17145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2A2040">
                <a:alpha val="12000"/>
              </a:srgbClr>
            </a:outerShdw>
          </a:effectLst>
        </p:spPr>
      </p:sp>
      <p:sp>
        <p:nvSpPr>
          <p:cNvPr id="6" name="유치부 프로그램 rrect 5"/>
          <p:cNvSpPr/>
          <p:nvPr/>
        </p:nvSpPr>
        <p:spPr>
          <a:xfrm>
            <a:off x="5434965" y="1394460"/>
            <a:ext cx="1691640" cy="3554730"/>
          </a:xfrm>
          <a:prstGeom prst="roundRect">
            <a:avLst>
              <a:gd name="adj" fmla="val 8108"/>
            </a:avLst>
          </a:prstGeom>
          <a:solidFill>
            <a:srgbClr val="E3F5DE"/>
          </a:solidFill>
          <a:ln w="17145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2A2040">
                <a:alpha val="12000"/>
              </a:srgbClr>
            </a:outerShdw>
          </a:effectLst>
        </p:spPr>
      </p:sp>
      <p:sp>
        <p:nvSpPr>
          <p:cNvPr id="7" name="유치부 프로그램 rrect 6"/>
          <p:cNvSpPr/>
          <p:nvPr/>
        </p:nvSpPr>
        <p:spPr>
          <a:xfrm>
            <a:off x="7223760" y="1394460"/>
            <a:ext cx="1657350" cy="3554730"/>
          </a:xfrm>
          <a:prstGeom prst="roundRect">
            <a:avLst>
              <a:gd name="adj" fmla="val 8276"/>
            </a:avLst>
          </a:prstGeom>
          <a:solidFill>
            <a:srgbClr val="EBE4FC"/>
          </a:solidFill>
          <a:ln w="17145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2A2040">
                <a:alpha val="12000"/>
              </a:srgbClr>
            </a:outerShdw>
          </a:effectLst>
        </p:spPr>
      </p:sp>
      <p:sp>
        <p:nvSpPr>
          <p:cNvPr id="8" name="유치부 프로그램 tri 7"/>
          <p:cNvSpPr/>
          <p:nvPr/>
        </p:nvSpPr>
        <p:spPr>
          <a:xfrm flipV="1">
            <a:off x="7143750" y="1085850"/>
            <a:ext cx="251460" cy="159449"/>
          </a:xfrm>
          <a:prstGeom prst="triangle">
            <a:avLst/>
          </a:prstGeom>
          <a:solidFill>
            <a:srgbClr val="FBD9DF"/>
          </a:solidFill>
          <a:ln/>
        </p:spPr>
      </p:sp>
      <p:sp>
        <p:nvSpPr>
          <p:cNvPr id="9" name="유치부 프로그램 ellipse 8"/>
          <p:cNvSpPr/>
          <p:nvPr/>
        </p:nvSpPr>
        <p:spPr>
          <a:xfrm>
            <a:off x="354330" y="262890"/>
            <a:ext cx="845820" cy="845820"/>
          </a:xfrm>
          <a:prstGeom prst="ellipse">
            <a:avLst/>
          </a:prstGeom>
          <a:solidFill>
            <a:srgbClr val="E2302A"/>
          </a:solidFill>
          <a:ln/>
          <a:effectLst>
            <a:outerShdw sx="100000" sy="100000" kx="0" ky="0" algn="bl" rotWithShape="0" blurRad="101600" dist="25400" dir="5400000">
              <a:srgbClr val="2A2040">
                <a:alpha val="12000"/>
              </a:srgbClr>
            </a:outerShdw>
          </a:effectLst>
        </p:spPr>
      </p:sp>
      <p:sp>
        <p:nvSpPr>
          <p:cNvPr id="10" name="유치부 프로그램 ellipse 9"/>
          <p:cNvSpPr/>
          <p:nvPr/>
        </p:nvSpPr>
        <p:spPr>
          <a:xfrm>
            <a:off x="405765" y="1525905"/>
            <a:ext cx="388620" cy="388620"/>
          </a:xfrm>
          <a:prstGeom prst="ellipse">
            <a:avLst/>
          </a:prstGeom>
          <a:solidFill>
            <a:srgbClr val="F15353"/>
          </a:solidFill>
          <a:ln/>
        </p:spPr>
      </p:sp>
      <p:sp>
        <p:nvSpPr>
          <p:cNvPr id="11" name="유치부 프로그램 ellipse 10"/>
          <p:cNvSpPr/>
          <p:nvPr/>
        </p:nvSpPr>
        <p:spPr>
          <a:xfrm>
            <a:off x="2125980" y="1525905"/>
            <a:ext cx="388620" cy="388620"/>
          </a:xfrm>
          <a:prstGeom prst="ellipse">
            <a:avLst/>
          </a:prstGeom>
          <a:solidFill>
            <a:srgbClr val="F99F26"/>
          </a:solidFill>
          <a:ln/>
        </p:spPr>
      </p:sp>
      <p:sp>
        <p:nvSpPr>
          <p:cNvPr id="12" name="유치부 프로그램 ellipse 11"/>
          <p:cNvSpPr/>
          <p:nvPr/>
        </p:nvSpPr>
        <p:spPr>
          <a:xfrm>
            <a:off x="3846195" y="1525905"/>
            <a:ext cx="388620" cy="388620"/>
          </a:xfrm>
          <a:prstGeom prst="ellipse">
            <a:avLst/>
          </a:prstGeom>
          <a:solidFill>
            <a:srgbClr val="357DE1"/>
          </a:solidFill>
          <a:ln/>
        </p:spPr>
      </p:sp>
      <p:sp>
        <p:nvSpPr>
          <p:cNvPr id="13" name="유치부 프로그램 ellipse 12"/>
          <p:cNvSpPr/>
          <p:nvPr/>
        </p:nvSpPr>
        <p:spPr>
          <a:xfrm>
            <a:off x="5566410" y="1525905"/>
            <a:ext cx="388620" cy="388620"/>
          </a:xfrm>
          <a:prstGeom prst="ellipse">
            <a:avLst/>
          </a:prstGeom>
          <a:solidFill>
            <a:srgbClr val="33AF5B"/>
          </a:solidFill>
          <a:ln/>
        </p:spPr>
      </p:sp>
      <p:sp>
        <p:nvSpPr>
          <p:cNvPr id="14" name="유치부 프로그램 ellipse 13"/>
          <p:cNvSpPr/>
          <p:nvPr/>
        </p:nvSpPr>
        <p:spPr>
          <a:xfrm>
            <a:off x="7355205" y="1525905"/>
            <a:ext cx="388620" cy="388620"/>
          </a:xfrm>
          <a:prstGeom prst="ellipse">
            <a:avLst/>
          </a:prstGeom>
          <a:solidFill>
            <a:srgbClr val="9171E9"/>
          </a:solidFill>
          <a:ln/>
        </p:spPr>
      </p:sp>
      <p:pic>
        <p:nvPicPr>
          <p:cNvPr id="15" name="C02_kinder_tumble" descr="C02_kinder_tumb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" y="3751690"/>
            <a:ext cx="1474470" cy="1146065"/>
          </a:xfrm>
          <a:prstGeom prst="rect">
            <a:avLst/>
          </a:prstGeom>
        </p:spPr>
      </p:pic>
      <p:pic>
        <p:nvPicPr>
          <p:cNvPr id="16" name="C03_kinder_jump" descr="C03_kinder_jum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7043" y="3469005"/>
            <a:ext cx="978044" cy="1428750"/>
          </a:xfrm>
          <a:prstGeom prst="rect">
            <a:avLst/>
          </a:prstGeom>
        </p:spPr>
      </p:pic>
      <p:pic>
        <p:nvPicPr>
          <p:cNvPr id="17" name="C04_kinder_rope" descr="C04_kinder_rop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9045" y="2796826"/>
            <a:ext cx="1474470" cy="2100929"/>
          </a:xfrm>
          <a:prstGeom prst="rect">
            <a:avLst/>
          </a:prstGeom>
        </p:spPr>
      </p:pic>
      <p:pic>
        <p:nvPicPr>
          <p:cNvPr id="18" name="C05_kinder_kick" descr="C05_kinder_ki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9260" y="3235311"/>
            <a:ext cx="1543050" cy="1662444"/>
          </a:xfrm>
          <a:prstGeom prst="rect">
            <a:avLst/>
          </a:prstGeom>
        </p:spPr>
      </p:pic>
      <p:pic>
        <p:nvPicPr>
          <p:cNvPr id="19" name="C06_kinder_bow" descr="C06_kinder_bow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8055" y="3583358"/>
            <a:ext cx="1508760" cy="1314397"/>
          </a:xfrm>
          <a:prstGeom prst="rect">
            <a:avLst/>
          </a:prstGeom>
        </p:spPr>
      </p:pic>
      <p:sp>
        <p:nvSpPr>
          <p:cNvPr id="20" name="유치부 프로그램 글자 19"/>
          <p:cNvSpPr txBox="1"/>
          <p:nvPr/>
        </p:nvSpPr>
        <p:spPr>
          <a:xfrm>
            <a:off x="419524" y="440055"/>
            <a:ext cx="715432" cy="5200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150" dirty="0">
                <a:solidFill>
                  <a:srgbClr val="FFFFFF"/>
                </a:solidFill>
                <a:latin typeface="Recipekorea" pitchFamily="34" charset="0"/>
                <a:ea typeface="Recipekorea" pitchFamily="34" charset="-122"/>
                <a:cs typeface="Recipekorea" pitchFamily="34" charset="-120"/>
              </a:rPr>
              <a:t>02</a:t>
            </a:r>
            <a:endParaRPr lang="en-US" sz="3150" dirty="0"/>
          </a:p>
        </p:txBody>
      </p:sp>
      <p:sp>
        <p:nvSpPr>
          <p:cNvPr id="21" name="유치부 프로그램 글자 20"/>
          <p:cNvSpPr txBox="1"/>
          <p:nvPr/>
        </p:nvSpPr>
        <p:spPr>
          <a:xfrm>
            <a:off x="1394460" y="314325"/>
            <a:ext cx="4531309" cy="7372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500" spc="-23" kern="0" dirty="0">
                <a:solidFill>
                  <a:srgbClr val="16224F"/>
                </a:solidFill>
                <a:latin typeface="Recipekorea" pitchFamily="34" charset="0"/>
                <a:ea typeface="Recipekorea" pitchFamily="34" charset="-122"/>
                <a:cs typeface="Recipekorea" pitchFamily="34" charset="-120"/>
              </a:rPr>
              <a:t>유치부 프로그램</a:t>
            </a:r>
            <a:endParaRPr lang="en-US" sz="4500" dirty="0"/>
          </a:p>
        </p:txBody>
      </p:sp>
      <p:sp>
        <p:nvSpPr>
          <p:cNvPr id="22" name="유치부 프로그램 글자 21"/>
          <p:cNvSpPr txBox="1"/>
          <p:nvPr/>
        </p:nvSpPr>
        <p:spPr>
          <a:xfrm>
            <a:off x="6094681" y="364081"/>
            <a:ext cx="2360938" cy="6537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574"/>
              </a:lnSpc>
              <a:buNone/>
            </a:pPr>
            <a:r>
              <a:rPr lang="en-US" sz="1980" spc="-59" kern="0" dirty="0">
                <a:solidFill>
                  <a:srgbClr val="E2313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신나는 신체 활동으로</a:t>
            </a:r>
            <a:endParaRPr lang="en-US" sz="1980" dirty="0"/>
          </a:p>
          <a:p>
            <a:pPr algn="ctr" indent="0" marL="0">
              <a:lnSpc>
                <a:spcPts val="2574"/>
              </a:lnSpc>
              <a:buNone/>
            </a:pPr>
            <a:r>
              <a:rPr lang="en-US" sz="1980" spc="-59" kern="0" dirty="0">
                <a:solidFill>
                  <a:srgbClr val="E2313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즐겁게 배우는 태권도!</a:t>
            </a:r>
            <a:endParaRPr lang="en-US" sz="1980" dirty="0"/>
          </a:p>
        </p:txBody>
      </p:sp>
      <p:sp>
        <p:nvSpPr>
          <p:cNvPr id="23" name="유치부 프로그램 글자 22"/>
          <p:cNvSpPr txBox="1"/>
          <p:nvPr/>
        </p:nvSpPr>
        <p:spPr>
          <a:xfrm>
            <a:off x="433583" y="1611630"/>
            <a:ext cx="33298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5" dirty="0">
                <a:solidFill>
                  <a:srgbClr val="FFFFFF"/>
                </a:solidFill>
                <a:latin typeface="Recipekorea" pitchFamily="34" charset="0"/>
                <a:ea typeface="Recipekorea" pitchFamily="34" charset="-122"/>
                <a:cs typeface="Recipekorea" pitchFamily="34" charset="-120"/>
              </a:rPr>
              <a:t>01</a:t>
            </a:r>
            <a:endParaRPr lang="en-US" sz="1395" dirty="0"/>
          </a:p>
        </p:txBody>
      </p:sp>
      <p:sp>
        <p:nvSpPr>
          <p:cNvPr id="24" name="유치부 프로그램 글자 23"/>
          <p:cNvSpPr txBox="1"/>
          <p:nvPr/>
        </p:nvSpPr>
        <p:spPr>
          <a:xfrm>
            <a:off x="732734" y="2051685"/>
            <a:ext cx="706231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340" dirty="0">
                <a:solidFill>
                  <a:srgbClr val="16224F"/>
                </a:solidFill>
                <a:latin typeface="Recipekorea" pitchFamily="34" charset="0"/>
                <a:ea typeface="Recipekorea" pitchFamily="34" charset="-122"/>
                <a:cs typeface="Recipekorea" pitchFamily="34" charset="-120"/>
              </a:rPr>
              <a:t>체조</a:t>
            </a:r>
            <a:endParaRPr lang="en-US" sz="2340" dirty="0"/>
          </a:p>
        </p:txBody>
      </p:sp>
      <p:sp>
        <p:nvSpPr>
          <p:cNvPr id="25" name="유치부 프로그램 글자 24"/>
          <p:cNvSpPr txBox="1"/>
          <p:nvPr/>
        </p:nvSpPr>
        <p:spPr>
          <a:xfrm>
            <a:off x="454300" y="2517458"/>
            <a:ext cx="1263101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spc="-41" kern="0" dirty="0">
                <a:solidFill>
                  <a:srgbClr val="3A3E4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앞구르기, 옆돌기</a:t>
            </a:r>
            <a:endParaRPr lang="en-US" sz="1350" dirty="0"/>
          </a:p>
          <a:p>
            <a:pPr algn="ctr" indent="0" marL="0">
              <a:lnSpc>
                <a:spcPts val="2025"/>
              </a:lnSpc>
              <a:buNone/>
            </a:pPr>
            <a:r>
              <a:rPr lang="en-US" sz="1350" spc="-41" kern="0" dirty="0">
                <a:solidFill>
                  <a:srgbClr val="3A3E4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기초 신체활동</a:t>
            </a:r>
            <a:endParaRPr lang="en-US" sz="1350" dirty="0"/>
          </a:p>
        </p:txBody>
      </p:sp>
      <p:sp>
        <p:nvSpPr>
          <p:cNvPr id="26" name="유치부 프로그램 글자 25"/>
          <p:cNvSpPr txBox="1"/>
          <p:nvPr/>
        </p:nvSpPr>
        <p:spPr>
          <a:xfrm>
            <a:off x="2145902" y="1611630"/>
            <a:ext cx="34868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5" dirty="0">
                <a:solidFill>
                  <a:srgbClr val="FFFFFF"/>
                </a:solidFill>
                <a:latin typeface="Recipekorea" pitchFamily="34" charset="0"/>
                <a:ea typeface="Recipekorea" pitchFamily="34" charset="-122"/>
                <a:cs typeface="Recipekorea" pitchFamily="34" charset="-120"/>
              </a:rPr>
              <a:t>02</a:t>
            </a:r>
            <a:endParaRPr lang="en-US" sz="1395" dirty="0"/>
          </a:p>
        </p:txBody>
      </p:sp>
      <p:sp>
        <p:nvSpPr>
          <p:cNvPr id="27" name="유치부 프로그램 글자 26"/>
          <p:cNvSpPr txBox="1"/>
          <p:nvPr/>
        </p:nvSpPr>
        <p:spPr>
          <a:xfrm>
            <a:off x="2128409" y="2051685"/>
            <a:ext cx="1355312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340" dirty="0">
                <a:solidFill>
                  <a:srgbClr val="16224F"/>
                </a:solidFill>
                <a:latin typeface="Recipekorea" pitchFamily="34" charset="0"/>
                <a:ea typeface="Recipekorea" pitchFamily="34" charset="-122"/>
                <a:cs typeface="Recipekorea" pitchFamily="34" charset="-120"/>
              </a:rPr>
              <a:t>점핑운동</a:t>
            </a:r>
            <a:endParaRPr lang="en-US" sz="2340" dirty="0"/>
          </a:p>
        </p:txBody>
      </p:sp>
      <p:sp>
        <p:nvSpPr>
          <p:cNvPr id="28" name="유치부 프로그램 글자 27"/>
          <p:cNvSpPr txBox="1"/>
          <p:nvPr/>
        </p:nvSpPr>
        <p:spPr>
          <a:xfrm>
            <a:off x="2231822" y="2517458"/>
            <a:ext cx="1148486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spc="-41" kern="0" dirty="0">
                <a:solidFill>
                  <a:srgbClr val="3A3E4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뜀틀, 멀리뛰기,</a:t>
            </a:r>
            <a:endParaRPr lang="en-US" sz="1350" dirty="0"/>
          </a:p>
          <a:p>
            <a:pPr algn="ctr" indent="0" marL="0">
              <a:lnSpc>
                <a:spcPts val="2025"/>
              </a:lnSpc>
              <a:buNone/>
            </a:pPr>
            <a:r>
              <a:rPr lang="en-US" sz="1350" spc="-41" kern="0" dirty="0">
                <a:solidFill>
                  <a:srgbClr val="3A3E4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점프 매트 치기,</a:t>
            </a:r>
            <a:endParaRPr lang="en-US" sz="1350" dirty="0"/>
          </a:p>
          <a:p>
            <a:pPr algn="ctr" indent="0" marL="0">
              <a:lnSpc>
                <a:spcPts val="2025"/>
              </a:lnSpc>
              <a:buNone/>
            </a:pPr>
            <a:r>
              <a:rPr lang="en-US" sz="1350" spc="-41" kern="0" dirty="0">
                <a:solidFill>
                  <a:srgbClr val="3A3E4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중심잡기 등</a:t>
            </a:r>
            <a:endParaRPr lang="en-US" sz="1350" dirty="0"/>
          </a:p>
        </p:txBody>
      </p:sp>
      <p:sp>
        <p:nvSpPr>
          <p:cNvPr id="29" name="유치부 프로그램 글자 28"/>
          <p:cNvSpPr txBox="1"/>
          <p:nvPr/>
        </p:nvSpPr>
        <p:spPr>
          <a:xfrm>
            <a:off x="3866117" y="1611630"/>
            <a:ext cx="34868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5" dirty="0">
                <a:solidFill>
                  <a:srgbClr val="FFFFFF"/>
                </a:solidFill>
                <a:latin typeface="Recipekorea" pitchFamily="34" charset="0"/>
                <a:ea typeface="Recipekorea" pitchFamily="34" charset="-122"/>
                <a:cs typeface="Recipekorea" pitchFamily="34" charset="-120"/>
              </a:rPr>
              <a:t>03</a:t>
            </a:r>
            <a:endParaRPr lang="en-US" sz="1395" dirty="0"/>
          </a:p>
        </p:txBody>
      </p:sp>
      <p:sp>
        <p:nvSpPr>
          <p:cNvPr id="30" name="유치부 프로그램 글자 29"/>
          <p:cNvSpPr txBox="1"/>
          <p:nvPr/>
        </p:nvSpPr>
        <p:spPr>
          <a:xfrm>
            <a:off x="3682203" y="2051685"/>
            <a:ext cx="1688154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340" dirty="0">
                <a:solidFill>
                  <a:srgbClr val="16224F"/>
                </a:solidFill>
                <a:latin typeface="Recipekorea" pitchFamily="34" charset="0"/>
                <a:ea typeface="Recipekorea" pitchFamily="34" charset="-122"/>
                <a:cs typeface="Recipekorea" pitchFamily="34" charset="-120"/>
              </a:rPr>
              <a:t>음악줄넘기</a:t>
            </a:r>
            <a:endParaRPr lang="en-US" sz="2340" dirty="0"/>
          </a:p>
        </p:txBody>
      </p:sp>
      <p:sp>
        <p:nvSpPr>
          <p:cNvPr id="31" name="유치부 프로그램 글자 30"/>
          <p:cNvSpPr txBox="1"/>
          <p:nvPr/>
        </p:nvSpPr>
        <p:spPr>
          <a:xfrm>
            <a:off x="5582326" y="1611630"/>
            <a:ext cx="35678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5" dirty="0">
                <a:solidFill>
                  <a:srgbClr val="FFFFFF"/>
                </a:solidFill>
                <a:latin typeface="Recipekorea" pitchFamily="34" charset="0"/>
                <a:ea typeface="Recipekorea" pitchFamily="34" charset="-122"/>
                <a:cs typeface="Recipekorea" pitchFamily="34" charset="-120"/>
              </a:rPr>
              <a:t>04</a:t>
            </a:r>
            <a:endParaRPr lang="en-US" sz="1395" dirty="0"/>
          </a:p>
        </p:txBody>
      </p:sp>
      <p:sp>
        <p:nvSpPr>
          <p:cNvPr id="32" name="유치부 프로그램 글자 31"/>
          <p:cNvSpPr txBox="1"/>
          <p:nvPr/>
        </p:nvSpPr>
        <p:spPr>
          <a:xfrm>
            <a:off x="5761249" y="2051685"/>
            <a:ext cx="1039073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340" dirty="0">
                <a:solidFill>
                  <a:srgbClr val="16224F"/>
                </a:solidFill>
                <a:latin typeface="Recipekorea" pitchFamily="34" charset="0"/>
                <a:ea typeface="Recipekorea" pitchFamily="34" charset="-122"/>
                <a:cs typeface="Recipekorea" pitchFamily="34" charset="-120"/>
              </a:rPr>
              <a:t>태권도</a:t>
            </a:r>
            <a:endParaRPr lang="en-US" sz="2340" dirty="0"/>
          </a:p>
        </p:txBody>
      </p:sp>
      <p:sp>
        <p:nvSpPr>
          <p:cNvPr id="33" name="유치부 프로그램 글자 32"/>
          <p:cNvSpPr txBox="1"/>
          <p:nvPr/>
        </p:nvSpPr>
        <p:spPr>
          <a:xfrm>
            <a:off x="5649235" y="2517458"/>
            <a:ext cx="1263101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spc="-41" kern="0" dirty="0">
                <a:solidFill>
                  <a:srgbClr val="3A3E4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기본동작,</a:t>
            </a:r>
            <a:endParaRPr lang="en-US" sz="1350" dirty="0"/>
          </a:p>
          <a:p>
            <a:pPr algn="ctr" indent="0" marL="0">
              <a:lnSpc>
                <a:spcPts val="2025"/>
              </a:lnSpc>
              <a:buNone/>
            </a:pPr>
            <a:r>
              <a:rPr lang="en-US" sz="1350" spc="-41" kern="0" dirty="0">
                <a:solidFill>
                  <a:srgbClr val="3A3E4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기본발차기, 품새</a:t>
            </a:r>
            <a:endParaRPr lang="en-US" sz="1350" dirty="0"/>
          </a:p>
        </p:txBody>
      </p:sp>
      <p:sp>
        <p:nvSpPr>
          <p:cNvPr id="34" name="유치부 프로그램 글자 33"/>
          <p:cNvSpPr txBox="1"/>
          <p:nvPr/>
        </p:nvSpPr>
        <p:spPr>
          <a:xfrm>
            <a:off x="7375127" y="1611630"/>
            <a:ext cx="34868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5" dirty="0">
                <a:solidFill>
                  <a:srgbClr val="FFFFFF"/>
                </a:solidFill>
                <a:latin typeface="Recipekorea" pitchFamily="34" charset="0"/>
                <a:ea typeface="Recipekorea" pitchFamily="34" charset="-122"/>
                <a:cs typeface="Recipekorea" pitchFamily="34" charset="-120"/>
              </a:rPr>
              <a:t>05</a:t>
            </a:r>
            <a:endParaRPr lang="en-US" sz="1395" dirty="0"/>
          </a:p>
        </p:txBody>
      </p:sp>
      <p:sp>
        <p:nvSpPr>
          <p:cNvPr id="35" name="유치부 프로그램 글자 34"/>
          <p:cNvSpPr txBox="1"/>
          <p:nvPr/>
        </p:nvSpPr>
        <p:spPr>
          <a:xfrm>
            <a:off x="7374779" y="2051685"/>
            <a:ext cx="1355312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340" dirty="0">
                <a:solidFill>
                  <a:srgbClr val="16224F"/>
                </a:solidFill>
                <a:latin typeface="Recipekorea" pitchFamily="34" charset="0"/>
                <a:ea typeface="Recipekorea" pitchFamily="34" charset="-122"/>
                <a:cs typeface="Recipekorea" pitchFamily="34" charset="-120"/>
              </a:rPr>
              <a:t>인성교육</a:t>
            </a:r>
            <a:endParaRPr lang="en-US" sz="2340" dirty="0"/>
          </a:p>
        </p:txBody>
      </p:sp>
      <p:sp>
        <p:nvSpPr>
          <p:cNvPr id="36" name="유치부 프로그램 글자 35"/>
          <p:cNvSpPr txBox="1"/>
          <p:nvPr/>
        </p:nvSpPr>
        <p:spPr>
          <a:xfrm>
            <a:off x="7358077" y="2517458"/>
            <a:ext cx="1388716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spc="-41" kern="0" dirty="0">
                <a:solidFill>
                  <a:srgbClr val="3A3E4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예의, 예절, 배려,</a:t>
            </a:r>
            <a:endParaRPr lang="en-US" sz="1350" dirty="0"/>
          </a:p>
          <a:p>
            <a:pPr algn="ctr" indent="0" marL="0">
              <a:lnSpc>
                <a:spcPts val="2025"/>
              </a:lnSpc>
              <a:buNone/>
            </a:pPr>
            <a:r>
              <a:rPr lang="en-US" sz="1350" spc="-41" kern="0" dirty="0">
                <a:solidFill>
                  <a:srgbClr val="3A3E4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양보, 인내, 질서 등</a:t>
            </a:r>
            <a:endParaRPr lang="en-US" sz="1350" dirty="0"/>
          </a:p>
        </p:txBody>
      </p:sp>
      <p:sp>
        <p:nvSpPr>
          <p:cNvPr id="37" name="유치부 프로그램 글자 36"/>
          <p:cNvSpPr txBox="1"/>
          <p:nvPr/>
        </p:nvSpPr>
        <p:spPr>
          <a:xfrm>
            <a:off x="285750" y="4796314"/>
            <a:ext cx="38329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90" spc="40" kern="0" dirty="0">
                <a:solidFill>
                  <a:srgbClr val="3D414C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3 / 9</a:t>
            </a:r>
            <a:endParaRPr lang="en-US" sz="99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초등부 프로그램 rrect 1"/>
          <p:cNvSpPr/>
          <p:nvPr/>
        </p:nvSpPr>
        <p:spPr>
          <a:xfrm>
            <a:off x="320040" y="1211580"/>
            <a:ext cx="2068830" cy="3726180"/>
          </a:xfrm>
          <a:prstGeom prst="roundRect">
            <a:avLst>
              <a:gd name="adj" fmla="val 6630"/>
            </a:avLst>
          </a:prstGeom>
          <a:solidFill>
            <a:srgbClr val="E1EDFD"/>
          </a:solidFill>
          <a:ln w="17145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2A2040">
                <a:alpha val="12000"/>
              </a:srgbClr>
            </a:outerShdw>
          </a:effectLst>
        </p:spPr>
      </p:sp>
      <p:sp>
        <p:nvSpPr>
          <p:cNvPr id="3" name="초등부 프로그램 rrect 2"/>
          <p:cNvSpPr/>
          <p:nvPr/>
        </p:nvSpPr>
        <p:spPr>
          <a:xfrm>
            <a:off x="2514600" y="1211580"/>
            <a:ext cx="2068830" cy="3726180"/>
          </a:xfrm>
          <a:prstGeom prst="roundRect">
            <a:avLst>
              <a:gd name="adj" fmla="val 6630"/>
            </a:avLst>
          </a:prstGeom>
          <a:solidFill>
            <a:srgbClr val="FEF3D1"/>
          </a:solidFill>
          <a:ln w="17145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2A2040">
                <a:alpha val="12000"/>
              </a:srgbClr>
            </a:outerShdw>
          </a:effectLst>
        </p:spPr>
      </p:sp>
      <p:sp>
        <p:nvSpPr>
          <p:cNvPr id="4" name="초등부 프로그램 rrect 3"/>
          <p:cNvSpPr/>
          <p:nvPr/>
        </p:nvSpPr>
        <p:spPr>
          <a:xfrm>
            <a:off x="4709160" y="1211580"/>
            <a:ext cx="2000250" cy="3726180"/>
          </a:xfrm>
          <a:prstGeom prst="roundRect">
            <a:avLst>
              <a:gd name="adj" fmla="val 6857"/>
            </a:avLst>
          </a:prstGeom>
          <a:solidFill>
            <a:srgbClr val="FDE3E8"/>
          </a:solidFill>
          <a:ln w="17145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2A2040">
                <a:alpha val="12000"/>
              </a:srgbClr>
            </a:outerShdw>
          </a:effectLst>
        </p:spPr>
      </p:sp>
      <p:sp>
        <p:nvSpPr>
          <p:cNvPr id="5" name="초등부 프로그램 rrect 4"/>
          <p:cNvSpPr/>
          <p:nvPr/>
        </p:nvSpPr>
        <p:spPr>
          <a:xfrm>
            <a:off x="6835140" y="1211580"/>
            <a:ext cx="2000250" cy="3726180"/>
          </a:xfrm>
          <a:prstGeom prst="roundRect">
            <a:avLst>
              <a:gd name="adj" fmla="val 6857"/>
            </a:avLst>
          </a:prstGeom>
          <a:solidFill>
            <a:srgbClr val="E3F5DE"/>
          </a:solidFill>
          <a:ln w="17145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2A2040">
                <a:alpha val="12000"/>
              </a:srgbClr>
            </a:outerShdw>
          </a:effectLst>
        </p:spPr>
      </p:sp>
      <p:sp>
        <p:nvSpPr>
          <p:cNvPr id="6" name="초등부 프로그램 ellipse 5"/>
          <p:cNvSpPr/>
          <p:nvPr/>
        </p:nvSpPr>
        <p:spPr>
          <a:xfrm>
            <a:off x="354330" y="240030"/>
            <a:ext cx="845820" cy="845820"/>
          </a:xfrm>
          <a:prstGeom prst="ellipse">
            <a:avLst/>
          </a:prstGeom>
          <a:solidFill>
            <a:srgbClr val="155BC8"/>
          </a:solidFill>
          <a:ln/>
          <a:effectLst>
            <a:outerShdw sx="100000" sy="100000" kx="0" ky="0" algn="bl" rotWithShape="0" blurRad="101600" dist="25400" dir="5400000">
              <a:srgbClr val="2A2040">
                <a:alpha val="12000"/>
              </a:srgbClr>
            </a:outerShdw>
          </a:effectLst>
        </p:spPr>
      </p:sp>
      <p:sp>
        <p:nvSpPr>
          <p:cNvPr id="7" name="초등부 프로그램 ellipse 6"/>
          <p:cNvSpPr/>
          <p:nvPr/>
        </p:nvSpPr>
        <p:spPr>
          <a:xfrm>
            <a:off x="451485" y="1343025"/>
            <a:ext cx="388620" cy="388620"/>
          </a:xfrm>
          <a:prstGeom prst="ellipse">
            <a:avLst/>
          </a:prstGeom>
          <a:solidFill>
            <a:srgbClr val="357DE1"/>
          </a:solidFill>
          <a:ln/>
        </p:spPr>
      </p:sp>
      <p:sp>
        <p:nvSpPr>
          <p:cNvPr id="8" name="초등부 프로그램 ellipse 7"/>
          <p:cNvSpPr/>
          <p:nvPr/>
        </p:nvSpPr>
        <p:spPr>
          <a:xfrm>
            <a:off x="2646045" y="1343025"/>
            <a:ext cx="388620" cy="388620"/>
          </a:xfrm>
          <a:prstGeom prst="ellipse">
            <a:avLst/>
          </a:prstGeom>
          <a:solidFill>
            <a:srgbClr val="F99F26"/>
          </a:solidFill>
          <a:ln/>
        </p:spPr>
      </p:sp>
      <p:sp>
        <p:nvSpPr>
          <p:cNvPr id="9" name="초등부 프로그램 ellipse 8"/>
          <p:cNvSpPr/>
          <p:nvPr/>
        </p:nvSpPr>
        <p:spPr>
          <a:xfrm>
            <a:off x="4840605" y="1343025"/>
            <a:ext cx="388620" cy="388620"/>
          </a:xfrm>
          <a:prstGeom prst="ellipse">
            <a:avLst/>
          </a:prstGeom>
          <a:solidFill>
            <a:srgbClr val="F15353"/>
          </a:solidFill>
          <a:ln/>
        </p:spPr>
      </p:sp>
      <p:sp>
        <p:nvSpPr>
          <p:cNvPr id="10" name="초등부 프로그램 ellipse 9"/>
          <p:cNvSpPr/>
          <p:nvPr/>
        </p:nvSpPr>
        <p:spPr>
          <a:xfrm>
            <a:off x="6966585" y="1343025"/>
            <a:ext cx="388620" cy="388620"/>
          </a:xfrm>
          <a:prstGeom prst="ellipse">
            <a:avLst/>
          </a:prstGeom>
          <a:solidFill>
            <a:srgbClr val="33AF5B"/>
          </a:solidFill>
          <a:ln/>
        </p:spPr>
      </p:sp>
      <p:pic>
        <p:nvPicPr>
          <p:cNvPr id="11" name="C07_elem_cartwheel" descr="C07_elem_cartwhe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19" y="3343275"/>
            <a:ext cx="1567271" cy="1543050"/>
          </a:xfrm>
          <a:prstGeom prst="rect">
            <a:avLst/>
          </a:prstGeom>
        </p:spPr>
      </p:pic>
      <p:pic>
        <p:nvPicPr>
          <p:cNvPr id="12" name="C08_elem_run" descr="C08_elem_ru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4651" y="3571875"/>
            <a:ext cx="1248727" cy="1314450"/>
          </a:xfrm>
          <a:prstGeom prst="rect">
            <a:avLst/>
          </a:prstGeom>
        </p:spPr>
      </p:pic>
      <p:pic>
        <p:nvPicPr>
          <p:cNvPr id="13" name="C09_elem_rope" descr="C09_elem_rop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1890" y="2428875"/>
            <a:ext cx="1534789" cy="2457450"/>
          </a:xfrm>
          <a:prstGeom prst="rect">
            <a:avLst/>
          </a:prstGeom>
        </p:spPr>
      </p:pic>
      <p:pic>
        <p:nvPicPr>
          <p:cNvPr id="14" name="C10_elem_kick" descr="C10_elem_ki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1377" y="3228975"/>
            <a:ext cx="1527775" cy="1657350"/>
          </a:xfrm>
          <a:prstGeom prst="rect">
            <a:avLst/>
          </a:prstGeom>
        </p:spPr>
      </p:pic>
      <p:sp>
        <p:nvSpPr>
          <p:cNvPr id="15" name="초등부 프로그램 글자 14"/>
          <p:cNvSpPr txBox="1"/>
          <p:nvPr/>
        </p:nvSpPr>
        <p:spPr>
          <a:xfrm>
            <a:off x="419524" y="417195"/>
            <a:ext cx="715432" cy="5200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150" dirty="0">
                <a:solidFill>
                  <a:srgbClr val="FFFFFF"/>
                </a:solidFill>
                <a:latin typeface="Recipekorea" pitchFamily="34" charset="0"/>
                <a:ea typeface="Recipekorea" pitchFamily="34" charset="-122"/>
                <a:cs typeface="Recipekorea" pitchFamily="34" charset="-120"/>
              </a:rPr>
              <a:t>03</a:t>
            </a:r>
            <a:endParaRPr lang="en-US" sz="3150" dirty="0"/>
          </a:p>
        </p:txBody>
      </p:sp>
      <p:sp>
        <p:nvSpPr>
          <p:cNvPr id="16" name="초등부 프로그램 글자 15"/>
          <p:cNvSpPr txBox="1"/>
          <p:nvPr/>
        </p:nvSpPr>
        <p:spPr>
          <a:xfrm>
            <a:off x="1440180" y="291465"/>
            <a:ext cx="4499305" cy="7372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500" spc="-23" kern="0" dirty="0">
                <a:solidFill>
                  <a:srgbClr val="16224F"/>
                </a:solidFill>
                <a:latin typeface="Recipekorea" pitchFamily="34" charset="0"/>
                <a:ea typeface="Recipekorea" pitchFamily="34" charset="-122"/>
                <a:cs typeface="Recipekorea" pitchFamily="34" charset="-120"/>
              </a:rPr>
              <a:t>초등부 프로그램</a:t>
            </a:r>
            <a:endParaRPr lang="en-US" sz="4500" dirty="0"/>
          </a:p>
        </p:txBody>
      </p:sp>
      <p:sp>
        <p:nvSpPr>
          <p:cNvPr id="17" name="초등부 프로그램 글자 16"/>
          <p:cNvSpPr txBox="1"/>
          <p:nvPr/>
        </p:nvSpPr>
        <p:spPr>
          <a:xfrm>
            <a:off x="5772150" y="352035"/>
            <a:ext cx="2789792" cy="6492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556"/>
              </a:lnSpc>
              <a:buNone/>
            </a:pPr>
            <a:r>
              <a:rPr lang="en-US" sz="1800" spc="-36" kern="0" dirty="0">
                <a:solidFill>
                  <a:srgbClr val="2B2F3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체계적인 수련을 통해</a:t>
            </a:r>
            <a:endParaRPr lang="en-US" sz="1800" dirty="0"/>
          </a:p>
          <a:p>
            <a:pPr algn="l" indent="0" marL="0">
              <a:lnSpc>
                <a:spcPts val="2556"/>
              </a:lnSpc>
              <a:buNone/>
            </a:pPr>
            <a:r>
              <a:rPr lang="en-US" sz="1800" spc="-36" kern="0" dirty="0">
                <a:solidFill>
                  <a:srgbClr val="2B2F3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더 높이, 더 멀리 성장합니다!</a:t>
            </a:r>
            <a:endParaRPr lang="en-US" sz="1800" dirty="0"/>
          </a:p>
        </p:txBody>
      </p:sp>
      <p:sp>
        <p:nvSpPr>
          <p:cNvPr id="18" name="초등부 프로그램 글자 17"/>
          <p:cNvSpPr txBox="1"/>
          <p:nvPr/>
        </p:nvSpPr>
        <p:spPr>
          <a:xfrm>
            <a:off x="479303" y="1428750"/>
            <a:ext cx="33298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5" dirty="0">
                <a:solidFill>
                  <a:srgbClr val="FFFFFF"/>
                </a:solidFill>
                <a:latin typeface="Recipekorea" pitchFamily="34" charset="0"/>
                <a:ea typeface="Recipekorea" pitchFamily="34" charset="-122"/>
                <a:cs typeface="Recipekorea" pitchFamily="34" charset="-120"/>
              </a:rPr>
              <a:t>01</a:t>
            </a:r>
            <a:endParaRPr lang="en-US" sz="1395" dirty="0"/>
          </a:p>
        </p:txBody>
      </p:sp>
      <p:sp>
        <p:nvSpPr>
          <p:cNvPr id="19" name="초등부 프로그램 글자 18"/>
          <p:cNvSpPr txBox="1"/>
          <p:nvPr/>
        </p:nvSpPr>
        <p:spPr>
          <a:xfrm>
            <a:off x="1001339" y="1868805"/>
            <a:ext cx="706231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340" dirty="0">
                <a:solidFill>
                  <a:srgbClr val="16224F"/>
                </a:solidFill>
                <a:latin typeface="Recipekorea" pitchFamily="34" charset="0"/>
                <a:ea typeface="Recipekorea" pitchFamily="34" charset="-122"/>
                <a:cs typeface="Recipekorea" pitchFamily="34" charset="-120"/>
              </a:rPr>
              <a:t>체조</a:t>
            </a:r>
            <a:endParaRPr lang="en-US" sz="2340" dirty="0"/>
          </a:p>
        </p:txBody>
      </p:sp>
      <p:sp>
        <p:nvSpPr>
          <p:cNvPr id="20" name="초등부 프로그램 글자 19"/>
          <p:cNvSpPr txBox="1"/>
          <p:nvPr/>
        </p:nvSpPr>
        <p:spPr>
          <a:xfrm>
            <a:off x="549388" y="2336006"/>
            <a:ext cx="1610044" cy="8486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228"/>
              </a:lnSpc>
              <a:buNone/>
            </a:pPr>
            <a:r>
              <a:rPr lang="en-US" sz="1485" spc="-45" kern="0" dirty="0">
                <a:solidFill>
                  <a:srgbClr val="3A3E4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앞구르기, 회전낙법,</a:t>
            </a:r>
            <a:endParaRPr lang="en-US" sz="1485" dirty="0"/>
          </a:p>
          <a:p>
            <a:pPr algn="ctr" indent="0" marL="0">
              <a:lnSpc>
                <a:spcPts val="2228"/>
              </a:lnSpc>
              <a:buNone/>
            </a:pPr>
            <a:r>
              <a:rPr lang="en-US" sz="1485" spc="-45" kern="0" dirty="0">
                <a:solidFill>
                  <a:srgbClr val="3A3E4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물구나무서기,</a:t>
            </a:r>
            <a:endParaRPr lang="en-US" sz="1485" dirty="0"/>
          </a:p>
          <a:p>
            <a:pPr algn="ctr" indent="0" marL="0">
              <a:lnSpc>
                <a:spcPts val="2228"/>
              </a:lnSpc>
              <a:buNone/>
            </a:pPr>
            <a:r>
              <a:rPr lang="en-US" sz="1485" spc="-45" kern="0" dirty="0">
                <a:solidFill>
                  <a:srgbClr val="3A3E4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핸드스프링 등</a:t>
            </a:r>
            <a:endParaRPr lang="en-US" sz="1485" dirty="0"/>
          </a:p>
        </p:txBody>
      </p:sp>
      <p:sp>
        <p:nvSpPr>
          <p:cNvPr id="21" name="초등부 프로그램 글자 20"/>
          <p:cNvSpPr txBox="1"/>
          <p:nvPr/>
        </p:nvSpPr>
        <p:spPr>
          <a:xfrm>
            <a:off x="2665967" y="1428750"/>
            <a:ext cx="34868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5" dirty="0">
                <a:solidFill>
                  <a:srgbClr val="FFFFFF"/>
                </a:solidFill>
                <a:latin typeface="Recipekorea" pitchFamily="34" charset="0"/>
                <a:ea typeface="Recipekorea" pitchFamily="34" charset="-122"/>
                <a:cs typeface="Recipekorea" pitchFamily="34" charset="-120"/>
              </a:rPr>
              <a:t>02</a:t>
            </a:r>
            <a:endParaRPr lang="en-US" sz="1395" dirty="0"/>
          </a:p>
        </p:txBody>
      </p:sp>
      <p:sp>
        <p:nvSpPr>
          <p:cNvPr id="22" name="초등부 프로그램 글자 21"/>
          <p:cNvSpPr txBox="1"/>
          <p:nvPr/>
        </p:nvSpPr>
        <p:spPr>
          <a:xfrm>
            <a:off x="2863058" y="1868805"/>
            <a:ext cx="1371914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340" dirty="0">
                <a:solidFill>
                  <a:srgbClr val="16224F"/>
                </a:solidFill>
                <a:latin typeface="Recipekorea" pitchFamily="34" charset="0"/>
                <a:ea typeface="Recipekorea" pitchFamily="34" charset="-122"/>
                <a:cs typeface="Recipekorea" pitchFamily="34" charset="-120"/>
              </a:rPr>
              <a:t>체력훈련</a:t>
            </a:r>
            <a:endParaRPr lang="en-US" sz="2340" dirty="0"/>
          </a:p>
        </p:txBody>
      </p:sp>
      <p:sp>
        <p:nvSpPr>
          <p:cNvPr id="23" name="초등부 프로그램 글자 22"/>
          <p:cNvSpPr txBox="1"/>
          <p:nvPr/>
        </p:nvSpPr>
        <p:spPr>
          <a:xfrm>
            <a:off x="2770252" y="2336006"/>
            <a:ext cx="1557438" cy="11315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228"/>
              </a:lnSpc>
              <a:buNone/>
            </a:pPr>
            <a:r>
              <a:rPr lang="en-US" sz="1485" spc="-45" kern="0" dirty="0">
                <a:solidFill>
                  <a:srgbClr val="3A3E4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달리기, 스트레칭,</a:t>
            </a:r>
            <a:endParaRPr lang="en-US" sz="1485" dirty="0"/>
          </a:p>
          <a:p>
            <a:pPr algn="ctr" indent="0" marL="0">
              <a:lnSpc>
                <a:spcPts val="2228"/>
              </a:lnSpc>
              <a:buNone/>
            </a:pPr>
            <a:r>
              <a:rPr lang="en-US" sz="1485" spc="-45" kern="0" dirty="0">
                <a:solidFill>
                  <a:srgbClr val="3A3E4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기본근력운동,</a:t>
            </a:r>
            <a:endParaRPr lang="en-US" sz="1485" dirty="0"/>
          </a:p>
          <a:p>
            <a:pPr algn="ctr" indent="0" marL="0">
              <a:lnSpc>
                <a:spcPts val="2228"/>
              </a:lnSpc>
              <a:buNone/>
            </a:pPr>
            <a:r>
              <a:rPr lang="en-US" sz="1485" spc="-45" kern="0" dirty="0">
                <a:solidFill>
                  <a:srgbClr val="3A3E4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성장판 자극을 주는</a:t>
            </a:r>
            <a:endParaRPr lang="en-US" sz="1485" dirty="0"/>
          </a:p>
          <a:p>
            <a:pPr algn="ctr" indent="0" marL="0">
              <a:lnSpc>
                <a:spcPts val="2228"/>
              </a:lnSpc>
              <a:buNone/>
            </a:pPr>
            <a:r>
              <a:rPr lang="en-US" sz="1485" spc="-45" kern="0" dirty="0">
                <a:solidFill>
                  <a:srgbClr val="3A3E4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점핑운동</a:t>
            </a:r>
            <a:endParaRPr lang="en-US" sz="1485" dirty="0"/>
          </a:p>
        </p:txBody>
      </p:sp>
      <p:sp>
        <p:nvSpPr>
          <p:cNvPr id="24" name="초등부 프로그램 글자 23"/>
          <p:cNvSpPr txBox="1"/>
          <p:nvPr/>
        </p:nvSpPr>
        <p:spPr>
          <a:xfrm>
            <a:off x="4860527" y="1428750"/>
            <a:ext cx="34868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5" dirty="0">
                <a:solidFill>
                  <a:srgbClr val="FFFFFF"/>
                </a:solidFill>
                <a:latin typeface="Recipekorea" pitchFamily="34" charset="0"/>
                <a:ea typeface="Recipekorea" pitchFamily="34" charset="-122"/>
                <a:cs typeface="Recipekorea" pitchFamily="34" charset="-120"/>
              </a:rPr>
              <a:t>03</a:t>
            </a:r>
            <a:endParaRPr lang="en-US" sz="1395" dirty="0"/>
          </a:p>
        </p:txBody>
      </p:sp>
      <p:sp>
        <p:nvSpPr>
          <p:cNvPr id="25" name="초등부 프로그램 글자 24"/>
          <p:cNvSpPr txBox="1"/>
          <p:nvPr/>
        </p:nvSpPr>
        <p:spPr>
          <a:xfrm>
            <a:off x="4818602" y="1868805"/>
            <a:ext cx="1781366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340" dirty="0">
                <a:solidFill>
                  <a:srgbClr val="16224F"/>
                </a:solidFill>
                <a:latin typeface="Recipekorea" pitchFamily="34" charset="0"/>
                <a:ea typeface="Recipekorea" pitchFamily="34" charset="-122"/>
                <a:cs typeface="Recipekorea" pitchFamily="34" charset="-120"/>
              </a:rPr>
              <a:t>음악 줄넘기</a:t>
            </a:r>
            <a:endParaRPr lang="en-US" sz="2340" dirty="0"/>
          </a:p>
        </p:txBody>
      </p:sp>
      <p:sp>
        <p:nvSpPr>
          <p:cNvPr id="26" name="초등부 프로그램 글자 25"/>
          <p:cNvSpPr txBox="1"/>
          <p:nvPr/>
        </p:nvSpPr>
        <p:spPr>
          <a:xfrm>
            <a:off x="6982501" y="1428750"/>
            <a:ext cx="35678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5" dirty="0">
                <a:solidFill>
                  <a:srgbClr val="FFFFFF"/>
                </a:solidFill>
                <a:latin typeface="Recipekorea" pitchFamily="34" charset="0"/>
                <a:ea typeface="Recipekorea" pitchFamily="34" charset="-122"/>
                <a:cs typeface="Recipekorea" pitchFamily="34" charset="-120"/>
              </a:rPr>
              <a:t>04</a:t>
            </a:r>
            <a:endParaRPr lang="en-US" sz="1395" dirty="0"/>
          </a:p>
        </p:txBody>
      </p:sp>
      <p:sp>
        <p:nvSpPr>
          <p:cNvPr id="27" name="초등부 프로그램 글자 26"/>
          <p:cNvSpPr txBox="1"/>
          <p:nvPr/>
        </p:nvSpPr>
        <p:spPr>
          <a:xfrm>
            <a:off x="7315729" y="1868805"/>
            <a:ext cx="1039073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340" dirty="0">
                <a:solidFill>
                  <a:srgbClr val="16224F"/>
                </a:solidFill>
                <a:latin typeface="Recipekorea" pitchFamily="34" charset="0"/>
                <a:ea typeface="Recipekorea" pitchFamily="34" charset="-122"/>
                <a:cs typeface="Recipekorea" pitchFamily="34" charset="-120"/>
              </a:rPr>
              <a:t>태권도</a:t>
            </a:r>
            <a:endParaRPr lang="en-US" sz="2340" dirty="0"/>
          </a:p>
        </p:txBody>
      </p:sp>
      <p:sp>
        <p:nvSpPr>
          <p:cNvPr id="28" name="초등부 프로그램 글자 27"/>
          <p:cNvSpPr txBox="1"/>
          <p:nvPr/>
        </p:nvSpPr>
        <p:spPr>
          <a:xfrm>
            <a:off x="6784862" y="2336006"/>
            <a:ext cx="2100805" cy="8486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228"/>
              </a:lnSpc>
              <a:buNone/>
            </a:pPr>
            <a:r>
              <a:rPr lang="en-US" sz="1485" spc="-45" kern="0" dirty="0">
                <a:solidFill>
                  <a:srgbClr val="3A3E4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품새, 발차기</a:t>
            </a:r>
            <a:endParaRPr lang="en-US" sz="1485" dirty="0"/>
          </a:p>
          <a:p>
            <a:pPr algn="ctr" indent="0" marL="0">
              <a:lnSpc>
                <a:spcPts val="2228"/>
              </a:lnSpc>
              <a:buNone/>
            </a:pPr>
            <a:r>
              <a:rPr lang="en-US" sz="1485" spc="-45" kern="0" dirty="0">
                <a:solidFill>
                  <a:srgbClr val="3A3E4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(기본발차기, 시범발차기),</a:t>
            </a:r>
            <a:endParaRPr lang="en-US" sz="1485" dirty="0"/>
          </a:p>
          <a:p>
            <a:pPr algn="ctr" indent="0" marL="0">
              <a:lnSpc>
                <a:spcPts val="2228"/>
              </a:lnSpc>
              <a:buNone/>
            </a:pPr>
            <a:r>
              <a:rPr lang="en-US" sz="1485" spc="-45" kern="0" dirty="0">
                <a:solidFill>
                  <a:srgbClr val="3A3E4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겨루기</a:t>
            </a:r>
            <a:endParaRPr lang="en-US" sz="1485" dirty="0"/>
          </a:p>
        </p:txBody>
      </p:sp>
      <p:sp>
        <p:nvSpPr>
          <p:cNvPr id="29" name="초등부 프로그램 글자 28"/>
          <p:cNvSpPr txBox="1"/>
          <p:nvPr/>
        </p:nvSpPr>
        <p:spPr>
          <a:xfrm>
            <a:off x="285750" y="4796314"/>
            <a:ext cx="38579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90" spc="40" kern="0" dirty="0">
                <a:solidFill>
                  <a:srgbClr val="3D414C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4 / 9</a:t>
            </a:r>
            <a:endParaRPr lang="en-US" sz="99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인성교육 ellipse 1"/>
          <p:cNvSpPr/>
          <p:nvPr/>
        </p:nvSpPr>
        <p:spPr>
          <a:xfrm>
            <a:off x="800100" y="160020"/>
            <a:ext cx="845820" cy="845820"/>
          </a:xfrm>
          <a:prstGeom prst="ellipse">
            <a:avLst/>
          </a:prstGeom>
          <a:solidFill>
            <a:srgbClr val="F39A0B"/>
          </a:solidFill>
          <a:ln/>
          <a:effectLst>
            <a:outerShdw sx="100000" sy="100000" kx="0" ky="0" algn="bl" rotWithShape="0" blurRad="101600" dist="25400" dir="5400000">
              <a:srgbClr val="2A2040">
                <a:alpha val="12000"/>
              </a:srgbClr>
            </a:outerShdw>
          </a:effectLst>
        </p:spPr>
      </p:sp>
      <p:pic>
        <p:nvPicPr>
          <p:cNvPr id="3" name="I05_courtesy" descr="I05_courtes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635" y="1249242"/>
            <a:ext cx="788670" cy="644766"/>
          </a:xfrm>
          <a:prstGeom prst="rect">
            <a:avLst/>
          </a:prstGeom>
        </p:spPr>
      </p:pic>
      <p:pic>
        <p:nvPicPr>
          <p:cNvPr id="4" name="I06_care" descr="I06_car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3380" y="1268848"/>
            <a:ext cx="788670" cy="605554"/>
          </a:xfrm>
          <a:prstGeom prst="rect">
            <a:avLst/>
          </a:prstGeom>
        </p:spPr>
      </p:pic>
      <p:pic>
        <p:nvPicPr>
          <p:cNvPr id="5" name="I07_yield" descr="I07_yiel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125" y="1244806"/>
            <a:ext cx="788670" cy="653637"/>
          </a:xfrm>
          <a:prstGeom prst="rect">
            <a:avLst/>
          </a:prstGeom>
        </p:spPr>
      </p:pic>
      <p:pic>
        <p:nvPicPr>
          <p:cNvPr id="6" name="I08_patience" descr="I08_patienc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1635" y="3193931"/>
            <a:ext cx="788670" cy="710168"/>
          </a:xfrm>
          <a:prstGeom prst="rect">
            <a:avLst/>
          </a:prstGeom>
        </p:spPr>
      </p:pic>
      <p:pic>
        <p:nvPicPr>
          <p:cNvPr id="7" name="I09_order" descr="I09_orde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3380" y="3227837"/>
            <a:ext cx="788670" cy="642356"/>
          </a:xfrm>
          <a:prstGeom prst="rect">
            <a:avLst/>
          </a:prstGeom>
        </p:spPr>
      </p:pic>
      <p:pic>
        <p:nvPicPr>
          <p:cNvPr id="8" name="I10_star" descr="I10_sta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5125" y="3180353"/>
            <a:ext cx="788670" cy="737324"/>
          </a:xfrm>
          <a:prstGeom prst="rect">
            <a:avLst/>
          </a:prstGeom>
        </p:spPr>
      </p:pic>
      <p:sp>
        <p:nvSpPr>
          <p:cNvPr id="9" name="인성교육 글자 8"/>
          <p:cNvSpPr txBox="1"/>
          <p:nvPr/>
        </p:nvSpPr>
        <p:spPr>
          <a:xfrm>
            <a:off x="856098" y="337185"/>
            <a:ext cx="733735" cy="5200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150" dirty="0">
                <a:solidFill>
                  <a:srgbClr val="FFFFFF"/>
                </a:solidFill>
                <a:latin typeface="Recipekorea" pitchFamily="34" charset="0"/>
                <a:ea typeface="Recipekorea" pitchFamily="34" charset="-122"/>
                <a:cs typeface="Recipekorea" pitchFamily="34" charset="-120"/>
              </a:rPr>
              <a:t>04</a:t>
            </a:r>
            <a:endParaRPr lang="en-US" sz="3150" dirty="0"/>
          </a:p>
        </p:txBody>
      </p:sp>
      <p:sp>
        <p:nvSpPr>
          <p:cNvPr id="10" name="인성교육 글자 9"/>
          <p:cNvSpPr txBox="1"/>
          <p:nvPr/>
        </p:nvSpPr>
        <p:spPr>
          <a:xfrm>
            <a:off x="2171700" y="200025"/>
            <a:ext cx="2540660" cy="7372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500" spc="-23" kern="0" dirty="0">
                <a:solidFill>
                  <a:srgbClr val="16224F"/>
                </a:solidFill>
                <a:latin typeface="Recipekorea" pitchFamily="34" charset="0"/>
                <a:ea typeface="Recipekorea" pitchFamily="34" charset="-122"/>
                <a:cs typeface="Recipekorea" pitchFamily="34" charset="-120"/>
              </a:rPr>
              <a:t>인성교육</a:t>
            </a:r>
            <a:endParaRPr lang="en-US" sz="4500" dirty="0"/>
          </a:p>
        </p:txBody>
      </p:sp>
      <p:sp>
        <p:nvSpPr>
          <p:cNvPr id="11" name="인성교육 글자 10"/>
          <p:cNvSpPr txBox="1"/>
          <p:nvPr/>
        </p:nvSpPr>
        <p:spPr>
          <a:xfrm>
            <a:off x="4686300" y="235769"/>
            <a:ext cx="3099830" cy="7141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812"/>
              </a:lnSpc>
              <a:buNone/>
            </a:pPr>
            <a:r>
              <a:rPr lang="en-US" sz="1980" spc="-40" kern="0" dirty="0">
                <a:solidFill>
                  <a:srgbClr val="2B2F3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태권도를 통해 올바른 마음과</a:t>
            </a:r>
            <a:endParaRPr lang="en-US" sz="1980" dirty="0"/>
          </a:p>
          <a:p>
            <a:pPr algn="l" indent="0" marL="0">
              <a:lnSpc>
                <a:spcPts val="2812"/>
              </a:lnSpc>
              <a:buNone/>
            </a:pPr>
            <a:r>
              <a:rPr lang="en-US" sz="1980" spc="-40" kern="0" dirty="0">
                <a:solidFill>
                  <a:srgbClr val="2B2F3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행동을 배우고 실천합니다.</a:t>
            </a:r>
            <a:endParaRPr lang="en-US" sz="1980" dirty="0"/>
          </a:p>
        </p:txBody>
      </p:sp>
      <p:sp>
        <p:nvSpPr>
          <p:cNvPr id="12" name="인성교육 글자 11"/>
          <p:cNvSpPr txBox="1"/>
          <p:nvPr/>
        </p:nvSpPr>
        <p:spPr>
          <a:xfrm>
            <a:off x="1658950" y="1960245"/>
            <a:ext cx="774040" cy="4171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20" dirty="0">
                <a:solidFill>
                  <a:srgbClr val="16224F"/>
                </a:solidFill>
                <a:latin typeface="Recipekorea" pitchFamily="34" charset="0"/>
                <a:ea typeface="Recipekorea" pitchFamily="34" charset="-122"/>
                <a:cs typeface="Recipekorea" pitchFamily="34" charset="-120"/>
              </a:rPr>
              <a:t>예의</a:t>
            </a:r>
            <a:endParaRPr lang="en-US" sz="2520" dirty="0"/>
          </a:p>
        </p:txBody>
      </p:sp>
      <p:sp>
        <p:nvSpPr>
          <p:cNvPr id="13" name="인성교육 글자 12"/>
          <p:cNvSpPr txBox="1"/>
          <p:nvPr/>
        </p:nvSpPr>
        <p:spPr>
          <a:xfrm>
            <a:off x="1339216" y="2398568"/>
            <a:ext cx="1413420" cy="5440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142"/>
              </a:lnSpc>
              <a:buNone/>
            </a:pPr>
            <a:r>
              <a:rPr lang="en-US" sz="1575" spc="-47" kern="0" dirty="0">
                <a:solidFill>
                  <a:srgbClr val="3A3E4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상대를 존중하는</a:t>
            </a:r>
            <a:endParaRPr lang="en-US" sz="1575" dirty="0"/>
          </a:p>
          <a:p>
            <a:pPr algn="ctr" indent="0" marL="0">
              <a:lnSpc>
                <a:spcPts val="2142"/>
              </a:lnSpc>
              <a:buNone/>
            </a:pPr>
            <a:r>
              <a:rPr lang="en-US" sz="1575" spc="-47" kern="0" dirty="0">
                <a:solidFill>
                  <a:srgbClr val="3A3E4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바른 마음</a:t>
            </a:r>
            <a:endParaRPr lang="en-US" sz="1575" dirty="0"/>
          </a:p>
        </p:txBody>
      </p:sp>
      <p:sp>
        <p:nvSpPr>
          <p:cNvPr id="14" name="인성교육 글자 13"/>
          <p:cNvSpPr txBox="1"/>
          <p:nvPr/>
        </p:nvSpPr>
        <p:spPr>
          <a:xfrm>
            <a:off x="4190695" y="1960245"/>
            <a:ext cx="774040" cy="4171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20" dirty="0">
                <a:solidFill>
                  <a:srgbClr val="16224F"/>
                </a:solidFill>
                <a:latin typeface="Recipekorea" pitchFamily="34" charset="0"/>
                <a:ea typeface="Recipekorea" pitchFamily="34" charset="-122"/>
                <a:cs typeface="Recipekorea" pitchFamily="34" charset="-120"/>
              </a:rPr>
              <a:t>배려</a:t>
            </a:r>
            <a:endParaRPr lang="en-US" sz="2520" dirty="0"/>
          </a:p>
        </p:txBody>
      </p:sp>
      <p:sp>
        <p:nvSpPr>
          <p:cNvPr id="15" name="인성교육 글자 14"/>
          <p:cNvSpPr txBox="1"/>
          <p:nvPr/>
        </p:nvSpPr>
        <p:spPr>
          <a:xfrm>
            <a:off x="4057879" y="2398568"/>
            <a:ext cx="1039673" cy="5440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142"/>
              </a:lnSpc>
              <a:buNone/>
            </a:pPr>
            <a:r>
              <a:rPr lang="en-US" sz="1575" spc="-47" kern="0" dirty="0">
                <a:solidFill>
                  <a:srgbClr val="3A3E4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함께하는</a:t>
            </a:r>
            <a:endParaRPr lang="en-US" sz="1575" dirty="0"/>
          </a:p>
          <a:p>
            <a:pPr algn="ctr" indent="0" marL="0">
              <a:lnSpc>
                <a:spcPts val="2142"/>
              </a:lnSpc>
              <a:buNone/>
            </a:pPr>
            <a:r>
              <a:rPr lang="en-US" sz="1575" spc="-47" kern="0" dirty="0">
                <a:solidFill>
                  <a:srgbClr val="3A3E4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따뜻한 마음</a:t>
            </a:r>
            <a:endParaRPr lang="en-US" sz="1575" dirty="0"/>
          </a:p>
        </p:txBody>
      </p:sp>
      <p:sp>
        <p:nvSpPr>
          <p:cNvPr id="16" name="인성교육 글자 15"/>
          <p:cNvSpPr txBox="1"/>
          <p:nvPr/>
        </p:nvSpPr>
        <p:spPr>
          <a:xfrm>
            <a:off x="6731347" y="1960245"/>
            <a:ext cx="756137" cy="4171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20" dirty="0">
                <a:solidFill>
                  <a:srgbClr val="16224F"/>
                </a:solidFill>
                <a:latin typeface="Recipekorea" pitchFamily="34" charset="0"/>
                <a:ea typeface="Recipekorea" pitchFamily="34" charset="-122"/>
                <a:cs typeface="Recipekorea" pitchFamily="34" charset="-120"/>
              </a:rPr>
              <a:t>양보</a:t>
            </a:r>
            <a:endParaRPr lang="en-US" sz="2520" dirty="0"/>
          </a:p>
        </p:txBody>
      </p:sp>
      <p:sp>
        <p:nvSpPr>
          <p:cNvPr id="17" name="인성교육 글자 16"/>
          <p:cNvSpPr txBox="1"/>
          <p:nvPr/>
        </p:nvSpPr>
        <p:spPr>
          <a:xfrm>
            <a:off x="6402706" y="2398568"/>
            <a:ext cx="1413420" cy="5440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142"/>
              </a:lnSpc>
              <a:buNone/>
            </a:pPr>
            <a:r>
              <a:rPr lang="en-US" sz="1575" spc="-47" kern="0" dirty="0">
                <a:solidFill>
                  <a:srgbClr val="3A3E4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더불어 살아가는</a:t>
            </a:r>
            <a:endParaRPr lang="en-US" sz="1575" dirty="0"/>
          </a:p>
          <a:p>
            <a:pPr algn="ctr" indent="0" marL="0">
              <a:lnSpc>
                <a:spcPts val="2142"/>
              </a:lnSpc>
              <a:buNone/>
            </a:pPr>
            <a:r>
              <a:rPr lang="en-US" sz="1575" spc="-47" kern="0" dirty="0">
                <a:solidFill>
                  <a:srgbClr val="3A3E4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마음가짐</a:t>
            </a:r>
            <a:endParaRPr lang="en-US" sz="1575" dirty="0"/>
          </a:p>
        </p:txBody>
      </p:sp>
      <p:sp>
        <p:nvSpPr>
          <p:cNvPr id="18" name="인성교육 글자 17"/>
          <p:cNvSpPr txBox="1"/>
          <p:nvPr/>
        </p:nvSpPr>
        <p:spPr>
          <a:xfrm>
            <a:off x="1658950" y="3937635"/>
            <a:ext cx="774040" cy="4171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20" dirty="0">
                <a:solidFill>
                  <a:srgbClr val="16224F"/>
                </a:solidFill>
                <a:latin typeface="Recipekorea" pitchFamily="34" charset="0"/>
                <a:ea typeface="Recipekorea" pitchFamily="34" charset="-122"/>
                <a:cs typeface="Recipekorea" pitchFamily="34" charset="-120"/>
              </a:rPr>
              <a:t>인내</a:t>
            </a:r>
            <a:endParaRPr lang="en-US" sz="2520" dirty="0"/>
          </a:p>
        </p:txBody>
      </p:sp>
      <p:sp>
        <p:nvSpPr>
          <p:cNvPr id="19" name="인성교육 글자 18"/>
          <p:cNvSpPr txBox="1"/>
          <p:nvPr/>
        </p:nvSpPr>
        <p:spPr>
          <a:xfrm>
            <a:off x="1432627" y="4375958"/>
            <a:ext cx="1226596" cy="5440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142"/>
              </a:lnSpc>
              <a:buNone/>
            </a:pPr>
            <a:r>
              <a:rPr lang="en-US" sz="1575" spc="-47" kern="0" dirty="0">
                <a:solidFill>
                  <a:srgbClr val="3A3E4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끝까지 해내는</a:t>
            </a:r>
            <a:endParaRPr lang="en-US" sz="1575" dirty="0"/>
          </a:p>
          <a:p>
            <a:pPr algn="ctr" indent="0" marL="0">
              <a:lnSpc>
                <a:spcPts val="2142"/>
              </a:lnSpc>
              <a:buNone/>
            </a:pPr>
            <a:r>
              <a:rPr lang="en-US" sz="1575" spc="-47" kern="0" dirty="0">
                <a:solidFill>
                  <a:srgbClr val="3A3E4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강한 마음</a:t>
            </a:r>
            <a:endParaRPr lang="en-US" sz="1575" dirty="0"/>
          </a:p>
        </p:txBody>
      </p:sp>
      <p:sp>
        <p:nvSpPr>
          <p:cNvPr id="20" name="인성교육 글자 19"/>
          <p:cNvSpPr txBox="1"/>
          <p:nvPr/>
        </p:nvSpPr>
        <p:spPr>
          <a:xfrm>
            <a:off x="4190695" y="3937635"/>
            <a:ext cx="774040" cy="4171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20" dirty="0">
                <a:solidFill>
                  <a:srgbClr val="16224F"/>
                </a:solidFill>
                <a:latin typeface="Recipekorea" pitchFamily="34" charset="0"/>
                <a:ea typeface="Recipekorea" pitchFamily="34" charset="-122"/>
                <a:cs typeface="Recipekorea" pitchFamily="34" charset="-120"/>
              </a:rPr>
              <a:t>질서</a:t>
            </a:r>
            <a:endParaRPr lang="en-US" sz="2520" dirty="0"/>
          </a:p>
        </p:txBody>
      </p:sp>
      <p:sp>
        <p:nvSpPr>
          <p:cNvPr id="21" name="인성교육 글자 20"/>
          <p:cNvSpPr txBox="1"/>
          <p:nvPr/>
        </p:nvSpPr>
        <p:spPr>
          <a:xfrm>
            <a:off x="3964372" y="4375958"/>
            <a:ext cx="1226596" cy="5440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142"/>
              </a:lnSpc>
              <a:buNone/>
            </a:pPr>
            <a:r>
              <a:rPr lang="en-US" sz="1575" spc="-47" kern="0" dirty="0">
                <a:solidFill>
                  <a:srgbClr val="3A3E4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규칙을 지키는</a:t>
            </a:r>
            <a:endParaRPr lang="en-US" sz="1575" dirty="0"/>
          </a:p>
          <a:p>
            <a:pPr algn="ctr" indent="0" marL="0">
              <a:lnSpc>
                <a:spcPts val="2142"/>
              </a:lnSpc>
              <a:buNone/>
            </a:pPr>
            <a:r>
              <a:rPr lang="en-US" sz="1575" spc="-47" kern="0" dirty="0">
                <a:solidFill>
                  <a:srgbClr val="3A3E4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바른 태도</a:t>
            </a:r>
            <a:endParaRPr lang="en-US" sz="1575" dirty="0"/>
          </a:p>
        </p:txBody>
      </p:sp>
      <p:sp>
        <p:nvSpPr>
          <p:cNvPr id="22" name="인성교육 글자 21"/>
          <p:cNvSpPr txBox="1"/>
          <p:nvPr/>
        </p:nvSpPr>
        <p:spPr>
          <a:xfrm>
            <a:off x="6543218" y="3937635"/>
            <a:ext cx="1132484" cy="4171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20" dirty="0">
                <a:solidFill>
                  <a:srgbClr val="16224F"/>
                </a:solidFill>
                <a:latin typeface="Recipekorea" pitchFamily="34" charset="0"/>
                <a:ea typeface="Recipekorea" pitchFamily="34" charset="-122"/>
                <a:cs typeface="Recipekorea" pitchFamily="34" charset="-120"/>
              </a:rPr>
              <a:t>자신감</a:t>
            </a:r>
            <a:endParaRPr lang="en-US" sz="2520" dirty="0"/>
          </a:p>
        </p:txBody>
      </p:sp>
      <p:sp>
        <p:nvSpPr>
          <p:cNvPr id="23" name="인성교육 글자 22"/>
          <p:cNvSpPr txBox="1"/>
          <p:nvPr/>
        </p:nvSpPr>
        <p:spPr>
          <a:xfrm>
            <a:off x="6309289" y="4375958"/>
            <a:ext cx="1600343" cy="5440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142"/>
              </a:lnSpc>
              <a:buNone/>
            </a:pPr>
            <a:r>
              <a:rPr lang="en-US" sz="1575" spc="-47" kern="0" dirty="0">
                <a:solidFill>
                  <a:srgbClr val="3A3E4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도전하고 성장하는</a:t>
            </a:r>
            <a:endParaRPr lang="en-US" sz="1575" dirty="0"/>
          </a:p>
          <a:p>
            <a:pPr algn="ctr" indent="0" marL="0">
              <a:lnSpc>
                <a:spcPts val="2142"/>
              </a:lnSpc>
              <a:buNone/>
            </a:pPr>
            <a:r>
              <a:rPr lang="en-US" sz="1575" spc="-47" kern="0" dirty="0">
                <a:solidFill>
                  <a:srgbClr val="3A3E4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긍정적인 마음</a:t>
            </a:r>
            <a:endParaRPr lang="en-US" sz="1575" dirty="0"/>
          </a:p>
        </p:txBody>
      </p:sp>
      <p:sp>
        <p:nvSpPr>
          <p:cNvPr id="24" name="인성교육 글자 23"/>
          <p:cNvSpPr txBox="1"/>
          <p:nvPr/>
        </p:nvSpPr>
        <p:spPr>
          <a:xfrm>
            <a:off x="285750" y="4796314"/>
            <a:ext cx="38159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90" spc="40" kern="0" dirty="0">
                <a:solidFill>
                  <a:srgbClr val="3D414C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5 / 9</a:t>
            </a:r>
            <a:endParaRPr lang="en-US" sz="99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시간표 바탕"/>
          <p:cNvSpPr/>
          <p:nvPr/>
        </p:nvSpPr>
        <p:spPr>
          <a:xfrm>
            <a:off x="434340" y="1211580"/>
            <a:ext cx="5394960" cy="3406140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A2040">
                <a:alpha val="12000"/>
              </a:srgbClr>
            </a:outerShdw>
          </a:effectLst>
        </p:spPr>
      </p:sp>
      <p:graphicFrame>
        <p:nvGraphicFramePr>
          <p:cNvPr id="7" name="시간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4340" y="1211580"/>
          <a:ext cx="539496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35204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20" dirty="0">
                          <a:solidFill>
                            <a:srgbClr val="FFFF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구분</a:t>
                      </a:r>
                      <a:endParaRPr lang="en-US" sz="162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7FA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A7BD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20" dirty="0">
                          <a:solidFill>
                            <a:srgbClr val="FFFF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수업 시간</a:t>
                      </a:r>
                      <a:endParaRPr lang="en-US" sz="162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A7BD7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80" dirty="0">
                          <a:solidFill>
                            <a:srgbClr val="16224F"/>
                          </a:solidFill>
                          <a:latin typeface="Pretendard Bold" pitchFamily="34" charset="0"/>
                          <a:ea typeface="Pretendard Bold" pitchFamily="34" charset="-122"/>
                          <a:cs typeface="Pretendard Bold" pitchFamily="34" charset="-120"/>
                        </a:rPr>
                        <a:t>1부</a:t>
                      </a:r>
                      <a:endParaRPr lang="en-US" sz="1980" dirty="0">
                        <a:latin typeface="Pretendard Bold" charset="0"/>
                        <a:ea typeface="Pretendard Bold" charset="0"/>
                        <a:cs typeface="Pretendard Bold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80" dirty="0">
                          <a:solidFill>
                            <a:srgbClr val="1C2132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1:10 - 2:00</a:t>
                      </a:r>
                      <a:endParaRPr lang="en-US" sz="198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80" dirty="0">
                          <a:solidFill>
                            <a:srgbClr val="16224F"/>
                          </a:solidFill>
                          <a:latin typeface="Pretendard Bold" pitchFamily="34" charset="0"/>
                          <a:ea typeface="Pretendard Bold" pitchFamily="34" charset="-122"/>
                          <a:cs typeface="Pretendard Bold" pitchFamily="34" charset="-120"/>
                        </a:rPr>
                        <a:t>2부</a:t>
                      </a:r>
                      <a:endParaRPr lang="en-US" sz="1980" dirty="0">
                        <a:latin typeface="Pretendard Bold" charset="0"/>
                        <a:ea typeface="Pretendard Bold" charset="0"/>
                        <a:cs typeface="Pretendard Bold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80" dirty="0">
                          <a:solidFill>
                            <a:srgbClr val="1C2132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2:10 - 3:00</a:t>
                      </a:r>
                      <a:endParaRPr lang="en-US" sz="198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80" dirty="0">
                          <a:solidFill>
                            <a:srgbClr val="16224F"/>
                          </a:solidFill>
                          <a:latin typeface="Pretendard Bold" pitchFamily="34" charset="0"/>
                          <a:ea typeface="Pretendard Bold" pitchFamily="34" charset="-122"/>
                          <a:cs typeface="Pretendard Bold" pitchFamily="34" charset="-120"/>
                        </a:rPr>
                        <a:t>3부</a:t>
                      </a:r>
                      <a:endParaRPr lang="en-US" sz="1980" dirty="0">
                        <a:latin typeface="Pretendard Bold" charset="0"/>
                        <a:ea typeface="Pretendard Bold" charset="0"/>
                        <a:cs typeface="Pretendard Bold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80" dirty="0">
                          <a:solidFill>
                            <a:srgbClr val="1C2132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3:30 - 4:20</a:t>
                      </a:r>
                      <a:endParaRPr lang="en-US" sz="198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80" dirty="0">
                          <a:solidFill>
                            <a:srgbClr val="16224F"/>
                          </a:solidFill>
                          <a:latin typeface="Pretendard Bold" pitchFamily="34" charset="0"/>
                          <a:ea typeface="Pretendard Bold" pitchFamily="34" charset="-122"/>
                          <a:cs typeface="Pretendard Bold" pitchFamily="34" charset="-120"/>
                        </a:rPr>
                        <a:t>4부</a:t>
                      </a:r>
                      <a:endParaRPr lang="en-US" sz="1980" dirty="0">
                        <a:latin typeface="Pretendard Bold" charset="0"/>
                        <a:ea typeface="Pretendard Bold" charset="0"/>
                        <a:cs typeface="Pretendard Bold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80" dirty="0">
                          <a:solidFill>
                            <a:srgbClr val="1C2132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4:30 - 5:20</a:t>
                      </a:r>
                      <a:endParaRPr lang="en-US" sz="198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80" dirty="0">
                          <a:solidFill>
                            <a:srgbClr val="16224F"/>
                          </a:solidFill>
                          <a:latin typeface="Pretendard Bold" pitchFamily="34" charset="0"/>
                          <a:ea typeface="Pretendard Bold" pitchFamily="34" charset="-122"/>
                          <a:cs typeface="Pretendard Bold" pitchFamily="34" charset="-120"/>
                        </a:rPr>
                        <a:t>5부</a:t>
                      </a:r>
                      <a:endParaRPr lang="en-US" sz="1980" dirty="0">
                        <a:latin typeface="Pretendard Bold" charset="0"/>
                        <a:ea typeface="Pretendard Bold" charset="0"/>
                        <a:cs typeface="Pretendard Bold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80" dirty="0">
                          <a:solidFill>
                            <a:srgbClr val="1C2132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7:00 - 7:50</a:t>
                      </a:r>
                      <a:endParaRPr lang="en-US" sz="198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80" dirty="0">
                          <a:solidFill>
                            <a:srgbClr val="16224F"/>
                          </a:solidFill>
                          <a:latin typeface="Pretendard Bold" pitchFamily="34" charset="0"/>
                          <a:ea typeface="Pretendard Bold" pitchFamily="34" charset="-122"/>
                          <a:cs typeface="Pretendard Bold" pitchFamily="34" charset="-120"/>
                        </a:rPr>
                        <a:t>6부</a:t>
                      </a:r>
                      <a:endParaRPr lang="en-US" sz="1980" dirty="0">
                        <a:latin typeface="Pretendard Bold" charset="0"/>
                        <a:ea typeface="Pretendard Bold" charset="0"/>
                        <a:cs typeface="Pretendard Bold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80" dirty="0">
                          <a:solidFill>
                            <a:srgbClr val="1C2132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8:00 - 8:50 (성인부)</a:t>
                      </a:r>
                      <a:endParaRPr lang="en-US" sz="198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시간표 ellipse 2"/>
          <p:cNvSpPr/>
          <p:nvPr/>
        </p:nvSpPr>
        <p:spPr>
          <a:xfrm>
            <a:off x="480060" y="228600"/>
            <a:ext cx="845820" cy="845820"/>
          </a:xfrm>
          <a:prstGeom prst="ellipse">
            <a:avLst/>
          </a:prstGeom>
          <a:solidFill>
            <a:srgbClr val="155BC8"/>
          </a:solidFill>
          <a:ln/>
          <a:effectLst>
            <a:outerShdw sx="100000" sy="100000" kx="0" ky="0" algn="bl" rotWithShape="0" blurRad="101600" dist="25400" dir="5400000">
              <a:srgbClr val="2A2040">
                <a:alpha val="12000"/>
              </a:srgbClr>
            </a:outerShdw>
          </a:effectLst>
        </p:spPr>
      </p:sp>
      <p:pic>
        <p:nvPicPr>
          <p:cNvPr id="5" name="I11_clock" descr="I11_clo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8580" y="194310"/>
            <a:ext cx="763940" cy="914400"/>
          </a:xfrm>
          <a:prstGeom prst="rect">
            <a:avLst/>
          </a:prstGeom>
        </p:spPr>
      </p:pic>
      <p:pic>
        <p:nvPicPr>
          <p:cNvPr id="6" name="D05_action_lines" descr="D05_action_lin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1034" y="674370"/>
            <a:ext cx="991232" cy="628650"/>
          </a:xfrm>
          <a:prstGeom prst="rect">
            <a:avLst/>
          </a:prstGeom>
        </p:spPr>
      </p:pic>
      <p:pic>
        <p:nvPicPr>
          <p:cNvPr id="7" name="C11_timetable_cheer" descr="C11_timetable_che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5451" y="1177290"/>
            <a:ext cx="2142398" cy="3863340"/>
          </a:xfrm>
          <a:prstGeom prst="rect">
            <a:avLst/>
          </a:prstGeom>
        </p:spPr>
      </p:pic>
      <p:sp>
        <p:nvSpPr>
          <p:cNvPr id="8" name="시간표 글자 6"/>
          <p:cNvSpPr txBox="1"/>
          <p:nvPr/>
        </p:nvSpPr>
        <p:spPr>
          <a:xfrm>
            <a:off x="545254" y="405765"/>
            <a:ext cx="715432" cy="5200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150" dirty="0">
                <a:solidFill>
                  <a:srgbClr val="FFFFFF"/>
                </a:solidFill>
                <a:latin typeface="Recipekorea" pitchFamily="34" charset="0"/>
                <a:ea typeface="Recipekorea" pitchFamily="34" charset="-122"/>
                <a:cs typeface="Recipekorea" pitchFamily="34" charset="-120"/>
              </a:rPr>
              <a:t>05</a:t>
            </a:r>
            <a:endParaRPr lang="en-US" sz="3150" dirty="0"/>
          </a:p>
        </p:txBody>
      </p:sp>
      <p:sp>
        <p:nvSpPr>
          <p:cNvPr id="9" name="시간표 글자 7"/>
          <p:cNvSpPr txBox="1"/>
          <p:nvPr/>
        </p:nvSpPr>
        <p:spPr>
          <a:xfrm>
            <a:off x="1714500" y="280035"/>
            <a:ext cx="1935785" cy="7372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500" spc="-23" kern="0" dirty="0">
                <a:solidFill>
                  <a:srgbClr val="16224F"/>
                </a:solidFill>
                <a:latin typeface="Recipekorea" pitchFamily="34" charset="0"/>
                <a:ea typeface="Recipekorea" pitchFamily="34" charset="-122"/>
                <a:cs typeface="Recipekorea" pitchFamily="34" charset="-120"/>
              </a:rPr>
              <a:t>시간표</a:t>
            </a:r>
            <a:endParaRPr lang="en-US" sz="4500" dirty="0"/>
          </a:p>
        </p:txBody>
      </p:sp>
      <p:sp>
        <p:nvSpPr>
          <p:cNvPr id="10" name="시간표 글자 8"/>
          <p:cNvSpPr txBox="1"/>
          <p:nvPr/>
        </p:nvSpPr>
        <p:spPr>
          <a:xfrm>
            <a:off x="285750" y="4796314"/>
            <a:ext cx="38389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90" spc="40" kern="0" dirty="0">
                <a:solidFill>
                  <a:srgbClr val="3D414C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6 / 9</a:t>
            </a:r>
            <a:endParaRPr lang="en-US" sz="99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원비 안내 rrect 1"/>
          <p:cNvSpPr/>
          <p:nvPr/>
        </p:nvSpPr>
        <p:spPr>
          <a:xfrm>
            <a:off x="811530" y="1314450"/>
            <a:ext cx="2446020" cy="1497330"/>
          </a:xfrm>
          <a:prstGeom prst="roundRect">
            <a:avLst>
              <a:gd name="adj" fmla="val 9924"/>
            </a:avLst>
          </a:prstGeom>
          <a:solidFill>
            <a:srgbClr val="FCD5D9"/>
          </a:solidFill>
          <a:ln w="17145">
            <a:solidFill>
              <a:srgbClr val="FFFFFF">
                <a:alpha val="8000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2A2040">
                <a:alpha val="12000"/>
              </a:srgbClr>
            </a:outerShdw>
          </a:effectLst>
        </p:spPr>
      </p:sp>
      <p:sp>
        <p:nvSpPr>
          <p:cNvPr id="3" name="원비 안내 rrect 2"/>
          <p:cNvSpPr/>
          <p:nvPr/>
        </p:nvSpPr>
        <p:spPr>
          <a:xfrm>
            <a:off x="3406140" y="1314450"/>
            <a:ext cx="2446020" cy="1497330"/>
          </a:xfrm>
          <a:prstGeom prst="roundRect">
            <a:avLst>
              <a:gd name="adj" fmla="val 9924"/>
            </a:avLst>
          </a:prstGeom>
          <a:solidFill>
            <a:srgbClr val="D5E6FC"/>
          </a:solidFill>
          <a:ln w="17145">
            <a:solidFill>
              <a:srgbClr val="FFFFFF">
                <a:alpha val="8000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2A2040">
                <a:alpha val="12000"/>
              </a:srgbClr>
            </a:outerShdw>
          </a:effectLst>
        </p:spPr>
      </p:sp>
      <p:sp>
        <p:nvSpPr>
          <p:cNvPr id="4" name="원비 안내 rrect 3"/>
          <p:cNvSpPr/>
          <p:nvPr/>
        </p:nvSpPr>
        <p:spPr>
          <a:xfrm>
            <a:off x="6012180" y="1314450"/>
            <a:ext cx="2446020" cy="1497330"/>
          </a:xfrm>
          <a:prstGeom prst="roundRect">
            <a:avLst>
              <a:gd name="adj" fmla="val 9924"/>
            </a:avLst>
          </a:prstGeom>
          <a:solidFill>
            <a:srgbClr val="DFF3C9"/>
          </a:solidFill>
          <a:ln w="17145">
            <a:solidFill>
              <a:srgbClr val="FFFFFF">
                <a:alpha val="8000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2A2040">
                <a:alpha val="12000"/>
              </a:srgbClr>
            </a:outerShdw>
          </a:effectLst>
        </p:spPr>
      </p:sp>
      <p:sp>
        <p:nvSpPr>
          <p:cNvPr id="5" name="원비 안내 ellipse 4"/>
          <p:cNvSpPr/>
          <p:nvPr/>
        </p:nvSpPr>
        <p:spPr>
          <a:xfrm>
            <a:off x="742950" y="240030"/>
            <a:ext cx="845820" cy="845820"/>
          </a:xfrm>
          <a:prstGeom prst="ellipse">
            <a:avLst/>
          </a:prstGeom>
          <a:solidFill>
            <a:srgbClr val="EC4421"/>
          </a:solidFill>
          <a:ln/>
          <a:effectLst>
            <a:outerShdw sx="100000" sy="100000" kx="0" ky="0" algn="bl" rotWithShape="0" blurRad="101600" dist="25400" dir="5400000">
              <a:srgbClr val="2A2040">
                <a:alpha val="12000"/>
              </a:srgbClr>
            </a:outerShdw>
          </a:effectLst>
        </p:spPr>
      </p:sp>
      <p:pic>
        <p:nvPicPr>
          <p:cNvPr id="6" name="I12_wallet" descr="I12_walle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900" y="339596"/>
            <a:ext cx="777240" cy="760989"/>
          </a:xfrm>
          <a:prstGeom prst="rect">
            <a:avLst/>
          </a:prstGeom>
        </p:spPr>
      </p:pic>
      <p:pic>
        <p:nvPicPr>
          <p:cNvPr id="7" name="D01_sparkle" descr="D01_spark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90258"/>
            <a:ext cx="857250" cy="831114"/>
          </a:xfrm>
          <a:prstGeom prst="rect">
            <a:avLst/>
          </a:prstGeom>
        </p:spPr>
      </p:pic>
      <p:pic>
        <p:nvPicPr>
          <p:cNvPr id="8" name="D06_check_yellow" descr="D06_check_yellow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311" y="3017520"/>
            <a:ext cx="410788" cy="422910"/>
          </a:xfrm>
          <a:prstGeom prst="rect">
            <a:avLst/>
          </a:prstGeom>
        </p:spPr>
      </p:pic>
      <p:pic>
        <p:nvPicPr>
          <p:cNvPr id="9" name="D06_check_yellow" descr="D06_check_yellow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311" y="3554730"/>
            <a:ext cx="410788" cy="422910"/>
          </a:xfrm>
          <a:prstGeom prst="rect">
            <a:avLst/>
          </a:prstGeom>
        </p:spPr>
      </p:pic>
      <p:pic>
        <p:nvPicPr>
          <p:cNvPr id="10" name="D06_check_yellow" descr="D06_check_yellow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311" y="4091940"/>
            <a:ext cx="410788" cy="422910"/>
          </a:xfrm>
          <a:prstGeom prst="rect">
            <a:avLst/>
          </a:prstGeom>
        </p:spPr>
      </p:pic>
      <p:sp>
        <p:nvSpPr>
          <p:cNvPr id="11" name="원비 안내 글자 10"/>
          <p:cNvSpPr txBox="1"/>
          <p:nvPr/>
        </p:nvSpPr>
        <p:spPr>
          <a:xfrm>
            <a:off x="807944" y="417195"/>
            <a:ext cx="715832" cy="5200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150" dirty="0">
                <a:solidFill>
                  <a:srgbClr val="FFFFFF"/>
                </a:solidFill>
                <a:latin typeface="Recipekorea" pitchFamily="34" charset="0"/>
                <a:ea typeface="Recipekorea" pitchFamily="34" charset="-122"/>
                <a:cs typeface="Recipekorea" pitchFamily="34" charset="-120"/>
              </a:rPr>
              <a:t>06</a:t>
            </a:r>
            <a:endParaRPr lang="en-US" sz="3150" dirty="0"/>
          </a:p>
        </p:txBody>
      </p:sp>
      <p:sp>
        <p:nvSpPr>
          <p:cNvPr id="12" name="원비 안내 글자 11"/>
          <p:cNvSpPr txBox="1"/>
          <p:nvPr/>
        </p:nvSpPr>
        <p:spPr>
          <a:xfrm>
            <a:off x="2000250" y="280035"/>
            <a:ext cx="2780690" cy="7372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500" spc="-23" kern="0" dirty="0">
                <a:solidFill>
                  <a:srgbClr val="16224F"/>
                </a:solidFill>
                <a:latin typeface="Recipekorea" pitchFamily="34" charset="0"/>
                <a:ea typeface="Recipekorea" pitchFamily="34" charset="-122"/>
                <a:cs typeface="Recipekorea" pitchFamily="34" charset="-120"/>
              </a:rPr>
              <a:t>원비 안내</a:t>
            </a:r>
            <a:endParaRPr lang="en-US" sz="4500" dirty="0"/>
          </a:p>
        </p:txBody>
      </p:sp>
      <p:sp>
        <p:nvSpPr>
          <p:cNvPr id="13" name="원비 안내 글자 12"/>
          <p:cNvSpPr txBox="1"/>
          <p:nvPr/>
        </p:nvSpPr>
        <p:spPr>
          <a:xfrm>
            <a:off x="1557509" y="1554480"/>
            <a:ext cx="9540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0" dirty="0">
                <a:solidFill>
                  <a:srgbClr val="6F1515"/>
                </a:solidFill>
                <a:latin typeface="Recipekorea" pitchFamily="34" charset="0"/>
                <a:ea typeface="Recipekorea" pitchFamily="34" charset="-122"/>
                <a:cs typeface="Recipekorea" pitchFamily="34" charset="-120"/>
              </a:rPr>
              <a:t>주 5회</a:t>
            </a:r>
            <a:endParaRPr lang="en-US" sz="2160" dirty="0"/>
          </a:p>
        </p:txBody>
      </p:sp>
      <p:sp>
        <p:nvSpPr>
          <p:cNvPr id="14" name="원비 안내 글자 13"/>
          <p:cNvSpPr txBox="1"/>
          <p:nvPr/>
        </p:nvSpPr>
        <p:spPr>
          <a:xfrm>
            <a:off x="954439" y="1943100"/>
            <a:ext cx="2160113" cy="8286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040" spc="-101" kern="0" dirty="0">
                <a:solidFill>
                  <a:srgbClr val="6F1515"/>
                </a:solidFill>
                <a:latin typeface="Recipekorea" pitchFamily="34" charset="0"/>
                <a:ea typeface="Recipekorea" pitchFamily="34" charset="-122"/>
                <a:cs typeface="Recipekorea" pitchFamily="34" charset="-120"/>
              </a:rPr>
              <a:t>21</a:t>
            </a:r>
            <a:pPr algn="ctr" indent="0" marL="0">
              <a:buNone/>
            </a:pPr>
            <a:r>
              <a:rPr lang="en-US" sz="4320" spc="-101" kern="0" dirty="0">
                <a:solidFill>
                  <a:srgbClr val="6F1515"/>
                </a:solidFill>
                <a:latin typeface="Recipekorea" pitchFamily="34" charset="0"/>
                <a:ea typeface="Recipekorea" pitchFamily="34" charset="-122"/>
                <a:cs typeface="Recipekorea" pitchFamily="34" charset="-120"/>
              </a:rPr>
              <a:t>만원</a:t>
            </a:r>
            <a:endParaRPr lang="en-US" sz="5040" dirty="0"/>
          </a:p>
        </p:txBody>
      </p:sp>
      <p:sp>
        <p:nvSpPr>
          <p:cNvPr id="15" name="원비 안내 글자 14"/>
          <p:cNvSpPr txBox="1"/>
          <p:nvPr/>
        </p:nvSpPr>
        <p:spPr>
          <a:xfrm>
            <a:off x="4152119" y="1554480"/>
            <a:ext cx="9540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0" dirty="0">
                <a:solidFill>
                  <a:srgbClr val="13286A"/>
                </a:solidFill>
                <a:latin typeface="Recipekorea" pitchFamily="34" charset="0"/>
                <a:ea typeface="Recipekorea" pitchFamily="34" charset="-122"/>
                <a:cs typeface="Recipekorea" pitchFamily="34" charset="-120"/>
              </a:rPr>
              <a:t>주 3회</a:t>
            </a:r>
            <a:endParaRPr lang="en-US" sz="2160" dirty="0"/>
          </a:p>
        </p:txBody>
      </p:sp>
      <p:sp>
        <p:nvSpPr>
          <p:cNvPr id="16" name="원비 안내 글자 15"/>
          <p:cNvSpPr txBox="1"/>
          <p:nvPr/>
        </p:nvSpPr>
        <p:spPr>
          <a:xfrm>
            <a:off x="3548744" y="1943100"/>
            <a:ext cx="2160813" cy="8286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040" spc="-101" kern="0" dirty="0">
                <a:solidFill>
                  <a:srgbClr val="13286A"/>
                </a:solidFill>
                <a:latin typeface="Recipekorea" pitchFamily="34" charset="0"/>
                <a:ea typeface="Recipekorea" pitchFamily="34" charset="-122"/>
                <a:cs typeface="Recipekorea" pitchFamily="34" charset="-120"/>
              </a:rPr>
              <a:t>19</a:t>
            </a:r>
            <a:pPr algn="ctr" indent="0" marL="0">
              <a:buNone/>
            </a:pPr>
            <a:r>
              <a:rPr lang="en-US" sz="4320" spc="-101" kern="0" dirty="0">
                <a:solidFill>
                  <a:srgbClr val="13286A"/>
                </a:solidFill>
                <a:latin typeface="Recipekorea" pitchFamily="34" charset="0"/>
                <a:ea typeface="Recipekorea" pitchFamily="34" charset="-122"/>
                <a:cs typeface="Recipekorea" pitchFamily="34" charset="-120"/>
              </a:rPr>
              <a:t>만원</a:t>
            </a:r>
            <a:endParaRPr lang="en-US" sz="5040" dirty="0"/>
          </a:p>
        </p:txBody>
      </p:sp>
      <p:sp>
        <p:nvSpPr>
          <p:cNvPr id="17" name="원비 안내 글자 16"/>
          <p:cNvSpPr txBox="1"/>
          <p:nvPr/>
        </p:nvSpPr>
        <p:spPr>
          <a:xfrm>
            <a:off x="6758159" y="1554480"/>
            <a:ext cx="9540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0" dirty="0">
                <a:solidFill>
                  <a:srgbClr val="6A1A12"/>
                </a:solidFill>
                <a:latin typeface="Recipekorea" pitchFamily="34" charset="0"/>
                <a:ea typeface="Recipekorea" pitchFamily="34" charset="-122"/>
                <a:cs typeface="Recipekorea" pitchFamily="34" charset="-120"/>
              </a:rPr>
              <a:t>주 2회</a:t>
            </a:r>
            <a:endParaRPr lang="en-US" sz="2160" dirty="0"/>
          </a:p>
        </p:txBody>
      </p:sp>
      <p:sp>
        <p:nvSpPr>
          <p:cNvPr id="18" name="원비 안내 글자 17"/>
          <p:cNvSpPr txBox="1"/>
          <p:nvPr/>
        </p:nvSpPr>
        <p:spPr>
          <a:xfrm>
            <a:off x="6128586" y="1943100"/>
            <a:ext cx="2213119" cy="8286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040" spc="-101" kern="0" dirty="0">
                <a:solidFill>
                  <a:srgbClr val="6A1A12"/>
                </a:solidFill>
                <a:latin typeface="Recipekorea" pitchFamily="34" charset="0"/>
                <a:ea typeface="Recipekorea" pitchFamily="34" charset="-122"/>
                <a:cs typeface="Recipekorea" pitchFamily="34" charset="-120"/>
              </a:rPr>
              <a:t>18</a:t>
            </a:r>
            <a:pPr algn="ctr" indent="0" marL="0">
              <a:buNone/>
            </a:pPr>
            <a:r>
              <a:rPr lang="en-US" sz="4320" spc="-101" kern="0" dirty="0">
                <a:solidFill>
                  <a:srgbClr val="6A1A12"/>
                </a:solidFill>
                <a:latin typeface="Recipekorea" pitchFamily="34" charset="0"/>
                <a:ea typeface="Recipekorea" pitchFamily="34" charset="-122"/>
                <a:cs typeface="Recipekorea" pitchFamily="34" charset="-120"/>
              </a:rPr>
              <a:t>만원</a:t>
            </a:r>
            <a:endParaRPr lang="en-US" sz="5040" dirty="0"/>
          </a:p>
        </p:txBody>
      </p:sp>
      <p:sp>
        <p:nvSpPr>
          <p:cNvPr id="19" name="원비 안내 글자 18"/>
          <p:cNvSpPr txBox="1"/>
          <p:nvPr/>
        </p:nvSpPr>
        <p:spPr>
          <a:xfrm>
            <a:off x="1451610" y="3061097"/>
            <a:ext cx="4330484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15" spc="-63" kern="0" dirty="0">
                <a:solidFill>
                  <a:srgbClr val="262A35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체계적인 프로그램으로 높은 교육 효과</a:t>
            </a:r>
            <a:endParaRPr lang="en-US" sz="2115" dirty="0"/>
          </a:p>
        </p:txBody>
      </p:sp>
      <p:sp>
        <p:nvSpPr>
          <p:cNvPr id="20" name="원비 안내 글자 19"/>
          <p:cNvSpPr txBox="1"/>
          <p:nvPr/>
        </p:nvSpPr>
        <p:spPr>
          <a:xfrm>
            <a:off x="1451610" y="3598307"/>
            <a:ext cx="3628996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15" spc="-63" kern="0" dirty="0">
                <a:solidFill>
                  <a:srgbClr val="262A35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주 5회 수련으로 더 큰 성장 효과</a:t>
            </a:r>
            <a:endParaRPr lang="en-US" sz="2115" dirty="0"/>
          </a:p>
        </p:txBody>
      </p:sp>
      <p:sp>
        <p:nvSpPr>
          <p:cNvPr id="21" name="원비 안내 글자 20"/>
          <p:cNvSpPr txBox="1"/>
          <p:nvPr/>
        </p:nvSpPr>
        <p:spPr>
          <a:xfrm>
            <a:off x="1451610" y="4135517"/>
            <a:ext cx="5170789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15" spc="-63" kern="0" dirty="0">
                <a:solidFill>
                  <a:srgbClr val="262A35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형제 · 자매 등록 시 추가 할인 혜택 (별도 문의)</a:t>
            </a:r>
            <a:endParaRPr lang="en-US" sz="2115" dirty="0"/>
          </a:p>
        </p:txBody>
      </p:sp>
      <p:sp>
        <p:nvSpPr>
          <p:cNvPr id="22" name="원비 안내 글자 21"/>
          <p:cNvSpPr txBox="1"/>
          <p:nvPr/>
        </p:nvSpPr>
        <p:spPr>
          <a:xfrm>
            <a:off x="285750" y="4796314"/>
            <a:ext cx="37439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90" spc="40" kern="0" dirty="0">
                <a:solidFill>
                  <a:srgbClr val="3D414C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7 / 9</a:t>
            </a:r>
            <a:endParaRPr lang="en-US" sz="99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무료 차량 운행 rrect 1"/>
          <p:cNvSpPr/>
          <p:nvPr/>
        </p:nvSpPr>
        <p:spPr>
          <a:xfrm>
            <a:off x="5052060" y="1451610"/>
            <a:ext cx="3714750" cy="2548890"/>
          </a:xfrm>
          <a:prstGeom prst="roundRect">
            <a:avLst>
              <a:gd name="adj" fmla="val 5381"/>
            </a:avLst>
          </a:prstGeom>
          <a:solidFill>
            <a:srgbClr val="FFFFFF"/>
          </a:solidFill>
          <a:ln w="11430">
            <a:solidFill>
              <a:srgbClr val="D6EBE4"/>
            </a:solidFill>
            <a:prstDash val="solid"/>
          </a:ln>
          <a:effectLst>
            <a:outerShdw sx="100000" sy="100000" kx="0" ky="0" algn="bl" rotWithShape="0" blurRad="101600" dist="25400" dir="5400000">
              <a:srgbClr val="2A2040">
                <a:alpha val="12000"/>
              </a:srgbClr>
            </a:outerShdw>
          </a:effectLst>
        </p:spPr>
      </p:sp>
      <p:sp>
        <p:nvSpPr>
          <p:cNvPr id="3" name="무료 차량 운행 ellipse 2"/>
          <p:cNvSpPr/>
          <p:nvPr/>
        </p:nvSpPr>
        <p:spPr>
          <a:xfrm>
            <a:off x="480060" y="262890"/>
            <a:ext cx="845820" cy="845820"/>
          </a:xfrm>
          <a:prstGeom prst="ellipse">
            <a:avLst/>
          </a:prstGeom>
          <a:solidFill>
            <a:srgbClr val="149150"/>
          </a:solidFill>
          <a:ln/>
          <a:effectLst>
            <a:outerShdw sx="100000" sy="100000" kx="0" ky="0" algn="bl" rotWithShape="0" blurRad="101600" dist="25400" dir="5400000">
              <a:srgbClr val="2A2040">
                <a:alpha val="12000"/>
              </a:srgbClr>
            </a:outerShdw>
          </a:effectLst>
        </p:spPr>
      </p:sp>
      <p:pic>
        <p:nvPicPr>
          <p:cNvPr id="4" name="C12_bus_blank" descr="C12_bus_blan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" y="2048048"/>
            <a:ext cx="4800600" cy="2683972"/>
          </a:xfrm>
          <a:prstGeom prst="rect">
            <a:avLst/>
          </a:prstGeom>
        </p:spPr>
      </p:pic>
      <p:pic>
        <p:nvPicPr>
          <p:cNvPr id="5" name="D07_check_green" descr="D07_check_gree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1178" y="1714500"/>
            <a:ext cx="416154" cy="422910"/>
          </a:xfrm>
          <a:prstGeom prst="rect">
            <a:avLst/>
          </a:prstGeom>
        </p:spPr>
      </p:pic>
      <p:pic>
        <p:nvPicPr>
          <p:cNvPr id="6" name="D07_check_green" descr="D07_check_gree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1178" y="2297430"/>
            <a:ext cx="416154" cy="422910"/>
          </a:xfrm>
          <a:prstGeom prst="rect">
            <a:avLst/>
          </a:prstGeom>
        </p:spPr>
      </p:pic>
      <p:pic>
        <p:nvPicPr>
          <p:cNvPr id="7" name="D07_check_green" descr="D07_check_gree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1178" y="2880360"/>
            <a:ext cx="416154" cy="422910"/>
          </a:xfrm>
          <a:prstGeom prst="rect">
            <a:avLst/>
          </a:prstGeom>
        </p:spPr>
      </p:pic>
      <p:pic>
        <p:nvPicPr>
          <p:cNvPr id="8" name="D07_check_green" descr="D07_check_gree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1178" y="3463290"/>
            <a:ext cx="416154" cy="422910"/>
          </a:xfrm>
          <a:prstGeom prst="rect">
            <a:avLst/>
          </a:prstGeom>
        </p:spPr>
      </p:pic>
      <p:sp>
        <p:nvSpPr>
          <p:cNvPr id="9" name="무료 차량 운행 글자 8"/>
          <p:cNvSpPr txBox="1"/>
          <p:nvPr/>
        </p:nvSpPr>
        <p:spPr>
          <a:xfrm>
            <a:off x="545254" y="440055"/>
            <a:ext cx="715432" cy="5200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150" dirty="0">
                <a:solidFill>
                  <a:srgbClr val="FFFFFF"/>
                </a:solidFill>
                <a:latin typeface="Recipekorea" pitchFamily="34" charset="0"/>
                <a:ea typeface="Recipekorea" pitchFamily="34" charset="-122"/>
                <a:cs typeface="Recipekorea" pitchFamily="34" charset="-120"/>
              </a:rPr>
              <a:t>07</a:t>
            </a:r>
            <a:endParaRPr lang="en-US" sz="3150" dirty="0"/>
          </a:p>
        </p:txBody>
      </p:sp>
      <p:sp>
        <p:nvSpPr>
          <p:cNvPr id="10" name="무료 차량 운행 글자 9"/>
          <p:cNvSpPr txBox="1"/>
          <p:nvPr/>
        </p:nvSpPr>
        <p:spPr>
          <a:xfrm>
            <a:off x="1748790" y="302895"/>
            <a:ext cx="4134460" cy="7372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500" spc="-23" kern="0" dirty="0">
                <a:solidFill>
                  <a:srgbClr val="16224F"/>
                </a:solidFill>
                <a:latin typeface="Recipekorea" pitchFamily="34" charset="0"/>
                <a:ea typeface="Recipekorea" pitchFamily="34" charset="-122"/>
                <a:cs typeface="Recipekorea" pitchFamily="34" charset="-120"/>
              </a:rPr>
              <a:t>무료 차량 운행</a:t>
            </a:r>
            <a:endParaRPr lang="en-US" sz="4500" dirty="0"/>
          </a:p>
        </p:txBody>
      </p:sp>
      <p:sp>
        <p:nvSpPr>
          <p:cNvPr id="11" name="무료 차량 운행 글자 10"/>
          <p:cNvSpPr txBox="1"/>
          <p:nvPr/>
        </p:nvSpPr>
        <p:spPr>
          <a:xfrm>
            <a:off x="5829300" y="1779508"/>
            <a:ext cx="2588766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45" spc="-55" kern="0" dirty="0">
                <a:solidFill>
                  <a:srgbClr val="1E2331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안전한 등 · 하원 차량 운행</a:t>
            </a:r>
            <a:endParaRPr lang="en-US" sz="1845" dirty="0"/>
          </a:p>
        </p:txBody>
      </p:sp>
      <p:sp>
        <p:nvSpPr>
          <p:cNvPr id="12" name="무료 차량 운행 글자 11"/>
          <p:cNvSpPr txBox="1"/>
          <p:nvPr/>
        </p:nvSpPr>
        <p:spPr>
          <a:xfrm>
            <a:off x="5829300" y="2362438"/>
            <a:ext cx="2965413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45" spc="-55" kern="0" dirty="0">
                <a:solidFill>
                  <a:srgbClr val="1E2331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주요 아파트 및 학교 주변 운행</a:t>
            </a:r>
            <a:endParaRPr lang="en-US" sz="1845" dirty="0"/>
          </a:p>
        </p:txBody>
      </p:sp>
      <p:sp>
        <p:nvSpPr>
          <p:cNvPr id="13" name="무료 차량 운행 글자 12"/>
          <p:cNvSpPr txBox="1"/>
          <p:nvPr/>
        </p:nvSpPr>
        <p:spPr>
          <a:xfrm>
            <a:off x="5829300" y="2945368"/>
            <a:ext cx="1702156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45" spc="-55" kern="0" dirty="0">
                <a:solidFill>
                  <a:srgbClr val="1E2331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전문 기사님 동행</a:t>
            </a:r>
            <a:endParaRPr lang="en-US" sz="1845" dirty="0"/>
          </a:p>
        </p:txBody>
      </p:sp>
      <p:sp>
        <p:nvSpPr>
          <p:cNvPr id="14" name="무료 차량 운행 글자 13"/>
          <p:cNvSpPr txBox="1"/>
          <p:nvPr/>
        </p:nvSpPr>
        <p:spPr>
          <a:xfrm>
            <a:off x="5829300" y="3528298"/>
            <a:ext cx="2914207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45" spc="-55" kern="0" dirty="0">
                <a:solidFill>
                  <a:srgbClr val="1E2331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노선은 상담 시 안내드립니다.</a:t>
            </a:r>
            <a:endParaRPr lang="en-US" sz="1845" dirty="0"/>
          </a:p>
        </p:txBody>
      </p:sp>
      <p:sp>
        <p:nvSpPr>
          <p:cNvPr id="15" name="무료 차량 운행 글자 14"/>
          <p:cNvSpPr txBox="1"/>
          <p:nvPr/>
        </p:nvSpPr>
        <p:spPr>
          <a:xfrm>
            <a:off x="285750" y="4796314"/>
            <a:ext cx="38389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90" spc="40" kern="0" dirty="0">
                <a:solidFill>
                  <a:srgbClr val="3D414C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8 / 9</a:t>
            </a:r>
            <a:endParaRPr lang="en-US" sz="990" dirty="0"/>
          </a:p>
        </p:txBody>
      </p:sp>
      <p:sp>
        <p:nvSpPr>
          <p:cNvPr id="16" name="무료 차량 운행 글자 15"/>
          <p:cNvSpPr txBox="1"/>
          <p:nvPr/>
        </p:nvSpPr>
        <p:spPr>
          <a:xfrm>
            <a:off x="952276" y="3457575"/>
            <a:ext cx="2118808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80" spc="119" kern="0" dirty="0">
                <a:solidFill>
                  <a:srgbClr val="FFFFFF"/>
                </a:solidFill>
                <a:latin typeface="Recipekorea" pitchFamily="34" charset="0"/>
                <a:ea typeface="Recipekorea" pitchFamily="34" charset="-122"/>
                <a:cs typeface="Recipekorea" pitchFamily="34" charset="-120"/>
              </a:rPr>
              <a:t>갈현이룸태권도</a:t>
            </a:r>
            <a:endParaRPr lang="en-US" sz="19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03_slogan_brush" descr="A03_slogan_brus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228600"/>
            <a:ext cx="4167355" cy="2686050"/>
          </a:xfrm>
          <a:prstGeom prst="rect">
            <a:avLst/>
          </a:prstGeom>
        </p:spPr>
      </p:pic>
      <p:pic>
        <p:nvPicPr>
          <p:cNvPr id="3" name="C13_ending_fist" descr="C13_ending_fis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8907" y="685800"/>
            <a:ext cx="2160987" cy="4377690"/>
          </a:xfrm>
          <a:prstGeom prst="rect">
            <a:avLst/>
          </a:prstGeom>
        </p:spPr>
      </p:pic>
      <p:sp>
        <p:nvSpPr>
          <p:cNvPr id="4" name="마무리 글자 3"/>
          <p:cNvSpPr txBox="1"/>
          <p:nvPr/>
        </p:nvSpPr>
        <p:spPr>
          <a:xfrm>
            <a:off x="285750" y="4796314"/>
            <a:ext cx="38389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90" spc="40" kern="0" dirty="0">
                <a:solidFill>
                  <a:srgbClr val="3D414C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9 / 9</a:t>
            </a:r>
            <a:endParaRPr lang="en-US" sz="990" dirty="0"/>
          </a:p>
        </p:txBody>
      </p:sp>
      <p:sp>
        <p:nvSpPr>
          <p:cNvPr id="5" name="마무리 글자 4"/>
          <p:cNvSpPr txBox="1"/>
          <p:nvPr/>
        </p:nvSpPr>
        <p:spPr>
          <a:xfrm>
            <a:off x="685800" y="3128963"/>
            <a:ext cx="3733710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250" spc="-68" kern="0" dirty="0">
                <a:solidFill>
                  <a:srgbClr val="22252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갈현이룸태권도는</a:t>
            </a:r>
            <a:endParaRPr lang="en-US" sz="2250" dirty="0"/>
          </a:p>
          <a:p>
            <a:pPr algn="l" indent="0" marL="0">
              <a:lnSpc>
                <a:spcPts val="3375"/>
              </a:lnSpc>
              <a:buNone/>
            </a:pPr>
            <a:r>
              <a:rPr lang="en-US" sz="2250" spc="-68" kern="0" dirty="0">
                <a:solidFill>
                  <a:srgbClr val="22252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아이의 가능성을 믿고,</a:t>
            </a:r>
            <a:endParaRPr lang="en-US" sz="2250" dirty="0"/>
          </a:p>
          <a:p>
            <a:pPr algn="l" indent="0" marL="0">
              <a:lnSpc>
                <a:spcPts val="3375"/>
              </a:lnSpc>
              <a:buNone/>
            </a:pPr>
            <a:r>
              <a:rPr lang="en-US" sz="2250" spc="-68" kern="0" dirty="0">
                <a:solidFill>
                  <a:srgbClr val="22252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함께 성장하는 든든한 동반자가</a:t>
            </a:r>
            <a:endParaRPr lang="en-US" sz="2250" dirty="0"/>
          </a:p>
          <a:p>
            <a:pPr algn="l" indent="0" marL="0">
              <a:lnSpc>
                <a:spcPts val="3375"/>
              </a:lnSpc>
              <a:buNone/>
            </a:pPr>
            <a:r>
              <a:rPr lang="en-US" sz="2250" spc="-68" kern="0" dirty="0">
                <a:solidFill>
                  <a:srgbClr val="22252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되겠습니다.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갈현이룸태권도 상담 자료</dc:title>
  <dc:subject>PptxGenJS Presentation</dc:subject>
  <dc:creator>갈현이룸태권도</dc:creator>
  <cp:lastModifiedBy>갈현이룸태권도</cp:lastModifiedBy>
  <cp:revision>1</cp:revision>
  <dcterms:created xsi:type="dcterms:W3CDTF">2026-10-04T10:39:04Z</dcterms:created>
  <dcterms:modified xsi:type="dcterms:W3CDTF">2026-10-04T10:39:04Z</dcterms:modified>
</cp:coreProperties>
</file>