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1p-proj"/>
          <p:cNvSpPr/>
          <p:nvPr/>
        </p:nvSpPr>
        <p:spPr>
          <a:xfrm>
            <a:off x="518160" y="2102739"/>
            <a:ext cx="6522720" cy="1747076"/>
          </a:xfrm>
          <a:prstGeom prst="roundRect">
            <a:avLst>
              <a:gd name="adj" fmla="val 732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9" name="p1p-tag tech"/>
          <p:cNvSpPr/>
          <p:nvPr/>
        </p:nvSpPr>
        <p:spPr>
          <a:xfrm>
            <a:off x="1499807" y="2230755"/>
            <a:ext cx="1023176" cy="20726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10" name="p1p-tag people"/>
          <p:cNvSpPr/>
          <p:nvPr/>
        </p:nvSpPr>
        <p:spPr>
          <a:xfrm>
            <a:off x="2583942" y="2230755"/>
            <a:ext cx="468916" cy="207264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1" name="p1p-tag people"/>
          <p:cNvSpPr/>
          <p:nvPr/>
        </p:nvSpPr>
        <p:spPr>
          <a:xfrm>
            <a:off x="3113818" y="2230755"/>
            <a:ext cx="373856" cy="207264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2" name="p1p-out"/>
          <p:cNvSpPr/>
          <p:nvPr/>
        </p:nvSpPr>
        <p:spPr>
          <a:xfrm>
            <a:off x="5120640" y="2218563"/>
            <a:ext cx="1804416" cy="975360"/>
          </a:xfrm>
          <a:prstGeom prst="roundRect">
            <a:avLst>
              <a:gd name="adj" fmla="val 10000"/>
            </a:avLst>
          </a:prstGeom>
          <a:solidFill>
            <a:srgbClr val="FFF4DB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60" y="2333816"/>
            <a:ext cx="158496" cy="158496"/>
          </a:xfrm>
          <a:prstGeom prst="rect">
            <a:avLst/>
          </a:prstGeom>
        </p:spPr>
      </p:pic>
      <p:sp>
        <p:nvSpPr>
          <p:cNvPr id="14" name="p1p-proj-bot"/>
          <p:cNvSpPr/>
          <p:nvPr/>
        </p:nvSpPr>
        <p:spPr>
          <a:xfrm>
            <a:off x="524256" y="3303651"/>
            <a:ext cx="6510528" cy="540068"/>
          </a:xfrm>
          <a:prstGeom prst="rect">
            <a:avLst/>
          </a:prstGeom>
          <a:solidFill>
            <a:srgbClr val="EEF4FC"/>
          </a:solidFill>
          <a:ln/>
        </p:spPr>
      </p:sp>
      <p:pic>
        <p:nvPicPr>
          <p:cNvPr id="15" name="ring p1p-fr" descr="ring p1p-f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07061"/>
            <a:ext cx="316992" cy="316992"/>
          </a:xfrm>
          <a:prstGeom prst="rect">
            <a:avLst/>
          </a:prstGeom>
        </p:spPr>
      </p:pic>
      <p:pic>
        <p:nvPicPr>
          <p:cNvPr id="16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024" y="3502565"/>
            <a:ext cx="125984" cy="138176"/>
          </a:xfrm>
          <a:prstGeom prst="rect">
            <a:avLst/>
          </a:prstGeom>
        </p:spPr>
      </p:pic>
      <p:pic>
        <p:nvPicPr>
          <p:cNvPr id="17" name="p1p-fc" descr="p1p-f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25" y="3523901"/>
            <a:ext cx="1349248" cy="85344"/>
          </a:xfrm>
          <a:prstGeom prst="rect">
            <a:avLst/>
          </a:prstGeom>
        </p:spPr>
      </p:pic>
      <p:pic>
        <p:nvPicPr>
          <p:cNvPr id="18" name="ring p1p-fr" descr="ring p1p-f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83846" y="3407061"/>
            <a:ext cx="316992" cy="316992"/>
          </a:xfrm>
          <a:prstGeom prst="rect">
            <a:avLst/>
          </a:prstGeom>
        </p:spPr>
      </p:pic>
      <p:pic>
        <p:nvPicPr>
          <p:cNvPr id="19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5286" y="3498501"/>
            <a:ext cx="134112" cy="134112"/>
          </a:xfrm>
          <a:prstGeom prst="rect">
            <a:avLst/>
          </a:prstGeom>
        </p:spPr>
      </p:pic>
      <p:pic>
        <p:nvPicPr>
          <p:cNvPr id="20" name="p1p-fc" descr="p1p-fc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5754" y="3523901"/>
            <a:ext cx="1343152" cy="85344"/>
          </a:xfrm>
          <a:prstGeom prst="rect">
            <a:avLst/>
          </a:prstGeom>
        </p:spPr>
      </p:pic>
      <p:pic>
        <p:nvPicPr>
          <p:cNvPr id="21" name="ring solid p1p-fr" descr="ring solid p1p-f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0978" y="3407061"/>
            <a:ext cx="316992" cy="316992"/>
          </a:xfrm>
          <a:prstGeom prst="rect">
            <a:avLst/>
          </a:prstGeom>
        </p:spPr>
      </p:pic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2578" y="3508661"/>
            <a:ext cx="113792" cy="113792"/>
          </a:xfrm>
          <a:prstGeom prst="rect">
            <a:avLst/>
          </a:prstGeom>
        </p:spPr>
      </p:pic>
      <p:pic>
        <p:nvPicPr>
          <p:cNvPr id="23" name="p1p-path" descr="p1p-pat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3064" y="3857943"/>
            <a:ext cx="22352" cy="5163312"/>
          </a:xfrm>
          <a:prstGeom prst="rect">
            <a:avLst/>
          </a:prstGeom>
        </p:spPr>
      </p:pic>
      <p:sp>
        <p:nvSpPr>
          <p:cNvPr id="24" name="p1p-top"/>
          <p:cNvSpPr/>
          <p:nvPr/>
        </p:nvSpPr>
        <p:spPr>
          <a:xfrm>
            <a:off x="862584" y="3810191"/>
            <a:ext cx="79248" cy="79248"/>
          </a:xfrm>
          <a:prstGeom prst="ellipse">
            <a:avLst/>
          </a:prstGeom>
          <a:solidFill>
            <a:srgbClr val="45B9EC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25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0032" y="4016439"/>
            <a:ext cx="782320" cy="780288"/>
          </a:xfrm>
          <a:prstGeom prst="rect">
            <a:avLst/>
          </a:prstGeom>
        </p:spPr>
      </p:pic>
      <p:sp>
        <p:nvSpPr>
          <p:cNvPr id="26" name="s"/>
          <p:cNvSpPr/>
          <p:nvPr/>
        </p:nvSpPr>
        <p:spPr>
          <a:xfrm>
            <a:off x="1727930" y="4108609"/>
            <a:ext cx="134112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27" name="p1p-fact" descr="p1p-fac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99616" y="4493514"/>
            <a:ext cx="1444752" cy="280416"/>
          </a:xfrm>
          <a:prstGeom prst="rect">
            <a:avLst/>
          </a:prstGeom>
        </p:spPr>
      </p:pic>
      <p:sp>
        <p:nvSpPr>
          <p:cNvPr id="28" name="p1p-fact ic"/>
          <p:cNvSpPr/>
          <p:nvPr/>
        </p:nvSpPr>
        <p:spPr>
          <a:xfrm>
            <a:off x="3013996" y="4499610"/>
            <a:ext cx="1822990" cy="268224"/>
          </a:xfrm>
          <a:prstGeom prst="roundRect">
            <a:avLst>
              <a:gd name="adj" fmla="val 50000"/>
            </a:avLst>
          </a:prstGeom>
          <a:ln w="12192">
            <a:solidFill>
              <a:srgbClr val="D8E0EB"/>
            </a:solidFill>
            <a:prstDash val="solid"/>
          </a:ln>
        </p:spPr>
      </p:sp>
      <p:pic>
        <p:nvPicPr>
          <p:cNvPr id="29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42012" y="4580890"/>
            <a:ext cx="105664" cy="105664"/>
          </a:xfrm>
          <a:prstGeom prst="rect">
            <a:avLst/>
          </a:prstGeom>
        </p:spPr>
      </p:pic>
      <p:sp>
        <p:nvSpPr>
          <p:cNvPr id="30" name="i"/>
          <p:cNvSpPr/>
          <p:nvPr/>
        </p:nvSpPr>
        <p:spPr>
          <a:xfrm>
            <a:off x="862584" y="4850606"/>
            <a:ext cx="79248" cy="79248"/>
          </a:xfrm>
          <a:prstGeom prst="ellipse">
            <a:avLst/>
          </a:prstGeom>
          <a:solidFill>
            <a:srgbClr val="3DA6E7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064" y="4985766"/>
            <a:ext cx="780288" cy="780288"/>
          </a:xfrm>
          <a:prstGeom prst="rect">
            <a:avLst/>
          </a:prstGeom>
        </p:spPr>
      </p:pic>
      <p:sp>
        <p:nvSpPr>
          <p:cNvPr id="32" name="s"/>
          <p:cNvSpPr/>
          <p:nvPr/>
        </p:nvSpPr>
        <p:spPr>
          <a:xfrm>
            <a:off x="1727930" y="5079968"/>
            <a:ext cx="134112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33" name="p1p-fact" descr="p1p-fac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99616" y="5462842"/>
            <a:ext cx="1932432" cy="280416"/>
          </a:xfrm>
          <a:prstGeom prst="rect">
            <a:avLst/>
          </a:prstGeom>
        </p:spPr>
      </p:pic>
      <p:pic>
        <p:nvPicPr>
          <p:cNvPr id="34" name="p1p-to" descr="p1p-to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91357" y="5570538"/>
            <a:ext cx="83312" cy="65024"/>
          </a:xfrm>
          <a:prstGeom prst="rect">
            <a:avLst/>
          </a:prstGeom>
        </p:spPr>
      </p:pic>
      <p:pic>
        <p:nvPicPr>
          <p:cNvPr id="35" name="p1p-fact" descr="p1p-fac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39693" y="5462842"/>
            <a:ext cx="1097280" cy="280416"/>
          </a:xfrm>
          <a:prstGeom prst="rect">
            <a:avLst/>
          </a:prstGeom>
        </p:spPr>
      </p:pic>
      <p:pic>
        <p:nvPicPr>
          <p:cNvPr id="36" name="p1p-to" descr="p1p-to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96504" y="5570538"/>
            <a:ext cx="83312" cy="65024"/>
          </a:xfrm>
          <a:prstGeom prst="rect">
            <a:avLst/>
          </a:prstGeom>
        </p:spPr>
      </p:pic>
      <p:pic>
        <p:nvPicPr>
          <p:cNvPr id="37" name="p1p-fact key2" descr="p1p-fact key2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44840" y="5462842"/>
            <a:ext cx="847344" cy="280416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862584" y="5821966"/>
            <a:ext cx="79248" cy="79248"/>
          </a:xfrm>
          <a:prstGeom prst="ellipse">
            <a:avLst/>
          </a:prstGeom>
          <a:solidFill>
            <a:srgbClr val="3695E4"/>
          </a:solidFill>
          <a:ln w="18288">
            <a:solidFill>
              <a:srgbClr val="FFFFFF"/>
            </a:solidFill>
            <a:prstDash val="solid"/>
          </a:ln>
        </p:spPr>
      </p:sp>
      <p:sp>
        <p:nvSpPr>
          <p:cNvPr id="39" name="s"/>
          <p:cNvSpPr/>
          <p:nvPr/>
        </p:nvSpPr>
        <p:spPr>
          <a:xfrm>
            <a:off x="1727930" y="6030563"/>
            <a:ext cx="134112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40" name="svg" descr="sv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2064" y="7046913"/>
            <a:ext cx="780288" cy="780288"/>
          </a:xfrm>
          <a:prstGeom prst="rect">
            <a:avLst/>
          </a:prstGeom>
        </p:spPr>
      </p:pic>
      <p:sp>
        <p:nvSpPr>
          <p:cNvPr id="41" name="p1p-role me"/>
          <p:cNvSpPr/>
          <p:nvPr/>
        </p:nvSpPr>
        <p:spPr>
          <a:xfrm>
            <a:off x="1505712" y="6433757"/>
            <a:ext cx="2712720" cy="836676"/>
          </a:xfrm>
          <a:prstGeom prst="roundRect">
            <a:avLst>
              <a:gd name="adj" fmla="val 12386"/>
            </a:avLst>
          </a:prstGeom>
          <a:solidFill>
            <a:srgbClr val="FFFFFF"/>
          </a:solidFill>
          <a:ln w="12192">
            <a:solidFill>
              <a:srgbClr val="004B8D"/>
            </a:solidFill>
            <a:prstDash val="solid"/>
          </a:ln>
        </p:spPr>
      </p:sp>
      <p:pic>
        <p:nvPicPr>
          <p:cNvPr id="42" name="svg" descr="sv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33728" y="6546279"/>
            <a:ext cx="182880" cy="182880"/>
          </a:xfrm>
          <a:prstGeom prst="rect">
            <a:avLst/>
          </a:prstGeom>
        </p:spPr>
      </p:pic>
      <p:sp>
        <p:nvSpPr>
          <p:cNvPr id="43" name="p1p-me"/>
          <p:cNvSpPr/>
          <p:nvPr/>
        </p:nvSpPr>
        <p:spPr>
          <a:xfrm>
            <a:off x="2197608" y="6550343"/>
            <a:ext cx="229648" cy="170688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/>
        </p:spPr>
      </p:sp>
      <p:sp>
        <p:nvSpPr>
          <p:cNvPr id="44" name="p1p-tech"/>
          <p:cNvSpPr/>
          <p:nvPr/>
        </p:nvSpPr>
        <p:spPr>
          <a:xfrm>
            <a:off x="1633728" y="6996113"/>
            <a:ext cx="635222" cy="18288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45" name="p1p-role"/>
          <p:cNvSpPr/>
          <p:nvPr/>
        </p:nvSpPr>
        <p:spPr>
          <a:xfrm>
            <a:off x="4328160" y="6433757"/>
            <a:ext cx="2712720" cy="836676"/>
          </a:xfrm>
          <a:prstGeom prst="roundRect">
            <a:avLst>
              <a:gd name="adj" fmla="val 12386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46" name="svg" descr="sv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456176" y="6546279"/>
            <a:ext cx="182880" cy="182880"/>
          </a:xfrm>
          <a:prstGeom prst="rect">
            <a:avLst/>
          </a:prstGeom>
        </p:spPr>
      </p:pic>
      <p:pic>
        <p:nvPicPr>
          <p:cNvPr id="47" name="p1p-hub-ln" descr="p1p-hub-ln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90320" y="7425881"/>
            <a:ext cx="4399280" cy="18288"/>
          </a:xfrm>
          <a:prstGeom prst="rect">
            <a:avLst/>
          </a:prstGeom>
        </p:spPr>
      </p:pic>
      <p:sp>
        <p:nvSpPr>
          <p:cNvPr id="48" name="p1p-share"/>
          <p:cNvSpPr/>
          <p:nvPr/>
        </p:nvSpPr>
        <p:spPr>
          <a:xfrm>
            <a:off x="3279839" y="7307009"/>
            <a:ext cx="1986915" cy="256032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 w="12192">
            <a:solidFill>
              <a:srgbClr val="FFFFFF"/>
            </a:solidFill>
            <a:prstDash val="solid"/>
          </a:ln>
        </p:spPr>
      </p:sp>
      <p:pic>
        <p:nvPicPr>
          <p:cNvPr id="49" name="svg" descr="sv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85503" y="7382193"/>
            <a:ext cx="105664" cy="109728"/>
          </a:xfrm>
          <a:prstGeom prst="rect">
            <a:avLst/>
          </a:prstGeom>
        </p:spPr>
      </p:pic>
      <p:sp>
        <p:nvSpPr>
          <p:cNvPr id="50" name="p1p-role"/>
          <p:cNvSpPr/>
          <p:nvPr/>
        </p:nvSpPr>
        <p:spPr>
          <a:xfrm>
            <a:off x="1505712" y="7599617"/>
            <a:ext cx="2712720" cy="836676"/>
          </a:xfrm>
          <a:prstGeom prst="roundRect">
            <a:avLst>
              <a:gd name="adj" fmla="val 12386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51" name="p1p-hub-st l" descr="p1p-hub-st l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52928" y="7278561"/>
            <a:ext cx="18288" cy="316992"/>
          </a:xfrm>
          <a:prstGeom prst="rect">
            <a:avLst/>
          </a:prstGeom>
        </p:spPr>
      </p:pic>
      <p:sp>
        <p:nvSpPr>
          <p:cNvPr id="52" name="p1p-hub-dt l"/>
          <p:cNvSpPr/>
          <p:nvPr/>
        </p:nvSpPr>
        <p:spPr>
          <a:xfrm>
            <a:off x="2822448" y="7395401"/>
            <a:ext cx="79248" cy="79248"/>
          </a:xfrm>
          <a:prstGeom prst="ellipse">
            <a:avLst/>
          </a:prstGeom>
          <a:solidFill>
            <a:srgbClr val="00A94F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53" name="svg" descr="sv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633728" y="7712139"/>
            <a:ext cx="182880" cy="182880"/>
          </a:xfrm>
          <a:prstGeom prst="rect">
            <a:avLst/>
          </a:prstGeom>
        </p:spPr>
      </p:pic>
      <p:sp>
        <p:nvSpPr>
          <p:cNvPr id="54" name="p1p-tech"/>
          <p:cNvSpPr/>
          <p:nvPr/>
        </p:nvSpPr>
        <p:spPr>
          <a:xfrm>
            <a:off x="1633728" y="7969949"/>
            <a:ext cx="438245" cy="18288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55" name="p1p-role"/>
          <p:cNvSpPr/>
          <p:nvPr/>
        </p:nvSpPr>
        <p:spPr>
          <a:xfrm>
            <a:off x="4328160" y="7599617"/>
            <a:ext cx="2712720" cy="836676"/>
          </a:xfrm>
          <a:prstGeom prst="roundRect">
            <a:avLst>
              <a:gd name="adj" fmla="val 12386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56" name="p1p-hub-st r" descr="p1p-hub-st r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75376" y="7278561"/>
            <a:ext cx="18288" cy="316992"/>
          </a:xfrm>
          <a:prstGeom prst="rect">
            <a:avLst/>
          </a:prstGeom>
        </p:spPr>
      </p:pic>
      <p:sp>
        <p:nvSpPr>
          <p:cNvPr id="57" name="p1p-hub-dt r"/>
          <p:cNvSpPr/>
          <p:nvPr/>
        </p:nvSpPr>
        <p:spPr>
          <a:xfrm>
            <a:off x="5644896" y="7395401"/>
            <a:ext cx="79248" cy="79248"/>
          </a:xfrm>
          <a:prstGeom prst="ellipse">
            <a:avLst/>
          </a:prstGeom>
          <a:solidFill>
            <a:srgbClr val="00A94F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58" name="svg" descr="sv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456176" y="7712139"/>
            <a:ext cx="182880" cy="182880"/>
          </a:xfrm>
          <a:prstGeom prst="rect">
            <a:avLst/>
          </a:prstGeom>
        </p:spPr>
      </p:pic>
      <p:sp>
        <p:nvSpPr>
          <p:cNvPr id="59" name="i"/>
          <p:cNvSpPr/>
          <p:nvPr/>
        </p:nvSpPr>
        <p:spPr>
          <a:xfrm>
            <a:off x="862584" y="8498300"/>
            <a:ext cx="79248" cy="79248"/>
          </a:xfrm>
          <a:prstGeom prst="ellipse">
            <a:avLst/>
          </a:prstGeom>
          <a:solidFill>
            <a:srgbClr val="2F85E0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60" name="svg" descr="sv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2064" y="8631428"/>
            <a:ext cx="780288" cy="780288"/>
          </a:xfrm>
          <a:prstGeom prst="rect">
            <a:avLst/>
          </a:prstGeom>
        </p:spPr>
      </p:pic>
      <p:sp>
        <p:nvSpPr>
          <p:cNvPr id="61" name="s"/>
          <p:cNvSpPr/>
          <p:nvPr/>
        </p:nvSpPr>
        <p:spPr>
          <a:xfrm>
            <a:off x="1727930" y="8727662"/>
            <a:ext cx="134112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2" name="p1p-fact gold ic"/>
          <p:cNvSpPr/>
          <p:nvPr/>
        </p:nvSpPr>
        <p:spPr>
          <a:xfrm>
            <a:off x="1505712" y="9118664"/>
            <a:ext cx="1738503" cy="26822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 w="12192">
            <a:solidFill>
              <a:srgbClr val="FFF4DB"/>
            </a:solidFill>
            <a:prstDash val="solid"/>
          </a:ln>
        </p:spPr>
      </p:sp>
      <p:pic>
        <p:nvPicPr>
          <p:cNvPr id="63" name="svg" descr="sv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635760" y="9199944"/>
            <a:ext cx="105664" cy="105664"/>
          </a:xfrm>
          <a:prstGeom prst="rect">
            <a:avLst/>
          </a:prstGeom>
        </p:spPr>
      </p:pic>
      <p:pic>
        <p:nvPicPr>
          <p:cNvPr id="64" name="p1p-fact gold" descr="p1p-fact gold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309239" y="9112568"/>
            <a:ext cx="1706880" cy="280416"/>
          </a:xfrm>
          <a:prstGeom prst="rect">
            <a:avLst/>
          </a:prstGeom>
        </p:spPr>
      </p:pic>
      <p:sp>
        <p:nvSpPr>
          <p:cNvPr id="65" name="key"/>
          <p:cNvSpPr/>
          <p:nvPr/>
        </p:nvSpPr>
        <p:spPr>
          <a:xfrm>
            <a:off x="512064" y="9572625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66" name="i"/>
          <p:cNvSpPr/>
          <p:nvPr/>
        </p:nvSpPr>
        <p:spPr>
          <a:xfrm>
            <a:off x="755904" y="982741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67" name="b"/>
          <p:cNvSpPr/>
          <p:nvPr/>
        </p:nvSpPr>
        <p:spPr>
          <a:xfrm>
            <a:off x="816864" y="9851803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8" name="i"/>
          <p:cNvSpPr/>
          <p:nvPr/>
        </p:nvSpPr>
        <p:spPr>
          <a:xfrm>
            <a:off x="902208" y="982741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9" name="b"/>
          <p:cNvSpPr/>
          <p:nvPr/>
        </p:nvSpPr>
        <p:spPr>
          <a:xfrm>
            <a:off x="963168" y="9851803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0" name="i"/>
          <p:cNvSpPr/>
          <p:nvPr/>
        </p:nvSpPr>
        <p:spPr>
          <a:xfrm>
            <a:off x="1048512" y="982741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71" name="01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008" dirty="0"/>
          </a:p>
        </p:txBody>
      </p:sp>
      <p:sp>
        <p:nvSpPr>
          <p:cNvPr id="72" name="PT 주제 1 · 가장 중요하게 생각하는 가치와 실천 경험"/>
          <p:cNvSpPr txBox="1"/>
          <p:nvPr/>
        </p:nvSpPr>
        <p:spPr>
          <a:xfrm>
            <a:off x="1212152" y="451104"/>
            <a:ext cx="2802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008" dirty="0"/>
          </a:p>
        </p:txBody>
      </p:sp>
      <p:sp>
        <p:nvSpPr>
          <p:cNvPr id="73" name="제가 가장 중요하게 생각하는 가치는"/>
          <p:cNvSpPr txBox="1"/>
          <p:nvPr/>
        </p:nvSpPr>
        <p:spPr>
          <a:xfrm>
            <a:off x="512064" y="782955"/>
            <a:ext cx="265578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440" dirty="0"/>
          </a:p>
        </p:txBody>
      </p:sp>
      <p:sp>
        <p:nvSpPr>
          <p:cNvPr id="74" name="공동의 목표를 공유하며"/>
          <p:cNvSpPr txBox="1"/>
          <p:nvPr/>
        </p:nvSpPr>
        <p:spPr>
          <a:xfrm>
            <a:off x="512064" y="1078611"/>
            <a:ext cx="28498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</a:t>
            </a:r>
            <a:endParaRPr lang="en-US" sz="2400" dirty="0"/>
          </a:p>
        </p:txBody>
      </p:sp>
      <p:sp>
        <p:nvSpPr>
          <p:cNvPr id="75" name="함께 성과를 만드는 협업입니다"/>
          <p:cNvSpPr txBox="1"/>
          <p:nvPr/>
        </p:nvSpPr>
        <p:spPr>
          <a:xfrm>
            <a:off x="512064" y="1456563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함께 성과를 만드는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76" name="PROJECT"/>
          <p:cNvSpPr txBox="1"/>
          <p:nvPr/>
        </p:nvSpPr>
        <p:spPr>
          <a:xfrm>
            <a:off x="731520" y="2267045"/>
            <a:ext cx="7073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PROJECT</a:t>
            </a:r>
            <a:endParaRPr lang="en-US" sz="864" dirty="0"/>
          </a:p>
        </p:txBody>
      </p:sp>
      <p:sp>
        <p:nvSpPr>
          <p:cNvPr id="77" name="학생 BIM 경진대회"/>
          <p:cNvSpPr txBox="1"/>
          <p:nvPr/>
        </p:nvSpPr>
        <p:spPr>
          <a:xfrm>
            <a:off x="1591247" y="2267045"/>
            <a:ext cx="89071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864" dirty="0"/>
          </a:p>
        </p:txBody>
      </p:sp>
      <p:sp>
        <p:nvSpPr>
          <p:cNvPr id="78" name="4인 팀"/>
          <p:cNvSpPr txBox="1"/>
          <p:nvPr/>
        </p:nvSpPr>
        <p:spPr>
          <a:xfrm>
            <a:off x="2675382" y="2267045"/>
            <a:ext cx="33480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4인 팀</a:t>
            </a:r>
            <a:endParaRPr lang="en-US" sz="864" dirty="0"/>
          </a:p>
        </p:txBody>
      </p:sp>
      <p:sp>
        <p:nvSpPr>
          <p:cNvPr id="79" name="팀장"/>
          <p:cNvSpPr txBox="1"/>
          <p:nvPr/>
        </p:nvSpPr>
        <p:spPr>
          <a:xfrm>
            <a:off x="3205258" y="2267045"/>
            <a:ext cx="23974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팀장</a:t>
            </a:r>
            <a:endParaRPr lang="en-US" sz="864" dirty="0"/>
          </a:p>
        </p:txBody>
      </p:sp>
      <p:sp>
        <p:nvSpPr>
          <p:cNvPr id="80" name="‘유닛 모듈러 기반 사용자 맞춤형 리모델링 방법’"/>
          <p:cNvSpPr txBox="1"/>
          <p:nvPr/>
        </p:nvSpPr>
        <p:spPr>
          <a:xfrm>
            <a:off x="731520" y="2505075"/>
            <a:ext cx="4080803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28" spc="-6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endParaRPr lang="en-US" sz="1728" dirty="0"/>
          </a:p>
        </p:txBody>
      </p:sp>
      <p:sp>
        <p:nvSpPr>
          <p:cNvPr id="81" name="사용자가 원하는 리모델링 규모에 따라 유닛 모듈러를 배치하고,"/>
          <p:cNvSpPr txBox="1"/>
          <p:nvPr/>
        </p:nvSpPr>
        <p:spPr>
          <a:xfrm>
            <a:off x="731520" y="2828163"/>
            <a:ext cx="32556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사용자가 원하는 리모델링 규모에 따라 유닛 모듈러를 배치하고,</a:t>
            </a:r>
            <a:endParaRPr lang="en-US" sz="1008" dirty="0"/>
          </a:p>
        </p:txBody>
      </p:sp>
      <p:sp>
        <p:nvSpPr>
          <p:cNvPr id="82" name="필요한 모듈 수와 자재 물량을 자동으로 산출하는 BIM 기반 리모델링 방"/>
          <p:cNvSpPr txBox="1"/>
          <p:nvPr/>
        </p:nvSpPr>
        <p:spPr>
          <a:xfrm>
            <a:off x="731520" y="3020187"/>
            <a:ext cx="40656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필요한 모듈 수와 자재 물량을 자동으로 산출하는 BIM 기반 리모델링 방법 제안</a:t>
            </a:r>
            <a:endParaRPr lang="en-US" sz="1008" dirty="0"/>
          </a:p>
        </p:txBody>
      </p:sp>
      <p:sp>
        <p:nvSpPr>
          <p:cNvPr id="83" name="결과물"/>
          <p:cNvSpPr txBox="1"/>
          <p:nvPr/>
        </p:nvSpPr>
        <p:spPr>
          <a:xfrm>
            <a:off x="5462016" y="2332482"/>
            <a:ext cx="382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결과물</a:t>
            </a:r>
            <a:endParaRPr lang="en-US" sz="1008" dirty="0"/>
          </a:p>
        </p:txBody>
      </p:sp>
      <p:sp>
        <p:nvSpPr>
          <p:cNvPr id="84" name="유닛 모듈러 기반 사용자"/>
          <p:cNvSpPr txBox="1"/>
          <p:nvPr/>
        </p:nvSpPr>
        <p:spPr>
          <a:xfrm>
            <a:off x="5242560" y="2566797"/>
            <a:ext cx="123964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유닛 모듈러 기반 사용자</a:t>
            </a:r>
            <a:endParaRPr lang="en-US" sz="1008" dirty="0"/>
          </a:p>
        </p:txBody>
      </p:sp>
      <p:sp>
        <p:nvSpPr>
          <p:cNvPr id="85" name="맞춤형 리모델링 앱 개발"/>
          <p:cNvSpPr txBox="1"/>
          <p:nvPr/>
        </p:nvSpPr>
        <p:spPr>
          <a:xfrm>
            <a:off x="5242560" y="2745962"/>
            <a:ext cx="123964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맞춤형 리모델링 앱 개발</a:t>
            </a:r>
            <a:endParaRPr lang="en-US" sz="1008" dirty="0"/>
          </a:p>
        </p:txBody>
      </p:sp>
      <p:sp>
        <p:nvSpPr>
          <p:cNvPr id="86" name="아이디어 시연 영상"/>
          <p:cNvSpPr txBox="1"/>
          <p:nvPr/>
        </p:nvSpPr>
        <p:spPr>
          <a:xfrm>
            <a:off x="5242560" y="2925128"/>
            <a:ext cx="98117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아이디어 시연 영상</a:t>
            </a:r>
            <a:endParaRPr lang="en-US" sz="1008" dirty="0"/>
          </a:p>
        </p:txBody>
      </p:sp>
      <p:sp>
        <p:nvSpPr>
          <p:cNvPr id="87" name="리모델링"/>
          <p:cNvSpPr txBox="1"/>
          <p:nvPr/>
        </p:nvSpPr>
        <p:spPr>
          <a:xfrm>
            <a:off x="1121664" y="3407283"/>
            <a:ext cx="48406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리모델링</a:t>
            </a:r>
            <a:endParaRPr lang="en-US" sz="1008" dirty="0"/>
          </a:p>
        </p:txBody>
      </p:sp>
      <p:sp>
        <p:nvSpPr>
          <p:cNvPr id="88" name="규모 입력"/>
          <p:cNvSpPr txBox="1"/>
          <p:nvPr/>
        </p:nvSpPr>
        <p:spPr>
          <a:xfrm>
            <a:off x="1121664" y="3573685"/>
            <a:ext cx="5083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규모 입력</a:t>
            </a:r>
            <a:endParaRPr lang="en-US" sz="1008" dirty="0"/>
          </a:p>
        </p:txBody>
      </p:sp>
      <p:sp>
        <p:nvSpPr>
          <p:cNvPr id="89" name="유닛 모듈러"/>
          <p:cNvSpPr txBox="1"/>
          <p:nvPr/>
        </p:nvSpPr>
        <p:spPr>
          <a:xfrm>
            <a:off x="3471958" y="3407283"/>
            <a:ext cx="61722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유닛 모듈러</a:t>
            </a:r>
            <a:endParaRPr lang="en-US" sz="1008" dirty="0"/>
          </a:p>
        </p:txBody>
      </p:sp>
      <p:sp>
        <p:nvSpPr>
          <p:cNvPr id="90" name="배치"/>
          <p:cNvSpPr txBox="1"/>
          <p:nvPr/>
        </p:nvSpPr>
        <p:spPr>
          <a:xfrm>
            <a:off x="3471958" y="3573685"/>
            <a:ext cx="2664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배치</a:t>
            </a:r>
            <a:endParaRPr lang="en-US" sz="1008" dirty="0"/>
          </a:p>
        </p:txBody>
      </p:sp>
      <p:sp>
        <p:nvSpPr>
          <p:cNvPr id="91" name="모듈 수 · 자재 물량"/>
          <p:cNvSpPr txBox="1"/>
          <p:nvPr/>
        </p:nvSpPr>
        <p:spPr>
          <a:xfrm>
            <a:off x="5931122" y="3407283"/>
            <a:ext cx="9501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모듈 수 · 자재 물량</a:t>
            </a:r>
            <a:endParaRPr lang="en-US" sz="1008" dirty="0"/>
          </a:p>
        </p:txBody>
      </p:sp>
      <p:sp>
        <p:nvSpPr>
          <p:cNvPr id="92" name="자동 산출"/>
          <p:cNvSpPr txBox="1"/>
          <p:nvPr/>
        </p:nvSpPr>
        <p:spPr>
          <a:xfrm>
            <a:off x="5931122" y="3573685"/>
            <a:ext cx="5083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자동 산출</a:t>
            </a:r>
            <a:endParaRPr lang="en-US" sz="1008" dirty="0"/>
          </a:p>
        </p:txBody>
      </p:sp>
      <p:sp>
        <p:nvSpPr>
          <p:cNvPr id="93" name="01"/>
          <p:cNvSpPr txBox="1"/>
          <p:nvPr/>
        </p:nvSpPr>
        <p:spPr>
          <a:xfrm>
            <a:off x="1499616" y="4047363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94" name="CONFLICT"/>
          <p:cNvSpPr txBox="1"/>
          <p:nvPr/>
        </p:nvSpPr>
        <p:spPr>
          <a:xfrm>
            <a:off x="1935194" y="4047363"/>
            <a:ext cx="77190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CONFLICT</a:t>
            </a:r>
            <a:endParaRPr lang="en-US" sz="864" dirty="0"/>
          </a:p>
        </p:txBody>
      </p:sp>
      <p:sp>
        <p:nvSpPr>
          <p:cNvPr id="95" name="주제 선정 의견 충돌"/>
          <p:cNvSpPr txBox="1"/>
          <p:nvPr/>
        </p:nvSpPr>
        <p:spPr>
          <a:xfrm>
            <a:off x="1499616" y="4230815"/>
            <a:ext cx="1285890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선정 의견 충돌</a:t>
            </a:r>
            <a:endParaRPr lang="en-US" sz="1296" dirty="0"/>
          </a:p>
        </p:txBody>
      </p:sp>
      <p:sp>
        <p:nvSpPr>
          <p:cNvPr id="96" name="참신성 ↔ 구현 가능성"/>
          <p:cNvSpPr txBox="1"/>
          <p:nvPr/>
        </p:nvSpPr>
        <p:spPr>
          <a:xfrm>
            <a:off x="1749552" y="4553141"/>
            <a:ext cx="112707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참신성 ↔ 구현 가능성</a:t>
            </a:r>
            <a:endParaRPr lang="en-US" sz="1008" dirty="0"/>
          </a:p>
        </p:txBody>
      </p:sp>
      <p:sp>
        <p:nvSpPr>
          <p:cNvPr id="97" name="마감 3주 전까지 주제 미확정"/>
          <p:cNvSpPr txBox="1"/>
          <p:nvPr/>
        </p:nvSpPr>
        <p:spPr>
          <a:xfrm>
            <a:off x="3312700" y="4553141"/>
            <a:ext cx="148004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 주제 미확정</a:t>
            </a:r>
            <a:endParaRPr lang="en-US" sz="1008" dirty="0"/>
          </a:p>
        </p:txBody>
      </p:sp>
      <p:sp>
        <p:nvSpPr>
          <p:cNvPr id="98" name="기준"/>
          <p:cNvSpPr txBox="1"/>
          <p:nvPr/>
        </p:nvSpPr>
        <p:spPr>
          <a:xfrm>
            <a:off x="784527" y="5303377"/>
            <a:ext cx="23536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기준</a:t>
            </a:r>
            <a:endParaRPr lang="en-US" sz="864" dirty="0"/>
          </a:p>
        </p:txBody>
      </p:sp>
      <p:sp>
        <p:nvSpPr>
          <p:cNvPr id="99" name="02"/>
          <p:cNvSpPr txBox="1"/>
          <p:nvPr/>
        </p:nvSpPr>
        <p:spPr>
          <a:xfrm>
            <a:off x="1499616" y="5018723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100" name="ALIGN"/>
          <p:cNvSpPr txBox="1"/>
          <p:nvPr/>
        </p:nvSpPr>
        <p:spPr>
          <a:xfrm>
            <a:off x="1935194" y="5018723"/>
            <a:ext cx="49577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ALIGN</a:t>
            </a:r>
            <a:endParaRPr lang="en-US" sz="864" dirty="0"/>
          </a:p>
        </p:txBody>
      </p:sp>
      <p:sp>
        <p:nvSpPr>
          <p:cNvPr id="101" name="의견 조율 · 주제 확정"/>
          <p:cNvSpPr txBox="1"/>
          <p:nvPr/>
        </p:nvSpPr>
        <p:spPr>
          <a:xfrm>
            <a:off x="1499616" y="5202174"/>
            <a:ext cx="1369994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의견 조율 · 주제 확정</a:t>
            </a:r>
            <a:endParaRPr lang="en-US" sz="1296" dirty="0"/>
          </a:p>
        </p:txBody>
      </p:sp>
      <p:sp>
        <p:nvSpPr>
          <p:cNvPr id="102" name="경청 · 수상작 분석 · 교수님 조언"/>
          <p:cNvSpPr txBox="1"/>
          <p:nvPr/>
        </p:nvSpPr>
        <p:spPr>
          <a:xfrm>
            <a:off x="1749552" y="5524500"/>
            <a:ext cx="16416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008" dirty="0"/>
          </a:p>
        </p:txBody>
      </p:sp>
      <p:sp>
        <p:nvSpPr>
          <p:cNvPr id="103" name="판단 기준 마련"/>
          <p:cNvSpPr txBox="1"/>
          <p:nvPr/>
        </p:nvSpPr>
        <p:spPr>
          <a:xfrm>
            <a:off x="3889629" y="5524500"/>
            <a:ext cx="76057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판단 기준 마련</a:t>
            </a:r>
            <a:endParaRPr lang="en-US" sz="1008" dirty="0"/>
          </a:p>
        </p:txBody>
      </p:sp>
      <p:sp>
        <p:nvSpPr>
          <p:cNvPr id="104" name="주제 합의"/>
          <p:cNvSpPr txBox="1"/>
          <p:nvPr/>
        </p:nvSpPr>
        <p:spPr>
          <a:xfrm>
            <a:off x="5192744" y="5524500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합의</a:t>
            </a:r>
            <a:endParaRPr lang="en-US" sz="1008" dirty="0"/>
          </a:p>
        </p:txBody>
      </p:sp>
      <p:sp>
        <p:nvSpPr>
          <p:cNvPr id="105" name="03"/>
          <p:cNvSpPr txBox="1"/>
          <p:nvPr/>
        </p:nvSpPr>
        <p:spPr>
          <a:xfrm>
            <a:off x="1499616" y="5969318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864" dirty="0"/>
          </a:p>
        </p:txBody>
      </p:sp>
      <p:sp>
        <p:nvSpPr>
          <p:cNvPr id="106" name="ONE TEAM"/>
          <p:cNvSpPr txBox="1"/>
          <p:nvPr/>
        </p:nvSpPr>
        <p:spPr>
          <a:xfrm>
            <a:off x="1935194" y="5969318"/>
            <a:ext cx="80162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ONE TEAM</a:t>
            </a:r>
            <a:endParaRPr lang="en-US" sz="864" dirty="0"/>
          </a:p>
        </p:txBody>
      </p:sp>
      <p:sp>
        <p:nvSpPr>
          <p:cNvPr id="107" name="강점 기반 역할 분담 · 지속적인 공유"/>
          <p:cNvSpPr txBox="1"/>
          <p:nvPr/>
        </p:nvSpPr>
        <p:spPr>
          <a:xfrm>
            <a:off x="1499616" y="6152769"/>
            <a:ext cx="232613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강점 기반 역할 분담 · 지속적인 공유</a:t>
            </a:r>
            <a:endParaRPr lang="en-US" sz="1296" dirty="0"/>
          </a:p>
        </p:txBody>
      </p:sp>
      <p:sp>
        <p:nvSpPr>
          <p:cNvPr id="108" name="팀장"/>
          <p:cNvSpPr txBox="1"/>
          <p:nvPr/>
        </p:nvSpPr>
        <p:spPr>
          <a:xfrm>
            <a:off x="1877568" y="6543485"/>
            <a:ext cx="307848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200" dirty="0"/>
          </a:p>
        </p:txBody>
      </p:sp>
      <p:sp>
        <p:nvSpPr>
          <p:cNvPr id="109" name="나"/>
          <p:cNvSpPr txBox="1"/>
          <p:nvPr/>
        </p:nvSpPr>
        <p:spPr>
          <a:xfrm>
            <a:off x="2264664" y="6568345"/>
            <a:ext cx="14430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나</a:t>
            </a:r>
            <a:endParaRPr lang="en-US" sz="864" dirty="0"/>
          </a:p>
        </p:txBody>
      </p:sp>
      <p:sp>
        <p:nvSpPr>
          <p:cNvPr id="110" name="프로젝트 총괄"/>
          <p:cNvSpPr txBox="1"/>
          <p:nvPr/>
        </p:nvSpPr>
        <p:spPr>
          <a:xfrm>
            <a:off x="1633728" y="6813233"/>
            <a:ext cx="73047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프로젝트 총괄</a:t>
            </a:r>
            <a:endParaRPr lang="en-US" sz="1008" dirty="0"/>
          </a:p>
        </p:txBody>
      </p:sp>
      <p:sp>
        <p:nvSpPr>
          <p:cNvPr id="111" name="기반 자동화 알고리즘 개발"/>
          <p:cNvSpPr txBox="1"/>
          <p:nvPr/>
        </p:nvSpPr>
        <p:spPr>
          <a:xfrm>
            <a:off x="2318290" y="7005257"/>
            <a:ext cx="135565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기반 자동화 알고리즘 개발</a:t>
            </a:r>
            <a:endParaRPr lang="en-US" sz="1008" dirty="0"/>
          </a:p>
        </p:txBody>
      </p:sp>
      <p:sp>
        <p:nvSpPr>
          <p:cNvPr id="112" name="Dynamo"/>
          <p:cNvSpPr txBox="1"/>
          <p:nvPr/>
        </p:nvSpPr>
        <p:spPr>
          <a:xfrm>
            <a:off x="1706880" y="7017449"/>
            <a:ext cx="537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Dynamo</a:t>
            </a:r>
            <a:endParaRPr lang="en-US" sz="864" dirty="0"/>
          </a:p>
        </p:txBody>
      </p:sp>
      <p:sp>
        <p:nvSpPr>
          <p:cNvPr id="113" name="팀원 A"/>
          <p:cNvSpPr txBox="1"/>
          <p:nvPr/>
        </p:nvSpPr>
        <p:spPr>
          <a:xfrm>
            <a:off x="4700016" y="6543485"/>
            <a:ext cx="450437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114" name="유닛 모듈러 설계"/>
          <p:cNvSpPr txBox="1"/>
          <p:nvPr/>
        </p:nvSpPr>
        <p:spPr>
          <a:xfrm>
            <a:off x="4456176" y="6813233"/>
            <a:ext cx="8650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유닛 모듈러 설계</a:t>
            </a:r>
            <a:endParaRPr lang="en-US" sz="1008" dirty="0"/>
          </a:p>
        </p:txBody>
      </p:sp>
      <p:sp>
        <p:nvSpPr>
          <p:cNvPr id="115" name="배치계획"/>
          <p:cNvSpPr txBox="1"/>
          <p:nvPr/>
        </p:nvSpPr>
        <p:spPr>
          <a:xfrm>
            <a:off x="4456176" y="7005257"/>
            <a:ext cx="4866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배치계획</a:t>
            </a:r>
            <a:endParaRPr lang="en-US" sz="1008" dirty="0"/>
          </a:p>
        </p:txBody>
      </p:sp>
      <p:sp>
        <p:nvSpPr>
          <p:cNvPr id="116" name="이틀마다 진행상황 공유 · 피드백"/>
          <p:cNvSpPr txBox="1"/>
          <p:nvPr/>
        </p:nvSpPr>
        <p:spPr>
          <a:xfrm>
            <a:off x="3566351" y="7354443"/>
            <a:ext cx="16667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08" dirty="0"/>
          </a:p>
        </p:txBody>
      </p:sp>
      <p:sp>
        <p:nvSpPr>
          <p:cNvPr id="117" name="팀원 B"/>
          <p:cNvSpPr txBox="1"/>
          <p:nvPr/>
        </p:nvSpPr>
        <p:spPr>
          <a:xfrm>
            <a:off x="1877568" y="7709345"/>
            <a:ext cx="45034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118" name="Revit"/>
          <p:cNvSpPr txBox="1"/>
          <p:nvPr/>
        </p:nvSpPr>
        <p:spPr>
          <a:xfrm>
            <a:off x="1706880" y="7991285"/>
            <a:ext cx="34070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Revit</a:t>
            </a:r>
            <a:endParaRPr lang="en-US" sz="864" dirty="0"/>
          </a:p>
        </p:txBody>
      </p:sp>
      <p:sp>
        <p:nvSpPr>
          <p:cNvPr id="119" name="기반 BIM 모델링"/>
          <p:cNvSpPr txBox="1"/>
          <p:nvPr/>
        </p:nvSpPr>
        <p:spPr>
          <a:xfrm>
            <a:off x="2121313" y="7979093"/>
            <a:ext cx="8987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기반 BIM 모델링</a:t>
            </a:r>
            <a:endParaRPr lang="en-US" sz="1008" dirty="0"/>
          </a:p>
        </p:txBody>
      </p:sp>
      <p:sp>
        <p:nvSpPr>
          <p:cNvPr id="120" name="데이터 구축"/>
          <p:cNvSpPr txBox="1"/>
          <p:nvPr/>
        </p:nvSpPr>
        <p:spPr>
          <a:xfrm>
            <a:off x="1633728" y="8171117"/>
            <a:ext cx="6210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데이터 구축</a:t>
            </a:r>
            <a:endParaRPr lang="en-US" sz="1008" dirty="0"/>
          </a:p>
        </p:txBody>
      </p:sp>
      <p:sp>
        <p:nvSpPr>
          <p:cNvPr id="121" name="팀원 C"/>
          <p:cNvSpPr txBox="1"/>
          <p:nvPr/>
        </p:nvSpPr>
        <p:spPr>
          <a:xfrm>
            <a:off x="4700016" y="7709345"/>
            <a:ext cx="445008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122" name="리모델링 적용 시나리오 구성"/>
          <p:cNvSpPr txBox="1"/>
          <p:nvPr/>
        </p:nvSpPr>
        <p:spPr>
          <a:xfrm>
            <a:off x="4456176" y="7979093"/>
            <a:ext cx="14716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적용 시나리오 구성</a:t>
            </a:r>
            <a:endParaRPr lang="en-US" sz="1008" dirty="0"/>
          </a:p>
        </p:txBody>
      </p:sp>
      <p:sp>
        <p:nvSpPr>
          <p:cNvPr id="123" name="시연 영상 제작"/>
          <p:cNvSpPr txBox="1"/>
          <p:nvPr/>
        </p:nvSpPr>
        <p:spPr>
          <a:xfrm>
            <a:off x="4456176" y="8171117"/>
            <a:ext cx="7554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시연 영상 제작</a:t>
            </a:r>
            <a:endParaRPr lang="en-US" sz="1008" dirty="0"/>
          </a:p>
        </p:txBody>
      </p:sp>
      <p:sp>
        <p:nvSpPr>
          <p:cNvPr id="124" name="장려상"/>
          <p:cNvSpPr txBox="1"/>
          <p:nvPr/>
        </p:nvSpPr>
        <p:spPr>
          <a:xfrm>
            <a:off x="865061" y="8922115"/>
            <a:ext cx="32861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864" dirty="0"/>
          </a:p>
        </p:txBody>
      </p:sp>
      <p:sp>
        <p:nvSpPr>
          <p:cNvPr id="125" name="04"/>
          <p:cNvSpPr txBox="1"/>
          <p:nvPr/>
        </p:nvSpPr>
        <p:spPr>
          <a:xfrm>
            <a:off x="1499616" y="8666417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04</a:t>
            </a:r>
            <a:endParaRPr lang="en-US" sz="864" dirty="0"/>
          </a:p>
        </p:txBody>
      </p:sp>
      <p:sp>
        <p:nvSpPr>
          <p:cNvPr id="126" name="RESULT"/>
          <p:cNvSpPr txBox="1"/>
          <p:nvPr/>
        </p:nvSpPr>
        <p:spPr>
          <a:xfrm>
            <a:off x="1935194" y="8666417"/>
            <a:ext cx="59036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RESULT</a:t>
            </a:r>
            <a:endParaRPr lang="en-US" sz="864" dirty="0"/>
          </a:p>
        </p:txBody>
      </p:sp>
      <p:sp>
        <p:nvSpPr>
          <p:cNvPr id="127" name="프로젝트 완성 · 장려상 수상"/>
          <p:cNvSpPr txBox="1"/>
          <p:nvPr/>
        </p:nvSpPr>
        <p:spPr>
          <a:xfrm>
            <a:off x="1499616" y="8849868"/>
            <a:ext cx="1814947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완성 · 장려상 수상</a:t>
            </a:r>
            <a:endParaRPr lang="en-US" sz="1296" dirty="0"/>
          </a:p>
        </p:txBody>
      </p:sp>
      <p:sp>
        <p:nvSpPr>
          <p:cNvPr id="128" name="남은 3주 내 시연 영상 완성"/>
          <p:cNvSpPr txBox="1"/>
          <p:nvPr/>
        </p:nvSpPr>
        <p:spPr>
          <a:xfrm>
            <a:off x="1804416" y="9172194"/>
            <a:ext cx="13904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남은 3주 내 시연 영상 완성</a:t>
            </a:r>
            <a:endParaRPr lang="en-US" sz="1008" dirty="0"/>
          </a:p>
        </p:txBody>
      </p:sp>
      <p:sp>
        <p:nvSpPr>
          <p:cNvPr id="129" name="학생 BIM 경진대회 장려상"/>
          <p:cNvSpPr txBox="1"/>
          <p:nvPr/>
        </p:nvSpPr>
        <p:spPr>
          <a:xfrm>
            <a:off x="3561207" y="9172194"/>
            <a:ext cx="140149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 장려상</a:t>
            </a:r>
            <a:endParaRPr lang="en-US" sz="1008" dirty="0"/>
          </a:p>
        </p:txBody>
      </p:sp>
      <p:sp>
        <p:nvSpPr>
          <p:cNvPr id="130" name="KEY MESSAGE"/>
          <p:cNvSpPr txBox="1"/>
          <p:nvPr/>
        </p:nvSpPr>
        <p:spPr>
          <a:xfrm>
            <a:off x="1182624" y="9790557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131" name="서로 다른 사람을 하나의 공동 목표로 연결합니다"/>
          <p:cNvSpPr txBox="1"/>
          <p:nvPr/>
        </p:nvSpPr>
        <p:spPr>
          <a:xfrm>
            <a:off x="2358676" y="9743313"/>
            <a:ext cx="375095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536" dirty="0"/>
          </a:p>
        </p:txBody>
      </p:sp>
      <p:sp>
        <p:nvSpPr>
          <p:cNvPr id="132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133" name="01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2-quote"/>
          <p:cNvSpPr/>
          <p:nvPr/>
        </p:nvSpPr>
        <p:spPr>
          <a:xfrm>
            <a:off x="512064" y="2096643"/>
            <a:ext cx="6534912" cy="390144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9" name="p2-qr" descr="p2-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2230755"/>
            <a:ext cx="121920" cy="121920"/>
          </a:xfrm>
          <a:prstGeom prst="rect">
            <a:avLst/>
          </a:prstGeom>
        </p:spPr>
      </p:pic>
      <p:sp>
        <p:nvSpPr>
          <p:cNvPr id="10" name="p2-qs"/>
          <p:cNvSpPr/>
          <p:nvPr/>
        </p:nvSpPr>
        <p:spPr>
          <a:xfrm>
            <a:off x="1940243" y="2224659"/>
            <a:ext cx="12192" cy="13411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1" name="p2-spine" descr="p2-sp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632" y="2486787"/>
            <a:ext cx="18288" cy="6729984"/>
          </a:xfrm>
          <a:prstGeom prst="rect">
            <a:avLst/>
          </a:prstGeom>
        </p:spPr>
      </p:pic>
      <p:pic>
        <p:nvPicPr>
          <p:cNvPr id="12" name="p2-tip" descr="p2-t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425827"/>
            <a:ext cx="121920" cy="121920"/>
          </a:xfrm>
          <a:prstGeom prst="rect">
            <a:avLst/>
          </a:prstGeom>
        </p:spPr>
      </p:pic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8" y="3023235"/>
            <a:ext cx="2389632" cy="2389632"/>
          </a:xfrm>
          <a:prstGeom prst="rect">
            <a:avLst/>
          </a:prstGeom>
        </p:spPr>
      </p:pic>
      <p:pic>
        <p:nvPicPr>
          <p:cNvPr id="14" name="p2-hn" descr="p2-h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992" y="2712339"/>
            <a:ext cx="633984" cy="633984"/>
          </a:xfrm>
          <a:prstGeom prst="rect">
            <a:avLst/>
          </a:prstGeom>
        </p:spPr>
      </p:pic>
      <p:pic>
        <p:nvPicPr>
          <p:cNvPr id="15" name="p2-hn" descr="p2-h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32" y="3535426"/>
            <a:ext cx="633984" cy="633984"/>
          </a:xfrm>
          <a:prstGeom prst="rect">
            <a:avLst/>
          </a:prstGeom>
        </p:spPr>
      </p:pic>
      <p:pic>
        <p:nvPicPr>
          <p:cNvPr id="16" name="p2-hn" descr="p2-h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588" y="4865021"/>
            <a:ext cx="633984" cy="633984"/>
          </a:xfrm>
          <a:prstGeom prst="rect">
            <a:avLst/>
          </a:prstGeom>
        </p:spPr>
      </p:pic>
      <p:pic>
        <p:nvPicPr>
          <p:cNvPr id="17" name="p2-hn" descr="p2-h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301" y="4865021"/>
            <a:ext cx="633984" cy="633984"/>
          </a:xfrm>
          <a:prstGeom prst="rect">
            <a:avLst/>
          </a:prstGeom>
        </p:spPr>
      </p:pic>
      <p:pic>
        <p:nvPicPr>
          <p:cNvPr id="18" name="p2-hn" descr="p2-h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216" y="3535426"/>
            <a:ext cx="633984" cy="633984"/>
          </a:xfrm>
          <a:prstGeom prst="rect">
            <a:avLst/>
          </a:prstGeom>
        </p:spPr>
      </p:pic>
      <p:pic>
        <p:nvPicPr>
          <p:cNvPr id="19" name="p2-hc" descr="p2-h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3728" y="3693795"/>
            <a:ext cx="1048512" cy="1048512"/>
          </a:xfrm>
          <a:prstGeom prst="rect">
            <a:avLst/>
          </a:prstGeom>
        </p:spPr>
      </p:pic>
      <p:pic>
        <p:nvPicPr>
          <p:cNvPr id="20" name="p2-node" descr="p2-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50208" y="3548253"/>
            <a:ext cx="195072" cy="195072"/>
          </a:xfrm>
          <a:prstGeom prst="rect">
            <a:avLst/>
          </a:prstGeom>
        </p:spPr>
      </p:pic>
      <p:sp>
        <p:nvSpPr>
          <p:cNvPr id="21" name="i"/>
          <p:cNvSpPr/>
          <p:nvPr/>
        </p:nvSpPr>
        <p:spPr>
          <a:xfrm>
            <a:off x="4011168" y="360921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2512" y="5677027"/>
            <a:ext cx="410464" cy="410464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9040" y="6420739"/>
            <a:ext cx="1775968" cy="1775968"/>
          </a:xfrm>
          <a:prstGeom prst="rect">
            <a:avLst/>
          </a:prstGeom>
        </p:spPr>
      </p:pic>
      <p:sp>
        <p:nvSpPr>
          <p:cNvPr id="24" name="chip tech p2-tc"/>
          <p:cNvSpPr/>
          <p:nvPr/>
        </p:nvSpPr>
        <p:spPr>
          <a:xfrm>
            <a:off x="512064" y="635165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5" name="chip tech p2-tc"/>
          <p:cNvSpPr/>
          <p:nvPr/>
        </p:nvSpPr>
        <p:spPr>
          <a:xfrm>
            <a:off x="512064" y="714413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6" name="chip tech p2-tc"/>
          <p:cNvSpPr/>
          <p:nvPr/>
        </p:nvSpPr>
        <p:spPr>
          <a:xfrm>
            <a:off x="512064" y="793661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27" name="ring p2-tp" descr="ring p2-t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0304" y="6833235"/>
            <a:ext cx="950976" cy="950976"/>
          </a:xfrm>
          <a:prstGeom prst="rect">
            <a:avLst/>
          </a:prstGeom>
        </p:spPr>
      </p:pic>
      <p:sp>
        <p:nvSpPr>
          <p:cNvPr id="28" name="small"/>
          <p:cNvSpPr/>
          <p:nvPr/>
        </p:nvSpPr>
        <p:spPr>
          <a:xfrm>
            <a:off x="2115217" y="7081552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9" name="chip field p2-to"/>
          <p:cNvSpPr/>
          <p:nvPr/>
        </p:nvSpPr>
        <p:spPr>
          <a:xfrm>
            <a:off x="2974848" y="6272403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0" name="dot field"/>
          <p:cNvSpPr/>
          <p:nvPr/>
        </p:nvSpPr>
        <p:spPr>
          <a:xfrm>
            <a:off x="3084576" y="639432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1" name="chip field p2-to"/>
          <p:cNvSpPr/>
          <p:nvPr/>
        </p:nvSpPr>
        <p:spPr>
          <a:xfrm>
            <a:off x="2974848" y="6857619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2" name="dot field"/>
          <p:cNvSpPr/>
          <p:nvPr/>
        </p:nvSpPr>
        <p:spPr>
          <a:xfrm>
            <a:off x="3084576" y="6979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3" name="chip field p2-to"/>
          <p:cNvSpPr/>
          <p:nvPr/>
        </p:nvSpPr>
        <p:spPr>
          <a:xfrm>
            <a:off x="2974848" y="7442835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4" name="dot field"/>
          <p:cNvSpPr/>
          <p:nvPr/>
        </p:nvSpPr>
        <p:spPr>
          <a:xfrm>
            <a:off x="3084576" y="756475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5" name="chip field p2-to"/>
          <p:cNvSpPr/>
          <p:nvPr/>
        </p:nvSpPr>
        <p:spPr>
          <a:xfrm>
            <a:off x="2974848" y="8028051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3084576" y="814997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7" name="p2-node" descr="p2-nod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0208" y="6742557"/>
            <a:ext cx="195072" cy="195072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4011168" y="6803517"/>
            <a:ext cx="73152" cy="73152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2512" y="8572627"/>
            <a:ext cx="410464" cy="410464"/>
          </a:xfrm>
          <a:prstGeom prst="rect">
            <a:avLst/>
          </a:prstGeom>
        </p:spPr>
      </p:pic>
      <p:pic>
        <p:nvPicPr>
          <p:cNvPr id="40" name="p2-tip" descr="p2-ti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9155811"/>
            <a:ext cx="121920" cy="121920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512064" y="9216771"/>
            <a:ext cx="6534912" cy="963168"/>
          </a:xfrm>
          <a:prstGeom prst="roundRect">
            <a:avLst>
              <a:gd name="adj" fmla="val 13924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04672" y="96678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865632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50976" y="9667875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11936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97280" y="966787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2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008" dirty="0"/>
          </a:p>
        </p:txBody>
      </p:sp>
      <p:sp>
        <p:nvSpPr>
          <p:cNvPr id="48" name="PT 주제 2 · 가치체계 키워드 ‘우리의 기술’"/>
          <p:cNvSpPr txBox="1"/>
          <p:nvPr/>
        </p:nvSpPr>
        <p:spPr>
          <a:xfrm>
            <a:off x="1212152" y="451104"/>
            <a:ext cx="22242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008" dirty="0"/>
          </a:p>
        </p:txBody>
      </p:sp>
      <p:sp>
        <p:nvSpPr>
          <p:cNvPr id="49" name="현대엔지니어링 가치체계 키워드 중"/>
          <p:cNvSpPr txBox="1"/>
          <p:nvPr/>
        </p:nvSpPr>
        <p:spPr>
          <a:xfrm>
            <a:off x="512064" y="782955"/>
            <a:ext cx="26170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440" dirty="0"/>
          </a:p>
        </p:txBody>
      </p:sp>
      <p:sp>
        <p:nvSpPr>
          <p:cNvPr id="50" name="저는 ‘우리의 기술’을"/>
          <p:cNvSpPr txBox="1"/>
          <p:nvPr/>
        </p:nvSpPr>
        <p:spPr>
          <a:xfrm>
            <a:off x="512064" y="1078611"/>
            <a:ext cx="2469301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</a:t>
            </a:r>
            <a:endParaRPr lang="en-US" sz="2400" dirty="0"/>
          </a:p>
        </p:txBody>
      </p:sp>
      <p:sp>
        <p:nvSpPr>
          <p:cNvPr id="51" name="이렇게 이해했습니다"/>
          <p:cNvSpPr txBox="1"/>
          <p:nvPr/>
        </p:nvSpPr>
        <p:spPr>
          <a:xfrm>
            <a:off x="512064" y="1456563"/>
            <a:ext cx="251695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이렇게 이해했습니다</a:t>
            </a:r>
            <a:endParaRPr lang="en-US" sz="2400" dirty="0"/>
          </a:p>
        </p:txBody>
      </p:sp>
      <p:sp>
        <p:nvSpPr>
          <p:cNvPr id="52" name="가치체계 정체성"/>
          <p:cNvSpPr txBox="1"/>
          <p:nvPr/>
        </p:nvSpPr>
        <p:spPr>
          <a:xfrm>
            <a:off x="1072896" y="2224373"/>
            <a:ext cx="75761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9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864" dirty="0"/>
          </a:p>
        </p:txBody>
      </p:sp>
      <p:sp>
        <p:nvSpPr>
          <p:cNvPr id="53" name="“공간과 에너지를 잇는 길 위에서, 우리의 기술로 더 나은 삶을 만듭니다"/>
          <p:cNvSpPr txBox="1"/>
          <p:nvPr/>
        </p:nvSpPr>
        <p:spPr>
          <a:xfrm>
            <a:off x="2110931" y="2211134"/>
            <a:ext cx="37000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008" dirty="0"/>
          </a:p>
        </p:txBody>
      </p:sp>
      <p:sp>
        <p:nvSpPr>
          <p:cNvPr id="54" name="설계"/>
          <p:cNvSpPr txBox="1"/>
          <p:nvPr/>
        </p:nvSpPr>
        <p:spPr>
          <a:xfrm>
            <a:off x="2019586" y="2946083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056" dirty="0"/>
          </a:p>
        </p:txBody>
      </p:sp>
      <p:sp>
        <p:nvSpPr>
          <p:cNvPr id="55" name="시공"/>
          <p:cNvSpPr txBox="1"/>
          <p:nvPr/>
        </p:nvSpPr>
        <p:spPr>
          <a:xfrm>
            <a:off x="3150394" y="3767138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056" dirty="0"/>
          </a:p>
        </p:txBody>
      </p:sp>
      <p:sp>
        <p:nvSpPr>
          <p:cNvPr id="56" name="품질"/>
          <p:cNvSpPr txBox="1"/>
          <p:nvPr/>
        </p:nvSpPr>
        <p:spPr>
          <a:xfrm>
            <a:off x="2718149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57" name="안전"/>
          <p:cNvSpPr txBox="1"/>
          <p:nvPr/>
        </p:nvSpPr>
        <p:spPr>
          <a:xfrm>
            <a:off x="1320927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58" name="협력"/>
          <p:cNvSpPr txBox="1"/>
          <p:nvPr/>
        </p:nvSpPr>
        <p:spPr>
          <a:xfrm>
            <a:off x="888778" y="369008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</a:t>
            </a:r>
            <a:endParaRPr lang="en-US" sz="1056" dirty="0"/>
          </a:p>
        </p:txBody>
      </p:sp>
      <p:sp>
        <p:nvSpPr>
          <p:cNvPr id="59" name="업체"/>
          <p:cNvSpPr txBox="1"/>
          <p:nvPr/>
        </p:nvSpPr>
        <p:spPr>
          <a:xfrm>
            <a:off x="888778" y="384429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업체</a:t>
            </a:r>
            <a:endParaRPr lang="en-US" sz="1056" dirty="0"/>
          </a:p>
        </p:txBody>
      </p:sp>
      <p:sp>
        <p:nvSpPr>
          <p:cNvPr id="60" name="하나의 목표"/>
          <p:cNvSpPr txBox="1"/>
          <p:nvPr/>
        </p:nvSpPr>
        <p:spPr>
          <a:xfrm>
            <a:off x="1786414" y="4025170"/>
            <a:ext cx="74304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48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하나의 목표</a:t>
            </a:r>
            <a:endParaRPr lang="en-US" sz="1248" dirty="0"/>
          </a:p>
        </p:txBody>
      </p:sp>
      <p:sp>
        <p:nvSpPr>
          <p:cNvPr id="61" name="프로젝트 완수"/>
          <p:cNvSpPr txBox="1"/>
          <p:nvPr/>
        </p:nvSpPr>
        <p:spPr>
          <a:xfrm>
            <a:off x="1839468" y="4264057"/>
            <a:ext cx="63693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17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완수</a:t>
            </a:r>
            <a:endParaRPr lang="en-US" sz="864" dirty="0"/>
          </a:p>
        </p:txBody>
      </p:sp>
      <p:sp>
        <p:nvSpPr>
          <p:cNvPr id="62" name="PEOPLE"/>
          <p:cNvSpPr txBox="1"/>
          <p:nvPr/>
        </p:nvSpPr>
        <p:spPr>
          <a:xfrm>
            <a:off x="4315968" y="3219736"/>
            <a:ext cx="62112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864" dirty="0"/>
          </a:p>
        </p:txBody>
      </p:sp>
      <p:sp>
        <p:nvSpPr>
          <p:cNvPr id="63" name="우리"/>
          <p:cNvSpPr txBox="1"/>
          <p:nvPr/>
        </p:nvSpPr>
        <p:spPr>
          <a:xfrm>
            <a:off x="4315968" y="3372707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3648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4315968" y="3985927"/>
            <a:ext cx="1660470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사람과 전문성의 연결</a:t>
            </a:r>
            <a:endParaRPr lang="en-US" sz="1536" dirty="0"/>
          </a:p>
        </p:txBody>
      </p:sp>
      <p:sp>
        <p:nvSpPr>
          <p:cNvPr id="65" name="설계부터 협력업체까지, 서로 다른"/>
          <p:cNvSpPr txBox="1"/>
          <p:nvPr/>
        </p:nvSpPr>
        <p:spPr>
          <a:xfrm>
            <a:off x="4315968" y="4337018"/>
            <a:ext cx="2064734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설계부터 협력업체까지, 서로 다른</a:t>
            </a:r>
            <a:endParaRPr lang="en-US" sz="1200" dirty="0"/>
          </a:p>
        </p:txBody>
      </p:sp>
      <p:sp>
        <p:nvSpPr>
          <p:cNvPr id="66" name="전문가들이 하나의 목표인"/>
          <p:cNvSpPr txBox="1"/>
          <p:nvPr/>
        </p:nvSpPr>
        <p:spPr>
          <a:xfrm>
            <a:off x="4315968" y="4573238"/>
            <a:ext cx="158232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전문가들이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인</a:t>
            </a:r>
            <a:endParaRPr lang="en-US" sz="1200" dirty="0"/>
          </a:p>
        </p:txBody>
      </p:sp>
      <p:sp>
        <p:nvSpPr>
          <p:cNvPr id="67" name="프로젝트 완수로 이어집니다."/>
          <p:cNvSpPr txBox="1"/>
          <p:nvPr/>
        </p:nvSpPr>
        <p:spPr>
          <a:xfrm>
            <a:off x="4315968" y="4809458"/>
            <a:ext cx="175699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완수로 이어집니다.</a:t>
            </a:r>
            <a:endParaRPr lang="en-US" sz="1200" dirty="0"/>
          </a:p>
        </p:txBody>
      </p:sp>
      <p:sp>
        <p:nvSpPr>
          <p:cNvPr id="68" name="AI"/>
          <p:cNvSpPr txBox="1"/>
          <p:nvPr/>
        </p:nvSpPr>
        <p:spPr>
          <a:xfrm>
            <a:off x="793814" y="6431185"/>
            <a:ext cx="19231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056" dirty="0"/>
          </a:p>
        </p:txBody>
      </p:sp>
      <p:sp>
        <p:nvSpPr>
          <p:cNvPr id="69" name="BIM"/>
          <p:cNvSpPr txBox="1"/>
          <p:nvPr/>
        </p:nvSpPr>
        <p:spPr>
          <a:xfrm>
            <a:off x="728282" y="7223665"/>
            <a:ext cx="32346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056" dirty="0"/>
          </a:p>
        </p:txBody>
      </p:sp>
      <p:sp>
        <p:nvSpPr>
          <p:cNvPr id="70" name="데이터"/>
          <p:cNvSpPr txBox="1"/>
          <p:nvPr/>
        </p:nvSpPr>
        <p:spPr>
          <a:xfrm>
            <a:off x="688562" y="801614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056" dirty="0"/>
          </a:p>
        </p:txBody>
      </p:sp>
      <p:sp>
        <p:nvSpPr>
          <p:cNvPr id="71" name="현장의"/>
          <p:cNvSpPr txBox="1"/>
          <p:nvPr/>
        </p:nvSpPr>
        <p:spPr>
          <a:xfrm>
            <a:off x="1934813" y="7179088"/>
            <a:ext cx="421862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152" dirty="0"/>
          </a:p>
        </p:txBody>
      </p:sp>
      <p:sp>
        <p:nvSpPr>
          <p:cNvPr id="72" name="문제"/>
          <p:cNvSpPr txBox="1"/>
          <p:nvPr/>
        </p:nvSpPr>
        <p:spPr>
          <a:xfrm>
            <a:off x="1996916" y="7357491"/>
            <a:ext cx="297561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152" dirty="0"/>
          </a:p>
        </p:txBody>
      </p:sp>
      <p:sp>
        <p:nvSpPr>
          <p:cNvPr id="73" name="공정"/>
          <p:cNvSpPr txBox="1"/>
          <p:nvPr/>
        </p:nvSpPr>
        <p:spPr>
          <a:xfrm>
            <a:off x="3218688" y="6345841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056" dirty="0"/>
          </a:p>
        </p:txBody>
      </p:sp>
      <p:sp>
        <p:nvSpPr>
          <p:cNvPr id="74" name="품질"/>
          <p:cNvSpPr txBox="1"/>
          <p:nvPr/>
        </p:nvSpPr>
        <p:spPr>
          <a:xfrm>
            <a:off x="3218688" y="6931057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75" name="안전"/>
          <p:cNvSpPr txBox="1"/>
          <p:nvPr/>
        </p:nvSpPr>
        <p:spPr>
          <a:xfrm>
            <a:off x="3218688" y="7516273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76" name="생산성"/>
          <p:cNvSpPr txBox="1"/>
          <p:nvPr/>
        </p:nvSpPr>
        <p:spPr>
          <a:xfrm>
            <a:off x="3218688" y="8101489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056" dirty="0"/>
          </a:p>
        </p:txBody>
      </p:sp>
      <p:sp>
        <p:nvSpPr>
          <p:cNvPr id="77" name="TECHNOLOGY"/>
          <p:cNvSpPr txBox="1"/>
          <p:nvPr/>
        </p:nvSpPr>
        <p:spPr>
          <a:xfrm>
            <a:off x="4315968" y="6414040"/>
            <a:ext cx="1046098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864" dirty="0"/>
          </a:p>
        </p:txBody>
      </p:sp>
      <p:sp>
        <p:nvSpPr>
          <p:cNvPr id="78" name="기술"/>
          <p:cNvSpPr txBox="1"/>
          <p:nvPr/>
        </p:nvSpPr>
        <p:spPr>
          <a:xfrm>
            <a:off x="4315968" y="6567011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3648" dirty="0"/>
          </a:p>
        </p:txBody>
      </p:sp>
      <p:sp>
        <p:nvSpPr>
          <p:cNvPr id="79" name="현장 문제 해결에 활용"/>
          <p:cNvSpPr txBox="1"/>
          <p:nvPr/>
        </p:nvSpPr>
        <p:spPr>
          <a:xfrm>
            <a:off x="4315968" y="7180231"/>
            <a:ext cx="169974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문제 해결에 활용</a:t>
            </a:r>
            <a:endParaRPr lang="en-US" sz="1536" dirty="0"/>
          </a:p>
        </p:txBody>
      </p:sp>
      <p:sp>
        <p:nvSpPr>
          <p:cNvPr id="80" name="AI · BIM · 데이터를 현장의 문제에"/>
          <p:cNvSpPr txBox="1"/>
          <p:nvPr/>
        </p:nvSpPr>
        <p:spPr>
          <a:xfrm>
            <a:off x="4315968" y="7531322"/>
            <a:ext cx="2130765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AI · BIM · 데이터를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문제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에</a:t>
            </a:r>
            <a:endParaRPr lang="en-US" sz="1200" dirty="0"/>
          </a:p>
        </p:txBody>
      </p:sp>
      <p:sp>
        <p:nvSpPr>
          <p:cNvPr id="81" name="적용해, 공정 · 품질 · 안전 · 생산성의"/>
          <p:cNvSpPr txBox="1"/>
          <p:nvPr/>
        </p:nvSpPr>
        <p:spPr>
          <a:xfrm>
            <a:off x="4315968" y="7767542"/>
            <a:ext cx="218377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적용해, 공정 · 품질 · 안전 · 생산성의</a:t>
            </a:r>
            <a:endParaRPr lang="en-US" sz="1200" dirty="0"/>
          </a:p>
        </p:txBody>
      </p:sp>
      <p:sp>
        <p:nvSpPr>
          <p:cNvPr id="82" name="개선으로 연결합니다."/>
          <p:cNvSpPr txBox="1"/>
          <p:nvPr/>
        </p:nvSpPr>
        <p:spPr>
          <a:xfrm>
            <a:off x="4315968" y="8003762"/>
            <a:ext cx="1311131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개선으로 연결합니다.</a:t>
            </a:r>
            <a:endParaRPr lang="en-US" sz="1200" dirty="0"/>
          </a:p>
        </p:txBody>
      </p:sp>
      <p:sp>
        <p:nvSpPr>
          <p:cNvPr id="83" name="‘우리’의 ‘기술’"/>
          <p:cNvSpPr txBox="1"/>
          <p:nvPr/>
        </p:nvSpPr>
        <p:spPr>
          <a:xfrm>
            <a:off x="1243584" y="9622155"/>
            <a:ext cx="79629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960" dirty="0"/>
          </a:p>
        </p:txBody>
      </p:sp>
      <p:sp>
        <p:nvSpPr>
          <p:cNvPr id="84" name="사람과 전문성을 하나의 목표로,"/>
          <p:cNvSpPr txBox="1"/>
          <p:nvPr/>
        </p:nvSpPr>
        <p:spPr>
          <a:xfrm>
            <a:off x="2234946" y="9409462"/>
            <a:ext cx="29142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</a:t>
            </a:r>
            <a:endParaRPr lang="en-US" sz="1824" dirty="0"/>
          </a:p>
        </p:txBody>
      </p:sp>
      <p:sp>
        <p:nvSpPr>
          <p:cNvPr id="85" name="기술을 현장의 가치로 연결하는 것"/>
          <p:cNvSpPr txBox="1"/>
          <p:nvPr/>
        </p:nvSpPr>
        <p:spPr>
          <a:xfrm>
            <a:off x="2234946" y="9710547"/>
            <a:ext cx="310881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기술을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824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7" name="02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dot field"/>
          <p:cNvSpPr/>
          <p:nvPr/>
        </p:nvSpPr>
        <p:spPr>
          <a:xfrm>
            <a:off x="1821466" y="244411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9" name="card people"/>
          <p:cNvSpPr/>
          <p:nvPr/>
        </p:nvSpPr>
        <p:spPr>
          <a:xfrm>
            <a:off x="512064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5F6EC"/>
          </a:solidFill>
          <a:ln/>
        </p:spPr>
      </p:sp>
      <p:sp>
        <p:nvSpPr>
          <p:cNvPr id="10" name="dot people"/>
          <p:cNvSpPr/>
          <p:nvPr/>
        </p:nvSpPr>
        <p:spPr>
          <a:xfrm>
            <a:off x="694944" y="484012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389055"/>
            <a:ext cx="2036064" cy="36576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16283"/>
            <a:ext cx="2036064" cy="365760"/>
          </a:xfrm>
          <a:prstGeom prst="rect">
            <a:avLst/>
          </a:prstGeom>
        </p:spPr>
      </p:pic>
      <p:sp>
        <p:nvSpPr>
          <p:cNvPr id="13" name="chip ghost ref"/>
          <p:cNvSpPr/>
          <p:nvPr/>
        </p:nvSpPr>
        <p:spPr>
          <a:xfrm>
            <a:off x="701040" y="6430899"/>
            <a:ext cx="604361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4" name="card tech"/>
          <p:cNvSpPr/>
          <p:nvPr/>
        </p:nvSpPr>
        <p:spPr>
          <a:xfrm>
            <a:off x="3877056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EF4FC"/>
          </a:solidFill>
          <a:ln/>
        </p:spPr>
      </p:sp>
      <p:sp>
        <p:nvSpPr>
          <p:cNvPr id="15" name="dot tech"/>
          <p:cNvSpPr/>
          <p:nvPr/>
        </p:nvSpPr>
        <p:spPr>
          <a:xfrm>
            <a:off x="4828032" y="484012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389055"/>
            <a:ext cx="2036064" cy="365760"/>
          </a:xfrm>
          <a:prstGeom prst="rect">
            <a:avLst/>
          </a:prstGeom>
        </p:spPr>
      </p:pic>
      <p:pic>
        <p:nvPicPr>
          <p:cNvPr id="17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5816283"/>
            <a:ext cx="2036064" cy="365760"/>
          </a:xfrm>
          <a:prstGeom prst="rect">
            <a:avLst/>
          </a:prstGeom>
        </p:spPr>
      </p:pic>
      <p:sp>
        <p:nvSpPr>
          <p:cNvPr id="18" name="chip ghost ref"/>
          <p:cNvSpPr/>
          <p:nvPr/>
        </p:nvSpPr>
        <p:spPr>
          <a:xfrm>
            <a:off x="4834128" y="6430899"/>
            <a:ext cx="918210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9" name="dot field"/>
          <p:cNvSpPr/>
          <p:nvPr/>
        </p:nvSpPr>
        <p:spPr>
          <a:xfrm>
            <a:off x="1358170" y="825969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0" name="chip field out"/>
          <p:cNvSpPr/>
          <p:nvPr/>
        </p:nvSpPr>
        <p:spPr>
          <a:xfrm>
            <a:off x="4962144" y="7613523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1" name="dot field"/>
          <p:cNvSpPr/>
          <p:nvPr/>
        </p:nvSpPr>
        <p:spPr>
          <a:xfrm>
            <a:off x="5084064" y="7741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2" name="chip field out"/>
          <p:cNvSpPr/>
          <p:nvPr/>
        </p:nvSpPr>
        <p:spPr>
          <a:xfrm>
            <a:off x="4962144" y="8052435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3" name="dot field"/>
          <p:cNvSpPr/>
          <p:nvPr/>
        </p:nvSpPr>
        <p:spPr>
          <a:xfrm>
            <a:off x="5084064" y="818045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4" name="chip field out"/>
          <p:cNvSpPr/>
          <p:nvPr/>
        </p:nvSpPr>
        <p:spPr>
          <a:xfrm>
            <a:off x="4962144" y="8491347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5" name="dot field"/>
          <p:cNvSpPr/>
          <p:nvPr/>
        </p:nvSpPr>
        <p:spPr>
          <a:xfrm>
            <a:off x="5084064" y="861936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6" name="chip field out"/>
          <p:cNvSpPr/>
          <p:nvPr/>
        </p:nvSpPr>
        <p:spPr>
          <a:xfrm>
            <a:off x="4962144" y="8930259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7" name="dot field"/>
          <p:cNvSpPr/>
          <p:nvPr/>
        </p:nvSpPr>
        <p:spPr>
          <a:xfrm>
            <a:off x="5084064" y="905827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1472" y="3134995"/>
            <a:ext cx="1828800" cy="5967984"/>
          </a:xfrm>
          <a:prstGeom prst="rect">
            <a:avLst/>
          </a:prstGeom>
        </p:spPr>
      </p:pic>
      <p:pic>
        <p:nvPicPr>
          <p:cNvPr id="29" name="ring field node" descr="ring field n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5264" y="2096643"/>
            <a:ext cx="1048512" cy="1048512"/>
          </a:xfrm>
          <a:prstGeom prst="rect">
            <a:avLst/>
          </a:prstGeom>
        </p:spPr>
      </p:pic>
      <p:pic>
        <p:nvPicPr>
          <p:cNvPr id="30" name="joint" descr="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584067"/>
            <a:ext cx="1121664" cy="329184"/>
          </a:xfrm>
          <a:prstGeom prst="rect">
            <a:avLst/>
          </a:prstGeom>
        </p:spPr>
      </p:pic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131" y="3695827"/>
            <a:ext cx="113792" cy="111760"/>
          </a:xfrm>
          <a:prstGeom prst="rect">
            <a:avLst/>
          </a:prstGeom>
        </p:spPr>
      </p:pic>
      <p:pic>
        <p:nvPicPr>
          <p:cNvPr id="32" name="ring" descr="r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9504" y="4791075"/>
            <a:ext cx="609600" cy="609600"/>
          </a:xfrm>
          <a:prstGeom prst="rect">
            <a:avLst/>
          </a:prstGeom>
        </p:spPr>
      </p:pic>
      <p:pic>
        <p:nvPicPr>
          <p:cNvPr id="33" name="ring" descr="r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9936" y="4791075"/>
            <a:ext cx="609600" cy="609600"/>
          </a:xfrm>
          <a:prstGeom prst="rect">
            <a:avLst/>
          </a:prstGeom>
        </p:spPr>
      </p:pic>
      <p:pic>
        <p:nvPicPr>
          <p:cNvPr id="34" name="ring solid imp node" descr="ring solid imp 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728" y="7814691"/>
            <a:ext cx="1243584" cy="1243584"/>
          </a:xfrm>
          <a:prstGeom prst="rect">
            <a:avLst/>
          </a:prstGeom>
        </p:spPr>
      </p:pic>
      <p:sp>
        <p:nvSpPr>
          <p:cNvPr id="35" name="key"/>
          <p:cNvSpPr/>
          <p:nvPr/>
        </p:nvSpPr>
        <p:spPr>
          <a:xfrm>
            <a:off x="512064" y="9597009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6" name="i"/>
          <p:cNvSpPr/>
          <p:nvPr/>
        </p:nvSpPr>
        <p:spPr>
          <a:xfrm>
            <a:off x="755904" y="9851803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7" name="b"/>
          <p:cNvSpPr/>
          <p:nvPr/>
        </p:nvSpPr>
        <p:spPr>
          <a:xfrm>
            <a:off x="816864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902208" y="9851803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b"/>
          <p:cNvSpPr/>
          <p:nvPr/>
        </p:nvSpPr>
        <p:spPr>
          <a:xfrm>
            <a:off x="963168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1048512" y="9851803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03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008" dirty="0"/>
          </a:p>
        </p:txBody>
      </p:sp>
      <p:sp>
        <p:nvSpPr>
          <p:cNvPr id="42" name="PT 주제 2 · 입사 후 실천"/>
          <p:cNvSpPr txBox="1"/>
          <p:nvPr/>
        </p:nvSpPr>
        <p:spPr>
          <a:xfrm>
            <a:off x="1212152" y="451104"/>
            <a:ext cx="13003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008" dirty="0"/>
          </a:p>
        </p:txBody>
      </p:sp>
      <p:sp>
        <p:nvSpPr>
          <p:cNvPr id="43" name="입사 후"/>
          <p:cNvSpPr txBox="1"/>
          <p:nvPr/>
        </p:nvSpPr>
        <p:spPr>
          <a:xfrm>
            <a:off x="512064" y="782955"/>
            <a:ext cx="5572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440" dirty="0"/>
          </a:p>
        </p:txBody>
      </p:sp>
      <p:sp>
        <p:nvSpPr>
          <p:cNvPr id="44" name="기술을 실질적인 현장 개선으로"/>
          <p:cNvSpPr txBox="1"/>
          <p:nvPr/>
        </p:nvSpPr>
        <p:spPr>
          <a:xfrm>
            <a:off x="512064" y="1078611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</a:t>
            </a:r>
            <a:endParaRPr lang="en-US" sz="2400" dirty="0"/>
          </a:p>
        </p:txBody>
      </p:sp>
      <p:sp>
        <p:nvSpPr>
          <p:cNvPr id="45" name="연결하는 공사관리자가 되겠습니다"/>
          <p:cNvSpPr txBox="1"/>
          <p:nvPr/>
        </p:nvSpPr>
        <p:spPr>
          <a:xfrm>
            <a:off x="512064" y="1456563"/>
            <a:ext cx="421498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연결하는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400" dirty="0"/>
          </a:p>
        </p:txBody>
      </p:sp>
      <p:sp>
        <p:nvSpPr>
          <p:cNvPr id="46" name="FIELD"/>
          <p:cNvSpPr txBox="1"/>
          <p:nvPr/>
        </p:nvSpPr>
        <p:spPr>
          <a:xfrm>
            <a:off x="3548920" y="2444877"/>
            <a:ext cx="46110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864" dirty="0"/>
          </a:p>
        </p:txBody>
      </p:sp>
      <p:sp>
        <p:nvSpPr>
          <p:cNvPr id="47" name="현장 이해"/>
          <p:cNvSpPr txBox="1"/>
          <p:nvPr/>
        </p:nvSpPr>
        <p:spPr>
          <a:xfrm>
            <a:off x="3459671" y="2601468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이해</a:t>
            </a:r>
            <a:endParaRPr lang="en-US" sz="1296" dirty="0"/>
          </a:p>
        </p:txBody>
      </p:sp>
      <p:sp>
        <p:nvSpPr>
          <p:cNvPr id="48" name="STEP 01"/>
          <p:cNvSpPr txBox="1"/>
          <p:nvPr/>
        </p:nvSpPr>
        <p:spPr>
          <a:xfrm>
            <a:off x="1943386" y="2407253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01</a:t>
            </a:r>
            <a:endParaRPr lang="en-US" sz="864" dirty="0"/>
          </a:p>
        </p:txBody>
      </p:sp>
      <p:sp>
        <p:nvSpPr>
          <p:cNvPr id="49" name="현장을 이해한다"/>
          <p:cNvSpPr txBox="1"/>
          <p:nvPr/>
        </p:nvSpPr>
        <p:spPr>
          <a:xfrm>
            <a:off x="1821466" y="2608993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536" dirty="0"/>
          </a:p>
        </p:txBody>
      </p:sp>
      <p:sp>
        <p:nvSpPr>
          <p:cNvPr id="50" name="공정 · 품질 · 안전"/>
          <p:cNvSpPr txBox="1"/>
          <p:nvPr/>
        </p:nvSpPr>
        <p:spPr>
          <a:xfrm>
            <a:off x="4547616" y="2423732"/>
            <a:ext cx="1060536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 · 품질 · 안전</a:t>
            </a:r>
            <a:endParaRPr lang="en-US" sz="1200" dirty="0"/>
          </a:p>
        </p:txBody>
      </p:sp>
      <p:sp>
        <p:nvSpPr>
          <p:cNvPr id="51" name="시공관리 기본기"/>
          <p:cNvSpPr txBox="1"/>
          <p:nvPr/>
        </p:nvSpPr>
        <p:spPr>
          <a:xfrm>
            <a:off x="4547616" y="2663000"/>
            <a:ext cx="8450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시공관리 기본기</a:t>
            </a:r>
            <a:endParaRPr lang="en-US" sz="1008" dirty="0"/>
          </a:p>
        </p:txBody>
      </p:sp>
      <p:sp>
        <p:nvSpPr>
          <p:cNvPr id="52" name="문제 발견"/>
          <p:cNvSpPr txBox="1"/>
          <p:nvPr/>
        </p:nvSpPr>
        <p:spPr>
          <a:xfrm>
            <a:off x="3637883" y="3668078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문제 발견</a:t>
            </a:r>
            <a:endParaRPr lang="en-US" sz="1008" dirty="0"/>
          </a:p>
        </p:txBody>
      </p:sp>
      <p:sp>
        <p:nvSpPr>
          <p:cNvPr id="53" name="사람"/>
          <p:cNvSpPr txBox="1"/>
          <p:nvPr/>
        </p:nvSpPr>
        <p:spPr>
          <a:xfrm>
            <a:off x="3054382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873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296" dirty="0"/>
          </a:p>
        </p:txBody>
      </p:sp>
      <p:sp>
        <p:nvSpPr>
          <p:cNvPr id="54" name="STEP 02 · PEOPLE"/>
          <p:cNvSpPr txBox="1"/>
          <p:nvPr/>
        </p:nvSpPr>
        <p:spPr>
          <a:xfrm>
            <a:off x="816864" y="4803267"/>
            <a:ext cx="1332031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7A39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02 · PEOPLE</a:t>
            </a:r>
            <a:endParaRPr lang="en-US" sz="864" dirty="0"/>
          </a:p>
        </p:txBody>
      </p:sp>
      <p:sp>
        <p:nvSpPr>
          <p:cNvPr id="55" name="사람을 연결한다"/>
          <p:cNvSpPr txBox="1"/>
          <p:nvPr/>
        </p:nvSpPr>
        <p:spPr>
          <a:xfrm>
            <a:off x="694944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536" dirty="0"/>
          </a:p>
        </p:txBody>
      </p:sp>
      <p:sp>
        <p:nvSpPr>
          <p:cNvPr id="56" name="유관부서 · 협력업체 · 공종"/>
          <p:cNvSpPr txBox="1"/>
          <p:nvPr/>
        </p:nvSpPr>
        <p:spPr>
          <a:xfrm>
            <a:off x="932688" y="5480495"/>
            <a:ext cx="159898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200" dirty="0"/>
          </a:p>
        </p:txBody>
      </p:sp>
      <p:sp>
        <p:nvSpPr>
          <p:cNvPr id="57" name="목표 · 진행상황 공유"/>
          <p:cNvSpPr txBox="1"/>
          <p:nvPr/>
        </p:nvSpPr>
        <p:spPr>
          <a:xfrm>
            <a:off x="932688" y="5905691"/>
            <a:ext cx="124540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200" dirty="0"/>
          </a:p>
        </p:txBody>
      </p:sp>
      <p:sp>
        <p:nvSpPr>
          <p:cNvPr id="58" name="01"/>
          <p:cNvSpPr txBox="1"/>
          <p:nvPr/>
        </p:nvSpPr>
        <p:spPr>
          <a:xfrm>
            <a:off x="804672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59" name="협업"/>
          <p:cNvSpPr txBox="1"/>
          <p:nvPr/>
        </p:nvSpPr>
        <p:spPr>
          <a:xfrm>
            <a:off x="1008602" y="6479381"/>
            <a:ext cx="24193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864" dirty="0"/>
          </a:p>
        </p:txBody>
      </p:sp>
      <p:sp>
        <p:nvSpPr>
          <p:cNvPr id="60" name="기술"/>
          <p:cNvSpPr txBox="1"/>
          <p:nvPr/>
        </p:nvSpPr>
        <p:spPr>
          <a:xfrm>
            <a:off x="4224814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296" dirty="0"/>
          </a:p>
        </p:txBody>
      </p:sp>
      <p:sp>
        <p:nvSpPr>
          <p:cNvPr id="61" name="STEP 03 · TECH"/>
          <p:cNvSpPr txBox="1"/>
          <p:nvPr/>
        </p:nvSpPr>
        <p:spPr>
          <a:xfrm>
            <a:off x="4949952" y="4803267"/>
            <a:ext cx="113353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03 · TECH</a:t>
            </a:r>
            <a:endParaRPr lang="en-US" sz="864" dirty="0"/>
          </a:p>
        </p:txBody>
      </p:sp>
      <p:sp>
        <p:nvSpPr>
          <p:cNvPr id="62" name="기술을 연결한다"/>
          <p:cNvSpPr txBox="1"/>
          <p:nvPr/>
        </p:nvSpPr>
        <p:spPr>
          <a:xfrm>
            <a:off x="4828032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536" dirty="0"/>
          </a:p>
        </p:txBody>
      </p:sp>
      <p:sp>
        <p:nvSpPr>
          <p:cNvPr id="63" name="BIM 간섭 · 시공성 사전 검토"/>
          <p:cNvSpPr txBox="1"/>
          <p:nvPr/>
        </p:nvSpPr>
        <p:spPr>
          <a:xfrm>
            <a:off x="5065776" y="5480495"/>
            <a:ext cx="176284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200" dirty="0"/>
          </a:p>
        </p:txBody>
      </p:sp>
      <p:sp>
        <p:nvSpPr>
          <p:cNvPr id="64" name="AI 반복업무 효율화"/>
          <p:cNvSpPr txBox="1"/>
          <p:nvPr/>
        </p:nvSpPr>
        <p:spPr>
          <a:xfrm>
            <a:off x="5065776" y="5905691"/>
            <a:ext cx="119158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200" dirty="0"/>
          </a:p>
        </p:txBody>
      </p:sp>
      <p:sp>
        <p:nvSpPr>
          <p:cNvPr id="65" name="02"/>
          <p:cNvSpPr txBox="1"/>
          <p:nvPr/>
        </p:nvSpPr>
        <p:spPr>
          <a:xfrm>
            <a:off x="4937760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66" name="우리의 기술"/>
          <p:cNvSpPr txBox="1"/>
          <p:nvPr/>
        </p:nvSpPr>
        <p:spPr>
          <a:xfrm>
            <a:off x="5141690" y="6479381"/>
            <a:ext cx="55578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864" dirty="0"/>
          </a:p>
        </p:txBody>
      </p:sp>
      <p:sp>
        <p:nvSpPr>
          <p:cNvPr id="67" name="IMPROVE"/>
          <p:cNvSpPr txBox="1"/>
          <p:nvPr/>
        </p:nvSpPr>
        <p:spPr>
          <a:xfrm>
            <a:off x="3427476" y="8260461"/>
            <a:ext cx="7039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FFFFFF">
                    <a:alpha val="78000"/>
                  </a:srgbClr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864" dirty="0"/>
          </a:p>
        </p:txBody>
      </p:sp>
      <p:sp>
        <p:nvSpPr>
          <p:cNvPr id="68" name="문제 해결"/>
          <p:cNvSpPr txBox="1"/>
          <p:nvPr/>
        </p:nvSpPr>
        <p:spPr>
          <a:xfrm>
            <a:off x="3459575" y="8417052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296" dirty="0"/>
          </a:p>
        </p:txBody>
      </p:sp>
      <p:sp>
        <p:nvSpPr>
          <p:cNvPr id="69" name="STEP 04"/>
          <p:cNvSpPr txBox="1"/>
          <p:nvPr/>
        </p:nvSpPr>
        <p:spPr>
          <a:xfrm>
            <a:off x="1480090" y="8222837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04</a:t>
            </a:r>
            <a:endParaRPr lang="en-US" sz="864" dirty="0"/>
          </a:p>
        </p:txBody>
      </p:sp>
      <p:sp>
        <p:nvSpPr>
          <p:cNvPr id="70" name="현장의 변화를 만든다"/>
          <p:cNvSpPr txBox="1"/>
          <p:nvPr/>
        </p:nvSpPr>
        <p:spPr>
          <a:xfrm>
            <a:off x="1358170" y="8424577"/>
            <a:ext cx="164906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536" dirty="0"/>
          </a:p>
        </p:txBody>
      </p:sp>
      <p:sp>
        <p:nvSpPr>
          <p:cNvPr id="71" name="공정 개선"/>
          <p:cNvSpPr txBox="1"/>
          <p:nvPr/>
        </p:nvSpPr>
        <p:spPr>
          <a:xfrm>
            <a:off x="5230368" y="7697534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2" name="품질 개선"/>
          <p:cNvSpPr txBox="1"/>
          <p:nvPr/>
        </p:nvSpPr>
        <p:spPr>
          <a:xfrm>
            <a:off x="5230368" y="8136446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3" name="안전 개선"/>
          <p:cNvSpPr txBox="1"/>
          <p:nvPr/>
        </p:nvSpPr>
        <p:spPr>
          <a:xfrm>
            <a:off x="5230368" y="8575358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4" name="생산성 개선"/>
          <p:cNvSpPr txBox="1"/>
          <p:nvPr/>
        </p:nvSpPr>
        <p:spPr>
          <a:xfrm>
            <a:off x="5230368" y="9014270"/>
            <a:ext cx="6403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5" name="KEY MESSAGE"/>
          <p:cNvSpPr txBox="1"/>
          <p:nvPr/>
        </p:nvSpPr>
        <p:spPr>
          <a:xfrm>
            <a:off x="1182624" y="9814941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6" name="사람 · 전문성 · 기술을 연결해 현장의 변화를 만들겠습니다"/>
          <p:cNvSpPr txBox="1"/>
          <p:nvPr/>
        </p:nvSpPr>
        <p:spPr>
          <a:xfrm>
            <a:off x="2358676" y="9767697"/>
            <a:ext cx="4477798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536" dirty="0"/>
          </a:p>
        </p:txBody>
      </p:sp>
      <p:sp>
        <p:nvSpPr>
          <p:cNvPr id="7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78" name="03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세로형</dc:title>
  <dc:subject>PptxGenJS Presentation</dc:subject>
  <dc:creator>PptxGenJS</dc:creator>
  <cp:lastModifiedBy>PptxGenJS</cp:lastModifiedBy>
  <cp:revision>1</cp:revision>
  <dcterms:created xsi:type="dcterms:W3CDTF">2026-10-08T14:23:26Z</dcterms:created>
  <dcterms:modified xsi:type="dcterms:W3CDTF">2026-10-08T14:23:26Z</dcterms:modified>
</cp:coreProperties>
</file>