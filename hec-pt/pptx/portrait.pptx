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59040" cy="10692384"/>
  <p:notesSz cx="10692384" cy="7559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pic>
        <p:nvPicPr>
          <p:cNvPr id="8" name="p1p-line" descr="p1p-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32" y="2230755"/>
            <a:ext cx="22352" cy="5498592"/>
          </a:xfrm>
          <a:prstGeom prst="rect">
            <a:avLst/>
          </a:prstGeom>
        </p:spPr>
      </p:pic>
      <p:pic>
        <p:nvPicPr>
          <p:cNvPr id="9" name="ring solid p1p-no" descr="ring solid p1p-n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4" y="2066163"/>
            <a:ext cx="329184" cy="329184"/>
          </a:xfrm>
          <a:prstGeom prst="rect">
            <a:avLst/>
          </a:prstGeom>
        </p:spPr>
      </p:pic>
      <p:sp>
        <p:nvSpPr>
          <p:cNvPr id="10" name="i"/>
          <p:cNvSpPr/>
          <p:nvPr/>
        </p:nvSpPr>
        <p:spPr>
          <a:xfrm>
            <a:off x="5337715" y="22002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1" name="span"/>
          <p:cNvSpPr/>
          <p:nvPr/>
        </p:nvSpPr>
        <p:spPr>
          <a:xfrm>
            <a:off x="3114580" y="2468499"/>
            <a:ext cx="1719929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C3CEDD"/>
            </a:solidFill>
            <a:prstDash val="solid"/>
          </a:ln>
        </p:spPr>
      </p:sp>
      <p:pic>
        <p:nvPicPr>
          <p:cNvPr id="12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0084" y="2521331"/>
            <a:ext cx="113792" cy="113792"/>
          </a:xfrm>
          <a:prstGeom prst="rect">
            <a:avLst/>
          </a:prstGeom>
        </p:spPr>
      </p:pic>
      <p:pic>
        <p:nvPicPr>
          <p:cNvPr id="13" name="p1p-pull l" descr="p1p-pull 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744" y="2885059"/>
            <a:ext cx="319024" cy="130048"/>
          </a:xfrm>
          <a:prstGeom prst="rect">
            <a:avLst/>
          </a:prstGeom>
        </p:spPr>
      </p:pic>
      <p:sp>
        <p:nvSpPr>
          <p:cNvPr id="14" name="p1p-op l"/>
          <p:cNvSpPr/>
          <p:nvPr/>
        </p:nvSpPr>
        <p:spPr>
          <a:xfrm>
            <a:off x="1908048" y="2773299"/>
            <a:ext cx="1572768" cy="3535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0B2147"/>
            </a:solidFill>
            <a:prstDash val="solid"/>
          </a:ln>
        </p:spPr>
      </p:sp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5439" y="2858643"/>
            <a:ext cx="182880" cy="182880"/>
          </a:xfrm>
          <a:prstGeom prst="rect">
            <a:avLst/>
          </a:prstGeom>
        </p:spPr>
      </p:pic>
      <p:sp>
        <p:nvSpPr>
          <p:cNvPr id="16" name="p1p-vsb"/>
          <p:cNvSpPr/>
          <p:nvPr/>
        </p:nvSpPr>
        <p:spPr>
          <a:xfrm>
            <a:off x="3779520" y="2755011"/>
            <a:ext cx="390144" cy="390144"/>
          </a:xfrm>
          <a:prstGeom prst="ellipse">
            <a:avLst/>
          </a:prstGeom>
          <a:solidFill>
            <a:srgbClr val="0B2147"/>
          </a:solidFill>
          <a:ln/>
        </p:spPr>
      </p:sp>
      <p:sp>
        <p:nvSpPr>
          <p:cNvPr id="17" name="p1p-op r"/>
          <p:cNvSpPr/>
          <p:nvPr/>
        </p:nvSpPr>
        <p:spPr>
          <a:xfrm>
            <a:off x="4468368" y="2773299"/>
            <a:ext cx="1572768" cy="3535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192">
            <a:solidFill>
              <a:srgbClr val="0B2147"/>
            </a:solidFill>
            <a:prstDash val="solid"/>
          </a:ln>
        </p:spPr>
      </p:sp>
      <p:pic>
        <p:nvPicPr>
          <p:cNvPr id="18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9201" y="2858643"/>
            <a:ext cx="182880" cy="182880"/>
          </a:xfrm>
          <a:prstGeom prst="rect">
            <a:avLst/>
          </a:prstGeom>
        </p:spPr>
      </p:pic>
      <p:pic>
        <p:nvPicPr>
          <p:cNvPr id="19" name="p1p-pull r" descr="p1p-pull 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2416" y="2885059"/>
            <a:ext cx="319024" cy="130048"/>
          </a:xfrm>
          <a:prstGeom prst="rect">
            <a:avLst/>
          </a:prstGeom>
        </p:spPr>
      </p:pic>
      <p:sp>
        <p:nvSpPr>
          <p:cNvPr id="20" name="span"/>
          <p:cNvSpPr/>
          <p:nvPr/>
        </p:nvSpPr>
        <p:spPr>
          <a:xfrm>
            <a:off x="3418142" y="3626739"/>
            <a:ext cx="1112901" cy="26822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 w="12192">
            <a:solidFill>
              <a:srgbClr val="004B8D"/>
            </a:solidFill>
            <a:prstDash val="solid"/>
          </a:ln>
        </p:spPr>
      </p:sp>
      <p:pic>
        <p:nvPicPr>
          <p:cNvPr id="2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4272" y="3122803"/>
            <a:ext cx="2580640" cy="491744"/>
          </a:xfrm>
          <a:prstGeom prst="rect">
            <a:avLst/>
          </a:prstGeom>
        </p:spPr>
      </p:pic>
      <p:pic>
        <p:nvPicPr>
          <p:cNvPr id="22" name="p1p-down" descr="p1p-dow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7856" y="3903091"/>
            <a:ext cx="93472" cy="150368"/>
          </a:xfrm>
          <a:prstGeom prst="rect">
            <a:avLst/>
          </a:prstGeom>
        </p:spPr>
      </p:pic>
      <p:sp>
        <p:nvSpPr>
          <p:cNvPr id="23" name="p1p-topic"/>
          <p:cNvSpPr/>
          <p:nvPr/>
        </p:nvSpPr>
        <p:spPr>
          <a:xfrm>
            <a:off x="902208" y="4059555"/>
            <a:ext cx="6144768" cy="721709"/>
          </a:xfrm>
          <a:prstGeom prst="roundRect">
            <a:avLst>
              <a:gd name="adj" fmla="val 18583"/>
            </a:avLst>
          </a:prstGeom>
          <a:solidFill>
            <a:srgbClr val="0B2147"/>
          </a:solidFill>
          <a:ln/>
        </p:spPr>
      </p:sp>
      <p:pic>
        <p:nvPicPr>
          <p:cNvPr id="24" name="ring solid p1p-no" descr="ring solid p1p-n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1584" y="4968113"/>
            <a:ext cx="329184" cy="329184"/>
          </a:xfrm>
          <a:prstGeom prst="rect">
            <a:avLst/>
          </a:prstGeom>
        </p:spPr>
      </p:pic>
      <p:pic>
        <p:nvPicPr>
          <p:cNvPr id="25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79600" y="5695569"/>
            <a:ext cx="4189984" cy="1349248"/>
          </a:xfrm>
          <a:prstGeom prst="rect">
            <a:avLst/>
          </a:prstGeom>
        </p:spPr>
      </p:pic>
      <p:sp>
        <p:nvSpPr>
          <p:cNvPr id="26" name="p1p-seat t me"/>
          <p:cNvSpPr/>
          <p:nvPr/>
        </p:nvSpPr>
        <p:spPr>
          <a:xfrm>
            <a:off x="2993136" y="5372481"/>
            <a:ext cx="1962912" cy="670560"/>
          </a:xfrm>
          <a:prstGeom prst="roundRect">
            <a:avLst>
              <a:gd name="adj" fmla="val 19091"/>
            </a:avLst>
          </a:prstGeom>
          <a:solidFill>
            <a:srgbClr val="0B2147"/>
          </a:solidFill>
          <a:ln w="12192">
            <a:solidFill>
              <a:srgbClr val="0B2147"/>
            </a:solidFill>
            <a:prstDash val="solid"/>
          </a:ln>
        </p:spPr>
      </p:sp>
      <p:sp>
        <p:nvSpPr>
          <p:cNvPr id="27" name="i"/>
          <p:cNvSpPr/>
          <p:nvPr/>
        </p:nvSpPr>
        <p:spPr>
          <a:xfrm>
            <a:off x="3652457" y="5478971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8" name="p1p-me"/>
          <p:cNvSpPr/>
          <p:nvPr/>
        </p:nvSpPr>
        <p:spPr>
          <a:xfrm>
            <a:off x="4078224" y="5436299"/>
            <a:ext cx="218504" cy="1584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9" name="p1p-seat r"/>
          <p:cNvSpPr/>
          <p:nvPr/>
        </p:nvSpPr>
        <p:spPr>
          <a:xfrm>
            <a:off x="5077968" y="6036945"/>
            <a:ext cx="1962912" cy="670560"/>
          </a:xfrm>
          <a:prstGeom prst="roundRect">
            <a:avLst>
              <a:gd name="adj" fmla="val 19091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30" name="i"/>
          <p:cNvSpPr/>
          <p:nvPr/>
        </p:nvSpPr>
        <p:spPr>
          <a:xfrm>
            <a:off x="5812917" y="6143435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1" name="p1p-seat b"/>
          <p:cNvSpPr/>
          <p:nvPr/>
        </p:nvSpPr>
        <p:spPr>
          <a:xfrm>
            <a:off x="2993136" y="6701409"/>
            <a:ext cx="1962912" cy="670560"/>
          </a:xfrm>
          <a:prstGeom prst="roundRect">
            <a:avLst>
              <a:gd name="adj" fmla="val 19091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32" name="i"/>
          <p:cNvSpPr/>
          <p:nvPr/>
        </p:nvSpPr>
        <p:spPr>
          <a:xfrm>
            <a:off x="3728180" y="6807899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3" name="p1p-seat l"/>
          <p:cNvSpPr/>
          <p:nvPr/>
        </p:nvSpPr>
        <p:spPr>
          <a:xfrm>
            <a:off x="908304" y="6036945"/>
            <a:ext cx="1962912" cy="670560"/>
          </a:xfrm>
          <a:prstGeom prst="roundRect">
            <a:avLst>
              <a:gd name="adj" fmla="val 19091"/>
            </a:avLst>
          </a:prstGeom>
          <a:solidFill>
            <a:srgbClr val="FFFFFF"/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34" name="i"/>
          <p:cNvSpPr/>
          <p:nvPr/>
        </p:nvSpPr>
        <p:spPr>
          <a:xfrm>
            <a:off x="1645634" y="6143435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35" name="p1p-goal" descr="p1p-go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04032" y="6181217"/>
            <a:ext cx="1341120" cy="377952"/>
          </a:xfrm>
          <a:prstGeom prst="rect">
            <a:avLst/>
          </a:prstGeom>
        </p:spPr>
      </p:pic>
      <p:sp>
        <p:nvSpPr>
          <p:cNvPr id="36" name="p1p-loop"/>
          <p:cNvSpPr/>
          <p:nvPr/>
        </p:nvSpPr>
        <p:spPr>
          <a:xfrm>
            <a:off x="5171504" y="7097649"/>
            <a:ext cx="1875473" cy="24384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pic>
        <p:nvPicPr>
          <p:cNvPr id="37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69040" y="7162673"/>
            <a:ext cx="105664" cy="109728"/>
          </a:xfrm>
          <a:prstGeom prst="rect">
            <a:avLst/>
          </a:prstGeom>
        </p:spPr>
      </p:pic>
      <p:pic>
        <p:nvPicPr>
          <p:cNvPr id="38" name="top" descr="to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34640" y="6004433"/>
            <a:ext cx="2279904" cy="731520"/>
          </a:xfrm>
          <a:prstGeom prst="rect">
            <a:avLst/>
          </a:prstGeom>
        </p:spPr>
      </p:pic>
      <p:pic>
        <p:nvPicPr>
          <p:cNvPr id="39" name="ring solid p1p-no" descr="ring solid p1p-no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81584" y="7564914"/>
            <a:ext cx="329184" cy="329184"/>
          </a:xfrm>
          <a:prstGeom prst="rect">
            <a:avLst/>
          </a:prstGeom>
        </p:spPr>
      </p:pic>
      <p:sp>
        <p:nvSpPr>
          <p:cNvPr id="40" name="p1p-vid"/>
          <p:cNvSpPr/>
          <p:nvPr/>
        </p:nvSpPr>
        <p:spPr>
          <a:xfrm>
            <a:off x="902208" y="7963186"/>
            <a:ext cx="2072640" cy="1164336"/>
          </a:xfrm>
          <a:prstGeom prst="roundRect">
            <a:avLst>
              <a:gd name="adj" fmla="val 9424"/>
            </a:avLst>
          </a:prstGeom>
          <a:solidFill>
            <a:srgbClr val="0B2147"/>
          </a:solidFill>
          <a:ln/>
        </p:spPr>
      </p:sp>
      <p:sp>
        <p:nvSpPr>
          <p:cNvPr id="41" name="span"/>
          <p:cNvSpPr/>
          <p:nvPr/>
        </p:nvSpPr>
        <p:spPr>
          <a:xfrm>
            <a:off x="1712976" y="8319802"/>
            <a:ext cx="451104" cy="4511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2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0936" y="8476266"/>
            <a:ext cx="121920" cy="142240"/>
          </a:xfrm>
          <a:prstGeom prst="rect">
            <a:avLst/>
          </a:prstGeom>
        </p:spPr>
      </p:pic>
      <p:pic>
        <p:nvPicPr>
          <p:cNvPr id="43" name="i" descr="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84576" y="8523002"/>
            <a:ext cx="932688" cy="48768"/>
          </a:xfrm>
          <a:prstGeom prst="rect">
            <a:avLst/>
          </a:prstGeom>
        </p:spPr>
      </p:pic>
      <p:pic>
        <p:nvPicPr>
          <p:cNvPr id="44" name="svg" descr="sv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11771" y="8455946"/>
            <a:ext cx="146304" cy="182880"/>
          </a:xfrm>
          <a:prstGeom prst="rect">
            <a:avLst/>
          </a:prstGeom>
        </p:spPr>
      </p:pic>
      <p:pic>
        <p:nvPicPr>
          <p:cNvPr id="45" name="svg" descr="sv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0475" y="7942866"/>
            <a:ext cx="1194816" cy="1475232"/>
          </a:xfrm>
          <a:prstGeom prst="rect">
            <a:avLst/>
          </a:prstGeom>
        </p:spPr>
      </p:pic>
      <p:sp>
        <p:nvSpPr>
          <p:cNvPr id="46" name="key"/>
          <p:cNvSpPr/>
          <p:nvPr/>
        </p:nvSpPr>
        <p:spPr>
          <a:xfrm>
            <a:off x="512064" y="9621393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47" name="i"/>
          <p:cNvSpPr/>
          <p:nvPr/>
        </p:nvSpPr>
        <p:spPr>
          <a:xfrm>
            <a:off x="755904" y="9876187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8" name="b"/>
          <p:cNvSpPr/>
          <p:nvPr/>
        </p:nvSpPr>
        <p:spPr>
          <a:xfrm>
            <a:off x="816864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9" name="i"/>
          <p:cNvSpPr/>
          <p:nvPr/>
        </p:nvSpPr>
        <p:spPr>
          <a:xfrm>
            <a:off x="902208" y="9876187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0" name="b"/>
          <p:cNvSpPr/>
          <p:nvPr/>
        </p:nvSpPr>
        <p:spPr>
          <a:xfrm>
            <a:off x="963168" y="9900571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1" name="i"/>
          <p:cNvSpPr/>
          <p:nvPr/>
        </p:nvSpPr>
        <p:spPr>
          <a:xfrm>
            <a:off x="1048512" y="9876187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2" name="01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008" dirty="0"/>
          </a:p>
        </p:txBody>
      </p:sp>
      <p:sp>
        <p:nvSpPr>
          <p:cNvPr id="53" name="PT 주제 1 · 가장 중요하게 생각하는 가치와 실천 경험"/>
          <p:cNvSpPr txBox="1"/>
          <p:nvPr/>
        </p:nvSpPr>
        <p:spPr>
          <a:xfrm>
            <a:off x="1212152" y="451104"/>
            <a:ext cx="2802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008" dirty="0"/>
          </a:p>
        </p:txBody>
      </p:sp>
      <p:sp>
        <p:nvSpPr>
          <p:cNvPr id="54" name="제가 가장 중요하게 생각하는 가치는"/>
          <p:cNvSpPr txBox="1"/>
          <p:nvPr/>
        </p:nvSpPr>
        <p:spPr>
          <a:xfrm>
            <a:off x="512064" y="782955"/>
            <a:ext cx="265578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440" dirty="0"/>
          </a:p>
        </p:txBody>
      </p:sp>
      <p:sp>
        <p:nvSpPr>
          <p:cNvPr id="55" name="공동의 목표를 공유하며"/>
          <p:cNvSpPr txBox="1"/>
          <p:nvPr/>
        </p:nvSpPr>
        <p:spPr>
          <a:xfrm>
            <a:off x="512064" y="1078611"/>
            <a:ext cx="28498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</a:t>
            </a:r>
            <a:endParaRPr lang="en-US" sz="2400" dirty="0"/>
          </a:p>
        </p:txBody>
      </p:sp>
      <p:sp>
        <p:nvSpPr>
          <p:cNvPr id="56" name="함께 성과를 만드는 협업입니다"/>
          <p:cNvSpPr txBox="1"/>
          <p:nvPr/>
        </p:nvSpPr>
        <p:spPr>
          <a:xfrm>
            <a:off x="512064" y="1456563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함께 성과를 만드는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400" dirty="0"/>
          </a:p>
        </p:txBody>
      </p:sp>
      <p:sp>
        <p:nvSpPr>
          <p:cNvPr id="57" name="01"/>
          <p:cNvSpPr txBox="1"/>
          <p:nvPr/>
        </p:nvSpPr>
        <p:spPr>
          <a:xfrm>
            <a:off x="566642" y="2158937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12" dirty="0"/>
          </a:p>
        </p:txBody>
      </p:sp>
      <p:sp>
        <p:nvSpPr>
          <p:cNvPr id="58" name="충돌을 조율해 주제를 정하다"/>
          <p:cNvSpPr txBox="1"/>
          <p:nvPr/>
        </p:nvSpPr>
        <p:spPr>
          <a:xfrm>
            <a:off x="902208" y="2121027"/>
            <a:ext cx="2073316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충돌을 조율해 주제를 정하다</a:t>
            </a:r>
            <a:endParaRPr lang="en-US" sz="1440" dirty="0"/>
          </a:p>
        </p:txBody>
      </p:sp>
      <p:sp>
        <p:nvSpPr>
          <p:cNvPr id="59" name="학생 BIM 경진대회 · 4인 팀 팀장"/>
          <p:cNvSpPr txBox="1"/>
          <p:nvPr/>
        </p:nvSpPr>
        <p:spPr>
          <a:xfrm>
            <a:off x="5471827" y="2154555"/>
            <a:ext cx="1669658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960" dirty="0"/>
          </a:p>
        </p:txBody>
      </p:sp>
      <p:sp>
        <p:nvSpPr>
          <p:cNvPr id="60" name="마감 3주 전까지 주제 미확정"/>
          <p:cNvSpPr txBox="1"/>
          <p:nvPr/>
        </p:nvSpPr>
        <p:spPr>
          <a:xfrm>
            <a:off x="3388900" y="2502027"/>
            <a:ext cx="140957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9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전까지 주제 미확정</a:t>
            </a:r>
            <a:endParaRPr lang="en-US" sz="960" dirty="0"/>
          </a:p>
        </p:txBody>
      </p:sp>
      <p:sp>
        <p:nvSpPr>
          <p:cNvPr id="61" name="참신성"/>
          <p:cNvSpPr txBox="1"/>
          <p:nvPr/>
        </p:nvSpPr>
        <p:spPr>
          <a:xfrm>
            <a:off x="2621471" y="2853500"/>
            <a:ext cx="4506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48" spc="-4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248" dirty="0"/>
          </a:p>
        </p:txBody>
      </p:sp>
      <p:sp>
        <p:nvSpPr>
          <p:cNvPr id="62" name="VS"/>
          <p:cNvSpPr txBox="1"/>
          <p:nvPr/>
        </p:nvSpPr>
        <p:spPr>
          <a:xfrm>
            <a:off x="3879818" y="2865025"/>
            <a:ext cx="23822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VS</a:t>
            </a:r>
            <a:endParaRPr lang="en-US" sz="1056" dirty="0"/>
          </a:p>
        </p:txBody>
      </p:sp>
      <p:sp>
        <p:nvSpPr>
          <p:cNvPr id="63" name="구현 가능성"/>
          <p:cNvSpPr txBox="1"/>
          <p:nvPr/>
        </p:nvSpPr>
        <p:spPr>
          <a:xfrm>
            <a:off x="5033201" y="2853500"/>
            <a:ext cx="7478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48" spc="-44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248" dirty="0"/>
          </a:p>
        </p:txBody>
      </p:sp>
      <p:sp>
        <p:nvSpPr>
          <p:cNvPr id="64" name="경청 · 수상작 분석 · 교수님 조언"/>
          <p:cNvSpPr txBox="1"/>
          <p:nvPr/>
        </p:nvSpPr>
        <p:spPr>
          <a:xfrm>
            <a:off x="3176730" y="3218640"/>
            <a:ext cx="16914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056" dirty="0"/>
          </a:p>
        </p:txBody>
      </p:sp>
      <p:sp>
        <p:nvSpPr>
          <p:cNvPr id="65" name="판단 기준 마련"/>
          <p:cNvSpPr txBox="1"/>
          <p:nvPr/>
        </p:nvSpPr>
        <p:spPr>
          <a:xfrm>
            <a:off x="3607118" y="3675793"/>
            <a:ext cx="78371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056" dirty="0"/>
          </a:p>
        </p:txBody>
      </p:sp>
      <p:sp>
        <p:nvSpPr>
          <p:cNvPr id="66" name="‘유닛 모듈러 기반 사용자 맞춤형 리모델링 방법’선정"/>
          <p:cNvSpPr txBox="1"/>
          <p:nvPr/>
        </p:nvSpPr>
        <p:spPr>
          <a:xfrm>
            <a:off x="1843625" y="4175379"/>
            <a:ext cx="4261935" cy="243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32" spc="-65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 리모델링 방법’</a:t>
            </a:r>
            <a:pPr algn="ctr" indent="0" marL="0">
              <a:buNone/>
            </a:pPr>
            <a:r>
              <a:rPr lang="ko-KR" altLang="en-US" sz="1632" spc="-65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632" dirty="0"/>
          </a:p>
        </p:txBody>
      </p:sp>
      <p:sp>
        <p:nvSpPr>
          <p:cNvPr id="67" name="리모델링 규모에 따라 유닛 모듈러를 배치하고, 모듈 수 · 자재 물량을 "/>
          <p:cNvSpPr txBox="1"/>
          <p:nvPr/>
        </p:nvSpPr>
        <p:spPr>
          <a:xfrm>
            <a:off x="1888961" y="4477131"/>
            <a:ext cx="417116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6" kern="0" dirty="0">
                <a:solidFill>
                  <a:srgbClr val="CED3DA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 모듈 수 · 자재 물량을 자동 산출</a:t>
            </a:r>
            <a:endParaRPr lang="en-US" sz="1056" dirty="0"/>
          </a:p>
        </p:txBody>
      </p:sp>
      <p:sp>
        <p:nvSpPr>
          <p:cNvPr id="68" name="02"/>
          <p:cNvSpPr txBox="1"/>
          <p:nvPr/>
        </p:nvSpPr>
        <p:spPr>
          <a:xfrm>
            <a:off x="566642" y="5062919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12" dirty="0"/>
          </a:p>
        </p:txBody>
      </p:sp>
      <p:sp>
        <p:nvSpPr>
          <p:cNvPr id="69" name="강점에 맞게 역할을 나누다"/>
          <p:cNvSpPr txBox="1"/>
          <p:nvPr/>
        </p:nvSpPr>
        <p:spPr>
          <a:xfrm>
            <a:off x="902208" y="5025009"/>
            <a:ext cx="190945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440" dirty="0"/>
          </a:p>
        </p:txBody>
      </p:sp>
      <p:sp>
        <p:nvSpPr>
          <p:cNvPr id="70" name="팀장"/>
          <p:cNvSpPr txBox="1"/>
          <p:nvPr/>
        </p:nvSpPr>
        <p:spPr>
          <a:xfrm>
            <a:off x="3762185" y="5431727"/>
            <a:ext cx="279464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056" dirty="0"/>
          </a:p>
        </p:txBody>
      </p:sp>
      <p:sp>
        <p:nvSpPr>
          <p:cNvPr id="71" name="나"/>
          <p:cNvSpPr txBox="1"/>
          <p:nvPr/>
        </p:nvSpPr>
        <p:spPr>
          <a:xfrm>
            <a:off x="4114800" y="5446967"/>
            <a:ext cx="145352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나</a:t>
            </a:r>
            <a:endParaRPr lang="en-US" sz="864" dirty="0"/>
          </a:p>
        </p:txBody>
      </p:sp>
      <p:sp>
        <p:nvSpPr>
          <p:cNvPr id="72" name="프로젝트 총괄 · Dynamo 기반"/>
          <p:cNvSpPr txBox="1"/>
          <p:nvPr/>
        </p:nvSpPr>
        <p:spPr>
          <a:xfrm>
            <a:off x="3133453" y="5623751"/>
            <a:ext cx="168227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 Dynamo 기반</a:t>
            </a:r>
            <a:endParaRPr lang="en-US" sz="1056" dirty="0"/>
          </a:p>
        </p:txBody>
      </p:sp>
      <p:sp>
        <p:nvSpPr>
          <p:cNvPr id="73" name="자동화 알고리즘 개발"/>
          <p:cNvSpPr txBox="1"/>
          <p:nvPr/>
        </p:nvSpPr>
        <p:spPr>
          <a:xfrm>
            <a:off x="3411611" y="5800725"/>
            <a:ext cx="1125962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자동화 알고리즘 개발</a:t>
            </a:r>
            <a:endParaRPr lang="en-US" sz="1056" dirty="0"/>
          </a:p>
        </p:txBody>
      </p:sp>
      <p:sp>
        <p:nvSpPr>
          <p:cNvPr id="74" name="팀원 A"/>
          <p:cNvSpPr txBox="1"/>
          <p:nvPr/>
        </p:nvSpPr>
        <p:spPr>
          <a:xfrm>
            <a:off x="5922645" y="6096191"/>
            <a:ext cx="40767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056" dirty="0"/>
          </a:p>
        </p:txBody>
      </p:sp>
      <p:sp>
        <p:nvSpPr>
          <p:cNvPr id="75" name="유닛 모듈러 설계"/>
          <p:cNvSpPr txBox="1"/>
          <p:nvPr/>
        </p:nvSpPr>
        <p:spPr>
          <a:xfrm>
            <a:off x="5615885" y="6288215"/>
            <a:ext cx="88707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</a:t>
            </a:r>
            <a:endParaRPr lang="en-US" sz="1056" dirty="0"/>
          </a:p>
        </p:txBody>
      </p:sp>
      <p:sp>
        <p:nvSpPr>
          <p:cNvPr id="76" name="배치계획"/>
          <p:cNvSpPr txBox="1"/>
          <p:nvPr/>
        </p:nvSpPr>
        <p:spPr>
          <a:xfrm>
            <a:off x="5809679" y="6465189"/>
            <a:ext cx="499396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056" dirty="0"/>
          </a:p>
        </p:txBody>
      </p:sp>
      <p:sp>
        <p:nvSpPr>
          <p:cNvPr id="77" name="팀원 B"/>
          <p:cNvSpPr txBox="1"/>
          <p:nvPr/>
        </p:nvSpPr>
        <p:spPr>
          <a:xfrm>
            <a:off x="3837908" y="6760655"/>
            <a:ext cx="40748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056" dirty="0"/>
          </a:p>
        </p:txBody>
      </p:sp>
      <p:sp>
        <p:nvSpPr>
          <p:cNvPr id="78" name="Revit 기반 BIM 모델링"/>
          <p:cNvSpPr txBox="1"/>
          <p:nvPr/>
        </p:nvSpPr>
        <p:spPr>
          <a:xfrm>
            <a:off x="3333969" y="6952679"/>
            <a:ext cx="1281246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 BIM 모델링</a:t>
            </a:r>
            <a:endParaRPr lang="en-US" sz="1056" dirty="0"/>
          </a:p>
        </p:txBody>
      </p:sp>
      <p:sp>
        <p:nvSpPr>
          <p:cNvPr id="79" name="데이터 구축"/>
          <p:cNvSpPr txBox="1"/>
          <p:nvPr/>
        </p:nvSpPr>
        <p:spPr>
          <a:xfrm>
            <a:off x="3656457" y="7129653"/>
            <a:ext cx="63627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056" dirty="0"/>
          </a:p>
        </p:txBody>
      </p:sp>
      <p:sp>
        <p:nvSpPr>
          <p:cNvPr id="80" name="팀원 C"/>
          <p:cNvSpPr txBox="1"/>
          <p:nvPr/>
        </p:nvSpPr>
        <p:spPr>
          <a:xfrm>
            <a:off x="1755362" y="6096191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056" dirty="0"/>
          </a:p>
        </p:txBody>
      </p:sp>
      <p:sp>
        <p:nvSpPr>
          <p:cNvPr id="81" name="리모델링 적용 시나리오 구성"/>
          <p:cNvSpPr txBox="1"/>
          <p:nvPr/>
        </p:nvSpPr>
        <p:spPr>
          <a:xfrm>
            <a:off x="1134848" y="6288215"/>
            <a:ext cx="150973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 시나리오 구성</a:t>
            </a:r>
            <a:endParaRPr lang="en-US" sz="1056" dirty="0"/>
          </a:p>
        </p:txBody>
      </p:sp>
      <p:sp>
        <p:nvSpPr>
          <p:cNvPr id="82" name="시연 영상 제작"/>
          <p:cNvSpPr txBox="1"/>
          <p:nvPr/>
        </p:nvSpPr>
        <p:spPr>
          <a:xfrm>
            <a:off x="1503140" y="6465189"/>
            <a:ext cx="77304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42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056" dirty="0"/>
          </a:p>
        </p:txBody>
      </p:sp>
      <p:sp>
        <p:nvSpPr>
          <p:cNvPr id="83" name="공동 목표"/>
          <p:cNvSpPr txBox="1"/>
          <p:nvPr/>
        </p:nvSpPr>
        <p:spPr>
          <a:xfrm>
            <a:off x="3706082" y="6219539"/>
            <a:ext cx="53702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21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 목표</a:t>
            </a:r>
            <a:endParaRPr lang="en-US" sz="1056" dirty="0"/>
          </a:p>
        </p:txBody>
      </p:sp>
      <p:sp>
        <p:nvSpPr>
          <p:cNvPr id="84" name="3주 내 완성"/>
          <p:cNvSpPr txBox="1"/>
          <p:nvPr/>
        </p:nvSpPr>
        <p:spPr>
          <a:xfrm>
            <a:off x="3690366" y="6379178"/>
            <a:ext cx="568452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12" spc="-18" kern="0" dirty="0">
                <a:solidFill>
                  <a:srgbClr val="E5EFFB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3주 내 완성</a:t>
            </a:r>
            <a:endParaRPr lang="en-US" sz="912" dirty="0"/>
          </a:p>
        </p:txBody>
      </p:sp>
      <p:sp>
        <p:nvSpPr>
          <p:cNvPr id="85" name="이틀마다 진행상황 공유 · 피드백"/>
          <p:cNvSpPr txBox="1"/>
          <p:nvPr/>
        </p:nvSpPr>
        <p:spPr>
          <a:xfrm>
            <a:off x="5439728" y="7143369"/>
            <a:ext cx="158737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19" kern="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 공유 · 피드백</a:t>
            </a:r>
            <a:endParaRPr lang="en-US" sz="960" dirty="0"/>
          </a:p>
        </p:txBody>
      </p:sp>
      <p:sp>
        <p:nvSpPr>
          <p:cNvPr id="86" name="03"/>
          <p:cNvSpPr txBox="1"/>
          <p:nvPr/>
        </p:nvSpPr>
        <p:spPr>
          <a:xfrm>
            <a:off x="566642" y="7659719"/>
            <a:ext cx="207836" cy="1402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12" spc="18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912" dirty="0"/>
          </a:p>
        </p:txBody>
      </p:sp>
      <p:sp>
        <p:nvSpPr>
          <p:cNvPr id="87" name="3주 만에 완성, 장려상"/>
          <p:cNvSpPr txBox="1"/>
          <p:nvPr/>
        </p:nvSpPr>
        <p:spPr>
          <a:xfrm>
            <a:off x="902208" y="7621810"/>
            <a:ext cx="1590199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440" dirty="0"/>
          </a:p>
        </p:txBody>
      </p:sp>
      <p:sp>
        <p:nvSpPr>
          <p:cNvPr id="88" name="리모델링 앱 개발 아이디어 시연 영상"/>
          <p:cNvSpPr txBox="1"/>
          <p:nvPr/>
        </p:nvSpPr>
        <p:spPr>
          <a:xfrm>
            <a:off x="1046707" y="9212866"/>
            <a:ext cx="1783547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60" spc="-24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960" dirty="0"/>
          </a:p>
        </p:txBody>
      </p:sp>
      <p:sp>
        <p:nvSpPr>
          <p:cNvPr id="89" name="장려상"/>
          <p:cNvSpPr txBox="1"/>
          <p:nvPr/>
        </p:nvSpPr>
        <p:spPr>
          <a:xfrm>
            <a:off x="4506420" y="8353997"/>
            <a:ext cx="847630" cy="3718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96" spc="-10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장려상</a:t>
            </a:r>
            <a:endParaRPr lang="en-US" sz="2496" dirty="0"/>
          </a:p>
        </p:txBody>
      </p:sp>
      <p:sp>
        <p:nvSpPr>
          <p:cNvPr id="90" name="학생 BIM 경진대회 장려상"/>
          <p:cNvSpPr txBox="1"/>
          <p:nvPr/>
        </p:nvSpPr>
        <p:spPr>
          <a:xfrm>
            <a:off x="5680043" y="8387429"/>
            <a:ext cx="144894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spc="-3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학생 BIM 경진대회 장려상</a:t>
            </a:r>
            <a:endParaRPr lang="en-US" sz="1056" dirty="0"/>
          </a:p>
        </p:txBody>
      </p:sp>
      <p:sp>
        <p:nvSpPr>
          <p:cNvPr id="91" name="남은 3주 내 완성"/>
          <p:cNvSpPr txBox="1"/>
          <p:nvPr/>
        </p:nvSpPr>
        <p:spPr>
          <a:xfrm>
            <a:off x="5680043" y="8575167"/>
            <a:ext cx="817721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남은 3주 내 완성</a:t>
            </a:r>
            <a:endParaRPr lang="en-US" sz="960" dirty="0"/>
          </a:p>
        </p:txBody>
      </p:sp>
      <p:sp>
        <p:nvSpPr>
          <p:cNvPr id="92" name="KEY MESSAGE"/>
          <p:cNvSpPr txBox="1"/>
          <p:nvPr/>
        </p:nvSpPr>
        <p:spPr>
          <a:xfrm>
            <a:off x="1182624" y="9839325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93" name="서로 다른 사람을 하나의 공동 목표로 연결합니다"/>
          <p:cNvSpPr txBox="1"/>
          <p:nvPr/>
        </p:nvSpPr>
        <p:spPr>
          <a:xfrm>
            <a:off x="2358676" y="9792081"/>
            <a:ext cx="375095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536" dirty="0"/>
          </a:p>
        </p:txBody>
      </p:sp>
      <p:sp>
        <p:nvSpPr>
          <p:cNvPr id="94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95" name="01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p2-quote"/>
          <p:cNvSpPr/>
          <p:nvPr/>
        </p:nvSpPr>
        <p:spPr>
          <a:xfrm>
            <a:off x="512064" y="2096643"/>
            <a:ext cx="6534912" cy="390144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pic>
        <p:nvPicPr>
          <p:cNvPr id="9" name="p2-qr" descr="p2-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" y="2230755"/>
            <a:ext cx="121920" cy="121920"/>
          </a:xfrm>
          <a:prstGeom prst="rect">
            <a:avLst/>
          </a:prstGeom>
        </p:spPr>
      </p:pic>
      <p:sp>
        <p:nvSpPr>
          <p:cNvPr id="10" name="p2-qs"/>
          <p:cNvSpPr/>
          <p:nvPr/>
        </p:nvSpPr>
        <p:spPr>
          <a:xfrm>
            <a:off x="1940243" y="2224659"/>
            <a:ext cx="12192" cy="134112"/>
          </a:xfrm>
          <a:prstGeom prst="rect">
            <a:avLst/>
          </a:prstGeom>
          <a:solidFill>
            <a:srgbClr val="C3CEDD"/>
          </a:solidFill>
          <a:ln/>
        </p:spPr>
      </p:sp>
      <p:pic>
        <p:nvPicPr>
          <p:cNvPr id="11" name="p2-spine" descr="p2-sp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632" y="2486787"/>
            <a:ext cx="18288" cy="6729984"/>
          </a:xfrm>
          <a:prstGeom prst="rect">
            <a:avLst/>
          </a:prstGeom>
        </p:spPr>
      </p:pic>
      <p:pic>
        <p:nvPicPr>
          <p:cNvPr id="12" name="p2-tip" descr="p2-t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6784" y="2425827"/>
            <a:ext cx="121920" cy="121920"/>
          </a:xfrm>
          <a:prstGeom prst="rect">
            <a:avLst/>
          </a:prstGeom>
        </p:spPr>
      </p:pic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68" y="3023235"/>
            <a:ext cx="2389632" cy="2389632"/>
          </a:xfrm>
          <a:prstGeom prst="rect">
            <a:avLst/>
          </a:prstGeom>
        </p:spPr>
      </p:pic>
      <p:pic>
        <p:nvPicPr>
          <p:cNvPr id="14" name="p2-hn" descr="p2-h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992" y="2712339"/>
            <a:ext cx="633984" cy="633984"/>
          </a:xfrm>
          <a:prstGeom prst="rect">
            <a:avLst/>
          </a:prstGeom>
        </p:spPr>
      </p:pic>
      <p:pic>
        <p:nvPicPr>
          <p:cNvPr id="15" name="p2-hn" descr="p2-h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73832" y="3535426"/>
            <a:ext cx="633984" cy="633984"/>
          </a:xfrm>
          <a:prstGeom prst="rect">
            <a:avLst/>
          </a:prstGeom>
        </p:spPr>
      </p:pic>
      <p:pic>
        <p:nvPicPr>
          <p:cNvPr id="16" name="p2-hn" descr="p2-h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588" y="4865021"/>
            <a:ext cx="633984" cy="633984"/>
          </a:xfrm>
          <a:prstGeom prst="rect">
            <a:avLst/>
          </a:prstGeom>
        </p:spPr>
      </p:pic>
      <p:pic>
        <p:nvPicPr>
          <p:cNvPr id="17" name="p2-hn" descr="p2-h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301" y="4865021"/>
            <a:ext cx="633984" cy="633984"/>
          </a:xfrm>
          <a:prstGeom prst="rect">
            <a:avLst/>
          </a:prstGeom>
        </p:spPr>
      </p:pic>
      <p:pic>
        <p:nvPicPr>
          <p:cNvPr id="18" name="p2-hn" descr="p2-h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216" y="3535426"/>
            <a:ext cx="633984" cy="633984"/>
          </a:xfrm>
          <a:prstGeom prst="rect">
            <a:avLst/>
          </a:prstGeom>
        </p:spPr>
      </p:pic>
      <p:pic>
        <p:nvPicPr>
          <p:cNvPr id="19" name="p2-hc" descr="p2-h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3728" y="3693795"/>
            <a:ext cx="1048512" cy="1048512"/>
          </a:xfrm>
          <a:prstGeom prst="rect">
            <a:avLst/>
          </a:prstGeom>
        </p:spPr>
      </p:pic>
      <p:pic>
        <p:nvPicPr>
          <p:cNvPr id="20" name="p2-node" descr="p2-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50208" y="3548253"/>
            <a:ext cx="195072" cy="195072"/>
          </a:xfrm>
          <a:prstGeom prst="rect">
            <a:avLst/>
          </a:prstGeom>
        </p:spPr>
      </p:pic>
      <p:sp>
        <p:nvSpPr>
          <p:cNvPr id="21" name="i"/>
          <p:cNvSpPr/>
          <p:nvPr/>
        </p:nvSpPr>
        <p:spPr>
          <a:xfrm>
            <a:off x="4011168" y="3609213"/>
            <a:ext cx="73152" cy="73152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2" name="svg" descr="sv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2512" y="5677027"/>
            <a:ext cx="410464" cy="410464"/>
          </a:xfrm>
          <a:prstGeom prst="rect">
            <a:avLst/>
          </a:prstGeom>
        </p:spPr>
      </p:pic>
      <p:pic>
        <p:nvPicPr>
          <p:cNvPr id="23" name="svg" descr="sv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9040" y="6420739"/>
            <a:ext cx="1775968" cy="1775968"/>
          </a:xfrm>
          <a:prstGeom prst="rect">
            <a:avLst/>
          </a:prstGeom>
        </p:spPr>
      </p:pic>
      <p:sp>
        <p:nvSpPr>
          <p:cNvPr id="24" name="chip tech p2-tc"/>
          <p:cNvSpPr/>
          <p:nvPr/>
        </p:nvSpPr>
        <p:spPr>
          <a:xfrm>
            <a:off x="512064" y="635165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5" name="chip tech p2-tc"/>
          <p:cNvSpPr/>
          <p:nvPr/>
        </p:nvSpPr>
        <p:spPr>
          <a:xfrm>
            <a:off x="512064" y="714413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26" name="chip tech p2-tc"/>
          <p:cNvSpPr/>
          <p:nvPr/>
        </p:nvSpPr>
        <p:spPr>
          <a:xfrm>
            <a:off x="512064" y="7936611"/>
            <a:ext cx="707136" cy="329184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pic>
        <p:nvPicPr>
          <p:cNvPr id="27" name="ring p2-tp" descr="ring p2-tp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0304" y="6833235"/>
            <a:ext cx="950976" cy="950976"/>
          </a:xfrm>
          <a:prstGeom prst="rect">
            <a:avLst/>
          </a:prstGeom>
        </p:spPr>
      </p:pic>
      <p:sp>
        <p:nvSpPr>
          <p:cNvPr id="28" name="small"/>
          <p:cNvSpPr/>
          <p:nvPr/>
        </p:nvSpPr>
        <p:spPr>
          <a:xfrm>
            <a:off x="2115217" y="7081552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9" name="chip field p2-to"/>
          <p:cNvSpPr/>
          <p:nvPr/>
        </p:nvSpPr>
        <p:spPr>
          <a:xfrm>
            <a:off x="2974848" y="6272403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0" name="dot field"/>
          <p:cNvSpPr/>
          <p:nvPr/>
        </p:nvSpPr>
        <p:spPr>
          <a:xfrm>
            <a:off x="3084576" y="639432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1" name="chip field p2-to"/>
          <p:cNvSpPr/>
          <p:nvPr/>
        </p:nvSpPr>
        <p:spPr>
          <a:xfrm>
            <a:off x="2974848" y="6857619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2" name="dot field"/>
          <p:cNvSpPr/>
          <p:nvPr/>
        </p:nvSpPr>
        <p:spPr>
          <a:xfrm>
            <a:off x="3084576" y="6979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3" name="chip field p2-to"/>
          <p:cNvSpPr/>
          <p:nvPr/>
        </p:nvSpPr>
        <p:spPr>
          <a:xfrm>
            <a:off x="2974848" y="7442835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4" name="dot field"/>
          <p:cNvSpPr/>
          <p:nvPr/>
        </p:nvSpPr>
        <p:spPr>
          <a:xfrm>
            <a:off x="3084576" y="756475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5" name="chip field p2-to"/>
          <p:cNvSpPr/>
          <p:nvPr/>
        </p:nvSpPr>
        <p:spPr>
          <a:xfrm>
            <a:off x="2974848" y="8028051"/>
            <a:ext cx="829056" cy="316992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3084576" y="814997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7" name="p2-node" descr="p2-nod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0208" y="6742557"/>
            <a:ext cx="195072" cy="195072"/>
          </a:xfrm>
          <a:prstGeom prst="rect">
            <a:avLst/>
          </a:prstGeom>
        </p:spPr>
      </p:pic>
      <p:sp>
        <p:nvSpPr>
          <p:cNvPr id="38" name="i"/>
          <p:cNvSpPr/>
          <p:nvPr/>
        </p:nvSpPr>
        <p:spPr>
          <a:xfrm>
            <a:off x="4011168" y="6803517"/>
            <a:ext cx="73152" cy="73152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svg" descr="sv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2512" y="8572627"/>
            <a:ext cx="410464" cy="410464"/>
          </a:xfrm>
          <a:prstGeom prst="rect">
            <a:avLst/>
          </a:prstGeom>
        </p:spPr>
      </p:pic>
      <p:pic>
        <p:nvPicPr>
          <p:cNvPr id="40" name="p2-tip" descr="p2-tip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6784" y="9155811"/>
            <a:ext cx="121920" cy="121920"/>
          </a:xfrm>
          <a:prstGeom prst="rect">
            <a:avLst/>
          </a:prstGeom>
        </p:spPr>
      </p:pic>
      <p:sp>
        <p:nvSpPr>
          <p:cNvPr id="41" name="key"/>
          <p:cNvSpPr/>
          <p:nvPr/>
        </p:nvSpPr>
        <p:spPr>
          <a:xfrm>
            <a:off x="512064" y="9216771"/>
            <a:ext cx="6534912" cy="963168"/>
          </a:xfrm>
          <a:prstGeom prst="roundRect">
            <a:avLst>
              <a:gd name="adj" fmla="val 13924"/>
            </a:avLst>
          </a:prstGeom>
          <a:solidFill>
            <a:srgbClr val="0B2147"/>
          </a:solidFill>
          <a:ln/>
        </p:spPr>
      </p:sp>
      <p:sp>
        <p:nvSpPr>
          <p:cNvPr id="42" name="i"/>
          <p:cNvSpPr/>
          <p:nvPr/>
        </p:nvSpPr>
        <p:spPr>
          <a:xfrm>
            <a:off x="804672" y="9667875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3" name="b"/>
          <p:cNvSpPr/>
          <p:nvPr/>
        </p:nvSpPr>
        <p:spPr>
          <a:xfrm>
            <a:off x="865632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4" name="i"/>
          <p:cNvSpPr/>
          <p:nvPr/>
        </p:nvSpPr>
        <p:spPr>
          <a:xfrm>
            <a:off x="950976" y="9667875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5" name="b"/>
          <p:cNvSpPr/>
          <p:nvPr/>
        </p:nvSpPr>
        <p:spPr>
          <a:xfrm>
            <a:off x="1011936" y="9692259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97280" y="966787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7" name="02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008" dirty="0"/>
          </a:p>
        </p:txBody>
      </p:sp>
      <p:sp>
        <p:nvSpPr>
          <p:cNvPr id="48" name="PT 주제 2 · 가치체계 키워드 ‘우리의 기술’"/>
          <p:cNvSpPr txBox="1"/>
          <p:nvPr/>
        </p:nvSpPr>
        <p:spPr>
          <a:xfrm>
            <a:off x="1212152" y="451104"/>
            <a:ext cx="22242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008" dirty="0"/>
          </a:p>
        </p:txBody>
      </p:sp>
      <p:sp>
        <p:nvSpPr>
          <p:cNvPr id="49" name="현대엔지니어링 가치체계 키워드 중"/>
          <p:cNvSpPr txBox="1"/>
          <p:nvPr/>
        </p:nvSpPr>
        <p:spPr>
          <a:xfrm>
            <a:off x="512064" y="782955"/>
            <a:ext cx="26170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440" dirty="0"/>
          </a:p>
        </p:txBody>
      </p:sp>
      <p:sp>
        <p:nvSpPr>
          <p:cNvPr id="50" name="저는 ‘우리의 기술’을"/>
          <p:cNvSpPr txBox="1"/>
          <p:nvPr/>
        </p:nvSpPr>
        <p:spPr>
          <a:xfrm>
            <a:off x="512064" y="1078611"/>
            <a:ext cx="2469301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</a:t>
            </a:r>
            <a:endParaRPr lang="en-US" sz="2400" dirty="0"/>
          </a:p>
        </p:txBody>
      </p:sp>
      <p:sp>
        <p:nvSpPr>
          <p:cNvPr id="51" name="이렇게 이해했습니다"/>
          <p:cNvSpPr txBox="1"/>
          <p:nvPr/>
        </p:nvSpPr>
        <p:spPr>
          <a:xfrm>
            <a:off x="512064" y="1456563"/>
            <a:ext cx="251695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이렇게 이해했습니다</a:t>
            </a:r>
            <a:endParaRPr lang="en-US" sz="2400" dirty="0"/>
          </a:p>
        </p:txBody>
      </p:sp>
      <p:sp>
        <p:nvSpPr>
          <p:cNvPr id="52" name="가치체계 정체성"/>
          <p:cNvSpPr txBox="1"/>
          <p:nvPr/>
        </p:nvSpPr>
        <p:spPr>
          <a:xfrm>
            <a:off x="1072896" y="2224373"/>
            <a:ext cx="757619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9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864" dirty="0"/>
          </a:p>
        </p:txBody>
      </p:sp>
      <p:sp>
        <p:nvSpPr>
          <p:cNvPr id="53" name="“공간과 에너지를 잇는 길 위에서, 우리의 기술로 더 나은 삶을 만듭니다"/>
          <p:cNvSpPr txBox="1"/>
          <p:nvPr/>
        </p:nvSpPr>
        <p:spPr>
          <a:xfrm>
            <a:off x="2110931" y="2211134"/>
            <a:ext cx="37000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008" dirty="0"/>
          </a:p>
        </p:txBody>
      </p:sp>
      <p:sp>
        <p:nvSpPr>
          <p:cNvPr id="54" name="설계"/>
          <p:cNvSpPr txBox="1"/>
          <p:nvPr/>
        </p:nvSpPr>
        <p:spPr>
          <a:xfrm>
            <a:off x="2019586" y="2946083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056" dirty="0"/>
          </a:p>
        </p:txBody>
      </p:sp>
      <p:sp>
        <p:nvSpPr>
          <p:cNvPr id="55" name="시공"/>
          <p:cNvSpPr txBox="1"/>
          <p:nvPr/>
        </p:nvSpPr>
        <p:spPr>
          <a:xfrm>
            <a:off x="3150394" y="3767138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056" dirty="0"/>
          </a:p>
        </p:txBody>
      </p:sp>
      <p:sp>
        <p:nvSpPr>
          <p:cNvPr id="56" name="품질"/>
          <p:cNvSpPr txBox="1"/>
          <p:nvPr/>
        </p:nvSpPr>
        <p:spPr>
          <a:xfrm>
            <a:off x="2718149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57" name="안전"/>
          <p:cNvSpPr txBox="1"/>
          <p:nvPr/>
        </p:nvSpPr>
        <p:spPr>
          <a:xfrm>
            <a:off x="1320927" y="5096732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58" name="협력"/>
          <p:cNvSpPr txBox="1"/>
          <p:nvPr/>
        </p:nvSpPr>
        <p:spPr>
          <a:xfrm>
            <a:off x="888778" y="369008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</a:t>
            </a:r>
            <a:endParaRPr lang="en-US" sz="1056" dirty="0"/>
          </a:p>
        </p:txBody>
      </p:sp>
      <p:sp>
        <p:nvSpPr>
          <p:cNvPr id="59" name="업체"/>
          <p:cNvSpPr txBox="1"/>
          <p:nvPr/>
        </p:nvSpPr>
        <p:spPr>
          <a:xfrm>
            <a:off x="888778" y="3844290"/>
            <a:ext cx="276797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6" spc="-32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업체</a:t>
            </a:r>
            <a:endParaRPr lang="en-US" sz="1056" dirty="0"/>
          </a:p>
        </p:txBody>
      </p:sp>
      <p:sp>
        <p:nvSpPr>
          <p:cNvPr id="60" name="하나의 목표"/>
          <p:cNvSpPr txBox="1"/>
          <p:nvPr/>
        </p:nvSpPr>
        <p:spPr>
          <a:xfrm>
            <a:off x="1786414" y="4025170"/>
            <a:ext cx="743045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48" spc="-5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하나의 목표</a:t>
            </a:r>
            <a:endParaRPr lang="en-US" sz="1248" dirty="0"/>
          </a:p>
        </p:txBody>
      </p:sp>
      <p:sp>
        <p:nvSpPr>
          <p:cNvPr id="61" name="프로젝트 완수"/>
          <p:cNvSpPr txBox="1"/>
          <p:nvPr/>
        </p:nvSpPr>
        <p:spPr>
          <a:xfrm>
            <a:off x="1839468" y="4264057"/>
            <a:ext cx="63693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-17" kern="0" dirty="0">
                <a:solidFill>
                  <a:srgbClr val="03804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프로젝트 완수</a:t>
            </a:r>
            <a:endParaRPr lang="en-US" sz="864" dirty="0"/>
          </a:p>
        </p:txBody>
      </p:sp>
      <p:sp>
        <p:nvSpPr>
          <p:cNvPr id="62" name="PEOPLE"/>
          <p:cNvSpPr txBox="1"/>
          <p:nvPr/>
        </p:nvSpPr>
        <p:spPr>
          <a:xfrm>
            <a:off x="4315968" y="3219736"/>
            <a:ext cx="62112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864" dirty="0"/>
          </a:p>
        </p:txBody>
      </p:sp>
      <p:sp>
        <p:nvSpPr>
          <p:cNvPr id="63" name="우리"/>
          <p:cNvSpPr txBox="1"/>
          <p:nvPr/>
        </p:nvSpPr>
        <p:spPr>
          <a:xfrm>
            <a:off x="4315968" y="3372707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3648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4315968" y="3985927"/>
            <a:ext cx="1660470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사람과 전문성의 연결</a:t>
            </a:r>
            <a:endParaRPr lang="en-US" sz="1536" dirty="0"/>
          </a:p>
        </p:txBody>
      </p:sp>
      <p:sp>
        <p:nvSpPr>
          <p:cNvPr id="65" name="설계부터 협력업체까지, 서로 다른"/>
          <p:cNvSpPr txBox="1"/>
          <p:nvPr/>
        </p:nvSpPr>
        <p:spPr>
          <a:xfrm>
            <a:off x="4315968" y="4337018"/>
            <a:ext cx="2064734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설계부터 협력업체까지, 서로 다른</a:t>
            </a:r>
            <a:endParaRPr lang="en-US" sz="1200" dirty="0"/>
          </a:p>
        </p:txBody>
      </p:sp>
      <p:sp>
        <p:nvSpPr>
          <p:cNvPr id="66" name="전문가들이 하나의 목표인"/>
          <p:cNvSpPr txBox="1"/>
          <p:nvPr/>
        </p:nvSpPr>
        <p:spPr>
          <a:xfrm>
            <a:off x="4315968" y="4573238"/>
            <a:ext cx="158232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전문가들이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인</a:t>
            </a:r>
            <a:endParaRPr lang="en-US" sz="1200" dirty="0"/>
          </a:p>
        </p:txBody>
      </p:sp>
      <p:sp>
        <p:nvSpPr>
          <p:cNvPr id="67" name="프로젝트 완수로 이어집니다."/>
          <p:cNvSpPr txBox="1"/>
          <p:nvPr/>
        </p:nvSpPr>
        <p:spPr>
          <a:xfrm>
            <a:off x="4315968" y="4809458"/>
            <a:ext cx="175699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완수로 이어집니다.</a:t>
            </a:r>
            <a:endParaRPr lang="en-US" sz="1200" dirty="0"/>
          </a:p>
        </p:txBody>
      </p:sp>
      <p:sp>
        <p:nvSpPr>
          <p:cNvPr id="68" name="AI"/>
          <p:cNvSpPr txBox="1"/>
          <p:nvPr/>
        </p:nvSpPr>
        <p:spPr>
          <a:xfrm>
            <a:off x="793814" y="6431185"/>
            <a:ext cx="192310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056" dirty="0"/>
          </a:p>
        </p:txBody>
      </p:sp>
      <p:sp>
        <p:nvSpPr>
          <p:cNvPr id="69" name="BIM"/>
          <p:cNvSpPr txBox="1"/>
          <p:nvPr/>
        </p:nvSpPr>
        <p:spPr>
          <a:xfrm>
            <a:off x="728282" y="7223665"/>
            <a:ext cx="323469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056" dirty="0"/>
          </a:p>
        </p:txBody>
      </p:sp>
      <p:sp>
        <p:nvSpPr>
          <p:cNvPr id="70" name="데이터"/>
          <p:cNvSpPr txBox="1"/>
          <p:nvPr/>
        </p:nvSpPr>
        <p:spPr>
          <a:xfrm>
            <a:off x="688562" y="8016145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056" dirty="0"/>
          </a:p>
        </p:txBody>
      </p:sp>
      <p:sp>
        <p:nvSpPr>
          <p:cNvPr id="71" name="현장의"/>
          <p:cNvSpPr txBox="1"/>
          <p:nvPr/>
        </p:nvSpPr>
        <p:spPr>
          <a:xfrm>
            <a:off x="1934813" y="7179088"/>
            <a:ext cx="421862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152" dirty="0"/>
          </a:p>
        </p:txBody>
      </p:sp>
      <p:sp>
        <p:nvSpPr>
          <p:cNvPr id="72" name="문제"/>
          <p:cNvSpPr txBox="1"/>
          <p:nvPr/>
        </p:nvSpPr>
        <p:spPr>
          <a:xfrm>
            <a:off x="1996916" y="7357491"/>
            <a:ext cx="297561" cy="170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152" spc="-3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152" dirty="0"/>
          </a:p>
        </p:txBody>
      </p:sp>
      <p:sp>
        <p:nvSpPr>
          <p:cNvPr id="73" name="공정"/>
          <p:cNvSpPr txBox="1"/>
          <p:nvPr/>
        </p:nvSpPr>
        <p:spPr>
          <a:xfrm>
            <a:off x="3218688" y="6345841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056" dirty="0"/>
          </a:p>
        </p:txBody>
      </p:sp>
      <p:sp>
        <p:nvSpPr>
          <p:cNvPr id="74" name="품질"/>
          <p:cNvSpPr txBox="1"/>
          <p:nvPr/>
        </p:nvSpPr>
        <p:spPr>
          <a:xfrm>
            <a:off x="3218688" y="6931057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056" dirty="0"/>
          </a:p>
        </p:txBody>
      </p:sp>
      <p:sp>
        <p:nvSpPr>
          <p:cNvPr id="75" name="안전"/>
          <p:cNvSpPr txBox="1"/>
          <p:nvPr/>
        </p:nvSpPr>
        <p:spPr>
          <a:xfrm>
            <a:off x="3218688" y="7516273"/>
            <a:ext cx="284893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056" dirty="0"/>
          </a:p>
        </p:txBody>
      </p:sp>
      <p:sp>
        <p:nvSpPr>
          <p:cNvPr id="76" name="생산성"/>
          <p:cNvSpPr txBox="1"/>
          <p:nvPr/>
        </p:nvSpPr>
        <p:spPr>
          <a:xfrm>
            <a:off x="3218688" y="8101489"/>
            <a:ext cx="402908" cy="158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6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056" dirty="0"/>
          </a:p>
        </p:txBody>
      </p:sp>
      <p:sp>
        <p:nvSpPr>
          <p:cNvPr id="77" name="TECHNOLOGY"/>
          <p:cNvSpPr txBox="1"/>
          <p:nvPr/>
        </p:nvSpPr>
        <p:spPr>
          <a:xfrm>
            <a:off x="4315968" y="6414040"/>
            <a:ext cx="1046098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864" dirty="0"/>
          </a:p>
        </p:txBody>
      </p:sp>
      <p:sp>
        <p:nvSpPr>
          <p:cNvPr id="78" name="기술"/>
          <p:cNvSpPr txBox="1"/>
          <p:nvPr/>
        </p:nvSpPr>
        <p:spPr>
          <a:xfrm>
            <a:off x="4315968" y="6567011"/>
            <a:ext cx="827151" cy="542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3648" spc="-146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3648" dirty="0"/>
          </a:p>
        </p:txBody>
      </p:sp>
      <p:sp>
        <p:nvSpPr>
          <p:cNvPr id="79" name="현장 문제 해결에 활용"/>
          <p:cNvSpPr txBox="1"/>
          <p:nvPr/>
        </p:nvSpPr>
        <p:spPr>
          <a:xfrm>
            <a:off x="4315968" y="7180231"/>
            <a:ext cx="169974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문제 해결에 활용</a:t>
            </a:r>
            <a:endParaRPr lang="en-US" sz="1536" dirty="0"/>
          </a:p>
        </p:txBody>
      </p:sp>
      <p:sp>
        <p:nvSpPr>
          <p:cNvPr id="80" name="AI · BIM · 데이터를 현장의 문제에"/>
          <p:cNvSpPr txBox="1"/>
          <p:nvPr/>
        </p:nvSpPr>
        <p:spPr>
          <a:xfrm>
            <a:off x="4315968" y="7531322"/>
            <a:ext cx="2130765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AI · BIM · 데이터를 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문제</a:t>
            </a:r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에</a:t>
            </a:r>
            <a:endParaRPr lang="en-US" sz="1200" dirty="0"/>
          </a:p>
        </p:txBody>
      </p:sp>
      <p:sp>
        <p:nvSpPr>
          <p:cNvPr id="81" name="적용해, 공정 · 품질 · 안전 · 생산성의"/>
          <p:cNvSpPr txBox="1"/>
          <p:nvPr/>
        </p:nvSpPr>
        <p:spPr>
          <a:xfrm>
            <a:off x="4315968" y="7767542"/>
            <a:ext cx="2183772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적용해, 공정 · 품질 · 안전 · 생산성의</a:t>
            </a:r>
            <a:endParaRPr lang="en-US" sz="1200" dirty="0"/>
          </a:p>
        </p:txBody>
      </p:sp>
      <p:sp>
        <p:nvSpPr>
          <p:cNvPr id="82" name="개선으로 연결합니다."/>
          <p:cNvSpPr txBox="1"/>
          <p:nvPr/>
        </p:nvSpPr>
        <p:spPr>
          <a:xfrm>
            <a:off x="4315968" y="8003762"/>
            <a:ext cx="1311131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개선으로 연결합니다.</a:t>
            </a:r>
            <a:endParaRPr lang="en-US" sz="1200" dirty="0"/>
          </a:p>
        </p:txBody>
      </p:sp>
      <p:sp>
        <p:nvSpPr>
          <p:cNvPr id="83" name="‘우리’의 ‘기술’"/>
          <p:cNvSpPr txBox="1"/>
          <p:nvPr/>
        </p:nvSpPr>
        <p:spPr>
          <a:xfrm>
            <a:off x="1243584" y="9622155"/>
            <a:ext cx="79629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60" spc="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960" dirty="0"/>
          </a:p>
        </p:txBody>
      </p:sp>
      <p:sp>
        <p:nvSpPr>
          <p:cNvPr id="84" name="사람과 전문성을 하나의 목표로,"/>
          <p:cNvSpPr txBox="1"/>
          <p:nvPr/>
        </p:nvSpPr>
        <p:spPr>
          <a:xfrm>
            <a:off x="2234946" y="9409462"/>
            <a:ext cx="291425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</a:t>
            </a:r>
            <a:endParaRPr lang="en-US" sz="1824" dirty="0"/>
          </a:p>
        </p:txBody>
      </p:sp>
      <p:sp>
        <p:nvSpPr>
          <p:cNvPr id="85" name="기술을 현장의 가치로 연결하는 것"/>
          <p:cNvSpPr txBox="1"/>
          <p:nvPr/>
        </p:nvSpPr>
        <p:spPr>
          <a:xfrm>
            <a:off x="2234946" y="9710547"/>
            <a:ext cx="3108813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기술을 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824" spc="-55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824" dirty="0"/>
          </a:p>
        </p:txBody>
      </p:sp>
      <p:sp>
        <p:nvSpPr>
          <p:cNvPr id="86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87" name="02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512064" y="501206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573024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658368" y="501206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719328" y="525590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804672" y="501206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634" y="471170"/>
            <a:ext cx="1337056" cy="191008"/>
          </a:xfrm>
          <a:prstGeom prst="rect">
            <a:avLst/>
          </a:prstGeom>
        </p:spPr>
      </p:pic>
      <p:sp>
        <p:nvSpPr>
          <p:cNvPr id="8" name="dot field"/>
          <p:cNvSpPr/>
          <p:nvPr/>
        </p:nvSpPr>
        <p:spPr>
          <a:xfrm>
            <a:off x="1821466" y="2444115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9" name="card people"/>
          <p:cNvSpPr/>
          <p:nvPr/>
        </p:nvSpPr>
        <p:spPr>
          <a:xfrm>
            <a:off x="512064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5F6EC"/>
          </a:solidFill>
          <a:ln/>
        </p:spPr>
      </p:sp>
      <p:sp>
        <p:nvSpPr>
          <p:cNvPr id="10" name="dot people"/>
          <p:cNvSpPr/>
          <p:nvPr/>
        </p:nvSpPr>
        <p:spPr>
          <a:xfrm>
            <a:off x="694944" y="4840129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1" name="li" descr="l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5389055"/>
            <a:ext cx="2036064" cy="36576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16283"/>
            <a:ext cx="2036064" cy="365760"/>
          </a:xfrm>
          <a:prstGeom prst="rect">
            <a:avLst/>
          </a:prstGeom>
        </p:spPr>
      </p:pic>
      <p:sp>
        <p:nvSpPr>
          <p:cNvPr id="13" name="chip ghost ref"/>
          <p:cNvSpPr/>
          <p:nvPr/>
        </p:nvSpPr>
        <p:spPr>
          <a:xfrm>
            <a:off x="701040" y="6430899"/>
            <a:ext cx="604361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4" name="card tech"/>
          <p:cNvSpPr/>
          <p:nvPr/>
        </p:nvSpPr>
        <p:spPr>
          <a:xfrm>
            <a:off x="3877056" y="4608195"/>
            <a:ext cx="3169920" cy="2243328"/>
          </a:xfrm>
          <a:prstGeom prst="roundRect">
            <a:avLst>
              <a:gd name="adj" fmla="val 5978"/>
            </a:avLst>
          </a:prstGeom>
          <a:solidFill>
            <a:srgbClr val="EEF4FC"/>
          </a:solidFill>
          <a:ln/>
        </p:spPr>
      </p:sp>
      <p:sp>
        <p:nvSpPr>
          <p:cNvPr id="15" name="dot tech"/>
          <p:cNvSpPr/>
          <p:nvPr/>
        </p:nvSpPr>
        <p:spPr>
          <a:xfrm>
            <a:off x="4828032" y="4840129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16" name="li" descr="l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389055"/>
            <a:ext cx="2036064" cy="365760"/>
          </a:xfrm>
          <a:prstGeom prst="rect">
            <a:avLst/>
          </a:prstGeom>
        </p:spPr>
      </p:pic>
      <p:pic>
        <p:nvPicPr>
          <p:cNvPr id="17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5816283"/>
            <a:ext cx="2036064" cy="365760"/>
          </a:xfrm>
          <a:prstGeom prst="rect">
            <a:avLst/>
          </a:prstGeom>
        </p:spPr>
      </p:pic>
      <p:sp>
        <p:nvSpPr>
          <p:cNvPr id="18" name="chip ghost ref"/>
          <p:cNvSpPr/>
          <p:nvPr/>
        </p:nvSpPr>
        <p:spPr>
          <a:xfrm>
            <a:off x="4834128" y="6430899"/>
            <a:ext cx="918210" cy="231648"/>
          </a:xfrm>
          <a:prstGeom prst="roundRect">
            <a:avLst>
              <a:gd name="adj" fmla="val 50000"/>
            </a:avLst>
          </a:prstGeom>
          <a:solidFill>
            <a:srgbClr val="FFFFFF">
              <a:alpha val="60000"/>
            </a:srgbClr>
          </a:solidFill>
          <a:ln w="12192">
            <a:solidFill>
              <a:srgbClr val="D8E0EB"/>
            </a:solidFill>
            <a:prstDash val="solid"/>
          </a:ln>
        </p:spPr>
      </p:sp>
      <p:sp>
        <p:nvSpPr>
          <p:cNvPr id="19" name="dot field"/>
          <p:cNvSpPr/>
          <p:nvPr/>
        </p:nvSpPr>
        <p:spPr>
          <a:xfrm>
            <a:off x="1358170" y="8259699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0" name="chip field out"/>
          <p:cNvSpPr/>
          <p:nvPr/>
        </p:nvSpPr>
        <p:spPr>
          <a:xfrm>
            <a:off x="4962144" y="7613523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1" name="dot field"/>
          <p:cNvSpPr/>
          <p:nvPr/>
        </p:nvSpPr>
        <p:spPr>
          <a:xfrm>
            <a:off x="5084064" y="7741539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2" name="chip field out"/>
          <p:cNvSpPr/>
          <p:nvPr/>
        </p:nvSpPr>
        <p:spPr>
          <a:xfrm>
            <a:off x="4962144" y="8052435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3" name="dot field"/>
          <p:cNvSpPr/>
          <p:nvPr/>
        </p:nvSpPr>
        <p:spPr>
          <a:xfrm>
            <a:off x="5084064" y="8180451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4" name="chip field out"/>
          <p:cNvSpPr/>
          <p:nvPr/>
        </p:nvSpPr>
        <p:spPr>
          <a:xfrm>
            <a:off x="4962144" y="8491347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5" name="dot field"/>
          <p:cNvSpPr/>
          <p:nvPr/>
        </p:nvSpPr>
        <p:spPr>
          <a:xfrm>
            <a:off x="5084064" y="8619363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26" name="chip field out"/>
          <p:cNvSpPr/>
          <p:nvPr/>
        </p:nvSpPr>
        <p:spPr>
          <a:xfrm>
            <a:off x="4962144" y="8930259"/>
            <a:ext cx="1158240" cy="329184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27" name="dot field"/>
          <p:cNvSpPr/>
          <p:nvPr/>
        </p:nvSpPr>
        <p:spPr>
          <a:xfrm>
            <a:off x="5084064" y="9058275"/>
            <a:ext cx="73152" cy="73152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28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1472" y="3134995"/>
            <a:ext cx="1828800" cy="5967984"/>
          </a:xfrm>
          <a:prstGeom prst="rect">
            <a:avLst/>
          </a:prstGeom>
        </p:spPr>
      </p:pic>
      <p:pic>
        <p:nvPicPr>
          <p:cNvPr id="29" name="ring field node" descr="ring field n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5264" y="2096643"/>
            <a:ext cx="1048512" cy="1048512"/>
          </a:xfrm>
          <a:prstGeom prst="rect">
            <a:avLst/>
          </a:prstGeom>
        </p:spPr>
      </p:pic>
      <p:pic>
        <p:nvPicPr>
          <p:cNvPr id="30" name="joint" descr="joi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584067"/>
            <a:ext cx="1121664" cy="329184"/>
          </a:xfrm>
          <a:prstGeom prst="rect">
            <a:avLst/>
          </a:prstGeom>
        </p:spPr>
      </p:pic>
      <p:pic>
        <p:nvPicPr>
          <p:cNvPr id="31" name="svg" descr="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131" y="3695827"/>
            <a:ext cx="113792" cy="111760"/>
          </a:xfrm>
          <a:prstGeom prst="rect">
            <a:avLst/>
          </a:prstGeom>
        </p:spPr>
      </p:pic>
      <p:pic>
        <p:nvPicPr>
          <p:cNvPr id="32" name="ring" descr="r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9504" y="4791075"/>
            <a:ext cx="609600" cy="609600"/>
          </a:xfrm>
          <a:prstGeom prst="rect">
            <a:avLst/>
          </a:prstGeom>
        </p:spPr>
      </p:pic>
      <p:pic>
        <p:nvPicPr>
          <p:cNvPr id="33" name="ring" descr="r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59936" y="4791075"/>
            <a:ext cx="609600" cy="609600"/>
          </a:xfrm>
          <a:prstGeom prst="rect">
            <a:avLst/>
          </a:prstGeom>
        </p:spPr>
      </p:pic>
      <p:pic>
        <p:nvPicPr>
          <p:cNvPr id="34" name="ring solid imp node" descr="ring solid imp n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57728" y="7814691"/>
            <a:ext cx="1243584" cy="1243584"/>
          </a:xfrm>
          <a:prstGeom prst="rect">
            <a:avLst/>
          </a:prstGeom>
        </p:spPr>
      </p:pic>
      <p:sp>
        <p:nvSpPr>
          <p:cNvPr id="35" name="key"/>
          <p:cNvSpPr/>
          <p:nvPr/>
        </p:nvSpPr>
        <p:spPr>
          <a:xfrm>
            <a:off x="512064" y="9597009"/>
            <a:ext cx="6534912" cy="570548"/>
          </a:xfrm>
          <a:prstGeom prst="roundRect">
            <a:avLst>
              <a:gd name="adj" fmla="val 23506"/>
            </a:avLst>
          </a:prstGeom>
          <a:solidFill>
            <a:srgbClr val="0B2147"/>
          </a:solidFill>
          <a:ln/>
        </p:spPr>
      </p:sp>
      <p:sp>
        <p:nvSpPr>
          <p:cNvPr id="36" name="i"/>
          <p:cNvSpPr/>
          <p:nvPr/>
        </p:nvSpPr>
        <p:spPr>
          <a:xfrm>
            <a:off x="755904" y="9851803"/>
            <a:ext cx="60960" cy="6096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7" name="b"/>
          <p:cNvSpPr/>
          <p:nvPr/>
        </p:nvSpPr>
        <p:spPr>
          <a:xfrm>
            <a:off x="816864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8" name="i"/>
          <p:cNvSpPr/>
          <p:nvPr/>
        </p:nvSpPr>
        <p:spPr>
          <a:xfrm>
            <a:off x="902208" y="9851803"/>
            <a:ext cx="60960" cy="6096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9" name="b"/>
          <p:cNvSpPr/>
          <p:nvPr/>
        </p:nvSpPr>
        <p:spPr>
          <a:xfrm>
            <a:off x="963168" y="9876187"/>
            <a:ext cx="85344" cy="12192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0" name="i"/>
          <p:cNvSpPr/>
          <p:nvPr/>
        </p:nvSpPr>
        <p:spPr>
          <a:xfrm>
            <a:off x="1048512" y="9851803"/>
            <a:ext cx="60960" cy="6096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03"/>
          <p:cNvSpPr txBox="1"/>
          <p:nvPr/>
        </p:nvSpPr>
        <p:spPr>
          <a:xfrm>
            <a:off x="950976" y="451104"/>
            <a:ext cx="2246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20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008" dirty="0"/>
          </a:p>
        </p:txBody>
      </p:sp>
      <p:sp>
        <p:nvSpPr>
          <p:cNvPr id="42" name="PT 주제 2 · 입사 후 실천"/>
          <p:cNvSpPr txBox="1"/>
          <p:nvPr/>
        </p:nvSpPr>
        <p:spPr>
          <a:xfrm>
            <a:off x="1212152" y="451104"/>
            <a:ext cx="130032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10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008" dirty="0"/>
          </a:p>
        </p:txBody>
      </p:sp>
      <p:sp>
        <p:nvSpPr>
          <p:cNvPr id="43" name="입사 후"/>
          <p:cNvSpPr txBox="1"/>
          <p:nvPr/>
        </p:nvSpPr>
        <p:spPr>
          <a:xfrm>
            <a:off x="512064" y="782955"/>
            <a:ext cx="557213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40" spc="-29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440" dirty="0"/>
          </a:p>
        </p:txBody>
      </p:sp>
      <p:sp>
        <p:nvSpPr>
          <p:cNvPr id="44" name="기술을 실질적인 현장 개선으로"/>
          <p:cNvSpPr txBox="1"/>
          <p:nvPr/>
        </p:nvSpPr>
        <p:spPr>
          <a:xfrm>
            <a:off x="512064" y="1078611"/>
            <a:ext cx="3728738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</a:t>
            </a:r>
            <a:endParaRPr lang="en-US" sz="2400" dirty="0"/>
          </a:p>
        </p:txBody>
      </p:sp>
      <p:sp>
        <p:nvSpPr>
          <p:cNvPr id="45" name="연결하는 공사관리자가 되겠습니다"/>
          <p:cNvSpPr txBox="1"/>
          <p:nvPr/>
        </p:nvSpPr>
        <p:spPr>
          <a:xfrm>
            <a:off x="512064" y="1456563"/>
            <a:ext cx="4214986" cy="3596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연결하는 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400" spc="-8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400" dirty="0"/>
          </a:p>
        </p:txBody>
      </p:sp>
      <p:sp>
        <p:nvSpPr>
          <p:cNvPr id="46" name="FIELD"/>
          <p:cNvSpPr txBox="1"/>
          <p:nvPr/>
        </p:nvSpPr>
        <p:spPr>
          <a:xfrm>
            <a:off x="3548920" y="2444877"/>
            <a:ext cx="46110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864" dirty="0"/>
          </a:p>
        </p:txBody>
      </p:sp>
      <p:sp>
        <p:nvSpPr>
          <p:cNvPr id="47" name="현장 이해"/>
          <p:cNvSpPr txBox="1"/>
          <p:nvPr/>
        </p:nvSpPr>
        <p:spPr>
          <a:xfrm>
            <a:off x="3459671" y="2601468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이해</a:t>
            </a:r>
            <a:endParaRPr lang="en-US" sz="1296" dirty="0"/>
          </a:p>
        </p:txBody>
      </p:sp>
      <p:sp>
        <p:nvSpPr>
          <p:cNvPr id="48" name="STEP 01"/>
          <p:cNvSpPr txBox="1"/>
          <p:nvPr/>
        </p:nvSpPr>
        <p:spPr>
          <a:xfrm>
            <a:off x="1943386" y="2407253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01</a:t>
            </a:r>
            <a:endParaRPr lang="en-US" sz="864" dirty="0"/>
          </a:p>
        </p:txBody>
      </p:sp>
      <p:sp>
        <p:nvSpPr>
          <p:cNvPr id="49" name="현장을 이해한다"/>
          <p:cNvSpPr txBox="1"/>
          <p:nvPr/>
        </p:nvSpPr>
        <p:spPr>
          <a:xfrm>
            <a:off x="1821466" y="2608993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536" dirty="0"/>
          </a:p>
        </p:txBody>
      </p:sp>
      <p:sp>
        <p:nvSpPr>
          <p:cNvPr id="50" name="공정 · 품질 · 안전"/>
          <p:cNvSpPr txBox="1"/>
          <p:nvPr/>
        </p:nvSpPr>
        <p:spPr>
          <a:xfrm>
            <a:off x="4547616" y="2423732"/>
            <a:ext cx="1060536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 · 품질 · 안전</a:t>
            </a:r>
            <a:endParaRPr lang="en-US" sz="1200" dirty="0"/>
          </a:p>
        </p:txBody>
      </p:sp>
      <p:sp>
        <p:nvSpPr>
          <p:cNvPr id="51" name="시공관리 기본기"/>
          <p:cNvSpPr txBox="1"/>
          <p:nvPr/>
        </p:nvSpPr>
        <p:spPr>
          <a:xfrm>
            <a:off x="4547616" y="2663000"/>
            <a:ext cx="84505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시공관리 기본기</a:t>
            </a:r>
            <a:endParaRPr lang="en-US" sz="1008" dirty="0"/>
          </a:p>
        </p:txBody>
      </p:sp>
      <p:sp>
        <p:nvSpPr>
          <p:cNvPr id="52" name="문제 발견"/>
          <p:cNvSpPr txBox="1"/>
          <p:nvPr/>
        </p:nvSpPr>
        <p:spPr>
          <a:xfrm>
            <a:off x="3637883" y="3668078"/>
            <a:ext cx="5148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문제 발견</a:t>
            </a:r>
            <a:endParaRPr lang="en-US" sz="1008" dirty="0"/>
          </a:p>
        </p:txBody>
      </p:sp>
      <p:sp>
        <p:nvSpPr>
          <p:cNvPr id="53" name="사람"/>
          <p:cNvSpPr txBox="1"/>
          <p:nvPr/>
        </p:nvSpPr>
        <p:spPr>
          <a:xfrm>
            <a:off x="3054382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873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296" dirty="0"/>
          </a:p>
        </p:txBody>
      </p:sp>
      <p:sp>
        <p:nvSpPr>
          <p:cNvPr id="54" name="STEP 02 · PEOPLE"/>
          <p:cNvSpPr txBox="1"/>
          <p:nvPr/>
        </p:nvSpPr>
        <p:spPr>
          <a:xfrm>
            <a:off x="816864" y="4803267"/>
            <a:ext cx="1332031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7A39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02 · PEOPLE</a:t>
            </a:r>
            <a:endParaRPr lang="en-US" sz="864" dirty="0"/>
          </a:p>
        </p:txBody>
      </p:sp>
      <p:sp>
        <p:nvSpPr>
          <p:cNvPr id="55" name="사람을 연결한다"/>
          <p:cNvSpPr txBox="1"/>
          <p:nvPr/>
        </p:nvSpPr>
        <p:spPr>
          <a:xfrm>
            <a:off x="694944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536" dirty="0"/>
          </a:p>
        </p:txBody>
      </p:sp>
      <p:sp>
        <p:nvSpPr>
          <p:cNvPr id="56" name="유관부서 · 협력업체 · 공종"/>
          <p:cNvSpPr txBox="1"/>
          <p:nvPr/>
        </p:nvSpPr>
        <p:spPr>
          <a:xfrm>
            <a:off x="932688" y="5480495"/>
            <a:ext cx="159898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200" dirty="0"/>
          </a:p>
        </p:txBody>
      </p:sp>
      <p:sp>
        <p:nvSpPr>
          <p:cNvPr id="57" name="목표 · 진행상황 공유"/>
          <p:cNvSpPr txBox="1"/>
          <p:nvPr/>
        </p:nvSpPr>
        <p:spPr>
          <a:xfrm>
            <a:off x="932688" y="5905691"/>
            <a:ext cx="1245403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200" dirty="0"/>
          </a:p>
        </p:txBody>
      </p:sp>
      <p:sp>
        <p:nvSpPr>
          <p:cNvPr id="58" name="01"/>
          <p:cNvSpPr txBox="1"/>
          <p:nvPr/>
        </p:nvSpPr>
        <p:spPr>
          <a:xfrm>
            <a:off x="804672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864" dirty="0"/>
          </a:p>
        </p:txBody>
      </p:sp>
      <p:sp>
        <p:nvSpPr>
          <p:cNvPr id="59" name="협업"/>
          <p:cNvSpPr txBox="1"/>
          <p:nvPr/>
        </p:nvSpPr>
        <p:spPr>
          <a:xfrm>
            <a:off x="1008602" y="6479381"/>
            <a:ext cx="241935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864" dirty="0"/>
          </a:p>
        </p:txBody>
      </p:sp>
      <p:sp>
        <p:nvSpPr>
          <p:cNvPr id="60" name="기술"/>
          <p:cNvSpPr txBox="1"/>
          <p:nvPr/>
        </p:nvSpPr>
        <p:spPr>
          <a:xfrm>
            <a:off x="4224814" y="5000911"/>
            <a:ext cx="328613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96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296" dirty="0"/>
          </a:p>
        </p:txBody>
      </p:sp>
      <p:sp>
        <p:nvSpPr>
          <p:cNvPr id="61" name="STEP 03 · TECH"/>
          <p:cNvSpPr txBox="1"/>
          <p:nvPr/>
        </p:nvSpPr>
        <p:spPr>
          <a:xfrm>
            <a:off x="4949952" y="4803267"/>
            <a:ext cx="113353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03 · TECH</a:t>
            </a:r>
            <a:endParaRPr lang="en-US" sz="864" dirty="0"/>
          </a:p>
        </p:txBody>
      </p:sp>
      <p:sp>
        <p:nvSpPr>
          <p:cNvPr id="62" name="기술을 연결한다"/>
          <p:cNvSpPr txBox="1"/>
          <p:nvPr/>
        </p:nvSpPr>
        <p:spPr>
          <a:xfrm>
            <a:off x="4828032" y="5005007"/>
            <a:ext cx="1261356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536" dirty="0"/>
          </a:p>
        </p:txBody>
      </p:sp>
      <p:sp>
        <p:nvSpPr>
          <p:cNvPr id="63" name="BIM 간섭 · 시공성 사전 검토"/>
          <p:cNvSpPr txBox="1"/>
          <p:nvPr/>
        </p:nvSpPr>
        <p:spPr>
          <a:xfrm>
            <a:off x="5065776" y="5480495"/>
            <a:ext cx="176284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200" dirty="0"/>
          </a:p>
        </p:txBody>
      </p:sp>
      <p:sp>
        <p:nvSpPr>
          <p:cNvPr id="64" name="AI 반복업무 효율화"/>
          <p:cNvSpPr txBox="1"/>
          <p:nvPr/>
        </p:nvSpPr>
        <p:spPr>
          <a:xfrm>
            <a:off x="5065776" y="5905691"/>
            <a:ext cx="1191589" cy="1767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30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200" dirty="0"/>
          </a:p>
        </p:txBody>
      </p:sp>
      <p:sp>
        <p:nvSpPr>
          <p:cNvPr id="65" name="02"/>
          <p:cNvSpPr txBox="1"/>
          <p:nvPr/>
        </p:nvSpPr>
        <p:spPr>
          <a:xfrm>
            <a:off x="4937760" y="6479381"/>
            <a:ext cx="203930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35" kern="0" dirty="0">
                <a:solidFill>
                  <a:srgbClr val="8691A5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864" dirty="0"/>
          </a:p>
        </p:txBody>
      </p:sp>
      <p:sp>
        <p:nvSpPr>
          <p:cNvPr id="66" name="우리의 기술"/>
          <p:cNvSpPr txBox="1"/>
          <p:nvPr/>
        </p:nvSpPr>
        <p:spPr>
          <a:xfrm>
            <a:off x="5141690" y="6479381"/>
            <a:ext cx="555784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864" dirty="0"/>
          </a:p>
        </p:txBody>
      </p:sp>
      <p:sp>
        <p:nvSpPr>
          <p:cNvPr id="67" name="IMPROVE"/>
          <p:cNvSpPr txBox="1"/>
          <p:nvPr/>
        </p:nvSpPr>
        <p:spPr>
          <a:xfrm>
            <a:off x="3427476" y="8260461"/>
            <a:ext cx="7039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864" spc="121" kern="0" dirty="0">
                <a:solidFill>
                  <a:srgbClr val="FFFFFF">
                    <a:alpha val="78000"/>
                  </a:srgbClr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864" dirty="0"/>
          </a:p>
        </p:txBody>
      </p:sp>
      <p:sp>
        <p:nvSpPr>
          <p:cNvPr id="68" name="문제 해결"/>
          <p:cNvSpPr txBox="1"/>
          <p:nvPr/>
        </p:nvSpPr>
        <p:spPr>
          <a:xfrm>
            <a:off x="3459575" y="8417052"/>
            <a:ext cx="639699" cy="188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96" spc="-3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296" dirty="0"/>
          </a:p>
        </p:txBody>
      </p:sp>
      <p:sp>
        <p:nvSpPr>
          <p:cNvPr id="69" name="STEP 04"/>
          <p:cNvSpPr txBox="1"/>
          <p:nvPr/>
        </p:nvSpPr>
        <p:spPr>
          <a:xfrm>
            <a:off x="1480090" y="8222837"/>
            <a:ext cx="61655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21" kern="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STEP 04</a:t>
            </a:r>
            <a:endParaRPr lang="en-US" sz="864" dirty="0"/>
          </a:p>
        </p:txBody>
      </p:sp>
      <p:sp>
        <p:nvSpPr>
          <p:cNvPr id="70" name="현장의 변화를 만든다"/>
          <p:cNvSpPr txBox="1"/>
          <p:nvPr/>
        </p:nvSpPr>
        <p:spPr>
          <a:xfrm>
            <a:off x="1358170" y="8424577"/>
            <a:ext cx="1649061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5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536" dirty="0"/>
          </a:p>
        </p:txBody>
      </p:sp>
      <p:sp>
        <p:nvSpPr>
          <p:cNvPr id="71" name="공정 개선"/>
          <p:cNvSpPr txBox="1"/>
          <p:nvPr/>
        </p:nvSpPr>
        <p:spPr>
          <a:xfrm>
            <a:off x="5230368" y="7697534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2" name="품질 개선"/>
          <p:cNvSpPr txBox="1"/>
          <p:nvPr/>
        </p:nvSpPr>
        <p:spPr>
          <a:xfrm>
            <a:off x="5230368" y="8136446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3" name="안전 개선"/>
          <p:cNvSpPr txBox="1"/>
          <p:nvPr/>
        </p:nvSpPr>
        <p:spPr>
          <a:xfrm>
            <a:off x="5230368" y="8575358"/>
            <a:ext cx="5276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4" name="생산성 개선"/>
          <p:cNvSpPr txBox="1"/>
          <p:nvPr/>
        </p:nvSpPr>
        <p:spPr>
          <a:xfrm>
            <a:off x="5230368" y="9014270"/>
            <a:ext cx="6403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008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008" dirty="0"/>
          </a:p>
        </p:txBody>
      </p:sp>
      <p:sp>
        <p:nvSpPr>
          <p:cNvPr id="75" name="KEY MESSAGE"/>
          <p:cNvSpPr txBox="1"/>
          <p:nvPr/>
        </p:nvSpPr>
        <p:spPr>
          <a:xfrm>
            <a:off x="1182624" y="9814941"/>
            <a:ext cx="1065686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138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864" dirty="0"/>
          </a:p>
        </p:txBody>
      </p:sp>
      <p:sp>
        <p:nvSpPr>
          <p:cNvPr id="76" name="사람 · 전문성 · 기술을 연결해 현장의 변화를 만들겠습니다"/>
          <p:cNvSpPr txBox="1"/>
          <p:nvPr/>
        </p:nvSpPr>
        <p:spPr>
          <a:xfrm>
            <a:off x="2358676" y="9767697"/>
            <a:ext cx="4477798" cy="2255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536" spc="-46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536" dirty="0"/>
          </a:p>
        </p:txBody>
      </p:sp>
      <p:sp>
        <p:nvSpPr>
          <p:cNvPr id="77" name="2026년 하반기 신입사원 공개채용"/>
          <p:cNvSpPr txBox="1"/>
          <p:nvPr/>
        </p:nvSpPr>
        <p:spPr>
          <a:xfrm>
            <a:off x="512064" y="10252901"/>
            <a:ext cx="1593127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864" dirty="0"/>
          </a:p>
        </p:txBody>
      </p:sp>
      <p:sp>
        <p:nvSpPr>
          <p:cNvPr id="78" name="03 / 03"/>
          <p:cNvSpPr txBox="1"/>
          <p:nvPr/>
        </p:nvSpPr>
        <p:spPr>
          <a:xfrm>
            <a:off x="6618351" y="10252901"/>
            <a:ext cx="477393" cy="1341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64" spc="52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864" spc="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세로형</dc:title>
  <dc:subject>PptxGenJS Presentation</dc:subject>
  <dc:creator>PptxGenJS</dc:creator>
  <cp:lastModifiedBy>PptxGenJS</cp:lastModifiedBy>
  <cp:revision>1</cp:revision>
  <dcterms:created xsi:type="dcterms:W3CDTF">2026-10-08T15:45:29Z</dcterms:created>
  <dcterms:modified xsi:type="dcterms:W3CDTF">2026-10-08T15:45:29Z</dcterms:modified>
</cp:coreProperties>
</file>