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559040" cy="10692384"/>
  <p:notesSz cx="10692384" cy="75590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"/>
          <p:cNvSpPr/>
          <p:nvPr/>
        </p:nvSpPr>
        <p:spPr>
          <a:xfrm>
            <a:off x="512064" y="501206"/>
            <a:ext cx="60960" cy="6096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" name="b"/>
          <p:cNvSpPr/>
          <p:nvPr/>
        </p:nvSpPr>
        <p:spPr>
          <a:xfrm>
            <a:off x="573024" y="525590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4" name="i"/>
          <p:cNvSpPr/>
          <p:nvPr/>
        </p:nvSpPr>
        <p:spPr>
          <a:xfrm>
            <a:off x="658368" y="501206"/>
            <a:ext cx="60960" cy="6096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5" name="b"/>
          <p:cNvSpPr/>
          <p:nvPr/>
        </p:nvSpPr>
        <p:spPr>
          <a:xfrm>
            <a:off x="719328" y="525590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" name="i"/>
          <p:cNvSpPr/>
          <p:nvPr/>
        </p:nvSpPr>
        <p:spPr>
          <a:xfrm>
            <a:off x="804672" y="501206"/>
            <a:ext cx="60960" cy="6096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7" name="img" descr="im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634" y="471170"/>
            <a:ext cx="1337056" cy="191008"/>
          </a:xfrm>
          <a:prstGeom prst="rect">
            <a:avLst/>
          </a:prstGeom>
        </p:spPr>
      </p:pic>
      <p:pic>
        <p:nvPicPr>
          <p:cNvPr id="8" name="p1p-path" descr="p1p-pa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04" y="2242947"/>
            <a:ext cx="22352" cy="6961632"/>
          </a:xfrm>
          <a:prstGeom prst="rect">
            <a:avLst/>
          </a:prstGeom>
        </p:spPr>
      </p:pic>
      <p:sp>
        <p:nvSpPr>
          <p:cNvPr id="9" name="span"/>
          <p:cNvSpPr/>
          <p:nvPr/>
        </p:nvSpPr>
        <p:spPr>
          <a:xfrm>
            <a:off x="707041" y="2108835"/>
            <a:ext cx="878015" cy="2682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192">
            <a:solidFill>
              <a:srgbClr val="C3CEDD"/>
            </a:solidFill>
            <a:prstDash val="solid"/>
          </a:ln>
        </p:spPr>
      </p:sp>
      <p:pic>
        <p:nvPicPr>
          <p:cNvPr id="10" name="svg" descr="sv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97" y="2196211"/>
            <a:ext cx="93472" cy="93472"/>
          </a:xfrm>
          <a:prstGeom prst="rect">
            <a:avLst/>
          </a:prstGeom>
        </p:spPr>
      </p:pic>
      <p:sp>
        <p:nvSpPr>
          <p:cNvPr id="11" name="chip tech"/>
          <p:cNvSpPr/>
          <p:nvPr/>
        </p:nvSpPr>
        <p:spPr>
          <a:xfrm>
            <a:off x="3158585" y="2102739"/>
            <a:ext cx="1238250" cy="280416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/>
        </p:spPr>
      </p:sp>
      <p:sp>
        <p:nvSpPr>
          <p:cNvPr id="12" name="chip people"/>
          <p:cNvSpPr/>
          <p:nvPr/>
        </p:nvSpPr>
        <p:spPr>
          <a:xfrm>
            <a:off x="4469987" y="2102739"/>
            <a:ext cx="836200" cy="280416"/>
          </a:xfrm>
          <a:prstGeom prst="roundRect">
            <a:avLst>
              <a:gd name="adj" fmla="val 50000"/>
            </a:avLst>
          </a:prstGeom>
          <a:solidFill>
            <a:srgbClr val="E5F6EC"/>
          </a:solidFill>
          <a:ln/>
        </p:spPr>
      </p:sp>
      <p:sp>
        <p:nvSpPr>
          <p:cNvPr id="13" name="chip ghost"/>
          <p:cNvSpPr/>
          <p:nvPr/>
        </p:nvSpPr>
        <p:spPr>
          <a:xfrm>
            <a:off x="5385435" y="2108835"/>
            <a:ext cx="847535" cy="268224"/>
          </a:xfrm>
          <a:prstGeom prst="roundRect">
            <a:avLst>
              <a:gd name="adj" fmla="val 50000"/>
            </a:avLst>
          </a:prstGeom>
          <a:ln w="12192">
            <a:solidFill>
              <a:srgbClr val="D8E0EB"/>
            </a:solidFill>
            <a:prstDash val="solid"/>
          </a:ln>
        </p:spPr>
      </p:sp>
      <p:pic>
        <p:nvPicPr>
          <p:cNvPr id="14" name="svg" descr="sv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591213"/>
            <a:ext cx="1267968" cy="1267968"/>
          </a:xfrm>
          <a:prstGeom prst="rect">
            <a:avLst/>
          </a:prstGeom>
        </p:spPr>
      </p:pic>
      <p:sp>
        <p:nvSpPr>
          <p:cNvPr id="15" name="s"/>
          <p:cNvSpPr/>
          <p:nvPr/>
        </p:nvSpPr>
        <p:spPr>
          <a:xfrm>
            <a:off x="2252186" y="2817495"/>
            <a:ext cx="134112" cy="12192"/>
          </a:xfrm>
          <a:prstGeom prst="rect">
            <a:avLst/>
          </a:prstGeom>
          <a:solidFill>
            <a:srgbClr val="C3CEDD"/>
          </a:solidFill>
          <a:ln/>
        </p:spPr>
      </p:sp>
      <p:pic>
        <p:nvPicPr>
          <p:cNvPr id="16" name="li" descr="l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872" y="3273520"/>
            <a:ext cx="2474976" cy="426720"/>
          </a:xfrm>
          <a:prstGeom prst="rect">
            <a:avLst/>
          </a:prstGeom>
        </p:spPr>
      </p:pic>
      <p:pic>
        <p:nvPicPr>
          <p:cNvPr id="17" name="li" descr="l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273520"/>
            <a:ext cx="2474976" cy="426720"/>
          </a:xfrm>
          <a:prstGeom prst="rect">
            <a:avLst/>
          </a:prstGeom>
        </p:spPr>
      </p:pic>
      <p:pic>
        <p:nvPicPr>
          <p:cNvPr id="18" name="i" descr="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184" y="4004247"/>
            <a:ext cx="109728" cy="109728"/>
          </a:xfrm>
          <a:prstGeom prst="rect">
            <a:avLst/>
          </a:prstGeom>
        </p:spPr>
      </p:pic>
      <p:pic>
        <p:nvPicPr>
          <p:cNvPr id="19" name="svg" descr="sv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" y="4254976"/>
            <a:ext cx="1267968" cy="1267968"/>
          </a:xfrm>
          <a:prstGeom prst="rect">
            <a:avLst/>
          </a:prstGeom>
        </p:spPr>
      </p:pic>
      <p:sp>
        <p:nvSpPr>
          <p:cNvPr id="20" name="s"/>
          <p:cNvSpPr/>
          <p:nvPr/>
        </p:nvSpPr>
        <p:spPr>
          <a:xfrm>
            <a:off x="2252186" y="4485323"/>
            <a:ext cx="134112" cy="12192"/>
          </a:xfrm>
          <a:prstGeom prst="rect">
            <a:avLst/>
          </a:prstGeom>
          <a:solidFill>
            <a:srgbClr val="C3CEDD"/>
          </a:solidFill>
          <a:ln/>
        </p:spPr>
      </p:sp>
      <p:pic>
        <p:nvPicPr>
          <p:cNvPr id="21" name="li" descr="l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3872" y="4943380"/>
            <a:ext cx="2474976" cy="426720"/>
          </a:xfrm>
          <a:prstGeom prst="rect">
            <a:avLst/>
          </a:prstGeom>
        </p:spPr>
      </p:pic>
      <p:pic>
        <p:nvPicPr>
          <p:cNvPr id="22" name="li" descr="l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943380"/>
            <a:ext cx="2474976" cy="426720"/>
          </a:xfrm>
          <a:prstGeom prst="rect">
            <a:avLst/>
          </a:prstGeom>
        </p:spPr>
      </p:pic>
      <p:pic>
        <p:nvPicPr>
          <p:cNvPr id="23" name="i" descr="i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1184" y="5670042"/>
            <a:ext cx="109728" cy="109728"/>
          </a:xfrm>
          <a:prstGeom prst="rect">
            <a:avLst/>
          </a:prstGeom>
        </p:spPr>
      </p:pic>
      <p:pic>
        <p:nvPicPr>
          <p:cNvPr id="24" name="svg" descr="sv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064" y="5924836"/>
            <a:ext cx="1267968" cy="1267968"/>
          </a:xfrm>
          <a:prstGeom prst="rect">
            <a:avLst/>
          </a:prstGeom>
        </p:spPr>
      </p:pic>
      <p:sp>
        <p:nvSpPr>
          <p:cNvPr id="25" name="s"/>
          <p:cNvSpPr/>
          <p:nvPr/>
        </p:nvSpPr>
        <p:spPr>
          <a:xfrm>
            <a:off x="2252186" y="6153150"/>
            <a:ext cx="134112" cy="12192"/>
          </a:xfrm>
          <a:prstGeom prst="rect">
            <a:avLst/>
          </a:prstGeom>
          <a:solidFill>
            <a:srgbClr val="C3CEDD"/>
          </a:solidFill>
          <a:ln/>
        </p:spPr>
      </p:sp>
      <p:pic>
        <p:nvPicPr>
          <p:cNvPr id="26" name="li" descr="li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23872" y="6613239"/>
            <a:ext cx="2474976" cy="426720"/>
          </a:xfrm>
          <a:prstGeom prst="rect">
            <a:avLst/>
          </a:prstGeom>
        </p:spPr>
      </p:pic>
      <p:pic>
        <p:nvPicPr>
          <p:cNvPr id="27" name="li" descr="li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0" y="6613239"/>
            <a:ext cx="2474976" cy="426720"/>
          </a:xfrm>
          <a:prstGeom prst="rect">
            <a:avLst/>
          </a:prstGeom>
        </p:spPr>
      </p:pic>
      <p:pic>
        <p:nvPicPr>
          <p:cNvPr id="28" name="i" descr="i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1184" y="7339902"/>
            <a:ext cx="109728" cy="109728"/>
          </a:xfrm>
          <a:prstGeom prst="rect">
            <a:avLst/>
          </a:prstGeom>
        </p:spPr>
      </p:pic>
      <p:pic>
        <p:nvPicPr>
          <p:cNvPr id="29" name="svg" descr="sv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2064" y="7594695"/>
            <a:ext cx="1267968" cy="1267968"/>
          </a:xfrm>
          <a:prstGeom prst="rect">
            <a:avLst/>
          </a:prstGeom>
        </p:spPr>
      </p:pic>
      <p:sp>
        <p:nvSpPr>
          <p:cNvPr id="30" name="s"/>
          <p:cNvSpPr/>
          <p:nvPr/>
        </p:nvSpPr>
        <p:spPr>
          <a:xfrm>
            <a:off x="2252186" y="7820978"/>
            <a:ext cx="134112" cy="12192"/>
          </a:xfrm>
          <a:prstGeom prst="rect">
            <a:avLst/>
          </a:prstGeom>
          <a:solidFill>
            <a:srgbClr val="C3CEDD"/>
          </a:solidFill>
          <a:ln/>
        </p:spPr>
      </p:sp>
      <p:pic>
        <p:nvPicPr>
          <p:cNvPr id="31" name="li" descr="li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23872" y="8279035"/>
            <a:ext cx="2474976" cy="426720"/>
          </a:xfrm>
          <a:prstGeom prst="rect">
            <a:avLst/>
          </a:prstGeom>
        </p:spPr>
      </p:pic>
      <p:pic>
        <p:nvPicPr>
          <p:cNvPr id="32" name="li" descr="li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0" y="8279035"/>
            <a:ext cx="2474976" cy="426720"/>
          </a:xfrm>
          <a:prstGeom prst="rect">
            <a:avLst/>
          </a:prstGeom>
        </p:spPr>
      </p:pic>
      <p:sp>
        <p:nvSpPr>
          <p:cNvPr id="33" name="span"/>
          <p:cNvSpPr/>
          <p:nvPr/>
        </p:nvSpPr>
        <p:spPr>
          <a:xfrm>
            <a:off x="707041" y="9072753"/>
            <a:ext cx="878015" cy="268224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 w="12192">
            <a:solidFill>
              <a:srgbClr val="FFF4DB"/>
            </a:solidFill>
            <a:prstDash val="solid"/>
          </a:ln>
        </p:spPr>
      </p:sp>
      <p:pic>
        <p:nvPicPr>
          <p:cNvPr id="34" name="svg" descr="sv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961" y="9162161"/>
            <a:ext cx="85344" cy="85344"/>
          </a:xfrm>
          <a:prstGeom prst="rect">
            <a:avLst/>
          </a:prstGeom>
        </p:spPr>
      </p:pic>
      <p:sp>
        <p:nvSpPr>
          <p:cNvPr id="35" name="key"/>
          <p:cNvSpPr/>
          <p:nvPr/>
        </p:nvSpPr>
        <p:spPr>
          <a:xfrm>
            <a:off x="512064" y="9572625"/>
            <a:ext cx="6534912" cy="570548"/>
          </a:xfrm>
          <a:prstGeom prst="roundRect">
            <a:avLst>
              <a:gd name="adj" fmla="val 23506"/>
            </a:avLst>
          </a:prstGeom>
          <a:solidFill>
            <a:srgbClr val="0B2147"/>
          </a:solidFill>
          <a:ln/>
        </p:spPr>
      </p:sp>
      <p:sp>
        <p:nvSpPr>
          <p:cNvPr id="36" name="i"/>
          <p:cNvSpPr/>
          <p:nvPr/>
        </p:nvSpPr>
        <p:spPr>
          <a:xfrm>
            <a:off x="755904" y="9827419"/>
            <a:ext cx="60960" cy="6096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7" name="b"/>
          <p:cNvSpPr/>
          <p:nvPr/>
        </p:nvSpPr>
        <p:spPr>
          <a:xfrm>
            <a:off x="816864" y="9851803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38" name="i"/>
          <p:cNvSpPr/>
          <p:nvPr/>
        </p:nvSpPr>
        <p:spPr>
          <a:xfrm>
            <a:off x="902208" y="9827419"/>
            <a:ext cx="60960" cy="6096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39" name="b"/>
          <p:cNvSpPr/>
          <p:nvPr/>
        </p:nvSpPr>
        <p:spPr>
          <a:xfrm>
            <a:off x="963168" y="9851803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40" name="i"/>
          <p:cNvSpPr/>
          <p:nvPr/>
        </p:nvSpPr>
        <p:spPr>
          <a:xfrm>
            <a:off x="1048512" y="9827419"/>
            <a:ext cx="60960" cy="6096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41" name="01"/>
          <p:cNvSpPr txBox="1"/>
          <p:nvPr/>
        </p:nvSpPr>
        <p:spPr>
          <a:xfrm>
            <a:off x="950976" y="451104"/>
            <a:ext cx="224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spc="20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01</a:t>
            </a:r>
            <a:endParaRPr lang="en-US" sz="1008" dirty="0"/>
          </a:p>
        </p:txBody>
      </p:sp>
      <p:sp>
        <p:nvSpPr>
          <p:cNvPr id="42" name="PT 주제 1 · 가장 중요하게 생각하는 가치와 실천 경험"/>
          <p:cNvSpPr txBox="1"/>
          <p:nvPr/>
        </p:nvSpPr>
        <p:spPr>
          <a:xfrm>
            <a:off x="1212152" y="451104"/>
            <a:ext cx="280248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spc="-10" kern="0" dirty="0">
                <a:solidFill>
                  <a:srgbClr val="8691A5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PT 주제 1 · 가장 중요하게 생각하는 가치와 실천 경험</a:t>
            </a:r>
            <a:endParaRPr lang="en-US" sz="1008" dirty="0"/>
          </a:p>
        </p:txBody>
      </p:sp>
      <p:sp>
        <p:nvSpPr>
          <p:cNvPr id="43" name="제가 가장 중요하게 생각하는 가치는"/>
          <p:cNvSpPr txBox="1"/>
          <p:nvPr/>
        </p:nvSpPr>
        <p:spPr>
          <a:xfrm>
            <a:off x="512064" y="782955"/>
            <a:ext cx="265578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40" spc="-29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제가 가장 중요하게 생각하는 가치는</a:t>
            </a:r>
            <a:endParaRPr lang="en-US" sz="1440" dirty="0"/>
          </a:p>
        </p:txBody>
      </p:sp>
      <p:sp>
        <p:nvSpPr>
          <p:cNvPr id="44" name="공동의 목표를 공유하며"/>
          <p:cNvSpPr txBox="1"/>
          <p:nvPr/>
        </p:nvSpPr>
        <p:spPr>
          <a:xfrm>
            <a:off x="512064" y="1078611"/>
            <a:ext cx="2849838" cy="35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400" spc="-84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공동의 목표</a:t>
            </a:r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를 공유하며</a:t>
            </a:r>
            <a:endParaRPr lang="en-US" sz="2400" dirty="0"/>
          </a:p>
        </p:txBody>
      </p:sp>
      <p:sp>
        <p:nvSpPr>
          <p:cNvPr id="45" name="함께 성과를 만드는 협업입니다"/>
          <p:cNvSpPr txBox="1"/>
          <p:nvPr/>
        </p:nvSpPr>
        <p:spPr>
          <a:xfrm>
            <a:off x="512064" y="1456563"/>
            <a:ext cx="3728738" cy="35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함께 성과를 만드는 </a:t>
            </a:r>
            <a:pPr algn="l" indent="0" marL="0">
              <a:buNone/>
            </a:pPr>
            <a:r>
              <a:rPr lang="ko-KR" altLang="en-US" sz="2400" spc="-84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협업</a:t>
            </a:r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46" name="마감 3주 전"/>
          <p:cNvSpPr txBox="1"/>
          <p:nvPr/>
        </p:nvSpPr>
        <p:spPr>
          <a:xfrm>
            <a:off x="969169" y="2175605"/>
            <a:ext cx="548831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-9" kern="0" dirty="0">
                <a:solidFill>
                  <a:srgbClr val="4B5568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마감 3주 전</a:t>
            </a:r>
            <a:endParaRPr lang="en-US" sz="864" dirty="0"/>
          </a:p>
        </p:txBody>
      </p:sp>
      <p:sp>
        <p:nvSpPr>
          <p:cNvPr id="47" name="BACKGROUND"/>
          <p:cNvSpPr txBox="1"/>
          <p:nvPr/>
        </p:nvSpPr>
        <p:spPr>
          <a:xfrm>
            <a:off x="2023872" y="2175605"/>
            <a:ext cx="1086484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38" kern="0" dirty="0">
                <a:solidFill>
                  <a:srgbClr val="8691A5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BACKGROUND</a:t>
            </a:r>
            <a:endParaRPr lang="en-US" sz="864" dirty="0"/>
          </a:p>
        </p:txBody>
      </p:sp>
      <p:sp>
        <p:nvSpPr>
          <p:cNvPr id="48" name="학생 BIM 경진대회"/>
          <p:cNvSpPr txBox="1"/>
          <p:nvPr/>
        </p:nvSpPr>
        <p:spPr>
          <a:xfrm>
            <a:off x="3280505" y="2162366"/>
            <a:ext cx="10540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dirty="0">
                <a:solidFill>
                  <a:srgbClr val="004B8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학생 BIM 경진대회</a:t>
            </a:r>
            <a:endParaRPr lang="en-US" sz="1008" dirty="0"/>
          </a:p>
        </p:txBody>
      </p:sp>
      <p:sp>
        <p:nvSpPr>
          <p:cNvPr id="49" name="4인 팀 팀장"/>
          <p:cNvSpPr txBox="1"/>
          <p:nvPr/>
        </p:nvSpPr>
        <p:spPr>
          <a:xfrm>
            <a:off x="4591907" y="2162366"/>
            <a:ext cx="64112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dirty="0">
                <a:solidFill>
                  <a:srgbClr val="0B6B33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4인 팀 팀장</a:t>
            </a:r>
            <a:endParaRPr lang="en-US" sz="1008" dirty="0"/>
          </a:p>
        </p:txBody>
      </p:sp>
      <p:sp>
        <p:nvSpPr>
          <p:cNvPr id="50" name="주제 미확정"/>
          <p:cNvSpPr txBox="1"/>
          <p:nvPr/>
        </p:nvSpPr>
        <p:spPr>
          <a:xfrm>
            <a:off x="5513451" y="2162366"/>
            <a:ext cx="64027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dirty="0">
                <a:solidFill>
                  <a:srgbClr val="4B5568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주제 미확정</a:t>
            </a:r>
            <a:endParaRPr lang="en-US" sz="1008" dirty="0"/>
          </a:p>
        </p:txBody>
      </p:sp>
      <p:sp>
        <p:nvSpPr>
          <p:cNvPr id="51" name="참신성"/>
          <p:cNvSpPr txBox="1"/>
          <p:nvPr/>
        </p:nvSpPr>
        <p:spPr>
          <a:xfrm>
            <a:off x="699659" y="3349085"/>
            <a:ext cx="331946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64" spc="-17" kern="0" dirty="0">
                <a:solidFill>
                  <a:srgbClr val="4B5568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참신성</a:t>
            </a:r>
            <a:endParaRPr lang="en-US" sz="864" dirty="0"/>
          </a:p>
        </p:txBody>
      </p:sp>
      <p:sp>
        <p:nvSpPr>
          <p:cNvPr id="52" name="구현 가능성"/>
          <p:cNvSpPr txBox="1"/>
          <p:nvPr/>
        </p:nvSpPr>
        <p:spPr>
          <a:xfrm>
            <a:off x="1155192" y="3349085"/>
            <a:ext cx="542544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64" spc="-17" kern="0" dirty="0">
                <a:solidFill>
                  <a:srgbClr val="4B5568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구현 가능성</a:t>
            </a:r>
            <a:endParaRPr lang="en-US" sz="864" dirty="0"/>
          </a:p>
        </p:txBody>
      </p:sp>
      <p:sp>
        <p:nvSpPr>
          <p:cNvPr id="53" name="01"/>
          <p:cNvSpPr txBox="1"/>
          <p:nvPr/>
        </p:nvSpPr>
        <p:spPr>
          <a:xfrm>
            <a:off x="2023872" y="2756249"/>
            <a:ext cx="203930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35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01</a:t>
            </a:r>
            <a:endParaRPr lang="en-US" sz="864" dirty="0"/>
          </a:p>
        </p:txBody>
      </p:sp>
      <p:sp>
        <p:nvSpPr>
          <p:cNvPr id="54" name="CONFLICT"/>
          <p:cNvSpPr txBox="1"/>
          <p:nvPr/>
        </p:nvSpPr>
        <p:spPr>
          <a:xfrm>
            <a:off x="2459450" y="2756249"/>
            <a:ext cx="771906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38" kern="0" dirty="0">
                <a:solidFill>
                  <a:srgbClr val="2A78D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CONFLICT</a:t>
            </a:r>
            <a:endParaRPr lang="en-US" sz="864" dirty="0"/>
          </a:p>
        </p:txBody>
      </p:sp>
      <p:sp>
        <p:nvSpPr>
          <p:cNvPr id="55" name="서로 다른 의견"/>
          <p:cNvSpPr txBox="1"/>
          <p:nvPr/>
        </p:nvSpPr>
        <p:spPr>
          <a:xfrm>
            <a:off x="2023872" y="2964085"/>
            <a:ext cx="956139" cy="188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96" spc="-39" kern="0" dirty="0">
                <a:solidFill>
                  <a:srgbClr val="0B2147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서로 다른 의견</a:t>
            </a:r>
            <a:endParaRPr lang="en-US" sz="1296" dirty="0"/>
          </a:p>
        </p:txBody>
      </p:sp>
      <p:sp>
        <p:nvSpPr>
          <p:cNvPr id="56" name="참신성 ↔ 구현 가능성"/>
          <p:cNvSpPr txBox="1"/>
          <p:nvPr/>
        </p:nvSpPr>
        <p:spPr>
          <a:xfrm>
            <a:off x="2304288" y="3395948"/>
            <a:ext cx="1341724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참신성 ↔ 구현 가능성</a:t>
            </a:r>
            <a:endParaRPr lang="en-US" sz="1200" dirty="0"/>
          </a:p>
        </p:txBody>
      </p:sp>
      <p:sp>
        <p:nvSpPr>
          <p:cNvPr id="57" name="마감 3주 전 주제 미확정"/>
          <p:cNvSpPr txBox="1"/>
          <p:nvPr/>
        </p:nvSpPr>
        <p:spPr>
          <a:xfrm>
            <a:off x="4852416" y="3395948"/>
            <a:ext cx="1484085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마감 3주 전 주제 미확정</a:t>
            </a:r>
            <a:endParaRPr lang="en-US" sz="1200" dirty="0"/>
          </a:p>
        </p:txBody>
      </p:sp>
      <p:sp>
        <p:nvSpPr>
          <p:cNvPr id="58" name="공통"/>
          <p:cNvSpPr txBox="1"/>
          <p:nvPr/>
        </p:nvSpPr>
        <p:spPr>
          <a:xfrm>
            <a:off x="1027271" y="4758785"/>
            <a:ext cx="237554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64" spc="-17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공통</a:t>
            </a:r>
            <a:endParaRPr lang="en-US" sz="864" dirty="0"/>
          </a:p>
        </p:txBody>
      </p:sp>
      <p:sp>
        <p:nvSpPr>
          <p:cNvPr id="59" name="기준"/>
          <p:cNvSpPr txBox="1"/>
          <p:nvPr/>
        </p:nvSpPr>
        <p:spPr>
          <a:xfrm>
            <a:off x="1027271" y="4884896"/>
            <a:ext cx="237554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64" spc="-17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기준</a:t>
            </a:r>
            <a:endParaRPr lang="en-US" sz="864" dirty="0"/>
          </a:p>
        </p:txBody>
      </p:sp>
      <p:sp>
        <p:nvSpPr>
          <p:cNvPr id="60" name="02"/>
          <p:cNvSpPr txBox="1"/>
          <p:nvPr/>
        </p:nvSpPr>
        <p:spPr>
          <a:xfrm>
            <a:off x="2023872" y="4424077"/>
            <a:ext cx="203930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35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02</a:t>
            </a:r>
            <a:endParaRPr lang="en-US" sz="864" dirty="0"/>
          </a:p>
        </p:txBody>
      </p:sp>
      <p:sp>
        <p:nvSpPr>
          <p:cNvPr id="61" name="ALIGN"/>
          <p:cNvSpPr txBox="1"/>
          <p:nvPr/>
        </p:nvSpPr>
        <p:spPr>
          <a:xfrm>
            <a:off x="2459450" y="4424077"/>
            <a:ext cx="495776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38" kern="0" dirty="0">
                <a:solidFill>
                  <a:srgbClr val="2A78D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ALIGN</a:t>
            </a:r>
            <a:endParaRPr lang="en-US" sz="864" dirty="0"/>
          </a:p>
        </p:txBody>
      </p:sp>
      <p:sp>
        <p:nvSpPr>
          <p:cNvPr id="62" name="의견 조율 · 공통 기준 마련"/>
          <p:cNvSpPr txBox="1"/>
          <p:nvPr/>
        </p:nvSpPr>
        <p:spPr>
          <a:xfrm>
            <a:off x="2023872" y="4631912"/>
            <a:ext cx="1699746" cy="188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96" spc="-39" kern="0" dirty="0">
                <a:solidFill>
                  <a:srgbClr val="0B2147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의견 조율 · 공통 기준 마련</a:t>
            </a:r>
            <a:endParaRPr lang="en-US" sz="1296" dirty="0"/>
          </a:p>
        </p:txBody>
      </p:sp>
      <p:sp>
        <p:nvSpPr>
          <p:cNvPr id="63" name="경청 · 수상작 분석 · 교수님 조언"/>
          <p:cNvSpPr txBox="1"/>
          <p:nvPr/>
        </p:nvSpPr>
        <p:spPr>
          <a:xfrm>
            <a:off x="2304288" y="5063776"/>
            <a:ext cx="1954380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경청 · 수상작 분석 · 교수님 조언</a:t>
            </a:r>
            <a:endParaRPr lang="en-US" sz="1200" dirty="0"/>
          </a:p>
        </p:txBody>
      </p:sp>
      <p:sp>
        <p:nvSpPr>
          <p:cNvPr id="64" name="판단 기준 마련 → 방향 합의"/>
          <p:cNvSpPr txBox="1"/>
          <p:nvPr/>
        </p:nvSpPr>
        <p:spPr>
          <a:xfrm>
            <a:off x="4852416" y="5063776"/>
            <a:ext cx="1655321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판단 기준 마련 → 방향 합의</a:t>
            </a:r>
            <a:endParaRPr lang="en-US" sz="1200" dirty="0"/>
          </a:p>
        </p:txBody>
      </p:sp>
      <p:sp>
        <p:nvSpPr>
          <p:cNvPr id="65" name="03"/>
          <p:cNvSpPr txBox="1"/>
          <p:nvPr/>
        </p:nvSpPr>
        <p:spPr>
          <a:xfrm>
            <a:off x="2023872" y="6091904"/>
            <a:ext cx="203930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35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03</a:t>
            </a:r>
            <a:endParaRPr lang="en-US" sz="864" dirty="0"/>
          </a:p>
        </p:txBody>
      </p:sp>
      <p:sp>
        <p:nvSpPr>
          <p:cNvPr id="66" name="ONE TEAM"/>
          <p:cNvSpPr txBox="1"/>
          <p:nvPr/>
        </p:nvSpPr>
        <p:spPr>
          <a:xfrm>
            <a:off x="2459450" y="6091904"/>
            <a:ext cx="801624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38" kern="0" dirty="0">
                <a:solidFill>
                  <a:srgbClr val="2A78D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ONE TEAM</a:t>
            </a:r>
            <a:endParaRPr lang="en-US" sz="864" dirty="0"/>
          </a:p>
        </p:txBody>
      </p:sp>
      <p:sp>
        <p:nvSpPr>
          <p:cNvPr id="67" name="역할 분담 · 지속적인 공유"/>
          <p:cNvSpPr txBox="1"/>
          <p:nvPr/>
        </p:nvSpPr>
        <p:spPr>
          <a:xfrm>
            <a:off x="2023872" y="6299740"/>
            <a:ext cx="1666629" cy="188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96" spc="-39" kern="0" dirty="0">
                <a:solidFill>
                  <a:srgbClr val="0B2147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역할 분담 · 지속적인 공유</a:t>
            </a:r>
            <a:endParaRPr lang="en-US" sz="1296" dirty="0"/>
          </a:p>
        </p:txBody>
      </p:sp>
      <p:sp>
        <p:nvSpPr>
          <p:cNvPr id="68" name="강점 기반 역할 분담"/>
          <p:cNvSpPr txBox="1"/>
          <p:nvPr/>
        </p:nvSpPr>
        <p:spPr>
          <a:xfrm>
            <a:off x="2304288" y="6731603"/>
            <a:ext cx="1208349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강점 기반 역할 분담</a:t>
            </a:r>
            <a:endParaRPr lang="en-US" sz="1200" dirty="0"/>
          </a:p>
        </p:txBody>
      </p:sp>
      <p:sp>
        <p:nvSpPr>
          <p:cNvPr id="69" name="이틀마다 진행상황 공유 · 피드백"/>
          <p:cNvSpPr txBox="1"/>
          <p:nvPr/>
        </p:nvSpPr>
        <p:spPr>
          <a:xfrm>
            <a:off x="4852416" y="6731603"/>
            <a:ext cx="1982044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이틀마다 진행상황 공유 · 피드백</a:t>
            </a:r>
            <a:endParaRPr lang="en-US" sz="1200" dirty="0"/>
          </a:p>
        </p:txBody>
      </p:sp>
      <p:sp>
        <p:nvSpPr>
          <p:cNvPr id="70" name="장려상"/>
          <p:cNvSpPr txBox="1"/>
          <p:nvPr/>
        </p:nvSpPr>
        <p:spPr>
          <a:xfrm>
            <a:off x="1266587" y="8145304"/>
            <a:ext cx="331946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64" spc="-17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장려상</a:t>
            </a:r>
            <a:endParaRPr lang="en-US" sz="864" dirty="0"/>
          </a:p>
        </p:txBody>
      </p:sp>
      <p:sp>
        <p:nvSpPr>
          <p:cNvPr id="71" name="04"/>
          <p:cNvSpPr txBox="1"/>
          <p:nvPr/>
        </p:nvSpPr>
        <p:spPr>
          <a:xfrm>
            <a:off x="2023872" y="7759732"/>
            <a:ext cx="203930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35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04</a:t>
            </a:r>
            <a:endParaRPr lang="en-US" sz="864" dirty="0"/>
          </a:p>
        </p:txBody>
      </p:sp>
      <p:sp>
        <p:nvSpPr>
          <p:cNvPr id="72" name="RESULT"/>
          <p:cNvSpPr txBox="1"/>
          <p:nvPr/>
        </p:nvSpPr>
        <p:spPr>
          <a:xfrm>
            <a:off x="2459450" y="7759732"/>
            <a:ext cx="590360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38" kern="0" dirty="0">
                <a:solidFill>
                  <a:srgbClr val="2A78D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RESULT</a:t>
            </a:r>
            <a:endParaRPr lang="en-US" sz="864" dirty="0"/>
          </a:p>
        </p:txBody>
      </p:sp>
      <p:sp>
        <p:nvSpPr>
          <p:cNvPr id="73" name="프로젝트 완성 · 장려상 수상"/>
          <p:cNvSpPr txBox="1"/>
          <p:nvPr/>
        </p:nvSpPr>
        <p:spPr>
          <a:xfrm>
            <a:off x="2023872" y="7967567"/>
            <a:ext cx="1814947" cy="188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96" spc="-39" kern="0" dirty="0">
                <a:solidFill>
                  <a:srgbClr val="0B2147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프로젝트 완성 · 장려상 수상</a:t>
            </a:r>
            <a:endParaRPr lang="en-US" sz="1296" dirty="0"/>
          </a:p>
        </p:txBody>
      </p:sp>
      <p:sp>
        <p:nvSpPr>
          <p:cNvPr id="74" name="남은 3주 내 프로젝트 완수"/>
          <p:cNvSpPr txBox="1"/>
          <p:nvPr/>
        </p:nvSpPr>
        <p:spPr>
          <a:xfrm>
            <a:off x="2304288" y="8399431"/>
            <a:ext cx="1623012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8A5A0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남은 3주 내 프로젝트 완수</a:t>
            </a:r>
            <a:endParaRPr lang="en-US" sz="1200" dirty="0"/>
          </a:p>
        </p:txBody>
      </p:sp>
      <p:sp>
        <p:nvSpPr>
          <p:cNvPr id="75" name="학생 BIM 경진대회 장려상"/>
          <p:cNvSpPr txBox="1"/>
          <p:nvPr/>
        </p:nvSpPr>
        <p:spPr>
          <a:xfrm>
            <a:off x="4852416" y="8399431"/>
            <a:ext cx="1668447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8A5A0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학생 BIM 경진대회 장려상</a:t>
            </a:r>
            <a:endParaRPr lang="en-US" sz="1200" dirty="0"/>
          </a:p>
        </p:txBody>
      </p:sp>
      <p:sp>
        <p:nvSpPr>
          <p:cNvPr id="76" name="3주 내 완수"/>
          <p:cNvSpPr txBox="1"/>
          <p:nvPr/>
        </p:nvSpPr>
        <p:spPr>
          <a:xfrm>
            <a:off x="969169" y="9139523"/>
            <a:ext cx="548831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-9" kern="0" dirty="0">
                <a:solidFill>
                  <a:srgbClr val="8A5A0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3주 내 완수</a:t>
            </a:r>
            <a:endParaRPr lang="en-US" sz="864" dirty="0"/>
          </a:p>
        </p:txBody>
      </p:sp>
      <p:sp>
        <p:nvSpPr>
          <p:cNvPr id="77" name="KEY MESSAGE"/>
          <p:cNvSpPr txBox="1"/>
          <p:nvPr/>
        </p:nvSpPr>
        <p:spPr>
          <a:xfrm>
            <a:off x="1182624" y="9790557"/>
            <a:ext cx="1065686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38" kern="0" dirty="0">
                <a:solidFill>
                  <a:srgbClr val="8FD3F5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KEY MESSAGE</a:t>
            </a:r>
            <a:endParaRPr lang="en-US" sz="864" dirty="0"/>
          </a:p>
        </p:txBody>
      </p:sp>
      <p:sp>
        <p:nvSpPr>
          <p:cNvPr id="78" name="서로 다른 사람을 하나의 공동 목표로 연결합니다"/>
          <p:cNvSpPr txBox="1"/>
          <p:nvPr/>
        </p:nvSpPr>
        <p:spPr>
          <a:xfrm>
            <a:off x="2358676" y="9743313"/>
            <a:ext cx="3750951" cy="2255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36" spc="-46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서로 다른 사람을 </a:t>
            </a:r>
            <a:pPr algn="l" indent="0" marL="0">
              <a:buNone/>
            </a:pPr>
            <a:r>
              <a:rPr lang="ko-KR" altLang="en-US" sz="1536" spc="-46" kern="0" dirty="0">
                <a:solidFill>
                  <a:srgbClr val="FDBB3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하나의 공동 목표</a:t>
            </a:r>
            <a:pPr algn="l" indent="0" marL="0">
              <a:buNone/>
            </a:pPr>
            <a:r>
              <a:rPr lang="ko-KR" altLang="en-US" sz="1536" spc="-46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로 연결합니다</a:t>
            </a:r>
            <a:endParaRPr lang="en-US" sz="1536" dirty="0"/>
          </a:p>
        </p:txBody>
      </p:sp>
      <p:sp>
        <p:nvSpPr>
          <p:cNvPr id="79" name="2026년 하반기 신입사원 공개채용"/>
          <p:cNvSpPr txBox="1"/>
          <p:nvPr/>
        </p:nvSpPr>
        <p:spPr>
          <a:xfrm>
            <a:off x="512064" y="10252901"/>
            <a:ext cx="1593127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-9" kern="0" dirty="0">
                <a:solidFill>
                  <a:srgbClr val="8691A5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2026년 하반기 신입사원 공개채용</a:t>
            </a:r>
            <a:endParaRPr lang="en-US" sz="864" dirty="0"/>
          </a:p>
        </p:txBody>
      </p:sp>
      <p:sp>
        <p:nvSpPr>
          <p:cNvPr id="80" name="01 / 03"/>
          <p:cNvSpPr txBox="1"/>
          <p:nvPr/>
        </p:nvSpPr>
        <p:spPr>
          <a:xfrm>
            <a:off x="6618351" y="10252901"/>
            <a:ext cx="477393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52" kern="0" dirty="0">
                <a:solidFill>
                  <a:srgbClr val="004B8D"/>
                </a:solidFill>
                <a:latin typeface="Paperlogy 9 Black" pitchFamily="34" charset="0"/>
                <a:ea typeface="Paperlogy 9 Black" pitchFamily="34" charset="-127"/>
                <a:cs typeface="Paperlogy 9 Black" pitchFamily="34" charset="-120"/>
              </a:rPr>
              <a:t>01</a:t>
            </a:r>
            <a:pPr algn="l" indent="0" marL="0">
              <a:buNone/>
            </a:pPr>
            <a:r>
              <a:rPr lang="ko-KR" altLang="en-US" sz="864" spc="52" kern="0" dirty="0">
                <a:solidFill>
                  <a:srgbClr val="4B5568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 / 03</a:t>
            </a:r>
            <a:endParaRPr lang="en-US" sz="8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"/>
          <p:cNvSpPr/>
          <p:nvPr/>
        </p:nvSpPr>
        <p:spPr>
          <a:xfrm>
            <a:off x="512064" y="501206"/>
            <a:ext cx="60960" cy="6096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" name="b"/>
          <p:cNvSpPr/>
          <p:nvPr/>
        </p:nvSpPr>
        <p:spPr>
          <a:xfrm>
            <a:off x="573024" y="525590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4" name="i"/>
          <p:cNvSpPr/>
          <p:nvPr/>
        </p:nvSpPr>
        <p:spPr>
          <a:xfrm>
            <a:off x="658368" y="501206"/>
            <a:ext cx="60960" cy="6096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5" name="b"/>
          <p:cNvSpPr/>
          <p:nvPr/>
        </p:nvSpPr>
        <p:spPr>
          <a:xfrm>
            <a:off x="719328" y="525590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" name="i"/>
          <p:cNvSpPr/>
          <p:nvPr/>
        </p:nvSpPr>
        <p:spPr>
          <a:xfrm>
            <a:off x="804672" y="501206"/>
            <a:ext cx="60960" cy="6096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7" name="img" descr="im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634" y="471170"/>
            <a:ext cx="1337056" cy="191008"/>
          </a:xfrm>
          <a:prstGeom prst="rect">
            <a:avLst/>
          </a:prstGeom>
        </p:spPr>
      </p:pic>
      <p:sp>
        <p:nvSpPr>
          <p:cNvPr id="8" name="p2-quote"/>
          <p:cNvSpPr/>
          <p:nvPr/>
        </p:nvSpPr>
        <p:spPr>
          <a:xfrm>
            <a:off x="512064" y="2096643"/>
            <a:ext cx="6534912" cy="390144"/>
          </a:xfrm>
          <a:prstGeom prst="roundRect">
            <a:avLst>
              <a:gd name="adj" fmla="val 50000"/>
            </a:avLst>
          </a:prstGeom>
          <a:solidFill>
            <a:srgbClr val="E9F6FD"/>
          </a:solidFill>
          <a:ln/>
        </p:spPr>
      </p:sp>
      <p:pic>
        <p:nvPicPr>
          <p:cNvPr id="9" name="p2-qr" descr="p2-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230755"/>
            <a:ext cx="121920" cy="121920"/>
          </a:xfrm>
          <a:prstGeom prst="rect">
            <a:avLst/>
          </a:prstGeom>
        </p:spPr>
      </p:pic>
      <p:sp>
        <p:nvSpPr>
          <p:cNvPr id="10" name="p2-qs"/>
          <p:cNvSpPr/>
          <p:nvPr/>
        </p:nvSpPr>
        <p:spPr>
          <a:xfrm>
            <a:off x="1940243" y="2224659"/>
            <a:ext cx="12192" cy="134112"/>
          </a:xfrm>
          <a:prstGeom prst="rect">
            <a:avLst/>
          </a:prstGeom>
          <a:solidFill>
            <a:srgbClr val="C3CEDD"/>
          </a:solidFill>
          <a:ln/>
        </p:spPr>
      </p:sp>
      <p:pic>
        <p:nvPicPr>
          <p:cNvPr id="11" name="p2-spine" descr="p2-sp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632" y="2486787"/>
            <a:ext cx="18288" cy="6729984"/>
          </a:xfrm>
          <a:prstGeom prst="rect">
            <a:avLst/>
          </a:prstGeom>
        </p:spPr>
      </p:pic>
      <p:pic>
        <p:nvPicPr>
          <p:cNvPr id="12" name="p2-tip" descr="p2-t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2425827"/>
            <a:ext cx="121920" cy="121920"/>
          </a:xfrm>
          <a:prstGeom prst="rect">
            <a:avLst/>
          </a:prstGeom>
        </p:spPr>
      </p:pic>
      <p:pic>
        <p:nvPicPr>
          <p:cNvPr id="13" name="svg" descr="sv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68" y="3023235"/>
            <a:ext cx="2389632" cy="2389632"/>
          </a:xfrm>
          <a:prstGeom prst="rect">
            <a:avLst/>
          </a:prstGeom>
        </p:spPr>
      </p:pic>
      <p:pic>
        <p:nvPicPr>
          <p:cNvPr id="14" name="p2-hn" descr="p2-h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0992" y="2712339"/>
            <a:ext cx="633984" cy="633984"/>
          </a:xfrm>
          <a:prstGeom prst="rect">
            <a:avLst/>
          </a:prstGeom>
        </p:spPr>
      </p:pic>
      <p:pic>
        <p:nvPicPr>
          <p:cNvPr id="15" name="p2-hn" descr="p2-h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3832" y="3535426"/>
            <a:ext cx="633984" cy="633984"/>
          </a:xfrm>
          <a:prstGeom prst="rect">
            <a:avLst/>
          </a:prstGeom>
        </p:spPr>
      </p:pic>
      <p:pic>
        <p:nvPicPr>
          <p:cNvPr id="16" name="p2-hn" descr="p2-h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1588" y="4865021"/>
            <a:ext cx="633984" cy="633984"/>
          </a:xfrm>
          <a:prstGeom prst="rect">
            <a:avLst/>
          </a:prstGeom>
        </p:spPr>
      </p:pic>
      <p:pic>
        <p:nvPicPr>
          <p:cNvPr id="17" name="p2-hn" descr="p2-h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0301" y="4865021"/>
            <a:ext cx="633984" cy="633984"/>
          </a:xfrm>
          <a:prstGeom prst="rect">
            <a:avLst/>
          </a:prstGeom>
        </p:spPr>
      </p:pic>
      <p:pic>
        <p:nvPicPr>
          <p:cNvPr id="18" name="p2-hn" descr="p2-h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216" y="3535426"/>
            <a:ext cx="633984" cy="633984"/>
          </a:xfrm>
          <a:prstGeom prst="rect">
            <a:avLst/>
          </a:prstGeom>
        </p:spPr>
      </p:pic>
      <p:pic>
        <p:nvPicPr>
          <p:cNvPr id="19" name="p2-hc" descr="p2-hc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3728" y="3693795"/>
            <a:ext cx="1048512" cy="1048512"/>
          </a:xfrm>
          <a:prstGeom prst="rect">
            <a:avLst/>
          </a:prstGeom>
        </p:spPr>
      </p:pic>
      <p:pic>
        <p:nvPicPr>
          <p:cNvPr id="20" name="p2-node" descr="p2-nod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50208" y="3548253"/>
            <a:ext cx="195072" cy="195072"/>
          </a:xfrm>
          <a:prstGeom prst="rect">
            <a:avLst/>
          </a:prstGeom>
        </p:spPr>
      </p:pic>
      <p:sp>
        <p:nvSpPr>
          <p:cNvPr id="21" name="i"/>
          <p:cNvSpPr/>
          <p:nvPr/>
        </p:nvSpPr>
        <p:spPr>
          <a:xfrm>
            <a:off x="4011168" y="3609213"/>
            <a:ext cx="73152" cy="73152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22" name="svg" descr="sv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2512" y="5677027"/>
            <a:ext cx="410464" cy="410464"/>
          </a:xfrm>
          <a:prstGeom prst="rect">
            <a:avLst/>
          </a:prstGeom>
        </p:spPr>
      </p:pic>
      <p:pic>
        <p:nvPicPr>
          <p:cNvPr id="23" name="svg" descr="sv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9040" y="6420739"/>
            <a:ext cx="1775968" cy="1775968"/>
          </a:xfrm>
          <a:prstGeom prst="rect">
            <a:avLst/>
          </a:prstGeom>
        </p:spPr>
      </p:pic>
      <p:sp>
        <p:nvSpPr>
          <p:cNvPr id="24" name="chip tech p2-tc"/>
          <p:cNvSpPr/>
          <p:nvPr/>
        </p:nvSpPr>
        <p:spPr>
          <a:xfrm>
            <a:off x="512064" y="6351651"/>
            <a:ext cx="707136" cy="329184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/>
        </p:spPr>
      </p:sp>
      <p:sp>
        <p:nvSpPr>
          <p:cNvPr id="25" name="chip tech p2-tc"/>
          <p:cNvSpPr/>
          <p:nvPr/>
        </p:nvSpPr>
        <p:spPr>
          <a:xfrm>
            <a:off x="512064" y="7144131"/>
            <a:ext cx="707136" cy="329184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/>
        </p:spPr>
      </p:sp>
      <p:sp>
        <p:nvSpPr>
          <p:cNvPr id="26" name="chip tech p2-tc"/>
          <p:cNvSpPr/>
          <p:nvPr/>
        </p:nvSpPr>
        <p:spPr>
          <a:xfrm>
            <a:off x="512064" y="7936611"/>
            <a:ext cx="707136" cy="329184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/>
        </p:spPr>
      </p:sp>
      <p:pic>
        <p:nvPicPr>
          <p:cNvPr id="27" name="ring p2-tp" descr="ring p2-tp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70304" y="6833235"/>
            <a:ext cx="950976" cy="950976"/>
          </a:xfrm>
          <a:prstGeom prst="rect">
            <a:avLst/>
          </a:prstGeom>
        </p:spPr>
      </p:pic>
      <p:sp>
        <p:nvSpPr>
          <p:cNvPr id="28" name="small"/>
          <p:cNvSpPr/>
          <p:nvPr/>
        </p:nvSpPr>
        <p:spPr>
          <a:xfrm>
            <a:off x="2115217" y="7081552"/>
            <a:ext cx="60960" cy="6096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29" name="chip field p2-to"/>
          <p:cNvSpPr/>
          <p:nvPr/>
        </p:nvSpPr>
        <p:spPr>
          <a:xfrm>
            <a:off x="2974848" y="6272403"/>
            <a:ext cx="829056" cy="316992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30" name="dot field"/>
          <p:cNvSpPr/>
          <p:nvPr/>
        </p:nvSpPr>
        <p:spPr>
          <a:xfrm>
            <a:off x="3084576" y="6394323"/>
            <a:ext cx="73152" cy="73152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31" name="chip field p2-to"/>
          <p:cNvSpPr/>
          <p:nvPr/>
        </p:nvSpPr>
        <p:spPr>
          <a:xfrm>
            <a:off x="2974848" y="6857619"/>
            <a:ext cx="829056" cy="316992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32" name="dot field"/>
          <p:cNvSpPr/>
          <p:nvPr/>
        </p:nvSpPr>
        <p:spPr>
          <a:xfrm>
            <a:off x="3084576" y="6979539"/>
            <a:ext cx="73152" cy="73152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33" name="chip field p2-to"/>
          <p:cNvSpPr/>
          <p:nvPr/>
        </p:nvSpPr>
        <p:spPr>
          <a:xfrm>
            <a:off x="2974848" y="7442835"/>
            <a:ext cx="829056" cy="316992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34" name="dot field"/>
          <p:cNvSpPr/>
          <p:nvPr/>
        </p:nvSpPr>
        <p:spPr>
          <a:xfrm>
            <a:off x="3084576" y="7564755"/>
            <a:ext cx="73152" cy="73152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35" name="chip field p2-to"/>
          <p:cNvSpPr/>
          <p:nvPr/>
        </p:nvSpPr>
        <p:spPr>
          <a:xfrm>
            <a:off x="2974848" y="8028051"/>
            <a:ext cx="829056" cy="316992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36" name="dot field"/>
          <p:cNvSpPr/>
          <p:nvPr/>
        </p:nvSpPr>
        <p:spPr>
          <a:xfrm>
            <a:off x="3084576" y="8149971"/>
            <a:ext cx="73152" cy="73152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37" name="p2-node" descr="p2-nod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0208" y="6742557"/>
            <a:ext cx="195072" cy="195072"/>
          </a:xfrm>
          <a:prstGeom prst="rect">
            <a:avLst/>
          </a:prstGeom>
        </p:spPr>
      </p:pic>
      <p:sp>
        <p:nvSpPr>
          <p:cNvPr id="38" name="i"/>
          <p:cNvSpPr/>
          <p:nvPr/>
        </p:nvSpPr>
        <p:spPr>
          <a:xfrm>
            <a:off x="4011168" y="6803517"/>
            <a:ext cx="73152" cy="73152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39" name="svg" descr="sv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42512" y="8572627"/>
            <a:ext cx="410464" cy="410464"/>
          </a:xfrm>
          <a:prstGeom prst="rect">
            <a:avLst/>
          </a:prstGeom>
        </p:spPr>
      </p:pic>
      <p:pic>
        <p:nvPicPr>
          <p:cNvPr id="40" name="p2-tip" descr="p2-tip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86784" y="9155811"/>
            <a:ext cx="121920" cy="121920"/>
          </a:xfrm>
          <a:prstGeom prst="rect">
            <a:avLst/>
          </a:prstGeom>
        </p:spPr>
      </p:pic>
      <p:sp>
        <p:nvSpPr>
          <p:cNvPr id="41" name="key"/>
          <p:cNvSpPr/>
          <p:nvPr/>
        </p:nvSpPr>
        <p:spPr>
          <a:xfrm>
            <a:off x="512064" y="9216771"/>
            <a:ext cx="6534912" cy="963168"/>
          </a:xfrm>
          <a:prstGeom prst="roundRect">
            <a:avLst>
              <a:gd name="adj" fmla="val 13924"/>
            </a:avLst>
          </a:prstGeom>
          <a:solidFill>
            <a:srgbClr val="0B2147"/>
          </a:solidFill>
          <a:ln/>
        </p:spPr>
      </p:sp>
      <p:sp>
        <p:nvSpPr>
          <p:cNvPr id="42" name="i"/>
          <p:cNvSpPr/>
          <p:nvPr/>
        </p:nvSpPr>
        <p:spPr>
          <a:xfrm>
            <a:off x="804672" y="9667875"/>
            <a:ext cx="60960" cy="6096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3" name="b"/>
          <p:cNvSpPr/>
          <p:nvPr/>
        </p:nvSpPr>
        <p:spPr>
          <a:xfrm>
            <a:off x="865632" y="9692259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44" name="i"/>
          <p:cNvSpPr/>
          <p:nvPr/>
        </p:nvSpPr>
        <p:spPr>
          <a:xfrm>
            <a:off x="950976" y="9667875"/>
            <a:ext cx="60960" cy="6096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45" name="b"/>
          <p:cNvSpPr/>
          <p:nvPr/>
        </p:nvSpPr>
        <p:spPr>
          <a:xfrm>
            <a:off x="1011936" y="9692259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46" name="i"/>
          <p:cNvSpPr/>
          <p:nvPr/>
        </p:nvSpPr>
        <p:spPr>
          <a:xfrm>
            <a:off x="1097280" y="9667875"/>
            <a:ext cx="60960" cy="6096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47" name="02"/>
          <p:cNvSpPr txBox="1"/>
          <p:nvPr/>
        </p:nvSpPr>
        <p:spPr>
          <a:xfrm>
            <a:off x="950976" y="451104"/>
            <a:ext cx="224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spc="20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02</a:t>
            </a:r>
            <a:endParaRPr lang="en-US" sz="1008" dirty="0"/>
          </a:p>
        </p:txBody>
      </p:sp>
      <p:sp>
        <p:nvSpPr>
          <p:cNvPr id="48" name="PT 주제 2 · 가치체계 키워드 ‘우리의 기술’"/>
          <p:cNvSpPr txBox="1"/>
          <p:nvPr/>
        </p:nvSpPr>
        <p:spPr>
          <a:xfrm>
            <a:off x="1212152" y="451104"/>
            <a:ext cx="222425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spc="-10" kern="0" dirty="0">
                <a:solidFill>
                  <a:srgbClr val="8691A5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PT 주제 2 · 가치체계 키워드 ‘우리의 기술’</a:t>
            </a:r>
            <a:endParaRPr lang="en-US" sz="1008" dirty="0"/>
          </a:p>
        </p:txBody>
      </p:sp>
      <p:sp>
        <p:nvSpPr>
          <p:cNvPr id="49" name="현대엔지니어링 가치체계 키워드 중"/>
          <p:cNvSpPr txBox="1"/>
          <p:nvPr/>
        </p:nvSpPr>
        <p:spPr>
          <a:xfrm>
            <a:off x="512064" y="782955"/>
            <a:ext cx="261701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40" spc="-29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현대엔지니어링 가치체계 키워드 중</a:t>
            </a:r>
            <a:endParaRPr lang="en-US" sz="1440" dirty="0"/>
          </a:p>
        </p:txBody>
      </p:sp>
      <p:sp>
        <p:nvSpPr>
          <p:cNvPr id="50" name="저는 ‘우리의 기술’을"/>
          <p:cNvSpPr txBox="1"/>
          <p:nvPr/>
        </p:nvSpPr>
        <p:spPr>
          <a:xfrm>
            <a:off x="512064" y="1078611"/>
            <a:ext cx="2469301" cy="35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저는 ‘</a:t>
            </a:r>
            <a:pPr algn="l" indent="0" marL="0">
              <a:buNone/>
            </a:pPr>
            <a:r>
              <a:rPr lang="ko-KR" altLang="en-US" sz="2400" spc="-84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우리의 기술</a:t>
            </a:r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’을</a:t>
            </a:r>
            <a:endParaRPr lang="en-US" sz="2400" dirty="0"/>
          </a:p>
        </p:txBody>
      </p:sp>
      <p:sp>
        <p:nvSpPr>
          <p:cNvPr id="51" name="이렇게 이해했습니다"/>
          <p:cNvSpPr txBox="1"/>
          <p:nvPr/>
        </p:nvSpPr>
        <p:spPr>
          <a:xfrm>
            <a:off x="512064" y="1456563"/>
            <a:ext cx="2516956" cy="35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이렇게 이해했습니다</a:t>
            </a:r>
            <a:endParaRPr lang="en-US" sz="2400" dirty="0"/>
          </a:p>
        </p:txBody>
      </p:sp>
      <p:sp>
        <p:nvSpPr>
          <p:cNvPr id="52" name="가치체계 정체성"/>
          <p:cNvSpPr txBox="1"/>
          <p:nvPr/>
        </p:nvSpPr>
        <p:spPr>
          <a:xfrm>
            <a:off x="1072896" y="2224373"/>
            <a:ext cx="757619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9" kern="0" dirty="0">
                <a:solidFill>
                  <a:srgbClr val="2A78D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가치체계 정체성</a:t>
            </a:r>
            <a:endParaRPr lang="en-US" sz="864" dirty="0"/>
          </a:p>
        </p:txBody>
      </p:sp>
      <p:sp>
        <p:nvSpPr>
          <p:cNvPr id="53" name="“공간과 에너지를 잇는 길 위에서, 우리의 기술로 더 나은 삶을 만듭니다"/>
          <p:cNvSpPr txBox="1"/>
          <p:nvPr/>
        </p:nvSpPr>
        <p:spPr>
          <a:xfrm>
            <a:off x="2110931" y="2211134"/>
            <a:ext cx="370006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spc="-20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“공간과 에너지를 잇는 길 위에서, </a:t>
            </a:r>
            <a:pPr algn="l" indent="0" marL="0">
              <a:buNone/>
            </a:pPr>
            <a:r>
              <a:rPr lang="ko-KR" altLang="en-US" sz="1008" spc="-20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우리의 기술</a:t>
            </a:r>
            <a:pPr algn="l" indent="0" marL="0">
              <a:buNone/>
            </a:pPr>
            <a:r>
              <a:rPr lang="ko-KR" altLang="en-US" sz="1008" spc="-20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로 더 나은 삶을 만듭니다”</a:t>
            </a:r>
            <a:endParaRPr lang="en-US" sz="1008" dirty="0"/>
          </a:p>
        </p:txBody>
      </p:sp>
      <p:sp>
        <p:nvSpPr>
          <p:cNvPr id="54" name="설계"/>
          <p:cNvSpPr txBox="1"/>
          <p:nvPr/>
        </p:nvSpPr>
        <p:spPr>
          <a:xfrm>
            <a:off x="2019586" y="2946083"/>
            <a:ext cx="276797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056" spc="-32" kern="0" dirty="0">
                <a:solidFill>
                  <a:srgbClr val="03804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설계</a:t>
            </a:r>
            <a:endParaRPr lang="en-US" sz="1056" dirty="0"/>
          </a:p>
        </p:txBody>
      </p:sp>
      <p:sp>
        <p:nvSpPr>
          <p:cNvPr id="55" name="시공"/>
          <p:cNvSpPr txBox="1"/>
          <p:nvPr/>
        </p:nvSpPr>
        <p:spPr>
          <a:xfrm>
            <a:off x="3150394" y="3767138"/>
            <a:ext cx="276797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056" spc="-32" kern="0" dirty="0">
                <a:solidFill>
                  <a:srgbClr val="03804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시공</a:t>
            </a:r>
            <a:endParaRPr lang="en-US" sz="1056" dirty="0"/>
          </a:p>
        </p:txBody>
      </p:sp>
      <p:sp>
        <p:nvSpPr>
          <p:cNvPr id="56" name="품질"/>
          <p:cNvSpPr txBox="1"/>
          <p:nvPr/>
        </p:nvSpPr>
        <p:spPr>
          <a:xfrm>
            <a:off x="2718149" y="5096732"/>
            <a:ext cx="276797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056" spc="-32" kern="0" dirty="0">
                <a:solidFill>
                  <a:srgbClr val="03804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품질</a:t>
            </a:r>
            <a:endParaRPr lang="en-US" sz="1056" dirty="0"/>
          </a:p>
        </p:txBody>
      </p:sp>
      <p:sp>
        <p:nvSpPr>
          <p:cNvPr id="57" name="안전"/>
          <p:cNvSpPr txBox="1"/>
          <p:nvPr/>
        </p:nvSpPr>
        <p:spPr>
          <a:xfrm>
            <a:off x="1320927" y="5096732"/>
            <a:ext cx="276797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056" spc="-32" kern="0" dirty="0">
                <a:solidFill>
                  <a:srgbClr val="03804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안전</a:t>
            </a:r>
            <a:endParaRPr lang="en-US" sz="1056" dirty="0"/>
          </a:p>
        </p:txBody>
      </p:sp>
      <p:sp>
        <p:nvSpPr>
          <p:cNvPr id="58" name="협력"/>
          <p:cNvSpPr txBox="1"/>
          <p:nvPr/>
        </p:nvSpPr>
        <p:spPr>
          <a:xfrm>
            <a:off x="888778" y="3690080"/>
            <a:ext cx="276797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056" spc="-32" kern="0" dirty="0">
                <a:solidFill>
                  <a:srgbClr val="03804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협력</a:t>
            </a:r>
            <a:endParaRPr lang="en-US" sz="1056" dirty="0"/>
          </a:p>
        </p:txBody>
      </p:sp>
      <p:sp>
        <p:nvSpPr>
          <p:cNvPr id="59" name="업체"/>
          <p:cNvSpPr txBox="1"/>
          <p:nvPr/>
        </p:nvSpPr>
        <p:spPr>
          <a:xfrm>
            <a:off x="888778" y="3844290"/>
            <a:ext cx="276797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056" spc="-32" kern="0" dirty="0">
                <a:solidFill>
                  <a:srgbClr val="03804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업체</a:t>
            </a:r>
            <a:endParaRPr lang="en-US" sz="1056" dirty="0"/>
          </a:p>
        </p:txBody>
      </p:sp>
      <p:sp>
        <p:nvSpPr>
          <p:cNvPr id="60" name="하나의 목표"/>
          <p:cNvSpPr txBox="1"/>
          <p:nvPr/>
        </p:nvSpPr>
        <p:spPr>
          <a:xfrm>
            <a:off x="1786414" y="4025170"/>
            <a:ext cx="74304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48" spc="-50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하나의 목표</a:t>
            </a:r>
            <a:endParaRPr lang="en-US" sz="1248" dirty="0"/>
          </a:p>
        </p:txBody>
      </p:sp>
      <p:sp>
        <p:nvSpPr>
          <p:cNvPr id="61" name="프로젝트 완수"/>
          <p:cNvSpPr txBox="1"/>
          <p:nvPr/>
        </p:nvSpPr>
        <p:spPr>
          <a:xfrm>
            <a:off x="1839468" y="4264057"/>
            <a:ext cx="636937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64" spc="-17" kern="0" dirty="0">
                <a:solidFill>
                  <a:srgbClr val="03804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프로젝트 완수</a:t>
            </a:r>
            <a:endParaRPr lang="en-US" sz="864" dirty="0"/>
          </a:p>
        </p:txBody>
      </p:sp>
      <p:sp>
        <p:nvSpPr>
          <p:cNvPr id="62" name="PEOPLE"/>
          <p:cNvSpPr txBox="1"/>
          <p:nvPr/>
        </p:nvSpPr>
        <p:spPr>
          <a:xfrm>
            <a:off x="4315968" y="3219736"/>
            <a:ext cx="621125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38" kern="0" dirty="0">
                <a:solidFill>
                  <a:srgbClr val="00A94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PEOPLE</a:t>
            </a:r>
            <a:endParaRPr lang="en-US" sz="864" dirty="0"/>
          </a:p>
        </p:txBody>
      </p:sp>
      <p:sp>
        <p:nvSpPr>
          <p:cNvPr id="63" name="우리"/>
          <p:cNvSpPr txBox="1"/>
          <p:nvPr/>
        </p:nvSpPr>
        <p:spPr>
          <a:xfrm>
            <a:off x="4315968" y="3372707"/>
            <a:ext cx="827151" cy="54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3648" spc="-146" kern="0" dirty="0">
                <a:solidFill>
                  <a:srgbClr val="00A94F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우리</a:t>
            </a:r>
            <a:endParaRPr lang="en-US" sz="3648" dirty="0"/>
          </a:p>
        </p:txBody>
      </p:sp>
      <p:sp>
        <p:nvSpPr>
          <p:cNvPr id="64" name="사람과 전문성의 연결"/>
          <p:cNvSpPr txBox="1"/>
          <p:nvPr/>
        </p:nvSpPr>
        <p:spPr>
          <a:xfrm>
            <a:off x="4315968" y="3985927"/>
            <a:ext cx="1660470" cy="2255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36" spc="-46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사람과 전문성의 연결</a:t>
            </a:r>
            <a:endParaRPr lang="en-US" sz="1536" dirty="0"/>
          </a:p>
        </p:txBody>
      </p:sp>
      <p:sp>
        <p:nvSpPr>
          <p:cNvPr id="65" name="설계부터 협력업체까지, 서로 다른"/>
          <p:cNvSpPr txBox="1"/>
          <p:nvPr/>
        </p:nvSpPr>
        <p:spPr>
          <a:xfrm>
            <a:off x="4315968" y="4337018"/>
            <a:ext cx="2064734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4B5568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설계부터 협력업체까지, 서로 다른</a:t>
            </a:r>
            <a:endParaRPr lang="en-US" sz="1200" dirty="0"/>
          </a:p>
        </p:txBody>
      </p:sp>
      <p:sp>
        <p:nvSpPr>
          <p:cNvPr id="66" name="전문가들이 하나의 목표인"/>
          <p:cNvSpPr txBox="1"/>
          <p:nvPr/>
        </p:nvSpPr>
        <p:spPr>
          <a:xfrm>
            <a:off x="4315968" y="4573238"/>
            <a:ext cx="1582323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4B5568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전문가들이 </a:t>
            </a:r>
            <a:pPr algn="l" indent="0" marL="0">
              <a:buNone/>
            </a:pPr>
            <a:r>
              <a:rPr lang="ko-KR" altLang="en-US" sz="1200" spc="-30" kern="0" dirty="0">
                <a:solidFill>
                  <a:srgbClr val="1C2536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하나의 목표</a:t>
            </a:r>
            <a:pPr algn="l" indent="0" marL="0">
              <a:buNone/>
            </a:pPr>
            <a:r>
              <a:rPr lang="ko-KR" altLang="en-US" sz="1200" spc="-30" kern="0" dirty="0">
                <a:solidFill>
                  <a:srgbClr val="4B5568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인</a:t>
            </a:r>
            <a:endParaRPr lang="en-US" sz="1200" dirty="0"/>
          </a:p>
        </p:txBody>
      </p:sp>
      <p:sp>
        <p:nvSpPr>
          <p:cNvPr id="67" name="프로젝트 완수로 이어집니다."/>
          <p:cNvSpPr txBox="1"/>
          <p:nvPr/>
        </p:nvSpPr>
        <p:spPr>
          <a:xfrm>
            <a:off x="4315968" y="4809458"/>
            <a:ext cx="1756993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4B5568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프로젝트 완수로 이어집니다.</a:t>
            </a:r>
            <a:endParaRPr lang="en-US" sz="1200" dirty="0"/>
          </a:p>
        </p:txBody>
      </p:sp>
      <p:sp>
        <p:nvSpPr>
          <p:cNvPr id="68" name="AI"/>
          <p:cNvSpPr txBox="1"/>
          <p:nvPr/>
        </p:nvSpPr>
        <p:spPr>
          <a:xfrm>
            <a:off x="793814" y="6431185"/>
            <a:ext cx="192310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56" dirty="0">
                <a:solidFill>
                  <a:srgbClr val="004B8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AI</a:t>
            </a:r>
            <a:endParaRPr lang="en-US" sz="1056" dirty="0"/>
          </a:p>
        </p:txBody>
      </p:sp>
      <p:sp>
        <p:nvSpPr>
          <p:cNvPr id="69" name="BIM"/>
          <p:cNvSpPr txBox="1"/>
          <p:nvPr/>
        </p:nvSpPr>
        <p:spPr>
          <a:xfrm>
            <a:off x="728282" y="7223665"/>
            <a:ext cx="323469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56" dirty="0">
                <a:solidFill>
                  <a:srgbClr val="004B8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BIM</a:t>
            </a:r>
            <a:endParaRPr lang="en-US" sz="1056" dirty="0"/>
          </a:p>
        </p:txBody>
      </p:sp>
      <p:sp>
        <p:nvSpPr>
          <p:cNvPr id="70" name="데이터"/>
          <p:cNvSpPr txBox="1"/>
          <p:nvPr/>
        </p:nvSpPr>
        <p:spPr>
          <a:xfrm>
            <a:off x="688562" y="8016145"/>
            <a:ext cx="402908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56" dirty="0">
                <a:solidFill>
                  <a:srgbClr val="004B8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데이터</a:t>
            </a:r>
            <a:endParaRPr lang="en-US" sz="1056" dirty="0"/>
          </a:p>
        </p:txBody>
      </p:sp>
      <p:sp>
        <p:nvSpPr>
          <p:cNvPr id="71" name="현장의"/>
          <p:cNvSpPr txBox="1"/>
          <p:nvPr/>
        </p:nvSpPr>
        <p:spPr>
          <a:xfrm>
            <a:off x="1934813" y="7179088"/>
            <a:ext cx="421862" cy="170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52" spc="-35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현장의</a:t>
            </a:r>
            <a:endParaRPr lang="en-US" sz="1152" dirty="0"/>
          </a:p>
        </p:txBody>
      </p:sp>
      <p:sp>
        <p:nvSpPr>
          <p:cNvPr id="72" name="문제"/>
          <p:cNvSpPr txBox="1"/>
          <p:nvPr/>
        </p:nvSpPr>
        <p:spPr>
          <a:xfrm>
            <a:off x="1996916" y="7357491"/>
            <a:ext cx="297561" cy="170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52" spc="-35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문제</a:t>
            </a:r>
            <a:endParaRPr lang="en-US" sz="1152" dirty="0"/>
          </a:p>
        </p:txBody>
      </p:sp>
      <p:sp>
        <p:nvSpPr>
          <p:cNvPr id="73" name="공정"/>
          <p:cNvSpPr txBox="1"/>
          <p:nvPr/>
        </p:nvSpPr>
        <p:spPr>
          <a:xfrm>
            <a:off x="3218688" y="6345841"/>
            <a:ext cx="284893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56" dirty="0">
                <a:solidFill>
                  <a:srgbClr val="8A5A0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공정</a:t>
            </a:r>
            <a:endParaRPr lang="en-US" sz="1056" dirty="0"/>
          </a:p>
        </p:txBody>
      </p:sp>
      <p:sp>
        <p:nvSpPr>
          <p:cNvPr id="74" name="품질"/>
          <p:cNvSpPr txBox="1"/>
          <p:nvPr/>
        </p:nvSpPr>
        <p:spPr>
          <a:xfrm>
            <a:off x="3218688" y="6931057"/>
            <a:ext cx="284893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56" dirty="0">
                <a:solidFill>
                  <a:srgbClr val="8A5A0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품질</a:t>
            </a:r>
            <a:endParaRPr lang="en-US" sz="1056" dirty="0"/>
          </a:p>
        </p:txBody>
      </p:sp>
      <p:sp>
        <p:nvSpPr>
          <p:cNvPr id="75" name="안전"/>
          <p:cNvSpPr txBox="1"/>
          <p:nvPr/>
        </p:nvSpPr>
        <p:spPr>
          <a:xfrm>
            <a:off x="3218688" y="7516273"/>
            <a:ext cx="284893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56" dirty="0">
                <a:solidFill>
                  <a:srgbClr val="8A5A0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안전</a:t>
            </a:r>
            <a:endParaRPr lang="en-US" sz="1056" dirty="0"/>
          </a:p>
        </p:txBody>
      </p:sp>
      <p:sp>
        <p:nvSpPr>
          <p:cNvPr id="76" name="생산성"/>
          <p:cNvSpPr txBox="1"/>
          <p:nvPr/>
        </p:nvSpPr>
        <p:spPr>
          <a:xfrm>
            <a:off x="3218688" y="8101489"/>
            <a:ext cx="402908" cy="15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56" dirty="0">
                <a:solidFill>
                  <a:srgbClr val="8A5A0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생산성</a:t>
            </a:r>
            <a:endParaRPr lang="en-US" sz="1056" dirty="0"/>
          </a:p>
        </p:txBody>
      </p:sp>
      <p:sp>
        <p:nvSpPr>
          <p:cNvPr id="77" name="TECHNOLOGY"/>
          <p:cNvSpPr txBox="1"/>
          <p:nvPr/>
        </p:nvSpPr>
        <p:spPr>
          <a:xfrm>
            <a:off x="4315968" y="6414040"/>
            <a:ext cx="1046098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38" kern="0" dirty="0">
                <a:solidFill>
                  <a:srgbClr val="004B8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TECHNOLOGY</a:t>
            </a:r>
            <a:endParaRPr lang="en-US" sz="864" dirty="0"/>
          </a:p>
        </p:txBody>
      </p:sp>
      <p:sp>
        <p:nvSpPr>
          <p:cNvPr id="78" name="기술"/>
          <p:cNvSpPr txBox="1"/>
          <p:nvPr/>
        </p:nvSpPr>
        <p:spPr>
          <a:xfrm>
            <a:off x="4315968" y="6567011"/>
            <a:ext cx="827151" cy="54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3648" spc="-146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기술</a:t>
            </a:r>
            <a:endParaRPr lang="en-US" sz="3648" dirty="0"/>
          </a:p>
        </p:txBody>
      </p:sp>
      <p:sp>
        <p:nvSpPr>
          <p:cNvPr id="79" name="현장 문제 해결에 활용"/>
          <p:cNvSpPr txBox="1"/>
          <p:nvPr/>
        </p:nvSpPr>
        <p:spPr>
          <a:xfrm>
            <a:off x="4315968" y="7180231"/>
            <a:ext cx="1699746" cy="2255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36" spc="-46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현장 문제 해결에 활용</a:t>
            </a:r>
            <a:endParaRPr lang="en-US" sz="1536" dirty="0"/>
          </a:p>
        </p:txBody>
      </p:sp>
      <p:sp>
        <p:nvSpPr>
          <p:cNvPr id="80" name="AI · BIM · 데이터를 현장의 문제에"/>
          <p:cNvSpPr txBox="1"/>
          <p:nvPr/>
        </p:nvSpPr>
        <p:spPr>
          <a:xfrm>
            <a:off x="4315968" y="7531322"/>
            <a:ext cx="2130765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4B5568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AI · BIM · 데이터를 </a:t>
            </a:r>
            <a:pPr algn="l" indent="0" marL="0">
              <a:buNone/>
            </a:pPr>
            <a:r>
              <a:rPr lang="ko-KR" altLang="en-US" sz="1200" spc="-30" kern="0" dirty="0">
                <a:solidFill>
                  <a:srgbClr val="1C2536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현장의 문제</a:t>
            </a:r>
            <a:pPr algn="l" indent="0" marL="0">
              <a:buNone/>
            </a:pPr>
            <a:r>
              <a:rPr lang="ko-KR" altLang="en-US" sz="1200" spc="-30" kern="0" dirty="0">
                <a:solidFill>
                  <a:srgbClr val="4B5568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에</a:t>
            </a:r>
            <a:endParaRPr lang="en-US" sz="1200" dirty="0"/>
          </a:p>
        </p:txBody>
      </p:sp>
      <p:sp>
        <p:nvSpPr>
          <p:cNvPr id="81" name="적용해, 공정 · 품질 · 안전 · 생산성의"/>
          <p:cNvSpPr txBox="1"/>
          <p:nvPr/>
        </p:nvSpPr>
        <p:spPr>
          <a:xfrm>
            <a:off x="4315968" y="7767542"/>
            <a:ext cx="2183772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4B5568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적용해, 공정 · 품질 · 안전 · 생산성의</a:t>
            </a:r>
            <a:endParaRPr lang="en-US" sz="1200" dirty="0"/>
          </a:p>
        </p:txBody>
      </p:sp>
      <p:sp>
        <p:nvSpPr>
          <p:cNvPr id="82" name="개선으로 연결합니다."/>
          <p:cNvSpPr txBox="1"/>
          <p:nvPr/>
        </p:nvSpPr>
        <p:spPr>
          <a:xfrm>
            <a:off x="4315968" y="8003762"/>
            <a:ext cx="1311131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4B5568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개선으로 연결합니다.</a:t>
            </a:r>
            <a:endParaRPr lang="en-US" sz="1200" dirty="0"/>
          </a:p>
        </p:txBody>
      </p:sp>
      <p:sp>
        <p:nvSpPr>
          <p:cNvPr id="83" name="‘우리’의 ‘기술’"/>
          <p:cNvSpPr txBox="1"/>
          <p:nvPr/>
        </p:nvSpPr>
        <p:spPr>
          <a:xfrm>
            <a:off x="1243584" y="9622155"/>
            <a:ext cx="79629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60" spc="38" kern="0" dirty="0">
                <a:solidFill>
                  <a:srgbClr val="8FD3F5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‘우리’의 ‘기술’</a:t>
            </a:r>
            <a:endParaRPr lang="en-US" sz="960" dirty="0"/>
          </a:p>
        </p:txBody>
      </p:sp>
      <p:sp>
        <p:nvSpPr>
          <p:cNvPr id="84" name="사람과 전문성을 하나의 목표로,"/>
          <p:cNvSpPr txBox="1"/>
          <p:nvPr/>
        </p:nvSpPr>
        <p:spPr>
          <a:xfrm>
            <a:off x="2234946" y="9409462"/>
            <a:ext cx="291425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824" spc="-55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사람과 전문성을 </a:t>
            </a:r>
            <a:pPr algn="l" indent="0" marL="0">
              <a:buNone/>
            </a:pPr>
            <a:r>
              <a:rPr lang="ko-KR" altLang="en-US" sz="1824" spc="-55" kern="0" dirty="0">
                <a:solidFill>
                  <a:srgbClr val="FDBB3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하나의 목표</a:t>
            </a:r>
            <a:pPr algn="l" indent="0" marL="0">
              <a:buNone/>
            </a:pPr>
            <a:r>
              <a:rPr lang="ko-KR" altLang="en-US" sz="1824" spc="-55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로,</a:t>
            </a:r>
            <a:endParaRPr lang="en-US" sz="1824" dirty="0"/>
          </a:p>
        </p:txBody>
      </p:sp>
      <p:sp>
        <p:nvSpPr>
          <p:cNvPr id="85" name="기술을 현장의 가치로 연결하는 것"/>
          <p:cNvSpPr txBox="1"/>
          <p:nvPr/>
        </p:nvSpPr>
        <p:spPr>
          <a:xfrm>
            <a:off x="2234946" y="9710547"/>
            <a:ext cx="310881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824" spc="-55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기술을 </a:t>
            </a:r>
            <a:pPr algn="l" indent="0" marL="0">
              <a:buNone/>
            </a:pPr>
            <a:r>
              <a:rPr lang="ko-KR" altLang="en-US" sz="1824" spc="-55" kern="0" dirty="0">
                <a:solidFill>
                  <a:srgbClr val="FDBB3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현장의 가치</a:t>
            </a:r>
            <a:pPr algn="l" indent="0" marL="0">
              <a:buNone/>
            </a:pPr>
            <a:r>
              <a:rPr lang="ko-KR" altLang="en-US" sz="1824" spc="-55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로 연결하는 것</a:t>
            </a:r>
            <a:endParaRPr lang="en-US" sz="1824" dirty="0"/>
          </a:p>
        </p:txBody>
      </p:sp>
      <p:sp>
        <p:nvSpPr>
          <p:cNvPr id="86" name="2026년 하반기 신입사원 공개채용"/>
          <p:cNvSpPr txBox="1"/>
          <p:nvPr/>
        </p:nvSpPr>
        <p:spPr>
          <a:xfrm>
            <a:off x="512064" y="10252901"/>
            <a:ext cx="1593127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-9" kern="0" dirty="0">
                <a:solidFill>
                  <a:srgbClr val="8691A5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2026년 하반기 신입사원 공개채용</a:t>
            </a:r>
            <a:endParaRPr lang="en-US" sz="864" dirty="0"/>
          </a:p>
        </p:txBody>
      </p:sp>
      <p:sp>
        <p:nvSpPr>
          <p:cNvPr id="87" name="02 / 03"/>
          <p:cNvSpPr txBox="1"/>
          <p:nvPr/>
        </p:nvSpPr>
        <p:spPr>
          <a:xfrm>
            <a:off x="6618351" y="10252901"/>
            <a:ext cx="477393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52" kern="0" dirty="0">
                <a:solidFill>
                  <a:srgbClr val="004B8D"/>
                </a:solidFill>
                <a:latin typeface="Paperlogy 9 Black" pitchFamily="34" charset="0"/>
                <a:ea typeface="Paperlogy 9 Black" pitchFamily="34" charset="-127"/>
                <a:cs typeface="Paperlogy 9 Black" pitchFamily="34" charset="-120"/>
              </a:rPr>
              <a:t>02</a:t>
            </a:r>
            <a:pPr algn="l" indent="0" marL="0">
              <a:buNone/>
            </a:pPr>
            <a:r>
              <a:rPr lang="ko-KR" altLang="en-US" sz="864" spc="52" kern="0" dirty="0">
                <a:solidFill>
                  <a:srgbClr val="4B5568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 / 03</a:t>
            </a:r>
            <a:endParaRPr lang="en-US" sz="8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"/>
          <p:cNvSpPr/>
          <p:nvPr/>
        </p:nvSpPr>
        <p:spPr>
          <a:xfrm>
            <a:off x="512064" y="501206"/>
            <a:ext cx="60960" cy="6096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" name="b"/>
          <p:cNvSpPr/>
          <p:nvPr/>
        </p:nvSpPr>
        <p:spPr>
          <a:xfrm>
            <a:off x="573024" y="525590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4" name="i"/>
          <p:cNvSpPr/>
          <p:nvPr/>
        </p:nvSpPr>
        <p:spPr>
          <a:xfrm>
            <a:off x="658368" y="501206"/>
            <a:ext cx="60960" cy="6096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5" name="b"/>
          <p:cNvSpPr/>
          <p:nvPr/>
        </p:nvSpPr>
        <p:spPr>
          <a:xfrm>
            <a:off x="719328" y="525590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" name="i"/>
          <p:cNvSpPr/>
          <p:nvPr/>
        </p:nvSpPr>
        <p:spPr>
          <a:xfrm>
            <a:off x="804672" y="501206"/>
            <a:ext cx="60960" cy="6096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7" name="img" descr="im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634" y="471170"/>
            <a:ext cx="1337056" cy="191008"/>
          </a:xfrm>
          <a:prstGeom prst="rect">
            <a:avLst/>
          </a:prstGeom>
        </p:spPr>
      </p:pic>
      <p:sp>
        <p:nvSpPr>
          <p:cNvPr id="8" name="dot field"/>
          <p:cNvSpPr/>
          <p:nvPr/>
        </p:nvSpPr>
        <p:spPr>
          <a:xfrm>
            <a:off x="1821466" y="2444115"/>
            <a:ext cx="60960" cy="6096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9" name="card people"/>
          <p:cNvSpPr/>
          <p:nvPr/>
        </p:nvSpPr>
        <p:spPr>
          <a:xfrm>
            <a:off x="512064" y="4608195"/>
            <a:ext cx="3169920" cy="2243328"/>
          </a:xfrm>
          <a:prstGeom prst="roundRect">
            <a:avLst>
              <a:gd name="adj" fmla="val 5978"/>
            </a:avLst>
          </a:prstGeom>
          <a:solidFill>
            <a:srgbClr val="E5F6EC"/>
          </a:solidFill>
          <a:ln/>
        </p:spPr>
      </p:sp>
      <p:sp>
        <p:nvSpPr>
          <p:cNvPr id="10" name="dot people"/>
          <p:cNvSpPr/>
          <p:nvPr/>
        </p:nvSpPr>
        <p:spPr>
          <a:xfrm>
            <a:off x="694944" y="4840129"/>
            <a:ext cx="60960" cy="6096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11" name="li" descr="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389055"/>
            <a:ext cx="2036064" cy="365760"/>
          </a:xfrm>
          <a:prstGeom prst="rect">
            <a:avLst/>
          </a:prstGeom>
        </p:spPr>
      </p:pic>
      <p:pic>
        <p:nvPicPr>
          <p:cNvPr id="12" name="li" descr="l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816283"/>
            <a:ext cx="2036064" cy="365760"/>
          </a:xfrm>
          <a:prstGeom prst="rect">
            <a:avLst/>
          </a:prstGeom>
        </p:spPr>
      </p:pic>
      <p:sp>
        <p:nvSpPr>
          <p:cNvPr id="13" name="chip ghost ref"/>
          <p:cNvSpPr/>
          <p:nvPr/>
        </p:nvSpPr>
        <p:spPr>
          <a:xfrm>
            <a:off x="701040" y="6430899"/>
            <a:ext cx="604361" cy="231648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12192">
            <a:solidFill>
              <a:srgbClr val="D8E0EB"/>
            </a:solidFill>
            <a:prstDash val="solid"/>
          </a:ln>
        </p:spPr>
      </p:sp>
      <p:sp>
        <p:nvSpPr>
          <p:cNvPr id="14" name="card tech"/>
          <p:cNvSpPr/>
          <p:nvPr/>
        </p:nvSpPr>
        <p:spPr>
          <a:xfrm>
            <a:off x="3877056" y="4608195"/>
            <a:ext cx="3169920" cy="2243328"/>
          </a:xfrm>
          <a:prstGeom prst="roundRect">
            <a:avLst>
              <a:gd name="adj" fmla="val 5978"/>
            </a:avLst>
          </a:prstGeom>
          <a:solidFill>
            <a:srgbClr val="EEF4FC"/>
          </a:solidFill>
          <a:ln/>
        </p:spPr>
      </p:sp>
      <p:sp>
        <p:nvSpPr>
          <p:cNvPr id="15" name="dot tech"/>
          <p:cNvSpPr/>
          <p:nvPr/>
        </p:nvSpPr>
        <p:spPr>
          <a:xfrm>
            <a:off x="4828032" y="4840129"/>
            <a:ext cx="60960" cy="6096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16" name="li" descr="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5389055"/>
            <a:ext cx="2036064" cy="365760"/>
          </a:xfrm>
          <a:prstGeom prst="rect">
            <a:avLst/>
          </a:prstGeom>
        </p:spPr>
      </p:pic>
      <p:pic>
        <p:nvPicPr>
          <p:cNvPr id="17" name="li" descr="l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5816283"/>
            <a:ext cx="2036064" cy="365760"/>
          </a:xfrm>
          <a:prstGeom prst="rect">
            <a:avLst/>
          </a:prstGeom>
        </p:spPr>
      </p:pic>
      <p:sp>
        <p:nvSpPr>
          <p:cNvPr id="18" name="chip ghost ref"/>
          <p:cNvSpPr/>
          <p:nvPr/>
        </p:nvSpPr>
        <p:spPr>
          <a:xfrm>
            <a:off x="4834128" y="6430899"/>
            <a:ext cx="918210" cy="231648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12192">
            <a:solidFill>
              <a:srgbClr val="D8E0EB"/>
            </a:solidFill>
            <a:prstDash val="solid"/>
          </a:ln>
        </p:spPr>
      </p:sp>
      <p:sp>
        <p:nvSpPr>
          <p:cNvPr id="19" name="dot field"/>
          <p:cNvSpPr/>
          <p:nvPr/>
        </p:nvSpPr>
        <p:spPr>
          <a:xfrm>
            <a:off x="1358170" y="8259699"/>
            <a:ext cx="60960" cy="6096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20" name="chip field out"/>
          <p:cNvSpPr/>
          <p:nvPr/>
        </p:nvSpPr>
        <p:spPr>
          <a:xfrm>
            <a:off x="4962144" y="7613523"/>
            <a:ext cx="1158240" cy="329184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21" name="dot field"/>
          <p:cNvSpPr/>
          <p:nvPr/>
        </p:nvSpPr>
        <p:spPr>
          <a:xfrm>
            <a:off x="5084064" y="7741539"/>
            <a:ext cx="73152" cy="73152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22" name="chip field out"/>
          <p:cNvSpPr/>
          <p:nvPr/>
        </p:nvSpPr>
        <p:spPr>
          <a:xfrm>
            <a:off x="4962144" y="8052435"/>
            <a:ext cx="1158240" cy="329184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23" name="dot field"/>
          <p:cNvSpPr/>
          <p:nvPr/>
        </p:nvSpPr>
        <p:spPr>
          <a:xfrm>
            <a:off x="5084064" y="8180451"/>
            <a:ext cx="73152" cy="73152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24" name="chip field out"/>
          <p:cNvSpPr/>
          <p:nvPr/>
        </p:nvSpPr>
        <p:spPr>
          <a:xfrm>
            <a:off x="4962144" y="8491347"/>
            <a:ext cx="1158240" cy="329184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25" name="dot field"/>
          <p:cNvSpPr/>
          <p:nvPr/>
        </p:nvSpPr>
        <p:spPr>
          <a:xfrm>
            <a:off x="5084064" y="8619363"/>
            <a:ext cx="73152" cy="73152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26" name="chip field out"/>
          <p:cNvSpPr/>
          <p:nvPr/>
        </p:nvSpPr>
        <p:spPr>
          <a:xfrm>
            <a:off x="4962144" y="8930259"/>
            <a:ext cx="1158240" cy="329184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27" name="dot field"/>
          <p:cNvSpPr/>
          <p:nvPr/>
        </p:nvSpPr>
        <p:spPr>
          <a:xfrm>
            <a:off x="5084064" y="9058275"/>
            <a:ext cx="73152" cy="73152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28" name="svg" descr="sv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1472" y="3134995"/>
            <a:ext cx="1828800" cy="5967984"/>
          </a:xfrm>
          <a:prstGeom prst="rect">
            <a:avLst/>
          </a:prstGeom>
        </p:spPr>
      </p:pic>
      <p:pic>
        <p:nvPicPr>
          <p:cNvPr id="29" name="ring field node" descr="ring field nod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5264" y="2096643"/>
            <a:ext cx="1048512" cy="1048512"/>
          </a:xfrm>
          <a:prstGeom prst="rect">
            <a:avLst/>
          </a:prstGeom>
        </p:spPr>
      </p:pic>
      <p:pic>
        <p:nvPicPr>
          <p:cNvPr id="30" name="joint" descr="join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3584067"/>
            <a:ext cx="1121664" cy="329184"/>
          </a:xfrm>
          <a:prstGeom prst="rect">
            <a:avLst/>
          </a:prstGeom>
        </p:spPr>
      </p:pic>
      <p:pic>
        <p:nvPicPr>
          <p:cNvPr id="31" name="svg" descr="sv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3131" y="3695827"/>
            <a:ext cx="113792" cy="111760"/>
          </a:xfrm>
          <a:prstGeom prst="rect">
            <a:avLst/>
          </a:prstGeom>
        </p:spPr>
      </p:pic>
      <p:pic>
        <p:nvPicPr>
          <p:cNvPr id="32" name="ring" descr="ri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9504" y="4791075"/>
            <a:ext cx="609600" cy="609600"/>
          </a:xfrm>
          <a:prstGeom prst="rect">
            <a:avLst/>
          </a:prstGeom>
        </p:spPr>
      </p:pic>
      <p:pic>
        <p:nvPicPr>
          <p:cNvPr id="33" name="ring" descr="ri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9936" y="4791075"/>
            <a:ext cx="609600" cy="609600"/>
          </a:xfrm>
          <a:prstGeom prst="rect">
            <a:avLst/>
          </a:prstGeom>
        </p:spPr>
      </p:pic>
      <p:pic>
        <p:nvPicPr>
          <p:cNvPr id="34" name="ring solid imp node" descr="ring solid imp nod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7728" y="7814691"/>
            <a:ext cx="1243584" cy="1243584"/>
          </a:xfrm>
          <a:prstGeom prst="rect">
            <a:avLst/>
          </a:prstGeom>
        </p:spPr>
      </p:pic>
      <p:sp>
        <p:nvSpPr>
          <p:cNvPr id="35" name="key"/>
          <p:cNvSpPr/>
          <p:nvPr/>
        </p:nvSpPr>
        <p:spPr>
          <a:xfrm>
            <a:off x="512064" y="9597009"/>
            <a:ext cx="6534912" cy="570548"/>
          </a:xfrm>
          <a:prstGeom prst="roundRect">
            <a:avLst>
              <a:gd name="adj" fmla="val 23506"/>
            </a:avLst>
          </a:prstGeom>
          <a:solidFill>
            <a:srgbClr val="0B2147"/>
          </a:solidFill>
          <a:ln/>
        </p:spPr>
      </p:sp>
      <p:sp>
        <p:nvSpPr>
          <p:cNvPr id="36" name="i"/>
          <p:cNvSpPr/>
          <p:nvPr/>
        </p:nvSpPr>
        <p:spPr>
          <a:xfrm>
            <a:off x="755904" y="9851803"/>
            <a:ext cx="60960" cy="6096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7" name="b"/>
          <p:cNvSpPr/>
          <p:nvPr/>
        </p:nvSpPr>
        <p:spPr>
          <a:xfrm>
            <a:off x="816864" y="9876187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38" name="i"/>
          <p:cNvSpPr/>
          <p:nvPr/>
        </p:nvSpPr>
        <p:spPr>
          <a:xfrm>
            <a:off x="902208" y="9851803"/>
            <a:ext cx="60960" cy="6096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39" name="b"/>
          <p:cNvSpPr/>
          <p:nvPr/>
        </p:nvSpPr>
        <p:spPr>
          <a:xfrm>
            <a:off x="963168" y="9876187"/>
            <a:ext cx="85344" cy="12192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40" name="i"/>
          <p:cNvSpPr/>
          <p:nvPr/>
        </p:nvSpPr>
        <p:spPr>
          <a:xfrm>
            <a:off x="1048512" y="9851803"/>
            <a:ext cx="60960" cy="6096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41" name="03"/>
          <p:cNvSpPr txBox="1"/>
          <p:nvPr/>
        </p:nvSpPr>
        <p:spPr>
          <a:xfrm>
            <a:off x="950976" y="451104"/>
            <a:ext cx="224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spc="20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03</a:t>
            </a:r>
            <a:endParaRPr lang="en-US" sz="1008" dirty="0"/>
          </a:p>
        </p:txBody>
      </p:sp>
      <p:sp>
        <p:nvSpPr>
          <p:cNvPr id="42" name="PT 주제 2 · 입사 후 실천"/>
          <p:cNvSpPr txBox="1"/>
          <p:nvPr/>
        </p:nvSpPr>
        <p:spPr>
          <a:xfrm>
            <a:off x="1212152" y="451104"/>
            <a:ext cx="130032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spc="-10" kern="0" dirty="0">
                <a:solidFill>
                  <a:srgbClr val="8691A5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PT 주제 2 · 입사 후 실천</a:t>
            </a:r>
            <a:endParaRPr lang="en-US" sz="1008" dirty="0"/>
          </a:p>
        </p:txBody>
      </p:sp>
      <p:sp>
        <p:nvSpPr>
          <p:cNvPr id="43" name="입사 후"/>
          <p:cNvSpPr txBox="1"/>
          <p:nvPr/>
        </p:nvSpPr>
        <p:spPr>
          <a:xfrm>
            <a:off x="512064" y="782955"/>
            <a:ext cx="55721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40" spc="-29" kern="0" dirty="0">
                <a:solidFill>
                  <a:srgbClr val="4B5568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입사 후</a:t>
            </a:r>
            <a:endParaRPr lang="en-US" sz="1440" dirty="0"/>
          </a:p>
        </p:txBody>
      </p:sp>
      <p:sp>
        <p:nvSpPr>
          <p:cNvPr id="44" name="기술을 실질적인 현장 개선으로"/>
          <p:cNvSpPr txBox="1"/>
          <p:nvPr/>
        </p:nvSpPr>
        <p:spPr>
          <a:xfrm>
            <a:off x="512064" y="1078611"/>
            <a:ext cx="3728738" cy="35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기술을 실질적인 </a:t>
            </a:r>
            <a:pPr algn="l" indent="0" marL="0">
              <a:buNone/>
            </a:pPr>
            <a:r>
              <a:rPr lang="ko-KR" altLang="en-US" sz="2400" spc="-84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현장 개선</a:t>
            </a:r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으로</a:t>
            </a:r>
            <a:endParaRPr lang="en-US" sz="2400" dirty="0"/>
          </a:p>
        </p:txBody>
      </p:sp>
      <p:sp>
        <p:nvSpPr>
          <p:cNvPr id="45" name="연결하는 공사관리자가 되겠습니다"/>
          <p:cNvSpPr txBox="1"/>
          <p:nvPr/>
        </p:nvSpPr>
        <p:spPr>
          <a:xfrm>
            <a:off x="512064" y="1456563"/>
            <a:ext cx="4214986" cy="35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연결하는 </a:t>
            </a:r>
            <a:pPr algn="l" indent="0" marL="0">
              <a:buNone/>
            </a:pPr>
            <a:r>
              <a:rPr lang="ko-KR" altLang="en-US" sz="2400" spc="-84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공사관리자</a:t>
            </a:r>
            <a:pPr algn="l" indent="0" marL="0">
              <a:buNone/>
            </a:pPr>
            <a:r>
              <a:rPr lang="ko-KR" altLang="en-US" sz="2400" spc="-8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가 되겠습니다</a:t>
            </a:r>
            <a:endParaRPr lang="en-US" sz="2400" dirty="0"/>
          </a:p>
        </p:txBody>
      </p:sp>
      <p:sp>
        <p:nvSpPr>
          <p:cNvPr id="46" name="FIELD"/>
          <p:cNvSpPr txBox="1"/>
          <p:nvPr/>
        </p:nvSpPr>
        <p:spPr>
          <a:xfrm>
            <a:off x="3548920" y="2444877"/>
            <a:ext cx="461105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64" spc="121" kern="0" dirty="0">
                <a:solidFill>
                  <a:srgbClr val="2A78D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FIELD</a:t>
            </a:r>
            <a:endParaRPr lang="en-US" sz="864" dirty="0"/>
          </a:p>
        </p:txBody>
      </p:sp>
      <p:sp>
        <p:nvSpPr>
          <p:cNvPr id="47" name="현장 이해"/>
          <p:cNvSpPr txBox="1"/>
          <p:nvPr/>
        </p:nvSpPr>
        <p:spPr>
          <a:xfrm>
            <a:off x="3459671" y="2601468"/>
            <a:ext cx="639699" cy="188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96" spc="-39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현장 이해</a:t>
            </a:r>
            <a:endParaRPr lang="en-US" sz="1296" dirty="0"/>
          </a:p>
        </p:txBody>
      </p:sp>
      <p:sp>
        <p:nvSpPr>
          <p:cNvPr id="48" name="STEP 01"/>
          <p:cNvSpPr txBox="1"/>
          <p:nvPr/>
        </p:nvSpPr>
        <p:spPr>
          <a:xfrm>
            <a:off x="1943386" y="2407253"/>
            <a:ext cx="616553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21" kern="0" dirty="0">
                <a:solidFill>
                  <a:srgbClr val="8A5A0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STEP 01</a:t>
            </a:r>
            <a:endParaRPr lang="en-US" sz="864" dirty="0"/>
          </a:p>
        </p:txBody>
      </p:sp>
      <p:sp>
        <p:nvSpPr>
          <p:cNvPr id="49" name="현장을 이해한다"/>
          <p:cNvSpPr txBox="1"/>
          <p:nvPr/>
        </p:nvSpPr>
        <p:spPr>
          <a:xfrm>
            <a:off x="1821466" y="2608993"/>
            <a:ext cx="1261356" cy="2255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36" spc="-5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현장을 이해한다</a:t>
            </a:r>
            <a:endParaRPr lang="en-US" sz="1536" dirty="0"/>
          </a:p>
        </p:txBody>
      </p:sp>
      <p:sp>
        <p:nvSpPr>
          <p:cNvPr id="50" name="공정 · 품질 · 안전"/>
          <p:cNvSpPr txBox="1"/>
          <p:nvPr/>
        </p:nvSpPr>
        <p:spPr>
          <a:xfrm>
            <a:off x="4547616" y="2423732"/>
            <a:ext cx="1060536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1C2536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공정 · 품질 · 안전</a:t>
            </a:r>
            <a:endParaRPr lang="en-US" sz="1200" dirty="0"/>
          </a:p>
        </p:txBody>
      </p:sp>
      <p:sp>
        <p:nvSpPr>
          <p:cNvPr id="51" name="시공관리 기본기"/>
          <p:cNvSpPr txBox="1"/>
          <p:nvPr/>
        </p:nvSpPr>
        <p:spPr>
          <a:xfrm>
            <a:off x="4547616" y="2663000"/>
            <a:ext cx="84505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spc="-20" kern="0" dirty="0">
                <a:solidFill>
                  <a:srgbClr val="4B5568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시공관리 기본기</a:t>
            </a:r>
            <a:endParaRPr lang="en-US" sz="1008" dirty="0"/>
          </a:p>
        </p:txBody>
      </p:sp>
      <p:sp>
        <p:nvSpPr>
          <p:cNvPr id="52" name="문제 발견"/>
          <p:cNvSpPr txBox="1"/>
          <p:nvPr/>
        </p:nvSpPr>
        <p:spPr>
          <a:xfrm>
            <a:off x="3637883" y="3668078"/>
            <a:ext cx="51482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spc="-20" kern="0" dirty="0">
                <a:solidFill>
                  <a:srgbClr val="0B2147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문제 발견</a:t>
            </a:r>
            <a:endParaRPr lang="en-US" sz="1008" dirty="0"/>
          </a:p>
        </p:txBody>
      </p:sp>
      <p:sp>
        <p:nvSpPr>
          <p:cNvPr id="53" name="사람"/>
          <p:cNvSpPr txBox="1"/>
          <p:nvPr/>
        </p:nvSpPr>
        <p:spPr>
          <a:xfrm>
            <a:off x="3054382" y="5000911"/>
            <a:ext cx="328613" cy="188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96" spc="-39" kern="0" dirty="0">
                <a:solidFill>
                  <a:srgbClr val="00873F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사람</a:t>
            </a:r>
            <a:endParaRPr lang="en-US" sz="1296" dirty="0"/>
          </a:p>
        </p:txBody>
      </p:sp>
      <p:sp>
        <p:nvSpPr>
          <p:cNvPr id="54" name="STEP 02 · PEOPLE"/>
          <p:cNvSpPr txBox="1"/>
          <p:nvPr/>
        </p:nvSpPr>
        <p:spPr>
          <a:xfrm>
            <a:off x="816864" y="4803267"/>
            <a:ext cx="1332031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21" kern="0" dirty="0">
                <a:solidFill>
                  <a:srgbClr val="007A39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STEP 02 · PEOPLE</a:t>
            </a:r>
            <a:endParaRPr lang="en-US" sz="864" dirty="0"/>
          </a:p>
        </p:txBody>
      </p:sp>
      <p:sp>
        <p:nvSpPr>
          <p:cNvPr id="55" name="사람을 연결한다"/>
          <p:cNvSpPr txBox="1"/>
          <p:nvPr/>
        </p:nvSpPr>
        <p:spPr>
          <a:xfrm>
            <a:off x="694944" y="5005007"/>
            <a:ext cx="1261356" cy="2255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36" spc="-5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사람을 연결한다</a:t>
            </a:r>
            <a:endParaRPr lang="en-US" sz="1536" dirty="0"/>
          </a:p>
        </p:txBody>
      </p:sp>
      <p:sp>
        <p:nvSpPr>
          <p:cNvPr id="56" name="유관부서 · 협력업체 · 공종"/>
          <p:cNvSpPr txBox="1"/>
          <p:nvPr/>
        </p:nvSpPr>
        <p:spPr>
          <a:xfrm>
            <a:off x="932688" y="5480495"/>
            <a:ext cx="1598983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1C2536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유관부서 · 협력업체 · 공종</a:t>
            </a:r>
            <a:endParaRPr lang="en-US" sz="1200" dirty="0"/>
          </a:p>
        </p:txBody>
      </p:sp>
      <p:sp>
        <p:nvSpPr>
          <p:cNvPr id="57" name="목표 · 진행상황 공유"/>
          <p:cNvSpPr txBox="1"/>
          <p:nvPr/>
        </p:nvSpPr>
        <p:spPr>
          <a:xfrm>
            <a:off x="932688" y="5905691"/>
            <a:ext cx="1245403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1C2536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목표 · 진행상황 공유</a:t>
            </a:r>
            <a:endParaRPr lang="en-US" sz="1200" dirty="0"/>
          </a:p>
        </p:txBody>
      </p:sp>
      <p:sp>
        <p:nvSpPr>
          <p:cNvPr id="58" name="01"/>
          <p:cNvSpPr txBox="1"/>
          <p:nvPr/>
        </p:nvSpPr>
        <p:spPr>
          <a:xfrm>
            <a:off x="804672" y="6479381"/>
            <a:ext cx="203930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35" kern="0" dirty="0">
                <a:solidFill>
                  <a:srgbClr val="8691A5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01</a:t>
            </a:r>
            <a:endParaRPr lang="en-US" sz="864" dirty="0"/>
          </a:p>
        </p:txBody>
      </p:sp>
      <p:sp>
        <p:nvSpPr>
          <p:cNvPr id="59" name="협업"/>
          <p:cNvSpPr txBox="1"/>
          <p:nvPr/>
        </p:nvSpPr>
        <p:spPr>
          <a:xfrm>
            <a:off x="1008602" y="6479381"/>
            <a:ext cx="241935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dirty="0">
                <a:solidFill>
                  <a:srgbClr val="4B5568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협업</a:t>
            </a:r>
            <a:endParaRPr lang="en-US" sz="864" dirty="0"/>
          </a:p>
        </p:txBody>
      </p:sp>
      <p:sp>
        <p:nvSpPr>
          <p:cNvPr id="60" name="기술"/>
          <p:cNvSpPr txBox="1"/>
          <p:nvPr/>
        </p:nvSpPr>
        <p:spPr>
          <a:xfrm>
            <a:off x="4224814" y="5000911"/>
            <a:ext cx="328613" cy="188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96" spc="-39" kern="0" dirty="0">
                <a:solidFill>
                  <a:srgbClr val="004B8D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기술</a:t>
            </a:r>
            <a:endParaRPr lang="en-US" sz="1296" dirty="0"/>
          </a:p>
        </p:txBody>
      </p:sp>
      <p:sp>
        <p:nvSpPr>
          <p:cNvPr id="61" name="STEP 03 · TECH"/>
          <p:cNvSpPr txBox="1"/>
          <p:nvPr/>
        </p:nvSpPr>
        <p:spPr>
          <a:xfrm>
            <a:off x="4949952" y="4803267"/>
            <a:ext cx="1133534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21" kern="0" dirty="0">
                <a:solidFill>
                  <a:srgbClr val="004B8D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STEP 03 · TECH</a:t>
            </a:r>
            <a:endParaRPr lang="en-US" sz="864" dirty="0"/>
          </a:p>
        </p:txBody>
      </p:sp>
      <p:sp>
        <p:nvSpPr>
          <p:cNvPr id="62" name="기술을 연결한다"/>
          <p:cNvSpPr txBox="1"/>
          <p:nvPr/>
        </p:nvSpPr>
        <p:spPr>
          <a:xfrm>
            <a:off x="4828032" y="5005007"/>
            <a:ext cx="1261356" cy="2255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36" spc="-5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기술을 연결한다</a:t>
            </a:r>
            <a:endParaRPr lang="en-US" sz="1536" dirty="0"/>
          </a:p>
        </p:txBody>
      </p:sp>
      <p:sp>
        <p:nvSpPr>
          <p:cNvPr id="63" name="BIM 간섭 · 시공성 사전 검토"/>
          <p:cNvSpPr txBox="1"/>
          <p:nvPr/>
        </p:nvSpPr>
        <p:spPr>
          <a:xfrm>
            <a:off x="5065776" y="5480495"/>
            <a:ext cx="1762849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1C2536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BIM 간섭 · 시공성 사전 검토</a:t>
            </a:r>
            <a:endParaRPr lang="en-US" sz="1200" dirty="0"/>
          </a:p>
        </p:txBody>
      </p:sp>
      <p:sp>
        <p:nvSpPr>
          <p:cNvPr id="64" name="AI 반복업무 효율화"/>
          <p:cNvSpPr txBox="1"/>
          <p:nvPr/>
        </p:nvSpPr>
        <p:spPr>
          <a:xfrm>
            <a:off x="5065776" y="5905691"/>
            <a:ext cx="1191589" cy="17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30" kern="0" dirty="0">
                <a:solidFill>
                  <a:srgbClr val="1C2536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AI 반복업무 효율화</a:t>
            </a:r>
            <a:endParaRPr lang="en-US" sz="1200" dirty="0"/>
          </a:p>
        </p:txBody>
      </p:sp>
      <p:sp>
        <p:nvSpPr>
          <p:cNvPr id="65" name="02"/>
          <p:cNvSpPr txBox="1"/>
          <p:nvPr/>
        </p:nvSpPr>
        <p:spPr>
          <a:xfrm>
            <a:off x="4937760" y="6479381"/>
            <a:ext cx="203930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35" kern="0" dirty="0">
                <a:solidFill>
                  <a:srgbClr val="8691A5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02</a:t>
            </a:r>
            <a:endParaRPr lang="en-US" sz="864" dirty="0"/>
          </a:p>
        </p:txBody>
      </p:sp>
      <p:sp>
        <p:nvSpPr>
          <p:cNvPr id="66" name="우리의 기술"/>
          <p:cNvSpPr txBox="1"/>
          <p:nvPr/>
        </p:nvSpPr>
        <p:spPr>
          <a:xfrm>
            <a:off x="5141690" y="6479381"/>
            <a:ext cx="555784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dirty="0">
                <a:solidFill>
                  <a:srgbClr val="4B5568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우리의 기술</a:t>
            </a:r>
            <a:endParaRPr lang="en-US" sz="864" dirty="0"/>
          </a:p>
        </p:txBody>
      </p:sp>
      <p:sp>
        <p:nvSpPr>
          <p:cNvPr id="67" name="IMPROVE"/>
          <p:cNvSpPr txBox="1"/>
          <p:nvPr/>
        </p:nvSpPr>
        <p:spPr>
          <a:xfrm>
            <a:off x="3427476" y="8260461"/>
            <a:ext cx="703993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64" spc="121" kern="0" dirty="0">
                <a:solidFill>
                  <a:srgbClr val="FFFFFF">
                    <a:alpha val="78000"/>
                  </a:srgbClr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IMPROVE</a:t>
            </a:r>
            <a:endParaRPr lang="en-US" sz="864" dirty="0"/>
          </a:p>
        </p:txBody>
      </p:sp>
      <p:sp>
        <p:nvSpPr>
          <p:cNvPr id="68" name="문제 해결"/>
          <p:cNvSpPr txBox="1"/>
          <p:nvPr/>
        </p:nvSpPr>
        <p:spPr>
          <a:xfrm>
            <a:off x="3459575" y="8417052"/>
            <a:ext cx="639699" cy="188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96" spc="-39" kern="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문제 해결</a:t>
            </a:r>
            <a:endParaRPr lang="en-US" sz="1296" dirty="0"/>
          </a:p>
        </p:txBody>
      </p:sp>
      <p:sp>
        <p:nvSpPr>
          <p:cNvPr id="69" name="STEP 04"/>
          <p:cNvSpPr txBox="1"/>
          <p:nvPr/>
        </p:nvSpPr>
        <p:spPr>
          <a:xfrm>
            <a:off x="1480090" y="8222837"/>
            <a:ext cx="616553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21" kern="0" dirty="0">
                <a:solidFill>
                  <a:srgbClr val="8A5A0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STEP 04</a:t>
            </a:r>
            <a:endParaRPr lang="en-US" sz="864" dirty="0"/>
          </a:p>
        </p:txBody>
      </p:sp>
      <p:sp>
        <p:nvSpPr>
          <p:cNvPr id="70" name="현장의 변화를 만든다"/>
          <p:cNvSpPr txBox="1"/>
          <p:nvPr/>
        </p:nvSpPr>
        <p:spPr>
          <a:xfrm>
            <a:off x="1358170" y="8424577"/>
            <a:ext cx="1649061" cy="2255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36" spc="-54" kern="0" dirty="0">
                <a:solidFill>
                  <a:srgbClr val="0B2147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현장의 변화를 만든다</a:t>
            </a:r>
            <a:endParaRPr lang="en-US" sz="1536" dirty="0"/>
          </a:p>
        </p:txBody>
      </p:sp>
      <p:sp>
        <p:nvSpPr>
          <p:cNvPr id="71" name="공정 개선"/>
          <p:cNvSpPr txBox="1"/>
          <p:nvPr/>
        </p:nvSpPr>
        <p:spPr>
          <a:xfrm>
            <a:off x="5230368" y="7697534"/>
            <a:ext cx="52768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dirty="0">
                <a:solidFill>
                  <a:srgbClr val="8A5A00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공정</a:t>
            </a:r>
            <a:pPr algn="l" indent="0" marL="0">
              <a:buNone/>
            </a:pPr>
            <a:r>
              <a:rPr lang="ko-KR" altLang="en-US" sz="1008" dirty="0">
                <a:solidFill>
                  <a:srgbClr val="8A5A00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 개선</a:t>
            </a:r>
            <a:endParaRPr lang="en-US" sz="1008" dirty="0"/>
          </a:p>
        </p:txBody>
      </p:sp>
      <p:sp>
        <p:nvSpPr>
          <p:cNvPr id="72" name="품질 개선"/>
          <p:cNvSpPr txBox="1"/>
          <p:nvPr/>
        </p:nvSpPr>
        <p:spPr>
          <a:xfrm>
            <a:off x="5230368" y="8136446"/>
            <a:ext cx="52768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dirty="0">
                <a:solidFill>
                  <a:srgbClr val="8A5A00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품질</a:t>
            </a:r>
            <a:pPr algn="l" indent="0" marL="0">
              <a:buNone/>
            </a:pPr>
            <a:r>
              <a:rPr lang="ko-KR" altLang="en-US" sz="1008" dirty="0">
                <a:solidFill>
                  <a:srgbClr val="8A5A00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 개선</a:t>
            </a:r>
            <a:endParaRPr lang="en-US" sz="1008" dirty="0"/>
          </a:p>
        </p:txBody>
      </p:sp>
      <p:sp>
        <p:nvSpPr>
          <p:cNvPr id="73" name="안전 개선"/>
          <p:cNvSpPr txBox="1"/>
          <p:nvPr/>
        </p:nvSpPr>
        <p:spPr>
          <a:xfrm>
            <a:off x="5230368" y="8575358"/>
            <a:ext cx="52768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dirty="0">
                <a:solidFill>
                  <a:srgbClr val="8A5A00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안전</a:t>
            </a:r>
            <a:pPr algn="l" indent="0" marL="0">
              <a:buNone/>
            </a:pPr>
            <a:r>
              <a:rPr lang="ko-KR" altLang="en-US" sz="1008" dirty="0">
                <a:solidFill>
                  <a:srgbClr val="8A5A00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 개선</a:t>
            </a:r>
            <a:endParaRPr lang="en-US" sz="1008" dirty="0"/>
          </a:p>
        </p:txBody>
      </p:sp>
      <p:sp>
        <p:nvSpPr>
          <p:cNvPr id="74" name="생산성 개선"/>
          <p:cNvSpPr txBox="1"/>
          <p:nvPr/>
        </p:nvSpPr>
        <p:spPr>
          <a:xfrm>
            <a:off x="5230368" y="9014270"/>
            <a:ext cx="64036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8" dirty="0">
                <a:solidFill>
                  <a:srgbClr val="8A5A00"/>
                </a:solidFill>
                <a:latin typeface="Paperlogy 8 ExtraBold" pitchFamily="34" charset="0"/>
                <a:ea typeface="Paperlogy 8 ExtraBold" pitchFamily="34" charset="-127"/>
                <a:cs typeface="Paperlogy 8 ExtraBold" pitchFamily="34" charset="-120"/>
              </a:rPr>
              <a:t>생산성</a:t>
            </a:r>
            <a:pPr algn="l" indent="0" marL="0">
              <a:buNone/>
            </a:pPr>
            <a:r>
              <a:rPr lang="ko-KR" altLang="en-US" sz="1008" dirty="0">
                <a:solidFill>
                  <a:srgbClr val="8A5A00"/>
                </a:solidFill>
                <a:latin typeface="Paperlogy 6 SemiBold" pitchFamily="34" charset="0"/>
                <a:ea typeface="Paperlogy 6 SemiBold" pitchFamily="34" charset="-127"/>
                <a:cs typeface="Paperlogy 6 SemiBold" pitchFamily="34" charset="-120"/>
              </a:rPr>
              <a:t> 개선</a:t>
            </a:r>
            <a:endParaRPr lang="en-US" sz="1008" dirty="0"/>
          </a:p>
        </p:txBody>
      </p:sp>
      <p:sp>
        <p:nvSpPr>
          <p:cNvPr id="75" name="KEY MESSAGE"/>
          <p:cNvSpPr txBox="1"/>
          <p:nvPr/>
        </p:nvSpPr>
        <p:spPr>
          <a:xfrm>
            <a:off x="1182624" y="9814941"/>
            <a:ext cx="1065686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138" kern="0" dirty="0">
                <a:solidFill>
                  <a:srgbClr val="8FD3F5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KEY MESSAGE</a:t>
            </a:r>
            <a:endParaRPr lang="en-US" sz="864" dirty="0"/>
          </a:p>
        </p:txBody>
      </p:sp>
      <p:sp>
        <p:nvSpPr>
          <p:cNvPr id="76" name="사람 · 전문성 · 기술을 연결해 현장의 변화를 만들겠습니다"/>
          <p:cNvSpPr txBox="1"/>
          <p:nvPr/>
        </p:nvSpPr>
        <p:spPr>
          <a:xfrm>
            <a:off x="2358676" y="9767697"/>
            <a:ext cx="4477798" cy="2255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36" spc="-46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사람 · 전문성 · 기술을 연결해 </a:t>
            </a:r>
            <a:pPr algn="l" indent="0" marL="0">
              <a:buNone/>
            </a:pPr>
            <a:r>
              <a:rPr lang="ko-KR" altLang="en-US" sz="1536" spc="-46" kern="0" dirty="0">
                <a:solidFill>
                  <a:srgbClr val="FDBB30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현장의 변화</a:t>
            </a:r>
            <a:pPr algn="l" indent="0" marL="0">
              <a:buNone/>
            </a:pPr>
            <a:r>
              <a:rPr lang="ko-KR" altLang="en-US" sz="1536" spc="-46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를 만들겠습니다</a:t>
            </a:r>
            <a:endParaRPr lang="en-US" sz="1536" dirty="0"/>
          </a:p>
        </p:txBody>
      </p:sp>
      <p:sp>
        <p:nvSpPr>
          <p:cNvPr id="77" name="2026년 하반기 신입사원 공개채용"/>
          <p:cNvSpPr txBox="1"/>
          <p:nvPr/>
        </p:nvSpPr>
        <p:spPr>
          <a:xfrm>
            <a:off x="512064" y="10252901"/>
            <a:ext cx="1593127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-9" kern="0" dirty="0">
                <a:solidFill>
                  <a:srgbClr val="8691A5"/>
                </a:solidFill>
                <a:latin typeface="Paperlogy 5 Medium" pitchFamily="34" charset="0"/>
                <a:ea typeface="Paperlogy 5 Medium" pitchFamily="34" charset="-127"/>
                <a:cs typeface="Paperlogy 5 Medium" pitchFamily="34" charset="-120"/>
              </a:rPr>
              <a:t>2026년 하반기 신입사원 공개채용</a:t>
            </a:r>
            <a:endParaRPr lang="en-US" sz="864" dirty="0"/>
          </a:p>
        </p:txBody>
      </p:sp>
      <p:sp>
        <p:nvSpPr>
          <p:cNvPr id="78" name="03 / 03"/>
          <p:cNvSpPr txBox="1"/>
          <p:nvPr/>
        </p:nvSpPr>
        <p:spPr>
          <a:xfrm>
            <a:off x="6618351" y="10252901"/>
            <a:ext cx="477393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64" spc="52" kern="0" dirty="0">
                <a:solidFill>
                  <a:srgbClr val="004B8D"/>
                </a:solidFill>
                <a:latin typeface="Paperlogy 9 Black" pitchFamily="34" charset="0"/>
                <a:ea typeface="Paperlogy 9 Black" pitchFamily="34" charset="-127"/>
                <a:cs typeface="Paperlogy 9 Black" pitchFamily="34" charset="-120"/>
              </a:rPr>
              <a:t>03</a:t>
            </a:r>
            <a:pPr algn="l" indent="0" marL="0">
              <a:buNone/>
            </a:pPr>
            <a:r>
              <a:rPr lang="ko-KR" altLang="en-US" sz="864" spc="52" kern="0" dirty="0">
                <a:solidFill>
                  <a:srgbClr val="4B5568"/>
                </a:solidFill>
                <a:latin typeface="Paperlogy 7 Bold" pitchFamily="34" charset="0"/>
                <a:ea typeface="Paperlogy 7 Bold" pitchFamily="34" charset="-127"/>
                <a:cs typeface="Paperlogy 7 Bold" pitchFamily="34" charset="-120"/>
              </a:rPr>
              <a:t> / 03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aperlogy 8 ExtraBold"/>
        <a:ea typeface="Paperlogy 5 Medium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perlogy 5 Medium"/>
        <a:ea typeface="Paperlogy 5 Medium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현대엔지니어링 PT · 세로형</dc:title>
  <dc:subject>PptxGenJS Presentation</dc:subject>
  <dc:creator>PptxGenJS</dc:creator>
  <cp:lastModifiedBy>PptxGenJS</cp:lastModifiedBy>
  <cp:revision>1</cp:revision>
  <dcterms:created xsi:type="dcterms:W3CDTF">2026-10-08T13:03:02Z</dcterms:created>
  <dcterms:modified xsi:type="dcterms:W3CDTF">2026-10-08T13:03:02Z</dcterms:modified>
</cp:coreProperties>
</file>