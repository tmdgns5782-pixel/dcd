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학부 시절 여러 팀 프로젝트를 수행하며 처음에는 각자 맡은 역할만 잘 수행하는 것이 협업이라고 생각했습니다.
그러나 프로젝트를 거듭하며 개인의 역할 수행만큼 팀이 같은 목표와 방향을 공유하는 것이 중요함을 깨달았습니다.
학생 BIM 경진대회에서 이를 실천했습니다.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‘우리’는 다양한 사람과 전문성의 연결, ‘기술’은 새로운 가치를 만들어 미래 사업으로 연결하는 원동력입니다.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제가 만들고 싶은 현장의 변화는 거창한 기술 혁신만을 의미하지 않습니다. 공정 간 간섭을 사전에 발견해 재작업을 줄이고, 반복 업무를 효율화해 현장 구성원들이 본연의 업무에 집중할 수 있도록 만드는 작은 개선부터 시작하겠습니다.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image" Target="../media/image-1-6.png"/><Relationship Id="rId7" Type="http://schemas.openxmlformats.org/officeDocument/2006/relationships/image" Target="../media/image-1-7.png"/><Relationship Id="rId8" Type="http://schemas.openxmlformats.org/officeDocument/2006/relationships/image" Target="../media/image-1-8.png"/><Relationship Id="rId9" Type="http://schemas.openxmlformats.org/officeDocument/2006/relationships/image" Target="../media/image-1-9.png"/><Relationship Id="rId10" Type="http://schemas.openxmlformats.org/officeDocument/2006/relationships/image" Target="../media/image-1-10.png"/><Relationship Id="rId11" Type="http://schemas.openxmlformats.org/officeDocument/2006/relationships/image" Target="../media/image-1-11.png"/><Relationship Id="rId12" Type="http://schemas.openxmlformats.org/officeDocument/2006/relationships/image" Target="../media/image-1-12.png"/><Relationship Id="rId13" Type="http://schemas.openxmlformats.org/officeDocument/2006/relationships/image" Target="../media/image-1-13.png"/><Relationship Id="rId14" Type="http://schemas.openxmlformats.org/officeDocument/2006/relationships/image" Target="../media/image-1-14.png"/><Relationship Id="rId15" Type="http://schemas.openxmlformats.org/officeDocument/2006/relationships/image" Target="../media/image-1-15.png"/><Relationship Id="rId16" Type="http://schemas.openxmlformats.org/officeDocument/2006/relationships/image" Target="../media/image-1-16.png"/><Relationship Id="rId17" Type="http://schemas.openxmlformats.org/officeDocument/2006/relationships/image" Target="../media/image-1-17.png"/><Relationship Id="rId18" Type="http://schemas.openxmlformats.org/officeDocument/2006/relationships/image" Target="../media/image-1-18.png"/><Relationship Id="rId19" Type="http://schemas.openxmlformats.org/officeDocument/2006/relationships/image" Target="../media/image-1-19.png"/><Relationship Id="rId20" Type="http://schemas.openxmlformats.org/officeDocument/2006/relationships/slideLayout" Target="../slideLayouts/slideLayout1.xml"/><Relationship Id="rId21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image" Target="../media/image-2-7.png"/><Relationship Id="rId8" Type="http://schemas.openxmlformats.org/officeDocument/2006/relationships/image" Target="../media/image-2-8.png"/><Relationship Id="rId9" Type="http://schemas.openxmlformats.org/officeDocument/2006/relationships/image" Target="../media/image-2-9.png"/><Relationship Id="rId10" Type="http://schemas.openxmlformats.org/officeDocument/2006/relationships/image" Target="../media/image-2-10.png"/><Relationship Id="rId11" Type="http://schemas.openxmlformats.org/officeDocument/2006/relationships/image" Target="../media/image-2-11.png"/><Relationship Id="rId12" Type="http://schemas.openxmlformats.org/officeDocument/2006/relationships/image" Target="../media/image-2-12.png"/><Relationship Id="rId13" Type="http://schemas.openxmlformats.org/officeDocument/2006/relationships/image" Target="../media/image-2-13.png"/><Relationship Id="rId14" Type="http://schemas.openxmlformats.org/officeDocument/2006/relationships/image" Target="../media/image-2-14.png"/><Relationship Id="rId15" Type="http://schemas.openxmlformats.org/officeDocument/2006/relationships/slideLayout" Target="../slideLayouts/slideLayout1.xml"/><Relationship Id="rId1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image" Target="../media/image-3-7.png"/><Relationship Id="rId8" Type="http://schemas.openxmlformats.org/officeDocument/2006/relationships/image" Target="../media/image-3-8.png"/><Relationship Id="rId9" Type="http://schemas.openxmlformats.org/officeDocument/2006/relationships/image" Target="../media/image-3-9.png"/><Relationship Id="rId10" Type="http://schemas.openxmlformats.org/officeDocument/2006/relationships/image" Target="../media/image-3-10.png"/><Relationship Id="rId11" Type="http://schemas.openxmlformats.org/officeDocument/2006/relationships/image" Target="../media/image-3-11.png"/><Relationship Id="rId12" Type="http://schemas.openxmlformats.org/officeDocument/2006/relationships/image" Target="../media/image-3-12.png"/><Relationship Id="rId13" Type="http://schemas.openxmlformats.org/officeDocument/2006/relationships/image" Target="../media/image-3-13.png"/><Relationship Id="rId14" Type="http://schemas.openxmlformats.org/officeDocument/2006/relationships/image" Target="../media/image-3-14.png"/><Relationship Id="rId15" Type="http://schemas.openxmlformats.org/officeDocument/2006/relationships/image" Target="../media/image-3-15.png"/><Relationship Id="rId16" Type="http://schemas.openxmlformats.org/officeDocument/2006/relationships/image" Target="../media/image-3-16.png"/><Relationship Id="rId17" Type="http://schemas.openxmlformats.org/officeDocument/2006/relationships/image" Target="../media/image-3-17.png"/><Relationship Id="rId18" Type="http://schemas.openxmlformats.org/officeDocument/2006/relationships/image" Target="../media/image-3-18.png"/><Relationship Id="rId19" Type="http://schemas.openxmlformats.org/officeDocument/2006/relationships/image" Target="../media/image-3-19.png"/><Relationship Id="rId20" Type="http://schemas.openxmlformats.org/officeDocument/2006/relationships/image" Target="../media/image-3-20.png"/><Relationship Id="rId21" Type="http://schemas.openxmlformats.org/officeDocument/2006/relationships/image" Target="../media/image-3-21.png"/><Relationship Id="rId22" Type="http://schemas.openxmlformats.org/officeDocument/2006/relationships/image" Target="../media/image-3-22.png"/><Relationship Id="rId23" Type="http://schemas.openxmlformats.org/officeDocument/2006/relationships/slideLayout" Target="../slideLayouts/slideLayout1.xml"/><Relationship Id="rId24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"/>
          <p:cNvSpPr/>
          <p:nvPr/>
        </p:nvSpPr>
        <p:spPr>
          <a:xfrm>
            <a:off x="609600" y="475853"/>
            <a:ext cx="63500" cy="63500"/>
          </a:xfrm>
          <a:prstGeom prst="ellipse">
            <a:avLst/>
          </a:prstGeom>
          <a:solidFill>
            <a:srgbClr val="00A94F"/>
          </a:solidFill>
          <a:ln/>
        </p:spPr>
      </p:sp>
      <p:sp>
        <p:nvSpPr>
          <p:cNvPr id="4" name="b"/>
          <p:cNvSpPr/>
          <p:nvPr/>
        </p:nvSpPr>
        <p:spPr>
          <a:xfrm>
            <a:off x="673100" y="501253"/>
            <a:ext cx="88900" cy="12700"/>
          </a:xfrm>
          <a:prstGeom prst="rect">
            <a:avLst/>
          </a:prstGeom>
          <a:solidFill>
            <a:srgbClr val="C3CEDD"/>
          </a:solidFill>
          <a:ln/>
        </p:spPr>
      </p:sp>
      <p:sp>
        <p:nvSpPr>
          <p:cNvPr id="5" name="i"/>
          <p:cNvSpPr/>
          <p:nvPr/>
        </p:nvSpPr>
        <p:spPr>
          <a:xfrm>
            <a:off x="762000" y="475853"/>
            <a:ext cx="63500" cy="63500"/>
          </a:xfrm>
          <a:prstGeom prst="ellipse">
            <a:avLst/>
          </a:prstGeom>
          <a:solidFill>
            <a:srgbClr val="004B8D"/>
          </a:solidFill>
          <a:ln/>
        </p:spPr>
      </p:sp>
      <p:sp>
        <p:nvSpPr>
          <p:cNvPr id="6" name="b"/>
          <p:cNvSpPr/>
          <p:nvPr/>
        </p:nvSpPr>
        <p:spPr>
          <a:xfrm>
            <a:off x="825500" y="501253"/>
            <a:ext cx="88900" cy="12700"/>
          </a:xfrm>
          <a:prstGeom prst="rect">
            <a:avLst/>
          </a:prstGeom>
          <a:solidFill>
            <a:srgbClr val="C3CEDD"/>
          </a:solidFill>
          <a:ln/>
        </p:spPr>
      </p:sp>
      <p:sp>
        <p:nvSpPr>
          <p:cNvPr id="7" name="i"/>
          <p:cNvSpPr/>
          <p:nvPr/>
        </p:nvSpPr>
        <p:spPr>
          <a:xfrm>
            <a:off x="914400" y="475853"/>
            <a:ext cx="63500" cy="63500"/>
          </a:xfrm>
          <a:prstGeom prst="ellipse">
            <a:avLst/>
          </a:prstGeom>
          <a:solidFill>
            <a:srgbClr val="FDBB30"/>
          </a:solidFill>
          <a:ln/>
        </p:spPr>
      </p:sp>
      <p:pic>
        <p:nvPicPr>
          <p:cNvPr id="8" name="img" descr="im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3935" y="415462"/>
            <a:ext cx="1526117" cy="268817"/>
          </a:xfrm>
          <a:prstGeom prst="rect">
            <a:avLst/>
          </a:prstGeom>
        </p:spPr>
      </p:pic>
      <p:sp>
        <p:nvSpPr>
          <p:cNvPr id="9" name="i"/>
          <p:cNvSpPr/>
          <p:nvPr/>
        </p:nvSpPr>
        <p:spPr>
          <a:xfrm>
            <a:off x="4973042" y="1934964"/>
            <a:ext cx="1479550" cy="12700"/>
          </a:xfrm>
          <a:prstGeom prst="rect">
            <a:avLst/>
          </a:prstGeom>
          <a:solidFill>
            <a:srgbClr val="C3CEDD"/>
          </a:solidFill>
          <a:ln/>
        </p:spPr>
      </p:sp>
      <p:pic>
        <p:nvPicPr>
          <p:cNvPr id="10" name="svg" descr="sv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39376" y="1884164"/>
            <a:ext cx="118533" cy="118533"/>
          </a:xfrm>
          <a:prstGeom prst="rect">
            <a:avLst/>
          </a:prstGeom>
        </p:spPr>
      </p:pic>
      <p:sp>
        <p:nvSpPr>
          <p:cNvPr id="11" name="i"/>
          <p:cNvSpPr/>
          <p:nvPr/>
        </p:nvSpPr>
        <p:spPr>
          <a:xfrm>
            <a:off x="7601248" y="1934964"/>
            <a:ext cx="1479550" cy="12700"/>
          </a:xfrm>
          <a:prstGeom prst="rect">
            <a:avLst/>
          </a:prstGeom>
          <a:solidFill>
            <a:srgbClr val="C3CEDD"/>
          </a:solidFill>
          <a:ln/>
        </p:spPr>
      </p:sp>
      <p:pic>
        <p:nvPicPr>
          <p:cNvPr id="12" name="p1-head" descr="p1-hea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95614" y="1907447"/>
            <a:ext cx="46567" cy="71967"/>
          </a:xfrm>
          <a:prstGeom prst="rect">
            <a:avLst/>
          </a:prstGeom>
        </p:spPr>
      </p:pic>
      <p:sp>
        <p:nvSpPr>
          <p:cNvPr id="13" name="p1-rule"/>
          <p:cNvSpPr/>
          <p:nvPr/>
        </p:nvSpPr>
        <p:spPr>
          <a:xfrm>
            <a:off x="609600" y="2157214"/>
            <a:ext cx="10972800" cy="6350"/>
          </a:xfrm>
          <a:prstGeom prst="roundRect">
            <a:avLst/>
          </a:prstGeom>
          <a:solidFill>
            <a:srgbClr val="D8E0EB"/>
          </a:solidFill>
          <a:ln/>
        </p:spPr>
      </p:sp>
      <p:pic>
        <p:nvPicPr>
          <p:cNvPr id="14" name="svg" descr="sv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0183" y="2894178"/>
            <a:ext cx="105833" cy="105833"/>
          </a:xfrm>
          <a:prstGeom prst="rect">
            <a:avLst/>
          </a:prstGeom>
        </p:spPr>
      </p:pic>
      <p:sp>
        <p:nvSpPr>
          <p:cNvPr id="15" name="p1-dot g"/>
          <p:cNvSpPr/>
          <p:nvPr/>
        </p:nvSpPr>
        <p:spPr>
          <a:xfrm>
            <a:off x="609600" y="3176290"/>
            <a:ext cx="63500" cy="63500"/>
          </a:xfrm>
          <a:prstGeom prst="ellipse">
            <a:avLst/>
          </a:prstGeom>
          <a:solidFill>
            <a:srgbClr val="00A94F"/>
          </a:solidFill>
          <a:ln/>
        </p:spPr>
      </p:sp>
      <p:sp>
        <p:nvSpPr>
          <p:cNvPr id="16" name="p1-dot g"/>
          <p:cNvSpPr/>
          <p:nvPr/>
        </p:nvSpPr>
        <p:spPr>
          <a:xfrm>
            <a:off x="2413000" y="3176290"/>
            <a:ext cx="63500" cy="63500"/>
          </a:xfrm>
          <a:prstGeom prst="ellipse">
            <a:avLst/>
          </a:prstGeom>
          <a:solidFill>
            <a:srgbClr val="00A94F"/>
          </a:solidFill>
          <a:ln/>
        </p:spPr>
      </p:sp>
      <p:pic>
        <p:nvPicPr>
          <p:cNvPr id="17" name="p1-proc" descr="p1-proc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9600" y="3398077"/>
            <a:ext cx="3327400" cy="368300"/>
          </a:xfrm>
          <a:prstGeom prst="rect">
            <a:avLst/>
          </a:prstGeom>
        </p:spPr>
      </p:pic>
      <p:pic>
        <p:nvPicPr>
          <p:cNvPr id="18" name="svg" descr="sv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342323" y="3545847"/>
            <a:ext cx="129117" cy="71967"/>
          </a:xfrm>
          <a:prstGeom prst="rect">
            <a:avLst/>
          </a:prstGeom>
        </p:spPr>
      </p:pic>
      <p:sp>
        <p:nvSpPr>
          <p:cNvPr id="19" name="b"/>
          <p:cNvSpPr/>
          <p:nvPr/>
        </p:nvSpPr>
        <p:spPr>
          <a:xfrm>
            <a:off x="615950" y="3871516"/>
            <a:ext cx="165100" cy="165100"/>
          </a:xfrm>
          <a:prstGeom prst="ellipse">
            <a:avLst/>
          </a:prstGeom>
          <a:ln w="12700">
            <a:solidFill>
              <a:srgbClr val="004B8D"/>
            </a:solidFill>
            <a:prstDash val="solid"/>
          </a:ln>
        </p:spPr>
      </p:sp>
      <p:sp>
        <p:nvSpPr>
          <p:cNvPr id="20" name="b"/>
          <p:cNvSpPr/>
          <p:nvPr/>
        </p:nvSpPr>
        <p:spPr>
          <a:xfrm>
            <a:off x="2419350" y="3871516"/>
            <a:ext cx="165100" cy="165100"/>
          </a:xfrm>
          <a:prstGeom prst="ellipse">
            <a:avLst/>
          </a:prstGeom>
          <a:ln w="12700">
            <a:solidFill>
              <a:srgbClr val="004B8D"/>
            </a:solidFill>
            <a:prstDash val="solid"/>
          </a:ln>
        </p:spPr>
      </p:sp>
      <p:sp>
        <p:nvSpPr>
          <p:cNvPr id="21" name="p1-topic"/>
          <p:cNvSpPr/>
          <p:nvPr/>
        </p:nvSpPr>
        <p:spPr>
          <a:xfrm>
            <a:off x="609600" y="4652863"/>
            <a:ext cx="3327400" cy="1135261"/>
          </a:xfrm>
          <a:prstGeom prst="roundRect">
            <a:avLst>
              <a:gd name="adj" fmla="val 7831"/>
            </a:avLst>
          </a:prstGeom>
          <a:solidFill>
            <a:srgbClr val="0B2147"/>
          </a:solidFill>
          <a:ln/>
        </p:spPr>
      </p:sp>
      <p:pic>
        <p:nvPicPr>
          <p:cNvPr id="22" name="p1-col" descr="p1-col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089400" y="2508581"/>
            <a:ext cx="6350" cy="3282950"/>
          </a:xfrm>
          <a:prstGeom prst="rect">
            <a:avLst/>
          </a:prstGeom>
        </p:spPr>
      </p:pic>
      <p:pic>
        <p:nvPicPr>
          <p:cNvPr id="23" name="svg" descr="sv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243917" y="2859253"/>
            <a:ext cx="948267" cy="948267"/>
          </a:xfrm>
          <a:prstGeom prst="rect">
            <a:avLst/>
          </a:prstGeom>
        </p:spPr>
      </p:pic>
      <p:pic>
        <p:nvPicPr>
          <p:cNvPr id="24" name="svg" descr="sv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384800" y="3276137"/>
            <a:ext cx="114300" cy="114300"/>
          </a:xfrm>
          <a:prstGeom prst="rect">
            <a:avLst/>
          </a:prstGeom>
        </p:spPr>
      </p:pic>
      <p:pic>
        <p:nvPicPr>
          <p:cNvPr id="25" name="p1-roles" descr="p1-roles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248150" y="3917586"/>
            <a:ext cx="4616450" cy="6350"/>
          </a:xfrm>
          <a:prstGeom prst="rect">
            <a:avLst/>
          </a:prstGeom>
        </p:spPr>
      </p:pic>
      <p:pic>
        <p:nvPicPr>
          <p:cNvPr id="26" name="li" descr="li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248150" y="4489086"/>
            <a:ext cx="4616450" cy="6350"/>
          </a:xfrm>
          <a:prstGeom prst="rect">
            <a:avLst/>
          </a:prstGeom>
        </p:spPr>
      </p:pic>
      <p:sp>
        <p:nvSpPr>
          <p:cNvPr id="27" name="p1-dot g"/>
          <p:cNvSpPr/>
          <p:nvPr/>
        </p:nvSpPr>
        <p:spPr>
          <a:xfrm>
            <a:off x="4248150" y="4174530"/>
            <a:ext cx="63500" cy="63500"/>
          </a:xfrm>
          <a:prstGeom prst="ellipse">
            <a:avLst/>
          </a:prstGeom>
          <a:solidFill>
            <a:srgbClr val="00A94F"/>
          </a:solidFill>
          <a:ln/>
        </p:spPr>
      </p:sp>
      <p:pic>
        <p:nvPicPr>
          <p:cNvPr id="28" name="li" descr="li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248150" y="4869623"/>
            <a:ext cx="4616450" cy="6350"/>
          </a:xfrm>
          <a:prstGeom prst="rect">
            <a:avLst/>
          </a:prstGeom>
        </p:spPr>
      </p:pic>
      <p:sp>
        <p:nvSpPr>
          <p:cNvPr id="29" name="p1-dot g"/>
          <p:cNvSpPr/>
          <p:nvPr/>
        </p:nvSpPr>
        <p:spPr>
          <a:xfrm>
            <a:off x="4248150" y="4651970"/>
            <a:ext cx="63500" cy="63500"/>
          </a:xfrm>
          <a:prstGeom prst="ellipse">
            <a:avLst/>
          </a:prstGeom>
          <a:solidFill>
            <a:srgbClr val="00A94F"/>
          </a:solidFill>
          <a:ln/>
        </p:spPr>
      </p:sp>
      <p:pic>
        <p:nvPicPr>
          <p:cNvPr id="30" name="li" descr="li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248150" y="5251450"/>
            <a:ext cx="4616450" cy="6350"/>
          </a:xfrm>
          <a:prstGeom prst="rect">
            <a:avLst/>
          </a:prstGeom>
        </p:spPr>
      </p:pic>
      <p:sp>
        <p:nvSpPr>
          <p:cNvPr id="31" name="p1-dot g"/>
          <p:cNvSpPr/>
          <p:nvPr/>
        </p:nvSpPr>
        <p:spPr>
          <a:xfrm>
            <a:off x="4248150" y="5031680"/>
            <a:ext cx="63500" cy="63500"/>
          </a:xfrm>
          <a:prstGeom prst="ellipse">
            <a:avLst/>
          </a:prstGeom>
          <a:solidFill>
            <a:srgbClr val="00A94F"/>
          </a:solidFill>
          <a:ln/>
        </p:spPr>
      </p:sp>
      <p:pic>
        <p:nvPicPr>
          <p:cNvPr id="32" name="li" descr="li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248150" y="5633277"/>
            <a:ext cx="4616450" cy="6350"/>
          </a:xfrm>
          <a:prstGeom prst="rect">
            <a:avLst/>
          </a:prstGeom>
        </p:spPr>
      </p:pic>
      <p:sp>
        <p:nvSpPr>
          <p:cNvPr id="33" name="p1-dot g"/>
          <p:cNvSpPr/>
          <p:nvPr/>
        </p:nvSpPr>
        <p:spPr>
          <a:xfrm>
            <a:off x="4248150" y="5411391"/>
            <a:ext cx="63500" cy="63500"/>
          </a:xfrm>
          <a:prstGeom prst="ellipse">
            <a:avLst/>
          </a:prstGeom>
          <a:solidFill>
            <a:srgbClr val="00A94F"/>
          </a:solidFill>
          <a:ln/>
        </p:spPr>
      </p:sp>
      <p:pic>
        <p:nvPicPr>
          <p:cNvPr id="34" name="p1-col" descr="p1-col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9017000" y="2508581"/>
            <a:ext cx="6350" cy="3282950"/>
          </a:xfrm>
          <a:prstGeom prst="rect">
            <a:avLst/>
          </a:prstGeom>
        </p:spPr>
      </p:pic>
      <p:sp>
        <p:nvSpPr>
          <p:cNvPr id="35" name="p1-video"/>
          <p:cNvSpPr/>
          <p:nvPr/>
        </p:nvSpPr>
        <p:spPr>
          <a:xfrm>
            <a:off x="9178925" y="2864545"/>
            <a:ext cx="1898650" cy="1066800"/>
          </a:xfrm>
          <a:prstGeom prst="roundRect">
            <a:avLst>
              <a:gd name="adj" fmla="val 5655"/>
            </a:avLst>
          </a:prstGeom>
          <a:ln w="6350">
            <a:solidFill>
              <a:srgbClr val="D8E0EB"/>
            </a:solidFill>
            <a:prstDash val="solid"/>
          </a:ln>
        </p:spPr>
      </p:sp>
      <p:pic>
        <p:nvPicPr>
          <p:cNvPr id="36" name="img" descr="im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9182100" y="2869836"/>
            <a:ext cx="1892300" cy="1060450"/>
          </a:xfrm>
          <a:prstGeom prst="rect">
            <a:avLst/>
          </a:prstGeom>
        </p:spPr>
      </p:pic>
      <p:sp>
        <p:nvSpPr>
          <p:cNvPr id="37" name="p1-play"/>
          <p:cNvSpPr/>
          <p:nvPr/>
        </p:nvSpPr>
        <p:spPr>
          <a:xfrm>
            <a:off x="9988550" y="3258245"/>
            <a:ext cx="279400" cy="279400"/>
          </a:xfrm>
          <a:prstGeom prst="ellipse">
            <a:avLst/>
          </a:prstGeom>
          <a:solidFill>
            <a:srgbClr val="0B2147">
              <a:alpha val="75000"/>
            </a:srgbClr>
          </a:solidFill>
          <a:ln/>
        </p:spPr>
      </p:sp>
      <p:pic>
        <p:nvPicPr>
          <p:cNvPr id="38" name="svg" descr="sv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10112375" y="3355611"/>
            <a:ext cx="69850" cy="84667"/>
          </a:xfrm>
          <a:prstGeom prst="rect">
            <a:avLst/>
          </a:prstGeom>
        </p:spPr>
      </p:pic>
      <p:pic>
        <p:nvPicPr>
          <p:cNvPr id="39" name="p1-arrow" descr="p1-arrow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10088033" y="4355736"/>
            <a:ext cx="80433" cy="186267"/>
          </a:xfrm>
          <a:prstGeom prst="rect">
            <a:avLst/>
          </a:prstGeom>
        </p:spPr>
      </p:pic>
      <p:pic>
        <p:nvPicPr>
          <p:cNvPr id="40" name="svg" descr="sv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9209617" y="4719803"/>
            <a:ext cx="211667" cy="306917"/>
          </a:xfrm>
          <a:prstGeom prst="rect">
            <a:avLst/>
          </a:prstGeom>
        </p:spPr>
      </p:pic>
      <p:sp>
        <p:nvSpPr>
          <p:cNvPr id="41" name="key"/>
          <p:cNvSpPr/>
          <p:nvPr/>
        </p:nvSpPr>
        <p:spPr>
          <a:xfrm>
            <a:off x="609600" y="5915124"/>
            <a:ext cx="10972800" cy="434280"/>
          </a:xfrm>
          <a:prstGeom prst="roundRect">
            <a:avLst>
              <a:gd name="adj" fmla="val 32168"/>
            </a:avLst>
          </a:prstGeom>
          <a:solidFill>
            <a:srgbClr val="0B2147"/>
          </a:solidFill>
          <a:ln/>
        </p:spPr>
      </p:sp>
      <p:sp>
        <p:nvSpPr>
          <p:cNvPr id="42" name="i"/>
          <p:cNvSpPr/>
          <p:nvPr/>
        </p:nvSpPr>
        <p:spPr>
          <a:xfrm>
            <a:off x="838200" y="6100465"/>
            <a:ext cx="63500" cy="63500"/>
          </a:xfrm>
          <a:prstGeom prst="ellipse">
            <a:avLst/>
          </a:prstGeom>
          <a:solidFill>
            <a:srgbClr val="00A94F"/>
          </a:solidFill>
          <a:ln/>
        </p:spPr>
      </p:sp>
      <p:sp>
        <p:nvSpPr>
          <p:cNvPr id="43" name="b"/>
          <p:cNvSpPr/>
          <p:nvPr/>
        </p:nvSpPr>
        <p:spPr>
          <a:xfrm>
            <a:off x="901700" y="6125865"/>
            <a:ext cx="88900" cy="12700"/>
          </a:xfrm>
          <a:prstGeom prst="rect">
            <a:avLst/>
          </a:prstGeom>
          <a:solidFill>
            <a:srgbClr val="C3CEDD"/>
          </a:solidFill>
          <a:ln/>
        </p:spPr>
      </p:sp>
      <p:sp>
        <p:nvSpPr>
          <p:cNvPr id="44" name="i"/>
          <p:cNvSpPr/>
          <p:nvPr/>
        </p:nvSpPr>
        <p:spPr>
          <a:xfrm>
            <a:off x="990600" y="6100465"/>
            <a:ext cx="63500" cy="63500"/>
          </a:xfrm>
          <a:prstGeom prst="ellipse">
            <a:avLst/>
          </a:prstGeom>
          <a:solidFill>
            <a:srgbClr val="004B8D"/>
          </a:solidFill>
          <a:ln/>
        </p:spPr>
      </p:sp>
      <p:sp>
        <p:nvSpPr>
          <p:cNvPr id="45" name="b"/>
          <p:cNvSpPr/>
          <p:nvPr/>
        </p:nvSpPr>
        <p:spPr>
          <a:xfrm>
            <a:off x="1054100" y="6125865"/>
            <a:ext cx="88900" cy="12700"/>
          </a:xfrm>
          <a:prstGeom prst="rect">
            <a:avLst/>
          </a:prstGeom>
          <a:solidFill>
            <a:srgbClr val="C3CEDD"/>
          </a:solidFill>
          <a:ln/>
        </p:spPr>
      </p:sp>
      <p:sp>
        <p:nvSpPr>
          <p:cNvPr id="46" name="i"/>
          <p:cNvSpPr/>
          <p:nvPr/>
        </p:nvSpPr>
        <p:spPr>
          <a:xfrm>
            <a:off x="1143000" y="6100465"/>
            <a:ext cx="63500" cy="63500"/>
          </a:xfrm>
          <a:prstGeom prst="ellipse">
            <a:avLst/>
          </a:prstGeom>
          <a:solidFill>
            <a:srgbClr val="FDBB30"/>
          </a:solidFill>
          <a:ln/>
        </p:spPr>
      </p:sp>
      <p:sp>
        <p:nvSpPr>
          <p:cNvPr id="47" name="01"/>
          <p:cNvSpPr txBox="1"/>
          <p:nvPr/>
        </p:nvSpPr>
        <p:spPr>
          <a:xfrm>
            <a:off x="1066800" y="419100"/>
            <a:ext cx="21848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100" spc="22" kern="0" dirty="0">
                <a:solidFill>
                  <a:srgbClr val="004B8D"/>
                </a:solidFill>
                <a:latin typeface="Pretendard ExtraBold" pitchFamily="34" charset="0"/>
                <a:ea typeface="Pretendard ExtraBold" pitchFamily="34" charset="-127"/>
                <a:cs typeface="Pretendard ExtraBold" pitchFamily="34" charset="-120"/>
              </a:rPr>
              <a:t>01</a:t>
            </a:r>
            <a:endParaRPr lang="en-US" sz="1100" dirty="0"/>
          </a:p>
        </p:txBody>
      </p:sp>
      <p:sp>
        <p:nvSpPr>
          <p:cNvPr id="48" name="PT 주제 1. 가장 중요하게 생각하는 가치와 실천 경험"/>
          <p:cNvSpPr txBox="1"/>
          <p:nvPr/>
        </p:nvSpPr>
        <p:spPr>
          <a:xfrm>
            <a:off x="1323380" y="419100"/>
            <a:ext cx="2951228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100" spc="-11" kern="0" dirty="0">
                <a:solidFill>
                  <a:srgbClr val="6A7487"/>
                </a:solidFill>
                <a:latin typeface="Pretendard SemiBold" pitchFamily="34" charset="0"/>
                <a:ea typeface="Pretendard SemiBold" pitchFamily="34" charset="-127"/>
                <a:cs typeface="Pretendard SemiBold" pitchFamily="34" charset="-120"/>
              </a:rPr>
              <a:t>PT 주제 1. 가장 중요하게 생각하는 가치와 실천 경험</a:t>
            </a:r>
            <a:endParaRPr lang="en-US" sz="1100" dirty="0"/>
          </a:p>
        </p:txBody>
      </p:sp>
      <p:sp>
        <p:nvSpPr>
          <p:cNvPr id="49" name="제가 가장 중요하게 생각하는 가치는"/>
          <p:cNvSpPr txBox="1"/>
          <p:nvPr/>
        </p:nvSpPr>
        <p:spPr>
          <a:xfrm>
            <a:off x="609600" y="774005"/>
            <a:ext cx="2914944" cy="2413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600" spc="-32" kern="0" dirty="0">
                <a:solidFill>
                  <a:srgbClr val="3D4757"/>
                </a:solidFill>
                <a:latin typeface="Pretendard SemiBold" pitchFamily="34" charset="0"/>
                <a:ea typeface="Pretendard SemiBold" pitchFamily="34" charset="-127"/>
                <a:cs typeface="Pretendard SemiBold" pitchFamily="34" charset="-120"/>
              </a:rPr>
              <a:t>제가 가장 중요하게 생각하는 가치는</a:t>
            </a:r>
            <a:endParaRPr lang="en-US" sz="1600" dirty="0"/>
          </a:p>
        </p:txBody>
      </p:sp>
      <p:sp>
        <p:nvSpPr>
          <p:cNvPr id="50" name="공동의 목표를 공유하며 함께 성과를 만드는 협업입니다."/>
          <p:cNvSpPr txBox="1"/>
          <p:nvPr/>
        </p:nvSpPr>
        <p:spPr>
          <a:xfrm>
            <a:off x="609600" y="1100336"/>
            <a:ext cx="7713095" cy="425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2800" spc="-98" kern="0" dirty="0">
                <a:solidFill>
                  <a:srgbClr val="004B8D"/>
                </a:solidFill>
                <a:latin typeface="Pretendard ExtraBold" pitchFamily="34" charset="0"/>
                <a:ea typeface="Pretendard ExtraBold" pitchFamily="34" charset="-127"/>
                <a:cs typeface="Pretendard ExtraBold" pitchFamily="34" charset="-120"/>
              </a:rPr>
              <a:t>공동의 목표</a:t>
            </a:r>
            <a:pPr algn="l" indent="0" marL="0">
              <a:buNone/>
            </a:pPr>
            <a:r>
              <a:rPr lang="ko-KR" altLang="en-US" sz="2800" spc="-98" kern="0" dirty="0">
                <a:solidFill>
                  <a:srgbClr val="0B2147"/>
                </a:solidFill>
                <a:latin typeface="Pretendard ExtraBold" pitchFamily="34" charset="0"/>
                <a:ea typeface="Pretendard ExtraBold" pitchFamily="34" charset="-127"/>
                <a:cs typeface="Pretendard ExtraBold" pitchFamily="34" charset="-120"/>
              </a:rPr>
              <a:t>를 공유하며 함께 성과를 만드는 </a:t>
            </a:r>
            <a:pPr algn="l" indent="0" marL="0">
              <a:buNone/>
            </a:pPr>
            <a:r>
              <a:rPr lang="ko-KR" altLang="en-US" sz="2800" spc="-98" kern="0" dirty="0">
                <a:solidFill>
                  <a:srgbClr val="004B8D"/>
                </a:solidFill>
                <a:latin typeface="Pretendard ExtraBold" pitchFamily="34" charset="0"/>
                <a:ea typeface="Pretendard ExtraBold" pitchFamily="34" charset="-127"/>
                <a:cs typeface="Pretendard ExtraBold" pitchFamily="34" charset="-120"/>
              </a:rPr>
              <a:t>협업</a:t>
            </a:r>
            <a:pPr algn="l" indent="0" marL="0">
              <a:buNone/>
            </a:pPr>
            <a:r>
              <a:rPr lang="ko-KR" altLang="en-US" sz="2800" spc="-98" kern="0" dirty="0">
                <a:solidFill>
                  <a:srgbClr val="0B2147"/>
                </a:solidFill>
                <a:latin typeface="Pretendard ExtraBold" pitchFamily="34" charset="0"/>
                <a:ea typeface="Pretendard ExtraBold" pitchFamily="34" charset="-127"/>
                <a:cs typeface="Pretendard ExtraBold" pitchFamily="34" charset="-120"/>
              </a:rPr>
              <a:t>입니다.</a:t>
            </a:r>
            <a:endParaRPr lang="en-US" sz="2800" dirty="0"/>
          </a:p>
        </p:txBody>
      </p:sp>
      <p:sp>
        <p:nvSpPr>
          <p:cNvPr id="51" name="가치관 형성 배경 | 협업을 대하는 태도"/>
          <p:cNvSpPr txBox="1"/>
          <p:nvPr/>
        </p:nvSpPr>
        <p:spPr>
          <a:xfrm>
            <a:off x="609600" y="1865114"/>
            <a:ext cx="1951149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000" b="1" spc="-10" kern="0" dirty="0">
                <a:solidFill>
                  <a:srgbClr val="0B2147"/>
                </a:solidFill>
                <a:latin typeface="Pretendard" pitchFamily="34" charset="0"/>
                <a:ea typeface="Pretendard" pitchFamily="34" charset="-127"/>
                <a:cs typeface="Pretendard" pitchFamily="34" charset="-120"/>
              </a:rPr>
              <a:t>가치관 형성 배경</a:t>
            </a:r>
            <a:pPr algn="l" indent="0" marL="0">
              <a:buNone/>
            </a:pPr>
            <a:r>
              <a:rPr lang="ko-KR" altLang="en-US" sz="1000" spc="-10" kern="0" dirty="0">
                <a:solidFill>
                  <a:srgbClr val="3D4757"/>
                </a:solidFill>
                <a:latin typeface="Pretendard SemiBold" pitchFamily="34" charset="0"/>
                <a:ea typeface="Pretendard SemiBold" pitchFamily="34" charset="-127"/>
                <a:cs typeface="Pretendard SemiBold" pitchFamily="34" charset="-120"/>
              </a:rPr>
              <a:t> | 협업을 대하는 태도</a:t>
            </a:r>
            <a:endParaRPr lang="en-US" sz="1000" dirty="0"/>
          </a:p>
        </p:txBody>
      </p:sp>
      <p:sp>
        <p:nvSpPr>
          <p:cNvPr id="52" name="BEFORE"/>
          <p:cNvSpPr txBox="1"/>
          <p:nvPr/>
        </p:nvSpPr>
        <p:spPr>
          <a:xfrm>
            <a:off x="2678906" y="1871464"/>
            <a:ext cx="563066" cy="1333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900" b="1" spc="108" kern="0" dirty="0">
                <a:solidFill>
                  <a:srgbClr val="6A7487"/>
                </a:solidFill>
                <a:latin typeface="Pretendard" pitchFamily="34" charset="0"/>
                <a:ea typeface="Pretendard" pitchFamily="34" charset="-127"/>
                <a:cs typeface="Pretendard" pitchFamily="34" charset="-120"/>
              </a:rPr>
              <a:t>BEFORE</a:t>
            </a:r>
            <a:endParaRPr lang="en-US" sz="900" dirty="0"/>
          </a:p>
        </p:txBody>
      </p:sp>
      <p:sp>
        <p:nvSpPr>
          <p:cNvPr id="53" name="각자 맡은 역할만 잘하면 된다"/>
          <p:cNvSpPr txBox="1"/>
          <p:nvPr/>
        </p:nvSpPr>
        <p:spPr>
          <a:xfrm>
            <a:off x="3280073" y="1857474"/>
            <a:ext cx="163300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100" spc="-22" kern="0" dirty="0">
                <a:solidFill>
                  <a:srgbClr val="3D4757"/>
                </a:solidFill>
                <a:latin typeface="Pretendard Medium" pitchFamily="34" charset="0"/>
                <a:ea typeface="Pretendard Medium" pitchFamily="34" charset="-127"/>
                <a:cs typeface="Pretendard Medium" pitchFamily="34" charset="-120"/>
              </a:rPr>
              <a:t>각자 맡은 역할만 잘하면 된다</a:t>
            </a:r>
            <a:endParaRPr lang="en-US" sz="1100" dirty="0"/>
          </a:p>
        </p:txBody>
      </p:sp>
      <p:sp>
        <p:nvSpPr>
          <p:cNvPr id="54" name="학부 팀 프로젝트"/>
          <p:cNvSpPr txBox="1"/>
          <p:nvPr/>
        </p:nvSpPr>
        <p:spPr>
          <a:xfrm>
            <a:off x="6719292" y="1861939"/>
            <a:ext cx="856555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000" spc="-20" kern="0" dirty="0">
                <a:solidFill>
                  <a:srgbClr val="3D4757"/>
                </a:solidFill>
                <a:latin typeface="Pretendard SemiBold" pitchFamily="34" charset="0"/>
                <a:ea typeface="Pretendard SemiBold" pitchFamily="34" charset="-127"/>
                <a:cs typeface="Pretendard SemiBold" pitchFamily="34" charset="-120"/>
              </a:rPr>
              <a:t>학부 팀 프로젝트</a:t>
            </a:r>
            <a:endParaRPr lang="en-US" sz="1000" dirty="0"/>
          </a:p>
        </p:txBody>
      </p:sp>
      <p:sp>
        <p:nvSpPr>
          <p:cNvPr id="55" name="AFTER"/>
          <p:cNvSpPr txBox="1"/>
          <p:nvPr/>
        </p:nvSpPr>
        <p:spPr>
          <a:xfrm>
            <a:off x="9296698" y="1871464"/>
            <a:ext cx="478730" cy="1333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900" b="1" spc="108" kern="0" dirty="0">
                <a:solidFill>
                  <a:srgbClr val="004B8D"/>
                </a:solidFill>
                <a:latin typeface="Pretendard" pitchFamily="34" charset="0"/>
                <a:ea typeface="Pretendard" pitchFamily="34" charset="-127"/>
                <a:cs typeface="Pretendard" pitchFamily="34" charset="-120"/>
              </a:rPr>
              <a:t>AFTER</a:t>
            </a:r>
            <a:endParaRPr lang="en-US" sz="900" dirty="0"/>
          </a:p>
        </p:txBody>
      </p:sp>
      <p:sp>
        <p:nvSpPr>
          <p:cNvPr id="56" name="같은 목표와 방향을 공유해야 한다"/>
          <p:cNvSpPr txBox="1"/>
          <p:nvPr/>
        </p:nvSpPr>
        <p:spPr>
          <a:xfrm>
            <a:off x="9813528" y="1857474"/>
            <a:ext cx="187500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100" b="1" spc="-22" kern="0" dirty="0">
                <a:solidFill>
                  <a:srgbClr val="0B2147"/>
                </a:solidFill>
                <a:latin typeface="Pretendard" pitchFamily="34" charset="0"/>
                <a:ea typeface="Pretendard" pitchFamily="34" charset="-127"/>
                <a:cs typeface="Pretendard" pitchFamily="34" charset="-120"/>
              </a:rPr>
              <a:t>같은 목표와 방향을 공유해야 한다</a:t>
            </a:r>
            <a:endParaRPr lang="en-US" sz="1100" dirty="0"/>
          </a:p>
        </p:txBody>
      </p:sp>
      <p:sp>
        <p:nvSpPr>
          <p:cNvPr id="57" name="실천 경험 | 학생 BIM 경진대회"/>
          <p:cNvSpPr txBox="1"/>
          <p:nvPr/>
        </p:nvSpPr>
        <p:spPr>
          <a:xfrm>
            <a:off x="609600" y="2265164"/>
            <a:ext cx="1579682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000" b="1" spc="-10" kern="0" dirty="0">
                <a:solidFill>
                  <a:srgbClr val="0B2147"/>
                </a:solidFill>
                <a:latin typeface="Pretendard" pitchFamily="34" charset="0"/>
                <a:ea typeface="Pretendard" pitchFamily="34" charset="-127"/>
                <a:cs typeface="Pretendard" pitchFamily="34" charset="-120"/>
              </a:rPr>
              <a:t>실천 경험</a:t>
            </a:r>
            <a:pPr algn="l" indent="0" marL="0">
              <a:buNone/>
            </a:pPr>
            <a:r>
              <a:rPr lang="ko-KR" altLang="en-US" sz="1000" spc="-10" kern="0" dirty="0">
                <a:solidFill>
                  <a:srgbClr val="3D4757"/>
                </a:solidFill>
                <a:latin typeface="Pretendard SemiBold" pitchFamily="34" charset="0"/>
                <a:ea typeface="Pretendard SemiBold" pitchFamily="34" charset="-127"/>
                <a:cs typeface="Pretendard SemiBold" pitchFamily="34" charset="-120"/>
              </a:rPr>
              <a:t> | 학생 BIM 경진대회</a:t>
            </a:r>
            <a:endParaRPr lang="en-US" sz="1000" dirty="0"/>
          </a:p>
        </p:txBody>
      </p:sp>
      <p:sp>
        <p:nvSpPr>
          <p:cNvPr id="58" name="01"/>
          <p:cNvSpPr txBox="1"/>
          <p:nvPr/>
        </p:nvSpPr>
        <p:spPr>
          <a:xfrm>
            <a:off x="609600" y="2544564"/>
            <a:ext cx="2141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100" b="1" spc="22" kern="0" dirty="0">
                <a:solidFill>
                  <a:srgbClr val="004B8D"/>
                </a:solidFill>
                <a:latin typeface="Pretendard" pitchFamily="34" charset="0"/>
                <a:ea typeface="Pretendard" pitchFamily="34" charset="-127"/>
                <a:cs typeface="Pretendard" pitchFamily="34" charset="-120"/>
              </a:rPr>
              <a:t>01</a:t>
            </a:r>
            <a:endParaRPr lang="en-US" sz="1100" dirty="0"/>
          </a:p>
        </p:txBody>
      </p:sp>
      <p:sp>
        <p:nvSpPr>
          <p:cNvPr id="59" name="충돌을 조율해 주제를 확정하다"/>
          <p:cNvSpPr txBox="1"/>
          <p:nvPr/>
        </p:nvSpPr>
        <p:spPr>
          <a:xfrm>
            <a:off x="849114" y="2506464"/>
            <a:ext cx="2157391" cy="215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400" b="1" spc="-42" kern="0" dirty="0">
                <a:solidFill>
                  <a:srgbClr val="0B2147"/>
                </a:solidFill>
                <a:latin typeface="Pretendard" pitchFamily="34" charset="0"/>
                <a:ea typeface="Pretendard" pitchFamily="34" charset="-127"/>
                <a:cs typeface="Pretendard" pitchFamily="34" charset="-120"/>
              </a:rPr>
              <a:t>충돌을 조율해 주제를 확정하다</a:t>
            </a:r>
            <a:endParaRPr lang="en-US" sz="1400" dirty="0"/>
          </a:p>
        </p:txBody>
      </p:sp>
      <p:sp>
        <p:nvSpPr>
          <p:cNvPr id="60" name="마감 3주 전까지 주제 미확정"/>
          <p:cNvSpPr txBox="1"/>
          <p:nvPr/>
        </p:nvSpPr>
        <p:spPr>
          <a:xfrm>
            <a:off x="787400" y="2867720"/>
            <a:ext cx="1452213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000" spc="-20" kern="0" dirty="0">
                <a:solidFill>
                  <a:srgbClr val="3D4757"/>
                </a:solidFill>
                <a:latin typeface="Pretendard Medium" pitchFamily="34" charset="0"/>
                <a:ea typeface="Pretendard Medium" pitchFamily="34" charset="-127"/>
                <a:cs typeface="Pretendard Medium" pitchFamily="34" charset="-120"/>
              </a:rPr>
              <a:t>마감 3주 전까지 주제 미확정</a:t>
            </a:r>
            <a:endParaRPr lang="en-US" sz="1000" dirty="0"/>
          </a:p>
        </p:txBody>
      </p:sp>
      <p:sp>
        <p:nvSpPr>
          <p:cNvPr id="61" name="참신성"/>
          <p:cNvSpPr txBox="1"/>
          <p:nvPr/>
        </p:nvSpPr>
        <p:spPr>
          <a:xfrm>
            <a:off x="736600" y="3115370"/>
            <a:ext cx="436860" cy="1841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200" b="1" spc="-24" kern="0" dirty="0">
                <a:solidFill>
                  <a:srgbClr val="0B2147"/>
                </a:solidFill>
                <a:latin typeface="Pretendard" pitchFamily="34" charset="0"/>
                <a:ea typeface="Pretendard" pitchFamily="34" charset="-127"/>
                <a:cs typeface="Pretendard" pitchFamily="34" charset="-120"/>
              </a:rPr>
              <a:t>참신성</a:t>
            </a:r>
            <a:endParaRPr lang="en-US" sz="1200" dirty="0"/>
          </a:p>
        </p:txBody>
      </p:sp>
      <p:sp>
        <p:nvSpPr>
          <p:cNvPr id="62" name="VS"/>
          <p:cNvSpPr txBox="1"/>
          <p:nvPr/>
        </p:nvSpPr>
        <p:spPr>
          <a:xfrm>
            <a:off x="2161679" y="3140770"/>
            <a:ext cx="223143" cy="1333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altLang="en-US" sz="900" b="1" spc="72" kern="0" dirty="0">
                <a:solidFill>
                  <a:srgbClr val="6A7487"/>
                </a:solidFill>
                <a:latin typeface="Pretendard" pitchFamily="34" charset="0"/>
                <a:ea typeface="Pretendard" pitchFamily="34" charset="-127"/>
                <a:cs typeface="Pretendard" pitchFamily="34" charset="-120"/>
              </a:rPr>
              <a:t>VS</a:t>
            </a:r>
            <a:endParaRPr lang="en-US" sz="900" dirty="0"/>
          </a:p>
        </p:txBody>
      </p:sp>
      <p:sp>
        <p:nvSpPr>
          <p:cNvPr id="63" name="구현 가능성"/>
          <p:cNvSpPr txBox="1"/>
          <p:nvPr/>
        </p:nvSpPr>
        <p:spPr>
          <a:xfrm>
            <a:off x="2540000" y="3115370"/>
            <a:ext cx="726281" cy="1841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200" b="1" spc="-24" kern="0" dirty="0">
                <a:solidFill>
                  <a:srgbClr val="0B2147"/>
                </a:solidFill>
                <a:latin typeface="Pretendard" pitchFamily="34" charset="0"/>
                <a:ea typeface="Pretendard" pitchFamily="34" charset="-127"/>
                <a:cs typeface="Pretendard" pitchFamily="34" charset="-120"/>
              </a:rPr>
              <a:t>구현 가능성</a:t>
            </a:r>
            <a:endParaRPr lang="en-US" sz="1200" dirty="0"/>
          </a:p>
        </p:txBody>
      </p:sp>
      <p:sp>
        <p:nvSpPr>
          <p:cNvPr id="64" name="경청 · 수상작 분석 · 교수님 조언"/>
          <p:cNvSpPr txBox="1"/>
          <p:nvPr/>
        </p:nvSpPr>
        <p:spPr>
          <a:xfrm>
            <a:off x="609600" y="3494683"/>
            <a:ext cx="17716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100" spc="-22" kern="0" dirty="0">
                <a:solidFill>
                  <a:srgbClr val="3D4757"/>
                </a:solidFill>
                <a:latin typeface="Pretendard Medium" pitchFamily="34" charset="0"/>
                <a:ea typeface="Pretendard Medium" pitchFamily="34" charset="-127"/>
                <a:cs typeface="Pretendard Medium" pitchFamily="34" charset="-120"/>
              </a:rPr>
              <a:t>경청 · 수상작 분석 · 교수님 조언</a:t>
            </a:r>
            <a:endParaRPr lang="en-US" sz="1100" dirty="0"/>
          </a:p>
        </p:txBody>
      </p:sp>
      <p:sp>
        <p:nvSpPr>
          <p:cNvPr id="65" name="판단 기준 마련"/>
          <p:cNvSpPr txBox="1"/>
          <p:nvPr/>
        </p:nvSpPr>
        <p:spPr>
          <a:xfrm>
            <a:off x="2547640" y="3491210"/>
            <a:ext cx="817265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100" b="1" spc="-22" kern="0" dirty="0">
                <a:solidFill>
                  <a:srgbClr val="004B8D"/>
                </a:solidFill>
                <a:latin typeface="Pretendard" pitchFamily="34" charset="0"/>
                <a:ea typeface="Pretendard" pitchFamily="34" charset="-127"/>
                <a:cs typeface="Pretendard" pitchFamily="34" charset="-120"/>
              </a:rPr>
              <a:t>판단 기준 마련</a:t>
            </a:r>
            <a:endParaRPr lang="en-US" sz="1100" dirty="0"/>
          </a:p>
        </p:txBody>
      </p:sp>
      <p:sp>
        <p:nvSpPr>
          <p:cNvPr id="66" name="1"/>
          <p:cNvSpPr txBox="1"/>
          <p:nvPr/>
        </p:nvSpPr>
        <p:spPr>
          <a:xfrm>
            <a:off x="673100" y="3884216"/>
            <a:ext cx="101600" cy="1333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900" b="1" spc="-22" kern="0" dirty="0">
                <a:solidFill>
                  <a:srgbClr val="004B8D"/>
                </a:solidFill>
                <a:latin typeface="Pretendard" pitchFamily="34" charset="0"/>
                <a:ea typeface="Pretendard" pitchFamily="34" charset="-127"/>
                <a:cs typeface="Pretendard" pitchFamily="34" charset="-120"/>
              </a:rPr>
              <a:t>1</a:t>
            </a:r>
            <a:endParaRPr lang="en-US" sz="900" dirty="0"/>
          </a:p>
        </p:txBody>
      </p:sp>
      <p:sp>
        <p:nvSpPr>
          <p:cNvPr id="67" name="기존 수상작과"/>
          <p:cNvSpPr txBox="1"/>
          <p:nvPr/>
        </p:nvSpPr>
        <p:spPr>
          <a:xfrm>
            <a:off x="838200" y="3865166"/>
            <a:ext cx="788888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100" spc="-22" kern="0" dirty="0">
                <a:solidFill>
                  <a:srgbClr val="0B2147"/>
                </a:solidFill>
                <a:latin typeface="Pretendard SemiBold" pitchFamily="34" charset="0"/>
                <a:ea typeface="Pretendard SemiBold" pitchFamily="34" charset="-127"/>
                <a:cs typeface="Pretendard SemiBold" pitchFamily="34" charset="-120"/>
              </a:rPr>
              <a:t>기존 수상작과</a:t>
            </a:r>
            <a:endParaRPr lang="en-US" sz="1100" dirty="0"/>
          </a:p>
        </p:txBody>
      </p:sp>
      <p:sp>
        <p:nvSpPr>
          <p:cNvPr id="68" name="차별화되는가?"/>
          <p:cNvSpPr txBox="1"/>
          <p:nvPr/>
        </p:nvSpPr>
        <p:spPr>
          <a:xfrm>
            <a:off x="838200" y="4060726"/>
            <a:ext cx="828179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100" spc="-22" kern="0" dirty="0">
                <a:solidFill>
                  <a:srgbClr val="0B2147"/>
                </a:solidFill>
                <a:latin typeface="Pretendard SemiBold" pitchFamily="34" charset="0"/>
                <a:ea typeface="Pretendard SemiBold" pitchFamily="34" charset="-127"/>
                <a:cs typeface="Pretendard SemiBold" pitchFamily="34" charset="-120"/>
              </a:rPr>
              <a:t>차별화되는가?</a:t>
            </a:r>
            <a:endParaRPr lang="en-US" sz="1100" dirty="0"/>
          </a:p>
        </p:txBody>
      </p:sp>
      <p:sp>
        <p:nvSpPr>
          <p:cNvPr id="69" name="2"/>
          <p:cNvSpPr txBox="1"/>
          <p:nvPr/>
        </p:nvSpPr>
        <p:spPr>
          <a:xfrm>
            <a:off x="2468364" y="3884216"/>
            <a:ext cx="117773" cy="1333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900" b="1" spc="-22" kern="0" dirty="0">
                <a:solidFill>
                  <a:srgbClr val="004B8D"/>
                </a:solidFill>
                <a:latin typeface="Pretendard" pitchFamily="34" charset="0"/>
                <a:ea typeface="Pretendard" pitchFamily="34" charset="-127"/>
                <a:cs typeface="Pretendard" pitchFamily="34" charset="-120"/>
              </a:rPr>
              <a:t>2</a:t>
            </a:r>
            <a:endParaRPr lang="en-US" sz="900" dirty="0"/>
          </a:p>
        </p:txBody>
      </p:sp>
      <p:sp>
        <p:nvSpPr>
          <p:cNvPr id="70" name="남은 3주 안에"/>
          <p:cNvSpPr txBox="1"/>
          <p:nvPr/>
        </p:nvSpPr>
        <p:spPr>
          <a:xfrm>
            <a:off x="2641600" y="3865166"/>
            <a:ext cx="786705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100" spc="-22" kern="0" dirty="0">
                <a:solidFill>
                  <a:srgbClr val="0B2147"/>
                </a:solidFill>
                <a:latin typeface="Pretendard SemiBold" pitchFamily="34" charset="0"/>
                <a:ea typeface="Pretendard SemiBold" pitchFamily="34" charset="-127"/>
                <a:cs typeface="Pretendard SemiBold" pitchFamily="34" charset="-120"/>
              </a:rPr>
              <a:t>남은 3주 안에</a:t>
            </a:r>
            <a:endParaRPr lang="en-US" sz="1100" dirty="0"/>
          </a:p>
        </p:txBody>
      </p:sp>
      <p:sp>
        <p:nvSpPr>
          <p:cNvPr id="71" name="완성 가능한가?"/>
          <p:cNvSpPr txBox="1"/>
          <p:nvPr/>
        </p:nvSpPr>
        <p:spPr>
          <a:xfrm>
            <a:off x="2641600" y="4060726"/>
            <a:ext cx="85854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100" spc="-22" kern="0" dirty="0">
                <a:solidFill>
                  <a:srgbClr val="0B2147"/>
                </a:solidFill>
                <a:latin typeface="Pretendard SemiBold" pitchFamily="34" charset="0"/>
                <a:ea typeface="Pretendard SemiBold" pitchFamily="34" charset="-127"/>
                <a:cs typeface="Pretendard SemiBold" pitchFamily="34" charset="-120"/>
              </a:rPr>
              <a:t>완성 가능한가?</a:t>
            </a:r>
            <a:endParaRPr lang="en-US" sz="1100" dirty="0"/>
          </a:p>
        </p:txBody>
      </p:sp>
      <p:sp>
        <p:nvSpPr>
          <p:cNvPr id="72" name="‘유닛 모듈러 기반 사용자 맞춤형"/>
          <p:cNvSpPr txBox="1"/>
          <p:nvPr/>
        </p:nvSpPr>
        <p:spPr>
          <a:xfrm>
            <a:off x="774700" y="4786213"/>
            <a:ext cx="2239214" cy="215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400" b="1" spc="-42" kern="0" dirty="0">
                <a:solidFill>
                  <a:srgbClr val="FFFFFF"/>
                </a:solidFill>
                <a:latin typeface="Pretendard" pitchFamily="34" charset="0"/>
                <a:ea typeface="Pretendard" pitchFamily="34" charset="-127"/>
                <a:cs typeface="Pretendard" pitchFamily="34" charset="-120"/>
              </a:rPr>
              <a:t>‘유닛 모듈러 기반 사용자 맞춤형</a:t>
            </a:r>
            <a:endParaRPr lang="en-US" sz="1400" dirty="0"/>
          </a:p>
        </p:txBody>
      </p:sp>
      <p:sp>
        <p:nvSpPr>
          <p:cNvPr id="73" name="리모델링 방법’ 선정"/>
          <p:cNvSpPr txBox="1"/>
          <p:nvPr/>
        </p:nvSpPr>
        <p:spPr>
          <a:xfrm>
            <a:off x="774700" y="5017294"/>
            <a:ext cx="1377541" cy="215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400" b="1" spc="-42" kern="0" dirty="0">
                <a:solidFill>
                  <a:srgbClr val="FFFFFF"/>
                </a:solidFill>
                <a:latin typeface="Pretendard" pitchFamily="34" charset="0"/>
                <a:ea typeface="Pretendard" pitchFamily="34" charset="-127"/>
                <a:cs typeface="Pretendard" pitchFamily="34" charset="-120"/>
              </a:rPr>
              <a:t>리모델링 방법’ </a:t>
            </a:r>
            <a:pPr algn="l" indent="0" marL="0">
              <a:buNone/>
            </a:pPr>
            <a:r>
              <a:rPr lang="ko-KR" altLang="en-US" sz="1400" b="1" spc="-42" kern="0" dirty="0">
                <a:solidFill>
                  <a:srgbClr val="45B9EC"/>
                </a:solidFill>
                <a:latin typeface="Pretendard" pitchFamily="34" charset="0"/>
                <a:ea typeface="Pretendard" pitchFamily="34" charset="-127"/>
                <a:cs typeface="Pretendard" pitchFamily="34" charset="-120"/>
              </a:rPr>
              <a:t>선정</a:t>
            </a:r>
            <a:endParaRPr lang="en-US" sz="1400" dirty="0"/>
          </a:p>
        </p:txBody>
      </p:sp>
      <p:sp>
        <p:nvSpPr>
          <p:cNvPr id="74" name="리모델링 규모에 따라 유닛 모듈러를 배치하고,"/>
          <p:cNvSpPr txBox="1"/>
          <p:nvPr/>
        </p:nvSpPr>
        <p:spPr>
          <a:xfrm>
            <a:off x="774700" y="5305524"/>
            <a:ext cx="234365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000" spc="-20" kern="0" dirty="0">
                <a:solidFill>
                  <a:srgbClr val="FFFFFF"/>
                </a:solidFill>
                <a:latin typeface="Pretendard Medium" pitchFamily="34" charset="0"/>
                <a:ea typeface="Pretendard Medium" pitchFamily="34" charset="-127"/>
                <a:cs typeface="Pretendard Medium" pitchFamily="34" charset="-120"/>
              </a:rPr>
              <a:t>리모델링 규모에 따라 유닛 모듈러를 배치하고,</a:t>
            </a:r>
            <a:endParaRPr lang="en-US" sz="1000" dirty="0"/>
          </a:p>
        </p:txBody>
      </p:sp>
      <p:sp>
        <p:nvSpPr>
          <p:cNvPr id="75" name="모듈 수 · 자재 물량 자동 산출"/>
          <p:cNvSpPr txBox="1"/>
          <p:nvPr/>
        </p:nvSpPr>
        <p:spPr>
          <a:xfrm>
            <a:off x="774700" y="5489674"/>
            <a:ext cx="1464098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000" spc="-20" kern="0" dirty="0">
                <a:solidFill>
                  <a:srgbClr val="FFFFFF"/>
                </a:solidFill>
                <a:latin typeface="Pretendard Medium" pitchFamily="34" charset="0"/>
                <a:ea typeface="Pretendard Medium" pitchFamily="34" charset="-127"/>
                <a:cs typeface="Pretendard Medium" pitchFamily="34" charset="-120"/>
              </a:rPr>
              <a:t>모듈 수 · 자재 물량 자동 산출</a:t>
            </a:r>
            <a:endParaRPr lang="en-US" sz="1000" dirty="0"/>
          </a:p>
        </p:txBody>
      </p:sp>
      <p:sp>
        <p:nvSpPr>
          <p:cNvPr id="76" name="02"/>
          <p:cNvSpPr txBox="1"/>
          <p:nvPr/>
        </p:nvSpPr>
        <p:spPr>
          <a:xfrm>
            <a:off x="4248150" y="2544564"/>
            <a:ext cx="233958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100" b="1" spc="22" kern="0" dirty="0">
                <a:solidFill>
                  <a:srgbClr val="004B8D"/>
                </a:solidFill>
                <a:latin typeface="Pretendard" pitchFamily="34" charset="0"/>
                <a:ea typeface="Pretendard" pitchFamily="34" charset="-127"/>
                <a:cs typeface="Pretendard" pitchFamily="34" charset="-120"/>
              </a:rPr>
              <a:t>02</a:t>
            </a:r>
            <a:endParaRPr lang="en-US" sz="1100" dirty="0"/>
          </a:p>
        </p:txBody>
      </p:sp>
      <p:sp>
        <p:nvSpPr>
          <p:cNvPr id="77" name="강점에 맞게 역할을 나누다"/>
          <p:cNvSpPr txBox="1"/>
          <p:nvPr/>
        </p:nvSpPr>
        <p:spPr>
          <a:xfrm>
            <a:off x="4507508" y="2506464"/>
            <a:ext cx="1842927" cy="215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400" b="1" spc="-42" kern="0" dirty="0">
                <a:solidFill>
                  <a:srgbClr val="0B2147"/>
                </a:solidFill>
                <a:latin typeface="Pretendard" pitchFamily="34" charset="0"/>
                <a:ea typeface="Pretendard" pitchFamily="34" charset="-127"/>
                <a:cs typeface="Pretendard" pitchFamily="34" charset="-120"/>
              </a:rPr>
              <a:t>강점에 맞게 역할을 나누다</a:t>
            </a:r>
            <a:endParaRPr lang="en-US" sz="1400" dirty="0"/>
          </a:p>
        </p:txBody>
      </p:sp>
      <p:sp>
        <p:nvSpPr>
          <p:cNvPr id="78" name="공동 목표"/>
          <p:cNvSpPr txBox="1"/>
          <p:nvPr/>
        </p:nvSpPr>
        <p:spPr>
          <a:xfrm>
            <a:off x="4464794" y="3176488"/>
            <a:ext cx="506512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altLang="en-US" sz="1000" b="1" spc="-20" kern="0" dirty="0">
                <a:solidFill>
                  <a:srgbClr val="0B2147"/>
                </a:solidFill>
                <a:latin typeface="Pretendard" pitchFamily="34" charset="0"/>
                <a:ea typeface="Pretendard" pitchFamily="34" charset="-127"/>
                <a:cs typeface="Pretendard" pitchFamily="34" charset="-120"/>
              </a:rPr>
              <a:t>공동 목표</a:t>
            </a:r>
            <a:endParaRPr lang="en-US" sz="1000" dirty="0"/>
          </a:p>
        </p:txBody>
      </p:sp>
      <p:sp>
        <p:nvSpPr>
          <p:cNvPr id="79" name="프로젝트 완수"/>
          <p:cNvSpPr txBox="1"/>
          <p:nvPr/>
        </p:nvSpPr>
        <p:spPr>
          <a:xfrm>
            <a:off x="4373513" y="3335238"/>
            <a:ext cx="689074" cy="1460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altLang="en-US" sz="950" spc="-19" kern="0" dirty="0">
                <a:solidFill>
                  <a:srgbClr val="3D4757"/>
                </a:solidFill>
                <a:latin typeface="Pretendard Medium" pitchFamily="34" charset="0"/>
                <a:ea typeface="Pretendard Medium" pitchFamily="34" charset="-127"/>
                <a:cs typeface="Pretendard Medium" pitchFamily="34" charset="-120"/>
              </a:rPr>
              <a:t>프로젝트 완수</a:t>
            </a:r>
            <a:endParaRPr lang="en-US" sz="950" dirty="0"/>
          </a:p>
        </p:txBody>
      </p:sp>
      <p:sp>
        <p:nvSpPr>
          <p:cNvPr id="80" name="이틀마다 진행상황 공유 · 피드백"/>
          <p:cNvSpPr txBox="1"/>
          <p:nvPr/>
        </p:nvSpPr>
        <p:spPr>
          <a:xfrm>
            <a:off x="5568950" y="3246140"/>
            <a:ext cx="1794127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100" spc="-22" kern="0" dirty="0">
                <a:solidFill>
                  <a:srgbClr val="3D4757"/>
                </a:solidFill>
                <a:latin typeface="Pretendard Medium" pitchFamily="34" charset="0"/>
                <a:ea typeface="Pretendard Medium" pitchFamily="34" charset="-127"/>
                <a:cs typeface="Pretendard Medium" pitchFamily="34" charset="-120"/>
              </a:rPr>
              <a:t>이틀마다 진행상황 공유 · 피드백</a:t>
            </a:r>
            <a:endParaRPr lang="en-US" sz="1100" dirty="0"/>
          </a:p>
        </p:txBody>
      </p:sp>
      <p:sp>
        <p:nvSpPr>
          <p:cNvPr id="81" name="팀장"/>
          <p:cNvSpPr txBox="1"/>
          <p:nvPr/>
        </p:nvSpPr>
        <p:spPr>
          <a:xfrm>
            <a:off x="4362450" y="4121150"/>
            <a:ext cx="286742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100" b="1" spc="-22" kern="0" dirty="0">
                <a:solidFill>
                  <a:srgbClr val="0B2147"/>
                </a:solidFill>
                <a:latin typeface="Pretendard" pitchFamily="34" charset="0"/>
                <a:ea typeface="Pretendard" pitchFamily="34" charset="-127"/>
                <a:cs typeface="Pretendard" pitchFamily="34" charset="-120"/>
              </a:rPr>
              <a:t>팀장</a:t>
            </a:r>
            <a:endParaRPr lang="en-US" sz="1100" dirty="0"/>
          </a:p>
        </p:txBody>
      </p:sp>
      <p:sp>
        <p:nvSpPr>
          <p:cNvPr id="82" name="나"/>
          <p:cNvSpPr txBox="1"/>
          <p:nvPr/>
        </p:nvSpPr>
        <p:spPr>
          <a:xfrm>
            <a:off x="4649192" y="4139009"/>
            <a:ext cx="146844" cy="1333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900" b="1" spc="-22" kern="0" dirty="0">
                <a:solidFill>
                  <a:srgbClr val="004B8D"/>
                </a:solidFill>
                <a:latin typeface="Pretendard" pitchFamily="34" charset="0"/>
                <a:ea typeface="Pretendard" pitchFamily="34" charset="-127"/>
                <a:cs typeface="Pretendard" pitchFamily="34" charset="-120"/>
              </a:rPr>
              <a:t>나</a:t>
            </a:r>
            <a:endParaRPr lang="en-US" sz="900" dirty="0"/>
          </a:p>
        </p:txBody>
      </p:sp>
      <p:sp>
        <p:nvSpPr>
          <p:cNvPr id="83" name="프로젝트 일정 총괄 ·"/>
          <p:cNvSpPr txBox="1"/>
          <p:nvPr/>
        </p:nvSpPr>
        <p:spPr>
          <a:xfrm>
            <a:off x="5035550" y="4023420"/>
            <a:ext cx="1135856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100" spc="-22" kern="0" dirty="0">
                <a:solidFill>
                  <a:srgbClr val="3D4757"/>
                </a:solidFill>
                <a:latin typeface="Pretendard Medium" pitchFamily="34" charset="0"/>
                <a:ea typeface="Pretendard Medium" pitchFamily="34" charset="-127"/>
                <a:cs typeface="Pretendard Medium" pitchFamily="34" charset="-120"/>
              </a:rPr>
              <a:t>프로젝트 일정 총괄 ·</a:t>
            </a:r>
            <a:endParaRPr lang="en-US" sz="1100" dirty="0"/>
          </a:p>
        </p:txBody>
      </p:sp>
      <p:sp>
        <p:nvSpPr>
          <p:cNvPr id="84" name="Dynamo 기반 자동화 알고리즘 개발"/>
          <p:cNvSpPr txBox="1"/>
          <p:nvPr/>
        </p:nvSpPr>
        <p:spPr>
          <a:xfrm>
            <a:off x="5035550" y="4218980"/>
            <a:ext cx="2048012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100" spc="-22" kern="0" dirty="0">
                <a:solidFill>
                  <a:srgbClr val="3D4757"/>
                </a:solidFill>
                <a:latin typeface="Pretendard Medium" pitchFamily="34" charset="0"/>
                <a:ea typeface="Pretendard Medium" pitchFamily="34" charset="-127"/>
                <a:cs typeface="Pretendard Medium" pitchFamily="34" charset="-120"/>
              </a:rPr>
              <a:t>Dynamo 기반 자동화 알고리즘 개발</a:t>
            </a:r>
            <a:endParaRPr lang="en-US" sz="1100" dirty="0"/>
          </a:p>
        </p:txBody>
      </p:sp>
      <p:sp>
        <p:nvSpPr>
          <p:cNvPr id="85" name="팀원 A"/>
          <p:cNvSpPr txBox="1"/>
          <p:nvPr/>
        </p:nvSpPr>
        <p:spPr>
          <a:xfrm>
            <a:off x="4362450" y="4598690"/>
            <a:ext cx="41364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100" b="1" spc="-22" kern="0" dirty="0">
                <a:solidFill>
                  <a:srgbClr val="0B2147"/>
                </a:solidFill>
                <a:latin typeface="Pretendard" pitchFamily="34" charset="0"/>
                <a:ea typeface="Pretendard" pitchFamily="34" charset="-127"/>
                <a:cs typeface="Pretendard" pitchFamily="34" charset="-120"/>
              </a:rPr>
              <a:t>팀원 A</a:t>
            </a:r>
            <a:endParaRPr lang="en-US" sz="1100" dirty="0"/>
          </a:p>
        </p:txBody>
      </p:sp>
      <p:sp>
        <p:nvSpPr>
          <p:cNvPr id="86" name="유닛 모듈러 설계 · 배치 계획"/>
          <p:cNvSpPr txBox="1"/>
          <p:nvPr/>
        </p:nvSpPr>
        <p:spPr>
          <a:xfrm>
            <a:off x="5035550" y="4598690"/>
            <a:ext cx="157726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100" spc="-22" kern="0" dirty="0">
                <a:solidFill>
                  <a:srgbClr val="3D4757"/>
                </a:solidFill>
                <a:latin typeface="Pretendard Medium" pitchFamily="34" charset="0"/>
                <a:ea typeface="Pretendard Medium" pitchFamily="34" charset="-127"/>
                <a:cs typeface="Pretendard Medium" pitchFamily="34" charset="-120"/>
              </a:rPr>
              <a:t>유닛 모듈러 설계 · 배치 계획</a:t>
            </a:r>
            <a:endParaRPr lang="en-US" sz="1100" dirty="0"/>
          </a:p>
        </p:txBody>
      </p:sp>
      <p:sp>
        <p:nvSpPr>
          <p:cNvPr id="87" name="팀원 B"/>
          <p:cNvSpPr txBox="1"/>
          <p:nvPr/>
        </p:nvSpPr>
        <p:spPr>
          <a:xfrm>
            <a:off x="4362450" y="4978400"/>
            <a:ext cx="402332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100" b="1" spc="-22" kern="0" dirty="0">
                <a:solidFill>
                  <a:srgbClr val="0B2147"/>
                </a:solidFill>
                <a:latin typeface="Pretendard" pitchFamily="34" charset="0"/>
                <a:ea typeface="Pretendard" pitchFamily="34" charset="-127"/>
                <a:cs typeface="Pretendard" pitchFamily="34" charset="-120"/>
              </a:rPr>
              <a:t>팀원 B</a:t>
            </a:r>
            <a:endParaRPr lang="en-US" sz="1100" dirty="0"/>
          </a:p>
        </p:txBody>
      </p:sp>
      <p:sp>
        <p:nvSpPr>
          <p:cNvPr id="88" name="Revit 기반 BIM 모델링 · 모듈러 라이브러리 구축"/>
          <p:cNvSpPr txBox="1"/>
          <p:nvPr/>
        </p:nvSpPr>
        <p:spPr>
          <a:xfrm>
            <a:off x="5035550" y="4978400"/>
            <a:ext cx="2714381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100" spc="-22" kern="0" dirty="0">
                <a:solidFill>
                  <a:srgbClr val="3D4757"/>
                </a:solidFill>
                <a:latin typeface="Pretendard Medium" pitchFamily="34" charset="0"/>
                <a:ea typeface="Pretendard Medium" pitchFamily="34" charset="-127"/>
                <a:cs typeface="Pretendard Medium" pitchFamily="34" charset="-120"/>
              </a:rPr>
              <a:t>Revit 기반 BIM 모델링 · 모듈러 라이브러리 구축</a:t>
            </a:r>
            <a:endParaRPr lang="en-US" sz="1100" dirty="0"/>
          </a:p>
        </p:txBody>
      </p:sp>
      <p:sp>
        <p:nvSpPr>
          <p:cNvPr id="89" name="팀원 C"/>
          <p:cNvSpPr txBox="1"/>
          <p:nvPr/>
        </p:nvSpPr>
        <p:spPr>
          <a:xfrm>
            <a:off x="4362450" y="5358110"/>
            <a:ext cx="414437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100" b="1" spc="-22" kern="0" dirty="0">
                <a:solidFill>
                  <a:srgbClr val="0B2147"/>
                </a:solidFill>
                <a:latin typeface="Pretendard" pitchFamily="34" charset="0"/>
                <a:ea typeface="Pretendard" pitchFamily="34" charset="-127"/>
                <a:cs typeface="Pretendard" pitchFamily="34" charset="-120"/>
              </a:rPr>
              <a:t>팀원 C</a:t>
            </a:r>
            <a:endParaRPr lang="en-US" sz="1100" dirty="0"/>
          </a:p>
        </p:txBody>
      </p:sp>
      <p:sp>
        <p:nvSpPr>
          <p:cNvPr id="90" name="리모델링 적용 시나리오 구성 · 시연 영상 제작"/>
          <p:cNvSpPr txBox="1"/>
          <p:nvPr/>
        </p:nvSpPr>
        <p:spPr>
          <a:xfrm>
            <a:off x="5035550" y="5358110"/>
            <a:ext cx="2518866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100" spc="-22" kern="0" dirty="0">
                <a:solidFill>
                  <a:srgbClr val="3D4757"/>
                </a:solidFill>
                <a:latin typeface="Pretendard Medium" pitchFamily="34" charset="0"/>
                <a:ea typeface="Pretendard Medium" pitchFamily="34" charset="-127"/>
                <a:cs typeface="Pretendard Medium" pitchFamily="34" charset="-120"/>
              </a:rPr>
              <a:t>리모델링 적용 시나리오 구성 · 시연 영상 제작</a:t>
            </a:r>
            <a:endParaRPr lang="en-US" sz="1100" dirty="0"/>
          </a:p>
        </p:txBody>
      </p:sp>
      <p:sp>
        <p:nvSpPr>
          <p:cNvPr id="91" name="03"/>
          <p:cNvSpPr txBox="1"/>
          <p:nvPr/>
        </p:nvSpPr>
        <p:spPr>
          <a:xfrm>
            <a:off x="9175750" y="2544564"/>
            <a:ext cx="237927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100" b="1" spc="22" kern="0" dirty="0">
                <a:solidFill>
                  <a:srgbClr val="004B8D"/>
                </a:solidFill>
                <a:latin typeface="Pretendard" pitchFamily="34" charset="0"/>
                <a:ea typeface="Pretendard" pitchFamily="34" charset="-127"/>
                <a:cs typeface="Pretendard" pitchFamily="34" charset="-120"/>
              </a:rPr>
              <a:t>03</a:t>
            </a:r>
            <a:endParaRPr lang="en-US" sz="1100" dirty="0"/>
          </a:p>
        </p:txBody>
      </p:sp>
      <p:sp>
        <p:nvSpPr>
          <p:cNvPr id="92" name="3주 만에 완성, 장려상 수상"/>
          <p:cNvSpPr txBox="1"/>
          <p:nvPr/>
        </p:nvSpPr>
        <p:spPr>
          <a:xfrm>
            <a:off x="9439077" y="2506464"/>
            <a:ext cx="1880683" cy="215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400" b="1" spc="-42" kern="0" dirty="0">
                <a:solidFill>
                  <a:srgbClr val="0B2147"/>
                </a:solidFill>
                <a:latin typeface="Pretendard" pitchFamily="34" charset="0"/>
                <a:ea typeface="Pretendard" pitchFamily="34" charset="-127"/>
                <a:cs typeface="Pretendard" pitchFamily="34" charset="-120"/>
              </a:rPr>
              <a:t>3주 만에 완성, 장려상 수상</a:t>
            </a:r>
            <a:endParaRPr lang="en-US" sz="1400" dirty="0"/>
          </a:p>
        </p:txBody>
      </p:sp>
      <p:sp>
        <p:nvSpPr>
          <p:cNvPr id="93" name="리모델링 앱 개발 아이디어 시연 영상"/>
          <p:cNvSpPr txBox="1"/>
          <p:nvPr/>
        </p:nvSpPr>
        <p:spPr>
          <a:xfrm>
            <a:off x="9175750" y="4004370"/>
            <a:ext cx="1855758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000" spc="-20" kern="0" dirty="0">
                <a:solidFill>
                  <a:srgbClr val="3D4757"/>
                </a:solidFill>
                <a:latin typeface="Pretendard Medium" pitchFamily="34" charset="0"/>
                <a:ea typeface="Pretendard Medium" pitchFamily="34" charset="-127"/>
                <a:cs typeface="Pretendard Medium" pitchFamily="34" charset="-120"/>
              </a:rPr>
              <a:t>리모델링 앱 개발 아이디어 시연 영상</a:t>
            </a:r>
            <a:endParaRPr lang="en-US" sz="1000" dirty="0"/>
          </a:p>
        </p:txBody>
      </p:sp>
      <p:sp>
        <p:nvSpPr>
          <p:cNvPr id="94" name="장려상"/>
          <p:cNvSpPr txBox="1"/>
          <p:nvPr/>
        </p:nvSpPr>
        <p:spPr>
          <a:xfrm>
            <a:off x="9544050" y="4758134"/>
            <a:ext cx="495796" cy="215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400" b="1" spc="-42" kern="0" dirty="0">
                <a:solidFill>
                  <a:srgbClr val="0B2147"/>
                </a:solidFill>
                <a:latin typeface="Pretendard" pitchFamily="34" charset="0"/>
                <a:ea typeface="Pretendard" pitchFamily="34" charset="-127"/>
                <a:cs typeface="Pretendard" pitchFamily="34" charset="-120"/>
              </a:rPr>
              <a:t>장려상</a:t>
            </a:r>
            <a:endParaRPr lang="en-US" sz="1400" dirty="0"/>
          </a:p>
        </p:txBody>
      </p:sp>
      <p:sp>
        <p:nvSpPr>
          <p:cNvPr id="95" name="학생 BIM 경진대회 장려상"/>
          <p:cNvSpPr txBox="1"/>
          <p:nvPr/>
        </p:nvSpPr>
        <p:spPr>
          <a:xfrm>
            <a:off x="9175750" y="5109270"/>
            <a:ext cx="133936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000" spc="-20" kern="0" dirty="0">
                <a:solidFill>
                  <a:srgbClr val="3D4757"/>
                </a:solidFill>
                <a:latin typeface="Pretendard Medium" pitchFamily="34" charset="0"/>
                <a:ea typeface="Pretendard Medium" pitchFamily="34" charset="-127"/>
                <a:cs typeface="Pretendard Medium" pitchFamily="34" charset="-120"/>
              </a:rPr>
              <a:t>학생 BIM 경진대회 장려상</a:t>
            </a:r>
            <a:endParaRPr lang="en-US" sz="1000" dirty="0"/>
          </a:p>
        </p:txBody>
      </p:sp>
      <p:sp>
        <p:nvSpPr>
          <p:cNvPr id="96" name="의견 차이로 출발조차 하지 못했던 팀이, 서로 다른 의견을 조율하며 하나"/>
          <p:cNvSpPr txBox="1"/>
          <p:nvPr/>
        </p:nvSpPr>
        <p:spPr>
          <a:xfrm>
            <a:off x="1346200" y="6023074"/>
            <a:ext cx="8241794" cy="215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400" b="1" spc="-42" kern="0" dirty="0">
                <a:solidFill>
                  <a:srgbClr val="FFFFFF"/>
                </a:solidFill>
                <a:latin typeface="Pretendard" pitchFamily="34" charset="0"/>
                <a:ea typeface="Pretendard" pitchFamily="34" charset="-127"/>
                <a:cs typeface="Pretendard" pitchFamily="34" charset="-120"/>
              </a:rPr>
              <a:t>의견 차이로 출발조차 하지 못했던 팀이, 서로 다른 의견을 조율하며 </a:t>
            </a:r>
            <a:pPr algn="l" indent="0" marL="0">
              <a:buNone/>
            </a:pPr>
            <a:r>
              <a:rPr lang="ko-KR" altLang="en-US" sz="1400" b="1" spc="-42" kern="0" dirty="0">
                <a:solidFill>
                  <a:srgbClr val="FDBB30"/>
                </a:solidFill>
                <a:latin typeface="Pretendard" pitchFamily="34" charset="0"/>
                <a:ea typeface="Pretendard" pitchFamily="34" charset="-127"/>
                <a:cs typeface="Pretendard" pitchFamily="34" charset="-120"/>
              </a:rPr>
              <a:t>하나의 공동 목표</a:t>
            </a:r>
            <a:pPr algn="l" indent="0" marL="0">
              <a:buNone/>
            </a:pPr>
            <a:r>
              <a:rPr lang="ko-KR" altLang="en-US" sz="1400" b="1" spc="-42" kern="0" dirty="0">
                <a:solidFill>
                  <a:srgbClr val="FFFFFF"/>
                </a:solidFill>
                <a:latin typeface="Pretendard" pitchFamily="34" charset="0"/>
                <a:ea typeface="Pretendard" pitchFamily="34" charset="-127"/>
                <a:cs typeface="Pretendard" pitchFamily="34" charset="-120"/>
              </a:rPr>
              <a:t>를 향해 함께 결과를 만들었습니다.</a:t>
            </a:r>
            <a:endParaRPr lang="en-US" sz="1400" dirty="0"/>
          </a:p>
        </p:txBody>
      </p:sp>
      <p:sp>
        <p:nvSpPr>
          <p:cNvPr id="97" name="2026년 하반기 신입사원 공개채용 | 공사관리 건축 직무 지원자 이현준"/>
          <p:cNvSpPr txBox="1"/>
          <p:nvPr/>
        </p:nvSpPr>
        <p:spPr>
          <a:xfrm>
            <a:off x="609600" y="6425605"/>
            <a:ext cx="3273685" cy="1333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900" spc="-9" kern="0" dirty="0">
                <a:solidFill>
                  <a:srgbClr val="6A7487"/>
                </a:solidFill>
                <a:latin typeface="Pretendard Medium" pitchFamily="34" charset="0"/>
                <a:ea typeface="Pretendard Medium" pitchFamily="34" charset="-127"/>
                <a:cs typeface="Pretendard Medium" pitchFamily="34" charset="-120"/>
              </a:rPr>
              <a:t>2026년 하반기 신입사원 공개채용 | 공사관리 건축 직무 지원자 이현준</a:t>
            </a:r>
            <a:endParaRPr lang="en-US" sz="900" dirty="0"/>
          </a:p>
        </p:txBody>
      </p:sp>
      <p:sp>
        <p:nvSpPr>
          <p:cNvPr id="98" name="01 / 03"/>
          <p:cNvSpPr txBox="1"/>
          <p:nvPr/>
        </p:nvSpPr>
        <p:spPr>
          <a:xfrm>
            <a:off x="11158141" y="6425605"/>
            <a:ext cx="475059" cy="1333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900" spc="54" kern="0" dirty="0">
                <a:solidFill>
                  <a:srgbClr val="004B8D"/>
                </a:solidFill>
                <a:latin typeface="Pretendard ExtraBold" pitchFamily="34" charset="0"/>
                <a:ea typeface="Pretendard ExtraBold" pitchFamily="34" charset="-127"/>
                <a:cs typeface="Pretendard ExtraBold" pitchFamily="34" charset="-120"/>
              </a:rPr>
              <a:t>01</a:t>
            </a:r>
            <a:pPr algn="l" indent="0" marL="0">
              <a:buNone/>
            </a:pPr>
            <a:r>
              <a:rPr lang="ko-KR" altLang="en-US" sz="900" b="1" spc="54" kern="0" dirty="0">
                <a:solidFill>
                  <a:srgbClr val="3D4757"/>
                </a:solidFill>
                <a:latin typeface="Pretendard" pitchFamily="34" charset="0"/>
                <a:ea typeface="Pretendard" pitchFamily="34" charset="-127"/>
                <a:cs typeface="Pretendard" pitchFamily="34" charset="-120"/>
              </a:rPr>
              <a:t> / 03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"/>
          <p:cNvSpPr/>
          <p:nvPr/>
        </p:nvSpPr>
        <p:spPr>
          <a:xfrm>
            <a:off x="609600" y="475853"/>
            <a:ext cx="63500" cy="63500"/>
          </a:xfrm>
          <a:prstGeom prst="ellipse">
            <a:avLst/>
          </a:prstGeom>
          <a:solidFill>
            <a:srgbClr val="00A94F"/>
          </a:solidFill>
          <a:ln/>
        </p:spPr>
      </p:sp>
      <p:sp>
        <p:nvSpPr>
          <p:cNvPr id="4" name="b"/>
          <p:cNvSpPr/>
          <p:nvPr/>
        </p:nvSpPr>
        <p:spPr>
          <a:xfrm>
            <a:off x="673100" y="501253"/>
            <a:ext cx="88900" cy="12700"/>
          </a:xfrm>
          <a:prstGeom prst="rect">
            <a:avLst/>
          </a:prstGeom>
          <a:solidFill>
            <a:srgbClr val="C3CEDD"/>
          </a:solidFill>
          <a:ln/>
        </p:spPr>
      </p:sp>
      <p:sp>
        <p:nvSpPr>
          <p:cNvPr id="5" name="i"/>
          <p:cNvSpPr/>
          <p:nvPr/>
        </p:nvSpPr>
        <p:spPr>
          <a:xfrm>
            <a:off x="762000" y="475853"/>
            <a:ext cx="63500" cy="63500"/>
          </a:xfrm>
          <a:prstGeom prst="ellipse">
            <a:avLst/>
          </a:prstGeom>
          <a:solidFill>
            <a:srgbClr val="004B8D"/>
          </a:solidFill>
          <a:ln/>
        </p:spPr>
      </p:sp>
      <p:sp>
        <p:nvSpPr>
          <p:cNvPr id="6" name="b"/>
          <p:cNvSpPr/>
          <p:nvPr/>
        </p:nvSpPr>
        <p:spPr>
          <a:xfrm>
            <a:off x="825500" y="501253"/>
            <a:ext cx="88900" cy="12700"/>
          </a:xfrm>
          <a:prstGeom prst="rect">
            <a:avLst/>
          </a:prstGeom>
          <a:solidFill>
            <a:srgbClr val="C3CEDD"/>
          </a:solidFill>
          <a:ln/>
        </p:spPr>
      </p:sp>
      <p:sp>
        <p:nvSpPr>
          <p:cNvPr id="7" name="i"/>
          <p:cNvSpPr/>
          <p:nvPr/>
        </p:nvSpPr>
        <p:spPr>
          <a:xfrm>
            <a:off x="914400" y="475853"/>
            <a:ext cx="63500" cy="63500"/>
          </a:xfrm>
          <a:prstGeom prst="ellipse">
            <a:avLst/>
          </a:prstGeom>
          <a:solidFill>
            <a:srgbClr val="FDBB30"/>
          </a:solidFill>
          <a:ln/>
        </p:spPr>
      </p:sp>
      <p:pic>
        <p:nvPicPr>
          <p:cNvPr id="8" name="img" descr="im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3935" y="415462"/>
            <a:ext cx="1526117" cy="268817"/>
          </a:xfrm>
          <a:prstGeom prst="rect">
            <a:avLst/>
          </a:prstGeom>
        </p:spPr>
      </p:pic>
      <p:pic>
        <p:nvPicPr>
          <p:cNvPr id="9" name="p2-hd p2-mid" descr="p2-hd p2-m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19600" y="1816431"/>
            <a:ext cx="1473200" cy="514350"/>
          </a:xfrm>
          <a:prstGeom prst="rect">
            <a:avLst/>
          </a:prstGeom>
        </p:spPr>
      </p:pic>
      <p:pic>
        <p:nvPicPr>
          <p:cNvPr id="10" name="p2-c p2-l g" descr="p2-c p2-l 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" y="2331442"/>
            <a:ext cx="3810000" cy="6350"/>
          </a:xfrm>
          <a:prstGeom prst="rect">
            <a:avLst/>
          </a:prstGeom>
        </p:spPr>
      </p:pic>
      <p:pic>
        <p:nvPicPr>
          <p:cNvPr id="11" name="svg" descr="sv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2883" y="3444247"/>
            <a:ext cx="95250" cy="84667"/>
          </a:xfrm>
          <a:prstGeom prst="rect">
            <a:avLst/>
          </a:prstGeom>
        </p:spPr>
      </p:pic>
      <p:pic>
        <p:nvPicPr>
          <p:cNvPr id="12" name="p2-mid p2-k g" descr="p2-mid p2-k 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19600" y="2331442"/>
            <a:ext cx="1473200" cy="1708150"/>
          </a:xfrm>
          <a:prstGeom prst="rect">
            <a:avLst/>
          </a:prstGeom>
        </p:spPr>
      </p:pic>
      <p:sp>
        <p:nvSpPr>
          <p:cNvPr id="13" name="i"/>
          <p:cNvSpPr/>
          <p:nvPr/>
        </p:nvSpPr>
        <p:spPr>
          <a:xfrm>
            <a:off x="4889202" y="2934097"/>
            <a:ext cx="76200" cy="76200"/>
          </a:xfrm>
          <a:prstGeom prst="ellipse">
            <a:avLst/>
          </a:prstGeom>
          <a:solidFill>
            <a:srgbClr val="00A94F"/>
          </a:solidFill>
          <a:ln/>
        </p:spPr>
      </p:sp>
      <p:pic>
        <p:nvPicPr>
          <p:cNvPr id="14" name="p2-arrow" descr="p2-arrow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86300" y="3437930"/>
            <a:ext cx="929217" cy="84667"/>
          </a:xfrm>
          <a:prstGeom prst="rect">
            <a:avLst/>
          </a:prstGeom>
        </p:spPr>
      </p:pic>
      <p:pic>
        <p:nvPicPr>
          <p:cNvPr id="15" name="p2-c p2-r g" descr="p2-c p2-r 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892800" y="2331442"/>
            <a:ext cx="5689600" cy="6350"/>
          </a:xfrm>
          <a:prstGeom prst="rect">
            <a:avLst/>
          </a:prstGeom>
        </p:spPr>
      </p:pic>
      <p:sp>
        <p:nvSpPr>
          <p:cNvPr id="16" name="i"/>
          <p:cNvSpPr/>
          <p:nvPr/>
        </p:nvSpPr>
        <p:spPr>
          <a:xfrm>
            <a:off x="6197600" y="3174603"/>
            <a:ext cx="50800" cy="50800"/>
          </a:xfrm>
          <a:prstGeom prst="ellipse">
            <a:avLst/>
          </a:prstGeom>
          <a:solidFill>
            <a:srgbClr val="00A94F"/>
          </a:solidFill>
          <a:ln/>
        </p:spPr>
      </p:sp>
      <p:sp>
        <p:nvSpPr>
          <p:cNvPr id="17" name="i"/>
          <p:cNvSpPr/>
          <p:nvPr/>
        </p:nvSpPr>
        <p:spPr>
          <a:xfrm>
            <a:off x="6693892" y="3174603"/>
            <a:ext cx="50800" cy="50800"/>
          </a:xfrm>
          <a:prstGeom prst="ellipse">
            <a:avLst/>
          </a:prstGeom>
          <a:solidFill>
            <a:srgbClr val="00A94F"/>
          </a:solidFill>
          <a:ln/>
        </p:spPr>
      </p:sp>
      <p:sp>
        <p:nvSpPr>
          <p:cNvPr id="18" name="i"/>
          <p:cNvSpPr/>
          <p:nvPr/>
        </p:nvSpPr>
        <p:spPr>
          <a:xfrm>
            <a:off x="7190184" y="3174603"/>
            <a:ext cx="50800" cy="50800"/>
          </a:xfrm>
          <a:prstGeom prst="ellipse">
            <a:avLst/>
          </a:prstGeom>
          <a:solidFill>
            <a:srgbClr val="00A94F"/>
          </a:solidFill>
          <a:ln/>
        </p:spPr>
      </p:sp>
      <p:sp>
        <p:nvSpPr>
          <p:cNvPr id="19" name="i"/>
          <p:cNvSpPr/>
          <p:nvPr/>
        </p:nvSpPr>
        <p:spPr>
          <a:xfrm>
            <a:off x="7922320" y="3174603"/>
            <a:ext cx="50800" cy="50800"/>
          </a:xfrm>
          <a:prstGeom prst="ellipse">
            <a:avLst/>
          </a:prstGeom>
          <a:solidFill>
            <a:srgbClr val="00A94F"/>
          </a:solidFill>
          <a:ln/>
        </p:spPr>
      </p:sp>
      <p:sp>
        <p:nvSpPr>
          <p:cNvPr id="20" name="i"/>
          <p:cNvSpPr/>
          <p:nvPr/>
        </p:nvSpPr>
        <p:spPr>
          <a:xfrm>
            <a:off x="8536583" y="3174603"/>
            <a:ext cx="50800" cy="50800"/>
          </a:xfrm>
          <a:prstGeom prst="ellipse">
            <a:avLst/>
          </a:prstGeom>
          <a:solidFill>
            <a:srgbClr val="00A94F"/>
          </a:solidFill>
          <a:ln/>
        </p:spPr>
      </p:sp>
      <p:pic>
        <p:nvPicPr>
          <p:cNvPr id="21" name="svg" descr="sv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220883" y="3444247"/>
            <a:ext cx="95250" cy="84667"/>
          </a:xfrm>
          <a:prstGeom prst="rect">
            <a:avLst/>
          </a:prstGeom>
        </p:spPr>
      </p:pic>
      <p:pic>
        <p:nvPicPr>
          <p:cNvPr id="22" name="p2-c p2-l b" descr="p2-c p2-l b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09600" y="4037740"/>
            <a:ext cx="3810000" cy="6350"/>
          </a:xfrm>
          <a:prstGeom prst="rect">
            <a:avLst/>
          </a:prstGeom>
        </p:spPr>
      </p:pic>
      <p:pic>
        <p:nvPicPr>
          <p:cNvPr id="23" name="svg" descr="sv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32883" y="5146311"/>
            <a:ext cx="95250" cy="84667"/>
          </a:xfrm>
          <a:prstGeom prst="rect">
            <a:avLst/>
          </a:prstGeom>
        </p:spPr>
      </p:pic>
      <p:pic>
        <p:nvPicPr>
          <p:cNvPr id="24" name="p2-mid p2-k b" descr="p2-mid p2-k b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419600" y="4037740"/>
            <a:ext cx="1473200" cy="1701800"/>
          </a:xfrm>
          <a:prstGeom prst="rect">
            <a:avLst/>
          </a:prstGeom>
        </p:spPr>
      </p:pic>
      <p:sp>
        <p:nvSpPr>
          <p:cNvPr id="25" name="i"/>
          <p:cNvSpPr/>
          <p:nvPr/>
        </p:nvSpPr>
        <p:spPr>
          <a:xfrm>
            <a:off x="4889202" y="4638278"/>
            <a:ext cx="76200" cy="76200"/>
          </a:xfrm>
          <a:prstGeom prst="ellipse">
            <a:avLst/>
          </a:prstGeom>
          <a:solidFill>
            <a:srgbClr val="004B8D"/>
          </a:solidFill>
          <a:ln/>
        </p:spPr>
      </p:sp>
      <p:pic>
        <p:nvPicPr>
          <p:cNvPr id="26" name="p2-arrow" descr="p2-arrow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686300" y="5146344"/>
            <a:ext cx="929217" cy="84667"/>
          </a:xfrm>
          <a:prstGeom prst="rect">
            <a:avLst/>
          </a:prstGeom>
        </p:spPr>
      </p:pic>
      <p:pic>
        <p:nvPicPr>
          <p:cNvPr id="27" name="p2-c p2-r b" descr="p2-c p2-r b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5892800" y="4037740"/>
            <a:ext cx="5689600" cy="6350"/>
          </a:xfrm>
          <a:prstGeom prst="rect">
            <a:avLst/>
          </a:prstGeom>
        </p:spPr>
      </p:pic>
      <p:sp>
        <p:nvSpPr>
          <p:cNvPr id="28" name="i"/>
          <p:cNvSpPr/>
          <p:nvPr/>
        </p:nvSpPr>
        <p:spPr>
          <a:xfrm>
            <a:off x="6197600" y="4878784"/>
            <a:ext cx="50800" cy="50800"/>
          </a:xfrm>
          <a:prstGeom prst="ellipse">
            <a:avLst/>
          </a:prstGeom>
          <a:solidFill>
            <a:srgbClr val="004B8D"/>
          </a:solidFill>
          <a:ln/>
        </p:spPr>
      </p:sp>
      <p:sp>
        <p:nvSpPr>
          <p:cNvPr id="29" name="i"/>
          <p:cNvSpPr/>
          <p:nvPr/>
        </p:nvSpPr>
        <p:spPr>
          <a:xfrm>
            <a:off x="7314902" y="4878784"/>
            <a:ext cx="50800" cy="50800"/>
          </a:xfrm>
          <a:prstGeom prst="ellipse">
            <a:avLst/>
          </a:prstGeom>
          <a:solidFill>
            <a:srgbClr val="004B8D"/>
          </a:solidFill>
          <a:ln/>
        </p:spPr>
      </p:sp>
      <p:sp>
        <p:nvSpPr>
          <p:cNvPr id="30" name="i"/>
          <p:cNvSpPr/>
          <p:nvPr/>
        </p:nvSpPr>
        <p:spPr>
          <a:xfrm>
            <a:off x="8483104" y="4878784"/>
            <a:ext cx="50800" cy="50800"/>
          </a:xfrm>
          <a:prstGeom prst="ellipse">
            <a:avLst/>
          </a:prstGeom>
          <a:solidFill>
            <a:srgbClr val="004B8D"/>
          </a:solidFill>
          <a:ln/>
        </p:spPr>
      </p:sp>
      <p:sp>
        <p:nvSpPr>
          <p:cNvPr id="31" name="i"/>
          <p:cNvSpPr/>
          <p:nvPr/>
        </p:nvSpPr>
        <p:spPr>
          <a:xfrm>
            <a:off x="9749631" y="4878784"/>
            <a:ext cx="50800" cy="50800"/>
          </a:xfrm>
          <a:prstGeom prst="ellipse">
            <a:avLst/>
          </a:prstGeom>
          <a:solidFill>
            <a:srgbClr val="004B8D"/>
          </a:solidFill>
          <a:ln/>
        </p:spPr>
      </p:sp>
      <p:pic>
        <p:nvPicPr>
          <p:cNvPr id="32" name="svg" descr="sv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220883" y="5146311"/>
            <a:ext cx="95250" cy="84667"/>
          </a:xfrm>
          <a:prstGeom prst="rect">
            <a:avLst/>
          </a:prstGeom>
        </p:spPr>
      </p:pic>
      <p:sp>
        <p:nvSpPr>
          <p:cNvPr id="33" name="key"/>
          <p:cNvSpPr/>
          <p:nvPr/>
        </p:nvSpPr>
        <p:spPr>
          <a:xfrm>
            <a:off x="609600" y="5892205"/>
            <a:ext cx="10972800" cy="457200"/>
          </a:xfrm>
          <a:prstGeom prst="roundRect">
            <a:avLst>
              <a:gd name="adj" fmla="val 30556"/>
            </a:avLst>
          </a:prstGeom>
          <a:solidFill>
            <a:srgbClr val="0B2147"/>
          </a:solidFill>
          <a:ln/>
        </p:spPr>
      </p:sp>
      <p:sp>
        <p:nvSpPr>
          <p:cNvPr id="34" name="i"/>
          <p:cNvSpPr/>
          <p:nvPr/>
        </p:nvSpPr>
        <p:spPr>
          <a:xfrm>
            <a:off x="863600" y="6089055"/>
            <a:ext cx="63500" cy="63500"/>
          </a:xfrm>
          <a:prstGeom prst="ellipse">
            <a:avLst/>
          </a:prstGeom>
          <a:solidFill>
            <a:srgbClr val="00A94F"/>
          </a:solidFill>
          <a:ln/>
        </p:spPr>
      </p:sp>
      <p:sp>
        <p:nvSpPr>
          <p:cNvPr id="35" name="b"/>
          <p:cNvSpPr/>
          <p:nvPr/>
        </p:nvSpPr>
        <p:spPr>
          <a:xfrm>
            <a:off x="927100" y="6114455"/>
            <a:ext cx="88900" cy="12700"/>
          </a:xfrm>
          <a:prstGeom prst="rect">
            <a:avLst/>
          </a:prstGeom>
          <a:solidFill>
            <a:srgbClr val="C3CEDD"/>
          </a:solidFill>
          <a:ln/>
        </p:spPr>
      </p:sp>
      <p:sp>
        <p:nvSpPr>
          <p:cNvPr id="36" name="i"/>
          <p:cNvSpPr/>
          <p:nvPr/>
        </p:nvSpPr>
        <p:spPr>
          <a:xfrm>
            <a:off x="1016000" y="6089055"/>
            <a:ext cx="63500" cy="63500"/>
          </a:xfrm>
          <a:prstGeom prst="ellipse">
            <a:avLst/>
          </a:prstGeom>
          <a:solidFill>
            <a:srgbClr val="004B8D"/>
          </a:solidFill>
          <a:ln/>
        </p:spPr>
      </p:sp>
      <p:sp>
        <p:nvSpPr>
          <p:cNvPr id="37" name="b"/>
          <p:cNvSpPr/>
          <p:nvPr/>
        </p:nvSpPr>
        <p:spPr>
          <a:xfrm>
            <a:off x="1079500" y="6114455"/>
            <a:ext cx="88900" cy="12700"/>
          </a:xfrm>
          <a:prstGeom prst="rect">
            <a:avLst/>
          </a:prstGeom>
          <a:solidFill>
            <a:srgbClr val="C3CEDD"/>
          </a:solidFill>
          <a:ln/>
        </p:spPr>
      </p:sp>
      <p:sp>
        <p:nvSpPr>
          <p:cNvPr id="38" name="i"/>
          <p:cNvSpPr/>
          <p:nvPr/>
        </p:nvSpPr>
        <p:spPr>
          <a:xfrm>
            <a:off x="1168400" y="6089055"/>
            <a:ext cx="63500" cy="63500"/>
          </a:xfrm>
          <a:prstGeom prst="ellipse">
            <a:avLst/>
          </a:prstGeom>
          <a:solidFill>
            <a:srgbClr val="FDBB30"/>
          </a:solidFill>
          <a:ln/>
        </p:spPr>
      </p:sp>
      <p:sp>
        <p:nvSpPr>
          <p:cNvPr id="39" name="02"/>
          <p:cNvSpPr txBox="1"/>
          <p:nvPr/>
        </p:nvSpPr>
        <p:spPr>
          <a:xfrm>
            <a:off x="1066800" y="419100"/>
            <a:ext cx="238026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100" spc="22" kern="0" dirty="0">
                <a:solidFill>
                  <a:srgbClr val="004B8D"/>
                </a:solidFill>
                <a:latin typeface="Pretendard ExtraBold" pitchFamily="34" charset="0"/>
                <a:ea typeface="Pretendard ExtraBold" pitchFamily="34" charset="-127"/>
                <a:cs typeface="Pretendard ExtraBold" pitchFamily="34" charset="-120"/>
              </a:rPr>
              <a:t>02</a:t>
            </a:r>
            <a:endParaRPr lang="en-US" sz="1100" dirty="0"/>
          </a:p>
        </p:txBody>
      </p:sp>
      <p:sp>
        <p:nvSpPr>
          <p:cNvPr id="40" name="PT 주제 2. 가치관과 핵심키워드의 연결점 &amp; 입사 후 실천"/>
          <p:cNvSpPr txBox="1"/>
          <p:nvPr/>
        </p:nvSpPr>
        <p:spPr>
          <a:xfrm>
            <a:off x="1342926" y="419100"/>
            <a:ext cx="323088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100" spc="-11" kern="0" dirty="0">
                <a:solidFill>
                  <a:srgbClr val="6A7487"/>
                </a:solidFill>
                <a:latin typeface="Pretendard SemiBold" pitchFamily="34" charset="0"/>
                <a:ea typeface="Pretendard SemiBold" pitchFamily="34" charset="-127"/>
                <a:cs typeface="Pretendard SemiBold" pitchFamily="34" charset="-120"/>
              </a:rPr>
              <a:t>PT 주제 2. 가치관과 핵심키워드의 연결점 &amp; 입사 후 실천</a:t>
            </a:r>
            <a:endParaRPr lang="en-US" sz="1100" dirty="0"/>
          </a:p>
        </p:txBody>
      </p:sp>
      <p:sp>
        <p:nvSpPr>
          <p:cNvPr id="41" name="제가 중요하게 생각하는 ‘협업’의 가치는"/>
          <p:cNvSpPr txBox="1"/>
          <p:nvPr/>
        </p:nvSpPr>
        <p:spPr>
          <a:xfrm>
            <a:off x="609600" y="774005"/>
            <a:ext cx="3195437" cy="2413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600" spc="-32" kern="0" dirty="0">
                <a:solidFill>
                  <a:srgbClr val="3D4757"/>
                </a:solidFill>
                <a:latin typeface="Pretendard SemiBold" pitchFamily="34" charset="0"/>
                <a:ea typeface="Pretendard SemiBold" pitchFamily="34" charset="-127"/>
                <a:cs typeface="Pretendard SemiBold" pitchFamily="34" charset="-120"/>
              </a:rPr>
              <a:t>제가 중요하게 생각하는 ‘협업’의 가치는</a:t>
            </a:r>
            <a:endParaRPr lang="en-US" sz="1600" dirty="0"/>
          </a:p>
        </p:txBody>
      </p:sp>
      <p:sp>
        <p:nvSpPr>
          <p:cNvPr id="42" name="현대엔지니어링의 ‘우리의 기술’과 맞닿아 있습니다."/>
          <p:cNvSpPr txBox="1"/>
          <p:nvPr/>
        </p:nvSpPr>
        <p:spPr>
          <a:xfrm>
            <a:off x="609600" y="1100336"/>
            <a:ext cx="7128339" cy="425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2800" spc="-98" kern="0" dirty="0">
                <a:solidFill>
                  <a:srgbClr val="0B2147"/>
                </a:solidFill>
                <a:latin typeface="Pretendard ExtraBold" pitchFamily="34" charset="0"/>
                <a:ea typeface="Pretendard ExtraBold" pitchFamily="34" charset="-127"/>
                <a:cs typeface="Pretendard ExtraBold" pitchFamily="34" charset="-120"/>
              </a:rPr>
              <a:t>현대엔지니어링의 ‘</a:t>
            </a:r>
            <a:pPr algn="l" indent="0" marL="0">
              <a:buNone/>
            </a:pPr>
            <a:r>
              <a:rPr lang="ko-KR" altLang="en-US" sz="2800" spc="-98" kern="0" dirty="0">
                <a:solidFill>
                  <a:srgbClr val="004B8D"/>
                </a:solidFill>
                <a:latin typeface="Pretendard ExtraBold" pitchFamily="34" charset="0"/>
                <a:ea typeface="Pretendard ExtraBold" pitchFamily="34" charset="-127"/>
                <a:cs typeface="Pretendard ExtraBold" pitchFamily="34" charset="-120"/>
              </a:rPr>
              <a:t>우리의 기술</a:t>
            </a:r>
            <a:pPr algn="l" indent="0" marL="0">
              <a:buNone/>
            </a:pPr>
            <a:r>
              <a:rPr lang="ko-KR" altLang="en-US" sz="2800" spc="-98" kern="0" dirty="0">
                <a:solidFill>
                  <a:srgbClr val="0B2147"/>
                </a:solidFill>
                <a:latin typeface="Pretendard ExtraBold" pitchFamily="34" charset="0"/>
                <a:ea typeface="Pretendard ExtraBold" pitchFamily="34" charset="-127"/>
                <a:cs typeface="Pretendard ExtraBold" pitchFamily="34" charset="-120"/>
              </a:rPr>
              <a:t>’과 맞닿아 있습니다.</a:t>
            </a:r>
            <a:endParaRPr lang="en-US" sz="2800" dirty="0"/>
          </a:p>
        </p:txBody>
      </p:sp>
      <p:sp>
        <p:nvSpPr>
          <p:cNvPr id="43" name="MY VALUES"/>
          <p:cNvSpPr txBox="1"/>
          <p:nvPr/>
        </p:nvSpPr>
        <p:spPr>
          <a:xfrm>
            <a:off x="609600" y="1827014"/>
            <a:ext cx="859234" cy="1460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950" b="1" spc="114" kern="0" dirty="0">
                <a:solidFill>
                  <a:srgbClr val="004B8D"/>
                </a:solidFill>
                <a:latin typeface="Pretendard" pitchFamily="34" charset="0"/>
                <a:ea typeface="Pretendard" pitchFamily="34" charset="-127"/>
                <a:cs typeface="Pretendard" pitchFamily="34" charset="-120"/>
              </a:rPr>
              <a:t>MY VALUES</a:t>
            </a:r>
            <a:endParaRPr lang="en-US" sz="950" dirty="0"/>
          </a:p>
        </p:txBody>
      </p:sp>
      <p:sp>
        <p:nvSpPr>
          <p:cNvPr id="44" name="나의 가치관 · 공동의 목표를 공유하는 협업"/>
          <p:cNvSpPr txBox="1"/>
          <p:nvPr/>
        </p:nvSpPr>
        <p:spPr>
          <a:xfrm>
            <a:off x="609600" y="2040037"/>
            <a:ext cx="235858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100" b="1" spc="-22" kern="0" dirty="0">
                <a:solidFill>
                  <a:srgbClr val="0B2147"/>
                </a:solidFill>
                <a:latin typeface="Pretendard" pitchFamily="34" charset="0"/>
                <a:ea typeface="Pretendard" pitchFamily="34" charset="-127"/>
                <a:cs typeface="Pretendard" pitchFamily="34" charset="-120"/>
              </a:rPr>
              <a:t>나의 가치관</a:t>
            </a:r>
            <a:pPr algn="l" indent="0" marL="0">
              <a:buNone/>
            </a:pPr>
            <a:r>
              <a:rPr lang="ko-KR" altLang="en-US" sz="1100" spc="-22" kern="0" dirty="0">
                <a:solidFill>
                  <a:srgbClr val="3D4757"/>
                </a:solidFill>
                <a:latin typeface="Pretendard Medium" pitchFamily="34" charset="0"/>
                <a:ea typeface="Pretendard Medium" pitchFamily="34" charset="-127"/>
                <a:cs typeface="Pretendard Medium" pitchFamily="34" charset="-120"/>
              </a:rPr>
              <a:t> · 공동의 목표를 공유하는 협업</a:t>
            </a:r>
            <a:endParaRPr lang="en-US" sz="1100" dirty="0"/>
          </a:p>
        </p:txBody>
      </p:sp>
      <p:sp>
        <p:nvSpPr>
          <p:cNvPr id="45" name="현대엔지니어링"/>
          <p:cNvSpPr txBox="1"/>
          <p:nvPr/>
        </p:nvSpPr>
        <p:spPr>
          <a:xfrm>
            <a:off x="6197600" y="1827014"/>
            <a:ext cx="797620" cy="1460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950" b="1" spc="19" kern="0" dirty="0">
                <a:solidFill>
                  <a:srgbClr val="004B8D"/>
                </a:solidFill>
                <a:latin typeface="Pretendard" pitchFamily="34" charset="0"/>
                <a:ea typeface="Pretendard" pitchFamily="34" charset="-127"/>
                <a:cs typeface="Pretendard" pitchFamily="34" charset="-120"/>
              </a:rPr>
              <a:t>현대엔지니어링</a:t>
            </a:r>
            <a:endParaRPr lang="en-US" sz="950" dirty="0"/>
          </a:p>
        </p:txBody>
      </p:sp>
      <p:sp>
        <p:nvSpPr>
          <p:cNvPr id="46" name="저는 ‘우리의 기술’을 이렇게 이해했습니다"/>
          <p:cNvSpPr txBox="1"/>
          <p:nvPr/>
        </p:nvSpPr>
        <p:spPr>
          <a:xfrm>
            <a:off x="6197600" y="2040037"/>
            <a:ext cx="2319986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100" spc="-22" kern="0" dirty="0">
                <a:solidFill>
                  <a:srgbClr val="3D4757"/>
                </a:solidFill>
                <a:latin typeface="Pretendard Medium" pitchFamily="34" charset="0"/>
                <a:ea typeface="Pretendard Medium" pitchFamily="34" charset="-127"/>
                <a:cs typeface="Pretendard Medium" pitchFamily="34" charset="-120"/>
              </a:rPr>
              <a:t>저는 ‘</a:t>
            </a:r>
            <a:pPr algn="l" indent="0" marL="0">
              <a:buNone/>
            </a:pPr>
            <a:r>
              <a:rPr lang="ko-KR" altLang="en-US" sz="1100" b="1" spc="-22" kern="0" dirty="0">
                <a:solidFill>
                  <a:srgbClr val="004B8D"/>
                </a:solidFill>
                <a:latin typeface="Pretendard" pitchFamily="34" charset="0"/>
                <a:ea typeface="Pretendard" pitchFamily="34" charset="-127"/>
                <a:cs typeface="Pretendard" pitchFamily="34" charset="-120"/>
              </a:rPr>
              <a:t>우리의 기술</a:t>
            </a:r>
            <a:pPr algn="l" indent="0" marL="0">
              <a:buNone/>
            </a:pPr>
            <a:r>
              <a:rPr lang="ko-KR" altLang="en-US" sz="1100" spc="-22" kern="0" dirty="0">
                <a:solidFill>
                  <a:srgbClr val="3D4757"/>
                </a:solidFill>
                <a:latin typeface="Pretendard Medium" pitchFamily="34" charset="0"/>
                <a:ea typeface="Pretendard Medium" pitchFamily="34" charset="-127"/>
                <a:cs typeface="Pretendard Medium" pitchFamily="34" charset="-120"/>
              </a:rPr>
              <a:t>’을 이렇게 이해했습니다</a:t>
            </a:r>
            <a:endParaRPr lang="en-US" sz="1100" dirty="0"/>
          </a:p>
        </p:txBody>
      </p:sp>
      <p:sp>
        <p:nvSpPr>
          <p:cNvPr id="47" name="사람의 연결"/>
          <p:cNvSpPr txBox="1"/>
          <p:nvPr/>
        </p:nvSpPr>
        <p:spPr>
          <a:xfrm>
            <a:off x="609600" y="2791123"/>
            <a:ext cx="828179" cy="215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400" b="1" spc="-42" kern="0" dirty="0">
                <a:solidFill>
                  <a:srgbClr val="0B2147"/>
                </a:solidFill>
                <a:latin typeface="Pretendard" pitchFamily="34" charset="0"/>
                <a:ea typeface="Pretendard" pitchFamily="34" charset="-127"/>
                <a:cs typeface="Pretendard" pitchFamily="34" charset="-120"/>
              </a:rPr>
              <a:t>사람의 연결</a:t>
            </a:r>
            <a:endParaRPr lang="en-US" sz="1400" dirty="0"/>
          </a:p>
        </p:txBody>
      </p:sp>
      <p:sp>
        <p:nvSpPr>
          <p:cNvPr id="48" name="참신성 vs 구현 가능성, 서로 다른 의견"/>
          <p:cNvSpPr txBox="1"/>
          <p:nvPr/>
        </p:nvSpPr>
        <p:spPr>
          <a:xfrm>
            <a:off x="609600" y="3114973"/>
            <a:ext cx="216864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100" spc="-22" kern="0" dirty="0">
                <a:solidFill>
                  <a:srgbClr val="3D4757"/>
                </a:solidFill>
                <a:latin typeface="Pretendard Medium" pitchFamily="34" charset="0"/>
                <a:ea typeface="Pretendard Medium" pitchFamily="34" charset="-127"/>
                <a:cs typeface="Pretendard Medium" pitchFamily="34" charset="-120"/>
              </a:rPr>
              <a:t>참신성 </a:t>
            </a:r>
            <a:pPr algn="l" indent="0" marL="0">
              <a:buNone/>
            </a:pPr>
            <a:r>
              <a:rPr lang="ko-KR" altLang="en-US" sz="1100" b="1" spc="-22" kern="0" dirty="0">
                <a:solidFill>
                  <a:srgbClr val="6A7487"/>
                </a:solidFill>
                <a:latin typeface="Pretendard" pitchFamily="34" charset="0"/>
                <a:ea typeface="Pretendard" pitchFamily="34" charset="-127"/>
                <a:cs typeface="Pretendard" pitchFamily="34" charset="-120"/>
              </a:rPr>
              <a:t>vs</a:t>
            </a:r>
            <a:pPr algn="l" indent="0" marL="0">
              <a:buNone/>
            </a:pPr>
            <a:r>
              <a:rPr lang="ko-KR" altLang="en-US" sz="1100" spc="-22" kern="0" dirty="0">
                <a:solidFill>
                  <a:srgbClr val="3D4757"/>
                </a:solidFill>
                <a:latin typeface="Pretendard Medium" pitchFamily="34" charset="0"/>
                <a:ea typeface="Pretendard Medium" pitchFamily="34" charset="-127"/>
                <a:cs typeface="Pretendard Medium" pitchFamily="34" charset="-120"/>
              </a:rPr>
              <a:t> 구현 가능성, 서로 다른 의견</a:t>
            </a:r>
            <a:endParaRPr lang="en-US" sz="1100" dirty="0"/>
          </a:p>
        </p:txBody>
      </p:sp>
      <p:sp>
        <p:nvSpPr>
          <p:cNvPr id="49" name="공동의 기준으로 조율해 하나의 목표로"/>
          <p:cNvSpPr txBox="1"/>
          <p:nvPr/>
        </p:nvSpPr>
        <p:spPr>
          <a:xfrm>
            <a:off x="812800" y="3399433"/>
            <a:ext cx="2124998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100" b="1" spc="-22" kern="0" dirty="0">
                <a:solidFill>
                  <a:srgbClr val="0B2147"/>
                </a:solidFill>
                <a:latin typeface="Pretendard" pitchFamily="34" charset="0"/>
                <a:ea typeface="Pretendard" pitchFamily="34" charset="-127"/>
                <a:cs typeface="Pretendard" pitchFamily="34" charset="-120"/>
              </a:rPr>
              <a:t>공동의 기준으로 조율해 하나의 목표로</a:t>
            </a:r>
            <a:endParaRPr lang="en-US" sz="1100" dirty="0"/>
          </a:p>
        </p:txBody>
      </p:sp>
      <p:sp>
        <p:nvSpPr>
          <p:cNvPr id="50" name="우리"/>
          <p:cNvSpPr txBox="1"/>
          <p:nvPr/>
        </p:nvSpPr>
        <p:spPr>
          <a:xfrm>
            <a:off x="5041602" y="2833787"/>
            <a:ext cx="432296" cy="2730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800" spc="-54" kern="0" dirty="0">
                <a:solidFill>
                  <a:srgbClr val="0B2147"/>
                </a:solidFill>
                <a:latin typeface="Pretendard ExtraBold" pitchFamily="34" charset="0"/>
                <a:ea typeface="Pretendard ExtraBold" pitchFamily="34" charset="-127"/>
                <a:cs typeface="Pretendard ExtraBold" pitchFamily="34" charset="-120"/>
              </a:rPr>
              <a:t>우리</a:t>
            </a:r>
            <a:endParaRPr lang="en-US" sz="1800" dirty="0"/>
          </a:p>
        </p:txBody>
      </p:sp>
      <p:sp>
        <p:nvSpPr>
          <p:cNvPr id="51" name="OUR"/>
          <p:cNvSpPr txBox="1"/>
          <p:nvPr/>
        </p:nvSpPr>
        <p:spPr>
          <a:xfrm>
            <a:off x="5008463" y="3174107"/>
            <a:ext cx="346273" cy="1460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950" b="1" spc="114" kern="0" dirty="0">
                <a:solidFill>
                  <a:srgbClr val="6A7487"/>
                </a:solidFill>
                <a:latin typeface="Pretendard" pitchFamily="34" charset="0"/>
                <a:ea typeface="Pretendard" pitchFamily="34" charset="-127"/>
                <a:cs typeface="Pretendard" pitchFamily="34" charset="-120"/>
              </a:rPr>
              <a:t>OUR</a:t>
            </a:r>
            <a:endParaRPr lang="en-US" sz="950" dirty="0"/>
          </a:p>
        </p:txBody>
      </p:sp>
      <p:sp>
        <p:nvSpPr>
          <p:cNvPr id="52" name="사람과 전문성의 연결"/>
          <p:cNvSpPr txBox="1"/>
          <p:nvPr/>
        </p:nvSpPr>
        <p:spPr>
          <a:xfrm>
            <a:off x="6197600" y="2791123"/>
            <a:ext cx="1490706" cy="215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400" b="1" spc="-42" kern="0" dirty="0">
                <a:solidFill>
                  <a:srgbClr val="0B2147"/>
                </a:solidFill>
                <a:latin typeface="Pretendard" pitchFamily="34" charset="0"/>
                <a:ea typeface="Pretendard" pitchFamily="34" charset="-127"/>
                <a:cs typeface="Pretendard" pitchFamily="34" charset="-120"/>
              </a:rPr>
              <a:t>사람과 전문성의 연결</a:t>
            </a:r>
            <a:endParaRPr lang="en-US" sz="1400" dirty="0"/>
          </a:p>
        </p:txBody>
      </p:sp>
      <p:sp>
        <p:nvSpPr>
          <p:cNvPr id="53" name="설계"/>
          <p:cNvSpPr txBox="1"/>
          <p:nvPr/>
        </p:nvSpPr>
        <p:spPr>
          <a:xfrm>
            <a:off x="6305550" y="3114973"/>
            <a:ext cx="286742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100" spc="-22" kern="0" dirty="0">
                <a:solidFill>
                  <a:srgbClr val="3D4757"/>
                </a:solidFill>
                <a:latin typeface="Pretendard Medium" pitchFamily="34" charset="0"/>
                <a:ea typeface="Pretendard Medium" pitchFamily="34" charset="-127"/>
                <a:cs typeface="Pretendard Medium" pitchFamily="34" charset="-120"/>
              </a:rPr>
              <a:t>설계</a:t>
            </a:r>
            <a:endParaRPr lang="en-US" sz="1100" dirty="0"/>
          </a:p>
        </p:txBody>
      </p:sp>
      <p:sp>
        <p:nvSpPr>
          <p:cNvPr id="54" name="시공"/>
          <p:cNvSpPr txBox="1"/>
          <p:nvPr/>
        </p:nvSpPr>
        <p:spPr>
          <a:xfrm>
            <a:off x="6801842" y="3114973"/>
            <a:ext cx="286742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100" spc="-22" kern="0" dirty="0">
                <a:solidFill>
                  <a:srgbClr val="3D4757"/>
                </a:solidFill>
                <a:latin typeface="Pretendard Medium" pitchFamily="34" charset="0"/>
                <a:ea typeface="Pretendard Medium" pitchFamily="34" charset="-127"/>
                <a:cs typeface="Pretendard Medium" pitchFamily="34" charset="-120"/>
              </a:rPr>
              <a:t>시공</a:t>
            </a:r>
            <a:endParaRPr lang="en-US" sz="1100" dirty="0"/>
          </a:p>
        </p:txBody>
      </p:sp>
      <p:sp>
        <p:nvSpPr>
          <p:cNvPr id="55" name="협력업체"/>
          <p:cNvSpPr txBox="1"/>
          <p:nvPr/>
        </p:nvSpPr>
        <p:spPr>
          <a:xfrm>
            <a:off x="7298134" y="3114973"/>
            <a:ext cx="522585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100" spc="-22" kern="0" dirty="0">
                <a:solidFill>
                  <a:srgbClr val="3D4757"/>
                </a:solidFill>
                <a:latin typeface="Pretendard Medium" pitchFamily="34" charset="0"/>
                <a:ea typeface="Pretendard Medium" pitchFamily="34" charset="-127"/>
                <a:cs typeface="Pretendard Medium" pitchFamily="34" charset="-120"/>
              </a:rPr>
              <a:t>협력업체</a:t>
            </a:r>
            <a:endParaRPr lang="en-US" sz="1100" dirty="0"/>
          </a:p>
        </p:txBody>
      </p:sp>
      <p:sp>
        <p:nvSpPr>
          <p:cNvPr id="56" name="발주처"/>
          <p:cNvSpPr txBox="1"/>
          <p:nvPr/>
        </p:nvSpPr>
        <p:spPr>
          <a:xfrm>
            <a:off x="8030270" y="3114973"/>
            <a:ext cx="40471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100" spc="-22" kern="0" dirty="0">
                <a:solidFill>
                  <a:srgbClr val="3D4757"/>
                </a:solidFill>
                <a:latin typeface="Pretendard Medium" pitchFamily="34" charset="0"/>
                <a:ea typeface="Pretendard Medium" pitchFamily="34" charset="-127"/>
                <a:cs typeface="Pretendard Medium" pitchFamily="34" charset="-120"/>
              </a:rPr>
              <a:t>발주처</a:t>
            </a:r>
            <a:endParaRPr lang="en-US" sz="1100" dirty="0"/>
          </a:p>
        </p:txBody>
      </p:sp>
      <p:sp>
        <p:nvSpPr>
          <p:cNvPr id="57" name="유관부서"/>
          <p:cNvSpPr txBox="1"/>
          <p:nvPr/>
        </p:nvSpPr>
        <p:spPr>
          <a:xfrm>
            <a:off x="8644533" y="3114973"/>
            <a:ext cx="522585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100" spc="-22" kern="0" dirty="0">
                <a:solidFill>
                  <a:srgbClr val="3D4757"/>
                </a:solidFill>
                <a:latin typeface="Pretendard Medium" pitchFamily="34" charset="0"/>
                <a:ea typeface="Pretendard Medium" pitchFamily="34" charset="-127"/>
                <a:cs typeface="Pretendard Medium" pitchFamily="34" charset="-120"/>
              </a:rPr>
              <a:t>유관부서</a:t>
            </a:r>
            <a:endParaRPr lang="en-US" sz="1100" dirty="0"/>
          </a:p>
        </p:txBody>
      </p:sp>
      <p:sp>
        <p:nvSpPr>
          <p:cNvPr id="58" name="하나의 목표 · 프로젝트 완수"/>
          <p:cNvSpPr txBox="1"/>
          <p:nvPr/>
        </p:nvSpPr>
        <p:spPr>
          <a:xfrm>
            <a:off x="6400800" y="3399433"/>
            <a:ext cx="153877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100" b="1" spc="-22" kern="0" dirty="0">
                <a:solidFill>
                  <a:srgbClr val="0B2147"/>
                </a:solidFill>
                <a:latin typeface="Pretendard" pitchFamily="34" charset="0"/>
                <a:ea typeface="Pretendard" pitchFamily="34" charset="-127"/>
                <a:cs typeface="Pretendard" pitchFamily="34" charset="-120"/>
              </a:rPr>
              <a:t>하나의 목표 · 프로젝트 완수</a:t>
            </a:r>
            <a:endParaRPr lang="en-US" sz="1100" dirty="0"/>
          </a:p>
        </p:txBody>
      </p:sp>
      <p:sp>
        <p:nvSpPr>
          <p:cNvPr id="59" name="강점의 연결"/>
          <p:cNvSpPr txBox="1"/>
          <p:nvPr/>
        </p:nvSpPr>
        <p:spPr>
          <a:xfrm>
            <a:off x="609600" y="4495304"/>
            <a:ext cx="828179" cy="215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400" b="1" spc="-42" kern="0" dirty="0">
                <a:solidFill>
                  <a:srgbClr val="0B2147"/>
                </a:solidFill>
                <a:latin typeface="Pretendard" pitchFamily="34" charset="0"/>
                <a:ea typeface="Pretendard" pitchFamily="34" charset="-127"/>
                <a:cs typeface="Pretendard" pitchFamily="34" charset="-120"/>
              </a:rPr>
              <a:t>강점의 연결</a:t>
            </a:r>
            <a:endParaRPr lang="en-US" sz="1400" dirty="0"/>
          </a:p>
        </p:txBody>
      </p:sp>
      <p:sp>
        <p:nvSpPr>
          <p:cNvPr id="60" name="Dynamo 자동화 · 모듈러 설계 · BIM 모델링 · 시나리오 구성"/>
          <p:cNvSpPr txBox="1"/>
          <p:nvPr/>
        </p:nvSpPr>
        <p:spPr>
          <a:xfrm>
            <a:off x="609600" y="4819154"/>
            <a:ext cx="3354036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100" spc="-22" kern="0" dirty="0">
                <a:solidFill>
                  <a:srgbClr val="3D4757"/>
                </a:solidFill>
                <a:latin typeface="Pretendard Medium" pitchFamily="34" charset="0"/>
                <a:ea typeface="Pretendard Medium" pitchFamily="34" charset="-127"/>
                <a:cs typeface="Pretendard Medium" pitchFamily="34" charset="-120"/>
              </a:rPr>
              <a:t>Dynamo 자동화 · 모듈러 설계 · BIM 모델링 · 시나리오 구성</a:t>
            </a:r>
            <a:endParaRPr lang="en-US" sz="1100" dirty="0"/>
          </a:p>
        </p:txBody>
      </p:sp>
      <p:sp>
        <p:nvSpPr>
          <p:cNvPr id="61" name="각자의 강점을 모아 하나의 성과로"/>
          <p:cNvSpPr txBox="1"/>
          <p:nvPr/>
        </p:nvSpPr>
        <p:spPr>
          <a:xfrm>
            <a:off x="812800" y="5103614"/>
            <a:ext cx="187500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100" b="1" spc="-22" kern="0" dirty="0">
                <a:solidFill>
                  <a:srgbClr val="0B2147"/>
                </a:solidFill>
                <a:latin typeface="Pretendard" pitchFamily="34" charset="0"/>
                <a:ea typeface="Pretendard" pitchFamily="34" charset="-127"/>
                <a:cs typeface="Pretendard" pitchFamily="34" charset="-120"/>
              </a:rPr>
              <a:t>각자의 강점을 모아 하나의 성과로</a:t>
            </a:r>
            <a:endParaRPr lang="en-US" sz="1100" dirty="0"/>
          </a:p>
        </p:txBody>
      </p:sp>
      <p:sp>
        <p:nvSpPr>
          <p:cNvPr id="62" name="기술"/>
          <p:cNvSpPr txBox="1"/>
          <p:nvPr/>
        </p:nvSpPr>
        <p:spPr>
          <a:xfrm>
            <a:off x="5041602" y="4537968"/>
            <a:ext cx="432296" cy="2730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800" spc="-54" kern="0" dirty="0">
                <a:solidFill>
                  <a:srgbClr val="0B2147"/>
                </a:solidFill>
                <a:latin typeface="Pretendard ExtraBold" pitchFamily="34" charset="0"/>
                <a:ea typeface="Pretendard ExtraBold" pitchFamily="34" charset="-127"/>
                <a:cs typeface="Pretendard ExtraBold" pitchFamily="34" charset="-120"/>
              </a:rPr>
              <a:t>기술</a:t>
            </a:r>
            <a:endParaRPr lang="en-US" sz="1800" dirty="0"/>
          </a:p>
        </p:txBody>
      </p:sp>
      <p:sp>
        <p:nvSpPr>
          <p:cNvPr id="63" name="TECHNOLOGY"/>
          <p:cNvSpPr txBox="1"/>
          <p:nvPr/>
        </p:nvSpPr>
        <p:spPr>
          <a:xfrm>
            <a:off x="4673104" y="4878288"/>
            <a:ext cx="1024059" cy="1460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950" b="1" spc="114" kern="0" dirty="0">
                <a:solidFill>
                  <a:srgbClr val="6A7487"/>
                </a:solidFill>
                <a:latin typeface="Pretendard" pitchFamily="34" charset="0"/>
                <a:ea typeface="Pretendard" pitchFamily="34" charset="-127"/>
                <a:cs typeface="Pretendard" pitchFamily="34" charset="-120"/>
              </a:rPr>
              <a:t>TECHNOLOGY</a:t>
            </a:r>
            <a:endParaRPr lang="en-US" sz="950" dirty="0"/>
          </a:p>
        </p:txBody>
      </p:sp>
      <p:sp>
        <p:nvSpPr>
          <p:cNvPr id="64" name="미래 가치를 만드는 원동력"/>
          <p:cNvSpPr txBox="1"/>
          <p:nvPr/>
        </p:nvSpPr>
        <p:spPr>
          <a:xfrm>
            <a:off x="6197600" y="4495304"/>
            <a:ext cx="1842927" cy="215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400" b="1" spc="-42" kern="0" dirty="0">
                <a:solidFill>
                  <a:srgbClr val="0B2147"/>
                </a:solidFill>
                <a:latin typeface="Pretendard" pitchFamily="34" charset="0"/>
                <a:ea typeface="Pretendard" pitchFamily="34" charset="-127"/>
                <a:cs typeface="Pretendard" pitchFamily="34" charset="-120"/>
              </a:rPr>
              <a:t>미래 가치를 만드는 원동력</a:t>
            </a:r>
            <a:endParaRPr lang="en-US" sz="1400" dirty="0"/>
          </a:p>
        </p:txBody>
      </p:sp>
      <p:sp>
        <p:nvSpPr>
          <p:cNvPr id="65" name="에너지 원천기술"/>
          <p:cNvSpPr txBox="1"/>
          <p:nvPr/>
        </p:nvSpPr>
        <p:spPr>
          <a:xfrm>
            <a:off x="6305550" y="4819154"/>
            <a:ext cx="908369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100" spc="-22" kern="0" dirty="0">
                <a:solidFill>
                  <a:srgbClr val="3D4757"/>
                </a:solidFill>
                <a:latin typeface="Pretendard Medium" pitchFamily="34" charset="0"/>
                <a:ea typeface="Pretendard Medium" pitchFamily="34" charset="-127"/>
                <a:cs typeface="Pretendard Medium" pitchFamily="34" charset="-120"/>
              </a:rPr>
              <a:t>에너지 원천기술</a:t>
            </a:r>
            <a:endParaRPr lang="en-US" sz="1100" dirty="0"/>
          </a:p>
        </p:txBody>
      </p:sp>
      <p:sp>
        <p:nvSpPr>
          <p:cNvPr id="66" name="글로벌 EPC 역량"/>
          <p:cNvSpPr txBox="1"/>
          <p:nvPr/>
        </p:nvSpPr>
        <p:spPr>
          <a:xfrm>
            <a:off x="7422852" y="4819154"/>
            <a:ext cx="9623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100" spc="-22" kern="0" dirty="0">
                <a:solidFill>
                  <a:srgbClr val="3D4757"/>
                </a:solidFill>
                <a:latin typeface="Pretendard Medium" pitchFamily="34" charset="0"/>
                <a:ea typeface="Pretendard Medium" pitchFamily="34" charset="-127"/>
                <a:cs typeface="Pretendard Medium" pitchFamily="34" charset="-120"/>
              </a:rPr>
              <a:t>글로벌 EPC 역량</a:t>
            </a:r>
            <a:endParaRPr lang="en-US" sz="1100" dirty="0"/>
          </a:p>
        </p:txBody>
      </p:sp>
      <p:sp>
        <p:nvSpPr>
          <p:cNvPr id="67" name="첨단 산업건축 기술"/>
          <p:cNvSpPr txBox="1"/>
          <p:nvPr/>
        </p:nvSpPr>
        <p:spPr>
          <a:xfrm>
            <a:off x="8591054" y="4819154"/>
            <a:ext cx="1066548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100" spc="-22" kern="0" dirty="0">
                <a:solidFill>
                  <a:srgbClr val="3D4757"/>
                </a:solidFill>
                <a:latin typeface="Pretendard Medium" pitchFamily="34" charset="0"/>
                <a:ea typeface="Pretendard Medium" pitchFamily="34" charset="-127"/>
                <a:cs typeface="Pretendard Medium" pitchFamily="34" charset="-120"/>
              </a:rPr>
              <a:t>첨단 산업건축 기술</a:t>
            </a:r>
            <a:endParaRPr lang="en-US" sz="1100" dirty="0"/>
          </a:p>
        </p:txBody>
      </p:sp>
      <p:sp>
        <p:nvSpPr>
          <p:cNvPr id="68" name="스마트건설 기술"/>
          <p:cNvSpPr txBox="1"/>
          <p:nvPr/>
        </p:nvSpPr>
        <p:spPr>
          <a:xfrm>
            <a:off x="9857581" y="4819154"/>
            <a:ext cx="908369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100" spc="-22" kern="0" dirty="0">
                <a:solidFill>
                  <a:srgbClr val="3D4757"/>
                </a:solidFill>
                <a:latin typeface="Pretendard Medium" pitchFamily="34" charset="0"/>
                <a:ea typeface="Pretendard Medium" pitchFamily="34" charset="-127"/>
                <a:cs typeface="Pretendard Medium" pitchFamily="34" charset="-120"/>
              </a:rPr>
              <a:t>스마트건설 기술</a:t>
            </a:r>
            <a:endParaRPr lang="en-US" sz="1100" dirty="0"/>
          </a:p>
        </p:txBody>
      </p:sp>
      <p:sp>
        <p:nvSpPr>
          <p:cNvPr id="69" name="기술의 연결 · 미래 가치 창출"/>
          <p:cNvSpPr txBox="1"/>
          <p:nvPr/>
        </p:nvSpPr>
        <p:spPr>
          <a:xfrm>
            <a:off x="6400800" y="5103614"/>
            <a:ext cx="1569901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100" b="1" spc="-22" kern="0" dirty="0">
                <a:solidFill>
                  <a:srgbClr val="0B2147"/>
                </a:solidFill>
                <a:latin typeface="Pretendard" pitchFamily="34" charset="0"/>
                <a:ea typeface="Pretendard" pitchFamily="34" charset="-127"/>
                <a:cs typeface="Pretendard" pitchFamily="34" charset="-120"/>
              </a:rPr>
              <a:t>기술의 연결 · 미래 가치 창출</a:t>
            </a:r>
            <a:endParaRPr lang="en-US" sz="1100" dirty="0"/>
          </a:p>
        </p:txBody>
      </p:sp>
      <p:sp>
        <p:nvSpPr>
          <p:cNvPr id="70" name="선정 이유"/>
          <p:cNvSpPr txBox="1"/>
          <p:nvPr/>
        </p:nvSpPr>
        <p:spPr>
          <a:xfrm>
            <a:off x="1308100" y="6041430"/>
            <a:ext cx="544513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000" b="1" spc="40" kern="0" dirty="0">
                <a:solidFill>
                  <a:srgbClr val="8FD3F5"/>
                </a:solidFill>
                <a:latin typeface="Pretendard" pitchFamily="34" charset="0"/>
                <a:ea typeface="Pretendard" pitchFamily="34" charset="-127"/>
                <a:cs typeface="Pretendard" pitchFamily="34" charset="-120"/>
              </a:rPr>
              <a:t>선정 이유</a:t>
            </a:r>
            <a:endParaRPr lang="en-US" sz="1000" dirty="0"/>
          </a:p>
        </p:txBody>
      </p:sp>
      <p:sp>
        <p:nvSpPr>
          <p:cNvPr id="71" name="서로 다른 사람과 전문성이 하나의 목표로 연결될 때, 기술은 더 큰 가능"/>
          <p:cNvSpPr txBox="1"/>
          <p:nvPr/>
        </p:nvSpPr>
        <p:spPr>
          <a:xfrm>
            <a:off x="1979612" y="6011565"/>
            <a:ext cx="8908584" cy="215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400" b="1" spc="-42" kern="0" dirty="0">
                <a:solidFill>
                  <a:srgbClr val="FFFFFF"/>
                </a:solidFill>
                <a:latin typeface="Pretendard" pitchFamily="34" charset="0"/>
                <a:ea typeface="Pretendard" pitchFamily="34" charset="-127"/>
                <a:cs typeface="Pretendard" pitchFamily="34" charset="-120"/>
              </a:rPr>
              <a:t>서로 다른 사람과 전문성이 </a:t>
            </a:r>
            <a:pPr algn="l" indent="0" marL="0">
              <a:buNone/>
            </a:pPr>
            <a:r>
              <a:rPr lang="ko-KR" altLang="en-US" sz="1400" b="1" spc="-42" kern="0" dirty="0">
                <a:solidFill>
                  <a:srgbClr val="FDBB30"/>
                </a:solidFill>
                <a:latin typeface="Pretendard" pitchFamily="34" charset="0"/>
                <a:ea typeface="Pretendard" pitchFamily="34" charset="-127"/>
                <a:cs typeface="Pretendard" pitchFamily="34" charset="-120"/>
              </a:rPr>
              <a:t>하나의 목표</a:t>
            </a:r>
            <a:pPr algn="l" indent="0" marL="0">
              <a:buNone/>
            </a:pPr>
            <a:r>
              <a:rPr lang="ko-KR" altLang="en-US" sz="1400" b="1" spc="-42" kern="0" dirty="0">
                <a:solidFill>
                  <a:srgbClr val="FFFFFF"/>
                </a:solidFill>
                <a:latin typeface="Pretendard" pitchFamily="34" charset="0"/>
                <a:ea typeface="Pretendard" pitchFamily="34" charset="-127"/>
                <a:cs typeface="Pretendard" pitchFamily="34" charset="-120"/>
              </a:rPr>
              <a:t>로 연결될 때, 기술은 더 큰 가능성을 발휘하고 </a:t>
            </a:r>
            <a:pPr algn="l" indent="0" marL="0">
              <a:buNone/>
            </a:pPr>
            <a:r>
              <a:rPr lang="ko-KR" altLang="en-US" sz="1400" b="1" spc="-42" kern="0" dirty="0">
                <a:solidFill>
                  <a:srgbClr val="FDBB30"/>
                </a:solidFill>
                <a:latin typeface="Pretendard" pitchFamily="34" charset="0"/>
                <a:ea typeface="Pretendard" pitchFamily="34" charset="-127"/>
                <a:cs typeface="Pretendard" pitchFamily="34" charset="-120"/>
              </a:rPr>
              <a:t>새로운 미래 가치</a:t>
            </a:r>
            <a:pPr algn="l" indent="0" marL="0">
              <a:buNone/>
            </a:pPr>
            <a:r>
              <a:rPr lang="ko-KR" altLang="en-US" sz="1400" b="1" spc="-42" kern="0" dirty="0">
                <a:solidFill>
                  <a:srgbClr val="FFFFFF"/>
                </a:solidFill>
                <a:latin typeface="Pretendard" pitchFamily="34" charset="0"/>
                <a:ea typeface="Pretendard" pitchFamily="34" charset="-127"/>
                <a:cs typeface="Pretendard" pitchFamily="34" charset="-120"/>
              </a:rPr>
              <a:t>를 만들어간다고 믿습니다.</a:t>
            </a:r>
            <a:endParaRPr lang="en-US" sz="1400" dirty="0"/>
          </a:p>
        </p:txBody>
      </p:sp>
      <p:sp>
        <p:nvSpPr>
          <p:cNvPr id="72" name="2026년 하반기 신입사원 공개채용 | 공사관리 건축 직무 지원자 이현준"/>
          <p:cNvSpPr txBox="1"/>
          <p:nvPr/>
        </p:nvSpPr>
        <p:spPr>
          <a:xfrm>
            <a:off x="609600" y="6425605"/>
            <a:ext cx="3273685" cy="1333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900" spc="-9" kern="0" dirty="0">
                <a:solidFill>
                  <a:srgbClr val="6A7487"/>
                </a:solidFill>
                <a:latin typeface="Pretendard Medium" pitchFamily="34" charset="0"/>
                <a:ea typeface="Pretendard Medium" pitchFamily="34" charset="-127"/>
                <a:cs typeface="Pretendard Medium" pitchFamily="34" charset="-120"/>
              </a:rPr>
              <a:t>2026년 하반기 신입사원 공개채용 | 공사관리 건축 직무 지원자 이현준</a:t>
            </a:r>
            <a:endParaRPr lang="en-US" sz="900" dirty="0"/>
          </a:p>
        </p:txBody>
      </p:sp>
      <p:sp>
        <p:nvSpPr>
          <p:cNvPr id="73" name="02 / 03"/>
          <p:cNvSpPr txBox="1"/>
          <p:nvPr/>
        </p:nvSpPr>
        <p:spPr>
          <a:xfrm>
            <a:off x="11142166" y="6425605"/>
            <a:ext cx="491034" cy="1333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900" spc="54" kern="0" dirty="0">
                <a:solidFill>
                  <a:srgbClr val="004B8D"/>
                </a:solidFill>
                <a:latin typeface="Pretendard ExtraBold" pitchFamily="34" charset="0"/>
                <a:ea typeface="Pretendard ExtraBold" pitchFamily="34" charset="-127"/>
                <a:cs typeface="Pretendard ExtraBold" pitchFamily="34" charset="-120"/>
              </a:rPr>
              <a:t>02</a:t>
            </a:r>
            <a:pPr algn="l" indent="0" marL="0">
              <a:buNone/>
            </a:pPr>
            <a:r>
              <a:rPr lang="ko-KR" altLang="en-US" sz="900" b="1" spc="54" kern="0" dirty="0">
                <a:solidFill>
                  <a:srgbClr val="3D4757"/>
                </a:solidFill>
                <a:latin typeface="Pretendard" pitchFamily="34" charset="0"/>
                <a:ea typeface="Pretendard" pitchFamily="34" charset="-127"/>
                <a:cs typeface="Pretendard" pitchFamily="34" charset="-120"/>
              </a:rPr>
              <a:t> / 03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"/>
          <p:cNvSpPr/>
          <p:nvPr/>
        </p:nvSpPr>
        <p:spPr>
          <a:xfrm>
            <a:off x="609600" y="475853"/>
            <a:ext cx="63500" cy="63500"/>
          </a:xfrm>
          <a:prstGeom prst="ellipse">
            <a:avLst/>
          </a:prstGeom>
          <a:solidFill>
            <a:srgbClr val="00A94F"/>
          </a:solidFill>
          <a:ln/>
        </p:spPr>
      </p:sp>
      <p:sp>
        <p:nvSpPr>
          <p:cNvPr id="4" name="b"/>
          <p:cNvSpPr/>
          <p:nvPr/>
        </p:nvSpPr>
        <p:spPr>
          <a:xfrm>
            <a:off x="673100" y="501253"/>
            <a:ext cx="88900" cy="12700"/>
          </a:xfrm>
          <a:prstGeom prst="rect">
            <a:avLst/>
          </a:prstGeom>
          <a:solidFill>
            <a:srgbClr val="C3CEDD"/>
          </a:solidFill>
          <a:ln/>
        </p:spPr>
      </p:sp>
      <p:sp>
        <p:nvSpPr>
          <p:cNvPr id="5" name="i"/>
          <p:cNvSpPr/>
          <p:nvPr/>
        </p:nvSpPr>
        <p:spPr>
          <a:xfrm>
            <a:off x="762000" y="475853"/>
            <a:ext cx="63500" cy="63500"/>
          </a:xfrm>
          <a:prstGeom prst="ellipse">
            <a:avLst/>
          </a:prstGeom>
          <a:solidFill>
            <a:srgbClr val="004B8D"/>
          </a:solidFill>
          <a:ln/>
        </p:spPr>
      </p:sp>
      <p:sp>
        <p:nvSpPr>
          <p:cNvPr id="6" name="b"/>
          <p:cNvSpPr/>
          <p:nvPr/>
        </p:nvSpPr>
        <p:spPr>
          <a:xfrm>
            <a:off x="825500" y="501253"/>
            <a:ext cx="88900" cy="12700"/>
          </a:xfrm>
          <a:prstGeom prst="rect">
            <a:avLst/>
          </a:prstGeom>
          <a:solidFill>
            <a:srgbClr val="C3CEDD"/>
          </a:solidFill>
          <a:ln/>
        </p:spPr>
      </p:sp>
      <p:sp>
        <p:nvSpPr>
          <p:cNvPr id="7" name="i"/>
          <p:cNvSpPr/>
          <p:nvPr/>
        </p:nvSpPr>
        <p:spPr>
          <a:xfrm>
            <a:off x="914400" y="475853"/>
            <a:ext cx="63500" cy="63500"/>
          </a:xfrm>
          <a:prstGeom prst="ellipse">
            <a:avLst/>
          </a:prstGeom>
          <a:solidFill>
            <a:srgbClr val="FDBB30"/>
          </a:solidFill>
          <a:ln/>
        </p:spPr>
      </p:sp>
      <p:pic>
        <p:nvPicPr>
          <p:cNvPr id="8" name="img" descr="im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3935" y="415462"/>
            <a:ext cx="1526117" cy="268817"/>
          </a:xfrm>
          <a:prstGeom prst="rect">
            <a:avLst/>
          </a:prstGeom>
        </p:spPr>
      </p:pic>
      <p:pic>
        <p:nvPicPr>
          <p:cNvPr id="9" name="svg" descr="sv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59150" y="3384881"/>
            <a:ext cx="4616450" cy="762000"/>
          </a:xfrm>
          <a:prstGeom prst="rect">
            <a:avLst/>
          </a:prstGeom>
        </p:spPr>
      </p:pic>
      <p:pic>
        <p:nvPicPr>
          <p:cNvPr id="10" name="ic" descr="ic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0183" y="2607502"/>
            <a:ext cx="118533" cy="105833"/>
          </a:xfrm>
          <a:prstGeom prst="rect">
            <a:avLst/>
          </a:prstGeom>
        </p:spPr>
      </p:pic>
      <p:pic>
        <p:nvPicPr>
          <p:cNvPr id="11" name="li" descr="li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" y="2970973"/>
            <a:ext cx="63500" cy="12700"/>
          </a:xfrm>
          <a:prstGeom prst="rect">
            <a:avLst/>
          </a:prstGeom>
        </p:spPr>
      </p:pic>
      <p:pic>
        <p:nvPicPr>
          <p:cNvPr id="12" name="li" descr="li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9600" y="3187468"/>
            <a:ext cx="63500" cy="12700"/>
          </a:xfrm>
          <a:prstGeom prst="rect">
            <a:avLst/>
          </a:prstGeom>
        </p:spPr>
      </p:pic>
      <p:pic>
        <p:nvPicPr>
          <p:cNvPr id="13" name="li" descr="li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9600" y="3403964"/>
            <a:ext cx="63500" cy="12700"/>
          </a:xfrm>
          <a:prstGeom prst="rect">
            <a:avLst/>
          </a:prstGeom>
        </p:spPr>
      </p:pic>
      <p:pic>
        <p:nvPicPr>
          <p:cNvPr id="14" name="ic" descr="ic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176183" y="2334452"/>
            <a:ext cx="118533" cy="118533"/>
          </a:xfrm>
          <a:prstGeom prst="rect">
            <a:avLst/>
          </a:prstGeom>
        </p:spPr>
      </p:pic>
      <p:pic>
        <p:nvPicPr>
          <p:cNvPr id="15" name="li" descr="li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165600" y="2704273"/>
            <a:ext cx="63500" cy="12700"/>
          </a:xfrm>
          <a:prstGeom prst="rect">
            <a:avLst/>
          </a:prstGeom>
        </p:spPr>
      </p:pic>
      <p:pic>
        <p:nvPicPr>
          <p:cNvPr id="16" name="li" descr="li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165600" y="2920768"/>
            <a:ext cx="63500" cy="12700"/>
          </a:xfrm>
          <a:prstGeom prst="rect">
            <a:avLst/>
          </a:prstGeom>
        </p:spPr>
      </p:pic>
      <p:pic>
        <p:nvPicPr>
          <p:cNvPr id="17" name="ic" descr="ic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182533" y="4582352"/>
            <a:ext cx="105833" cy="118533"/>
          </a:xfrm>
          <a:prstGeom prst="rect">
            <a:avLst/>
          </a:prstGeom>
        </p:spPr>
      </p:pic>
      <p:pic>
        <p:nvPicPr>
          <p:cNvPr id="18" name="li" descr="li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165600" y="4952173"/>
            <a:ext cx="63500" cy="12700"/>
          </a:xfrm>
          <a:prstGeom prst="rect">
            <a:avLst/>
          </a:prstGeom>
        </p:spPr>
      </p:pic>
      <p:pic>
        <p:nvPicPr>
          <p:cNvPr id="19" name="li" descr="li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165600" y="5168668"/>
            <a:ext cx="63500" cy="12700"/>
          </a:xfrm>
          <a:prstGeom prst="rect">
            <a:avLst/>
          </a:prstGeom>
        </p:spPr>
      </p:pic>
      <p:sp>
        <p:nvSpPr>
          <p:cNvPr id="20" name="a focus"/>
          <p:cNvSpPr/>
          <p:nvPr/>
        </p:nvSpPr>
        <p:spPr>
          <a:xfrm>
            <a:off x="7975600" y="2741414"/>
            <a:ext cx="3606800" cy="1363166"/>
          </a:xfrm>
          <a:prstGeom prst="roundRect">
            <a:avLst>
              <a:gd name="adj" fmla="val 10248"/>
            </a:avLst>
          </a:prstGeom>
          <a:solidFill>
            <a:srgbClr val="0B2147"/>
          </a:solidFill>
          <a:ln/>
        </p:spPr>
      </p:sp>
      <p:pic>
        <p:nvPicPr>
          <p:cNvPr id="21" name="ic" descr="ic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189383" y="3246735"/>
            <a:ext cx="118533" cy="71967"/>
          </a:xfrm>
          <a:prstGeom prst="rect">
            <a:avLst/>
          </a:prstGeom>
        </p:spPr>
      </p:pic>
      <p:pic>
        <p:nvPicPr>
          <p:cNvPr id="22" name="li" descr="li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8178800" y="3593273"/>
            <a:ext cx="63500" cy="12700"/>
          </a:xfrm>
          <a:prstGeom prst="rect">
            <a:avLst/>
          </a:prstGeom>
        </p:spPr>
      </p:pic>
      <p:pic>
        <p:nvPicPr>
          <p:cNvPr id="23" name="li" descr="li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8178800" y="3809768"/>
            <a:ext cx="63500" cy="12700"/>
          </a:xfrm>
          <a:prstGeom prst="rect">
            <a:avLst/>
          </a:prstGeom>
        </p:spPr>
      </p:pic>
      <p:pic>
        <p:nvPicPr>
          <p:cNvPr id="24" name="ic" descr="ic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7986183" y="4366286"/>
            <a:ext cx="124883" cy="124883"/>
          </a:xfrm>
          <a:prstGeom prst="rect">
            <a:avLst/>
          </a:prstGeom>
        </p:spPr>
      </p:pic>
      <p:pic>
        <p:nvPicPr>
          <p:cNvPr id="25" name="li" descr="li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8806921" y="4331031"/>
            <a:ext cx="6350" cy="190500"/>
          </a:xfrm>
          <a:prstGeom prst="rect">
            <a:avLst/>
          </a:prstGeom>
        </p:spPr>
      </p:pic>
      <p:pic>
        <p:nvPicPr>
          <p:cNvPr id="26" name="ic" descr="ic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8938154" y="4366286"/>
            <a:ext cx="93133" cy="118533"/>
          </a:xfrm>
          <a:prstGeom prst="rect">
            <a:avLst/>
          </a:prstGeom>
        </p:spPr>
      </p:pic>
      <p:pic>
        <p:nvPicPr>
          <p:cNvPr id="27" name="li" descr="li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9752542" y="4331031"/>
            <a:ext cx="6350" cy="190500"/>
          </a:xfrm>
          <a:prstGeom prst="rect">
            <a:avLst/>
          </a:prstGeom>
        </p:spPr>
      </p:pic>
      <p:pic>
        <p:nvPicPr>
          <p:cNvPr id="28" name="ic" descr="ic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9871075" y="4366286"/>
            <a:ext cx="118533" cy="118533"/>
          </a:xfrm>
          <a:prstGeom prst="rect">
            <a:avLst/>
          </a:prstGeom>
        </p:spPr>
      </p:pic>
      <p:pic>
        <p:nvPicPr>
          <p:cNvPr id="29" name="li" descr="li">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10693929" y="4331031"/>
            <a:ext cx="6350" cy="190500"/>
          </a:xfrm>
          <a:prstGeom prst="rect">
            <a:avLst/>
          </a:prstGeom>
        </p:spPr>
      </p:pic>
      <p:pic>
        <p:nvPicPr>
          <p:cNvPr id="30" name="ic" descr="ic">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10812463" y="4366286"/>
            <a:ext cx="118533" cy="118533"/>
          </a:xfrm>
          <a:prstGeom prst="rect">
            <a:avLst/>
          </a:prstGeom>
        </p:spPr>
      </p:pic>
      <p:sp>
        <p:nvSpPr>
          <p:cNvPr id="31" name="key"/>
          <p:cNvSpPr/>
          <p:nvPr/>
        </p:nvSpPr>
        <p:spPr>
          <a:xfrm>
            <a:off x="609600" y="5915124"/>
            <a:ext cx="10972800" cy="434280"/>
          </a:xfrm>
          <a:prstGeom prst="roundRect">
            <a:avLst>
              <a:gd name="adj" fmla="val 32168"/>
            </a:avLst>
          </a:prstGeom>
          <a:solidFill>
            <a:srgbClr val="0B2147"/>
          </a:solidFill>
          <a:ln/>
        </p:spPr>
      </p:sp>
      <p:sp>
        <p:nvSpPr>
          <p:cNvPr id="32" name="i"/>
          <p:cNvSpPr/>
          <p:nvPr/>
        </p:nvSpPr>
        <p:spPr>
          <a:xfrm>
            <a:off x="812800" y="6100465"/>
            <a:ext cx="63500" cy="63500"/>
          </a:xfrm>
          <a:prstGeom prst="ellipse">
            <a:avLst/>
          </a:prstGeom>
          <a:solidFill>
            <a:srgbClr val="00A94F"/>
          </a:solidFill>
          <a:ln/>
        </p:spPr>
      </p:sp>
      <p:sp>
        <p:nvSpPr>
          <p:cNvPr id="33" name="b"/>
          <p:cNvSpPr/>
          <p:nvPr/>
        </p:nvSpPr>
        <p:spPr>
          <a:xfrm>
            <a:off x="876300" y="6125865"/>
            <a:ext cx="88900" cy="12700"/>
          </a:xfrm>
          <a:prstGeom prst="rect">
            <a:avLst/>
          </a:prstGeom>
          <a:solidFill>
            <a:srgbClr val="C3CEDD"/>
          </a:solidFill>
          <a:ln/>
        </p:spPr>
      </p:sp>
      <p:sp>
        <p:nvSpPr>
          <p:cNvPr id="34" name="i"/>
          <p:cNvSpPr/>
          <p:nvPr/>
        </p:nvSpPr>
        <p:spPr>
          <a:xfrm>
            <a:off x="965200" y="6100465"/>
            <a:ext cx="63500" cy="63500"/>
          </a:xfrm>
          <a:prstGeom prst="ellipse">
            <a:avLst/>
          </a:prstGeom>
          <a:solidFill>
            <a:srgbClr val="004B8D"/>
          </a:solidFill>
          <a:ln/>
        </p:spPr>
      </p:sp>
      <p:sp>
        <p:nvSpPr>
          <p:cNvPr id="35" name="b"/>
          <p:cNvSpPr/>
          <p:nvPr/>
        </p:nvSpPr>
        <p:spPr>
          <a:xfrm>
            <a:off x="1028700" y="6125865"/>
            <a:ext cx="88900" cy="12700"/>
          </a:xfrm>
          <a:prstGeom prst="rect">
            <a:avLst/>
          </a:prstGeom>
          <a:solidFill>
            <a:srgbClr val="C3CEDD"/>
          </a:solidFill>
          <a:ln/>
        </p:spPr>
      </p:sp>
      <p:sp>
        <p:nvSpPr>
          <p:cNvPr id="36" name="i"/>
          <p:cNvSpPr/>
          <p:nvPr/>
        </p:nvSpPr>
        <p:spPr>
          <a:xfrm>
            <a:off x="1117600" y="6100465"/>
            <a:ext cx="63500" cy="63500"/>
          </a:xfrm>
          <a:prstGeom prst="ellipse">
            <a:avLst/>
          </a:prstGeom>
          <a:solidFill>
            <a:srgbClr val="FDBB30"/>
          </a:solidFill>
          <a:ln/>
        </p:spPr>
      </p:sp>
      <p:sp>
        <p:nvSpPr>
          <p:cNvPr id="37" name="03"/>
          <p:cNvSpPr txBox="1"/>
          <p:nvPr/>
        </p:nvSpPr>
        <p:spPr>
          <a:xfrm>
            <a:off x="1066800" y="419100"/>
            <a:ext cx="241995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100" spc="22" kern="0" dirty="0">
                <a:solidFill>
                  <a:srgbClr val="004B8D"/>
                </a:solidFill>
                <a:latin typeface="Pretendard ExtraBold" pitchFamily="34" charset="0"/>
                <a:ea typeface="Pretendard ExtraBold" pitchFamily="34" charset="-127"/>
                <a:cs typeface="Pretendard ExtraBold" pitchFamily="34" charset="-120"/>
              </a:rPr>
              <a:t>03</a:t>
            </a:r>
            <a:endParaRPr lang="en-US" sz="1100" dirty="0"/>
          </a:p>
        </p:txBody>
      </p:sp>
      <p:sp>
        <p:nvSpPr>
          <p:cNvPr id="38" name="PT 주제 2. 가치관과 핵심키워드의 연결점 &amp; 입사 후 실천"/>
          <p:cNvSpPr txBox="1"/>
          <p:nvPr/>
        </p:nvSpPr>
        <p:spPr>
          <a:xfrm>
            <a:off x="1346895" y="419100"/>
            <a:ext cx="323088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100" spc="-11" kern="0" dirty="0">
                <a:solidFill>
                  <a:srgbClr val="6A7487"/>
                </a:solidFill>
                <a:latin typeface="Pretendard SemiBold" pitchFamily="34" charset="0"/>
                <a:ea typeface="Pretendard SemiBold" pitchFamily="34" charset="-127"/>
                <a:cs typeface="Pretendard SemiBold" pitchFamily="34" charset="-120"/>
              </a:rPr>
              <a:t>PT 주제 2. 가치관과 핵심키워드의 연결점 &amp; 입사 후 실천</a:t>
            </a:r>
            <a:endParaRPr lang="en-US" sz="1100" dirty="0"/>
          </a:p>
        </p:txBody>
      </p:sp>
      <p:sp>
        <p:nvSpPr>
          <p:cNvPr id="39" name="입사 후"/>
          <p:cNvSpPr txBox="1"/>
          <p:nvPr/>
        </p:nvSpPr>
        <p:spPr>
          <a:xfrm>
            <a:off x="609600" y="774005"/>
            <a:ext cx="609699" cy="2413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600" spc="-32" kern="0" dirty="0">
                <a:solidFill>
                  <a:srgbClr val="3D4757"/>
                </a:solidFill>
                <a:latin typeface="Pretendard SemiBold" pitchFamily="34" charset="0"/>
                <a:ea typeface="Pretendard SemiBold" pitchFamily="34" charset="-127"/>
                <a:cs typeface="Pretendard SemiBold" pitchFamily="34" charset="-120"/>
              </a:rPr>
              <a:t>입사 후</a:t>
            </a:r>
            <a:endParaRPr lang="en-US" sz="1600" dirty="0"/>
          </a:p>
        </p:txBody>
      </p:sp>
      <p:sp>
        <p:nvSpPr>
          <p:cNvPr id="40" name="사람과 기술을 연결해 현장의 변화를 만들겠습니다."/>
          <p:cNvSpPr txBox="1"/>
          <p:nvPr/>
        </p:nvSpPr>
        <p:spPr>
          <a:xfrm>
            <a:off x="609600" y="1100336"/>
            <a:ext cx="7016962" cy="425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2800" spc="-98" kern="0" dirty="0">
                <a:solidFill>
                  <a:srgbClr val="004B8D"/>
                </a:solidFill>
                <a:latin typeface="Pretendard ExtraBold" pitchFamily="34" charset="0"/>
                <a:ea typeface="Pretendard ExtraBold" pitchFamily="34" charset="-127"/>
                <a:cs typeface="Pretendard ExtraBold" pitchFamily="34" charset="-120"/>
              </a:rPr>
              <a:t>사람</a:t>
            </a:r>
            <a:pPr algn="l" indent="0" marL="0">
              <a:buNone/>
            </a:pPr>
            <a:r>
              <a:rPr lang="ko-KR" altLang="en-US" sz="2800" spc="-98" kern="0" dirty="0">
                <a:solidFill>
                  <a:srgbClr val="0B2147"/>
                </a:solidFill>
                <a:latin typeface="Pretendard ExtraBold" pitchFamily="34" charset="0"/>
                <a:ea typeface="Pretendard ExtraBold" pitchFamily="34" charset="-127"/>
                <a:cs typeface="Pretendard ExtraBold" pitchFamily="34" charset="-120"/>
              </a:rPr>
              <a:t>과 </a:t>
            </a:r>
            <a:pPr algn="l" indent="0" marL="0">
              <a:buNone/>
            </a:pPr>
            <a:r>
              <a:rPr lang="ko-KR" altLang="en-US" sz="2800" spc="-98" kern="0" dirty="0">
                <a:solidFill>
                  <a:srgbClr val="004B8D"/>
                </a:solidFill>
                <a:latin typeface="Pretendard ExtraBold" pitchFamily="34" charset="0"/>
                <a:ea typeface="Pretendard ExtraBold" pitchFamily="34" charset="-127"/>
                <a:cs typeface="Pretendard ExtraBold" pitchFamily="34" charset="-120"/>
              </a:rPr>
              <a:t>기술</a:t>
            </a:r>
            <a:pPr algn="l" indent="0" marL="0">
              <a:buNone/>
            </a:pPr>
            <a:r>
              <a:rPr lang="ko-KR" altLang="en-US" sz="2800" spc="-98" kern="0" dirty="0">
                <a:solidFill>
                  <a:srgbClr val="0B2147"/>
                </a:solidFill>
                <a:latin typeface="Pretendard ExtraBold" pitchFamily="34" charset="0"/>
                <a:ea typeface="Pretendard ExtraBold" pitchFamily="34" charset="-127"/>
                <a:cs typeface="Pretendard ExtraBold" pitchFamily="34" charset="-120"/>
              </a:rPr>
              <a:t>을 연결해 </a:t>
            </a:r>
            <a:pPr algn="l" indent="0" marL="0">
              <a:buNone/>
            </a:pPr>
            <a:r>
              <a:rPr lang="ko-KR" altLang="en-US" sz="2800" spc="-98" kern="0" dirty="0">
                <a:solidFill>
                  <a:srgbClr val="004B8D"/>
                </a:solidFill>
                <a:latin typeface="Pretendard ExtraBold" pitchFamily="34" charset="0"/>
                <a:ea typeface="Pretendard ExtraBold" pitchFamily="34" charset="-127"/>
                <a:cs typeface="Pretendard ExtraBold" pitchFamily="34" charset="-120"/>
              </a:rPr>
              <a:t>현장의 변화</a:t>
            </a:r>
            <a:pPr algn="l" indent="0" marL="0">
              <a:buNone/>
            </a:pPr>
            <a:r>
              <a:rPr lang="ko-KR" altLang="en-US" sz="2800" spc="-98" kern="0" dirty="0">
                <a:solidFill>
                  <a:srgbClr val="0B2147"/>
                </a:solidFill>
                <a:latin typeface="Pretendard ExtraBold" pitchFamily="34" charset="0"/>
                <a:ea typeface="Pretendard ExtraBold" pitchFamily="34" charset="-127"/>
                <a:cs typeface="Pretendard ExtraBold" pitchFamily="34" charset="-120"/>
              </a:rPr>
              <a:t>를 만들겠습니다.</a:t>
            </a:r>
            <a:endParaRPr lang="en-US" sz="2800" dirty="0"/>
          </a:p>
        </p:txBody>
      </p:sp>
      <p:sp>
        <p:nvSpPr>
          <p:cNvPr id="41" name="STEP 01"/>
          <p:cNvSpPr txBox="1"/>
          <p:nvPr/>
        </p:nvSpPr>
        <p:spPr>
          <a:xfrm>
            <a:off x="609600" y="2303264"/>
            <a:ext cx="607417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100" b="1" spc="22" kern="0" dirty="0">
                <a:solidFill>
                  <a:srgbClr val="004B8D"/>
                </a:solidFill>
                <a:latin typeface="Pretendard" pitchFamily="34" charset="0"/>
                <a:ea typeface="Pretendard" pitchFamily="34" charset="-127"/>
                <a:cs typeface="Pretendard" pitchFamily="34" charset="-120"/>
              </a:rPr>
              <a:t>STEP 01</a:t>
            </a:r>
            <a:endParaRPr lang="en-US" sz="1100" dirty="0"/>
          </a:p>
        </p:txBody>
      </p:sp>
      <p:sp>
        <p:nvSpPr>
          <p:cNvPr id="42" name="FIELD"/>
          <p:cNvSpPr txBox="1"/>
          <p:nvPr/>
        </p:nvSpPr>
        <p:spPr>
          <a:xfrm>
            <a:off x="1229717" y="2322314"/>
            <a:ext cx="453529" cy="1460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950" spc="133" kern="0" dirty="0">
                <a:solidFill>
                  <a:srgbClr val="6A7487"/>
                </a:solidFill>
                <a:latin typeface="Pretendard SemiBold" pitchFamily="34" charset="0"/>
                <a:ea typeface="Pretendard SemiBold" pitchFamily="34" charset="-127"/>
                <a:cs typeface="Pretendard SemiBold" pitchFamily="34" charset="-120"/>
              </a:rPr>
              <a:t>FIELD</a:t>
            </a:r>
            <a:endParaRPr lang="en-US" sz="950" dirty="0"/>
          </a:p>
        </p:txBody>
      </p:sp>
      <p:sp>
        <p:nvSpPr>
          <p:cNvPr id="43" name="현장을 이해하겠습니다."/>
          <p:cNvSpPr txBox="1"/>
          <p:nvPr/>
        </p:nvSpPr>
        <p:spPr>
          <a:xfrm>
            <a:off x="812800" y="2548930"/>
            <a:ext cx="1657719" cy="215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400" b="1" spc="-42" kern="0" dirty="0">
                <a:solidFill>
                  <a:srgbClr val="0B2147"/>
                </a:solidFill>
                <a:latin typeface="Pretendard" pitchFamily="34" charset="0"/>
                <a:ea typeface="Pretendard" pitchFamily="34" charset="-127"/>
                <a:cs typeface="Pretendard" pitchFamily="34" charset="-120"/>
              </a:rPr>
              <a:t>현장을 이해하겠습니다.</a:t>
            </a:r>
            <a:endParaRPr lang="en-US" sz="1400" dirty="0"/>
          </a:p>
        </p:txBody>
      </p:sp>
      <p:sp>
        <p:nvSpPr>
          <p:cNvPr id="44" name="도면, 시방서, 시공계획서 검토"/>
          <p:cNvSpPr txBox="1"/>
          <p:nvPr/>
        </p:nvSpPr>
        <p:spPr>
          <a:xfrm>
            <a:off x="736600" y="2896890"/>
            <a:ext cx="1669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100" spc="-22" kern="0" dirty="0">
                <a:solidFill>
                  <a:srgbClr val="3D4757"/>
                </a:solidFill>
                <a:latin typeface="Pretendard Medium" pitchFamily="34" charset="0"/>
                <a:ea typeface="Pretendard Medium" pitchFamily="34" charset="-127"/>
                <a:cs typeface="Pretendard Medium" pitchFamily="34" charset="-120"/>
              </a:rPr>
              <a:t>도면, 시방서, 시공계획서 검토</a:t>
            </a:r>
            <a:endParaRPr lang="en-US" sz="1100" dirty="0"/>
          </a:p>
        </p:txBody>
      </p:sp>
      <p:sp>
        <p:nvSpPr>
          <p:cNvPr id="45" name="공종별 시공방법과 선후행 관계 이해"/>
          <p:cNvSpPr txBox="1"/>
          <p:nvPr/>
        </p:nvSpPr>
        <p:spPr>
          <a:xfrm>
            <a:off x="736600" y="3113385"/>
            <a:ext cx="2008152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100" spc="-22" kern="0" dirty="0">
                <a:solidFill>
                  <a:srgbClr val="3D4757"/>
                </a:solidFill>
                <a:latin typeface="Pretendard Medium" pitchFamily="34" charset="0"/>
                <a:ea typeface="Pretendard Medium" pitchFamily="34" charset="-127"/>
                <a:cs typeface="Pretendard Medium" pitchFamily="34" charset="-120"/>
              </a:rPr>
              <a:t>공종별 시공방법과 선후행 관계 이해</a:t>
            </a:r>
            <a:endParaRPr lang="en-US" sz="1100" dirty="0"/>
          </a:p>
        </p:txBody>
      </p:sp>
      <p:sp>
        <p:nvSpPr>
          <p:cNvPr id="46" name="작업일보를 통한 일일 작업 현황 파악"/>
          <p:cNvSpPr txBox="1"/>
          <p:nvPr/>
        </p:nvSpPr>
        <p:spPr>
          <a:xfrm>
            <a:off x="736600" y="3329880"/>
            <a:ext cx="2041281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100" spc="-22" kern="0" dirty="0">
                <a:solidFill>
                  <a:srgbClr val="3D4757"/>
                </a:solidFill>
                <a:latin typeface="Pretendard Medium" pitchFamily="34" charset="0"/>
                <a:ea typeface="Pretendard Medium" pitchFamily="34" charset="-127"/>
                <a:cs typeface="Pretendard Medium" pitchFamily="34" charset="-120"/>
              </a:rPr>
              <a:t>작업일보를 통한 일일 작업 현황 파악</a:t>
            </a:r>
            <a:endParaRPr lang="en-US" sz="1100" dirty="0"/>
          </a:p>
        </p:txBody>
      </p:sp>
      <p:sp>
        <p:nvSpPr>
          <p:cNvPr id="47" name="문제 발견"/>
          <p:cNvSpPr txBox="1"/>
          <p:nvPr/>
        </p:nvSpPr>
        <p:spPr>
          <a:xfrm>
            <a:off x="3553172" y="3192264"/>
            <a:ext cx="513655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000" spc="-10" kern="0" dirty="0">
                <a:solidFill>
                  <a:srgbClr val="3D4757"/>
                </a:solidFill>
                <a:latin typeface="Pretendard SemiBold" pitchFamily="34" charset="0"/>
                <a:ea typeface="Pretendard SemiBold" pitchFamily="34" charset="-127"/>
                <a:cs typeface="Pretendard SemiBold" pitchFamily="34" charset="-120"/>
              </a:rPr>
              <a:t>문제 발견</a:t>
            </a:r>
            <a:endParaRPr lang="en-US" sz="1000" dirty="0"/>
          </a:p>
        </p:txBody>
      </p:sp>
      <p:sp>
        <p:nvSpPr>
          <p:cNvPr id="48" name="STEP 02"/>
          <p:cNvSpPr txBox="1"/>
          <p:nvPr/>
        </p:nvSpPr>
        <p:spPr>
          <a:xfrm>
            <a:off x="4165600" y="2036564"/>
            <a:ext cx="627162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100" b="1" spc="22" kern="0" dirty="0">
                <a:solidFill>
                  <a:srgbClr val="004B8D"/>
                </a:solidFill>
                <a:latin typeface="Pretendard" pitchFamily="34" charset="0"/>
                <a:ea typeface="Pretendard" pitchFamily="34" charset="-127"/>
                <a:cs typeface="Pretendard" pitchFamily="34" charset="-120"/>
              </a:rPr>
              <a:t>STEP 02</a:t>
            </a:r>
            <a:endParaRPr lang="en-US" sz="1100" dirty="0"/>
          </a:p>
        </p:txBody>
      </p:sp>
      <p:sp>
        <p:nvSpPr>
          <p:cNvPr id="49" name="PEOPLE"/>
          <p:cNvSpPr txBox="1"/>
          <p:nvPr/>
        </p:nvSpPr>
        <p:spPr>
          <a:xfrm>
            <a:off x="4805462" y="2055614"/>
            <a:ext cx="596602" cy="1460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950" spc="133" kern="0" dirty="0">
                <a:solidFill>
                  <a:srgbClr val="6A7487"/>
                </a:solidFill>
                <a:latin typeface="Pretendard SemiBold" pitchFamily="34" charset="0"/>
                <a:ea typeface="Pretendard SemiBold" pitchFamily="34" charset="-127"/>
                <a:cs typeface="Pretendard SemiBold" pitchFamily="34" charset="-120"/>
              </a:rPr>
              <a:t>PEOPLE</a:t>
            </a:r>
            <a:endParaRPr lang="en-US" sz="950" dirty="0"/>
          </a:p>
        </p:txBody>
      </p:sp>
      <p:sp>
        <p:nvSpPr>
          <p:cNvPr id="50" name="사람을 연결하겠습니다."/>
          <p:cNvSpPr txBox="1"/>
          <p:nvPr/>
        </p:nvSpPr>
        <p:spPr>
          <a:xfrm>
            <a:off x="4368800" y="2282230"/>
            <a:ext cx="1657719" cy="215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400" b="1" spc="-42" kern="0" dirty="0">
                <a:solidFill>
                  <a:srgbClr val="0B2147"/>
                </a:solidFill>
                <a:latin typeface="Pretendard" pitchFamily="34" charset="0"/>
                <a:ea typeface="Pretendard" pitchFamily="34" charset="-127"/>
                <a:cs typeface="Pretendard" pitchFamily="34" charset="-120"/>
              </a:rPr>
              <a:t>사람을 연결하겠습니다.</a:t>
            </a:r>
            <a:endParaRPr lang="en-US" sz="1400" dirty="0"/>
          </a:p>
        </p:txBody>
      </p:sp>
      <p:sp>
        <p:nvSpPr>
          <p:cNvPr id="51" name="유관부서 및 협력업체와 공정별 일정 공유"/>
          <p:cNvSpPr txBox="1"/>
          <p:nvPr/>
        </p:nvSpPr>
        <p:spPr>
          <a:xfrm>
            <a:off x="4292600" y="2630190"/>
            <a:ext cx="229138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100" spc="-22" kern="0" dirty="0">
                <a:solidFill>
                  <a:srgbClr val="3D4757"/>
                </a:solidFill>
                <a:latin typeface="Pretendard Medium" pitchFamily="34" charset="0"/>
                <a:ea typeface="Pretendard Medium" pitchFamily="34" charset="-127"/>
                <a:cs typeface="Pretendard Medium" pitchFamily="34" charset="-120"/>
              </a:rPr>
              <a:t>유관부서 및 협력업체와 공정별 일정 공유</a:t>
            </a:r>
            <a:endParaRPr lang="en-US" sz="1100" dirty="0"/>
          </a:p>
        </p:txBody>
      </p:sp>
      <p:sp>
        <p:nvSpPr>
          <p:cNvPr id="52" name="선후행 공정 간 작업 조건 확인 및 조율"/>
          <p:cNvSpPr txBox="1"/>
          <p:nvPr/>
        </p:nvSpPr>
        <p:spPr>
          <a:xfrm>
            <a:off x="4292600" y="2846685"/>
            <a:ext cx="210764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100" spc="-22" kern="0" dirty="0">
                <a:solidFill>
                  <a:srgbClr val="3D4757"/>
                </a:solidFill>
                <a:latin typeface="Pretendard Medium" pitchFamily="34" charset="0"/>
                <a:ea typeface="Pretendard Medium" pitchFamily="34" charset="-127"/>
                <a:cs typeface="Pretendard Medium" pitchFamily="34" charset="-120"/>
              </a:rPr>
              <a:t>선후행 공정 간 작업 조건 확인 및 조율</a:t>
            </a:r>
            <a:endParaRPr lang="en-US" sz="1100" dirty="0"/>
          </a:p>
        </p:txBody>
      </p:sp>
      <p:sp>
        <p:nvSpPr>
          <p:cNvPr id="53" name="STEP 03"/>
          <p:cNvSpPr txBox="1"/>
          <p:nvPr/>
        </p:nvSpPr>
        <p:spPr>
          <a:xfrm>
            <a:off x="4165600" y="4284464"/>
            <a:ext cx="63113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100" b="1" spc="22" kern="0" dirty="0">
                <a:solidFill>
                  <a:srgbClr val="004B8D"/>
                </a:solidFill>
                <a:latin typeface="Pretendard" pitchFamily="34" charset="0"/>
                <a:ea typeface="Pretendard" pitchFamily="34" charset="-127"/>
                <a:cs typeface="Pretendard" pitchFamily="34" charset="-120"/>
              </a:rPr>
              <a:t>STEP 03</a:t>
            </a:r>
            <a:endParaRPr lang="en-US" sz="1100" dirty="0"/>
          </a:p>
        </p:txBody>
      </p:sp>
      <p:sp>
        <p:nvSpPr>
          <p:cNvPr id="54" name="TECH"/>
          <p:cNvSpPr txBox="1"/>
          <p:nvPr/>
        </p:nvSpPr>
        <p:spPr>
          <a:xfrm>
            <a:off x="4809430" y="4303514"/>
            <a:ext cx="437257" cy="1460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950" spc="133" kern="0" dirty="0">
                <a:solidFill>
                  <a:srgbClr val="6A7487"/>
                </a:solidFill>
                <a:latin typeface="Pretendard SemiBold" pitchFamily="34" charset="0"/>
                <a:ea typeface="Pretendard SemiBold" pitchFamily="34" charset="-127"/>
                <a:cs typeface="Pretendard SemiBold" pitchFamily="34" charset="-120"/>
              </a:rPr>
              <a:t>TECH</a:t>
            </a:r>
            <a:endParaRPr lang="en-US" sz="950" dirty="0"/>
          </a:p>
        </p:txBody>
      </p:sp>
      <p:sp>
        <p:nvSpPr>
          <p:cNvPr id="55" name="기술을 연결하겠습니다."/>
          <p:cNvSpPr txBox="1"/>
          <p:nvPr/>
        </p:nvSpPr>
        <p:spPr>
          <a:xfrm>
            <a:off x="4368800" y="4530130"/>
            <a:ext cx="1657719" cy="215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400" b="1" spc="-42" kern="0" dirty="0">
                <a:solidFill>
                  <a:srgbClr val="0B2147"/>
                </a:solidFill>
                <a:latin typeface="Pretendard" pitchFamily="34" charset="0"/>
                <a:ea typeface="Pretendard" pitchFamily="34" charset="-127"/>
                <a:cs typeface="Pretendard" pitchFamily="34" charset="-120"/>
              </a:rPr>
              <a:t>기술을 연결하겠습니다.</a:t>
            </a:r>
            <a:endParaRPr lang="en-US" sz="1400" dirty="0"/>
          </a:p>
        </p:txBody>
      </p:sp>
      <p:sp>
        <p:nvSpPr>
          <p:cNvPr id="56" name="BIM 기반 간섭 · 시공성 검토 지원"/>
          <p:cNvSpPr txBox="1"/>
          <p:nvPr/>
        </p:nvSpPr>
        <p:spPr>
          <a:xfrm>
            <a:off x="4292600" y="4878090"/>
            <a:ext cx="1859018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100" spc="-22" kern="0" dirty="0">
                <a:solidFill>
                  <a:srgbClr val="3D4757"/>
                </a:solidFill>
                <a:latin typeface="Pretendard Medium" pitchFamily="34" charset="0"/>
                <a:ea typeface="Pretendard Medium" pitchFamily="34" charset="-127"/>
                <a:cs typeface="Pretendard Medium" pitchFamily="34" charset="-120"/>
              </a:rPr>
              <a:t>BIM 기반 간섭 · 시공성 검토 지원</a:t>
            </a:r>
            <a:endParaRPr lang="en-US" sz="1100" dirty="0"/>
          </a:p>
        </p:txBody>
      </p:sp>
      <p:sp>
        <p:nvSpPr>
          <p:cNvPr id="57" name="AI 기반 반복 업무 자동화 방안 발굴"/>
          <p:cNvSpPr txBox="1"/>
          <p:nvPr/>
        </p:nvSpPr>
        <p:spPr>
          <a:xfrm>
            <a:off x="4292600" y="5094585"/>
            <a:ext cx="195472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100" spc="-22" kern="0" dirty="0">
                <a:solidFill>
                  <a:srgbClr val="3D4757"/>
                </a:solidFill>
                <a:latin typeface="Pretendard Medium" pitchFamily="34" charset="0"/>
                <a:ea typeface="Pretendard Medium" pitchFamily="34" charset="-127"/>
                <a:cs typeface="Pretendard Medium" pitchFamily="34" charset="-120"/>
              </a:rPr>
              <a:t>AI 기반 반복 업무 자동화 방안 발굴</a:t>
            </a:r>
            <a:endParaRPr lang="en-US" sz="1100" dirty="0"/>
          </a:p>
        </p:txBody>
      </p:sp>
      <p:sp>
        <p:nvSpPr>
          <p:cNvPr id="58" name="문제 해결"/>
          <p:cNvSpPr txBox="1"/>
          <p:nvPr/>
        </p:nvSpPr>
        <p:spPr>
          <a:xfrm>
            <a:off x="7121872" y="3192264"/>
            <a:ext cx="513655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000" spc="-10" kern="0" dirty="0">
                <a:solidFill>
                  <a:srgbClr val="3D4757"/>
                </a:solidFill>
                <a:latin typeface="Pretendard SemiBold" pitchFamily="34" charset="0"/>
                <a:ea typeface="Pretendard SemiBold" pitchFamily="34" charset="-127"/>
                <a:cs typeface="Pretendard SemiBold" pitchFamily="34" charset="-120"/>
              </a:rPr>
              <a:t>문제 해결</a:t>
            </a:r>
            <a:endParaRPr lang="en-US" sz="1000" dirty="0"/>
          </a:p>
        </p:txBody>
      </p:sp>
      <p:sp>
        <p:nvSpPr>
          <p:cNvPr id="59" name="STEP 04"/>
          <p:cNvSpPr txBox="1"/>
          <p:nvPr/>
        </p:nvSpPr>
        <p:spPr>
          <a:xfrm>
            <a:off x="8178800" y="2925564"/>
            <a:ext cx="63371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100" b="1" spc="22" kern="0" dirty="0">
                <a:solidFill>
                  <a:srgbClr val="45B9EC"/>
                </a:solidFill>
                <a:latin typeface="Pretendard" pitchFamily="34" charset="0"/>
                <a:ea typeface="Pretendard" pitchFamily="34" charset="-127"/>
                <a:cs typeface="Pretendard" pitchFamily="34" charset="-120"/>
              </a:rPr>
              <a:t>STEP 04</a:t>
            </a:r>
            <a:endParaRPr lang="en-US" sz="1100" dirty="0"/>
          </a:p>
        </p:txBody>
      </p:sp>
      <p:sp>
        <p:nvSpPr>
          <p:cNvPr id="60" name="IMPROVE"/>
          <p:cNvSpPr txBox="1"/>
          <p:nvPr/>
        </p:nvSpPr>
        <p:spPr>
          <a:xfrm>
            <a:off x="8825210" y="2944614"/>
            <a:ext cx="694432" cy="1460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950" spc="133" kern="0" dirty="0">
                <a:solidFill>
                  <a:srgbClr val="45B9EC"/>
                </a:solidFill>
                <a:latin typeface="Pretendard SemiBold" pitchFamily="34" charset="0"/>
                <a:ea typeface="Pretendard SemiBold" pitchFamily="34" charset="-127"/>
                <a:cs typeface="Pretendard SemiBold" pitchFamily="34" charset="-120"/>
              </a:rPr>
              <a:t>IMPROVE</a:t>
            </a:r>
            <a:endParaRPr lang="en-US" sz="950" dirty="0"/>
          </a:p>
        </p:txBody>
      </p:sp>
      <p:sp>
        <p:nvSpPr>
          <p:cNvPr id="61" name="작은 개선부터 변화를 만들겠습니다."/>
          <p:cNvSpPr txBox="1"/>
          <p:nvPr/>
        </p:nvSpPr>
        <p:spPr>
          <a:xfrm>
            <a:off x="8382000" y="3171230"/>
            <a:ext cx="2519392" cy="215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400" b="1" spc="-42" kern="0" dirty="0">
                <a:solidFill>
                  <a:srgbClr val="FFFFFF"/>
                </a:solidFill>
                <a:latin typeface="Pretendard" pitchFamily="34" charset="0"/>
                <a:ea typeface="Pretendard" pitchFamily="34" charset="-127"/>
                <a:cs typeface="Pretendard" pitchFamily="34" charset="-120"/>
              </a:rPr>
              <a:t>작은 개선부터 변화를 만들겠습니다.</a:t>
            </a:r>
            <a:endParaRPr lang="en-US" sz="1400" dirty="0"/>
          </a:p>
        </p:txBody>
      </p:sp>
      <p:sp>
        <p:nvSpPr>
          <p:cNvPr id="62" name="공정 간 간섭 사전 발견"/>
          <p:cNvSpPr txBox="1"/>
          <p:nvPr/>
        </p:nvSpPr>
        <p:spPr>
          <a:xfrm>
            <a:off x="8305800" y="3519190"/>
            <a:ext cx="1257961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100" spc="-22" kern="0" dirty="0">
                <a:solidFill>
                  <a:srgbClr val="FFFFFF"/>
                </a:solidFill>
                <a:latin typeface="Pretendard Medium" pitchFamily="34" charset="0"/>
                <a:ea typeface="Pretendard Medium" pitchFamily="34" charset="-127"/>
                <a:cs typeface="Pretendard Medium" pitchFamily="34" charset="-120"/>
              </a:rPr>
              <a:t>공정 간 간섭 사전 발견</a:t>
            </a:r>
            <a:endParaRPr lang="en-US" sz="1100" dirty="0"/>
          </a:p>
        </p:txBody>
      </p:sp>
      <p:sp>
        <p:nvSpPr>
          <p:cNvPr id="63" name="→"/>
          <p:cNvSpPr txBox="1"/>
          <p:nvPr/>
        </p:nvSpPr>
        <p:spPr>
          <a:xfrm>
            <a:off x="9556055" y="3519190"/>
            <a:ext cx="176808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100" b="1" spc="-22" kern="0" dirty="0">
                <a:solidFill>
                  <a:srgbClr val="45B9EC"/>
                </a:solidFill>
                <a:latin typeface="Pretendard" pitchFamily="34" charset="0"/>
                <a:ea typeface="Pretendard" pitchFamily="34" charset="-127"/>
                <a:cs typeface="Pretendard" pitchFamily="34" charset="-120"/>
              </a:rPr>
              <a:t>→</a:t>
            </a:r>
            <a:endParaRPr lang="en-US" sz="1100" dirty="0"/>
          </a:p>
        </p:txBody>
      </p:sp>
      <p:sp>
        <p:nvSpPr>
          <p:cNvPr id="64" name="재작업 감소"/>
          <p:cNvSpPr txBox="1"/>
          <p:nvPr/>
        </p:nvSpPr>
        <p:spPr>
          <a:xfrm>
            <a:off x="9745563" y="3519190"/>
            <a:ext cx="669925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100" b="1" spc="-22" kern="0" dirty="0">
                <a:solidFill>
                  <a:srgbClr val="FFFFFF"/>
                </a:solidFill>
                <a:latin typeface="Pretendard" pitchFamily="34" charset="0"/>
                <a:ea typeface="Pretendard" pitchFamily="34" charset="-127"/>
                <a:cs typeface="Pretendard" pitchFamily="34" charset="-120"/>
              </a:rPr>
              <a:t>재작업 감소</a:t>
            </a:r>
            <a:endParaRPr lang="en-US" sz="1100" dirty="0"/>
          </a:p>
        </p:txBody>
      </p:sp>
      <p:sp>
        <p:nvSpPr>
          <p:cNvPr id="65" name="반복 업무 효율화"/>
          <p:cNvSpPr txBox="1"/>
          <p:nvPr/>
        </p:nvSpPr>
        <p:spPr>
          <a:xfrm>
            <a:off x="8305800" y="3735685"/>
            <a:ext cx="94160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100" spc="-22" kern="0" dirty="0">
                <a:solidFill>
                  <a:srgbClr val="FFFFFF"/>
                </a:solidFill>
                <a:latin typeface="Pretendard Medium" pitchFamily="34" charset="0"/>
                <a:ea typeface="Pretendard Medium" pitchFamily="34" charset="-127"/>
                <a:cs typeface="Pretendard Medium" pitchFamily="34" charset="-120"/>
              </a:rPr>
              <a:t>반복 업무 효율화</a:t>
            </a:r>
            <a:endParaRPr lang="en-US" sz="1100" dirty="0"/>
          </a:p>
        </p:txBody>
      </p:sp>
      <p:sp>
        <p:nvSpPr>
          <p:cNvPr id="66" name="→"/>
          <p:cNvSpPr txBox="1"/>
          <p:nvPr/>
        </p:nvSpPr>
        <p:spPr>
          <a:xfrm>
            <a:off x="9257605" y="3735685"/>
            <a:ext cx="176808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100" b="1" spc="-22" kern="0" dirty="0">
                <a:solidFill>
                  <a:srgbClr val="45B9EC"/>
                </a:solidFill>
                <a:latin typeface="Pretendard" pitchFamily="34" charset="0"/>
                <a:ea typeface="Pretendard" pitchFamily="34" charset="-127"/>
                <a:cs typeface="Pretendard" pitchFamily="34" charset="-120"/>
              </a:rPr>
              <a:t>→</a:t>
            </a:r>
            <a:endParaRPr lang="en-US" sz="1100" dirty="0"/>
          </a:p>
        </p:txBody>
      </p:sp>
      <p:sp>
        <p:nvSpPr>
          <p:cNvPr id="67" name="본연의 업무에 집중"/>
          <p:cNvSpPr txBox="1"/>
          <p:nvPr/>
        </p:nvSpPr>
        <p:spPr>
          <a:xfrm>
            <a:off x="9447113" y="3735685"/>
            <a:ext cx="1062551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100" b="1" spc="-22" kern="0" dirty="0">
                <a:solidFill>
                  <a:srgbClr val="FFFFFF"/>
                </a:solidFill>
                <a:latin typeface="Pretendard" pitchFamily="34" charset="0"/>
                <a:ea typeface="Pretendard" pitchFamily="34" charset="-127"/>
                <a:cs typeface="Pretendard" pitchFamily="34" charset="-120"/>
              </a:rPr>
              <a:t>본연의 업무에 집중</a:t>
            </a:r>
            <a:endParaRPr lang="en-US" sz="1100" dirty="0"/>
          </a:p>
        </p:txBody>
      </p:sp>
      <p:sp>
        <p:nvSpPr>
          <p:cNvPr id="68" name="공정 개선"/>
          <p:cNvSpPr txBox="1"/>
          <p:nvPr/>
        </p:nvSpPr>
        <p:spPr>
          <a:xfrm>
            <a:off x="8166100" y="4341614"/>
            <a:ext cx="530126" cy="1587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050" spc="-21" kern="0" dirty="0">
                <a:solidFill>
                  <a:srgbClr val="1C2536"/>
                </a:solidFill>
                <a:latin typeface="Pretendard SemiBold" pitchFamily="34" charset="0"/>
                <a:ea typeface="Pretendard SemiBold" pitchFamily="34" charset="-127"/>
                <a:cs typeface="Pretendard SemiBold" pitchFamily="34" charset="-120"/>
              </a:rPr>
              <a:t>공정 개선</a:t>
            </a:r>
            <a:endParaRPr lang="en-US" sz="1050" dirty="0"/>
          </a:p>
        </p:txBody>
      </p:sp>
      <p:sp>
        <p:nvSpPr>
          <p:cNvPr id="69" name="품질 개선"/>
          <p:cNvSpPr txBox="1"/>
          <p:nvPr/>
        </p:nvSpPr>
        <p:spPr>
          <a:xfrm>
            <a:off x="9107488" y="4341614"/>
            <a:ext cx="530126" cy="1587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050" spc="-21" kern="0" dirty="0">
                <a:solidFill>
                  <a:srgbClr val="1C2536"/>
                </a:solidFill>
                <a:latin typeface="Pretendard SemiBold" pitchFamily="34" charset="0"/>
                <a:ea typeface="Pretendard SemiBold" pitchFamily="34" charset="-127"/>
                <a:cs typeface="Pretendard SemiBold" pitchFamily="34" charset="-120"/>
              </a:rPr>
              <a:t>품질 개선</a:t>
            </a:r>
            <a:endParaRPr lang="en-US" sz="1050" dirty="0"/>
          </a:p>
        </p:txBody>
      </p:sp>
      <p:sp>
        <p:nvSpPr>
          <p:cNvPr id="70" name="안전 개선"/>
          <p:cNvSpPr txBox="1"/>
          <p:nvPr/>
        </p:nvSpPr>
        <p:spPr>
          <a:xfrm>
            <a:off x="10048875" y="4341614"/>
            <a:ext cx="530126" cy="1587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050" spc="-21" kern="0" dirty="0">
                <a:solidFill>
                  <a:srgbClr val="1C2536"/>
                </a:solidFill>
                <a:latin typeface="Pretendard SemiBold" pitchFamily="34" charset="0"/>
                <a:ea typeface="Pretendard SemiBold" pitchFamily="34" charset="-127"/>
                <a:cs typeface="Pretendard SemiBold" pitchFamily="34" charset="-120"/>
              </a:rPr>
              <a:t>안전 개선</a:t>
            </a:r>
            <a:endParaRPr lang="en-US" sz="1050" dirty="0"/>
          </a:p>
        </p:txBody>
      </p:sp>
      <p:sp>
        <p:nvSpPr>
          <p:cNvPr id="71" name="생산성 개선"/>
          <p:cNvSpPr txBox="1"/>
          <p:nvPr/>
        </p:nvSpPr>
        <p:spPr>
          <a:xfrm>
            <a:off x="10990263" y="4341614"/>
            <a:ext cx="642739" cy="1587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050" spc="-21" kern="0" dirty="0">
                <a:solidFill>
                  <a:srgbClr val="1C2536"/>
                </a:solidFill>
                <a:latin typeface="Pretendard SemiBold" pitchFamily="34" charset="0"/>
                <a:ea typeface="Pretendard SemiBold" pitchFamily="34" charset="-127"/>
                <a:cs typeface="Pretendard SemiBold" pitchFamily="34" charset="-120"/>
              </a:rPr>
              <a:t>생산성 개선</a:t>
            </a:r>
            <a:endParaRPr lang="en-US" sz="1050" dirty="0"/>
          </a:p>
        </p:txBody>
      </p:sp>
      <p:sp>
        <p:nvSpPr>
          <p:cNvPr id="72" name="사람과 기술을 연결해 현장의 변화를 만들어가며, 현대엔지니어링의 Mean"/>
          <p:cNvSpPr txBox="1"/>
          <p:nvPr/>
        </p:nvSpPr>
        <p:spPr>
          <a:xfrm>
            <a:off x="1295400" y="6023074"/>
            <a:ext cx="7716881" cy="215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400" b="1" spc="-42" kern="0" dirty="0">
                <a:solidFill>
                  <a:srgbClr val="FFFFFF"/>
                </a:solidFill>
                <a:latin typeface="Pretendard" pitchFamily="34" charset="0"/>
                <a:ea typeface="Pretendard" pitchFamily="34" charset="-127"/>
                <a:cs typeface="Pretendard" pitchFamily="34" charset="-120"/>
              </a:rPr>
              <a:t>사람과 기술을 연결해 </a:t>
            </a:r>
            <a:pPr algn="l" indent="0" marL="0">
              <a:buNone/>
            </a:pPr>
            <a:r>
              <a:rPr lang="ko-KR" altLang="en-US" sz="1400" b="1" spc="-42" kern="0" dirty="0">
                <a:solidFill>
                  <a:srgbClr val="FDBB30"/>
                </a:solidFill>
                <a:latin typeface="Pretendard" pitchFamily="34" charset="0"/>
                <a:ea typeface="Pretendard" pitchFamily="34" charset="-127"/>
                <a:cs typeface="Pretendard" pitchFamily="34" charset="-120"/>
              </a:rPr>
              <a:t>현장의 변화</a:t>
            </a:r>
            <a:pPr algn="l" indent="0" marL="0">
              <a:buNone/>
            </a:pPr>
            <a:r>
              <a:rPr lang="ko-KR" altLang="en-US" sz="1400" b="1" spc="-42" kern="0" dirty="0">
                <a:solidFill>
                  <a:srgbClr val="FFFFFF"/>
                </a:solidFill>
                <a:latin typeface="Pretendard" pitchFamily="34" charset="0"/>
                <a:ea typeface="Pretendard" pitchFamily="34" charset="-127"/>
                <a:cs typeface="Pretendard" pitchFamily="34" charset="-120"/>
              </a:rPr>
              <a:t>를 만들어가며, 현대엔지니어링의 </a:t>
            </a:r>
            <a:pPr algn="l" indent="0" marL="0">
              <a:buNone/>
            </a:pPr>
            <a:r>
              <a:rPr lang="ko-KR" altLang="en-US" sz="1400" b="1" spc="-42" kern="0" dirty="0">
                <a:solidFill>
                  <a:srgbClr val="FDBB30"/>
                </a:solidFill>
                <a:latin typeface="Pretendard" pitchFamily="34" charset="0"/>
                <a:ea typeface="Pretendard" pitchFamily="34" charset="-127"/>
                <a:cs typeface="Pretendard" pitchFamily="34" charset="-120"/>
              </a:rPr>
              <a:t>Meaningful Journey</a:t>
            </a:r>
            <a:pPr algn="l" indent="0" marL="0">
              <a:buNone/>
            </a:pPr>
            <a:r>
              <a:rPr lang="ko-KR" altLang="en-US" sz="1400" b="1" spc="-42" kern="0" dirty="0">
                <a:solidFill>
                  <a:srgbClr val="FFFFFF"/>
                </a:solidFill>
                <a:latin typeface="Pretendard" pitchFamily="34" charset="0"/>
                <a:ea typeface="Pretendard" pitchFamily="34" charset="-127"/>
                <a:cs typeface="Pretendard" pitchFamily="34" charset="-120"/>
              </a:rPr>
              <a:t>에 함께하겠습니다.</a:t>
            </a:r>
            <a:endParaRPr lang="en-US" sz="1400" dirty="0"/>
          </a:p>
        </p:txBody>
      </p:sp>
      <p:sp>
        <p:nvSpPr>
          <p:cNvPr id="73" name="2026년 하반기 신입사원 공개채용 | 공사관리 건축 직무 지원자 이현준"/>
          <p:cNvSpPr txBox="1"/>
          <p:nvPr/>
        </p:nvSpPr>
        <p:spPr>
          <a:xfrm>
            <a:off x="609600" y="6425605"/>
            <a:ext cx="3273685" cy="1333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900" spc="-9" kern="0" dirty="0">
                <a:solidFill>
                  <a:srgbClr val="6A7487"/>
                </a:solidFill>
                <a:latin typeface="Pretendard Medium" pitchFamily="34" charset="0"/>
                <a:ea typeface="Pretendard Medium" pitchFamily="34" charset="-127"/>
                <a:cs typeface="Pretendard Medium" pitchFamily="34" charset="-120"/>
              </a:rPr>
              <a:t>2026년 하반기 신입사원 공개채용 | 공사관리 건축 직무 지원자 이현준</a:t>
            </a:r>
            <a:endParaRPr lang="en-US" sz="900" dirty="0"/>
          </a:p>
        </p:txBody>
      </p:sp>
      <p:sp>
        <p:nvSpPr>
          <p:cNvPr id="74" name="03 / 03"/>
          <p:cNvSpPr txBox="1"/>
          <p:nvPr/>
        </p:nvSpPr>
        <p:spPr>
          <a:xfrm>
            <a:off x="11138892" y="6425605"/>
            <a:ext cx="494308" cy="1333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900" spc="54" kern="0" dirty="0">
                <a:solidFill>
                  <a:srgbClr val="004B8D"/>
                </a:solidFill>
                <a:latin typeface="Pretendard ExtraBold" pitchFamily="34" charset="0"/>
                <a:ea typeface="Pretendard ExtraBold" pitchFamily="34" charset="-127"/>
                <a:cs typeface="Pretendard ExtraBold" pitchFamily="34" charset="-120"/>
              </a:rPr>
              <a:t>03</a:t>
            </a:r>
            <a:pPr algn="l" indent="0" marL="0">
              <a:buNone/>
            </a:pPr>
            <a:r>
              <a:rPr lang="ko-KR" altLang="en-US" sz="900" b="1" spc="54" kern="0" dirty="0">
                <a:solidFill>
                  <a:srgbClr val="3D4757"/>
                </a:solidFill>
                <a:latin typeface="Pretendard" pitchFamily="34" charset="0"/>
                <a:ea typeface="Pretendard" pitchFamily="34" charset="-127"/>
                <a:cs typeface="Pretendard" pitchFamily="34" charset="-120"/>
              </a:rPr>
              <a:t> / 03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Pretendard ExtraBold"/>
        <a:ea typeface="Pretendard Medium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retendard Medium"/>
        <a:ea typeface="Pretendard Medium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현대엔지니어링 PT · 가로형</dc:title>
  <dc:subject>PptxGenJS Presentation</dc:subject>
  <dc:creator>PptxGenJS</dc:creator>
  <cp:lastModifiedBy>PptxGenJS</cp:lastModifiedBy>
  <cp:revision>1</cp:revision>
  <dcterms:created xsi:type="dcterms:W3CDTF">2026-10-11T11:28:10Z</dcterms:created>
  <dcterms:modified xsi:type="dcterms:W3CDTF">2026-10-11T11:28:10Z</dcterms:modified>
</cp:coreProperties>
</file>