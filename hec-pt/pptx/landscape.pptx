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 시절 여러 팀 프로젝트를 수행하며 처음에는 각자 맡은 역할만 잘 수행하는 것이 협업이라고 생각했습니다.
그러나 프로젝트를 거듭하며 개인의 역할 수행만큼 팀이 같은 목표와 방향을 공유하는 것이 중요함을 깨달았습니다.
학생 BIM 경진대회에서 이를 실천했습니다.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‘우리’는 다양한 사람과 전문성의 연결, ‘기술’은 새로운 가치를 만들어 미래 사업으로 연결하는 원동력입니다.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만들고 싶은 현장의 변화는 거창한 기술 혁신만을 의미하지 않습니다. 공정 간 간섭을 사전에 발견해 재작업을 줄이고, 반복 업무를 효율화해 현장 구성원들이 본연의 업무에 집중할 수 있도록 만드는 작은 개선부터 시작하겠습니다.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image" Target="../media/image-3-23.png"/><Relationship Id="rId24" Type="http://schemas.openxmlformats.org/officeDocument/2006/relationships/image" Target="../media/image-3-24.png"/><Relationship Id="rId25" Type="http://schemas.openxmlformats.org/officeDocument/2006/relationships/image" Target="../media/image-3-25.png"/><Relationship Id="rId26" Type="http://schemas.openxmlformats.org/officeDocument/2006/relationships/image" Target="../media/image-3-26.png"/><Relationship Id="rId27" Type="http://schemas.openxmlformats.org/officeDocument/2006/relationships/image" Target="../media/image-3-27.png"/><Relationship Id="rId28" Type="http://schemas.openxmlformats.org/officeDocument/2006/relationships/image" Target="../media/image-3-28.png"/><Relationship Id="rId29" Type="http://schemas.openxmlformats.org/officeDocument/2006/relationships/image" Target="../media/image-3-29.png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6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8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3935" y="415462"/>
            <a:ext cx="1526117" cy="268817"/>
          </a:xfrm>
          <a:prstGeom prst="rect">
            <a:avLst/>
          </a:prstGeom>
        </p:spPr>
      </p:pic>
      <p:pic>
        <p:nvPicPr>
          <p:cNvPr id="9" name="p1-band" descr="p1-b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203781"/>
            <a:ext cx="10972800" cy="6350"/>
          </a:xfrm>
          <a:prstGeom prst="rect">
            <a:avLst/>
          </a:prstGeom>
        </p:spPr>
      </p:pic>
      <p:sp>
        <p:nvSpPr>
          <p:cNvPr id="10" name="p1-vbar"/>
          <p:cNvSpPr/>
          <p:nvPr/>
        </p:nvSpPr>
        <p:spPr>
          <a:xfrm>
            <a:off x="1662311" y="1868289"/>
            <a:ext cx="6350" cy="228600"/>
          </a:xfrm>
          <a:prstGeom prst="roundRect">
            <a:avLst/>
          </a:prstGeom>
          <a:solidFill>
            <a:srgbClr val="D8E0EB"/>
          </a:solidFill>
          <a:ln/>
        </p:spPr>
      </p:sp>
      <p:sp>
        <p:nvSpPr>
          <p:cNvPr id="11" name="p1-ba before"/>
          <p:cNvSpPr/>
          <p:nvPr/>
        </p:nvSpPr>
        <p:spPr>
          <a:xfrm>
            <a:off x="1808361" y="1874639"/>
            <a:ext cx="679748" cy="215900"/>
          </a:xfrm>
          <a:prstGeom prst="roundRect">
            <a:avLst>
              <a:gd name="adj" fmla="val 50000"/>
            </a:avLst>
          </a:prstGeom>
          <a:solidFill>
            <a:srgbClr val="6A7487"/>
          </a:solidFill>
          <a:ln/>
        </p:spPr>
      </p:sp>
      <p:sp>
        <p:nvSpPr>
          <p:cNvPr id="12" name="i"/>
          <p:cNvSpPr/>
          <p:nvPr/>
        </p:nvSpPr>
        <p:spPr>
          <a:xfrm>
            <a:off x="4507508" y="1976239"/>
            <a:ext cx="1462385" cy="12700"/>
          </a:xfrm>
          <a:prstGeom prst="roundRect">
            <a:avLst>
              <a:gd name="adj" fmla="val 50000"/>
            </a:avLst>
          </a:prstGeom>
          <a:solidFill>
            <a:srgbClr val="C3CEDD"/>
          </a:solidFill>
          <a:ln/>
        </p:spPr>
      </p:sp>
      <p:pic>
        <p:nvPicPr>
          <p:cNvPr id="13" name="svg" descr="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960" y="1938139"/>
            <a:ext cx="50800" cy="84667"/>
          </a:xfrm>
          <a:prstGeom prst="rect">
            <a:avLst/>
          </a:prstGeom>
        </p:spPr>
      </p:pic>
      <p:pic>
        <p:nvPicPr>
          <p:cNvPr id="14" name="svg" descr="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9010" y="1906389"/>
            <a:ext cx="148167" cy="148167"/>
          </a:xfrm>
          <a:prstGeom prst="rect">
            <a:avLst/>
          </a:prstGeom>
        </p:spPr>
      </p:pic>
      <p:pic>
        <p:nvPicPr>
          <p:cNvPr id="15" name="i" descr="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5178" y="1974122"/>
            <a:ext cx="1460500" cy="12700"/>
          </a:xfrm>
          <a:prstGeom prst="rect">
            <a:avLst/>
          </a:prstGeom>
        </p:spPr>
      </p:pic>
      <p:pic>
        <p:nvPicPr>
          <p:cNvPr id="16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8514" y="1938139"/>
            <a:ext cx="50800" cy="84667"/>
          </a:xfrm>
          <a:prstGeom prst="rect">
            <a:avLst/>
          </a:prstGeom>
        </p:spPr>
      </p:pic>
      <p:sp>
        <p:nvSpPr>
          <p:cNvPr id="17" name="p1-ba after"/>
          <p:cNvSpPr/>
          <p:nvPr/>
        </p:nvSpPr>
        <p:spPr>
          <a:xfrm>
            <a:off x="8820547" y="1874639"/>
            <a:ext cx="599678" cy="215900"/>
          </a:xfrm>
          <a:prstGeom prst="roundRect">
            <a:avLst>
              <a:gd name="adj" fmla="val 50000"/>
            </a:avLst>
          </a:prstGeom>
          <a:solidFill>
            <a:srgbClr val="0B2147"/>
          </a:solidFill>
          <a:ln/>
        </p:spPr>
      </p:sp>
      <p:pic>
        <p:nvPicPr>
          <p:cNvPr id="18" name="svg" descr="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367" y="2529747"/>
            <a:ext cx="10936817" cy="148167"/>
          </a:xfrm>
          <a:prstGeom prst="rect">
            <a:avLst/>
          </a:prstGeom>
        </p:spPr>
      </p:pic>
      <p:sp>
        <p:nvSpPr>
          <p:cNvPr id="19" name="p1-h"/>
          <p:cNvSpPr/>
          <p:nvPr/>
        </p:nvSpPr>
        <p:spPr>
          <a:xfrm>
            <a:off x="762000" y="2487414"/>
            <a:ext cx="260102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p1-h"/>
          <p:cNvSpPr/>
          <p:nvPr/>
        </p:nvSpPr>
        <p:spPr>
          <a:xfrm>
            <a:off x="4368800" y="2487414"/>
            <a:ext cx="2304355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p1-h"/>
          <p:cNvSpPr/>
          <p:nvPr/>
        </p:nvSpPr>
        <p:spPr>
          <a:xfrm>
            <a:off x="8737600" y="2487414"/>
            <a:ext cx="234702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p1-div"/>
          <p:cNvSpPr/>
          <p:nvPr/>
        </p:nvSpPr>
        <p:spPr>
          <a:xfrm>
            <a:off x="4064000" y="2843014"/>
            <a:ext cx="6350" cy="2979341"/>
          </a:xfrm>
          <a:prstGeom prst="roundRect">
            <a:avLst/>
          </a:prstGeom>
          <a:solidFill>
            <a:srgbClr val="D8E0EB"/>
          </a:solidFill>
          <a:ln/>
        </p:spPr>
      </p:sp>
      <p:sp>
        <p:nvSpPr>
          <p:cNvPr id="23" name="p1-div"/>
          <p:cNvSpPr/>
          <p:nvPr/>
        </p:nvSpPr>
        <p:spPr>
          <a:xfrm>
            <a:off x="8432800" y="2843014"/>
            <a:ext cx="6350" cy="2979341"/>
          </a:xfrm>
          <a:prstGeom prst="roundRect">
            <a:avLst/>
          </a:prstGeom>
          <a:solidFill>
            <a:srgbClr val="D8E0EB"/>
          </a:solidFill>
          <a:ln/>
        </p:spPr>
      </p:sp>
      <p:pic>
        <p:nvPicPr>
          <p:cNvPr id="24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067" y="3202847"/>
            <a:ext cx="3107267" cy="711200"/>
          </a:xfrm>
          <a:prstGeom prst="rect">
            <a:avLst/>
          </a:prstGeom>
        </p:spPr>
      </p:pic>
      <p:sp>
        <p:nvSpPr>
          <p:cNvPr id="25" name="p1-at p1-tag"/>
          <p:cNvSpPr/>
          <p:nvPr/>
        </p:nvSpPr>
        <p:spPr>
          <a:xfrm>
            <a:off x="1311424" y="2843014"/>
            <a:ext cx="1720552" cy="203200"/>
          </a:xfrm>
          <a:prstGeom prst="roundRect">
            <a:avLst>
              <a:gd name="adj" fmla="val 50000"/>
            </a:avLst>
          </a:prstGeom>
          <a:solidFill>
            <a:srgbClr val="D8E0EB"/>
          </a:solidFill>
          <a:ln/>
        </p:spPr>
      </p:sp>
      <p:pic>
        <p:nvPicPr>
          <p:cNvPr id="26" name="svg" descr="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6090" y="2893814"/>
            <a:ext cx="107950" cy="105833"/>
          </a:xfrm>
          <a:prstGeom prst="rect">
            <a:avLst/>
          </a:prstGeom>
        </p:spPr>
      </p:pic>
      <p:sp>
        <p:nvSpPr>
          <p:cNvPr id="27" name="p1-op"/>
          <p:cNvSpPr/>
          <p:nvPr/>
        </p:nvSpPr>
        <p:spPr>
          <a:xfrm>
            <a:off x="765175" y="3112889"/>
            <a:ext cx="1009650" cy="273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28" name="i"/>
          <p:cNvSpPr/>
          <p:nvPr/>
        </p:nvSpPr>
        <p:spPr>
          <a:xfrm>
            <a:off x="1013420" y="3211314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9" name="p1-op"/>
          <p:cNvSpPr/>
          <p:nvPr/>
        </p:nvSpPr>
        <p:spPr>
          <a:xfrm>
            <a:off x="2568575" y="3112889"/>
            <a:ext cx="1009650" cy="273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30" name="i"/>
          <p:cNvSpPr/>
          <p:nvPr/>
        </p:nvSpPr>
        <p:spPr>
          <a:xfrm>
            <a:off x="2672159" y="3211314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1" name="p1-vs"/>
          <p:cNvSpPr/>
          <p:nvPr/>
        </p:nvSpPr>
        <p:spPr>
          <a:xfrm>
            <a:off x="2025650" y="3103364"/>
            <a:ext cx="292100" cy="292100"/>
          </a:xfrm>
          <a:prstGeom prst="ellipse">
            <a:avLst/>
          </a:prstGeom>
          <a:solidFill>
            <a:srgbClr val="0B2147"/>
          </a:solidFill>
          <a:ln/>
        </p:spPr>
      </p:sp>
      <p:sp>
        <p:nvSpPr>
          <p:cNvPr id="32" name="p1-at p1-crit-t"/>
          <p:cNvSpPr/>
          <p:nvPr/>
        </p:nvSpPr>
        <p:spPr>
          <a:xfrm>
            <a:off x="1722537" y="3693914"/>
            <a:ext cx="898327" cy="203200"/>
          </a:xfrm>
          <a:prstGeom prst="roundRect">
            <a:avLst>
              <a:gd name="adj" fmla="val 50000"/>
            </a:avLst>
          </a:prstGeom>
          <a:solidFill>
            <a:srgbClr val="004B8D"/>
          </a:solidFill>
          <a:ln/>
        </p:spPr>
      </p:sp>
      <p:sp>
        <p:nvSpPr>
          <p:cNvPr id="33" name="b"/>
          <p:cNvSpPr/>
          <p:nvPr/>
        </p:nvSpPr>
        <p:spPr>
          <a:xfrm>
            <a:off x="772021" y="3954264"/>
            <a:ext cx="165100" cy="1651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4" name="b"/>
          <p:cNvSpPr/>
          <p:nvPr/>
        </p:nvSpPr>
        <p:spPr>
          <a:xfrm>
            <a:off x="2560687" y="3954264"/>
            <a:ext cx="165100" cy="1651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5" name="p1-down" descr="p1-dow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23017" y="4453334"/>
            <a:ext cx="97367" cy="160867"/>
          </a:xfrm>
          <a:prstGeom prst="rect">
            <a:avLst/>
          </a:prstGeom>
        </p:spPr>
      </p:pic>
      <p:sp>
        <p:nvSpPr>
          <p:cNvPr id="36" name="p1-topic"/>
          <p:cNvSpPr/>
          <p:nvPr/>
        </p:nvSpPr>
        <p:spPr>
          <a:xfrm>
            <a:off x="609600" y="4755555"/>
            <a:ext cx="3124200" cy="1092200"/>
          </a:xfrm>
          <a:prstGeom prst="roundRect">
            <a:avLst>
              <a:gd name="adj" fmla="val 10465"/>
            </a:avLst>
          </a:prstGeom>
          <a:solidFill>
            <a:srgbClr val="0B2147"/>
          </a:solidFill>
          <a:ln/>
        </p:spPr>
      </p:sp>
      <p:pic>
        <p:nvPicPr>
          <p:cNvPr id="37" name="svg" descr="sv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16500" y="3315031"/>
            <a:ext cx="2463800" cy="2070100"/>
          </a:xfrm>
          <a:prstGeom prst="rect">
            <a:avLst/>
          </a:prstGeom>
        </p:spPr>
      </p:pic>
      <p:sp>
        <p:nvSpPr>
          <p:cNvPr id="38" name="p1-card me"/>
          <p:cNvSpPr/>
          <p:nvPr/>
        </p:nvSpPr>
        <p:spPr>
          <a:xfrm>
            <a:off x="5572125" y="2896989"/>
            <a:ext cx="1352550" cy="844550"/>
          </a:xfrm>
          <a:prstGeom prst="roundRect">
            <a:avLst>
              <a:gd name="adj" fmla="val 10150"/>
            </a:avLst>
          </a:prstGeom>
          <a:solidFill>
            <a:srgbClr val="0B2147"/>
          </a:solidFill>
          <a:ln w="6350">
            <a:solidFill>
              <a:srgbClr val="0B2147"/>
            </a:solidFill>
            <a:prstDash val="solid"/>
          </a:ln>
        </p:spPr>
      </p:sp>
      <p:sp>
        <p:nvSpPr>
          <p:cNvPr id="39" name="p1-av"/>
          <p:cNvSpPr/>
          <p:nvPr/>
        </p:nvSpPr>
        <p:spPr>
          <a:xfrm>
            <a:off x="5948263" y="3006427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0" name="p1-me"/>
          <p:cNvSpPr/>
          <p:nvPr/>
        </p:nvSpPr>
        <p:spPr>
          <a:xfrm>
            <a:off x="6383437" y="2961977"/>
            <a:ext cx="165100" cy="1651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1" name="p1-card"/>
          <p:cNvSpPr/>
          <p:nvPr/>
        </p:nvSpPr>
        <p:spPr>
          <a:xfrm>
            <a:off x="6797675" y="3925689"/>
            <a:ext cx="1352550" cy="844550"/>
          </a:xfrm>
          <a:prstGeom prst="roundRect">
            <a:avLst>
              <a:gd name="adj" fmla="val 10150"/>
            </a:avLst>
          </a:prstGeom>
          <a:solidFill>
            <a:srgbClr val="FFFFFF"/>
          </a:solidFill>
          <a:ln w="6350">
            <a:solidFill>
              <a:srgbClr val="D8E0EB"/>
            </a:solidFill>
            <a:prstDash val="solid"/>
          </a:ln>
        </p:spPr>
      </p:sp>
      <p:sp>
        <p:nvSpPr>
          <p:cNvPr id="42" name="p1-av"/>
          <p:cNvSpPr/>
          <p:nvPr/>
        </p:nvSpPr>
        <p:spPr>
          <a:xfrm>
            <a:off x="7211219" y="4122440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3" name="p1-card"/>
          <p:cNvSpPr/>
          <p:nvPr/>
        </p:nvSpPr>
        <p:spPr>
          <a:xfrm>
            <a:off x="5572125" y="4948039"/>
            <a:ext cx="1352550" cy="844550"/>
          </a:xfrm>
          <a:prstGeom prst="roundRect">
            <a:avLst>
              <a:gd name="adj" fmla="val 10150"/>
            </a:avLst>
          </a:prstGeom>
          <a:solidFill>
            <a:srgbClr val="FFFFFF"/>
          </a:solidFill>
          <a:ln w="6350">
            <a:solidFill>
              <a:srgbClr val="D8E0EB"/>
            </a:solidFill>
            <a:prstDash val="solid"/>
          </a:ln>
        </p:spPr>
      </p:sp>
      <p:sp>
        <p:nvSpPr>
          <p:cNvPr id="44" name="p1-av"/>
          <p:cNvSpPr/>
          <p:nvPr/>
        </p:nvSpPr>
        <p:spPr>
          <a:xfrm>
            <a:off x="5993309" y="5057477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5" name="p1-card"/>
          <p:cNvSpPr/>
          <p:nvPr/>
        </p:nvSpPr>
        <p:spPr>
          <a:xfrm>
            <a:off x="4346575" y="3925689"/>
            <a:ext cx="1352550" cy="844550"/>
          </a:xfrm>
          <a:prstGeom prst="roundRect">
            <a:avLst>
              <a:gd name="adj" fmla="val 10150"/>
            </a:avLst>
          </a:prstGeom>
          <a:solidFill>
            <a:srgbClr val="FFFFFF"/>
          </a:solidFill>
          <a:ln w="6350">
            <a:solidFill>
              <a:srgbClr val="D8E0EB"/>
            </a:solidFill>
            <a:prstDash val="solid"/>
          </a:ln>
        </p:spPr>
      </p:sp>
      <p:sp>
        <p:nvSpPr>
          <p:cNvPr id="46" name="p1-av"/>
          <p:cNvSpPr/>
          <p:nvPr/>
        </p:nvSpPr>
        <p:spPr>
          <a:xfrm>
            <a:off x="4760714" y="4035127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7" name="p1-share"/>
          <p:cNvSpPr/>
          <p:nvPr/>
        </p:nvSpPr>
        <p:spPr>
          <a:xfrm>
            <a:off x="7048500" y="5052814"/>
            <a:ext cx="1176635" cy="381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8" name="svg" descr="sv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05650" y="5181931"/>
            <a:ext cx="127000" cy="127000"/>
          </a:xfrm>
          <a:prstGeom prst="rect">
            <a:avLst/>
          </a:prstGeom>
        </p:spPr>
      </p:pic>
      <p:pic>
        <p:nvPicPr>
          <p:cNvPr id="49" name="svg" descr="sv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34550" y="4256947"/>
            <a:ext cx="698500" cy="1109133"/>
          </a:xfrm>
          <a:prstGeom prst="rect">
            <a:avLst/>
          </a:prstGeom>
        </p:spPr>
      </p:pic>
      <p:sp>
        <p:nvSpPr>
          <p:cNvPr id="50" name="p1-video"/>
          <p:cNvSpPr/>
          <p:nvPr/>
        </p:nvSpPr>
        <p:spPr>
          <a:xfrm>
            <a:off x="9118600" y="2868414"/>
            <a:ext cx="1930400" cy="1085850"/>
          </a:xfrm>
          <a:prstGeom prst="roundRect">
            <a:avLst>
              <a:gd name="adj" fmla="val 7018"/>
            </a:avLst>
          </a:prstGeom>
          <a:solidFill>
            <a:srgbClr val="0B2147"/>
          </a:solidFill>
          <a:ln/>
        </p:spPr>
      </p:sp>
      <p:pic>
        <p:nvPicPr>
          <p:cNvPr id="51" name="img" descr="im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18600" y="2870531"/>
            <a:ext cx="1930400" cy="1085850"/>
          </a:xfrm>
          <a:prstGeom prst="rect">
            <a:avLst/>
          </a:prstGeom>
        </p:spPr>
      </p:pic>
      <p:sp>
        <p:nvSpPr>
          <p:cNvPr id="52" name="p1-play"/>
          <p:cNvSpPr/>
          <p:nvPr/>
        </p:nvSpPr>
        <p:spPr>
          <a:xfrm>
            <a:off x="9906000" y="3233539"/>
            <a:ext cx="355600" cy="355600"/>
          </a:xfrm>
          <a:prstGeom prst="ellipse">
            <a:avLst/>
          </a:prstGeom>
          <a:solidFill>
            <a:srgbClr val="0B2147">
              <a:alpha val="72000"/>
            </a:srgbClr>
          </a:solidFill>
          <a:ln/>
        </p:spPr>
      </p:sp>
      <p:pic>
        <p:nvPicPr>
          <p:cNvPr id="53" name="svg" descr="sv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64750" y="3358422"/>
            <a:ext cx="82550" cy="101600"/>
          </a:xfrm>
          <a:prstGeom prst="rect">
            <a:avLst/>
          </a:prstGeom>
        </p:spPr>
      </p:pic>
      <p:sp>
        <p:nvSpPr>
          <p:cNvPr id="54" name="key"/>
          <p:cNvSpPr/>
          <p:nvPr/>
        </p:nvSpPr>
        <p:spPr>
          <a:xfrm>
            <a:off x="609600" y="5923955"/>
            <a:ext cx="10972800" cy="425450"/>
          </a:xfrm>
          <a:prstGeom prst="roundRect">
            <a:avLst>
              <a:gd name="adj" fmla="val 32836"/>
            </a:avLst>
          </a:prstGeom>
          <a:solidFill>
            <a:srgbClr val="0B2147"/>
          </a:solidFill>
          <a:ln/>
        </p:spPr>
      </p:sp>
      <p:sp>
        <p:nvSpPr>
          <p:cNvPr id="55" name="i"/>
          <p:cNvSpPr/>
          <p:nvPr/>
        </p:nvSpPr>
        <p:spPr>
          <a:xfrm>
            <a:off x="863600" y="610493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56" name="b"/>
          <p:cNvSpPr/>
          <p:nvPr/>
        </p:nvSpPr>
        <p:spPr>
          <a:xfrm>
            <a:off x="927100" y="613033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7" name="i"/>
          <p:cNvSpPr/>
          <p:nvPr/>
        </p:nvSpPr>
        <p:spPr>
          <a:xfrm>
            <a:off x="1016000" y="610493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8" name="b"/>
          <p:cNvSpPr/>
          <p:nvPr/>
        </p:nvSpPr>
        <p:spPr>
          <a:xfrm>
            <a:off x="1079500" y="613033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9" name="i"/>
          <p:cNvSpPr/>
          <p:nvPr/>
        </p:nvSpPr>
        <p:spPr>
          <a:xfrm>
            <a:off x="1168400" y="610493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60" name="01"/>
          <p:cNvSpPr txBox="1"/>
          <p:nvPr/>
        </p:nvSpPr>
        <p:spPr>
          <a:xfrm>
            <a:off x="1066800" y="419100"/>
            <a:ext cx="2184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01</a:t>
            </a:r>
            <a:endParaRPr lang="en-US" sz="1100" dirty="0"/>
          </a:p>
        </p:txBody>
      </p:sp>
      <p:sp>
        <p:nvSpPr>
          <p:cNvPr id="61" name="PT 주제 1. 가장 중요하게 생각하는 가치와 실천 경험"/>
          <p:cNvSpPr txBox="1"/>
          <p:nvPr/>
        </p:nvSpPr>
        <p:spPr>
          <a:xfrm>
            <a:off x="1323380" y="419100"/>
            <a:ext cx="295122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PT 주제 1. 가장 중요하게 생각하는 가치와 실천 경험</a:t>
            </a:r>
            <a:endParaRPr lang="en-US" sz="1100" dirty="0"/>
          </a:p>
        </p:txBody>
      </p:sp>
      <p:sp>
        <p:nvSpPr>
          <p:cNvPr id="62" name="제가 가장 중요하게 생각하는 가치는"/>
          <p:cNvSpPr txBox="1"/>
          <p:nvPr/>
        </p:nvSpPr>
        <p:spPr>
          <a:xfrm>
            <a:off x="609600" y="774005"/>
            <a:ext cx="2914944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제가 가장 중요하게 생각하는 가치는</a:t>
            </a:r>
            <a:endParaRPr lang="en-US" sz="1600" dirty="0"/>
          </a:p>
        </p:txBody>
      </p:sp>
      <p:sp>
        <p:nvSpPr>
          <p:cNvPr id="63" name="공동의 목표를 공유하며 함께 성과를 만드는 협업입니다."/>
          <p:cNvSpPr txBox="1"/>
          <p:nvPr/>
        </p:nvSpPr>
        <p:spPr>
          <a:xfrm>
            <a:off x="609600" y="1100336"/>
            <a:ext cx="7713095" cy="425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를 공유하며 함께 성과를 만드는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입니다.</a:t>
            </a:r>
            <a:endParaRPr lang="en-US" sz="2800" dirty="0"/>
          </a:p>
        </p:txBody>
      </p:sp>
      <p:sp>
        <p:nvSpPr>
          <p:cNvPr id="64" name="가치관 형성 배경"/>
          <p:cNvSpPr txBox="1"/>
          <p:nvPr/>
        </p:nvSpPr>
        <p:spPr>
          <a:xfrm>
            <a:off x="609600" y="1823839"/>
            <a:ext cx="85308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가치관 형성 배경</a:t>
            </a:r>
            <a:endParaRPr lang="en-US" sz="1000" dirty="0"/>
          </a:p>
        </p:txBody>
      </p:sp>
      <p:sp>
        <p:nvSpPr>
          <p:cNvPr id="65" name="협업을 대하는 태도"/>
          <p:cNvSpPr txBox="1"/>
          <p:nvPr/>
        </p:nvSpPr>
        <p:spPr>
          <a:xfrm>
            <a:off x="609600" y="1982589"/>
            <a:ext cx="96779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협업을 대하는 태도</a:t>
            </a:r>
            <a:endParaRPr lang="en-US" sz="1000" dirty="0"/>
          </a:p>
        </p:txBody>
      </p:sp>
      <p:sp>
        <p:nvSpPr>
          <p:cNvPr id="66" name="BEFORE"/>
          <p:cNvSpPr txBox="1"/>
          <p:nvPr/>
        </p:nvSpPr>
        <p:spPr>
          <a:xfrm>
            <a:off x="1897261" y="1909564"/>
            <a:ext cx="552748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57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BEFORE</a:t>
            </a:r>
            <a:endParaRPr lang="en-US" sz="950" dirty="0"/>
          </a:p>
        </p:txBody>
      </p:sp>
      <p:sp>
        <p:nvSpPr>
          <p:cNvPr id="67" name="각자 맡은 역할만 잘하면 된다"/>
          <p:cNvSpPr txBox="1"/>
          <p:nvPr/>
        </p:nvSpPr>
        <p:spPr>
          <a:xfrm>
            <a:off x="2564309" y="1883569"/>
            <a:ext cx="1925171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각자 맡은 역할만 잘하면 된다</a:t>
            </a:r>
            <a:endParaRPr lang="en-US" sz="1300" dirty="0"/>
          </a:p>
        </p:txBody>
      </p:sp>
      <p:sp>
        <p:nvSpPr>
          <p:cNvPr id="68" name="학부 팀 프로젝트"/>
          <p:cNvSpPr txBox="1"/>
          <p:nvPr/>
        </p:nvSpPr>
        <p:spPr>
          <a:xfrm>
            <a:off x="6312793" y="1906389"/>
            <a:ext cx="85486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학부 팀 프로젝트</a:t>
            </a:r>
            <a:endParaRPr lang="en-US" sz="1000" dirty="0"/>
          </a:p>
        </p:txBody>
      </p:sp>
      <p:sp>
        <p:nvSpPr>
          <p:cNvPr id="69" name="AFTER"/>
          <p:cNvSpPr txBox="1"/>
          <p:nvPr/>
        </p:nvSpPr>
        <p:spPr>
          <a:xfrm>
            <a:off x="8909447" y="1909564"/>
            <a:ext cx="472678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57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AFTER</a:t>
            </a:r>
            <a:endParaRPr lang="en-US" sz="950" dirty="0"/>
          </a:p>
        </p:txBody>
      </p:sp>
      <p:sp>
        <p:nvSpPr>
          <p:cNvPr id="70" name="같은 목표와 방향을 공유해야 한다"/>
          <p:cNvSpPr txBox="1"/>
          <p:nvPr/>
        </p:nvSpPr>
        <p:spPr>
          <a:xfrm>
            <a:off x="9496425" y="1883569"/>
            <a:ext cx="2211134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같은 목표와 방향을 공유해야 한다</a:t>
            </a:r>
            <a:endParaRPr lang="en-US" sz="1300" dirty="0"/>
          </a:p>
        </p:txBody>
      </p:sp>
      <p:sp>
        <p:nvSpPr>
          <p:cNvPr id="71" name="실천 경험 | 학생 BIM 경진대회"/>
          <p:cNvSpPr txBox="1"/>
          <p:nvPr/>
        </p:nvSpPr>
        <p:spPr>
          <a:xfrm>
            <a:off x="609600" y="2284214"/>
            <a:ext cx="155307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실천 경험</a:t>
            </a:r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 | 학생 BIM 경진대회</a:t>
            </a:r>
            <a:endParaRPr lang="en-US" sz="1000" dirty="0"/>
          </a:p>
        </p:txBody>
      </p:sp>
      <p:sp>
        <p:nvSpPr>
          <p:cNvPr id="72" name="01"/>
          <p:cNvSpPr txBox="1"/>
          <p:nvPr/>
        </p:nvSpPr>
        <p:spPr>
          <a:xfrm>
            <a:off x="825500" y="2525514"/>
            <a:ext cx="233759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01</a:t>
            </a:r>
            <a:endParaRPr lang="en-US" sz="1200" dirty="0"/>
          </a:p>
        </p:txBody>
      </p:sp>
      <p:sp>
        <p:nvSpPr>
          <p:cNvPr id="73" name="충돌을 조율해 주제를 확정하다"/>
          <p:cNvSpPr txBox="1"/>
          <p:nvPr/>
        </p:nvSpPr>
        <p:spPr>
          <a:xfrm>
            <a:off x="1084659" y="2487414"/>
            <a:ext cx="230736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충돌을 조율해 주제를 확정하다</a:t>
            </a:r>
            <a:endParaRPr lang="en-US" sz="1500" dirty="0"/>
          </a:p>
        </p:txBody>
      </p:sp>
      <p:sp>
        <p:nvSpPr>
          <p:cNvPr id="74" name="02"/>
          <p:cNvSpPr txBox="1"/>
          <p:nvPr/>
        </p:nvSpPr>
        <p:spPr>
          <a:xfrm>
            <a:off x="4432300" y="2525514"/>
            <a:ext cx="254992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02</a:t>
            </a:r>
            <a:endParaRPr lang="en-US" sz="1200" dirty="0"/>
          </a:p>
        </p:txBody>
      </p:sp>
      <p:sp>
        <p:nvSpPr>
          <p:cNvPr id="75" name="강점에 맞게 역할을 나누다"/>
          <p:cNvSpPr txBox="1"/>
          <p:nvPr/>
        </p:nvSpPr>
        <p:spPr>
          <a:xfrm>
            <a:off x="4712692" y="2487414"/>
            <a:ext cx="19703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강점에 맞게 역할을 나누다</a:t>
            </a:r>
            <a:endParaRPr lang="en-US" sz="1500" dirty="0"/>
          </a:p>
        </p:txBody>
      </p:sp>
      <p:sp>
        <p:nvSpPr>
          <p:cNvPr id="76" name="03"/>
          <p:cNvSpPr txBox="1"/>
          <p:nvPr/>
        </p:nvSpPr>
        <p:spPr>
          <a:xfrm>
            <a:off x="8801100" y="2525514"/>
            <a:ext cx="259358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03</a:t>
            </a:r>
            <a:endParaRPr lang="en-US" sz="1200" dirty="0"/>
          </a:p>
        </p:txBody>
      </p:sp>
      <p:sp>
        <p:nvSpPr>
          <p:cNvPr id="77" name="3주 만에 완성, 장려상 수상"/>
          <p:cNvSpPr txBox="1"/>
          <p:nvPr/>
        </p:nvSpPr>
        <p:spPr>
          <a:xfrm>
            <a:off x="9085858" y="2487414"/>
            <a:ext cx="20109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3주 만에 완성, 장려상 수상</a:t>
            </a:r>
            <a:endParaRPr lang="en-US" sz="1500" dirty="0"/>
          </a:p>
        </p:txBody>
      </p:sp>
      <p:sp>
        <p:nvSpPr>
          <p:cNvPr id="78" name="마감 3주 전까지 주제 미확정"/>
          <p:cNvSpPr txBox="1"/>
          <p:nvPr/>
        </p:nvSpPr>
        <p:spPr>
          <a:xfrm>
            <a:off x="1565424" y="2865239"/>
            <a:ext cx="144684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1C25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마감 3주 전까지 주제 미확정</a:t>
            </a:r>
            <a:endParaRPr lang="en-US" sz="1000" dirty="0"/>
          </a:p>
        </p:txBody>
      </p:sp>
      <p:sp>
        <p:nvSpPr>
          <p:cNvPr id="79" name="참신성"/>
          <p:cNvSpPr txBox="1"/>
          <p:nvPr/>
        </p:nvSpPr>
        <p:spPr>
          <a:xfrm>
            <a:off x="1140420" y="3151584"/>
            <a:ext cx="436860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참신성</a:t>
            </a:r>
            <a:endParaRPr lang="en-US" sz="1200" dirty="0"/>
          </a:p>
        </p:txBody>
      </p:sp>
      <p:sp>
        <p:nvSpPr>
          <p:cNvPr id="80" name="구현 가능성"/>
          <p:cNvSpPr txBox="1"/>
          <p:nvPr/>
        </p:nvSpPr>
        <p:spPr>
          <a:xfrm>
            <a:off x="2799159" y="3151584"/>
            <a:ext cx="726281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구현 가능성</a:t>
            </a:r>
            <a:endParaRPr lang="en-US" sz="1200" dirty="0"/>
          </a:p>
        </p:txBody>
      </p:sp>
      <p:sp>
        <p:nvSpPr>
          <p:cNvPr id="81" name="VS"/>
          <p:cNvSpPr txBox="1"/>
          <p:nvPr/>
        </p:nvSpPr>
        <p:spPr>
          <a:xfrm>
            <a:off x="2090539" y="3179564"/>
            <a:ext cx="21312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18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VS</a:t>
            </a:r>
            <a:endParaRPr lang="en-US" sz="900" dirty="0"/>
          </a:p>
        </p:txBody>
      </p:sp>
      <p:sp>
        <p:nvSpPr>
          <p:cNvPr id="82" name="경청 · 수상작 분석 · 교수님 조언"/>
          <p:cNvSpPr txBox="1"/>
          <p:nvPr/>
        </p:nvSpPr>
        <p:spPr>
          <a:xfrm>
            <a:off x="1413470" y="3471664"/>
            <a:ext cx="160744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경청 · 수상작 분석 · 교수님 조언</a:t>
            </a:r>
            <a:endParaRPr lang="en-US" sz="1000" dirty="0"/>
          </a:p>
        </p:txBody>
      </p:sp>
      <p:sp>
        <p:nvSpPr>
          <p:cNvPr id="83" name="판단 기준 마련"/>
          <p:cNvSpPr txBox="1"/>
          <p:nvPr/>
        </p:nvSpPr>
        <p:spPr>
          <a:xfrm>
            <a:off x="1824137" y="3719314"/>
            <a:ext cx="74592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판단 기준 마련</a:t>
            </a:r>
            <a:endParaRPr lang="en-US" sz="1000" dirty="0"/>
          </a:p>
        </p:txBody>
      </p:sp>
      <p:sp>
        <p:nvSpPr>
          <p:cNvPr id="84" name="1"/>
          <p:cNvSpPr txBox="1"/>
          <p:nvPr/>
        </p:nvSpPr>
        <p:spPr>
          <a:xfrm>
            <a:off x="828576" y="3966964"/>
            <a:ext cx="10279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22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1</a:t>
            </a:r>
            <a:endParaRPr lang="en-US" sz="900" dirty="0"/>
          </a:p>
        </p:txBody>
      </p:sp>
      <p:sp>
        <p:nvSpPr>
          <p:cNvPr id="85" name="기존 수상작과"/>
          <p:cNvSpPr txBox="1"/>
          <p:nvPr/>
        </p:nvSpPr>
        <p:spPr>
          <a:xfrm>
            <a:off x="987921" y="3954264"/>
            <a:ext cx="78789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기존 수상작과</a:t>
            </a:r>
            <a:endParaRPr lang="en-US" sz="1100" dirty="0"/>
          </a:p>
        </p:txBody>
      </p:sp>
      <p:sp>
        <p:nvSpPr>
          <p:cNvPr id="86" name="차별화되는가?"/>
          <p:cNvSpPr txBox="1"/>
          <p:nvPr/>
        </p:nvSpPr>
        <p:spPr>
          <a:xfrm>
            <a:off x="987921" y="4135834"/>
            <a:ext cx="83085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차별화되는가?</a:t>
            </a:r>
            <a:endParaRPr lang="en-US" sz="1100" dirty="0"/>
          </a:p>
        </p:txBody>
      </p:sp>
      <p:sp>
        <p:nvSpPr>
          <p:cNvPr id="87" name="2"/>
          <p:cNvSpPr txBox="1"/>
          <p:nvPr/>
        </p:nvSpPr>
        <p:spPr>
          <a:xfrm>
            <a:off x="2609304" y="3966964"/>
            <a:ext cx="11866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22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2</a:t>
            </a:r>
            <a:endParaRPr lang="en-US" sz="900" dirty="0"/>
          </a:p>
        </p:txBody>
      </p:sp>
      <p:sp>
        <p:nvSpPr>
          <p:cNvPr id="88" name="남은 3주 안에"/>
          <p:cNvSpPr txBox="1"/>
          <p:nvPr/>
        </p:nvSpPr>
        <p:spPr>
          <a:xfrm>
            <a:off x="2776587" y="3954264"/>
            <a:ext cx="78581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남은 3주 안에</a:t>
            </a:r>
            <a:endParaRPr lang="en-US" sz="1100" dirty="0"/>
          </a:p>
        </p:txBody>
      </p:sp>
      <p:sp>
        <p:nvSpPr>
          <p:cNvPr id="89" name="완성 가능한가?"/>
          <p:cNvSpPr txBox="1"/>
          <p:nvPr/>
        </p:nvSpPr>
        <p:spPr>
          <a:xfrm>
            <a:off x="2776587" y="4135834"/>
            <a:ext cx="86032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완성 가능한가?</a:t>
            </a:r>
            <a:endParaRPr lang="en-US" sz="1100" dirty="0"/>
          </a:p>
        </p:txBody>
      </p:sp>
      <p:sp>
        <p:nvSpPr>
          <p:cNvPr id="90" name="‘유닛 모듈러 기반 사용자 맞춤형"/>
          <p:cNvSpPr txBox="1"/>
          <p:nvPr/>
        </p:nvSpPr>
        <p:spPr>
          <a:xfrm>
            <a:off x="762000" y="4863505"/>
            <a:ext cx="2536746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56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‘유닛 모듈러 기반 사용자 맞춤형</a:t>
            </a:r>
            <a:endParaRPr lang="en-US" sz="1600" dirty="0"/>
          </a:p>
        </p:txBody>
      </p:sp>
      <p:sp>
        <p:nvSpPr>
          <p:cNvPr id="91" name="리모델링 방법’ 선정"/>
          <p:cNvSpPr txBox="1"/>
          <p:nvPr/>
        </p:nvSpPr>
        <p:spPr>
          <a:xfrm>
            <a:off x="762000" y="5117505"/>
            <a:ext cx="1562433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56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리모델링 방법’ </a:t>
            </a:r>
            <a:pPr algn="l" indent="0" marL="0">
              <a:buNone/>
            </a:pPr>
            <a:r>
              <a:rPr lang="ko-KR" altLang="en-US" sz="1600" spc="-56" kern="0" dirty="0">
                <a:solidFill>
                  <a:srgbClr val="45B9EC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선정</a:t>
            </a:r>
            <a:endParaRPr lang="en-US" sz="1600" dirty="0"/>
          </a:p>
        </p:txBody>
      </p:sp>
      <p:sp>
        <p:nvSpPr>
          <p:cNvPr id="92" name="리모델링 규모에 따라 유닛 모듈러를 배치하고,"/>
          <p:cNvSpPr txBox="1"/>
          <p:nvPr/>
        </p:nvSpPr>
        <p:spPr>
          <a:xfrm>
            <a:off x="762000" y="5409605"/>
            <a:ext cx="234365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D3D7DE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리모델링 규모에 따라 유닛 모듈러를 배치하고,</a:t>
            </a:r>
            <a:endParaRPr lang="en-US" sz="1000" dirty="0"/>
          </a:p>
        </p:txBody>
      </p:sp>
      <p:sp>
        <p:nvSpPr>
          <p:cNvPr id="93" name="모듈 수 · 자재 물량 자동 산출"/>
          <p:cNvSpPr txBox="1"/>
          <p:nvPr/>
        </p:nvSpPr>
        <p:spPr>
          <a:xfrm>
            <a:off x="762000" y="5581055"/>
            <a:ext cx="14640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D3D7DE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모듈 수 · 자재 물량 자동 산출</a:t>
            </a:r>
            <a:endParaRPr lang="en-US" sz="1000" dirty="0"/>
          </a:p>
        </p:txBody>
      </p:sp>
      <p:sp>
        <p:nvSpPr>
          <p:cNvPr id="94" name="공동 목표"/>
          <p:cNvSpPr txBox="1"/>
          <p:nvPr/>
        </p:nvSpPr>
        <p:spPr>
          <a:xfrm>
            <a:off x="5950148" y="4175274"/>
            <a:ext cx="596503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공동 목표</a:t>
            </a:r>
            <a:endParaRPr lang="en-US" sz="1200" dirty="0"/>
          </a:p>
        </p:txBody>
      </p:sp>
      <p:sp>
        <p:nvSpPr>
          <p:cNvPr id="95" name="프로젝트 완수"/>
          <p:cNvSpPr txBox="1"/>
          <p:nvPr/>
        </p:nvSpPr>
        <p:spPr>
          <a:xfrm>
            <a:off x="5921474" y="4377184"/>
            <a:ext cx="65385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b="1" spc="-18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프로젝트 완수</a:t>
            </a:r>
            <a:endParaRPr lang="en-US" sz="900" dirty="0"/>
          </a:p>
        </p:txBody>
      </p:sp>
      <p:sp>
        <p:nvSpPr>
          <p:cNvPr id="96" name="팀장"/>
          <p:cNvSpPr txBox="1"/>
          <p:nvPr/>
        </p:nvSpPr>
        <p:spPr>
          <a:xfrm>
            <a:off x="6049863" y="2946797"/>
            <a:ext cx="308173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팀장</a:t>
            </a:r>
            <a:endParaRPr lang="en-US" sz="1200" dirty="0"/>
          </a:p>
        </p:txBody>
      </p:sp>
      <p:sp>
        <p:nvSpPr>
          <p:cNvPr id="97" name="나"/>
          <p:cNvSpPr txBox="1"/>
          <p:nvPr/>
        </p:nvSpPr>
        <p:spPr>
          <a:xfrm>
            <a:off x="6392664" y="2974677"/>
            <a:ext cx="14654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24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나</a:t>
            </a:r>
            <a:endParaRPr lang="en-US" sz="900" dirty="0"/>
          </a:p>
        </p:txBody>
      </p:sp>
      <p:sp>
        <p:nvSpPr>
          <p:cNvPr id="98" name="프로젝트 일정 총괄 ·"/>
          <p:cNvSpPr txBox="1"/>
          <p:nvPr/>
        </p:nvSpPr>
        <p:spPr>
          <a:xfrm>
            <a:off x="5684790" y="3161407"/>
            <a:ext cx="112702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DADEE3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프로젝트 일정 총괄 ·</a:t>
            </a:r>
            <a:endParaRPr lang="en-US" sz="1100" dirty="0"/>
          </a:p>
        </p:txBody>
      </p:sp>
      <p:sp>
        <p:nvSpPr>
          <p:cNvPr id="99" name="Dynamo 기반"/>
          <p:cNvSpPr txBox="1"/>
          <p:nvPr/>
        </p:nvSpPr>
        <p:spPr>
          <a:xfrm>
            <a:off x="5837734" y="3336032"/>
            <a:ext cx="82123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DADEE3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Dynamo 기반</a:t>
            </a:r>
            <a:endParaRPr lang="en-US" sz="1100" dirty="0"/>
          </a:p>
        </p:txBody>
      </p:sp>
      <p:sp>
        <p:nvSpPr>
          <p:cNvPr id="100" name="자동화 알고리즘 개발"/>
          <p:cNvSpPr txBox="1"/>
          <p:nvPr/>
        </p:nvSpPr>
        <p:spPr>
          <a:xfrm>
            <a:off x="5656601" y="3510657"/>
            <a:ext cx="118349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DADEE3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자동화 알고리즘 개발</a:t>
            </a:r>
            <a:endParaRPr lang="en-US" sz="1100" dirty="0"/>
          </a:p>
        </p:txBody>
      </p:sp>
      <p:sp>
        <p:nvSpPr>
          <p:cNvPr id="101" name="팀원 A"/>
          <p:cNvSpPr txBox="1"/>
          <p:nvPr/>
        </p:nvSpPr>
        <p:spPr>
          <a:xfrm>
            <a:off x="7312819" y="4062809"/>
            <a:ext cx="449263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팀원 A</a:t>
            </a:r>
            <a:endParaRPr lang="en-US" sz="1200" dirty="0"/>
          </a:p>
        </p:txBody>
      </p:sp>
      <p:sp>
        <p:nvSpPr>
          <p:cNvPr id="102" name="유닛 모듈러 설계 ·"/>
          <p:cNvSpPr txBox="1"/>
          <p:nvPr/>
        </p:nvSpPr>
        <p:spPr>
          <a:xfrm>
            <a:off x="6972596" y="4277420"/>
            <a:ext cx="100270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유닛 모듈러 설계 ·</a:t>
            </a:r>
            <a:endParaRPr lang="en-US" sz="1100" dirty="0"/>
          </a:p>
        </p:txBody>
      </p:sp>
      <p:sp>
        <p:nvSpPr>
          <p:cNvPr id="103" name="배치 계획"/>
          <p:cNvSpPr txBox="1"/>
          <p:nvPr/>
        </p:nvSpPr>
        <p:spPr>
          <a:xfrm>
            <a:off x="7198717" y="4452045"/>
            <a:ext cx="55046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배치 계획</a:t>
            </a:r>
            <a:endParaRPr lang="en-US" sz="1100" dirty="0"/>
          </a:p>
        </p:txBody>
      </p:sp>
      <p:sp>
        <p:nvSpPr>
          <p:cNvPr id="104" name="팀원 B"/>
          <p:cNvSpPr txBox="1"/>
          <p:nvPr/>
        </p:nvSpPr>
        <p:spPr>
          <a:xfrm>
            <a:off x="6094909" y="4997847"/>
            <a:ext cx="433983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팀원 B</a:t>
            </a:r>
            <a:endParaRPr lang="en-US" sz="1200" dirty="0"/>
          </a:p>
        </p:txBody>
      </p:sp>
      <p:sp>
        <p:nvSpPr>
          <p:cNvPr id="105" name="Revit 기반"/>
          <p:cNvSpPr txBox="1"/>
          <p:nvPr/>
        </p:nvSpPr>
        <p:spPr>
          <a:xfrm>
            <a:off x="5940227" y="5212457"/>
            <a:ext cx="61634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Revit 기반</a:t>
            </a:r>
            <a:endParaRPr lang="en-US" sz="1100" dirty="0"/>
          </a:p>
        </p:txBody>
      </p:sp>
      <p:sp>
        <p:nvSpPr>
          <p:cNvPr id="106" name="BIM 모델링 ·"/>
          <p:cNvSpPr txBox="1"/>
          <p:nvPr/>
        </p:nvSpPr>
        <p:spPr>
          <a:xfrm>
            <a:off x="5883573" y="5387082"/>
            <a:ext cx="72955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BIM 모델링 ·</a:t>
            </a:r>
            <a:endParaRPr lang="en-US" sz="1100" dirty="0"/>
          </a:p>
        </p:txBody>
      </p:sp>
      <p:sp>
        <p:nvSpPr>
          <p:cNvPr id="107" name="모듈러 라이브러리 구축"/>
          <p:cNvSpPr txBox="1"/>
          <p:nvPr/>
        </p:nvSpPr>
        <p:spPr>
          <a:xfrm>
            <a:off x="5594546" y="5561707"/>
            <a:ext cx="130770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모듈러 라이브러리 구축</a:t>
            </a:r>
            <a:endParaRPr lang="en-US" sz="1100" dirty="0"/>
          </a:p>
        </p:txBody>
      </p:sp>
      <p:sp>
        <p:nvSpPr>
          <p:cNvPr id="108" name="팀원 C"/>
          <p:cNvSpPr txBox="1"/>
          <p:nvPr/>
        </p:nvSpPr>
        <p:spPr>
          <a:xfrm>
            <a:off x="4862314" y="3975497"/>
            <a:ext cx="448072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팀원 C</a:t>
            </a:r>
            <a:endParaRPr lang="en-US" sz="1200" dirty="0"/>
          </a:p>
        </p:txBody>
      </p:sp>
      <p:sp>
        <p:nvSpPr>
          <p:cNvPr id="109" name="리모델링 적용"/>
          <p:cNvSpPr txBox="1"/>
          <p:nvPr/>
        </p:nvSpPr>
        <p:spPr>
          <a:xfrm>
            <a:off x="4630341" y="4190107"/>
            <a:ext cx="7849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리모델링 적용</a:t>
            </a:r>
            <a:endParaRPr lang="en-US" sz="1100" dirty="0"/>
          </a:p>
        </p:txBody>
      </p:sp>
      <p:sp>
        <p:nvSpPr>
          <p:cNvPr id="110" name="시나리오 구성 ·"/>
          <p:cNvSpPr txBox="1"/>
          <p:nvPr/>
        </p:nvSpPr>
        <p:spPr>
          <a:xfrm>
            <a:off x="4598392" y="4364732"/>
            <a:ext cx="84891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시나리오 구성 ·</a:t>
            </a:r>
            <a:endParaRPr lang="en-US" sz="1100" dirty="0"/>
          </a:p>
        </p:txBody>
      </p:sp>
      <p:sp>
        <p:nvSpPr>
          <p:cNvPr id="111" name="시연 영상 제작"/>
          <p:cNvSpPr txBox="1"/>
          <p:nvPr/>
        </p:nvSpPr>
        <p:spPr>
          <a:xfrm>
            <a:off x="4615061" y="4539357"/>
            <a:ext cx="81557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시연 영상 제작</a:t>
            </a:r>
            <a:endParaRPr lang="en-US" sz="1100" dirty="0"/>
          </a:p>
        </p:txBody>
      </p:sp>
      <p:sp>
        <p:nvSpPr>
          <p:cNvPr id="112" name="이틀마다 진행상황"/>
          <p:cNvSpPr txBox="1"/>
          <p:nvPr/>
        </p:nvSpPr>
        <p:spPr>
          <a:xfrm>
            <a:off x="7302500" y="5084564"/>
            <a:ext cx="93760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이틀마다 진행상황</a:t>
            </a:r>
            <a:endParaRPr lang="en-US" sz="1000" dirty="0"/>
          </a:p>
        </p:txBody>
      </p:sp>
      <p:sp>
        <p:nvSpPr>
          <p:cNvPr id="113" name="공유 · 피드백"/>
          <p:cNvSpPr txBox="1"/>
          <p:nvPr/>
        </p:nvSpPr>
        <p:spPr>
          <a:xfrm>
            <a:off x="7302500" y="5249664"/>
            <a:ext cx="67369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공유 · 피드백</a:t>
            </a:r>
            <a:endParaRPr lang="en-US" sz="1000" dirty="0"/>
          </a:p>
        </p:txBody>
      </p:sp>
      <p:sp>
        <p:nvSpPr>
          <p:cNvPr id="114" name="리모델링 앱 개발 아이디어 시연 영상"/>
          <p:cNvSpPr txBox="1"/>
          <p:nvPr/>
        </p:nvSpPr>
        <p:spPr>
          <a:xfrm>
            <a:off x="9210625" y="4017764"/>
            <a:ext cx="185113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리모델링 앱 개발 아이디어 시연 영상</a:t>
            </a:r>
            <a:endParaRPr lang="en-US" sz="1000" dirty="0"/>
          </a:p>
        </p:txBody>
      </p:sp>
      <p:sp>
        <p:nvSpPr>
          <p:cNvPr id="115" name="장려상"/>
          <p:cNvSpPr txBox="1"/>
          <p:nvPr/>
        </p:nvSpPr>
        <p:spPr>
          <a:xfrm>
            <a:off x="9813578" y="4887714"/>
            <a:ext cx="59124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장려상</a:t>
            </a:r>
            <a:endParaRPr lang="en-US" sz="1700" dirty="0"/>
          </a:p>
        </p:txBody>
      </p:sp>
      <p:sp>
        <p:nvSpPr>
          <p:cNvPr id="116" name="학생 BIM 경진대회 장려상"/>
          <p:cNvSpPr txBox="1"/>
          <p:nvPr/>
        </p:nvSpPr>
        <p:spPr>
          <a:xfrm>
            <a:off x="9451628" y="5452864"/>
            <a:ext cx="13402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학생 BIM 경진대회 장려상</a:t>
            </a:r>
            <a:endParaRPr lang="en-US" sz="1000" dirty="0"/>
          </a:p>
        </p:txBody>
      </p:sp>
      <p:sp>
        <p:nvSpPr>
          <p:cNvPr id="117" name="의견 차이로 출발조차 하지 못했던 팀이, 서로 다른 의견을 조율하며 하나"/>
          <p:cNvSpPr txBox="1"/>
          <p:nvPr/>
        </p:nvSpPr>
        <p:spPr>
          <a:xfrm>
            <a:off x="1409700" y="6019205"/>
            <a:ext cx="883044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b="1" spc="-45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의견 차이로 출발조차 하지 못했던 팀이, 서로 다른 의견을 조율하며 </a:t>
            </a:r>
            <a:pPr algn="l" indent="0" marL="0">
              <a:buNone/>
            </a:pPr>
            <a:r>
              <a:rPr lang="ko-KR" altLang="en-US" sz="1500" b="1" spc="-45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500" b="1" spc="-45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를 향해 함께 결과를 만들었습니다.</a:t>
            </a:r>
            <a:endParaRPr lang="en-US" sz="1500" dirty="0"/>
          </a:p>
        </p:txBody>
      </p:sp>
      <p:sp>
        <p:nvSpPr>
          <p:cNvPr id="118" name="2026년 하반기 신입사원 공개채용 | 공사관리 건축 직무 지원자 이현준"/>
          <p:cNvSpPr txBox="1"/>
          <p:nvPr/>
        </p:nvSpPr>
        <p:spPr>
          <a:xfrm>
            <a:off x="609600" y="6425605"/>
            <a:ext cx="327368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6A748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2026년 하반기 신입사원 공개채용 | 공사관리 건축 직무 지원자 이현준</a:t>
            </a:r>
            <a:endParaRPr lang="en-US" sz="900" dirty="0"/>
          </a:p>
        </p:txBody>
      </p:sp>
      <p:sp>
        <p:nvSpPr>
          <p:cNvPr id="119" name="01 / 03"/>
          <p:cNvSpPr txBox="1"/>
          <p:nvPr/>
        </p:nvSpPr>
        <p:spPr>
          <a:xfrm>
            <a:off x="11158141" y="6425605"/>
            <a:ext cx="47505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01</a:t>
            </a:r>
            <a:pPr algn="l" indent="0" marL="0">
              <a:buNone/>
            </a:pPr>
            <a:r>
              <a:rPr lang="ko-KR" altLang="en-US" sz="900" b="1" spc="54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6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8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3935" y="415462"/>
            <a:ext cx="1526117" cy="268817"/>
          </a:xfrm>
          <a:prstGeom prst="rect">
            <a:avLst/>
          </a:prstGeom>
        </p:spPr>
      </p:pic>
      <p:pic>
        <p:nvPicPr>
          <p:cNvPr id="9" name="p2-tag" descr="p2-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250" y="1904603"/>
            <a:ext cx="152400" cy="12700"/>
          </a:xfrm>
          <a:prstGeom prst="rect">
            <a:avLst/>
          </a:prstGeom>
        </p:spPr>
      </p:pic>
      <p:pic>
        <p:nvPicPr>
          <p:cNvPr id="10" name="p2-tag" descr="p2-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800" y="1904603"/>
            <a:ext cx="152400" cy="12700"/>
          </a:xfrm>
          <a:prstGeom prst="rect">
            <a:avLst/>
          </a:prstGeom>
        </p:spPr>
      </p:pic>
      <p:sp>
        <p:nvSpPr>
          <p:cNvPr id="11" name="dot people"/>
          <p:cNvSpPr/>
          <p:nvPr/>
        </p:nvSpPr>
        <p:spPr>
          <a:xfrm>
            <a:off x="609600" y="2492673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2" name="p2-pill"/>
          <p:cNvSpPr/>
          <p:nvPr/>
        </p:nvSpPr>
        <p:spPr>
          <a:xfrm>
            <a:off x="612775" y="2787948"/>
            <a:ext cx="677267" cy="247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13" name="dot people"/>
          <p:cNvSpPr/>
          <p:nvPr/>
        </p:nvSpPr>
        <p:spPr>
          <a:xfrm>
            <a:off x="730250" y="2883198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4" name="p2-pill"/>
          <p:cNvSpPr/>
          <p:nvPr/>
        </p:nvSpPr>
        <p:spPr>
          <a:xfrm>
            <a:off x="1650405" y="2787948"/>
            <a:ext cx="918468" cy="247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15" name="dot people"/>
          <p:cNvSpPr/>
          <p:nvPr/>
        </p:nvSpPr>
        <p:spPr>
          <a:xfrm>
            <a:off x="1767880" y="2883198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6" name="p2-ic"/>
          <p:cNvSpPr/>
          <p:nvPr/>
        </p:nvSpPr>
        <p:spPr>
          <a:xfrm>
            <a:off x="609600" y="3417689"/>
            <a:ext cx="190500" cy="190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7" name="p2-arr" descr="p2-ar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633" y="3474839"/>
            <a:ext cx="80433" cy="71967"/>
          </a:xfrm>
          <a:prstGeom prst="rect">
            <a:avLst/>
          </a:prstGeom>
        </p:spPr>
      </p:pic>
      <p:pic>
        <p:nvPicPr>
          <p:cNvPr id="18" name="p2-bridge" descr="p2-brid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4383" y="2966839"/>
            <a:ext cx="1168400" cy="97367"/>
          </a:xfrm>
          <a:prstGeom prst="rect">
            <a:avLst/>
          </a:prstGeom>
        </p:spPr>
      </p:pic>
      <p:sp>
        <p:nvSpPr>
          <p:cNvPr id="19" name="p2-kw g"/>
          <p:cNvSpPr/>
          <p:nvPr/>
        </p:nvSpPr>
        <p:spPr>
          <a:xfrm>
            <a:off x="4940300" y="2776339"/>
            <a:ext cx="482600" cy="4826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0" name="p2-svg" descr="p2-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6850" y="2466247"/>
            <a:ext cx="2705100" cy="1234017"/>
          </a:xfrm>
          <a:prstGeom prst="rect">
            <a:avLst/>
          </a:prstGeom>
        </p:spPr>
      </p:pic>
      <p:sp>
        <p:nvSpPr>
          <p:cNvPr id="21" name="p2-n p2-chip g"/>
          <p:cNvSpPr/>
          <p:nvPr/>
        </p:nvSpPr>
        <p:spPr>
          <a:xfrm>
            <a:off x="8903395" y="2354064"/>
            <a:ext cx="532011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22" name="dot people"/>
          <p:cNvSpPr/>
          <p:nvPr/>
        </p:nvSpPr>
        <p:spPr>
          <a:xfrm>
            <a:off x="9008170" y="2442964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3" name="p2-n p2-chip g"/>
          <p:cNvSpPr/>
          <p:nvPr/>
        </p:nvSpPr>
        <p:spPr>
          <a:xfrm>
            <a:off x="10183515" y="2775049"/>
            <a:ext cx="532011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24" name="dot people"/>
          <p:cNvSpPr/>
          <p:nvPr/>
        </p:nvSpPr>
        <p:spPr>
          <a:xfrm>
            <a:off x="10288290" y="2863949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5" name="p2-n p2-chip g"/>
          <p:cNvSpPr/>
          <p:nvPr/>
        </p:nvSpPr>
        <p:spPr>
          <a:xfrm>
            <a:off x="9587359" y="3456980"/>
            <a:ext cx="746423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26" name="dot people"/>
          <p:cNvSpPr/>
          <p:nvPr/>
        </p:nvSpPr>
        <p:spPr>
          <a:xfrm>
            <a:off x="9692134" y="3545880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7" name="p2-n p2-chip g"/>
          <p:cNvSpPr/>
          <p:nvPr/>
        </p:nvSpPr>
        <p:spPr>
          <a:xfrm>
            <a:off x="8058547" y="3456980"/>
            <a:ext cx="639167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28" name="dot people"/>
          <p:cNvSpPr/>
          <p:nvPr/>
        </p:nvSpPr>
        <p:spPr>
          <a:xfrm>
            <a:off x="8163322" y="3545880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9" name="p2-n p2-chip g"/>
          <p:cNvSpPr/>
          <p:nvPr/>
        </p:nvSpPr>
        <p:spPr>
          <a:xfrm>
            <a:off x="7515969" y="2775049"/>
            <a:ext cx="746423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30" name="dot people"/>
          <p:cNvSpPr/>
          <p:nvPr/>
        </p:nvSpPr>
        <p:spPr>
          <a:xfrm>
            <a:off x="7620744" y="2863949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31" name="p2-n ring p2-core g" descr="p2-n ring p2-core 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88400" y="2698022"/>
            <a:ext cx="762000" cy="762000"/>
          </a:xfrm>
          <a:prstGeom prst="rect">
            <a:avLst/>
          </a:prstGeom>
        </p:spPr>
      </p:pic>
      <p:sp>
        <p:nvSpPr>
          <p:cNvPr id="32" name="p2-rule"/>
          <p:cNvSpPr/>
          <p:nvPr/>
        </p:nvSpPr>
        <p:spPr>
          <a:xfrm>
            <a:off x="609600" y="3928864"/>
            <a:ext cx="10972800" cy="6350"/>
          </a:xfrm>
          <a:prstGeom prst="roundRect">
            <a:avLst/>
          </a:prstGeom>
          <a:solidFill>
            <a:srgbClr val="D8E0EB"/>
          </a:solidFill>
          <a:ln/>
        </p:spPr>
      </p:sp>
      <p:sp>
        <p:nvSpPr>
          <p:cNvPr id="33" name="dot tech"/>
          <p:cNvSpPr/>
          <p:nvPr/>
        </p:nvSpPr>
        <p:spPr>
          <a:xfrm>
            <a:off x="609600" y="4277023"/>
            <a:ext cx="76200" cy="762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4" name="p2-pill"/>
          <p:cNvSpPr/>
          <p:nvPr/>
        </p:nvSpPr>
        <p:spPr>
          <a:xfrm>
            <a:off x="612775" y="4572298"/>
            <a:ext cx="1182588" cy="247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35" name="dot tech"/>
          <p:cNvSpPr/>
          <p:nvPr/>
        </p:nvSpPr>
        <p:spPr>
          <a:xfrm>
            <a:off x="730250" y="4667548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6" name="p2-pill"/>
          <p:cNvSpPr/>
          <p:nvPr/>
        </p:nvSpPr>
        <p:spPr>
          <a:xfrm>
            <a:off x="1865213" y="4572298"/>
            <a:ext cx="1025723" cy="247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37" name="dot tech"/>
          <p:cNvSpPr/>
          <p:nvPr/>
        </p:nvSpPr>
        <p:spPr>
          <a:xfrm>
            <a:off x="1982688" y="4667548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8" name="p2-pill"/>
          <p:cNvSpPr/>
          <p:nvPr/>
        </p:nvSpPr>
        <p:spPr>
          <a:xfrm>
            <a:off x="612775" y="4889798"/>
            <a:ext cx="1182588" cy="247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39" name="dot tech"/>
          <p:cNvSpPr/>
          <p:nvPr/>
        </p:nvSpPr>
        <p:spPr>
          <a:xfrm>
            <a:off x="730250" y="4985048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0" name="p2-pill"/>
          <p:cNvSpPr/>
          <p:nvPr/>
        </p:nvSpPr>
        <p:spPr>
          <a:xfrm>
            <a:off x="1865213" y="4889798"/>
            <a:ext cx="1025723" cy="247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41" name="dot tech"/>
          <p:cNvSpPr/>
          <p:nvPr/>
        </p:nvSpPr>
        <p:spPr>
          <a:xfrm>
            <a:off x="1982688" y="4985048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2" name="p2-ic"/>
          <p:cNvSpPr/>
          <p:nvPr/>
        </p:nvSpPr>
        <p:spPr>
          <a:xfrm>
            <a:off x="609600" y="5290939"/>
            <a:ext cx="190500" cy="190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43" name="p2-arr" descr="p2-ar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633" y="5348089"/>
            <a:ext cx="80433" cy="71967"/>
          </a:xfrm>
          <a:prstGeom prst="rect">
            <a:avLst/>
          </a:prstGeom>
        </p:spPr>
      </p:pic>
      <p:pic>
        <p:nvPicPr>
          <p:cNvPr id="44" name="p2-bridge" descr="p2-bridg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44383" y="4795639"/>
            <a:ext cx="1168400" cy="97367"/>
          </a:xfrm>
          <a:prstGeom prst="rect">
            <a:avLst/>
          </a:prstGeom>
        </p:spPr>
      </p:pic>
      <p:sp>
        <p:nvSpPr>
          <p:cNvPr id="45" name="p2-kw b"/>
          <p:cNvSpPr/>
          <p:nvPr/>
        </p:nvSpPr>
        <p:spPr>
          <a:xfrm>
            <a:off x="4940300" y="4605139"/>
            <a:ext cx="482600" cy="4826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46" name="p2-svg" descr="p2-sv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3083" y="4284464"/>
            <a:ext cx="3712633" cy="1128183"/>
          </a:xfrm>
          <a:prstGeom prst="rect">
            <a:avLst/>
          </a:prstGeom>
        </p:spPr>
      </p:pic>
      <p:sp>
        <p:nvSpPr>
          <p:cNvPr id="47" name="p2-n p2-chip b"/>
          <p:cNvSpPr/>
          <p:nvPr/>
        </p:nvSpPr>
        <p:spPr>
          <a:xfrm>
            <a:off x="7153275" y="4335264"/>
            <a:ext cx="1416050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48" name="dot tech"/>
          <p:cNvSpPr/>
          <p:nvPr/>
        </p:nvSpPr>
        <p:spPr>
          <a:xfrm>
            <a:off x="7418685" y="4424164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9" name="p2-n p2-chip b"/>
          <p:cNvSpPr/>
          <p:nvPr/>
        </p:nvSpPr>
        <p:spPr>
          <a:xfrm>
            <a:off x="9769475" y="4335264"/>
            <a:ext cx="1416050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50" name="dot tech"/>
          <p:cNvSpPr/>
          <p:nvPr/>
        </p:nvSpPr>
        <p:spPr>
          <a:xfrm>
            <a:off x="10009584" y="4424164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1" name="p2-n p2-chip b"/>
          <p:cNvSpPr/>
          <p:nvPr/>
        </p:nvSpPr>
        <p:spPr>
          <a:xfrm>
            <a:off x="7153275" y="5122664"/>
            <a:ext cx="1416050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52" name="dot tech"/>
          <p:cNvSpPr/>
          <p:nvPr/>
        </p:nvSpPr>
        <p:spPr>
          <a:xfrm>
            <a:off x="7351613" y="5211564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3" name="p2-n p2-chip b"/>
          <p:cNvSpPr/>
          <p:nvPr/>
        </p:nvSpPr>
        <p:spPr>
          <a:xfrm>
            <a:off x="9769475" y="5122664"/>
            <a:ext cx="1416050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54" name="dot tech"/>
          <p:cNvSpPr/>
          <p:nvPr/>
        </p:nvSpPr>
        <p:spPr>
          <a:xfrm>
            <a:off x="10034885" y="5211564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55" name="p2-n ring p2-core b" descr="p2-n ring p2-core b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8400" y="4463322"/>
            <a:ext cx="762000" cy="762000"/>
          </a:xfrm>
          <a:prstGeom prst="rect">
            <a:avLst/>
          </a:prstGeom>
        </p:spPr>
      </p:pic>
      <p:sp>
        <p:nvSpPr>
          <p:cNvPr id="56" name="key"/>
          <p:cNvSpPr/>
          <p:nvPr/>
        </p:nvSpPr>
        <p:spPr>
          <a:xfrm>
            <a:off x="609600" y="5892205"/>
            <a:ext cx="10972800" cy="457200"/>
          </a:xfrm>
          <a:prstGeom prst="roundRect">
            <a:avLst>
              <a:gd name="adj" fmla="val 30556"/>
            </a:avLst>
          </a:prstGeom>
          <a:solidFill>
            <a:srgbClr val="0B2147"/>
          </a:solidFill>
          <a:ln/>
        </p:spPr>
      </p:sp>
      <p:sp>
        <p:nvSpPr>
          <p:cNvPr id="57" name="i"/>
          <p:cNvSpPr/>
          <p:nvPr/>
        </p:nvSpPr>
        <p:spPr>
          <a:xfrm>
            <a:off x="863600" y="608905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58" name="b"/>
          <p:cNvSpPr/>
          <p:nvPr/>
        </p:nvSpPr>
        <p:spPr>
          <a:xfrm>
            <a:off x="927100" y="6114455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9" name="i"/>
          <p:cNvSpPr/>
          <p:nvPr/>
        </p:nvSpPr>
        <p:spPr>
          <a:xfrm>
            <a:off x="1016000" y="6089055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60" name="b"/>
          <p:cNvSpPr/>
          <p:nvPr/>
        </p:nvSpPr>
        <p:spPr>
          <a:xfrm>
            <a:off x="1079500" y="6114455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1" name="i"/>
          <p:cNvSpPr/>
          <p:nvPr/>
        </p:nvSpPr>
        <p:spPr>
          <a:xfrm>
            <a:off x="1168400" y="6089055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62" name="02"/>
          <p:cNvSpPr txBox="1"/>
          <p:nvPr/>
        </p:nvSpPr>
        <p:spPr>
          <a:xfrm>
            <a:off x="1066800" y="419100"/>
            <a:ext cx="23802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02</a:t>
            </a:r>
            <a:endParaRPr lang="en-US" sz="1100" dirty="0"/>
          </a:p>
        </p:txBody>
      </p:sp>
      <p:sp>
        <p:nvSpPr>
          <p:cNvPr id="63" name="PT 주제 2. 가치관과 핵심키워드의 연결점 &amp; 입사 후 실천"/>
          <p:cNvSpPr txBox="1"/>
          <p:nvPr/>
        </p:nvSpPr>
        <p:spPr>
          <a:xfrm>
            <a:off x="1342926" y="419100"/>
            <a:ext cx="3230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PT 주제 2. 가치관과 핵심키워드의 연결점 &amp; 입사 후 실천</a:t>
            </a:r>
            <a:endParaRPr lang="en-US" sz="1100" dirty="0"/>
          </a:p>
        </p:txBody>
      </p:sp>
      <p:sp>
        <p:nvSpPr>
          <p:cNvPr id="64" name="제가 중요하게 생각하는 ‘협업’의 가치는"/>
          <p:cNvSpPr txBox="1"/>
          <p:nvPr/>
        </p:nvSpPr>
        <p:spPr>
          <a:xfrm>
            <a:off x="609600" y="774005"/>
            <a:ext cx="3195437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제가 중요하게 생각하는 ‘협업’의 가치는</a:t>
            </a:r>
            <a:endParaRPr lang="en-US" sz="1600" dirty="0"/>
          </a:p>
        </p:txBody>
      </p:sp>
      <p:sp>
        <p:nvSpPr>
          <p:cNvPr id="65" name="현대엔지니어링의 ‘우리의 기술’과 맞닿아 있습니다."/>
          <p:cNvSpPr txBox="1"/>
          <p:nvPr/>
        </p:nvSpPr>
        <p:spPr>
          <a:xfrm>
            <a:off x="609600" y="1100336"/>
            <a:ext cx="7128339" cy="425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현대엔지니어링의 ‘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’과 맞닿아 있습니다.</a:t>
            </a:r>
            <a:endParaRPr lang="en-US" sz="2800" dirty="0"/>
          </a:p>
        </p:txBody>
      </p:sp>
      <p:sp>
        <p:nvSpPr>
          <p:cNvPr id="66" name="MY VALUES"/>
          <p:cNvSpPr txBox="1"/>
          <p:nvPr/>
        </p:nvSpPr>
        <p:spPr>
          <a:xfrm>
            <a:off x="609600" y="1834753"/>
            <a:ext cx="8592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14" kern="0" dirty="0">
                <a:solidFill>
                  <a:srgbClr val="2A78D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MY VALUES</a:t>
            </a:r>
            <a:endParaRPr lang="en-US" sz="950" dirty="0"/>
          </a:p>
        </p:txBody>
      </p:sp>
      <p:sp>
        <p:nvSpPr>
          <p:cNvPr id="67" name="나의 가치관 · 공동의 목표를 공유하는 협업"/>
          <p:cNvSpPr txBox="1"/>
          <p:nvPr/>
        </p:nvSpPr>
        <p:spPr>
          <a:xfrm>
            <a:off x="1735534" y="1821061"/>
            <a:ext cx="235385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나의 가치관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 · 공동의 목표를 공유하는 협업</a:t>
            </a:r>
            <a:endParaRPr lang="en-US" sz="1100" dirty="0"/>
          </a:p>
        </p:txBody>
      </p:sp>
      <p:sp>
        <p:nvSpPr>
          <p:cNvPr id="68" name="현대엔지니어링"/>
          <p:cNvSpPr txBox="1"/>
          <p:nvPr/>
        </p:nvSpPr>
        <p:spPr>
          <a:xfrm>
            <a:off x="4940300" y="1834753"/>
            <a:ext cx="7976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9" kern="0" dirty="0">
                <a:solidFill>
                  <a:srgbClr val="2A78D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현대엔지니어링</a:t>
            </a:r>
            <a:endParaRPr lang="en-US" sz="950" dirty="0"/>
          </a:p>
        </p:txBody>
      </p:sp>
      <p:sp>
        <p:nvSpPr>
          <p:cNvPr id="69" name="저는 ‘우리의 기술’을 이렇게 이해했습니다"/>
          <p:cNvSpPr txBox="1"/>
          <p:nvPr/>
        </p:nvSpPr>
        <p:spPr>
          <a:xfrm>
            <a:off x="6004620" y="1821061"/>
            <a:ext cx="231998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’을 이렇게 이해했습니다</a:t>
            </a:r>
            <a:endParaRPr lang="en-US" sz="1100" dirty="0"/>
          </a:p>
        </p:txBody>
      </p:sp>
      <p:sp>
        <p:nvSpPr>
          <p:cNvPr id="70" name="사람의 연결"/>
          <p:cNvSpPr txBox="1"/>
          <p:nvPr/>
        </p:nvSpPr>
        <p:spPr>
          <a:xfrm>
            <a:off x="762000" y="2416473"/>
            <a:ext cx="87669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53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사람의 연결</a:t>
            </a:r>
            <a:endParaRPr lang="en-US" sz="1500" dirty="0"/>
          </a:p>
        </p:txBody>
      </p:sp>
      <p:sp>
        <p:nvSpPr>
          <p:cNvPr id="71" name="참신성"/>
          <p:cNvSpPr txBox="1"/>
          <p:nvPr/>
        </p:nvSpPr>
        <p:spPr>
          <a:xfrm>
            <a:off x="850900" y="2832398"/>
            <a:ext cx="37246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참신성</a:t>
            </a:r>
            <a:endParaRPr lang="en-US" sz="1000" dirty="0"/>
          </a:p>
        </p:txBody>
      </p:sp>
      <p:sp>
        <p:nvSpPr>
          <p:cNvPr id="72" name="VS"/>
          <p:cNvSpPr txBox="1"/>
          <p:nvPr/>
        </p:nvSpPr>
        <p:spPr>
          <a:xfrm>
            <a:off x="1382117" y="2836962"/>
            <a:ext cx="227012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6A748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VS</a:t>
            </a:r>
            <a:endParaRPr lang="en-US" sz="950" dirty="0"/>
          </a:p>
        </p:txBody>
      </p:sp>
      <p:sp>
        <p:nvSpPr>
          <p:cNvPr id="73" name="구현 가능성"/>
          <p:cNvSpPr txBox="1"/>
          <p:nvPr/>
        </p:nvSpPr>
        <p:spPr>
          <a:xfrm>
            <a:off x="1888530" y="2832398"/>
            <a:ext cx="61366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구현 가능성</a:t>
            </a:r>
            <a:endParaRPr lang="en-US" sz="1000" dirty="0"/>
          </a:p>
        </p:txBody>
      </p:sp>
      <p:sp>
        <p:nvSpPr>
          <p:cNvPr id="74" name="서로 다른 의견"/>
          <p:cNvSpPr txBox="1"/>
          <p:nvPr/>
        </p:nvSpPr>
        <p:spPr>
          <a:xfrm>
            <a:off x="609600" y="3108623"/>
            <a:ext cx="74939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서로 다른 의견</a:t>
            </a:r>
            <a:endParaRPr lang="en-US" sz="1000" dirty="0"/>
          </a:p>
        </p:txBody>
      </p:sp>
      <p:sp>
        <p:nvSpPr>
          <p:cNvPr id="75" name="공동의 기준으로 조율해 하나의 목표로"/>
          <p:cNvSpPr txBox="1"/>
          <p:nvPr/>
        </p:nvSpPr>
        <p:spPr>
          <a:xfrm>
            <a:off x="876300" y="3419773"/>
            <a:ext cx="21897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b="1" spc="-3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공동의 기준으로 조율해 </a:t>
            </a:r>
            <a:pPr algn="l" indent="0" marL="0">
              <a:buNone/>
            </a:pPr>
            <a:r>
              <a:rPr lang="ko-KR" altLang="en-US" sz="1150" spc="-34" kern="0" dirty="0">
                <a:solidFill>
                  <a:srgbClr val="00A94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150" b="1" spc="-3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로</a:t>
            </a:r>
            <a:endParaRPr lang="en-US" sz="1150" dirty="0"/>
          </a:p>
        </p:txBody>
      </p:sp>
      <p:sp>
        <p:nvSpPr>
          <p:cNvPr id="76" name="우리"/>
          <p:cNvSpPr txBox="1"/>
          <p:nvPr/>
        </p:nvSpPr>
        <p:spPr>
          <a:xfrm>
            <a:off x="5043785" y="2917031"/>
            <a:ext cx="326330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39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우리</a:t>
            </a:r>
            <a:endParaRPr lang="en-US" sz="1300" dirty="0"/>
          </a:p>
        </p:txBody>
      </p:sp>
      <p:sp>
        <p:nvSpPr>
          <p:cNvPr id="77" name="OUR"/>
          <p:cNvSpPr txBox="1"/>
          <p:nvPr/>
        </p:nvSpPr>
        <p:spPr>
          <a:xfrm>
            <a:off x="5676900" y="2679303"/>
            <a:ext cx="36075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52" kern="0" dirty="0">
                <a:solidFill>
                  <a:srgbClr val="00A94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OUR</a:t>
            </a:r>
            <a:endParaRPr lang="en-US" sz="950" dirty="0"/>
          </a:p>
        </p:txBody>
      </p:sp>
      <p:sp>
        <p:nvSpPr>
          <p:cNvPr id="78" name="사람과"/>
          <p:cNvSpPr txBox="1"/>
          <p:nvPr/>
        </p:nvSpPr>
        <p:spPr>
          <a:xfrm>
            <a:off x="5676900" y="2892326"/>
            <a:ext cx="52476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53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사람과</a:t>
            </a:r>
            <a:endParaRPr lang="en-US" sz="1500" dirty="0"/>
          </a:p>
        </p:txBody>
      </p:sp>
      <p:sp>
        <p:nvSpPr>
          <p:cNvPr id="79" name="전문성의 연결"/>
          <p:cNvSpPr txBox="1"/>
          <p:nvPr/>
        </p:nvSpPr>
        <p:spPr>
          <a:xfrm>
            <a:off x="5676900" y="3130451"/>
            <a:ext cx="104288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53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전문성의 연결</a:t>
            </a:r>
            <a:endParaRPr lang="en-US" sz="1500" dirty="0"/>
          </a:p>
        </p:txBody>
      </p:sp>
      <p:sp>
        <p:nvSpPr>
          <p:cNvPr id="80" name="설계"/>
          <p:cNvSpPr txBox="1"/>
          <p:nvPr/>
        </p:nvSpPr>
        <p:spPr>
          <a:xfrm>
            <a:off x="9116120" y="2392164"/>
            <a:ext cx="26531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설계</a:t>
            </a:r>
            <a:endParaRPr lang="en-US" sz="1000" dirty="0"/>
          </a:p>
        </p:txBody>
      </p:sp>
      <p:sp>
        <p:nvSpPr>
          <p:cNvPr id="81" name="시공"/>
          <p:cNvSpPr txBox="1"/>
          <p:nvPr/>
        </p:nvSpPr>
        <p:spPr>
          <a:xfrm>
            <a:off x="10396240" y="2813149"/>
            <a:ext cx="26531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시공</a:t>
            </a:r>
            <a:endParaRPr lang="en-US" sz="1000" dirty="0"/>
          </a:p>
        </p:txBody>
      </p:sp>
      <p:sp>
        <p:nvSpPr>
          <p:cNvPr id="82" name="유관부서"/>
          <p:cNvSpPr txBox="1"/>
          <p:nvPr/>
        </p:nvSpPr>
        <p:spPr>
          <a:xfrm>
            <a:off x="9800084" y="3495080"/>
            <a:ext cx="4797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유관부서</a:t>
            </a:r>
            <a:endParaRPr lang="en-US" sz="1000" dirty="0"/>
          </a:p>
        </p:txBody>
      </p:sp>
      <p:sp>
        <p:nvSpPr>
          <p:cNvPr id="83" name="발주처"/>
          <p:cNvSpPr txBox="1"/>
          <p:nvPr/>
        </p:nvSpPr>
        <p:spPr>
          <a:xfrm>
            <a:off x="8271272" y="3495080"/>
            <a:ext cx="37246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발주처</a:t>
            </a:r>
            <a:endParaRPr lang="en-US" sz="1000" dirty="0"/>
          </a:p>
        </p:txBody>
      </p:sp>
      <p:sp>
        <p:nvSpPr>
          <p:cNvPr id="84" name="협력업체"/>
          <p:cNvSpPr txBox="1"/>
          <p:nvPr/>
        </p:nvSpPr>
        <p:spPr>
          <a:xfrm>
            <a:off x="7728694" y="2813149"/>
            <a:ext cx="4797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협력업체</a:t>
            </a:r>
            <a:endParaRPr lang="en-US" sz="1000" dirty="0"/>
          </a:p>
        </p:txBody>
      </p:sp>
      <p:sp>
        <p:nvSpPr>
          <p:cNvPr id="85" name="하나의 목표"/>
          <p:cNvSpPr txBox="1"/>
          <p:nvPr/>
        </p:nvSpPr>
        <p:spPr>
          <a:xfrm>
            <a:off x="8890695" y="2827834"/>
            <a:ext cx="55741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b="1" spc="-18" kern="0" dirty="0">
                <a:solidFill>
                  <a:srgbClr val="00A94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하나의 목표</a:t>
            </a:r>
            <a:endParaRPr lang="en-US" sz="900" dirty="0"/>
          </a:p>
        </p:txBody>
      </p:sp>
      <p:sp>
        <p:nvSpPr>
          <p:cNvPr id="86" name="프로젝트"/>
          <p:cNvSpPr txBox="1"/>
          <p:nvPr/>
        </p:nvSpPr>
        <p:spPr>
          <a:xfrm>
            <a:off x="8892679" y="2977654"/>
            <a:ext cx="553343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4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프로젝트</a:t>
            </a:r>
            <a:endParaRPr lang="en-US" sz="1200" dirty="0"/>
          </a:p>
        </p:txBody>
      </p:sp>
      <p:sp>
        <p:nvSpPr>
          <p:cNvPr id="87" name="완수"/>
          <p:cNvSpPr txBox="1"/>
          <p:nvPr/>
        </p:nvSpPr>
        <p:spPr>
          <a:xfrm>
            <a:off x="9018290" y="3152874"/>
            <a:ext cx="302121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4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완수</a:t>
            </a:r>
            <a:endParaRPr lang="en-US" sz="1200" dirty="0"/>
          </a:p>
        </p:txBody>
      </p:sp>
      <p:sp>
        <p:nvSpPr>
          <p:cNvPr id="88" name="강점의 연결"/>
          <p:cNvSpPr txBox="1"/>
          <p:nvPr/>
        </p:nvSpPr>
        <p:spPr>
          <a:xfrm>
            <a:off x="762000" y="4200823"/>
            <a:ext cx="87669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53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강점의 연결</a:t>
            </a:r>
            <a:endParaRPr lang="en-US" sz="1500" dirty="0"/>
          </a:p>
        </p:txBody>
      </p:sp>
      <p:sp>
        <p:nvSpPr>
          <p:cNvPr id="89" name="Dynamo 자동화"/>
          <p:cNvSpPr txBox="1"/>
          <p:nvPr/>
        </p:nvSpPr>
        <p:spPr>
          <a:xfrm>
            <a:off x="850900" y="4616748"/>
            <a:ext cx="87778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Dynamo 자동화</a:t>
            </a:r>
            <a:endParaRPr lang="en-US" sz="1000" dirty="0"/>
          </a:p>
        </p:txBody>
      </p:sp>
      <p:sp>
        <p:nvSpPr>
          <p:cNvPr id="90" name="모듈러 설계"/>
          <p:cNvSpPr txBox="1"/>
          <p:nvPr/>
        </p:nvSpPr>
        <p:spPr>
          <a:xfrm>
            <a:off x="2103338" y="4616748"/>
            <a:ext cx="61366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모듈러 설계</a:t>
            </a:r>
            <a:endParaRPr lang="en-US" sz="1000" dirty="0"/>
          </a:p>
        </p:txBody>
      </p:sp>
      <p:sp>
        <p:nvSpPr>
          <p:cNvPr id="91" name="BIM 모델링"/>
          <p:cNvSpPr txBox="1"/>
          <p:nvPr/>
        </p:nvSpPr>
        <p:spPr>
          <a:xfrm>
            <a:off x="850900" y="4934248"/>
            <a:ext cx="61833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BIM 모델링</a:t>
            </a:r>
            <a:endParaRPr lang="en-US" sz="1000" dirty="0"/>
          </a:p>
        </p:txBody>
      </p:sp>
      <p:sp>
        <p:nvSpPr>
          <p:cNvPr id="92" name="시나리오 구성"/>
          <p:cNvSpPr txBox="1"/>
          <p:nvPr/>
        </p:nvSpPr>
        <p:spPr>
          <a:xfrm>
            <a:off x="2103338" y="4934248"/>
            <a:ext cx="7209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시나리오 구성</a:t>
            </a:r>
            <a:endParaRPr lang="en-US" sz="1000" dirty="0"/>
          </a:p>
        </p:txBody>
      </p:sp>
      <p:sp>
        <p:nvSpPr>
          <p:cNvPr id="93" name="각자의 강점을 모아 하나의 성과로"/>
          <p:cNvSpPr txBox="1"/>
          <p:nvPr/>
        </p:nvSpPr>
        <p:spPr>
          <a:xfrm>
            <a:off x="876300" y="5293023"/>
            <a:ext cx="193148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b="1" spc="-3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각자의 강점을 모아 </a:t>
            </a:r>
            <a:pPr algn="l" indent="0" marL="0">
              <a:buNone/>
            </a:pPr>
            <a:r>
              <a:rPr lang="ko-KR" altLang="en-US" sz="1150" spc="-3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하나의 성과</a:t>
            </a:r>
            <a:pPr algn="l" indent="0" marL="0">
              <a:buNone/>
            </a:pPr>
            <a:r>
              <a:rPr lang="ko-KR" altLang="en-US" sz="1150" b="1" spc="-3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로</a:t>
            </a:r>
            <a:endParaRPr lang="en-US" sz="1150" dirty="0"/>
          </a:p>
        </p:txBody>
      </p:sp>
      <p:sp>
        <p:nvSpPr>
          <p:cNvPr id="94" name="기술"/>
          <p:cNvSpPr txBox="1"/>
          <p:nvPr/>
        </p:nvSpPr>
        <p:spPr>
          <a:xfrm>
            <a:off x="5043785" y="4745831"/>
            <a:ext cx="326330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39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</a:t>
            </a:r>
            <a:endParaRPr lang="en-US" sz="1300" dirty="0"/>
          </a:p>
        </p:txBody>
      </p:sp>
      <p:sp>
        <p:nvSpPr>
          <p:cNvPr id="95" name="TECHNOLOGY"/>
          <p:cNvSpPr txBox="1"/>
          <p:nvPr/>
        </p:nvSpPr>
        <p:spPr>
          <a:xfrm>
            <a:off x="5676900" y="4508103"/>
            <a:ext cx="1075172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5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TECHNOLOGY</a:t>
            </a:r>
            <a:endParaRPr lang="en-US" sz="950" dirty="0"/>
          </a:p>
        </p:txBody>
      </p:sp>
      <p:sp>
        <p:nvSpPr>
          <p:cNvPr id="96" name="미래 가치를"/>
          <p:cNvSpPr txBox="1"/>
          <p:nvPr/>
        </p:nvSpPr>
        <p:spPr>
          <a:xfrm>
            <a:off x="5676900" y="4721126"/>
            <a:ext cx="87669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53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미래 가치를</a:t>
            </a:r>
            <a:endParaRPr lang="en-US" sz="1500" dirty="0"/>
          </a:p>
        </p:txBody>
      </p:sp>
      <p:sp>
        <p:nvSpPr>
          <p:cNvPr id="97" name="만드는 원동력"/>
          <p:cNvSpPr txBox="1"/>
          <p:nvPr/>
        </p:nvSpPr>
        <p:spPr>
          <a:xfrm>
            <a:off x="5676900" y="4959251"/>
            <a:ext cx="104288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53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만드는 원동력</a:t>
            </a:r>
            <a:endParaRPr lang="en-US" sz="1500" dirty="0"/>
          </a:p>
        </p:txBody>
      </p:sp>
      <p:sp>
        <p:nvSpPr>
          <p:cNvPr id="98" name="에너지 원천기술"/>
          <p:cNvSpPr txBox="1"/>
          <p:nvPr/>
        </p:nvSpPr>
        <p:spPr>
          <a:xfrm>
            <a:off x="7526635" y="4373364"/>
            <a:ext cx="8280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에너지 원천기술</a:t>
            </a:r>
            <a:endParaRPr lang="en-US" sz="1000" dirty="0"/>
          </a:p>
        </p:txBody>
      </p:sp>
      <p:sp>
        <p:nvSpPr>
          <p:cNvPr id="99" name="글로벌 EPC 역량"/>
          <p:cNvSpPr txBox="1"/>
          <p:nvPr/>
        </p:nvSpPr>
        <p:spPr>
          <a:xfrm>
            <a:off x="10117534" y="4373364"/>
            <a:ext cx="87858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글로벌 EPC 역량</a:t>
            </a:r>
            <a:endParaRPr lang="en-US" sz="1000" dirty="0"/>
          </a:p>
        </p:txBody>
      </p:sp>
      <p:sp>
        <p:nvSpPr>
          <p:cNvPr id="100" name="첨단 산업건축 기술"/>
          <p:cNvSpPr txBox="1"/>
          <p:nvPr/>
        </p:nvSpPr>
        <p:spPr>
          <a:xfrm>
            <a:off x="7459563" y="5160764"/>
            <a:ext cx="96600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첨단 산업건축 기술</a:t>
            </a:r>
            <a:endParaRPr lang="en-US" sz="1000" dirty="0"/>
          </a:p>
        </p:txBody>
      </p:sp>
      <p:sp>
        <p:nvSpPr>
          <p:cNvPr id="101" name="스마트건설 기술"/>
          <p:cNvSpPr txBox="1"/>
          <p:nvPr/>
        </p:nvSpPr>
        <p:spPr>
          <a:xfrm>
            <a:off x="10142835" y="5160764"/>
            <a:ext cx="8280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스마트건설 기술</a:t>
            </a:r>
            <a:endParaRPr lang="en-US" sz="1000" dirty="0"/>
          </a:p>
        </p:txBody>
      </p:sp>
      <p:sp>
        <p:nvSpPr>
          <p:cNvPr id="102" name="기술의 연결"/>
          <p:cNvSpPr txBox="1"/>
          <p:nvPr/>
        </p:nvSpPr>
        <p:spPr>
          <a:xfrm>
            <a:off x="8890695" y="4593134"/>
            <a:ext cx="55741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b="1" spc="-18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기술의 연결</a:t>
            </a:r>
            <a:endParaRPr lang="en-US" sz="900" dirty="0"/>
          </a:p>
        </p:txBody>
      </p:sp>
      <p:sp>
        <p:nvSpPr>
          <p:cNvPr id="103" name="미래 가치"/>
          <p:cNvSpPr txBox="1"/>
          <p:nvPr/>
        </p:nvSpPr>
        <p:spPr>
          <a:xfrm>
            <a:off x="8878689" y="4742954"/>
            <a:ext cx="581323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4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미래 가치</a:t>
            </a:r>
            <a:endParaRPr lang="en-US" sz="1200" dirty="0"/>
          </a:p>
        </p:txBody>
      </p:sp>
      <p:sp>
        <p:nvSpPr>
          <p:cNvPr id="104" name="창출"/>
          <p:cNvSpPr txBox="1"/>
          <p:nvPr/>
        </p:nvSpPr>
        <p:spPr>
          <a:xfrm>
            <a:off x="9018290" y="4918174"/>
            <a:ext cx="302121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4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창출</a:t>
            </a:r>
            <a:endParaRPr lang="en-US" sz="1200" dirty="0"/>
          </a:p>
        </p:txBody>
      </p:sp>
      <p:sp>
        <p:nvSpPr>
          <p:cNvPr id="105" name="선정 이유"/>
          <p:cNvSpPr txBox="1"/>
          <p:nvPr/>
        </p:nvSpPr>
        <p:spPr>
          <a:xfrm>
            <a:off x="1308100" y="6041430"/>
            <a:ext cx="54451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40" kern="0" dirty="0">
                <a:solidFill>
                  <a:srgbClr val="8FD3F5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선정 이유</a:t>
            </a:r>
            <a:endParaRPr lang="en-US" sz="1000" dirty="0"/>
          </a:p>
        </p:txBody>
      </p:sp>
      <p:sp>
        <p:nvSpPr>
          <p:cNvPr id="106" name="서로 다른 사람과 전문성이 하나의 목표로 연결될 때, 기술은 더 큰 가능"/>
          <p:cNvSpPr txBox="1"/>
          <p:nvPr/>
        </p:nvSpPr>
        <p:spPr>
          <a:xfrm>
            <a:off x="1979612" y="6011565"/>
            <a:ext cx="8908584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서로 다른 사람과 전문성이 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로 연결될 때, 기술은 더 큰 가능성을 발휘하고 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새로운 미래 가치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를 만들어간다고 믿습니다.</a:t>
            </a:r>
            <a:endParaRPr lang="en-US" sz="1400" dirty="0"/>
          </a:p>
        </p:txBody>
      </p:sp>
      <p:sp>
        <p:nvSpPr>
          <p:cNvPr id="107" name="2026년 하반기 신입사원 공개채용 | 공사관리 건축 직무 지원자 이현준"/>
          <p:cNvSpPr txBox="1"/>
          <p:nvPr/>
        </p:nvSpPr>
        <p:spPr>
          <a:xfrm>
            <a:off x="609600" y="6425605"/>
            <a:ext cx="327368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6A748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2026년 하반기 신입사원 공개채용 | 공사관리 건축 직무 지원자 이현준</a:t>
            </a:r>
            <a:endParaRPr lang="en-US" sz="900" dirty="0"/>
          </a:p>
        </p:txBody>
      </p:sp>
      <p:sp>
        <p:nvSpPr>
          <p:cNvPr id="108" name="02 / 03"/>
          <p:cNvSpPr txBox="1"/>
          <p:nvPr/>
        </p:nvSpPr>
        <p:spPr>
          <a:xfrm>
            <a:off x="11142166" y="6425605"/>
            <a:ext cx="49103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02</a:t>
            </a:r>
            <a:pPr algn="l" indent="0" marL="0">
              <a:buNone/>
            </a:pPr>
            <a:r>
              <a:rPr lang="ko-KR" altLang="en-US" sz="900" b="1" spc="54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6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8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3935" y="415462"/>
            <a:ext cx="1526117" cy="268817"/>
          </a:xfrm>
          <a:prstGeom prst="rect">
            <a:avLst/>
          </a:prstGeom>
        </p:spPr>
      </p:pic>
      <p:pic>
        <p:nvPicPr>
          <p:cNvPr id="9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517" y="2127581"/>
            <a:ext cx="8627533" cy="3155950"/>
          </a:xfrm>
          <a:prstGeom prst="rect">
            <a:avLst/>
          </a:prstGeom>
        </p:spPr>
      </p:pic>
      <p:sp>
        <p:nvSpPr>
          <p:cNvPr id="10" name="dot field"/>
          <p:cNvSpPr/>
          <p:nvPr/>
        </p:nvSpPr>
        <p:spPr>
          <a:xfrm>
            <a:off x="6096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11" name="a node ring n-field" descr="a node ring n-f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431"/>
            <a:ext cx="952500" cy="952500"/>
          </a:xfrm>
          <a:prstGeom prst="rect">
            <a:avLst/>
          </a:prstGeom>
        </p:spPr>
      </p:pic>
      <p:pic>
        <p:nvPicPr>
          <p:cNvPr id="12" name="ic" descr="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667" y="3527160"/>
            <a:ext cx="224367" cy="101600"/>
          </a:xfrm>
          <a:prstGeom prst="rect">
            <a:avLst/>
          </a:prstGeom>
        </p:spPr>
      </p:pic>
      <p:pic>
        <p:nvPicPr>
          <p:cNvPr id="13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451681"/>
            <a:ext cx="88900" cy="12700"/>
          </a:xfrm>
          <a:prstGeom prst="rect">
            <a:avLst/>
          </a:prstGeom>
        </p:spPr>
      </p:pic>
      <p:pic>
        <p:nvPicPr>
          <p:cNvPr id="14" name="li" descr="l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666655"/>
            <a:ext cx="88900" cy="12700"/>
          </a:xfrm>
          <a:prstGeom prst="rect">
            <a:avLst/>
          </a:prstGeom>
        </p:spPr>
      </p:pic>
      <p:pic>
        <p:nvPicPr>
          <p:cNvPr id="15" name="li" descr="li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4883745"/>
            <a:ext cx="88900" cy="12700"/>
          </a:xfrm>
          <a:prstGeom prst="rect">
            <a:avLst/>
          </a:prstGeom>
        </p:spPr>
      </p:pic>
      <p:pic>
        <p:nvPicPr>
          <p:cNvPr id="16" name="a node ring joint" descr="a node ring join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90800" y="3511881"/>
            <a:ext cx="355600" cy="355600"/>
          </a:xfrm>
          <a:prstGeom prst="rect">
            <a:avLst/>
          </a:prstGeom>
        </p:spPr>
      </p:pic>
      <p:pic>
        <p:nvPicPr>
          <p:cNvPr id="17" name="ic" descr="ic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2983" y="3624064"/>
            <a:ext cx="131233" cy="131233"/>
          </a:xfrm>
          <a:prstGeom prst="rect">
            <a:avLst/>
          </a:prstGeom>
        </p:spPr>
      </p:pic>
      <p:sp>
        <p:nvSpPr>
          <p:cNvPr id="18" name="a ms"/>
          <p:cNvSpPr/>
          <p:nvPr/>
        </p:nvSpPr>
        <p:spPr>
          <a:xfrm>
            <a:off x="2404170" y="3947914"/>
            <a:ext cx="728861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19" name="dot people"/>
          <p:cNvSpPr/>
          <p:nvPr/>
        </p:nvSpPr>
        <p:spPr>
          <a:xfrm>
            <a:off x="4178300" y="1860947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0" name="li" descr="l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78300" y="2407113"/>
            <a:ext cx="88900" cy="12700"/>
          </a:xfrm>
          <a:prstGeom prst="rect">
            <a:avLst/>
          </a:prstGeom>
        </p:spPr>
      </p:pic>
      <p:pic>
        <p:nvPicPr>
          <p:cNvPr id="21" name="li" descr="li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78300" y="2622087"/>
            <a:ext cx="88900" cy="12700"/>
          </a:xfrm>
          <a:prstGeom prst="rect">
            <a:avLst/>
          </a:prstGeom>
        </p:spPr>
      </p:pic>
      <p:sp>
        <p:nvSpPr>
          <p:cNvPr id="22" name="a node n-ppl"/>
          <p:cNvSpPr/>
          <p:nvPr/>
        </p:nvSpPr>
        <p:spPr>
          <a:xfrm>
            <a:off x="4229100" y="2881114"/>
            <a:ext cx="533400" cy="533400"/>
          </a:xfrm>
          <a:prstGeom prst="ellipse">
            <a:avLst/>
          </a:prstGeom>
          <a:solidFill>
            <a:srgbClr val="E5F6EC"/>
          </a:solidFill>
          <a:ln w="12700">
            <a:solidFill>
              <a:srgbClr val="00A94F"/>
            </a:solidFill>
            <a:prstDash val="solid"/>
          </a:ln>
        </p:spPr>
      </p:sp>
      <p:pic>
        <p:nvPicPr>
          <p:cNvPr id="23" name="ic" descr="ic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25950" y="2990949"/>
            <a:ext cx="139700" cy="139700"/>
          </a:xfrm>
          <a:prstGeom prst="rect">
            <a:avLst/>
          </a:prstGeom>
        </p:spPr>
      </p:pic>
      <p:sp>
        <p:nvSpPr>
          <p:cNvPr id="24" name="a node n-tch"/>
          <p:cNvSpPr/>
          <p:nvPr/>
        </p:nvSpPr>
        <p:spPr>
          <a:xfrm>
            <a:off x="4229100" y="3960614"/>
            <a:ext cx="533400" cy="533400"/>
          </a:xfrm>
          <a:prstGeom prst="ellipse">
            <a:avLst/>
          </a:prstGeom>
          <a:solidFill>
            <a:srgbClr val="EEF4FC"/>
          </a:solidFill>
          <a:ln w="12700">
            <a:solidFill>
              <a:srgbClr val="004B8D"/>
            </a:solidFill>
            <a:prstDash val="solid"/>
          </a:ln>
        </p:spPr>
      </p:sp>
      <p:pic>
        <p:nvPicPr>
          <p:cNvPr id="25" name="ic" descr="ic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32300" y="4070449"/>
            <a:ext cx="127000" cy="139700"/>
          </a:xfrm>
          <a:prstGeom prst="rect">
            <a:avLst/>
          </a:prstGeom>
        </p:spPr>
      </p:pic>
      <p:pic>
        <p:nvPicPr>
          <p:cNvPr id="26" name="a node ring joint" descr="a node ring join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18300" y="3511881"/>
            <a:ext cx="355600" cy="355600"/>
          </a:xfrm>
          <a:prstGeom prst="rect">
            <a:avLst/>
          </a:prstGeom>
        </p:spPr>
      </p:pic>
      <p:pic>
        <p:nvPicPr>
          <p:cNvPr id="27" name="ic" descr="ic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43183" y="3649464"/>
            <a:ext cx="112183" cy="80433"/>
          </a:xfrm>
          <a:prstGeom prst="rect">
            <a:avLst/>
          </a:prstGeom>
        </p:spPr>
      </p:pic>
      <p:sp>
        <p:nvSpPr>
          <p:cNvPr id="28" name="a ms"/>
          <p:cNvSpPr/>
          <p:nvPr/>
        </p:nvSpPr>
        <p:spPr>
          <a:xfrm>
            <a:off x="6531670" y="3947914"/>
            <a:ext cx="728861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pic>
        <p:nvPicPr>
          <p:cNvPr id="29" name="a node n-imp" descr="a node n-imp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89850" y="3149931"/>
            <a:ext cx="1079500" cy="1079500"/>
          </a:xfrm>
          <a:prstGeom prst="rect">
            <a:avLst/>
          </a:prstGeom>
        </p:spPr>
      </p:pic>
      <p:pic>
        <p:nvPicPr>
          <p:cNvPr id="30" name="ic" descr="ic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3767" y="3485654"/>
            <a:ext cx="211667" cy="127000"/>
          </a:xfrm>
          <a:prstGeom prst="rect">
            <a:avLst/>
          </a:prstGeom>
        </p:spPr>
      </p:pic>
      <p:sp>
        <p:nvSpPr>
          <p:cNvPr id="31" name="dot tech"/>
          <p:cNvSpPr/>
          <p:nvPr/>
        </p:nvSpPr>
        <p:spPr>
          <a:xfrm>
            <a:off x="4178300" y="4693047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2" name="li c1 r3" descr="li c1 r3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78300" y="5251913"/>
            <a:ext cx="88900" cy="12700"/>
          </a:xfrm>
          <a:prstGeom prst="rect">
            <a:avLst/>
          </a:prstGeom>
        </p:spPr>
      </p:pic>
      <p:pic>
        <p:nvPicPr>
          <p:cNvPr id="33" name="li c1 r4" descr="li c1 r4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78300" y="5466887"/>
            <a:ext cx="88900" cy="12700"/>
          </a:xfrm>
          <a:prstGeom prst="rect">
            <a:avLst/>
          </a:prstGeom>
        </p:spPr>
      </p:pic>
      <p:pic>
        <p:nvPicPr>
          <p:cNvPr id="34" name="i" descr="i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82213" y="5250392"/>
            <a:ext cx="374650" cy="12700"/>
          </a:xfrm>
          <a:prstGeom prst="rect">
            <a:avLst/>
          </a:prstGeom>
        </p:spPr>
      </p:pic>
      <p:pic>
        <p:nvPicPr>
          <p:cNvPr id="35" name="ic" descr="ic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96617" y="5229225"/>
            <a:ext cx="33867" cy="55033"/>
          </a:xfrm>
          <a:prstGeom prst="rect">
            <a:avLst/>
          </a:prstGeom>
        </p:spPr>
      </p:pic>
      <p:pic>
        <p:nvPicPr>
          <p:cNvPr id="36" name="i" descr="i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82213" y="5461132"/>
            <a:ext cx="374650" cy="12700"/>
          </a:xfrm>
          <a:prstGeom prst="rect">
            <a:avLst/>
          </a:prstGeom>
        </p:spPr>
      </p:pic>
      <p:pic>
        <p:nvPicPr>
          <p:cNvPr id="37" name="ic" descr="ic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796617" y="5439966"/>
            <a:ext cx="33867" cy="55033"/>
          </a:xfrm>
          <a:prstGeom prst="rect">
            <a:avLst/>
          </a:prstGeom>
        </p:spPr>
      </p:pic>
      <p:sp>
        <p:nvSpPr>
          <p:cNvPr id="38" name="dot field"/>
          <p:cNvSpPr/>
          <p:nvPr/>
        </p:nvSpPr>
        <p:spPr>
          <a:xfrm>
            <a:off x="6959600" y="46930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9" name="li c3 r3" descr="li c3 r3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59600" y="5251913"/>
            <a:ext cx="88900" cy="12700"/>
          </a:xfrm>
          <a:prstGeom prst="rect">
            <a:avLst/>
          </a:prstGeom>
        </p:spPr>
      </p:pic>
      <p:pic>
        <p:nvPicPr>
          <p:cNvPr id="40" name="li c3 r4" descr="li c3 r4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59600" y="5466887"/>
            <a:ext cx="88900" cy="12700"/>
          </a:xfrm>
          <a:prstGeom prst="rect">
            <a:avLst/>
          </a:prstGeom>
        </p:spPr>
      </p:pic>
      <p:sp>
        <p:nvSpPr>
          <p:cNvPr id="41" name="bd"/>
          <p:cNvSpPr/>
          <p:nvPr/>
        </p:nvSpPr>
        <p:spPr>
          <a:xfrm>
            <a:off x="10191750" y="2011164"/>
            <a:ext cx="241300" cy="2413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DBB30"/>
            </a:solidFill>
            <a:prstDash val="solid"/>
          </a:ln>
        </p:spPr>
      </p:sp>
      <p:pic>
        <p:nvPicPr>
          <p:cNvPr id="42" name="ic" descr="ic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253133" y="2074664"/>
            <a:ext cx="124883" cy="124883"/>
          </a:xfrm>
          <a:prstGeom prst="rect">
            <a:avLst/>
          </a:prstGeom>
        </p:spPr>
      </p:pic>
      <p:sp>
        <p:nvSpPr>
          <p:cNvPr id="43" name="bd"/>
          <p:cNvSpPr/>
          <p:nvPr/>
        </p:nvSpPr>
        <p:spPr>
          <a:xfrm>
            <a:off x="10191750" y="3058914"/>
            <a:ext cx="241300" cy="2413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DBB30"/>
            </a:solidFill>
            <a:prstDash val="solid"/>
          </a:ln>
        </p:spPr>
      </p:sp>
      <p:pic>
        <p:nvPicPr>
          <p:cNvPr id="44" name="ic" descr="ic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265833" y="3122414"/>
            <a:ext cx="93133" cy="118533"/>
          </a:xfrm>
          <a:prstGeom prst="rect">
            <a:avLst/>
          </a:prstGeom>
        </p:spPr>
      </p:pic>
      <p:sp>
        <p:nvSpPr>
          <p:cNvPr id="45" name="bd"/>
          <p:cNvSpPr/>
          <p:nvPr/>
        </p:nvSpPr>
        <p:spPr>
          <a:xfrm>
            <a:off x="10191750" y="4106664"/>
            <a:ext cx="241300" cy="2413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DBB30"/>
            </a:solidFill>
            <a:prstDash val="solid"/>
          </a:ln>
        </p:spPr>
      </p:sp>
      <p:pic>
        <p:nvPicPr>
          <p:cNvPr id="46" name="ic" descr="ic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253133" y="4170164"/>
            <a:ext cx="118533" cy="118533"/>
          </a:xfrm>
          <a:prstGeom prst="rect">
            <a:avLst/>
          </a:prstGeom>
        </p:spPr>
      </p:pic>
      <p:sp>
        <p:nvSpPr>
          <p:cNvPr id="47" name="bd"/>
          <p:cNvSpPr/>
          <p:nvPr/>
        </p:nvSpPr>
        <p:spPr>
          <a:xfrm>
            <a:off x="10191750" y="5154414"/>
            <a:ext cx="241300" cy="2413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DBB30"/>
            </a:solidFill>
            <a:prstDash val="solid"/>
          </a:ln>
        </p:spPr>
      </p:sp>
      <p:pic>
        <p:nvPicPr>
          <p:cNvPr id="48" name="ic" descr="ic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253133" y="5217914"/>
            <a:ext cx="118533" cy="118533"/>
          </a:xfrm>
          <a:prstGeom prst="rect">
            <a:avLst/>
          </a:prstGeom>
        </p:spPr>
      </p:pic>
      <p:sp>
        <p:nvSpPr>
          <p:cNvPr id="49" name="key"/>
          <p:cNvSpPr/>
          <p:nvPr/>
        </p:nvSpPr>
        <p:spPr>
          <a:xfrm>
            <a:off x="609600" y="57386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sp>
        <p:nvSpPr>
          <p:cNvPr id="50" name="i"/>
          <p:cNvSpPr/>
          <p:nvPr/>
        </p:nvSpPr>
        <p:spPr>
          <a:xfrm>
            <a:off x="863600" y="6012259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51" name="b"/>
          <p:cNvSpPr/>
          <p:nvPr/>
        </p:nvSpPr>
        <p:spPr>
          <a:xfrm>
            <a:off x="927100" y="6037659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2" name="i"/>
          <p:cNvSpPr/>
          <p:nvPr/>
        </p:nvSpPr>
        <p:spPr>
          <a:xfrm>
            <a:off x="1016000" y="6012259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3" name="b"/>
          <p:cNvSpPr/>
          <p:nvPr/>
        </p:nvSpPr>
        <p:spPr>
          <a:xfrm>
            <a:off x="1079500" y="6037659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4" name="i"/>
          <p:cNvSpPr/>
          <p:nvPr/>
        </p:nvSpPr>
        <p:spPr>
          <a:xfrm>
            <a:off x="1168400" y="6012259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55" name="03"/>
          <p:cNvSpPr txBox="1"/>
          <p:nvPr/>
        </p:nvSpPr>
        <p:spPr>
          <a:xfrm>
            <a:off x="1066800" y="419100"/>
            <a:ext cx="2419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03</a:t>
            </a:r>
            <a:endParaRPr lang="en-US" sz="1100" dirty="0"/>
          </a:p>
        </p:txBody>
      </p:sp>
      <p:sp>
        <p:nvSpPr>
          <p:cNvPr id="56" name="PT 주제 2. 가치관과 핵심키워드의 연결점 &amp; 입사 후 실천"/>
          <p:cNvSpPr txBox="1"/>
          <p:nvPr/>
        </p:nvSpPr>
        <p:spPr>
          <a:xfrm>
            <a:off x="1346895" y="419100"/>
            <a:ext cx="3230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PT 주제 2. 가치관과 핵심키워드의 연결점 &amp; 입사 후 실천</a:t>
            </a:r>
            <a:endParaRPr lang="en-US" sz="1100" dirty="0"/>
          </a:p>
        </p:txBody>
      </p:sp>
      <p:sp>
        <p:nvSpPr>
          <p:cNvPr id="57" name="입사 후"/>
          <p:cNvSpPr txBox="1"/>
          <p:nvPr/>
        </p:nvSpPr>
        <p:spPr>
          <a:xfrm>
            <a:off x="609600" y="774005"/>
            <a:ext cx="609699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입사 후</a:t>
            </a:r>
            <a:endParaRPr lang="en-US" sz="1600" dirty="0"/>
          </a:p>
        </p:txBody>
      </p:sp>
      <p:sp>
        <p:nvSpPr>
          <p:cNvPr id="58" name="사람과 기술을 연결해 현장의 변화를 만들겠습니다."/>
          <p:cNvSpPr txBox="1"/>
          <p:nvPr/>
        </p:nvSpPr>
        <p:spPr>
          <a:xfrm>
            <a:off x="609600" y="1100336"/>
            <a:ext cx="7016962" cy="425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과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을 연결해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를 만들겠습니다.</a:t>
            </a:r>
            <a:endParaRPr lang="en-US" sz="2800" dirty="0"/>
          </a:p>
        </p:txBody>
      </p:sp>
      <p:sp>
        <p:nvSpPr>
          <p:cNvPr id="59" name="STEP 01"/>
          <p:cNvSpPr txBox="1"/>
          <p:nvPr/>
        </p:nvSpPr>
        <p:spPr>
          <a:xfrm>
            <a:off x="736600" y="1814314"/>
            <a:ext cx="60592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STEP 01</a:t>
            </a:r>
            <a:endParaRPr lang="en-US" sz="950" dirty="0"/>
          </a:p>
        </p:txBody>
      </p:sp>
      <p:sp>
        <p:nvSpPr>
          <p:cNvPr id="60" name="FIELD"/>
          <p:cNvSpPr txBox="1"/>
          <p:nvPr/>
        </p:nvSpPr>
        <p:spPr>
          <a:xfrm>
            <a:off x="1355229" y="1814314"/>
            <a:ext cx="46880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52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FIELD</a:t>
            </a:r>
            <a:endParaRPr lang="en-US" sz="950" dirty="0"/>
          </a:p>
        </p:txBody>
      </p:sp>
      <p:sp>
        <p:nvSpPr>
          <p:cNvPr id="61" name="현장을 이해하겠습니다."/>
          <p:cNvSpPr txBox="1"/>
          <p:nvPr/>
        </p:nvSpPr>
        <p:spPr>
          <a:xfrm>
            <a:off x="609600" y="2015530"/>
            <a:ext cx="177666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현장을 이해하겠습니다.</a:t>
            </a:r>
            <a:endParaRPr lang="en-US" sz="1500" dirty="0"/>
          </a:p>
        </p:txBody>
      </p:sp>
      <p:sp>
        <p:nvSpPr>
          <p:cNvPr id="62" name="현장"/>
          <p:cNvSpPr txBox="1"/>
          <p:nvPr/>
        </p:nvSpPr>
        <p:spPr>
          <a:xfrm>
            <a:off x="890885" y="3696494"/>
            <a:ext cx="38993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600" spc="-4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현장</a:t>
            </a:r>
            <a:endParaRPr lang="en-US" sz="1600" dirty="0"/>
          </a:p>
        </p:txBody>
      </p:sp>
      <p:sp>
        <p:nvSpPr>
          <p:cNvPr id="63" name="도면, 시방서, 시공계획서 검토"/>
          <p:cNvSpPr txBox="1"/>
          <p:nvPr/>
        </p:nvSpPr>
        <p:spPr>
          <a:xfrm>
            <a:off x="774700" y="4367014"/>
            <a:ext cx="174227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도면, 시방서, 시공계획서 검토</a:t>
            </a:r>
            <a:endParaRPr lang="en-US" sz="1150" dirty="0"/>
          </a:p>
        </p:txBody>
      </p:sp>
      <p:sp>
        <p:nvSpPr>
          <p:cNvPr id="64" name="공종별 시공방법과 선후행 관계 이해"/>
          <p:cNvSpPr txBox="1"/>
          <p:nvPr/>
        </p:nvSpPr>
        <p:spPr>
          <a:xfrm>
            <a:off x="774700" y="4584105"/>
            <a:ext cx="209512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공종별 시공방법과 선후행 관계 이해</a:t>
            </a:r>
            <a:endParaRPr lang="en-US" sz="1150" dirty="0"/>
          </a:p>
        </p:txBody>
      </p:sp>
      <p:sp>
        <p:nvSpPr>
          <p:cNvPr id="65" name="작업일보를 통한 일일 작업 현황 파악"/>
          <p:cNvSpPr txBox="1"/>
          <p:nvPr/>
        </p:nvSpPr>
        <p:spPr>
          <a:xfrm>
            <a:off x="774700" y="4801195"/>
            <a:ext cx="21287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작업일보를 통한 일일 작업 현황 파악</a:t>
            </a:r>
            <a:endParaRPr lang="en-US" sz="1150" dirty="0"/>
          </a:p>
        </p:txBody>
      </p:sp>
      <p:sp>
        <p:nvSpPr>
          <p:cNvPr id="66" name="문제 발견"/>
          <p:cNvSpPr txBox="1"/>
          <p:nvPr/>
        </p:nvSpPr>
        <p:spPr>
          <a:xfrm>
            <a:off x="2518470" y="3992662"/>
            <a:ext cx="55106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문제 발견</a:t>
            </a:r>
            <a:endParaRPr lang="en-US" sz="1100" dirty="0"/>
          </a:p>
        </p:txBody>
      </p:sp>
      <p:sp>
        <p:nvSpPr>
          <p:cNvPr id="67" name="STEP 02"/>
          <p:cNvSpPr txBox="1"/>
          <p:nvPr/>
        </p:nvSpPr>
        <p:spPr>
          <a:xfrm>
            <a:off x="4305300" y="1814314"/>
            <a:ext cx="62269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STEP 02</a:t>
            </a:r>
            <a:endParaRPr lang="en-US" sz="950" dirty="0"/>
          </a:p>
        </p:txBody>
      </p:sp>
      <p:sp>
        <p:nvSpPr>
          <p:cNvPr id="68" name="PEOPLE"/>
          <p:cNvSpPr txBox="1"/>
          <p:nvPr/>
        </p:nvSpPr>
        <p:spPr>
          <a:xfrm>
            <a:off x="4940697" y="1814314"/>
            <a:ext cx="615851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52" kern="0" dirty="0">
                <a:solidFill>
                  <a:srgbClr val="00A94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PEOPLE</a:t>
            </a:r>
            <a:endParaRPr lang="en-US" sz="950" dirty="0"/>
          </a:p>
        </p:txBody>
      </p:sp>
      <p:sp>
        <p:nvSpPr>
          <p:cNvPr id="69" name="사람을 연결하겠습니다."/>
          <p:cNvSpPr txBox="1"/>
          <p:nvPr/>
        </p:nvSpPr>
        <p:spPr>
          <a:xfrm>
            <a:off x="4178300" y="2015530"/>
            <a:ext cx="177666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사람을 연결하겠습니다.</a:t>
            </a:r>
            <a:endParaRPr lang="en-US" sz="1500" dirty="0"/>
          </a:p>
        </p:txBody>
      </p:sp>
      <p:sp>
        <p:nvSpPr>
          <p:cNvPr id="70" name="유관부서 및 협력업체와 공정별 일정 공유"/>
          <p:cNvSpPr txBox="1"/>
          <p:nvPr/>
        </p:nvSpPr>
        <p:spPr>
          <a:xfrm>
            <a:off x="4343400" y="2320330"/>
            <a:ext cx="23902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유관부서 및 협력업체와 공정별 일정 공유</a:t>
            </a:r>
            <a:endParaRPr lang="en-US" sz="1150" dirty="0"/>
          </a:p>
        </p:txBody>
      </p:sp>
      <p:sp>
        <p:nvSpPr>
          <p:cNvPr id="71" name="선후행 공정 간 작업 조건 확인 및 조율"/>
          <p:cNvSpPr txBox="1"/>
          <p:nvPr/>
        </p:nvSpPr>
        <p:spPr>
          <a:xfrm>
            <a:off x="4343400" y="2537420"/>
            <a:ext cx="219609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선후행 공정 간 작업 조건 확인 및 조율</a:t>
            </a:r>
            <a:endParaRPr lang="en-US" sz="1150" dirty="0"/>
          </a:p>
        </p:txBody>
      </p:sp>
      <p:sp>
        <p:nvSpPr>
          <p:cNvPr id="72" name="사람"/>
          <p:cNvSpPr txBox="1"/>
          <p:nvPr/>
        </p:nvSpPr>
        <p:spPr>
          <a:xfrm>
            <a:off x="4343202" y="3136999"/>
            <a:ext cx="305098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00A94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</a:t>
            </a:r>
            <a:endParaRPr lang="en-US" sz="1200" dirty="0"/>
          </a:p>
        </p:txBody>
      </p:sp>
      <p:sp>
        <p:nvSpPr>
          <p:cNvPr id="73" name="기술"/>
          <p:cNvSpPr txBox="1"/>
          <p:nvPr/>
        </p:nvSpPr>
        <p:spPr>
          <a:xfrm>
            <a:off x="4343202" y="4216499"/>
            <a:ext cx="305098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</a:t>
            </a:r>
            <a:endParaRPr lang="en-US" sz="1200" dirty="0"/>
          </a:p>
        </p:txBody>
      </p:sp>
      <p:sp>
        <p:nvSpPr>
          <p:cNvPr id="74" name="문제 해결"/>
          <p:cNvSpPr txBox="1"/>
          <p:nvPr/>
        </p:nvSpPr>
        <p:spPr>
          <a:xfrm>
            <a:off x="6645970" y="3992662"/>
            <a:ext cx="55106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문제 해결</a:t>
            </a:r>
            <a:endParaRPr lang="en-US" sz="1100" dirty="0"/>
          </a:p>
        </p:txBody>
      </p:sp>
      <p:sp>
        <p:nvSpPr>
          <p:cNvPr id="75" name="변화"/>
          <p:cNvSpPr txBox="1"/>
          <p:nvPr/>
        </p:nvSpPr>
        <p:spPr>
          <a:xfrm>
            <a:off x="8013402" y="3688854"/>
            <a:ext cx="432296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spc="-54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변화</a:t>
            </a:r>
            <a:endParaRPr lang="en-US" sz="1800" dirty="0"/>
          </a:p>
        </p:txBody>
      </p:sp>
      <p:sp>
        <p:nvSpPr>
          <p:cNvPr id="76" name="STEP 03"/>
          <p:cNvSpPr txBox="1"/>
          <p:nvPr/>
        </p:nvSpPr>
        <p:spPr>
          <a:xfrm>
            <a:off x="4305300" y="4646414"/>
            <a:ext cx="62617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STEP 03</a:t>
            </a:r>
            <a:endParaRPr lang="en-US" sz="950" dirty="0"/>
          </a:p>
        </p:txBody>
      </p:sp>
      <p:sp>
        <p:nvSpPr>
          <p:cNvPr id="77" name="TECH"/>
          <p:cNvSpPr txBox="1"/>
          <p:nvPr/>
        </p:nvSpPr>
        <p:spPr>
          <a:xfrm>
            <a:off x="4944170" y="4646414"/>
            <a:ext cx="450751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5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TECH</a:t>
            </a:r>
            <a:endParaRPr lang="en-US" sz="950" dirty="0"/>
          </a:p>
        </p:txBody>
      </p:sp>
      <p:sp>
        <p:nvSpPr>
          <p:cNvPr id="78" name="기술을 연결하겠습니다."/>
          <p:cNvSpPr txBox="1"/>
          <p:nvPr/>
        </p:nvSpPr>
        <p:spPr>
          <a:xfrm>
            <a:off x="4178300" y="4847630"/>
            <a:ext cx="177666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기술을 연결하겠습니다.</a:t>
            </a:r>
            <a:endParaRPr lang="en-US" sz="1500" dirty="0"/>
          </a:p>
        </p:txBody>
      </p:sp>
      <p:sp>
        <p:nvSpPr>
          <p:cNvPr id="79" name="BIM 기반 간섭 · 시공성 검토 지원"/>
          <p:cNvSpPr txBox="1"/>
          <p:nvPr/>
        </p:nvSpPr>
        <p:spPr>
          <a:xfrm>
            <a:off x="4343400" y="5165130"/>
            <a:ext cx="194220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BIM 기반 간섭 · 시공성 검토 지원</a:t>
            </a:r>
            <a:endParaRPr lang="en-US" sz="1150" dirty="0"/>
          </a:p>
        </p:txBody>
      </p:sp>
      <p:sp>
        <p:nvSpPr>
          <p:cNvPr id="80" name="AI 기반 반복 업무 자동화 방안 발굴"/>
          <p:cNvSpPr txBox="1"/>
          <p:nvPr/>
        </p:nvSpPr>
        <p:spPr>
          <a:xfrm>
            <a:off x="4343400" y="5382220"/>
            <a:ext cx="20422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AI 기반 반복 업무 자동화 방안 발굴</a:t>
            </a:r>
            <a:endParaRPr lang="en-US" sz="1150" dirty="0"/>
          </a:p>
        </p:txBody>
      </p:sp>
      <p:sp>
        <p:nvSpPr>
          <p:cNvPr id="81" name="STEP 04"/>
          <p:cNvSpPr txBox="1"/>
          <p:nvPr/>
        </p:nvSpPr>
        <p:spPr>
          <a:xfrm>
            <a:off x="7086600" y="4646414"/>
            <a:ext cx="62874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STEP 04</a:t>
            </a:r>
            <a:endParaRPr lang="en-US" sz="950" dirty="0"/>
          </a:p>
        </p:txBody>
      </p:sp>
      <p:sp>
        <p:nvSpPr>
          <p:cNvPr id="82" name="IMPROVE"/>
          <p:cNvSpPr txBox="1"/>
          <p:nvPr/>
        </p:nvSpPr>
        <p:spPr>
          <a:xfrm>
            <a:off x="7728049" y="4646414"/>
            <a:ext cx="7196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52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IMPROVE</a:t>
            </a:r>
            <a:endParaRPr lang="en-US" sz="950" dirty="0"/>
          </a:p>
        </p:txBody>
      </p:sp>
      <p:sp>
        <p:nvSpPr>
          <p:cNvPr id="83" name="작은 개선부터 변화를 만들겠습니다."/>
          <p:cNvSpPr txBox="1"/>
          <p:nvPr/>
        </p:nvSpPr>
        <p:spPr>
          <a:xfrm>
            <a:off x="6959600" y="4847630"/>
            <a:ext cx="269713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작은 개선부터 변화를 만들겠습니다.</a:t>
            </a:r>
            <a:endParaRPr lang="en-US" sz="1500" dirty="0"/>
          </a:p>
        </p:txBody>
      </p:sp>
      <p:sp>
        <p:nvSpPr>
          <p:cNvPr id="84" name="공정 간 간섭 사전 발견"/>
          <p:cNvSpPr txBox="1"/>
          <p:nvPr/>
        </p:nvSpPr>
        <p:spPr>
          <a:xfrm>
            <a:off x="7124700" y="5165130"/>
            <a:ext cx="13109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공정 간 간섭 사전 발견</a:t>
            </a:r>
            <a:endParaRPr lang="en-US" sz="1150" dirty="0"/>
          </a:p>
        </p:txBody>
      </p:sp>
      <p:sp>
        <p:nvSpPr>
          <p:cNvPr id="85" name="→"/>
          <p:cNvSpPr txBox="1"/>
          <p:nvPr/>
        </p:nvSpPr>
        <p:spPr>
          <a:xfrm>
            <a:off x="8437662" y="5165130"/>
            <a:ext cx="18256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b="1" spc="-23" kern="0" dirty="0">
                <a:solidFill>
                  <a:srgbClr val="2A78D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→</a:t>
            </a:r>
            <a:endParaRPr lang="en-US" sz="1150" dirty="0"/>
          </a:p>
        </p:txBody>
      </p:sp>
      <p:sp>
        <p:nvSpPr>
          <p:cNvPr id="86" name="재작업 감소"/>
          <p:cNvSpPr txBox="1"/>
          <p:nvPr/>
        </p:nvSpPr>
        <p:spPr>
          <a:xfrm>
            <a:off x="8645624" y="5165130"/>
            <a:ext cx="69711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재작업 감소</a:t>
            </a:r>
            <a:endParaRPr lang="en-US" sz="1150" dirty="0"/>
          </a:p>
        </p:txBody>
      </p:sp>
      <p:sp>
        <p:nvSpPr>
          <p:cNvPr id="87" name="반복 업무 효율화"/>
          <p:cNvSpPr txBox="1"/>
          <p:nvPr/>
        </p:nvSpPr>
        <p:spPr>
          <a:xfrm>
            <a:off x="7124700" y="5382220"/>
            <a:ext cx="982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반복 업무 효율화</a:t>
            </a:r>
            <a:endParaRPr lang="en-US" sz="1150" dirty="0"/>
          </a:p>
        </p:txBody>
      </p:sp>
      <p:sp>
        <p:nvSpPr>
          <p:cNvPr id="88" name="→"/>
          <p:cNvSpPr txBox="1"/>
          <p:nvPr/>
        </p:nvSpPr>
        <p:spPr>
          <a:xfrm>
            <a:off x="8127504" y="5382220"/>
            <a:ext cx="18256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b="1" spc="-23" kern="0" dirty="0">
                <a:solidFill>
                  <a:srgbClr val="2A78D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→</a:t>
            </a:r>
            <a:endParaRPr lang="en-US" sz="1150" dirty="0"/>
          </a:p>
        </p:txBody>
      </p:sp>
      <p:sp>
        <p:nvSpPr>
          <p:cNvPr id="89" name="본연의 업무에 집중"/>
          <p:cNvSpPr txBox="1"/>
          <p:nvPr/>
        </p:nvSpPr>
        <p:spPr>
          <a:xfrm>
            <a:off x="8335466" y="5382220"/>
            <a:ext cx="110872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본연의 업무에 집중</a:t>
            </a:r>
            <a:endParaRPr lang="en-US" sz="1150" dirty="0"/>
          </a:p>
        </p:txBody>
      </p:sp>
      <p:sp>
        <p:nvSpPr>
          <p:cNvPr id="90" name="공정 개선"/>
          <p:cNvSpPr txBox="1"/>
          <p:nvPr/>
        </p:nvSpPr>
        <p:spPr>
          <a:xfrm>
            <a:off x="10515600" y="2033984"/>
            <a:ext cx="597595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공정 개선</a:t>
            </a:r>
            <a:endParaRPr lang="en-US" sz="1200" dirty="0"/>
          </a:p>
        </p:txBody>
      </p:sp>
      <p:sp>
        <p:nvSpPr>
          <p:cNvPr id="91" name="품질 개선"/>
          <p:cNvSpPr txBox="1"/>
          <p:nvPr/>
        </p:nvSpPr>
        <p:spPr>
          <a:xfrm>
            <a:off x="10515600" y="3081734"/>
            <a:ext cx="597595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품질 개선</a:t>
            </a:r>
            <a:endParaRPr lang="en-US" sz="1200" dirty="0"/>
          </a:p>
        </p:txBody>
      </p:sp>
      <p:sp>
        <p:nvSpPr>
          <p:cNvPr id="92" name="안전 개선"/>
          <p:cNvSpPr txBox="1"/>
          <p:nvPr/>
        </p:nvSpPr>
        <p:spPr>
          <a:xfrm>
            <a:off x="10515600" y="4129484"/>
            <a:ext cx="597595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안전 개선</a:t>
            </a:r>
            <a:endParaRPr lang="en-US" sz="1200" dirty="0"/>
          </a:p>
        </p:txBody>
      </p:sp>
      <p:sp>
        <p:nvSpPr>
          <p:cNvPr id="93" name="생산성 개선"/>
          <p:cNvSpPr txBox="1"/>
          <p:nvPr/>
        </p:nvSpPr>
        <p:spPr>
          <a:xfrm>
            <a:off x="10515600" y="5177234"/>
            <a:ext cx="726281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생산성 개선</a:t>
            </a:r>
            <a:endParaRPr lang="en-US" sz="1200" dirty="0"/>
          </a:p>
        </p:txBody>
      </p:sp>
      <p:sp>
        <p:nvSpPr>
          <p:cNvPr id="94" name="사람과 기술을 연결해 현장의 변화를 만들어가며, 현대엔지니어링의 Mean"/>
          <p:cNvSpPr txBox="1"/>
          <p:nvPr/>
        </p:nvSpPr>
        <p:spPr>
          <a:xfrm>
            <a:off x="1371600" y="5916414"/>
            <a:ext cx="93702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b="1" spc="-51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사람과 기술을 연결해 </a:t>
            </a:r>
            <a:pPr algn="l" indent="0" marL="0">
              <a:buNone/>
            </a:pPr>
            <a:r>
              <a:rPr lang="ko-KR" altLang="en-US" sz="1700" b="1" spc="-51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700" b="1" spc="-51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를 만들어가며, 현대엔지니어링의 </a:t>
            </a:r>
            <a:pPr algn="l" indent="0" marL="0">
              <a:buNone/>
            </a:pPr>
            <a:r>
              <a:rPr lang="ko-KR" altLang="en-US" sz="1700" b="1" spc="-51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Meaningful Journey</a:t>
            </a:r>
            <a:pPr algn="l" indent="0" marL="0">
              <a:buNone/>
            </a:pPr>
            <a:r>
              <a:rPr lang="ko-KR" altLang="en-US" sz="1700" b="1" spc="-51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에 함께하겠습니다.</a:t>
            </a:r>
            <a:endParaRPr lang="en-US" sz="1700" dirty="0"/>
          </a:p>
        </p:txBody>
      </p:sp>
      <p:sp>
        <p:nvSpPr>
          <p:cNvPr id="95" name="2026년 하반기 신입사원 공개채용 | 공사관리 건축 직무 지원자 이현준"/>
          <p:cNvSpPr txBox="1"/>
          <p:nvPr/>
        </p:nvSpPr>
        <p:spPr>
          <a:xfrm>
            <a:off x="609600" y="6425605"/>
            <a:ext cx="327368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6A748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2026년 하반기 신입사원 공개채용 | 공사관리 건축 직무 지원자 이현준</a:t>
            </a:r>
            <a:endParaRPr lang="en-US" sz="900" dirty="0"/>
          </a:p>
        </p:txBody>
      </p:sp>
      <p:sp>
        <p:nvSpPr>
          <p:cNvPr id="96" name="03 / 03"/>
          <p:cNvSpPr txBox="1"/>
          <p:nvPr/>
        </p:nvSpPr>
        <p:spPr>
          <a:xfrm>
            <a:off x="11138892" y="6425605"/>
            <a:ext cx="49430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03</a:t>
            </a:r>
            <a:pPr algn="l" indent="0" marL="0">
              <a:buNone/>
            </a:pPr>
            <a:r>
              <a:rPr lang="ko-KR" altLang="en-US" sz="900" b="1" spc="54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 ExtraBold"/>
        <a:ea typeface="Pretendard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 Medium"/>
        <a:ea typeface="Pretendard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가로형</dc:title>
  <dc:subject>PptxGenJS Presentation</dc:subject>
  <dc:creator>PptxGenJS</dc:creator>
  <cp:lastModifiedBy>PptxGenJS</cp:lastModifiedBy>
  <cp:revision>1</cp:revision>
  <dcterms:created xsi:type="dcterms:W3CDTF">2026-10-11T11:33:38Z</dcterms:created>
  <dcterms:modified xsi:type="dcterms:W3CDTF">2026-10-11T11:33:38Z</dcterms:modified>
</cp:coreProperties>
</file>