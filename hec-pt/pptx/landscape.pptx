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학부 시절 여러 팀 프로젝트를 수행하며 처음에는 각자 맡은 역할만 잘 수행하는 것이 협업이라고 생각했습니다.
그러나 프로젝트를 거듭하며 개인의 역할 수행만큼 팀이 같은 목표와 방향을 공유하는 것이 중요함을 깨달았습니다.
학생 BIM 경진대회에서 이를 실천했습니다.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‘우리’는 다양한 사람과 전문성의 연결, ‘기술’은 새로운 가치를 만들어 미래 사업으로 연결하는 원동력입니다.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제가 만들고 싶은 현장의 변화는 거창한 기술 혁신만을 의미하지 않습니다. 공정 간 간섭을 사전에 발견해 재작업을 줄이고, 반복 업무를 효율화해 현장 구성원들이 본연의 업무에 집중할 수 있도록 만드는 작은 개선부터 시작하겠습니다.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image" Target="../media/image-2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image" Target="../media/image-3-14.png"/><Relationship Id="rId15" Type="http://schemas.openxmlformats.org/officeDocument/2006/relationships/image" Target="../media/image-3-15.png"/><Relationship Id="rId16" Type="http://schemas.openxmlformats.org/officeDocument/2006/relationships/image" Target="../media/image-3-16.png"/><Relationship Id="rId17" Type="http://schemas.openxmlformats.org/officeDocument/2006/relationships/image" Target="../media/image-3-17.png"/><Relationship Id="rId18" Type="http://schemas.openxmlformats.org/officeDocument/2006/relationships/image" Target="../media/image-3-18.png"/><Relationship Id="rId19" Type="http://schemas.openxmlformats.org/officeDocument/2006/relationships/image" Target="../media/image-3-19.png"/><Relationship Id="rId20" Type="http://schemas.openxmlformats.org/officeDocument/2006/relationships/image" Target="../media/image-3-20.png"/><Relationship Id="rId21" Type="http://schemas.openxmlformats.org/officeDocument/2006/relationships/image" Target="../media/image-3-21.png"/><Relationship Id="rId22" Type="http://schemas.openxmlformats.org/officeDocument/2006/relationships/image" Target="../media/image-3-22.png"/><Relationship Id="rId23" Type="http://schemas.openxmlformats.org/officeDocument/2006/relationships/image" Target="../media/image-3-23.png"/><Relationship Id="rId24" Type="http://schemas.openxmlformats.org/officeDocument/2006/relationships/image" Target="../media/image-3-24.png"/><Relationship Id="rId25" Type="http://schemas.openxmlformats.org/officeDocument/2006/relationships/image" Target="../media/image-3-25.png"/><Relationship Id="rId26" Type="http://schemas.openxmlformats.org/officeDocument/2006/relationships/image" Target="../media/image-3-26.png"/><Relationship Id="rId27" Type="http://schemas.openxmlformats.org/officeDocument/2006/relationships/image" Target="../media/image-3-27.png"/><Relationship Id="rId28" Type="http://schemas.openxmlformats.org/officeDocument/2006/relationships/image" Target="../media/image-3-28.png"/><Relationship Id="rId29" Type="http://schemas.openxmlformats.org/officeDocument/2006/relationships/image" Target="../media/image-3-29.png"/><Relationship Id="rId30" Type="http://schemas.openxmlformats.org/officeDocument/2006/relationships/slideLayout" Target="../slideLayouts/slideLayout1.xml"/><Relationship Id="rId31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"/>
          <p:cNvSpPr/>
          <p:nvPr/>
        </p:nvSpPr>
        <p:spPr>
          <a:xfrm>
            <a:off x="609600" y="475853"/>
            <a:ext cx="63500" cy="63500"/>
          </a:xfrm>
          <a:prstGeom prst="ellipse">
            <a:avLst/>
          </a:prstGeom>
          <a:solidFill>
            <a:srgbClr val="00A94F"/>
          </a:solidFill>
          <a:ln/>
        </p:spPr>
      </p:sp>
      <p:sp>
        <p:nvSpPr>
          <p:cNvPr id="4" name="b"/>
          <p:cNvSpPr/>
          <p:nvPr/>
        </p:nvSpPr>
        <p:spPr>
          <a:xfrm>
            <a:off x="673100" y="501253"/>
            <a:ext cx="88900" cy="12700"/>
          </a:xfrm>
          <a:prstGeom prst="rect">
            <a:avLst/>
          </a:prstGeom>
          <a:solidFill>
            <a:srgbClr val="C3CEDD"/>
          </a:solidFill>
          <a:ln/>
        </p:spPr>
      </p:sp>
      <p:sp>
        <p:nvSpPr>
          <p:cNvPr id="5" name="i"/>
          <p:cNvSpPr/>
          <p:nvPr/>
        </p:nvSpPr>
        <p:spPr>
          <a:xfrm>
            <a:off x="762000" y="475853"/>
            <a:ext cx="63500" cy="63500"/>
          </a:xfrm>
          <a:prstGeom prst="ellipse">
            <a:avLst/>
          </a:prstGeom>
          <a:solidFill>
            <a:srgbClr val="004B8D"/>
          </a:solidFill>
          <a:ln/>
        </p:spPr>
      </p:sp>
      <p:sp>
        <p:nvSpPr>
          <p:cNvPr id="6" name="b"/>
          <p:cNvSpPr/>
          <p:nvPr/>
        </p:nvSpPr>
        <p:spPr>
          <a:xfrm>
            <a:off x="825500" y="501253"/>
            <a:ext cx="88900" cy="12700"/>
          </a:xfrm>
          <a:prstGeom prst="rect">
            <a:avLst/>
          </a:prstGeom>
          <a:solidFill>
            <a:srgbClr val="C3CEDD"/>
          </a:solidFill>
          <a:ln/>
        </p:spPr>
      </p:sp>
      <p:sp>
        <p:nvSpPr>
          <p:cNvPr id="7" name="i"/>
          <p:cNvSpPr/>
          <p:nvPr/>
        </p:nvSpPr>
        <p:spPr>
          <a:xfrm>
            <a:off x="914400" y="475853"/>
            <a:ext cx="63500" cy="63500"/>
          </a:xfrm>
          <a:prstGeom prst="ellipse">
            <a:avLst/>
          </a:prstGeom>
          <a:solidFill>
            <a:srgbClr val="FDBB30"/>
          </a:solidFill>
          <a:ln/>
        </p:spPr>
      </p:sp>
      <p:pic>
        <p:nvPicPr>
          <p:cNvPr id="8" name="img" descr="im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3935" y="415462"/>
            <a:ext cx="1526117" cy="268817"/>
          </a:xfrm>
          <a:prstGeom prst="rect">
            <a:avLst/>
          </a:prstGeom>
        </p:spPr>
      </p:pic>
      <p:sp>
        <p:nvSpPr>
          <p:cNvPr id="9" name="p1-band"/>
          <p:cNvSpPr/>
          <p:nvPr/>
        </p:nvSpPr>
        <p:spPr>
          <a:xfrm>
            <a:off x="615950" y="1820664"/>
            <a:ext cx="10960100" cy="393700"/>
          </a:xfrm>
          <a:prstGeom prst="roundRect">
            <a:avLst>
              <a:gd name="adj" fmla="val 33871"/>
            </a:avLst>
          </a:prstGeom>
          <a:solidFill>
            <a:srgbClr val="FFFFFF"/>
          </a:solidFill>
          <a:ln w="12700">
            <a:solidFill>
              <a:srgbClr val="D8E0EB"/>
            </a:solidFill>
            <a:prstDash val="solid"/>
          </a:ln>
        </p:spPr>
      </p:sp>
      <p:sp>
        <p:nvSpPr>
          <p:cNvPr id="10" name="p1-vbar"/>
          <p:cNvSpPr/>
          <p:nvPr/>
        </p:nvSpPr>
        <p:spPr>
          <a:xfrm>
            <a:off x="1840111" y="1903214"/>
            <a:ext cx="12700" cy="228600"/>
          </a:xfrm>
          <a:prstGeom prst="rect">
            <a:avLst/>
          </a:prstGeom>
          <a:solidFill>
            <a:srgbClr val="D8E0EB"/>
          </a:solidFill>
          <a:ln/>
        </p:spPr>
      </p:sp>
      <p:sp>
        <p:nvSpPr>
          <p:cNvPr id="11" name="p1-ba before"/>
          <p:cNvSpPr/>
          <p:nvPr/>
        </p:nvSpPr>
        <p:spPr>
          <a:xfrm>
            <a:off x="1979811" y="1896864"/>
            <a:ext cx="731540" cy="241300"/>
          </a:xfrm>
          <a:prstGeom prst="roundRect">
            <a:avLst>
              <a:gd name="adj" fmla="val 50000"/>
            </a:avLst>
          </a:prstGeom>
          <a:solidFill>
            <a:srgbClr val="8691A5"/>
          </a:solidFill>
          <a:ln/>
        </p:spPr>
      </p:sp>
      <p:pic>
        <p:nvPicPr>
          <p:cNvPr id="12" name="p1-mini" descr="p1-mini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3901" y="1884164"/>
            <a:ext cx="268817" cy="270933"/>
          </a:xfrm>
          <a:prstGeom prst="rect">
            <a:avLst/>
          </a:prstGeom>
        </p:spPr>
      </p:pic>
      <p:sp>
        <p:nvSpPr>
          <p:cNvPr id="13" name="i"/>
          <p:cNvSpPr/>
          <p:nvPr/>
        </p:nvSpPr>
        <p:spPr>
          <a:xfrm>
            <a:off x="5099050" y="2007890"/>
            <a:ext cx="1011535" cy="19050"/>
          </a:xfrm>
          <a:prstGeom prst="roundRect">
            <a:avLst>
              <a:gd name="adj" fmla="val 50000"/>
            </a:avLst>
          </a:prstGeom>
          <a:solidFill>
            <a:srgbClr val="C3CEDD"/>
          </a:solidFill>
          <a:ln/>
        </p:spPr>
      </p:sp>
      <p:pic>
        <p:nvPicPr>
          <p:cNvPr id="14" name="svg" descr="sv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1535" y="1970848"/>
            <a:ext cx="59267" cy="97367"/>
          </a:xfrm>
          <a:prstGeom prst="rect">
            <a:avLst/>
          </a:prstGeom>
        </p:spPr>
      </p:pic>
      <p:sp>
        <p:nvSpPr>
          <p:cNvPr id="15" name="i"/>
          <p:cNvSpPr/>
          <p:nvPr/>
        </p:nvSpPr>
        <p:spPr>
          <a:xfrm>
            <a:off x="6485136" y="1840309"/>
            <a:ext cx="215900" cy="215900"/>
          </a:xfrm>
          <a:prstGeom prst="ellipse">
            <a:avLst/>
          </a:prstGeom>
          <a:solidFill>
            <a:srgbClr val="EEF4FC"/>
          </a:solidFill>
          <a:ln/>
        </p:spPr>
      </p:sp>
      <p:pic>
        <p:nvPicPr>
          <p:cNvPr id="16" name="svg" descr="sv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1703" y="1891109"/>
            <a:ext cx="118533" cy="118533"/>
          </a:xfrm>
          <a:prstGeom prst="rect">
            <a:avLst/>
          </a:prstGeom>
        </p:spPr>
      </p:pic>
      <p:pic>
        <p:nvPicPr>
          <p:cNvPr id="17" name="i" descr="i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26903" y="2005773"/>
            <a:ext cx="1020233" cy="19050"/>
          </a:xfrm>
          <a:prstGeom prst="rect">
            <a:avLst/>
          </a:prstGeom>
        </p:spPr>
      </p:pic>
      <p:pic>
        <p:nvPicPr>
          <p:cNvPr id="18" name="svg" descr="sv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27855" y="1970848"/>
            <a:ext cx="59267" cy="97367"/>
          </a:xfrm>
          <a:prstGeom prst="rect">
            <a:avLst/>
          </a:prstGeom>
        </p:spPr>
      </p:pic>
      <p:sp>
        <p:nvSpPr>
          <p:cNvPr id="19" name="p1-ba after"/>
          <p:cNvSpPr/>
          <p:nvPr/>
        </p:nvSpPr>
        <p:spPr>
          <a:xfrm>
            <a:off x="8214122" y="1896864"/>
            <a:ext cx="647303" cy="241300"/>
          </a:xfrm>
          <a:prstGeom prst="roundRect">
            <a:avLst>
              <a:gd name="adj" fmla="val 50000"/>
            </a:avLst>
          </a:prstGeom>
          <a:solidFill>
            <a:srgbClr val="0B2147"/>
          </a:solidFill>
          <a:ln/>
        </p:spPr>
      </p:sp>
      <p:pic>
        <p:nvPicPr>
          <p:cNvPr id="20" name="p1-mini" descr="p1-mini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46092" y="1905331"/>
            <a:ext cx="289983" cy="228600"/>
          </a:xfrm>
          <a:prstGeom prst="rect">
            <a:avLst/>
          </a:prstGeom>
        </p:spPr>
      </p:pic>
      <p:pic>
        <p:nvPicPr>
          <p:cNvPr id="21" name="svg" descr="sv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5367" y="2542447"/>
            <a:ext cx="10936817" cy="148167"/>
          </a:xfrm>
          <a:prstGeom prst="rect">
            <a:avLst/>
          </a:prstGeom>
        </p:spPr>
      </p:pic>
      <p:sp>
        <p:nvSpPr>
          <p:cNvPr id="22" name="p1-h"/>
          <p:cNvSpPr/>
          <p:nvPr/>
        </p:nvSpPr>
        <p:spPr>
          <a:xfrm>
            <a:off x="762000" y="2492524"/>
            <a:ext cx="2746077" cy="2437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p1-h"/>
          <p:cNvSpPr/>
          <p:nvPr/>
        </p:nvSpPr>
        <p:spPr>
          <a:xfrm>
            <a:off x="4406900" y="2492524"/>
            <a:ext cx="2428280" cy="2437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p1-h"/>
          <p:cNvSpPr/>
          <p:nvPr/>
        </p:nvSpPr>
        <p:spPr>
          <a:xfrm>
            <a:off x="8813800" y="2492524"/>
            <a:ext cx="2473424" cy="2437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p1-blk p1-b1"/>
          <p:cNvSpPr/>
          <p:nvPr/>
        </p:nvSpPr>
        <p:spPr>
          <a:xfrm>
            <a:off x="609600" y="2792214"/>
            <a:ext cx="3429000" cy="3055541"/>
          </a:xfrm>
          <a:prstGeom prst="roundRect">
            <a:avLst>
              <a:gd name="adj" fmla="val 4572"/>
            </a:avLst>
          </a:prstGeom>
          <a:solidFill>
            <a:srgbClr val="EEF4FC"/>
          </a:solidFill>
          <a:ln/>
        </p:spPr>
      </p:sp>
      <p:pic>
        <p:nvPicPr>
          <p:cNvPr id="26" name="svg" descr="sv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2000" y="3257881"/>
            <a:ext cx="3124200" cy="582083"/>
          </a:xfrm>
          <a:prstGeom prst="rect">
            <a:avLst/>
          </a:prstGeom>
        </p:spPr>
      </p:pic>
      <p:sp>
        <p:nvSpPr>
          <p:cNvPr id="27" name="p1-at p1-tag"/>
          <p:cNvSpPr/>
          <p:nvPr/>
        </p:nvSpPr>
        <p:spPr>
          <a:xfrm>
            <a:off x="1463824" y="2881114"/>
            <a:ext cx="1720552" cy="203200"/>
          </a:xfrm>
          <a:prstGeom prst="roundRect">
            <a:avLst>
              <a:gd name="adj" fmla="val 50000"/>
            </a:avLst>
          </a:prstGeom>
          <a:solidFill>
            <a:srgbClr val="D8E0EB"/>
          </a:solidFill>
          <a:ln/>
        </p:spPr>
      </p:sp>
      <p:pic>
        <p:nvPicPr>
          <p:cNvPr id="28" name="svg" descr="sv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48490" y="2931914"/>
            <a:ext cx="107950" cy="105833"/>
          </a:xfrm>
          <a:prstGeom prst="rect">
            <a:avLst/>
          </a:prstGeom>
        </p:spPr>
      </p:pic>
      <p:sp>
        <p:nvSpPr>
          <p:cNvPr id="29" name="p1-op"/>
          <p:cNvSpPr/>
          <p:nvPr/>
        </p:nvSpPr>
        <p:spPr>
          <a:xfrm>
            <a:off x="920750" y="3154164"/>
            <a:ext cx="1003300" cy="317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3CEDD"/>
            </a:solidFill>
            <a:prstDash val="solid"/>
          </a:ln>
        </p:spPr>
      </p:sp>
      <p:sp>
        <p:nvSpPr>
          <p:cNvPr id="30" name="i"/>
          <p:cNvSpPr/>
          <p:nvPr/>
        </p:nvSpPr>
        <p:spPr>
          <a:xfrm>
            <a:off x="1143397" y="3268464"/>
            <a:ext cx="88900" cy="88900"/>
          </a:xfrm>
          <a:prstGeom prst="ellipse">
            <a:avLst/>
          </a:prstGeom>
          <a:solidFill>
            <a:srgbClr val="00A94F"/>
          </a:solidFill>
          <a:ln/>
        </p:spPr>
      </p:sp>
      <p:sp>
        <p:nvSpPr>
          <p:cNvPr id="31" name="p1-op"/>
          <p:cNvSpPr/>
          <p:nvPr/>
        </p:nvSpPr>
        <p:spPr>
          <a:xfrm>
            <a:off x="2724150" y="3154164"/>
            <a:ext cx="1003300" cy="317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3CEDD"/>
            </a:solidFill>
            <a:prstDash val="solid"/>
          </a:ln>
        </p:spPr>
      </p:sp>
      <p:sp>
        <p:nvSpPr>
          <p:cNvPr id="32" name="i"/>
          <p:cNvSpPr/>
          <p:nvPr/>
        </p:nvSpPr>
        <p:spPr>
          <a:xfrm>
            <a:off x="2790031" y="3268464"/>
            <a:ext cx="88900" cy="88900"/>
          </a:xfrm>
          <a:prstGeom prst="ellipse">
            <a:avLst/>
          </a:prstGeom>
          <a:solidFill>
            <a:srgbClr val="00A94F"/>
          </a:solidFill>
          <a:ln/>
        </p:spPr>
      </p:sp>
      <p:sp>
        <p:nvSpPr>
          <p:cNvPr id="33" name="p1-vs"/>
          <p:cNvSpPr/>
          <p:nvPr/>
        </p:nvSpPr>
        <p:spPr>
          <a:xfrm>
            <a:off x="2162175" y="3150989"/>
            <a:ext cx="323850" cy="323850"/>
          </a:xfrm>
          <a:prstGeom prst="ellipse">
            <a:avLst/>
          </a:prstGeom>
          <a:solidFill>
            <a:srgbClr val="0B214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p1-crit"/>
          <p:cNvSpPr/>
          <p:nvPr/>
        </p:nvSpPr>
        <p:spPr>
          <a:xfrm>
            <a:off x="768350" y="3852664"/>
            <a:ext cx="3111500" cy="609600"/>
          </a:xfrm>
          <a:prstGeom prst="roundRect">
            <a:avLst>
              <a:gd name="adj" fmla="val 17708"/>
            </a:avLst>
          </a:prstGeom>
          <a:solidFill>
            <a:srgbClr val="FFFFFF"/>
          </a:solidFill>
          <a:ln w="12700">
            <a:solidFill>
              <a:srgbClr val="004B8D"/>
            </a:solidFill>
            <a:prstDash val="solid"/>
          </a:ln>
        </p:spPr>
      </p:sp>
      <p:sp>
        <p:nvSpPr>
          <p:cNvPr id="35" name="p1-crit-t"/>
          <p:cNvSpPr/>
          <p:nvPr/>
        </p:nvSpPr>
        <p:spPr>
          <a:xfrm>
            <a:off x="1874937" y="3751064"/>
            <a:ext cx="898327" cy="203200"/>
          </a:xfrm>
          <a:prstGeom prst="roundRect">
            <a:avLst>
              <a:gd name="adj" fmla="val 50000"/>
            </a:avLst>
          </a:prstGeom>
          <a:solidFill>
            <a:srgbClr val="004B8D"/>
          </a:solidFill>
          <a:ln/>
        </p:spPr>
      </p:sp>
      <p:sp>
        <p:nvSpPr>
          <p:cNvPr id="36" name="b"/>
          <p:cNvSpPr/>
          <p:nvPr/>
        </p:nvSpPr>
        <p:spPr>
          <a:xfrm>
            <a:off x="937121" y="4017764"/>
            <a:ext cx="165100" cy="165100"/>
          </a:xfrm>
          <a:prstGeom prst="ellipse">
            <a:avLst/>
          </a:prstGeom>
          <a:solidFill>
            <a:srgbClr val="004B8D"/>
          </a:solidFill>
          <a:ln/>
        </p:spPr>
      </p:sp>
      <p:sp>
        <p:nvSpPr>
          <p:cNvPr id="37" name="b"/>
          <p:cNvSpPr/>
          <p:nvPr/>
        </p:nvSpPr>
        <p:spPr>
          <a:xfrm>
            <a:off x="2725787" y="4017764"/>
            <a:ext cx="165100" cy="165100"/>
          </a:xfrm>
          <a:prstGeom prst="ellipse">
            <a:avLst/>
          </a:prstGeom>
          <a:solidFill>
            <a:srgbClr val="004B8D"/>
          </a:solidFill>
          <a:ln/>
        </p:spPr>
      </p:sp>
      <p:pic>
        <p:nvPicPr>
          <p:cNvPr id="38" name="p1-down" descr="p1-down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260600" y="4495668"/>
            <a:ext cx="127000" cy="165100"/>
          </a:xfrm>
          <a:prstGeom prst="rect">
            <a:avLst/>
          </a:prstGeom>
        </p:spPr>
      </p:pic>
      <p:sp>
        <p:nvSpPr>
          <p:cNvPr id="39" name="p1-topic"/>
          <p:cNvSpPr/>
          <p:nvPr/>
        </p:nvSpPr>
        <p:spPr>
          <a:xfrm>
            <a:off x="762000" y="4692055"/>
            <a:ext cx="3124200" cy="1066800"/>
          </a:xfrm>
          <a:prstGeom prst="roundRect">
            <a:avLst>
              <a:gd name="adj" fmla="val 10714"/>
            </a:avLst>
          </a:prstGeom>
          <a:solidFill>
            <a:srgbClr val="0B2147"/>
          </a:solidFill>
          <a:ln/>
        </p:spPr>
      </p:sp>
      <p:sp>
        <p:nvSpPr>
          <p:cNvPr id="40" name="p1-blk p1-b2"/>
          <p:cNvSpPr/>
          <p:nvPr/>
        </p:nvSpPr>
        <p:spPr>
          <a:xfrm>
            <a:off x="4254500" y="2792214"/>
            <a:ext cx="4191000" cy="3055541"/>
          </a:xfrm>
          <a:prstGeom prst="roundRect">
            <a:avLst>
              <a:gd name="adj" fmla="val 4572"/>
            </a:avLst>
          </a:prstGeom>
          <a:solidFill>
            <a:srgbClr val="EEF4FC"/>
          </a:solidFill>
          <a:ln/>
        </p:spPr>
      </p:sp>
      <p:pic>
        <p:nvPicPr>
          <p:cNvPr id="41" name="svg" descr="sv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37667" y="3298097"/>
            <a:ext cx="2624667" cy="2040467"/>
          </a:xfrm>
          <a:prstGeom prst="rect">
            <a:avLst/>
          </a:prstGeom>
        </p:spPr>
      </p:pic>
      <p:sp>
        <p:nvSpPr>
          <p:cNvPr id="42" name="p1-card me"/>
          <p:cNvSpPr/>
          <p:nvPr/>
        </p:nvSpPr>
        <p:spPr>
          <a:xfrm>
            <a:off x="5664200" y="2868414"/>
            <a:ext cx="1371600" cy="876300"/>
          </a:xfrm>
          <a:prstGeom prst="roundRect">
            <a:avLst>
              <a:gd name="adj" fmla="val 12319"/>
            </a:avLst>
          </a:prstGeom>
          <a:solidFill>
            <a:srgbClr val="0B2147"/>
          </a:solidFill>
          <a:ln w="12700">
            <a:solidFill>
              <a:srgbClr val="0B2147"/>
            </a:solidFill>
            <a:prstDash val="solid"/>
          </a:ln>
        </p:spPr>
      </p:sp>
      <p:sp>
        <p:nvSpPr>
          <p:cNvPr id="43" name="p1-av"/>
          <p:cNvSpPr/>
          <p:nvPr/>
        </p:nvSpPr>
        <p:spPr>
          <a:xfrm>
            <a:off x="6024463" y="2987377"/>
            <a:ext cx="88900" cy="88900"/>
          </a:xfrm>
          <a:prstGeom prst="ellipse">
            <a:avLst/>
          </a:prstGeom>
          <a:solidFill>
            <a:srgbClr val="00A94F"/>
          </a:solidFill>
          <a:ln/>
        </p:spPr>
      </p:sp>
      <p:sp>
        <p:nvSpPr>
          <p:cNvPr id="44" name="p1-me"/>
          <p:cNvSpPr/>
          <p:nvPr/>
        </p:nvSpPr>
        <p:spPr>
          <a:xfrm>
            <a:off x="6497737" y="2942927"/>
            <a:ext cx="177800" cy="1778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5" name="p1-card"/>
          <p:cNvSpPr/>
          <p:nvPr/>
        </p:nvSpPr>
        <p:spPr>
          <a:xfrm>
            <a:off x="6965950" y="3878064"/>
            <a:ext cx="1371600" cy="876300"/>
          </a:xfrm>
          <a:prstGeom prst="roundRect">
            <a:avLst>
              <a:gd name="adj" fmla="val 12319"/>
            </a:avLst>
          </a:prstGeom>
          <a:solidFill>
            <a:srgbClr val="FFFFFF"/>
          </a:solidFill>
          <a:ln w="12700">
            <a:solidFill>
              <a:srgbClr val="D8E0EB"/>
            </a:solidFill>
            <a:prstDash val="solid"/>
          </a:ln>
        </p:spPr>
      </p:sp>
      <p:sp>
        <p:nvSpPr>
          <p:cNvPr id="46" name="p1-av"/>
          <p:cNvSpPr/>
          <p:nvPr/>
        </p:nvSpPr>
        <p:spPr>
          <a:xfrm>
            <a:off x="7376319" y="4084340"/>
            <a:ext cx="88900" cy="88900"/>
          </a:xfrm>
          <a:prstGeom prst="ellipse">
            <a:avLst/>
          </a:prstGeom>
          <a:solidFill>
            <a:srgbClr val="00A94F"/>
          </a:solidFill>
          <a:ln/>
        </p:spPr>
      </p:sp>
      <p:sp>
        <p:nvSpPr>
          <p:cNvPr id="47" name="p1-card"/>
          <p:cNvSpPr/>
          <p:nvPr/>
        </p:nvSpPr>
        <p:spPr>
          <a:xfrm>
            <a:off x="5664200" y="4894064"/>
            <a:ext cx="1371600" cy="876300"/>
          </a:xfrm>
          <a:prstGeom prst="roundRect">
            <a:avLst>
              <a:gd name="adj" fmla="val 12319"/>
            </a:avLst>
          </a:prstGeom>
          <a:solidFill>
            <a:srgbClr val="FFFFFF"/>
          </a:solidFill>
          <a:ln w="12700">
            <a:solidFill>
              <a:srgbClr val="D8E0EB"/>
            </a:solidFill>
            <a:prstDash val="solid"/>
          </a:ln>
        </p:spPr>
      </p:sp>
      <p:sp>
        <p:nvSpPr>
          <p:cNvPr id="48" name="p1-av"/>
          <p:cNvSpPr/>
          <p:nvPr/>
        </p:nvSpPr>
        <p:spPr>
          <a:xfrm>
            <a:off x="6082209" y="5013027"/>
            <a:ext cx="88900" cy="88900"/>
          </a:xfrm>
          <a:prstGeom prst="ellipse">
            <a:avLst/>
          </a:prstGeom>
          <a:solidFill>
            <a:srgbClr val="00A94F"/>
          </a:solidFill>
          <a:ln/>
        </p:spPr>
      </p:sp>
      <p:sp>
        <p:nvSpPr>
          <p:cNvPr id="49" name="p1-card"/>
          <p:cNvSpPr/>
          <p:nvPr/>
        </p:nvSpPr>
        <p:spPr>
          <a:xfrm>
            <a:off x="4362450" y="3878064"/>
            <a:ext cx="1371600" cy="876300"/>
          </a:xfrm>
          <a:prstGeom prst="roundRect">
            <a:avLst>
              <a:gd name="adj" fmla="val 12319"/>
            </a:avLst>
          </a:prstGeom>
          <a:solidFill>
            <a:srgbClr val="FFFFFF"/>
          </a:solidFill>
          <a:ln w="12700">
            <a:solidFill>
              <a:srgbClr val="D8E0EB"/>
            </a:solidFill>
            <a:prstDash val="solid"/>
          </a:ln>
        </p:spPr>
      </p:sp>
      <p:sp>
        <p:nvSpPr>
          <p:cNvPr id="50" name="p1-av"/>
          <p:cNvSpPr/>
          <p:nvPr/>
        </p:nvSpPr>
        <p:spPr>
          <a:xfrm>
            <a:off x="4773414" y="3997027"/>
            <a:ext cx="88900" cy="88900"/>
          </a:xfrm>
          <a:prstGeom prst="ellipse">
            <a:avLst/>
          </a:prstGeom>
          <a:solidFill>
            <a:srgbClr val="00A94F"/>
          </a:solidFill>
          <a:ln/>
        </p:spPr>
      </p:sp>
      <p:sp>
        <p:nvSpPr>
          <p:cNvPr id="51" name="p1-share"/>
          <p:cNvSpPr/>
          <p:nvPr/>
        </p:nvSpPr>
        <p:spPr>
          <a:xfrm>
            <a:off x="7118350" y="5033764"/>
            <a:ext cx="1100435" cy="431800"/>
          </a:xfrm>
          <a:prstGeom prst="roundRect">
            <a:avLst>
              <a:gd name="adj" fmla="val 22059"/>
            </a:avLst>
          </a:prstGeom>
          <a:solidFill>
            <a:srgbClr val="E5F6E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2" name="p1-blk p1-b3"/>
          <p:cNvSpPr/>
          <p:nvPr/>
        </p:nvSpPr>
        <p:spPr>
          <a:xfrm>
            <a:off x="8661400" y="2792214"/>
            <a:ext cx="2921000" cy="3055541"/>
          </a:xfrm>
          <a:prstGeom prst="roundRect">
            <a:avLst>
              <a:gd name="adj" fmla="val 4783"/>
            </a:avLst>
          </a:prstGeom>
          <a:solidFill>
            <a:srgbClr val="EEF4FC"/>
          </a:solidFill>
          <a:ln/>
        </p:spPr>
      </p:sp>
      <p:pic>
        <p:nvPicPr>
          <p:cNvPr id="53" name="svg" descr="sv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575800" y="4197681"/>
            <a:ext cx="1092200" cy="1390650"/>
          </a:xfrm>
          <a:prstGeom prst="rect">
            <a:avLst/>
          </a:prstGeom>
        </p:spPr>
      </p:pic>
      <p:sp>
        <p:nvSpPr>
          <p:cNvPr id="54" name="p1-video"/>
          <p:cNvSpPr/>
          <p:nvPr/>
        </p:nvSpPr>
        <p:spPr>
          <a:xfrm>
            <a:off x="9156700" y="2868414"/>
            <a:ext cx="1930400" cy="1085850"/>
          </a:xfrm>
          <a:prstGeom prst="roundRect">
            <a:avLst>
              <a:gd name="adj" fmla="val 8187"/>
            </a:avLst>
          </a:prstGeom>
          <a:solidFill>
            <a:srgbClr val="0B2147"/>
          </a:solidFill>
          <a:ln/>
        </p:spPr>
      </p:sp>
      <p:pic>
        <p:nvPicPr>
          <p:cNvPr id="55" name="img" descr="im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156700" y="2870531"/>
            <a:ext cx="1930400" cy="1085850"/>
          </a:xfrm>
          <a:prstGeom prst="rect">
            <a:avLst/>
          </a:prstGeom>
        </p:spPr>
      </p:pic>
      <p:sp>
        <p:nvSpPr>
          <p:cNvPr id="56" name="p1-play"/>
          <p:cNvSpPr/>
          <p:nvPr/>
        </p:nvSpPr>
        <p:spPr>
          <a:xfrm>
            <a:off x="9931400" y="3220839"/>
            <a:ext cx="381000" cy="381000"/>
          </a:xfrm>
          <a:prstGeom prst="ellipse">
            <a:avLst/>
          </a:prstGeom>
          <a:solidFill>
            <a:srgbClr val="0B2147">
              <a:alpha val="72000"/>
            </a:srgbClr>
          </a:solidFill>
          <a:ln/>
        </p:spPr>
      </p:sp>
      <p:pic>
        <p:nvPicPr>
          <p:cNvPr id="57" name="svg" descr="sv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098617" y="3354189"/>
            <a:ext cx="91017" cy="110067"/>
          </a:xfrm>
          <a:prstGeom prst="rect">
            <a:avLst/>
          </a:prstGeom>
        </p:spPr>
      </p:pic>
      <p:sp>
        <p:nvSpPr>
          <p:cNvPr id="58" name="key"/>
          <p:cNvSpPr/>
          <p:nvPr/>
        </p:nvSpPr>
        <p:spPr>
          <a:xfrm>
            <a:off x="609600" y="5923955"/>
            <a:ext cx="10972800" cy="425450"/>
          </a:xfrm>
          <a:prstGeom prst="roundRect">
            <a:avLst>
              <a:gd name="adj" fmla="val 32836"/>
            </a:avLst>
          </a:prstGeom>
          <a:solidFill>
            <a:srgbClr val="0B2147"/>
          </a:solidFill>
          <a:ln/>
        </p:spPr>
      </p:sp>
      <p:sp>
        <p:nvSpPr>
          <p:cNvPr id="59" name="i"/>
          <p:cNvSpPr/>
          <p:nvPr/>
        </p:nvSpPr>
        <p:spPr>
          <a:xfrm>
            <a:off x="863600" y="6104930"/>
            <a:ext cx="63500" cy="63500"/>
          </a:xfrm>
          <a:prstGeom prst="ellipse">
            <a:avLst/>
          </a:prstGeom>
          <a:solidFill>
            <a:srgbClr val="00A94F"/>
          </a:solidFill>
          <a:ln/>
        </p:spPr>
      </p:sp>
      <p:sp>
        <p:nvSpPr>
          <p:cNvPr id="60" name="b"/>
          <p:cNvSpPr/>
          <p:nvPr/>
        </p:nvSpPr>
        <p:spPr>
          <a:xfrm>
            <a:off x="927100" y="6130330"/>
            <a:ext cx="88900" cy="12700"/>
          </a:xfrm>
          <a:prstGeom prst="rect">
            <a:avLst/>
          </a:prstGeom>
          <a:solidFill>
            <a:srgbClr val="C3CEDD"/>
          </a:solidFill>
          <a:ln/>
        </p:spPr>
      </p:sp>
      <p:sp>
        <p:nvSpPr>
          <p:cNvPr id="61" name="i"/>
          <p:cNvSpPr/>
          <p:nvPr/>
        </p:nvSpPr>
        <p:spPr>
          <a:xfrm>
            <a:off x="1016000" y="6104930"/>
            <a:ext cx="63500" cy="63500"/>
          </a:xfrm>
          <a:prstGeom prst="ellipse">
            <a:avLst/>
          </a:prstGeom>
          <a:solidFill>
            <a:srgbClr val="004B8D"/>
          </a:solidFill>
          <a:ln/>
        </p:spPr>
      </p:sp>
      <p:sp>
        <p:nvSpPr>
          <p:cNvPr id="62" name="b"/>
          <p:cNvSpPr/>
          <p:nvPr/>
        </p:nvSpPr>
        <p:spPr>
          <a:xfrm>
            <a:off x="1079500" y="6130330"/>
            <a:ext cx="88900" cy="12700"/>
          </a:xfrm>
          <a:prstGeom prst="rect">
            <a:avLst/>
          </a:prstGeom>
          <a:solidFill>
            <a:srgbClr val="C3CEDD"/>
          </a:solidFill>
          <a:ln/>
        </p:spPr>
      </p:sp>
      <p:sp>
        <p:nvSpPr>
          <p:cNvPr id="63" name="i"/>
          <p:cNvSpPr/>
          <p:nvPr/>
        </p:nvSpPr>
        <p:spPr>
          <a:xfrm>
            <a:off x="1168400" y="6104930"/>
            <a:ext cx="63500" cy="63500"/>
          </a:xfrm>
          <a:prstGeom prst="ellipse">
            <a:avLst/>
          </a:prstGeom>
          <a:solidFill>
            <a:srgbClr val="FDBB30"/>
          </a:solidFill>
          <a:ln/>
        </p:spPr>
      </p:sp>
      <p:sp>
        <p:nvSpPr>
          <p:cNvPr id="64" name="01"/>
          <p:cNvSpPr txBox="1"/>
          <p:nvPr/>
        </p:nvSpPr>
        <p:spPr>
          <a:xfrm>
            <a:off x="1066800" y="419100"/>
            <a:ext cx="218480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100" spc="22" kern="0" dirty="0">
                <a:solidFill>
                  <a:srgbClr val="004B8D"/>
                </a:solidFill>
                <a:latin typeface="Pretendard ExtraBold" pitchFamily="34" charset="0"/>
                <a:ea typeface="Pretendard ExtraBold" pitchFamily="34" charset="-127"/>
                <a:cs typeface="Pretendard ExtraBold" pitchFamily="34" charset="-120"/>
              </a:rPr>
              <a:t>01</a:t>
            </a:r>
            <a:endParaRPr lang="en-US" sz="1100" dirty="0"/>
          </a:p>
        </p:txBody>
      </p:sp>
      <p:sp>
        <p:nvSpPr>
          <p:cNvPr id="65" name="PT 주제 1. 가장 중요하게 생각하는 가치와 실천 경험"/>
          <p:cNvSpPr txBox="1"/>
          <p:nvPr/>
        </p:nvSpPr>
        <p:spPr>
          <a:xfrm>
            <a:off x="1323380" y="419100"/>
            <a:ext cx="2951228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100" spc="-11" kern="0" dirty="0">
                <a:solidFill>
                  <a:srgbClr val="8691A5"/>
                </a:solidFill>
                <a:latin typeface="Pretendard SemiBold" pitchFamily="34" charset="0"/>
                <a:ea typeface="Pretendard SemiBold" pitchFamily="34" charset="-127"/>
                <a:cs typeface="Pretendard SemiBold" pitchFamily="34" charset="-120"/>
              </a:rPr>
              <a:t>PT 주제 1. 가장 중요하게 생각하는 가치와 실천 경험</a:t>
            </a:r>
            <a:endParaRPr lang="en-US" sz="1100" dirty="0"/>
          </a:p>
        </p:txBody>
      </p:sp>
      <p:sp>
        <p:nvSpPr>
          <p:cNvPr id="66" name="제가 가장 중요하게 생각하는 가치는"/>
          <p:cNvSpPr txBox="1"/>
          <p:nvPr/>
        </p:nvSpPr>
        <p:spPr>
          <a:xfrm>
            <a:off x="609600" y="774005"/>
            <a:ext cx="2914944" cy="241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600" spc="-32" kern="0" dirty="0">
                <a:solidFill>
                  <a:srgbClr val="4B5568"/>
                </a:solidFill>
                <a:latin typeface="Pretendard SemiBold" pitchFamily="34" charset="0"/>
                <a:ea typeface="Pretendard SemiBold" pitchFamily="34" charset="-127"/>
                <a:cs typeface="Pretendard SemiBold" pitchFamily="34" charset="-120"/>
              </a:rPr>
              <a:t>제가 가장 중요하게 생각하는 가치는</a:t>
            </a:r>
            <a:endParaRPr lang="en-US" sz="1600" dirty="0"/>
          </a:p>
        </p:txBody>
      </p:sp>
      <p:sp>
        <p:nvSpPr>
          <p:cNvPr id="67" name="공동의 목표를 공유하며 함께 성과를 만드는 협업입니다."/>
          <p:cNvSpPr txBox="1"/>
          <p:nvPr/>
        </p:nvSpPr>
        <p:spPr>
          <a:xfrm>
            <a:off x="609600" y="1100336"/>
            <a:ext cx="7713095" cy="425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2800" spc="-98" kern="0" dirty="0">
                <a:solidFill>
                  <a:srgbClr val="004B8D"/>
                </a:solidFill>
                <a:latin typeface="Pretendard ExtraBold" pitchFamily="34" charset="0"/>
                <a:ea typeface="Pretendard ExtraBold" pitchFamily="34" charset="-127"/>
                <a:cs typeface="Pretendard ExtraBold" pitchFamily="34" charset="-120"/>
              </a:rPr>
              <a:t>공동의 목표</a:t>
            </a:r>
            <a:pPr algn="l" indent="0" marL="0">
              <a:buNone/>
            </a:pPr>
            <a:r>
              <a:rPr lang="ko-KR" altLang="en-US" sz="2800" spc="-98" kern="0" dirty="0">
                <a:solidFill>
                  <a:srgbClr val="0B2147"/>
                </a:solidFill>
                <a:latin typeface="Pretendard ExtraBold" pitchFamily="34" charset="0"/>
                <a:ea typeface="Pretendard ExtraBold" pitchFamily="34" charset="-127"/>
                <a:cs typeface="Pretendard ExtraBold" pitchFamily="34" charset="-120"/>
              </a:rPr>
              <a:t>를 공유하며 함께 성과를 만드는 </a:t>
            </a:r>
            <a:pPr algn="l" indent="0" marL="0">
              <a:buNone/>
            </a:pPr>
            <a:r>
              <a:rPr lang="ko-KR" altLang="en-US" sz="2800" spc="-98" kern="0" dirty="0">
                <a:solidFill>
                  <a:srgbClr val="004B8D"/>
                </a:solidFill>
                <a:latin typeface="Pretendard ExtraBold" pitchFamily="34" charset="0"/>
                <a:ea typeface="Pretendard ExtraBold" pitchFamily="34" charset="-127"/>
                <a:cs typeface="Pretendard ExtraBold" pitchFamily="34" charset="-120"/>
              </a:rPr>
              <a:t>협업</a:t>
            </a:r>
            <a:pPr algn="l" indent="0" marL="0">
              <a:buNone/>
            </a:pPr>
            <a:r>
              <a:rPr lang="ko-KR" altLang="en-US" sz="2800" spc="-98" kern="0" dirty="0">
                <a:solidFill>
                  <a:srgbClr val="0B2147"/>
                </a:solidFill>
                <a:latin typeface="Pretendard ExtraBold" pitchFamily="34" charset="0"/>
                <a:ea typeface="Pretendard ExtraBold" pitchFamily="34" charset="-127"/>
                <a:cs typeface="Pretendard ExtraBold" pitchFamily="34" charset="-120"/>
              </a:rPr>
              <a:t>입니다.</a:t>
            </a:r>
            <a:endParaRPr lang="en-US" sz="2800" dirty="0"/>
          </a:p>
        </p:txBody>
      </p:sp>
      <p:sp>
        <p:nvSpPr>
          <p:cNvPr id="68" name="가치관 형성 배경"/>
          <p:cNvSpPr txBox="1"/>
          <p:nvPr/>
        </p:nvSpPr>
        <p:spPr>
          <a:xfrm>
            <a:off x="800100" y="1858764"/>
            <a:ext cx="853083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000" spc="-20" kern="0" dirty="0">
                <a:solidFill>
                  <a:srgbClr val="0B2147"/>
                </a:solidFill>
                <a:latin typeface="Pretendard ExtraBold" pitchFamily="34" charset="0"/>
                <a:ea typeface="Pretendard ExtraBold" pitchFamily="34" charset="-127"/>
                <a:cs typeface="Pretendard ExtraBold" pitchFamily="34" charset="-120"/>
              </a:rPr>
              <a:t>가치관 형성 배경</a:t>
            </a:r>
            <a:endParaRPr lang="en-US" sz="1000" dirty="0"/>
          </a:p>
        </p:txBody>
      </p:sp>
      <p:sp>
        <p:nvSpPr>
          <p:cNvPr id="69" name="협업을 대하는 태도"/>
          <p:cNvSpPr txBox="1"/>
          <p:nvPr/>
        </p:nvSpPr>
        <p:spPr>
          <a:xfrm>
            <a:off x="800100" y="2017514"/>
            <a:ext cx="967792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000" spc="-20" kern="0" dirty="0">
                <a:solidFill>
                  <a:srgbClr val="4B5568"/>
                </a:solidFill>
                <a:latin typeface="Pretendard SemiBold" pitchFamily="34" charset="0"/>
                <a:ea typeface="Pretendard SemiBold" pitchFamily="34" charset="-127"/>
                <a:cs typeface="Pretendard SemiBold" pitchFamily="34" charset="-120"/>
              </a:rPr>
              <a:t>협업을 대하는 태도</a:t>
            </a:r>
            <a:endParaRPr lang="en-US" sz="1000" dirty="0"/>
          </a:p>
        </p:txBody>
      </p:sp>
      <p:sp>
        <p:nvSpPr>
          <p:cNvPr id="70" name="BEFORE"/>
          <p:cNvSpPr txBox="1"/>
          <p:nvPr/>
        </p:nvSpPr>
        <p:spPr>
          <a:xfrm>
            <a:off x="2081411" y="1941314"/>
            <a:ext cx="57914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000" spc="60" kern="0" dirty="0">
                <a:solidFill>
                  <a:srgbClr val="FFFFFF"/>
                </a:solidFill>
                <a:latin typeface="Pretendard ExtraBold" pitchFamily="34" charset="0"/>
                <a:ea typeface="Pretendard ExtraBold" pitchFamily="34" charset="-127"/>
                <a:cs typeface="Pretendard ExtraBold" pitchFamily="34" charset="-120"/>
              </a:rPr>
              <a:t>BEFORE</a:t>
            </a:r>
            <a:endParaRPr lang="en-US" sz="1000" dirty="0"/>
          </a:p>
        </p:txBody>
      </p:sp>
      <p:sp>
        <p:nvSpPr>
          <p:cNvPr id="71" name="각자 맡은 역할만 잘하면 된다"/>
          <p:cNvSpPr txBox="1"/>
          <p:nvPr/>
        </p:nvSpPr>
        <p:spPr>
          <a:xfrm>
            <a:off x="3155851" y="1918494"/>
            <a:ext cx="1925171" cy="1968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300" spc="-26" kern="0" dirty="0">
                <a:solidFill>
                  <a:srgbClr val="8691A5"/>
                </a:solidFill>
                <a:latin typeface="Pretendard SemiBold" pitchFamily="34" charset="0"/>
                <a:ea typeface="Pretendard SemiBold" pitchFamily="34" charset="-127"/>
                <a:cs typeface="Pretendard SemiBold" pitchFamily="34" charset="-120"/>
              </a:rPr>
              <a:t>각자 맡은 역할만 잘하면 된다</a:t>
            </a:r>
            <a:endParaRPr lang="en-US" sz="1300" dirty="0"/>
          </a:p>
        </p:txBody>
      </p:sp>
      <p:sp>
        <p:nvSpPr>
          <p:cNvPr id="72" name="학부 팀 프로젝트"/>
          <p:cNvSpPr txBox="1"/>
          <p:nvPr/>
        </p:nvSpPr>
        <p:spPr>
          <a:xfrm>
            <a:off x="6231235" y="2062559"/>
            <a:ext cx="774502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900" b="1" spc="-18" kern="0" dirty="0">
                <a:solidFill>
                  <a:srgbClr val="004B8D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학부 팀 프로젝트</a:t>
            </a:r>
            <a:endParaRPr lang="en-US" sz="900" dirty="0"/>
          </a:p>
        </p:txBody>
      </p:sp>
      <p:sp>
        <p:nvSpPr>
          <p:cNvPr id="73" name="AFTER"/>
          <p:cNvSpPr txBox="1"/>
          <p:nvPr/>
        </p:nvSpPr>
        <p:spPr>
          <a:xfrm>
            <a:off x="8315722" y="1941314"/>
            <a:ext cx="494903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000" spc="60" kern="0" dirty="0">
                <a:solidFill>
                  <a:srgbClr val="FFFFFF"/>
                </a:solidFill>
                <a:latin typeface="Pretendard ExtraBold" pitchFamily="34" charset="0"/>
                <a:ea typeface="Pretendard ExtraBold" pitchFamily="34" charset="-127"/>
                <a:cs typeface="Pretendard ExtraBold" pitchFamily="34" charset="-120"/>
              </a:rPr>
              <a:t>AFTER</a:t>
            </a:r>
            <a:endParaRPr lang="en-US" sz="1000" dirty="0"/>
          </a:p>
        </p:txBody>
      </p:sp>
      <p:sp>
        <p:nvSpPr>
          <p:cNvPr id="74" name="같은 목표와 방향을 공유해야 한다"/>
          <p:cNvSpPr txBox="1"/>
          <p:nvPr/>
        </p:nvSpPr>
        <p:spPr>
          <a:xfrm>
            <a:off x="9305925" y="1918494"/>
            <a:ext cx="2211134" cy="1968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300" spc="-26" kern="0" dirty="0">
                <a:solidFill>
                  <a:srgbClr val="004B8D"/>
                </a:solidFill>
                <a:latin typeface="Pretendard ExtraBold" pitchFamily="34" charset="0"/>
                <a:ea typeface="Pretendard ExtraBold" pitchFamily="34" charset="-127"/>
                <a:cs typeface="Pretendard ExtraBold" pitchFamily="34" charset="-120"/>
              </a:rPr>
              <a:t>같은 목표와 방향을 공유해야 한다</a:t>
            </a:r>
            <a:endParaRPr lang="en-US" sz="1300" dirty="0"/>
          </a:p>
        </p:txBody>
      </p:sp>
      <p:sp>
        <p:nvSpPr>
          <p:cNvPr id="75" name="실천 경험 | 학생 BIM 경진대회"/>
          <p:cNvSpPr txBox="1"/>
          <p:nvPr/>
        </p:nvSpPr>
        <p:spPr>
          <a:xfrm>
            <a:off x="609600" y="2296914"/>
            <a:ext cx="1553073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000" spc="-20" kern="0" dirty="0">
                <a:solidFill>
                  <a:srgbClr val="0B2147"/>
                </a:solidFill>
                <a:latin typeface="Pretendard ExtraBold" pitchFamily="34" charset="0"/>
                <a:ea typeface="Pretendard ExtraBold" pitchFamily="34" charset="-127"/>
                <a:cs typeface="Pretendard ExtraBold" pitchFamily="34" charset="-120"/>
              </a:rPr>
              <a:t>실천 경험</a:t>
            </a:r>
            <a:pPr algn="l" indent="0" marL="0">
              <a:buNone/>
            </a:pPr>
            <a:r>
              <a:rPr lang="ko-KR" altLang="en-US" sz="1000" spc="-20" kern="0" dirty="0">
                <a:solidFill>
                  <a:srgbClr val="4B5568"/>
                </a:solidFill>
                <a:latin typeface="Pretendard SemiBold" pitchFamily="34" charset="0"/>
                <a:ea typeface="Pretendard SemiBold" pitchFamily="34" charset="-127"/>
                <a:cs typeface="Pretendard SemiBold" pitchFamily="34" charset="-120"/>
              </a:rPr>
              <a:t> | 학생 BIM 경진대회</a:t>
            </a:r>
            <a:endParaRPr lang="en-US" sz="1000" dirty="0"/>
          </a:p>
        </p:txBody>
      </p:sp>
      <p:sp>
        <p:nvSpPr>
          <p:cNvPr id="76" name="01"/>
          <p:cNvSpPr txBox="1"/>
          <p:nvPr/>
        </p:nvSpPr>
        <p:spPr>
          <a:xfrm>
            <a:off x="825500" y="2536974"/>
            <a:ext cx="233759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200" spc="24" kern="0" dirty="0">
                <a:solidFill>
                  <a:srgbClr val="2A78DD"/>
                </a:solidFill>
                <a:latin typeface="Pretendard ExtraBold" pitchFamily="34" charset="0"/>
                <a:ea typeface="Pretendard ExtraBold" pitchFamily="34" charset="-127"/>
                <a:cs typeface="Pretendard ExtraBold" pitchFamily="34" charset="-120"/>
              </a:rPr>
              <a:t>01</a:t>
            </a:r>
            <a:endParaRPr lang="en-US" sz="1200" dirty="0"/>
          </a:p>
        </p:txBody>
      </p:sp>
      <p:sp>
        <p:nvSpPr>
          <p:cNvPr id="77" name="충돌을 조율해 주제를 확정하다"/>
          <p:cNvSpPr txBox="1"/>
          <p:nvPr/>
        </p:nvSpPr>
        <p:spPr>
          <a:xfrm>
            <a:off x="1084659" y="2492524"/>
            <a:ext cx="2461127" cy="241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600" spc="-48" kern="0" dirty="0">
                <a:solidFill>
                  <a:srgbClr val="0B2147"/>
                </a:solidFill>
                <a:latin typeface="Pretendard ExtraBold" pitchFamily="34" charset="0"/>
                <a:ea typeface="Pretendard ExtraBold" pitchFamily="34" charset="-127"/>
                <a:cs typeface="Pretendard ExtraBold" pitchFamily="34" charset="-120"/>
              </a:rPr>
              <a:t>충돌을 조율해 주제를 확정하다</a:t>
            </a:r>
            <a:endParaRPr lang="en-US" sz="1600" dirty="0"/>
          </a:p>
        </p:txBody>
      </p:sp>
      <p:sp>
        <p:nvSpPr>
          <p:cNvPr id="78" name="02"/>
          <p:cNvSpPr txBox="1"/>
          <p:nvPr/>
        </p:nvSpPr>
        <p:spPr>
          <a:xfrm>
            <a:off x="4470400" y="2536974"/>
            <a:ext cx="254992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200" spc="24" kern="0" dirty="0">
                <a:solidFill>
                  <a:srgbClr val="2A78DD"/>
                </a:solidFill>
                <a:latin typeface="Pretendard ExtraBold" pitchFamily="34" charset="0"/>
                <a:ea typeface="Pretendard ExtraBold" pitchFamily="34" charset="-127"/>
                <a:cs typeface="Pretendard ExtraBold" pitchFamily="34" charset="-120"/>
              </a:rPr>
              <a:t>02</a:t>
            </a:r>
            <a:endParaRPr lang="en-US" sz="1200" dirty="0"/>
          </a:p>
        </p:txBody>
      </p:sp>
      <p:sp>
        <p:nvSpPr>
          <p:cNvPr id="79" name="강점에 맞게 역할을 나누다"/>
          <p:cNvSpPr txBox="1"/>
          <p:nvPr/>
        </p:nvSpPr>
        <p:spPr>
          <a:xfrm>
            <a:off x="4750792" y="2492524"/>
            <a:ext cx="2101755" cy="241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600" spc="-48" kern="0" dirty="0">
                <a:solidFill>
                  <a:srgbClr val="0B2147"/>
                </a:solidFill>
                <a:latin typeface="Pretendard ExtraBold" pitchFamily="34" charset="0"/>
                <a:ea typeface="Pretendard ExtraBold" pitchFamily="34" charset="-127"/>
                <a:cs typeface="Pretendard ExtraBold" pitchFamily="34" charset="-120"/>
              </a:rPr>
              <a:t>강점에 맞게 역할을 나누다</a:t>
            </a:r>
            <a:endParaRPr lang="en-US" sz="1600" dirty="0"/>
          </a:p>
        </p:txBody>
      </p:sp>
      <p:sp>
        <p:nvSpPr>
          <p:cNvPr id="80" name="03"/>
          <p:cNvSpPr txBox="1"/>
          <p:nvPr/>
        </p:nvSpPr>
        <p:spPr>
          <a:xfrm>
            <a:off x="8877300" y="2536974"/>
            <a:ext cx="259358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200" spc="24" kern="0" dirty="0">
                <a:solidFill>
                  <a:srgbClr val="2A78DD"/>
                </a:solidFill>
                <a:latin typeface="Pretendard ExtraBold" pitchFamily="34" charset="0"/>
                <a:ea typeface="Pretendard ExtraBold" pitchFamily="34" charset="-127"/>
                <a:cs typeface="Pretendard ExtraBold" pitchFamily="34" charset="-120"/>
              </a:rPr>
              <a:t>03</a:t>
            </a:r>
            <a:endParaRPr lang="en-US" sz="1200" dirty="0"/>
          </a:p>
        </p:txBody>
      </p:sp>
      <p:sp>
        <p:nvSpPr>
          <p:cNvPr id="81" name="3주 만에 완성, 장려상 수상"/>
          <p:cNvSpPr txBox="1"/>
          <p:nvPr/>
        </p:nvSpPr>
        <p:spPr>
          <a:xfrm>
            <a:off x="9162058" y="2492524"/>
            <a:ext cx="2144980" cy="241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600" spc="-48" kern="0" dirty="0">
                <a:solidFill>
                  <a:srgbClr val="0B2147"/>
                </a:solidFill>
                <a:latin typeface="Pretendard ExtraBold" pitchFamily="34" charset="0"/>
                <a:ea typeface="Pretendard ExtraBold" pitchFamily="34" charset="-127"/>
                <a:cs typeface="Pretendard ExtraBold" pitchFamily="34" charset="-120"/>
              </a:rPr>
              <a:t>3주 만에 완성, 장려상 수상</a:t>
            </a:r>
            <a:endParaRPr lang="en-US" sz="1600" dirty="0"/>
          </a:p>
        </p:txBody>
      </p:sp>
      <p:sp>
        <p:nvSpPr>
          <p:cNvPr id="82" name="마감 3주 전까지 주제 미확정"/>
          <p:cNvSpPr txBox="1"/>
          <p:nvPr/>
        </p:nvSpPr>
        <p:spPr>
          <a:xfrm>
            <a:off x="1717824" y="2903339"/>
            <a:ext cx="1446849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000" b="1" spc="-20" kern="0" dirty="0">
                <a:solidFill>
                  <a:srgbClr val="1C2536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마감 3주 전까지 주제 미확정</a:t>
            </a:r>
            <a:endParaRPr lang="en-US" sz="1000" dirty="0"/>
          </a:p>
        </p:txBody>
      </p:sp>
      <p:sp>
        <p:nvSpPr>
          <p:cNvPr id="83" name="참신성"/>
          <p:cNvSpPr txBox="1"/>
          <p:nvPr/>
        </p:nvSpPr>
        <p:spPr>
          <a:xfrm>
            <a:off x="1283097" y="3212306"/>
            <a:ext cx="469007" cy="1968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300" b="1" spc="-26" kern="0" dirty="0">
                <a:solidFill>
                  <a:srgbClr val="0B2147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참신성</a:t>
            </a:r>
            <a:endParaRPr lang="en-US" sz="1300" dirty="0"/>
          </a:p>
        </p:txBody>
      </p:sp>
      <p:sp>
        <p:nvSpPr>
          <p:cNvPr id="84" name="구현 가능성"/>
          <p:cNvSpPr txBox="1"/>
          <p:nvPr/>
        </p:nvSpPr>
        <p:spPr>
          <a:xfrm>
            <a:off x="2929731" y="3212306"/>
            <a:ext cx="782538" cy="1968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300" b="1" spc="-26" kern="0" dirty="0">
                <a:solidFill>
                  <a:srgbClr val="0B2147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구현 가능성</a:t>
            </a:r>
            <a:endParaRPr lang="en-US" sz="1300" dirty="0"/>
          </a:p>
        </p:txBody>
      </p:sp>
      <p:sp>
        <p:nvSpPr>
          <p:cNvPr id="85" name="VS"/>
          <p:cNvSpPr txBox="1"/>
          <p:nvPr/>
        </p:nvSpPr>
        <p:spPr>
          <a:xfrm>
            <a:off x="2233910" y="3236714"/>
            <a:ext cx="23118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000" spc="20" kern="0" dirty="0">
                <a:solidFill>
                  <a:srgbClr val="FFFFFF"/>
                </a:solidFill>
                <a:latin typeface="Pretendard ExtraBold" pitchFamily="34" charset="0"/>
                <a:ea typeface="Pretendard ExtraBold" pitchFamily="34" charset="-127"/>
                <a:cs typeface="Pretendard ExtraBold" pitchFamily="34" charset="-120"/>
              </a:rPr>
              <a:t>VS</a:t>
            </a:r>
            <a:endParaRPr lang="en-US" sz="1000" dirty="0"/>
          </a:p>
        </p:txBody>
      </p:sp>
      <p:sp>
        <p:nvSpPr>
          <p:cNvPr id="86" name="경청 · 수상작 분석 · 교수님 조언"/>
          <p:cNvSpPr txBox="1"/>
          <p:nvPr/>
        </p:nvSpPr>
        <p:spPr>
          <a:xfrm>
            <a:off x="1565870" y="3541514"/>
            <a:ext cx="1607447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000" spc="-20" kern="0" dirty="0">
                <a:solidFill>
                  <a:srgbClr val="4B5568"/>
                </a:solidFill>
                <a:latin typeface="Pretendard SemiBold" pitchFamily="34" charset="0"/>
                <a:ea typeface="Pretendard SemiBold" pitchFamily="34" charset="-127"/>
                <a:cs typeface="Pretendard SemiBold" pitchFamily="34" charset="-120"/>
              </a:rPr>
              <a:t>경청 · 수상작 분석 · 교수님 조언</a:t>
            </a:r>
            <a:endParaRPr lang="en-US" sz="1000" dirty="0"/>
          </a:p>
        </p:txBody>
      </p:sp>
      <p:sp>
        <p:nvSpPr>
          <p:cNvPr id="87" name="판단 기준 마련"/>
          <p:cNvSpPr txBox="1"/>
          <p:nvPr/>
        </p:nvSpPr>
        <p:spPr>
          <a:xfrm>
            <a:off x="1976537" y="3776464"/>
            <a:ext cx="745927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000" spc="-20" kern="0" dirty="0">
                <a:solidFill>
                  <a:srgbClr val="FFFFFF"/>
                </a:solidFill>
                <a:latin typeface="Pretendard ExtraBold" pitchFamily="34" charset="0"/>
                <a:ea typeface="Pretendard ExtraBold" pitchFamily="34" charset="-127"/>
                <a:cs typeface="Pretendard ExtraBold" pitchFamily="34" charset="-120"/>
              </a:rPr>
              <a:t>판단 기준 마련</a:t>
            </a:r>
            <a:endParaRPr lang="en-US" sz="1000" dirty="0"/>
          </a:p>
        </p:txBody>
      </p:sp>
      <p:sp>
        <p:nvSpPr>
          <p:cNvPr id="88" name="1"/>
          <p:cNvSpPr txBox="1"/>
          <p:nvPr/>
        </p:nvSpPr>
        <p:spPr>
          <a:xfrm>
            <a:off x="993676" y="4030464"/>
            <a:ext cx="102791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900" spc="-22" kern="0" dirty="0">
                <a:solidFill>
                  <a:srgbClr val="FFFFFF"/>
                </a:solidFill>
                <a:latin typeface="Pretendard ExtraBold" pitchFamily="34" charset="0"/>
                <a:ea typeface="Pretendard ExtraBold" pitchFamily="34" charset="-127"/>
                <a:cs typeface="Pretendard ExtraBold" pitchFamily="34" charset="-120"/>
              </a:rPr>
              <a:t>1</a:t>
            </a:r>
            <a:endParaRPr lang="en-US" sz="900" dirty="0"/>
          </a:p>
        </p:txBody>
      </p:sp>
      <p:sp>
        <p:nvSpPr>
          <p:cNvPr id="89" name="기존 수상작과"/>
          <p:cNvSpPr txBox="1"/>
          <p:nvPr/>
        </p:nvSpPr>
        <p:spPr>
          <a:xfrm>
            <a:off x="1153021" y="4017764"/>
            <a:ext cx="787896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100" b="1" spc="-22" kern="0" dirty="0">
                <a:solidFill>
                  <a:srgbClr val="0B2147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기존 수상작과</a:t>
            </a:r>
            <a:endParaRPr lang="en-US" sz="1100" dirty="0"/>
          </a:p>
        </p:txBody>
      </p:sp>
      <p:sp>
        <p:nvSpPr>
          <p:cNvPr id="90" name="차별화되는가?"/>
          <p:cNvSpPr txBox="1"/>
          <p:nvPr/>
        </p:nvSpPr>
        <p:spPr>
          <a:xfrm>
            <a:off x="1153021" y="4199334"/>
            <a:ext cx="830858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100" b="1" spc="-22" kern="0" dirty="0">
                <a:solidFill>
                  <a:srgbClr val="0B2147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차별화되는가?</a:t>
            </a:r>
            <a:endParaRPr lang="en-US" sz="1100" dirty="0"/>
          </a:p>
        </p:txBody>
      </p:sp>
      <p:sp>
        <p:nvSpPr>
          <p:cNvPr id="91" name="2"/>
          <p:cNvSpPr txBox="1"/>
          <p:nvPr/>
        </p:nvSpPr>
        <p:spPr>
          <a:xfrm>
            <a:off x="2774404" y="4030464"/>
            <a:ext cx="118666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900" spc="-22" kern="0" dirty="0">
                <a:solidFill>
                  <a:srgbClr val="FFFFFF"/>
                </a:solidFill>
                <a:latin typeface="Pretendard ExtraBold" pitchFamily="34" charset="0"/>
                <a:ea typeface="Pretendard ExtraBold" pitchFamily="34" charset="-127"/>
                <a:cs typeface="Pretendard ExtraBold" pitchFamily="34" charset="-120"/>
              </a:rPr>
              <a:t>2</a:t>
            </a:r>
            <a:endParaRPr lang="en-US" sz="900" dirty="0"/>
          </a:p>
        </p:txBody>
      </p:sp>
      <p:sp>
        <p:nvSpPr>
          <p:cNvPr id="92" name="남은 3주 안에"/>
          <p:cNvSpPr txBox="1"/>
          <p:nvPr/>
        </p:nvSpPr>
        <p:spPr>
          <a:xfrm>
            <a:off x="2941687" y="4017764"/>
            <a:ext cx="785813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100" b="1" spc="-22" kern="0" dirty="0">
                <a:solidFill>
                  <a:srgbClr val="0B2147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남은 3주 안에</a:t>
            </a:r>
            <a:endParaRPr lang="en-US" sz="1100" dirty="0"/>
          </a:p>
        </p:txBody>
      </p:sp>
      <p:sp>
        <p:nvSpPr>
          <p:cNvPr id="93" name="완성 가능한가?"/>
          <p:cNvSpPr txBox="1"/>
          <p:nvPr/>
        </p:nvSpPr>
        <p:spPr>
          <a:xfrm>
            <a:off x="2941687" y="4199334"/>
            <a:ext cx="860326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100" b="1" spc="-22" kern="0" dirty="0">
                <a:solidFill>
                  <a:srgbClr val="0B2147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완성 가능한가?</a:t>
            </a:r>
            <a:endParaRPr lang="en-US" sz="1100" dirty="0"/>
          </a:p>
        </p:txBody>
      </p:sp>
      <p:sp>
        <p:nvSpPr>
          <p:cNvPr id="94" name="‘유닛 모듈러 기반 사용자 맞춤형"/>
          <p:cNvSpPr txBox="1"/>
          <p:nvPr/>
        </p:nvSpPr>
        <p:spPr>
          <a:xfrm>
            <a:off x="914400" y="4787305"/>
            <a:ext cx="2536746" cy="241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600" spc="-56" kern="0" dirty="0">
                <a:solidFill>
                  <a:srgbClr val="FFFFFF"/>
                </a:solidFill>
                <a:latin typeface="Pretendard ExtraBold" pitchFamily="34" charset="0"/>
                <a:ea typeface="Pretendard ExtraBold" pitchFamily="34" charset="-127"/>
                <a:cs typeface="Pretendard ExtraBold" pitchFamily="34" charset="-120"/>
              </a:rPr>
              <a:t>‘유닛 모듈러 기반 사용자 맞춤형</a:t>
            </a:r>
            <a:endParaRPr lang="en-US" sz="1600" dirty="0"/>
          </a:p>
        </p:txBody>
      </p:sp>
      <p:sp>
        <p:nvSpPr>
          <p:cNvPr id="95" name="리모델링 방법’ 선정"/>
          <p:cNvSpPr txBox="1"/>
          <p:nvPr/>
        </p:nvSpPr>
        <p:spPr>
          <a:xfrm>
            <a:off x="914400" y="5041305"/>
            <a:ext cx="1562433" cy="241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600" spc="-56" kern="0" dirty="0">
                <a:solidFill>
                  <a:srgbClr val="FFFFFF"/>
                </a:solidFill>
                <a:latin typeface="Pretendard ExtraBold" pitchFamily="34" charset="0"/>
                <a:ea typeface="Pretendard ExtraBold" pitchFamily="34" charset="-127"/>
                <a:cs typeface="Pretendard ExtraBold" pitchFamily="34" charset="-120"/>
              </a:rPr>
              <a:t>리모델링 방법’ </a:t>
            </a:r>
            <a:pPr algn="l" indent="0" marL="0">
              <a:buNone/>
            </a:pPr>
            <a:r>
              <a:rPr lang="ko-KR" altLang="en-US" sz="1600" spc="-56" kern="0" dirty="0">
                <a:solidFill>
                  <a:srgbClr val="45B9EC"/>
                </a:solidFill>
                <a:latin typeface="Pretendard ExtraBold" pitchFamily="34" charset="0"/>
                <a:ea typeface="Pretendard ExtraBold" pitchFamily="34" charset="-127"/>
                <a:cs typeface="Pretendard ExtraBold" pitchFamily="34" charset="-120"/>
              </a:rPr>
              <a:t>선정</a:t>
            </a:r>
            <a:endParaRPr lang="en-US" sz="1600" dirty="0"/>
          </a:p>
        </p:txBody>
      </p:sp>
      <p:sp>
        <p:nvSpPr>
          <p:cNvPr id="96" name="리모델링 규모에 따라 유닛 모듈러를 배치하고,"/>
          <p:cNvSpPr txBox="1"/>
          <p:nvPr/>
        </p:nvSpPr>
        <p:spPr>
          <a:xfrm>
            <a:off x="914400" y="5333405"/>
            <a:ext cx="234365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000" spc="-20" kern="0" dirty="0">
                <a:solidFill>
                  <a:srgbClr val="C9CED7"/>
                </a:solidFill>
                <a:latin typeface="Pretendard Medium" pitchFamily="34" charset="0"/>
                <a:ea typeface="Pretendard Medium" pitchFamily="34" charset="-127"/>
                <a:cs typeface="Pretendard Medium" pitchFamily="34" charset="-120"/>
              </a:rPr>
              <a:t>리모델링 규모에 따라 유닛 모듈러를 배치하고,</a:t>
            </a:r>
            <a:endParaRPr lang="en-US" sz="1000" dirty="0"/>
          </a:p>
        </p:txBody>
      </p:sp>
      <p:sp>
        <p:nvSpPr>
          <p:cNvPr id="97" name="모듈 수 · 자재 물량 자동 산출"/>
          <p:cNvSpPr txBox="1"/>
          <p:nvPr/>
        </p:nvSpPr>
        <p:spPr>
          <a:xfrm>
            <a:off x="914400" y="5504855"/>
            <a:ext cx="1464098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000" spc="-20" kern="0" dirty="0">
                <a:solidFill>
                  <a:srgbClr val="C9CED7"/>
                </a:solidFill>
                <a:latin typeface="Pretendard Medium" pitchFamily="34" charset="0"/>
                <a:ea typeface="Pretendard Medium" pitchFamily="34" charset="-127"/>
                <a:cs typeface="Pretendard Medium" pitchFamily="34" charset="-120"/>
              </a:rPr>
              <a:t>모듈 수 · 자재 물량 자동 산출</a:t>
            </a:r>
            <a:endParaRPr lang="en-US" sz="1000" dirty="0"/>
          </a:p>
        </p:txBody>
      </p:sp>
      <p:sp>
        <p:nvSpPr>
          <p:cNvPr id="98" name="공동 목표"/>
          <p:cNvSpPr txBox="1"/>
          <p:nvPr/>
        </p:nvSpPr>
        <p:spPr>
          <a:xfrm>
            <a:off x="6051748" y="4143524"/>
            <a:ext cx="596503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1200" spc="-24" kern="0" dirty="0">
                <a:solidFill>
                  <a:srgbClr val="004B8D"/>
                </a:solidFill>
                <a:latin typeface="Pretendard ExtraBold" pitchFamily="34" charset="0"/>
                <a:ea typeface="Pretendard ExtraBold" pitchFamily="34" charset="-127"/>
                <a:cs typeface="Pretendard ExtraBold" pitchFamily="34" charset="-120"/>
              </a:rPr>
              <a:t>공동 목표</a:t>
            </a:r>
            <a:endParaRPr lang="en-US" sz="1200" dirty="0"/>
          </a:p>
        </p:txBody>
      </p:sp>
      <p:sp>
        <p:nvSpPr>
          <p:cNvPr id="99" name="프로젝트 완수"/>
          <p:cNvSpPr txBox="1"/>
          <p:nvPr/>
        </p:nvSpPr>
        <p:spPr>
          <a:xfrm>
            <a:off x="6023074" y="4345434"/>
            <a:ext cx="653852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900" b="1" spc="-18" kern="0" dirty="0">
                <a:solidFill>
                  <a:srgbClr val="4B5568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프로젝트 완수</a:t>
            </a:r>
            <a:endParaRPr lang="en-US" sz="900" dirty="0"/>
          </a:p>
        </p:txBody>
      </p:sp>
      <p:sp>
        <p:nvSpPr>
          <p:cNvPr id="100" name="팀장"/>
          <p:cNvSpPr txBox="1"/>
          <p:nvPr/>
        </p:nvSpPr>
        <p:spPr>
          <a:xfrm>
            <a:off x="6151463" y="2934097"/>
            <a:ext cx="308173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1200" spc="-24" kern="0" dirty="0">
                <a:solidFill>
                  <a:srgbClr val="FFFFFF"/>
                </a:solidFill>
                <a:latin typeface="Pretendard ExtraBold" pitchFamily="34" charset="0"/>
                <a:ea typeface="Pretendard ExtraBold" pitchFamily="34" charset="-127"/>
                <a:cs typeface="Pretendard ExtraBold" pitchFamily="34" charset="-120"/>
              </a:rPr>
              <a:t>팀장</a:t>
            </a:r>
            <a:endParaRPr lang="en-US" sz="1200" dirty="0"/>
          </a:p>
        </p:txBody>
      </p:sp>
      <p:sp>
        <p:nvSpPr>
          <p:cNvPr id="101" name="나"/>
          <p:cNvSpPr txBox="1"/>
          <p:nvPr/>
        </p:nvSpPr>
        <p:spPr>
          <a:xfrm>
            <a:off x="6513314" y="2961977"/>
            <a:ext cx="146546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900" spc="-24" kern="0" dirty="0">
                <a:solidFill>
                  <a:srgbClr val="0B2147"/>
                </a:solidFill>
                <a:latin typeface="Pretendard ExtraBold" pitchFamily="34" charset="0"/>
                <a:ea typeface="Pretendard ExtraBold" pitchFamily="34" charset="-127"/>
                <a:cs typeface="Pretendard ExtraBold" pitchFamily="34" charset="-120"/>
              </a:rPr>
              <a:t>나</a:t>
            </a:r>
            <a:endParaRPr lang="en-US" sz="900" dirty="0"/>
          </a:p>
        </p:txBody>
      </p:sp>
      <p:sp>
        <p:nvSpPr>
          <p:cNvPr id="102" name="프로젝트 일정 총괄 ·"/>
          <p:cNvSpPr txBox="1"/>
          <p:nvPr/>
        </p:nvSpPr>
        <p:spPr>
          <a:xfrm>
            <a:off x="5786390" y="3148707"/>
            <a:ext cx="1127022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spc="-28" kern="0" dirty="0">
                <a:solidFill>
                  <a:srgbClr val="DADEE3"/>
                </a:solidFill>
                <a:latin typeface="Pretendard Medium" pitchFamily="34" charset="0"/>
                <a:ea typeface="Pretendard Medium" pitchFamily="34" charset="-127"/>
                <a:cs typeface="Pretendard Medium" pitchFamily="34" charset="-120"/>
              </a:rPr>
              <a:t>프로젝트 일정 총괄 ·</a:t>
            </a:r>
            <a:endParaRPr lang="en-US" sz="1100" dirty="0"/>
          </a:p>
        </p:txBody>
      </p:sp>
      <p:sp>
        <p:nvSpPr>
          <p:cNvPr id="103" name="Dynamo 기반"/>
          <p:cNvSpPr txBox="1"/>
          <p:nvPr/>
        </p:nvSpPr>
        <p:spPr>
          <a:xfrm>
            <a:off x="5939334" y="3323332"/>
            <a:ext cx="821234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spc="-28" kern="0" dirty="0">
                <a:solidFill>
                  <a:srgbClr val="DADEE3"/>
                </a:solidFill>
                <a:latin typeface="Pretendard Medium" pitchFamily="34" charset="0"/>
                <a:ea typeface="Pretendard Medium" pitchFamily="34" charset="-127"/>
                <a:cs typeface="Pretendard Medium" pitchFamily="34" charset="-120"/>
              </a:rPr>
              <a:t>Dynamo 기반</a:t>
            </a:r>
            <a:endParaRPr lang="en-US" sz="1100" dirty="0"/>
          </a:p>
        </p:txBody>
      </p:sp>
      <p:sp>
        <p:nvSpPr>
          <p:cNvPr id="104" name="자동화 알고리즘 개발"/>
          <p:cNvSpPr txBox="1"/>
          <p:nvPr/>
        </p:nvSpPr>
        <p:spPr>
          <a:xfrm>
            <a:off x="5758201" y="3497957"/>
            <a:ext cx="1183499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spc="-28" kern="0" dirty="0">
                <a:solidFill>
                  <a:srgbClr val="DADEE3"/>
                </a:solidFill>
                <a:latin typeface="Pretendard Medium" pitchFamily="34" charset="0"/>
                <a:ea typeface="Pretendard Medium" pitchFamily="34" charset="-127"/>
                <a:cs typeface="Pretendard Medium" pitchFamily="34" charset="-120"/>
              </a:rPr>
              <a:t>자동화 알고리즘 개발</a:t>
            </a:r>
            <a:endParaRPr lang="en-US" sz="1100" dirty="0"/>
          </a:p>
        </p:txBody>
      </p:sp>
      <p:sp>
        <p:nvSpPr>
          <p:cNvPr id="105" name="팀원 A"/>
          <p:cNvSpPr txBox="1"/>
          <p:nvPr/>
        </p:nvSpPr>
        <p:spPr>
          <a:xfrm>
            <a:off x="7503319" y="4031059"/>
            <a:ext cx="449263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1200" spc="-24" kern="0" dirty="0">
                <a:solidFill>
                  <a:srgbClr val="0B2147"/>
                </a:solidFill>
                <a:latin typeface="Pretendard ExtraBold" pitchFamily="34" charset="0"/>
                <a:ea typeface="Pretendard ExtraBold" pitchFamily="34" charset="-127"/>
                <a:cs typeface="Pretendard ExtraBold" pitchFamily="34" charset="-120"/>
              </a:rPr>
              <a:t>팀원 A</a:t>
            </a:r>
            <a:endParaRPr lang="en-US" sz="1200" dirty="0"/>
          </a:p>
        </p:txBody>
      </p:sp>
      <p:sp>
        <p:nvSpPr>
          <p:cNvPr id="106" name="유닛 모듈러 설계 ·"/>
          <p:cNvSpPr txBox="1"/>
          <p:nvPr/>
        </p:nvSpPr>
        <p:spPr>
          <a:xfrm>
            <a:off x="7150396" y="4245670"/>
            <a:ext cx="1002709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spc="-28" kern="0" dirty="0">
                <a:solidFill>
                  <a:srgbClr val="4B5568"/>
                </a:solidFill>
                <a:latin typeface="Pretendard Medium" pitchFamily="34" charset="0"/>
                <a:ea typeface="Pretendard Medium" pitchFamily="34" charset="-127"/>
                <a:cs typeface="Pretendard Medium" pitchFamily="34" charset="-120"/>
              </a:rPr>
              <a:t>유닛 모듈러 설계 ·</a:t>
            </a:r>
            <a:endParaRPr lang="en-US" sz="1100" dirty="0"/>
          </a:p>
        </p:txBody>
      </p:sp>
      <p:sp>
        <p:nvSpPr>
          <p:cNvPr id="107" name="배치 계획"/>
          <p:cNvSpPr txBox="1"/>
          <p:nvPr/>
        </p:nvSpPr>
        <p:spPr>
          <a:xfrm>
            <a:off x="7376517" y="4420295"/>
            <a:ext cx="550466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spc="-28" kern="0" dirty="0">
                <a:solidFill>
                  <a:srgbClr val="4B5568"/>
                </a:solidFill>
                <a:latin typeface="Pretendard Medium" pitchFamily="34" charset="0"/>
                <a:ea typeface="Pretendard Medium" pitchFamily="34" charset="-127"/>
                <a:cs typeface="Pretendard Medium" pitchFamily="34" charset="-120"/>
              </a:rPr>
              <a:t>배치 계획</a:t>
            </a:r>
            <a:endParaRPr lang="en-US" sz="1100" dirty="0"/>
          </a:p>
        </p:txBody>
      </p:sp>
      <p:sp>
        <p:nvSpPr>
          <p:cNvPr id="108" name="팀원 B"/>
          <p:cNvSpPr txBox="1"/>
          <p:nvPr/>
        </p:nvSpPr>
        <p:spPr>
          <a:xfrm>
            <a:off x="6209209" y="4959747"/>
            <a:ext cx="433983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1200" spc="-24" kern="0" dirty="0">
                <a:solidFill>
                  <a:srgbClr val="0B2147"/>
                </a:solidFill>
                <a:latin typeface="Pretendard ExtraBold" pitchFamily="34" charset="0"/>
                <a:ea typeface="Pretendard ExtraBold" pitchFamily="34" charset="-127"/>
                <a:cs typeface="Pretendard ExtraBold" pitchFamily="34" charset="-120"/>
              </a:rPr>
              <a:t>팀원 B</a:t>
            </a:r>
            <a:endParaRPr lang="en-US" sz="1200" dirty="0"/>
          </a:p>
        </p:txBody>
      </p:sp>
      <p:sp>
        <p:nvSpPr>
          <p:cNvPr id="109" name="Revit 기반"/>
          <p:cNvSpPr txBox="1"/>
          <p:nvPr/>
        </p:nvSpPr>
        <p:spPr>
          <a:xfrm>
            <a:off x="6041827" y="5174357"/>
            <a:ext cx="616347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spc="-28" kern="0" dirty="0">
                <a:solidFill>
                  <a:srgbClr val="4B5568"/>
                </a:solidFill>
                <a:latin typeface="Pretendard Medium" pitchFamily="34" charset="0"/>
                <a:ea typeface="Pretendard Medium" pitchFamily="34" charset="-127"/>
                <a:cs typeface="Pretendard Medium" pitchFamily="34" charset="-120"/>
              </a:rPr>
              <a:t>Revit 기반</a:t>
            </a:r>
            <a:endParaRPr lang="en-US" sz="1100" dirty="0"/>
          </a:p>
        </p:txBody>
      </p:sp>
      <p:sp>
        <p:nvSpPr>
          <p:cNvPr id="110" name="BIM 모델링 ·"/>
          <p:cNvSpPr txBox="1"/>
          <p:nvPr/>
        </p:nvSpPr>
        <p:spPr>
          <a:xfrm>
            <a:off x="5985173" y="5348982"/>
            <a:ext cx="729555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spc="-28" kern="0" dirty="0">
                <a:solidFill>
                  <a:srgbClr val="4B5568"/>
                </a:solidFill>
                <a:latin typeface="Pretendard Medium" pitchFamily="34" charset="0"/>
                <a:ea typeface="Pretendard Medium" pitchFamily="34" charset="-127"/>
                <a:cs typeface="Pretendard Medium" pitchFamily="34" charset="-120"/>
              </a:rPr>
              <a:t>BIM 모델링 ·</a:t>
            </a:r>
            <a:endParaRPr lang="en-US" sz="1100" dirty="0"/>
          </a:p>
        </p:txBody>
      </p:sp>
      <p:sp>
        <p:nvSpPr>
          <p:cNvPr id="111" name="모듈러 라이브러리 구축"/>
          <p:cNvSpPr txBox="1"/>
          <p:nvPr/>
        </p:nvSpPr>
        <p:spPr>
          <a:xfrm>
            <a:off x="5696146" y="5523607"/>
            <a:ext cx="1307707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spc="-28" kern="0" dirty="0">
                <a:solidFill>
                  <a:srgbClr val="4B5568"/>
                </a:solidFill>
                <a:latin typeface="Pretendard Medium" pitchFamily="34" charset="0"/>
                <a:ea typeface="Pretendard Medium" pitchFamily="34" charset="-127"/>
                <a:cs typeface="Pretendard Medium" pitchFamily="34" charset="-120"/>
              </a:rPr>
              <a:t>모듈러 라이브러리 구축</a:t>
            </a:r>
            <a:endParaRPr lang="en-US" sz="1100" dirty="0"/>
          </a:p>
        </p:txBody>
      </p:sp>
      <p:sp>
        <p:nvSpPr>
          <p:cNvPr id="112" name="팀원 C"/>
          <p:cNvSpPr txBox="1"/>
          <p:nvPr/>
        </p:nvSpPr>
        <p:spPr>
          <a:xfrm>
            <a:off x="4900414" y="3943747"/>
            <a:ext cx="448072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1200" spc="-24" kern="0" dirty="0">
                <a:solidFill>
                  <a:srgbClr val="0B2147"/>
                </a:solidFill>
                <a:latin typeface="Pretendard ExtraBold" pitchFamily="34" charset="0"/>
                <a:ea typeface="Pretendard ExtraBold" pitchFamily="34" charset="-127"/>
                <a:cs typeface="Pretendard ExtraBold" pitchFamily="34" charset="-120"/>
              </a:rPr>
              <a:t>팀원 C</a:t>
            </a:r>
            <a:endParaRPr lang="en-US" sz="1200" dirty="0"/>
          </a:p>
        </p:txBody>
      </p:sp>
      <p:sp>
        <p:nvSpPr>
          <p:cNvPr id="113" name="리모델링 적용"/>
          <p:cNvSpPr txBox="1"/>
          <p:nvPr/>
        </p:nvSpPr>
        <p:spPr>
          <a:xfrm>
            <a:off x="4655741" y="4158357"/>
            <a:ext cx="784920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spc="-28" kern="0" dirty="0">
                <a:solidFill>
                  <a:srgbClr val="4B5568"/>
                </a:solidFill>
                <a:latin typeface="Pretendard Medium" pitchFamily="34" charset="0"/>
                <a:ea typeface="Pretendard Medium" pitchFamily="34" charset="-127"/>
                <a:cs typeface="Pretendard Medium" pitchFamily="34" charset="-120"/>
              </a:rPr>
              <a:t>리모델링 적용</a:t>
            </a:r>
            <a:endParaRPr lang="en-US" sz="1100" dirty="0"/>
          </a:p>
        </p:txBody>
      </p:sp>
      <p:sp>
        <p:nvSpPr>
          <p:cNvPr id="114" name="시나리오 구성 ·"/>
          <p:cNvSpPr txBox="1"/>
          <p:nvPr/>
        </p:nvSpPr>
        <p:spPr>
          <a:xfrm>
            <a:off x="4623792" y="4332982"/>
            <a:ext cx="848916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spc="-28" kern="0" dirty="0">
                <a:solidFill>
                  <a:srgbClr val="4B5568"/>
                </a:solidFill>
                <a:latin typeface="Pretendard Medium" pitchFamily="34" charset="0"/>
                <a:ea typeface="Pretendard Medium" pitchFamily="34" charset="-127"/>
                <a:cs typeface="Pretendard Medium" pitchFamily="34" charset="-120"/>
              </a:rPr>
              <a:t>시나리오 구성 ·</a:t>
            </a:r>
            <a:endParaRPr lang="en-US" sz="1100" dirty="0"/>
          </a:p>
        </p:txBody>
      </p:sp>
      <p:sp>
        <p:nvSpPr>
          <p:cNvPr id="115" name="시연 영상 제작"/>
          <p:cNvSpPr txBox="1"/>
          <p:nvPr/>
        </p:nvSpPr>
        <p:spPr>
          <a:xfrm>
            <a:off x="4640461" y="4507607"/>
            <a:ext cx="815578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spc="-28" kern="0" dirty="0">
                <a:solidFill>
                  <a:srgbClr val="4B5568"/>
                </a:solidFill>
                <a:latin typeface="Pretendard Medium" pitchFamily="34" charset="0"/>
                <a:ea typeface="Pretendard Medium" pitchFamily="34" charset="-127"/>
                <a:cs typeface="Pretendard Medium" pitchFamily="34" charset="-120"/>
              </a:rPr>
              <a:t>시연 영상 제작</a:t>
            </a:r>
            <a:endParaRPr lang="en-US" sz="1100" dirty="0"/>
          </a:p>
        </p:txBody>
      </p:sp>
      <p:sp>
        <p:nvSpPr>
          <p:cNvPr id="116" name="이틀마다 진행상황"/>
          <p:cNvSpPr txBox="1"/>
          <p:nvPr/>
        </p:nvSpPr>
        <p:spPr>
          <a:xfrm>
            <a:off x="7199764" y="5090914"/>
            <a:ext cx="937607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spc="-20" kern="0" dirty="0">
                <a:solidFill>
                  <a:srgbClr val="0B2147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이틀마다 진행상황</a:t>
            </a:r>
            <a:endParaRPr lang="en-US" sz="1000" dirty="0"/>
          </a:p>
        </p:txBody>
      </p:sp>
      <p:sp>
        <p:nvSpPr>
          <p:cNvPr id="117" name="공유 · 피드백"/>
          <p:cNvSpPr txBox="1"/>
          <p:nvPr/>
        </p:nvSpPr>
        <p:spPr>
          <a:xfrm>
            <a:off x="7331670" y="5256014"/>
            <a:ext cx="673695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spc="-20" kern="0" dirty="0">
                <a:solidFill>
                  <a:srgbClr val="0B2147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공유 · 피드백</a:t>
            </a:r>
            <a:endParaRPr lang="en-US" sz="1000" dirty="0"/>
          </a:p>
        </p:txBody>
      </p:sp>
      <p:sp>
        <p:nvSpPr>
          <p:cNvPr id="118" name="리모델링 앱 개발 아이디어 시연 영상"/>
          <p:cNvSpPr txBox="1"/>
          <p:nvPr/>
        </p:nvSpPr>
        <p:spPr>
          <a:xfrm>
            <a:off x="9248725" y="4005064"/>
            <a:ext cx="185113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000" spc="-20" kern="0" dirty="0">
                <a:solidFill>
                  <a:srgbClr val="4B5568"/>
                </a:solidFill>
                <a:latin typeface="Pretendard SemiBold" pitchFamily="34" charset="0"/>
                <a:ea typeface="Pretendard SemiBold" pitchFamily="34" charset="-127"/>
                <a:cs typeface="Pretendard SemiBold" pitchFamily="34" charset="-120"/>
              </a:rPr>
              <a:t>리모델링 앱 개발 아이디어 시연 영상</a:t>
            </a:r>
            <a:endParaRPr lang="en-US" sz="1000" dirty="0"/>
          </a:p>
        </p:txBody>
      </p:sp>
      <p:sp>
        <p:nvSpPr>
          <p:cNvPr id="119" name="장려상"/>
          <p:cNvSpPr txBox="1"/>
          <p:nvPr/>
        </p:nvSpPr>
        <p:spPr>
          <a:xfrm>
            <a:off x="9772253" y="4868664"/>
            <a:ext cx="750094" cy="336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2200" spc="-66" kern="0" dirty="0">
                <a:solidFill>
                  <a:srgbClr val="0B2147"/>
                </a:solidFill>
                <a:latin typeface="Pretendard ExtraBold" pitchFamily="34" charset="0"/>
                <a:ea typeface="Pretendard ExtraBold" pitchFamily="34" charset="-127"/>
                <a:cs typeface="Pretendard ExtraBold" pitchFamily="34" charset="-120"/>
              </a:rPr>
              <a:t>장려상</a:t>
            </a:r>
            <a:endParaRPr lang="en-US" sz="2200" dirty="0"/>
          </a:p>
        </p:txBody>
      </p:sp>
      <p:sp>
        <p:nvSpPr>
          <p:cNvPr id="120" name="학생 BIM 경진대회 장려상"/>
          <p:cNvSpPr txBox="1"/>
          <p:nvPr/>
        </p:nvSpPr>
        <p:spPr>
          <a:xfrm>
            <a:off x="9489728" y="5643364"/>
            <a:ext cx="1340205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000" b="1" spc="-20" kern="0" dirty="0">
                <a:solidFill>
                  <a:srgbClr val="0B2147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학생 BIM 경진대회 장려상</a:t>
            </a:r>
            <a:endParaRPr lang="en-US" sz="1000" dirty="0"/>
          </a:p>
        </p:txBody>
      </p:sp>
      <p:sp>
        <p:nvSpPr>
          <p:cNvPr id="121" name="의견 차이로 출발조차 하지 못했던 팀이, 서로 다른 의견을 조율하며 하나"/>
          <p:cNvSpPr txBox="1"/>
          <p:nvPr/>
        </p:nvSpPr>
        <p:spPr>
          <a:xfrm>
            <a:off x="1409700" y="6019205"/>
            <a:ext cx="883044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500" b="1" spc="-45" kern="0" dirty="0">
                <a:solidFill>
                  <a:srgbClr val="FFFFFF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의견 차이로 출발조차 하지 못했던 팀이, 서로 다른 의견을 조율하며 </a:t>
            </a:r>
            <a:pPr algn="l" indent="0" marL="0">
              <a:buNone/>
            </a:pPr>
            <a:r>
              <a:rPr lang="ko-KR" altLang="en-US" sz="1500" b="1" spc="-45" kern="0" dirty="0">
                <a:solidFill>
                  <a:srgbClr val="FDBB30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하나의 공동 목표</a:t>
            </a:r>
            <a:pPr algn="l" indent="0" marL="0">
              <a:buNone/>
            </a:pPr>
            <a:r>
              <a:rPr lang="ko-KR" altLang="en-US" sz="1500" b="1" spc="-45" kern="0" dirty="0">
                <a:solidFill>
                  <a:srgbClr val="FFFFFF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를 향해 함께 결과를 만들었습니다.</a:t>
            </a:r>
            <a:endParaRPr lang="en-US" sz="1500" dirty="0"/>
          </a:p>
        </p:txBody>
      </p:sp>
      <p:sp>
        <p:nvSpPr>
          <p:cNvPr id="122" name="2026년 하반기 신입사원 공개채용 | 공사관리 건축 직무 지원자 이현준"/>
          <p:cNvSpPr txBox="1"/>
          <p:nvPr/>
        </p:nvSpPr>
        <p:spPr>
          <a:xfrm>
            <a:off x="609600" y="6425605"/>
            <a:ext cx="3273685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900" spc="-9" kern="0" dirty="0">
                <a:solidFill>
                  <a:srgbClr val="8691A5"/>
                </a:solidFill>
                <a:latin typeface="Pretendard Medium" pitchFamily="34" charset="0"/>
                <a:ea typeface="Pretendard Medium" pitchFamily="34" charset="-127"/>
                <a:cs typeface="Pretendard Medium" pitchFamily="34" charset="-120"/>
              </a:rPr>
              <a:t>2026년 하반기 신입사원 공개채용 | 공사관리 건축 직무 지원자 이현준</a:t>
            </a:r>
            <a:endParaRPr lang="en-US" sz="900" dirty="0"/>
          </a:p>
        </p:txBody>
      </p:sp>
      <p:sp>
        <p:nvSpPr>
          <p:cNvPr id="123" name="01 / 03"/>
          <p:cNvSpPr txBox="1"/>
          <p:nvPr/>
        </p:nvSpPr>
        <p:spPr>
          <a:xfrm>
            <a:off x="11158141" y="6425605"/>
            <a:ext cx="475059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900" spc="54" kern="0" dirty="0">
                <a:solidFill>
                  <a:srgbClr val="004B8D"/>
                </a:solidFill>
                <a:latin typeface="Pretendard ExtraBold" pitchFamily="34" charset="0"/>
                <a:ea typeface="Pretendard ExtraBold" pitchFamily="34" charset="-127"/>
                <a:cs typeface="Pretendard ExtraBold" pitchFamily="34" charset="-120"/>
              </a:rPr>
              <a:t>01</a:t>
            </a:r>
            <a:pPr algn="l" indent="0" marL="0">
              <a:buNone/>
            </a:pPr>
            <a:r>
              <a:rPr lang="ko-KR" altLang="en-US" sz="900" b="1" spc="54" kern="0" dirty="0">
                <a:solidFill>
                  <a:srgbClr val="4B5568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 / 03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"/>
          <p:cNvSpPr/>
          <p:nvPr/>
        </p:nvSpPr>
        <p:spPr>
          <a:xfrm>
            <a:off x="609600" y="475853"/>
            <a:ext cx="63500" cy="63500"/>
          </a:xfrm>
          <a:prstGeom prst="ellipse">
            <a:avLst/>
          </a:prstGeom>
          <a:solidFill>
            <a:srgbClr val="00A94F"/>
          </a:solidFill>
          <a:ln/>
        </p:spPr>
      </p:sp>
      <p:sp>
        <p:nvSpPr>
          <p:cNvPr id="4" name="b"/>
          <p:cNvSpPr/>
          <p:nvPr/>
        </p:nvSpPr>
        <p:spPr>
          <a:xfrm>
            <a:off x="673100" y="501253"/>
            <a:ext cx="88900" cy="12700"/>
          </a:xfrm>
          <a:prstGeom prst="rect">
            <a:avLst/>
          </a:prstGeom>
          <a:solidFill>
            <a:srgbClr val="C3CEDD"/>
          </a:solidFill>
          <a:ln/>
        </p:spPr>
      </p:sp>
      <p:sp>
        <p:nvSpPr>
          <p:cNvPr id="5" name="i"/>
          <p:cNvSpPr/>
          <p:nvPr/>
        </p:nvSpPr>
        <p:spPr>
          <a:xfrm>
            <a:off x="762000" y="475853"/>
            <a:ext cx="63500" cy="63500"/>
          </a:xfrm>
          <a:prstGeom prst="ellipse">
            <a:avLst/>
          </a:prstGeom>
          <a:solidFill>
            <a:srgbClr val="004B8D"/>
          </a:solidFill>
          <a:ln/>
        </p:spPr>
      </p:sp>
      <p:sp>
        <p:nvSpPr>
          <p:cNvPr id="6" name="b"/>
          <p:cNvSpPr/>
          <p:nvPr/>
        </p:nvSpPr>
        <p:spPr>
          <a:xfrm>
            <a:off x="825500" y="501253"/>
            <a:ext cx="88900" cy="12700"/>
          </a:xfrm>
          <a:prstGeom prst="rect">
            <a:avLst/>
          </a:prstGeom>
          <a:solidFill>
            <a:srgbClr val="C3CEDD"/>
          </a:solidFill>
          <a:ln/>
        </p:spPr>
      </p:sp>
      <p:sp>
        <p:nvSpPr>
          <p:cNvPr id="7" name="i"/>
          <p:cNvSpPr/>
          <p:nvPr/>
        </p:nvSpPr>
        <p:spPr>
          <a:xfrm>
            <a:off x="914400" y="475853"/>
            <a:ext cx="63500" cy="63500"/>
          </a:xfrm>
          <a:prstGeom prst="ellipse">
            <a:avLst/>
          </a:prstGeom>
          <a:solidFill>
            <a:srgbClr val="FDBB30"/>
          </a:solidFill>
          <a:ln/>
        </p:spPr>
      </p:sp>
      <p:pic>
        <p:nvPicPr>
          <p:cNvPr id="8" name="img" descr="im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3935" y="415462"/>
            <a:ext cx="1526117" cy="268817"/>
          </a:xfrm>
          <a:prstGeom prst="rect">
            <a:avLst/>
          </a:prstGeom>
        </p:spPr>
      </p:pic>
      <p:pic>
        <p:nvPicPr>
          <p:cNvPr id="9" name="p2-tag" descr="p2-ta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2250" y="1904603"/>
            <a:ext cx="152400" cy="12700"/>
          </a:xfrm>
          <a:prstGeom prst="rect">
            <a:avLst/>
          </a:prstGeom>
        </p:spPr>
      </p:pic>
      <p:pic>
        <p:nvPicPr>
          <p:cNvPr id="10" name="p2-tag" descr="p2-ta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0900" y="1904603"/>
            <a:ext cx="152400" cy="12700"/>
          </a:xfrm>
          <a:prstGeom prst="rect">
            <a:avLst/>
          </a:prstGeom>
        </p:spPr>
      </p:pic>
      <p:sp>
        <p:nvSpPr>
          <p:cNvPr id="11" name="p2-card g"/>
          <p:cNvSpPr/>
          <p:nvPr/>
        </p:nvSpPr>
        <p:spPr>
          <a:xfrm>
            <a:off x="609600" y="2093714"/>
            <a:ext cx="3429000" cy="1625600"/>
          </a:xfrm>
          <a:prstGeom prst="roundRect">
            <a:avLst>
              <a:gd name="adj" fmla="val 8594"/>
            </a:avLst>
          </a:prstGeom>
          <a:solidFill>
            <a:srgbClr val="E5F6EC"/>
          </a:solidFill>
          <a:ln/>
        </p:spPr>
      </p:sp>
      <p:sp>
        <p:nvSpPr>
          <p:cNvPr id="12" name="dot people"/>
          <p:cNvSpPr/>
          <p:nvPr/>
        </p:nvSpPr>
        <p:spPr>
          <a:xfrm>
            <a:off x="787400" y="2309614"/>
            <a:ext cx="76200" cy="76200"/>
          </a:xfrm>
          <a:prstGeom prst="ellipse">
            <a:avLst/>
          </a:prstGeom>
          <a:solidFill>
            <a:srgbClr val="00A94F"/>
          </a:solidFill>
          <a:ln/>
        </p:spPr>
      </p:sp>
      <p:sp>
        <p:nvSpPr>
          <p:cNvPr id="13" name="p2-c"/>
          <p:cNvSpPr/>
          <p:nvPr/>
        </p:nvSpPr>
        <p:spPr>
          <a:xfrm>
            <a:off x="787400" y="2633464"/>
            <a:ext cx="1385094" cy="254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4" name="dot people"/>
          <p:cNvSpPr/>
          <p:nvPr/>
        </p:nvSpPr>
        <p:spPr>
          <a:xfrm>
            <a:off x="1258788" y="2731889"/>
            <a:ext cx="57150" cy="57150"/>
          </a:xfrm>
          <a:prstGeom prst="ellipse">
            <a:avLst/>
          </a:prstGeom>
          <a:solidFill>
            <a:srgbClr val="00A94F"/>
          </a:solidFill>
          <a:ln/>
        </p:spPr>
      </p:sp>
      <p:sp>
        <p:nvSpPr>
          <p:cNvPr id="15" name="p2-c"/>
          <p:cNvSpPr/>
          <p:nvPr/>
        </p:nvSpPr>
        <p:spPr>
          <a:xfrm>
            <a:off x="2475706" y="2633464"/>
            <a:ext cx="1385094" cy="254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6" name="dot people"/>
          <p:cNvSpPr/>
          <p:nvPr/>
        </p:nvSpPr>
        <p:spPr>
          <a:xfrm>
            <a:off x="2826445" y="2731889"/>
            <a:ext cx="57150" cy="57150"/>
          </a:xfrm>
          <a:prstGeom prst="ellipse">
            <a:avLst/>
          </a:prstGeom>
          <a:solidFill>
            <a:srgbClr val="00A94F"/>
          </a:solidFill>
          <a:ln/>
        </p:spPr>
      </p:sp>
      <p:sp>
        <p:nvSpPr>
          <p:cNvPr id="17" name="p2-to"/>
          <p:cNvSpPr/>
          <p:nvPr/>
        </p:nvSpPr>
        <p:spPr>
          <a:xfrm>
            <a:off x="787400" y="3274814"/>
            <a:ext cx="3073400" cy="304800"/>
          </a:xfrm>
          <a:prstGeom prst="roundRect">
            <a:avLst>
              <a:gd name="adj" fmla="val 29167"/>
            </a:avLst>
          </a:prstGeom>
          <a:solidFill>
            <a:srgbClr val="FFFFFF"/>
          </a:solidFill>
          <a:ln/>
        </p:spPr>
      </p:sp>
      <p:sp>
        <p:nvSpPr>
          <p:cNvPr id="18" name="p2-ic"/>
          <p:cNvSpPr/>
          <p:nvPr/>
        </p:nvSpPr>
        <p:spPr>
          <a:xfrm>
            <a:off x="863600" y="3331964"/>
            <a:ext cx="190500" cy="190500"/>
          </a:xfrm>
          <a:prstGeom prst="ellipse">
            <a:avLst/>
          </a:prstGeom>
          <a:solidFill>
            <a:srgbClr val="00A94F"/>
          </a:solidFill>
          <a:ln/>
        </p:spPr>
      </p:sp>
      <p:pic>
        <p:nvPicPr>
          <p:cNvPr id="19" name="p2-arr" descr="p2-ar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633" y="3393347"/>
            <a:ext cx="80433" cy="71967"/>
          </a:xfrm>
          <a:prstGeom prst="rect">
            <a:avLst/>
          </a:prstGeom>
        </p:spPr>
      </p:pic>
      <p:pic>
        <p:nvPicPr>
          <p:cNvPr id="20" name="p2-bridge" descr="p2-bridg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83567" y="2845131"/>
            <a:ext cx="791633" cy="127000"/>
          </a:xfrm>
          <a:prstGeom prst="rect">
            <a:avLst/>
          </a:prstGeom>
        </p:spPr>
      </p:pic>
      <p:sp>
        <p:nvSpPr>
          <p:cNvPr id="21" name="p2-panel"/>
          <p:cNvSpPr/>
          <p:nvPr/>
        </p:nvSpPr>
        <p:spPr>
          <a:xfrm>
            <a:off x="5111750" y="2100064"/>
            <a:ext cx="6464300" cy="1612900"/>
          </a:xfrm>
          <a:prstGeom prst="roundRect">
            <a:avLst>
              <a:gd name="adj" fmla="val 8268"/>
            </a:avLst>
          </a:prstGeom>
          <a:solidFill>
            <a:srgbClr val="FFFFFF"/>
          </a:solidFill>
          <a:ln w="12700">
            <a:solidFill>
              <a:srgbClr val="D8E0EB"/>
            </a:solidFill>
            <a:prstDash val="solid"/>
          </a:ln>
        </p:spPr>
      </p:sp>
      <p:pic>
        <p:nvPicPr>
          <p:cNvPr id="22" name="p2-badge g" descr="p2-badge 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2500" y="2565731"/>
            <a:ext cx="685800" cy="685800"/>
          </a:xfrm>
          <a:prstGeom prst="rect">
            <a:avLst/>
          </a:prstGeom>
        </p:spPr>
      </p:pic>
      <p:pic>
        <p:nvPicPr>
          <p:cNvPr id="23" name="p2-svg" descr="p2-sv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56500" y="2294797"/>
            <a:ext cx="3378200" cy="1325033"/>
          </a:xfrm>
          <a:prstGeom prst="rect">
            <a:avLst/>
          </a:prstGeom>
        </p:spPr>
      </p:pic>
      <p:sp>
        <p:nvSpPr>
          <p:cNvPr id="24" name="p2-n chip people"/>
          <p:cNvSpPr/>
          <p:nvPr/>
        </p:nvSpPr>
        <p:spPr>
          <a:xfrm>
            <a:off x="8980239" y="2182614"/>
            <a:ext cx="530721" cy="241300"/>
          </a:xfrm>
          <a:prstGeom prst="roundRect">
            <a:avLst>
              <a:gd name="adj" fmla="val 50000"/>
            </a:avLst>
          </a:prstGeom>
          <a:solidFill>
            <a:srgbClr val="E5F6EC"/>
          </a:solidFill>
          <a:ln/>
        </p:spPr>
      </p:sp>
      <p:sp>
        <p:nvSpPr>
          <p:cNvPr id="25" name="dot people"/>
          <p:cNvSpPr/>
          <p:nvPr/>
        </p:nvSpPr>
        <p:spPr>
          <a:xfrm>
            <a:off x="9081839" y="2274689"/>
            <a:ext cx="57150" cy="57150"/>
          </a:xfrm>
          <a:prstGeom prst="ellipse">
            <a:avLst/>
          </a:prstGeom>
          <a:solidFill>
            <a:srgbClr val="00A94F"/>
          </a:solidFill>
          <a:ln/>
        </p:spPr>
      </p:sp>
      <p:sp>
        <p:nvSpPr>
          <p:cNvPr id="26" name="p2-n chip people"/>
          <p:cNvSpPr/>
          <p:nvPr/>
        </p:nvSpPr>
        <p:spPr>
          <a:xfrm>
            <a:off x="10580439" y="2634655"/>
            <a:ext cx="530721" cy="241300"/>
          </a:xfrm>
          <a:prstGeom prst="roundRect">
            <a:avLst>
              <a:gd name="adj" fmla="val 50000"/>
            </a:avLst>
          </a:prstGeom>
          <a:solidFill>
            <a:srgbClr val="E5F6EC"/>
          </a:solidFill>
          <a:ln/>
        </p:spPr>
      </p:sp>
      <p:sp>
        <p:nvSpPr>
          <p:cNvPr id="27" name="dot people"/>
          <p:cNvSpPr/>
          <p:nvPr/>
        </p:nvSpPr>
        <p:spPr>
          <a:xfrm>
            <a:off x="10682039" y="2726730"/>
            <a:ext cx="57150" cy="57150"/>
          </a:xfrm>
          <a:prstGeom prst="ellipse">
            <a:avLst/>
          </a:prstGeom>
          <a:solidFill>
            <a:srgbClr val="00A94F"/>
          </a:solidFill>
          <a:ln/>
        </p:spPr>
      </p:sp>
      <p:sp>
        <p:nvSpPr>
          <p:cNvPr id="28" name="p2-n chip people"/>
          <p:cNvSpPr/>
          <p:nvPr/>
        </p:nvSpPr>
        <p:spPr>
          <a:xfrm>
            <a:off x="9859814" y="3365599"/>
            <a:ext cx="750193" cy="241300"/>
          </a:xfrm>
          <a:prstGeom prst="roundRect">
            <a:avLst>
              <a:gd name="adj" fmla="val 50000"/>
            </a:avLst>
          </a:prstGeom>
          <a:solidFill>
            <a:srgbClr val="E5F6EC"/>
          </a:solidFill>
          <a:ln/>
        </p:spPr>
      </p:sp>
      <p:sp>
        <p:nvSpPr>
          <p:cNvPr id="29" name="dot people"/>
          <p:cNvSpPr/>
          <p:nvPr/>
        </p:nvSpPr>
        <p:spPr>
          <a:xfrm>
            <a:off x="9961414" y="3457674"/>
            <a:ext cx="57150" cy="57150"/>
          </a:xfrm>
          <a:prstGeom prst="ellipse">
            <a:avLst/>
          </a:prstGeom>
          <a:solidFill>
            <a:srgbClr val="00A94F"/>
          </a:solidFill>
          <a:ln/>
        </p:spPr>
      </p:sp>
      <p:sp>
        <p:nvSpPr>
          <p:cNvPr id="30" name="p2-n chip people"/>
          <p:cNvSpPr/>
          <p:nvPr/>
        </p:nvSpPr>
        <p:spPr>
          <a:xfrm>
            <a:off x="7935962" y="3365599"/>
            <a:ext cx="640457" cy="241300"/>
          </a:xfrm>
          <a:prstGeom prst="roundRect">
            <a:avLst>
              <a:gd name="adj" fmla="val 50000"/>
            </a:avLst>
          </a:prstGeom>
          <a:solidFill>
            <a:srgbClr val="E5F6EC"/>
          </a:solidFill>
          <a:ln/>
        </p:spPr>
      </p:sp>
      <p:sp>
        <p:nvSpPr>
          <p:cNvPr id="31" name="dot people"/>
          <p:cNvSpPr/>
          <p:nvPr/>
        </p:nvSpPr>
        <p:spPr>
          <a:xfrm>
            <a:off x="8037562" y="3457674"/>
            <a:ext cx="57150" cy="57150"/>
          </a:xfrm>
          <a:prstGeom prst="ellipse">
            <a:avLst/>
          </a:prstGeom>
          <a:solidFill>
            <a:srgbClr val="00A94F"/>
          </a:solidFill>
          <a:ln/>
        </p:spPr>
      </p:sp>
      <p:sp>
        <p:nvSpPr>
          <p:cNvPr id="32" name="p2-n chip people"/>
          <p:cNvSpPr/>
          <p:nvPr/>
        </p:nvSpPr>
        <p:spPr>
          <a:xfrm>
            <a:off x="7270304" y="2634655"/>
            <a:ext cx="750193" cy="241300"/>
          </a:xfrm>
          <a:prstGeom prst="roundRect">
            <a:avLst>
              <a:gd name="adj" fmla="val 50000"/>
            </a:avLst>
          </a:prstGeom>
          <a:solidFill>
            <a:srgbClr val="E5F6EC"/>
          </a:solidFill>
          <a:ln/>
        </p:spPr>
      </p:sp>
      <p:sp>
        <p:nvSpPr>
          <p:cNvPr id="33" name="dot people"/>
          <p:cNvSpPr/>
          <p:nvPr/>
        </p:nvSpPr>
        <p:spPr>
          <a:xfrm>
            <a:off x="7371904" y="2726730"/>
            <a:ext cx="57150" cy="57150"/>
          </a:xfrm>
          <a:prstGeom prst="ellipse">
            <a:avLst/>
          </a:prstGeom>
          <a:solidFill>
            <a:srgbClr val="00A94F"/>
          </a:solidFill>
          <a:ln/>
        </p:spPr>
      </p:sp>
      <p:pic>
        <p:nvPicPr>
          <p:cNvPr id="34" name="p2-n ring p2-core g" descr="p2-n ring p2-core 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64600" y="2578431"/>
            <a:ext cx="762000" cy="762000"/>
          </a:xfrm>
          <a:prstGeom prst="rect">
            <a:avLst/>
          </a:prstGeom>
        </p:spPr>
      </p:pic>
      <p:sp>
        <p:nvSpPr>
          <p:cNvPr id="35" name="p2-card b"/>
          <p:cNvSpPr/>
          <p:nvPr/>
        </p:nvSpPr>
        <p:spPr>
          <a:xfrm>
            <a:off x="609600" y="3808214"/>
            <a:ext cx="3429000" cy="1625600"/>
          </a:xfrm>
          <a:prstGeom prst="roundRect">
            <a:avLst>
              <a:gd name="adj" fmla="val 8594"/>
            </a:avLst>
          </a:prstGeom>
          <a:solidFill>
            <a:srgbClr val="EEF4FC"/>
          </a:solidFill>
          <a:ln/>
        </p:spPr>
      </p:sp>
      <p:sp>
        <p:nvSpPr>
          <p:cNvPr id="36" name="dot tech"/>
          <p:cNvSpPr/>
          <p:nvPr/>
        </p:nvSpPr>
        <p:spPr>
          <a:xfrm>
            <a:off x="787400" y="4024114"/>
            <a:ext cx="76200" cy="76200"/>
          </a:xfrm>
          <a:prstGeom prst="ellipse">
            <a:avLst/>
          </a:prstGeom>
          <a:solidFill>
            <a:srgbClr val="004B8D"/>
          </a:solidFill>
          <a:ln/>
        </p:spPr>
      </p:sp>
      <p:sp>
        <p:nvSpPr>
          <p:cNvPr id="37" name="p2-c"/>
          <p:cNvSpPr/>
          <p:nvPr/>
        </p:nvSpPr>
        <p:spPr>
          <a:xfrm>
            <a:off x="787400" y="4303514"/>
            <a:ext cx="1511300" cy="254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38" name="dot tech"/>
          <p:cNvSpPr/>
          <p:nvPr/>
        </p:nvSpPr>
        <p:spPr>
          <a:xfrm>
            <a:off x="1069181" y="4401939"/>
            <a:ext cx="57150" cy="57150"/>
          </a:xfrm>
          <a:prstGeom prst="ellipse">
            <a:avLst/>
          </a:prstGeom>
          <a:solidFill>
            <a:srgbClr val="004B8D"/>
          </a:solidFill>
          <a:ln/>
        </p:spPr>
      </p:sp>
      <p:sp>
        <p:nvSpPr>
          <p:cNvPr id="39" name="p2-c"/>
          <p:cNvSpPr/>
          <p:nvPr/>
        </p:nvSpPr>
        <p:spPr>
          <a:xfrm>
            <a:off x="2349500" y="4303514"/>
            <a:ext cx="1511300" cy="254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40" name="dot tech"/>
          <p:cNvSpPr/>
          <p:nvPr/>
        </p:nvSpPr>
        <p:spPr>
          <a:xfrm>
            <a:off x="2763341" y="4401939"/>
            <a:ext cx="57150" cy="57150"/>
          </a:xfrm>
          <a:prstGeom prst="ellipse">
            <a:avLst/>
          </a:prstGeom>
          <a:solidFill>
            <a:srgbClr val="004B8D"/>
          </a:solidFill>
          <a:ln/>
        </p:spPr>
      </p:sp>
      <p:sp>
        <p:nvSpPr>
          <p:cNvPr id="41" name="p2-c"/>
          <p:cNvSpPr/>
          <p:nvPr/>
        </p:nvSpPr>
        <p:spPr>
          <a:xfrm>
            <a:off x="787400" y="4608314"/>
            <a:ext cx="1511300" cy="254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42" name="dot tech"/>
          <p:cNvSpPr/>
          <p:nvPr/>
        </p:nvSpPr>
        <p:spPr>
          <a:xfrm>
            <a:off x="1198959" y="4706739"/>
            <a:ext cx="57150" cy="57150"/>
          </a:xfrm>
          <a:prstGeom prst="ellipse">
            <a:avLst/>
          </a:prstGeom>
          <a:solidFill>
            <a:srgbClr val="004B8D"/>
          </a:solidFill>
          <a:ln/>
        </p:spPr>
      </p:sp>
      <p:sp>
        <p:nvSpPr>
          <p:cNvPr id="43" name="p2-c"/>
          <p:cNvSpPr/>
          <p:nvPr/>
        </p:nvSpPr>
        <p:spPr>
          <a:xfrm>
            <a:off x="2349500" y="4608314"/>
            <a:ext cx="1511300" cy="254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44" name="dot tech"/>
          <p:cNvSpPr/>
          <p:nvPr/>
        </p:nvSpPr>
        <p:spPr>
          <a:xfrm>
            <a:off x="2709763" y="4706739"/>
            <a:ext cx="57150" cy="57150"/>
          </a:xfrm>
          <a:prstGeom prst="ellipse">
            <a:avLst/>
          </a:prstGeom>
          <a:solidFill>
            <a:srgbClr val="004B8D"/>
          </a:solidFill>
          <a:ln/>
        </p:spPr>
      </p:sp>
      <p:sp>
        <p:nvSpPr>
          <p:cNvPr id="45" name="p2-to"/>
          <p:cNvSpPr/>
          <p:nvPr/>
        </p:nvSpPr>
        <p:spPr>
          <a:xfrm>
            <a:off x="787400" y="4989314"/>
            <a:ext cx="3073400" cy="304800"/>
          </a:xfrm>
          <a:prstGeom prst="roundRect">
            <a:avLst>
              <a:gd name="adj" fmla="val 29167"/>
            </a:avLst>
          </a:prstGeom>
          <a:solidFill>
            <a:srgbClr val="FFFFFF"/>
          </a:solidFill>
          <a:ln/>
        </p:spPr>
      </p:sp>
      <p:sp>
        <p:nvSpPr>
          <p:cNvPr id="46" name="p2-ic"/>
          <p:cNvSpPr/>
          <p:nvPr/>
        </p:nvSpPr>
        <p:spPr>
          <a:xfrm>
            <a:off x="863600" y="5046464"/>
            <a:ext cx="190500" cy="190500"/>
          </a:xfrm>
          <a:prstGeom prst="ellipse">
            <a:avLst/>
          </a:prstGeom>
          <a:solidFill>
            <a:srgbClr val="004B8D"/>
          </a:solidFill>
          <a:ln/>
        </p:spPr>
      </p:sp>
      <p:pic>
        <p:nvPicPr>
          <p:cNvPr id="47" name="p2-arr" descr="p2-arr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8633" y="5107847"/>
            <a:ext cx="80433" cy="71967"/>
          </a:xfrm>
          <a:prstGeom prst="rect">
            <a:avLst/>
          </a:prstGeom>
        </p:spPr>
      </p:pic>
      <p:pic>
        <p:nvPicPr>
          <p:cNvPr id="48" name="p2-bridge" descr="p2-bridge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983567" y="4559631"/>
            <a:ext cx="791633" cy="127000"/>
          </a:xfrm>
          <a:prstGeom prst="rect">
            <a:avLst/>
          </a:prstGeom>
        </p:spPr>
      </p:pic>
      <p:sp>
        <p:nvSpPr>
          <p:cNvPr id="49" name="p2-panel"/>
          <p:cNvSpPr/>
          <p:nvPr/>
        </p:nvSpPr>
        <p:spPr>
          <a:xfrm>
            <a:off x="5111750" y="3814564"/>
            <a:ext cx="6464300" cy="1612900"/>
          </a:xfrm>
          <a:prstGeom prst="roundRect">
            <a:avLst>
              <a:gd name="adj" fmla="val 8268"/>
            </a:avLst>
          </a:prstGeom>
          <a:solidFill>
            <a:srgbClr val="FFFFFF"/>
          </a:solidFill>
          <a:ln w="12700">
            <a:solidFill>
              <a:srgbClr val="D8E0EB"/>
            </a:solidFill>
            <a:prstDash val="solid"/>
          </a:ln>
        </p:spPr>
      </p:sp>
      <p:pic>
        <p:nvPicPr>
          <p:cNvPr id="50" name="p2-badge b" descr="p2-badge b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62500" y="4280231"/>
            <a:ext cx="685800" cy="685800"/>
          </a:xfrm>
          <a:prstGeom prst="rect">
            <a:avLst/>
          </a:prstGeom>
        </p:spPr>
      </p:pic>
      <p:pic>
        <p:nvPicPr>
          <p:cNvPr id="51" name="p2-svg" descr="p2-sv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209367" y="3952147"/>
            <a:ext cx="4072467" cy="1341967"/>
          </a:xfrm>
          <a:prstGeom prst="rect">
            <a:avLst/>
          </a:prstGeom>
        </p:spPr>
      </p:pic>
      <p:sp>
        <p:nvSpPr>
          <p:cNvPr id="52" name="p2-n chip tech"/>
          <p:cNvSpPr/>
          <p:nvPr/>
        </p:nvSpPr>
        <p:spPr>
          <a:xfrm>
            <a:off x="7099300" y="4030464"/>
            <a:ext cx="1422400" cy="241300"/>
          </a:xfrm>
          <a:prstGeom prst="roundRect">
            <a:avLst>
              <a:gd name="adj" fmla="val 50000"/>
            </a:avLst>
          </a:prstGeom>
          <a:solidFill>
            <a:srgbClr val="EEF4FC"/>
          </a:solidFill>
          <a:ln/>
        </p:spPr>
      </p:sp>
      <p:sp>
        <p:nvSpPr>
          <p:cNvPr id="53" name="dot tech"/>
          <p:cNvSpPr/>
          <p:nvPr/>
        </p:nvSpPr>
        <p:spPr>
          <a:xfrm>
            <a:off x="7357666" y="4122539"/>
            <a:ext cx="57150" cy="57150"/>
          </a:xfrm>
          <a:prstGeom prst="ellipse">
            <a:avLst/>
          </a:prstGeom>
          <a:solidFill>
            <a:srgbClr val="004B8D"/>
          </a:solidFill>
          <a:ln/>
        </p:spPr>
      </p:sp>
      <p:sp>
        <p:nvSpPr>
          <p:cNvPr id="54" name="p2-n chip tech"/>
          <p:cNvSpPr/>
          <p:nvPr/>
        </p:nvSpPr>
        <p:spPr>
          <a:xfrm>
            <a:off x="9969500" y="4030464"/>
            <a:ext cx="1422400" cy="241300"/>
          </a:xfrm>
          <a:prstGeom prst="roundRect">
            <a:avLst>
              <a:gd name="adj" fmla="val 50000"/>
            </a:avLst>
          </a:prstGeom>
          <a:solidFill>
            <a:srgbClr val="EEF4FC"/>
          </a:solidFill>
          <a:ln/>
        </p:spPr>
      </p:sp>
      <p:sp>
        <p:nvSpPr>
          <p:cNvPr id="55" name="dot tech"/>
          <p:cNvSpPr/>
          <p:nvPr/>
        </p:nvSpPr>
        <p:spPr>
          <a:xfrm>
            <a:off x="10200084" y="4122539"/>
            <a:ext cx="57150" cy="57150"/>
          </a:xfrm>
          <a:prstGeom prst="ellipse">
            <a:avLst/>
          </a:prstGeom>
          <a:solidFill>
            <a:srgbClr val="004B8D"/>
          </a:solidFill>
          <a:ln/>
        </p:spPr>
      </p:sp>
      <p:sp>
        <p:nvSpPr>
          <p:cNvPr id="56" name="p2-n chip tech"/>
          <p:cNvSpPr/>
          <p:nvPr/>
        </p:nvSpPr>
        <p:spPr>
          <a:xfrm>
            <a:off x="7099300" y="4970264"/>
            <a:ext cx="1422400" cy="241300"/>
          </a:xfrm>
          <a:prstGeom prst="roundRect">
            <a:avLst>
              <a:gd name="adj" fmla="val 50000"/>
            </a:avLst>
          </a:prstGeom>
          <a:solidFill>
            <a:srgbClr val="EEF4FC"/>
          </a:solidFill>
          <a:ln/>
        </p:spPr>
      </p:sp>
      <p:sp>
        <p:nvSpPr>
          <p:cNvPr id="57" name="dot tech"/>
          <p:cNvSpPr/>
          <p:nvPr/>
        </p:nvSpPr>
        <p:spPr>
          <a:xfrm>
            <a:off x="7288213" y="5062339"/>
            <a:ext cx="57150" cy="57150"/>
          </a:xfrm>
          <a:prstGeom prst="ellipse">
            <a:avLst/>
          </a:prstGeom>
          <a:solidFill>
            <a:srgbClr val="004B8D"/>
          </a:solidFill>
          <a:ln/>
        </p:spPr>
      </p:sp>
      <p:sp>
        <p:nvSpPr>
          <p:cNvPr id="58" name="p2-n chip tech"/>
          <p:cNvSpPr/>
          <p:nvPr/>
        </p:nvSpPr>
        <p:spPr>
          <a:xfrm>
            <a:off x="9969500" y="4970264"/>
            <a:ext cx="1422400" cy="241300"/>
          </a:xfrm>
          <a:prstGeom prst="roundRect">
            <a:avLst>
              <a:gd name="adj" fmla="val 50000"/>
            </a:avLst>
          </a:prstGeom>
          <a:solidFill>
            <a:srgbClr val="EEF4FC"/>
          </a:solidFill>
          <a:ln/>
        </p:spPr>
      </p:sp>
      <p:sp>
        <p:nvSpPr>
          <p:cNvPr id="59" name="dot tech"/>
          <p:cNvSpPr/>
          <p:nvPr/>
        </p:nvSpPr>
        <p:spPr>
          <a:xfrm>
            <a:off x="10227866" y="5062339"/>
            <a:ext cx="57150" cy="57150"/>
          </a:xfrm>
          <a:prstGeom prst="ellipse">
            <a:avLst/>
          </a:prstGeom>
          <a:solidFill>
            <a:srgbClr val="004B8D"/>
          </a:solidFill>
          <a:ln/>
        </p:spPr>
      </p:sp>
      <p:pic>
        <p:nvPicPr>
          <p:cNvPr id="60" name="p2-n ring p2-core b" descr="p2-n ring p2-core b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864600" y="4242131"/>
            <a:ext cx="762000" cy="762000"/>
          </a:xfrm>
          <a:prstGeom prst="rect">
            <a:avLst/>
          </a:prstGeom>
        </p:spPr>
      </p:pic>
      <p:sp>
        <p:nvSpPr>
          <p:cNvPr id="61" name="key"/>
          <p:cNvSpPr/>
          <p:nvPr/>
        </p:nvSpPr>
        <p:spPr>
          <a:xfrm>
            <a:off x="609600" y="5535414"/>
            <a:ext cx="10972800" cy="807641"/>
          </a:xfrm>
          <a:prstGeom prst="roundRect">
            <a:avLst>
              <a:gd name="adj" fmla="val 17297"/>
            </a:avLst>
          </a:prstGeom>
          <a:solidFill>
            <a:srgbClr val="0B2147"/>
          </a:solidFill>
          <a:ln/>
        </p:spPr>
      </p:sp>
      <p:sp>
        <p:nvSpPr>
          <p:cNvPr id="62" name="i"/>
          <p:cNvSpPr/>
          <p:nvPr/>
        </p:nvSpPr>
        <p:spPr>
          <a:xfrm>
            <a:off x="863600" y="5907484"/>
            <a:ext cx="63500" cy="63500"/>
          </a:xfrm>
          <a:prstGeom prst="ellipse">
            <a:avLst/>
          </a:prstGeom>
          <a:solidFill>
            <a:srgbClr val="00A94F"/>
          </a:solidFill>
          <a:ln/>
        </p:spPr>
      </p:sp>
      <p:sp>
        <p:nvSpPr>
          <p:cNvPr id="63" name="b"/>
          <p:cNvSpPr/>
          <p:nvPr/>
        </p:nvSpPr>
        <p:spPr>
          <a:xfrm>
            <a:off x="927100" y="5932884"/>
            <a:ext cx="88900" cy="12700"/>
          </a:xfrm>
          <a:prstGeom prst="rect">
            <a:avLst/>
          </a:prstGeom>
          <a:solidFill>
            <a:srgbClr val="C3CEDD"/>
          </a:solidFill>
          <a:ln/>
        </p:spPr>
      </p:sp>
      <p:sp>
        <p:nvSpPr>
          <p:cNvPr id="64" name="i"/>
          <p:cNvSpPr/>
          <p:nvPr/>
        </p:nvSpPr>
        <p:spPr>
          <a:xfrm>
            <a:off x="1016000" y="5907484"/>
            <a:ext cx="63500" cy="63500"/>
          </a:xfrm>
          <a:prstGeom prst="ellipse">
            <a:avLst/>
          </a:prstGeom>
          <a:solidFill>
            <a:srgbClr val="004B8D"/>
          </a:solidFill>
          <a:ln/>
        </p:spPr>
      </p:sp>
      <p:sp>
        <p:nvSpPr>
          <p:cNvPr id="65" name="b"/>
          <p:cNvSpPr/>
          <p:nvPr/>
        </p:nvSpPr>
        <p:spPr>
          <a:xfrm>
            <a:off x="1079500" y="5932884"/>
            <a:ext cx="88900" cy="12700"/>
          </a:xfrm>
          <a:prstGeom prst="rect">
            <a:avLst/>
          </a:prstGeom>
          <a:solidFill>
            <a:srgbClr val="C3CEDD"/>
          </a:solidFill>
          <a:ln/>
        </p:spPr>
      </p:sp>
      <p:sp>
        <p:nvSpPr>
          <p:cNvPr id="66" name="i"/>
          <p:cNvSpPr/>
          <p:nvPr/>
        </p:nvSpPr>
        <p:spPr>
          <a:xfrm>
            <a:off x="1168400" y="5907484"/>
            <a:ext cx="63500" cy="63500"/>
          </a:xfrm>
          <a:prstGeom prst="ellipse">
            <a:avLst/>
          </a:prstGeom>
          <a:solidFill>
            <a:srgbClr val="FDBB30"/>
          </a:solidFill>
          <a:ln/>
        </p:spPr>
      </p:sp>
      <p:sp>
        <p:nvSpPr>
          <p:cNvPr id="67" name="02"/>
          <p:cNvSpPr txBox="1"/>
          <p:nvPr/>
        </p:nvSpPr>
        <p:spPr>
          <a:xfrm>
            <a:off x="1066800" y="419100"/>
            <a:ext cx="238026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100" spc="22" kern="0" dirty="0">
                <a:solidFill>
                  <a:srgbClr val="004B8D"/>
                </a:solidFill>
                <a:latin typeface="Pretendard ExtraBold" pitchFamily="34" charset="0"/>
                <a:ea typeface="Pretendard ExtraBold" pitchFamily="34" charset="-127"/>
                <a:cs typeface="Pretendard ExtraBold" pitchFamily="34" charset="-120"/>
              </a:rPr>
              <a:t>02</a:t>
            </a:r>
            <a:endParaRPr lang="en-US" sz="1100" dirty="0"/>
          </a:p>
        </p:txBody>
      </p:sp>
      <p:sp>
        <p:nvSpPr>
          <p:cNvPr id="68" name="PT 주제 2. 가치관과 핵심키워드의 연결점 &amp; 입사 후 실천"/>
          <p:cNvSpPr txBox="1"/>
          <p:nvPr/>
        </p:nvSpPr>
        <p:spPr>
          <a:xfrm>
            <a:off x="1342926" y="419100"/>
            <a:ext cx="3230880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100" spc="-11" kern="0" dirty="0">
                <a:solidFill>
                  <a:srgbClr val="8691A5"/>
                </a:solidFill>
                <a:latin typeface="Pretendard SemiBold" pitchFamily="34" charset="0"/>
                <a:ea typeface="Pretendard SemiBold" pitchFamily="34" charset="-127"/>
                <a:cs typeface="Pretendard SemiBold" pitchFamily="34" charset="-120"/>
              </a:rPr>
              <a:t>PT 주제 2. 가치관과 핵심키워드의 연결점 &amp; 입사 후 실천</a:t>
            </a:r>
            <a:endParaRPr lang="en-US" sz="1100" dirty="0"/>
          </a:p>
        </p:txBody>
      </p:sp>
      <p:sp>
        <p:nvSpPr>
          <p:cNvPr id="69" name="제가 중요하게 생각하는 ‘협업’의 가치는"/>
          <p:cNvSpPr txBox="1"/>
          <p:nvPr/>
        </p:nvSpPr>
        <p:spPr>
          <a:xfrm>
            <a:off x="609600" y="774005"/>
            <a:ext cx="3195437" cy="241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600" spc="-32" kern="0" dirty="0">
                <a:solidFill>
                  <a:srgbClr val="4B5568"/>
                </a:solidFill>
                <a:latin typeface="Pretendard SemiBold" pitchFamily="34" charset="0"/>
                <a:ea typeface="Pretendard SemiBold" pitchFamily="34" charset="-127"/>
                <a:cs typeface="Pretendard SemiBold" pitchFamily="34" charset="-120"/>
              </a:rPr>
              <a:t>제가 중요하게 생각하는 ‘협업’의 가치는</a:t>
            </a:r>
            <a:endParaRPr lang="en-US" sz="1600" dirty="0"/>
          </a:p>
        </p:txBody>
      </p:sp>
      <p:sp>
        <p:nvSpPr>
          <p:cNvPr id="70" name="현대엔지니어링의 ‘우리의 기술’과 맞닿아 있습니다."/>
          <p:cNvSpPr txBox="1"/>
          <p:nvPr/>
        </p:nvSpPr>
        <p:spPr>
          <a:xfrm>
            <a:off x="609600" y="1100336"/>
            <a:ext cx="7128339" cy="425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2800" spc="-98" kern="0" dirty="0">
                <a:solidFill>
                  <a:srgbClr val="0B2147"/>
                </a:solidFill>
                <a:latin typeface="Pretendard ExtraBold" pitchFamily="34" charset="0"/>
                <a:ea typeface="Pretendard ExtraBold" pitchFamily="34" charset="-127"/>
                <a:cs typeface="Pretendard ExtraBold" pitchFamily="34" charset="-120"/>
              </a:rPr>
              <a:t>현대엔지니어링의 ‘</a:t>
            </a:r>
            <a:pPr algn="l" indent="0" marL="0">
              <a:buNone/>
            </a:pPr>
            <a:r>
              <a:rPr lang="ko-KR" altLang="en-US" sz="2800" spc="-98" kern="0" dirty="0">
                <a:solidFill>
                  <a:srgbClr val="004B8D"/>
                </a:solidFill>
                <a:latin typeface="Pretendard ExtraBold" pitchFamily="34" charset="0"/>
                <a:ea typeface="Pretendard ExtraBold" pitchFamily="34" charset="-127"/>
                <a:cs typeface="Pretendard ExtraBold" pitchFamily="34" charset="-120"/>
              </a:rPr>
              <a:t>우리의 기술</a:t>
            </a:r>
            <a:pPr algn="l" indent="0" marL="0">
              <a:buNone/>
            </a:pPr>
            <a:r>
              <a:rPr lang="ko-KR" altLang="en-US" sz="2800" spc="-98" kern="0" dirty="0">
                <a:solidFill>
                  <a:srgbClr val="0B2147"/>
                </a:solidFill>
                <a:latin typeface="Pretendard ExtraBold" pitchFamily="34" charset="0"/>
                <a:ea typeface="Pretendard ExtraBold" pitchFamily="34" charset="-127"/>
                <a:cs typeface="Pretendard ExtraBold" pitchFamily="34" charset="-120"/>
              </a:rPr>
              <a:t>’과 맞닿아 있습니다.</a:t>
            </a:r>
            <a:endParaRPr lang="en-US" sz="2800" dirty="0"/>
          </a:p>
        </p:txBody>
      </p:sp>
      <p:sp>
        <p:nvSpPr>
          <p:cNvPr id="71" name="MY VALUES"/>
          <p:cNvSpPr txBox="1"/>
          <p:nvPr/>
        </p:nvSpPr>
        <p:spPr>
          <a:xfrm>
            <a:off x="609600" y="1834753"/>
            <a:ext cx="859234" cy="146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950" b="1" spc="114" kern="0" dirty="0">
                <a:solidFill>
                  <a:srgbClr val="2A78DD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MY VALUES</a:t>
            </a:r>
            <a:endParaRPr lang="en-US" sz="950" dirty="0"/>
          </a:p>
        </p:txBody>
      </p:sp>
      <p:sp>
        <p:nvSpPr>
          <p:cNvPr id="72" name="나의 가치관 · 공동의 목표를 공유하는 협업"/>
          <p:cNvSpPr txBox="1"/>
          <p:nvPr/>
        </p:nvSpPr>
        <p:spPr>
          <a:xfrm>
            <a:off x="1735534" y="1821061"/>
            <a:ext cx="2353852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100" spc="-22" kern="0" dirty="0">
                <a:solidFill>
                  <a:srgbClr val="0B2147"/>
                </a:solidFill>
                <a:latin typeface="Pretendard ExtraBold" pitchFamily="34" charset="0"/>
                <a:ea typeface="Pretendard ExtraBold" pitchFamily="34" charset="-127"/>
                <a:cs typeface="Pretendard ExtraBold" pitchFamily="34" charset="-120"/>
              </a:rPr>
              <a:t>나의 가치관</a:t>
            </a:r>
            <a:pPr algn="l" indent="0" marL="0">
              <a:buNone/>
            </a:pPr>
            <a:r>
              <a:rPr lang="ko-KR" altLang="en-US" sz="1100" spc="-22" kern="0" dirty="0">
                <a:solidFill>
                  <a:srgbClr val="4B5568"/>
                </a:solidFill>
                <a:latin typeface="Pretendard SemiBold" pitchFamily="34" charset="0"/>
                <a:ea typeface="Pretendard SemiBold" pitchFamily="34" charset="-127"/>
                <a:cs typeface="Pretendard SemiBold" pitchFamily="34" charset="-120"/>
              </a:rPr>
              <a:t> · 공동의 목표를 공유하는 협업</a:t>
            </a:r>
            <a:endParaRPr lang="en-US" sz="1100" dirty="0"/>
          </a:p>
        </p:txBody>
      </p:sp>
      <p:sp>
        <p:nvSpPr>
          <p:cNvPr id="73" name="현대엔지니어링"/>
          <p:cNvSpPr txBox="1"/>
          <p:nvPr/>
        </p:nvSpPr>
        <p:spPr>
          <a:xfrm>
            <a:off x="5105400" y="1834753"/>
            <a:ext cx="797620" cy="146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950" b="1" spc="19" kern="0" dirty="0">
                <a:solidFill>
                  <a:srgbClr val="2A78DD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현대엔지니어링</a:t>
            </a:r>
            <a:endParaRPr lang="en-US" sz="950" dirty="0"/>
          </a:p>
        </p:txBody>
      </p:sp>
      <p:sp>
        <p:nvSpPr>
          <p:cNvPr id="74" name="저는 ‘우리의 기술’을 이렇게 이해했습니다"/>
          <p:cNvSpPr txBox="1"/>
          <p:nvPr/>
        </p:nvSpPr>
        <p:spPr>
          <a:xfrm>
            <a:off x="6169720" y="1821061"/>
            <a:ext cx="2319986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100" spc="-22" kern="0" dirty="0">
                <a:solidFill>
                  <a:srgbClr val="4B5568"/>
                </a:solidFill>
                <a:latin typeface="Pretendard SemiBold" pitchFamily="34" charset="0"/>
                <a:ea typeface="Pretendard SemiBold" pitchFamily="34" charset="-127"/>
                <a:cs typeface="Pretendard SemiBold" pitchFamily="34" charset="-120"/>
              </a:rPr>
              <a:t>저는 ‘</a:t>
            </a:r>
            <a:pPr algn="l" indent="0" marL="0">
              <a:buNone/>
            </a:pPr>
            <a:r>
              <a:rPr lang="ko-KR" altLang="en-US" sz="1100" spc="-22" kern="0" dirty="0">
                <a:solidFill>
                  <a:srgbClr val="004B8D"/>
                </a:solidFill>
                <a:latin typeface="Pretendard ExtraBold" pitchFamily="34" charset="0"/>
                <a:ea typeface="Pretendard ExtraBold" pitchFamily="34" charset="-127"/>
                <a:cs typeface="Pretendard ExtraBold" pitchFamily="34" charset="-120"/>
              </a:rPr>
              <a:t>우리의 기술</a:t>
            </a:r>
            <a:pPr algn="l" indent="0" marL="0">
              <a:buNone/>
            </a:pPr>
            <a:r>
              <a:rPr lang="ko-KR" altLang="en-US" sz="1100" spc="-22" kern="0" dirty="0">
                <a:solidFill>
                  <a:srgbClr val="4B5568"/>
                </a:solidFill>
                <a:latin typeface="Pretendard SemiBold" pitchFamily="34" charset="0"/>
                <a:ea typeface="Pretendard SemiBold" pitchFamily="34" charset="-127"/>
                <a:cs typeface="Pretendard SemiBold" pitchFamily="34" charset="-120"/>
              </a:rPr>
              <a:t>’을 이렇게 이해했습니다</a:t>
            </a:r>
            <a:endParaRPr lang="en-US" sz="1100" dirty="0"/>
          </a:p>
        </p:txBody>
      </p:sp>
      <p:sp>
        <p:nvSpPr>
          <p:cNvPr id="75" name="사람의 연결"/>
          <p:cNvSpPr txBox="1"/>
          <p:nvPr/>
        </p:nvSpPr>
        <p:spPr>
          <a:xfrm>
            <a:off x="939800" y="2233414"/>
            <a:ext cx="87669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500" spc="-53" kern="0" dirty="0">
                <a:solidFill>
                  <a:srgbClr val="0B2147"/>
                </a:solidFill>
                <a:latin typeface="Pretendard ExtraBold" pitchFamily="34" charset="0"/>
                <a:ea typeface="Pretendard ExtraBold" pitchFamily="34" charset="-127"/>
                <a:cs typeface="Pretendard ExtraBold" pitchFamily="34" charset="-120"/>
              </a:rPr>
              <a:t>사람의 연결</a:t>
            </a:r>
            <a:endParaRPr lang="en-US" sz="1500" dirty="0"/>
          </a:p>
        </p:txBody>
      </p:sp>
      <p:sp>
        <p:nvSpPr>
          <p:cNvPr id="76" name="참신성"/>
          <p:cNvSpPr txBox="1"/>
          <p:nvPr/>
        </p:nvSpPr>
        <p:spPr>
          <a:xfrm>
            <a:off x="1379438" y="2681089"/>
            <a:ext cx="372467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000" b="1" spc="-20" kern="0" dirty="0">
                <a:solidFill>
                  <a:srgbClr val="0B2147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참신성</a:t>
            </a:r>
            <a:endParaRPr lang="en-US" sz="1000" dirty="0"/>
          </a:p>
        </p:txBody>
      </p:sp>
      <p:sp>
        <p:nvSpPr>
          <p:cNvPr id="77" name="VS"/>
          <p:cNvSpPr txBox="1"/>
          <p:nvPr/>
        </p:nvSpPr>
        <p:spPr>
          <a:xfrm>
            <a:off x="2235994" y="2685653"/>
            <a:ext cx="227012" cy="146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950" spc="38" kern="0" dirty="0">
                <a:solidFill>
                  <a:srgbClr val="8691A5"/>
                </a:solidFill>
                <a:latin typeface="Pretendard ExtraBold" pitchFamily="34" charset="0"/>
                <a:ea typeface="Pretendard ExtraBold" pitchFamily="34" charset="-127"/>
                <a:cs typeface="Pretendard ExtraBold" pitchFamily="34" charset="-120"/>
              </a:rPr>
              <a:t>VS</a:t>
            </a:r>
            <a:endParaRPr lang="en-US" sz="950" dirty="0"/>
          </a:p>
        </p:txBody>
      </p:sp>
      <p:sp>
        <p:nvSpPr>
          <p:cNvPr id="78" name="구현 가능성"/>
          <p:cNvSpPr txBox="1"/>
          <p:nvPr/>
        </p:nvSpPr>
        <p:spPr>
          <a:xfrm>
            <a:off x="2947095" y="2681089"/>
            <a:ext cx="613668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000" b="1" spc="-20" kern="0" dirty="0">
                <a:solidFill>
                  <a:srgbClr val="0B2147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구현 가능성</a:t>
            </a:r>
            <a:endParaRPr lang="en-US" sz="1000" dirty="0"/>
          </a:p>
        </p:txBody>
      </p:sp>
      <p:sp>
        <p:nvSpPr>
          <p:cNvPr id="79" name="서로 다른 의견"/>
          <p:cNvSpPr txBox="1"/>
          <p:nvPr/>
        </p:nvSpPr>
        <p:spPr>
          <a:xfrm>
            <a:off x="787400" y="2944614"/>
            <a:ext cx="749399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000" spc="-20" kern="0" dirty="0">
                <a:solidFill>
                  <a:srgbClr val="4B5568"/>
                </a:solidFill>
                <a:latin typeface="Pretendard SemiBold" pitchFamily="34" charset="0"/>
                <a:ea typeface="Pretendard SemiBold" pitchFamily="34" charset="-127"/>
                <a:cs typeface="Pretendard SemiBold" pitchFamily="34" charset="-120"/>
              </a:rPr>
              <a:t>서로 다른 의견</a:t>
            </a:r>
            <a:endParaRPr lang="en-US" sz="1000" dirty="0"/>
          </a:p>
        </p:txBody>
      </p:sp>
      <p:sp>
        <p:nvSpPr>
          <p:cNvPr id="80" name="공동의 기준으로 조율해 하나의 목표로"/>
          <p:cNvSpPr txBox="1"/>
          <p:nvPr/>
        </p:nvSpPr>
        <p:spPr>
          <a:xfrm>
            <a:off x="1130300" y="3334048"/>
            <a:ext cx="2189784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150" b="1" spc="-34" kern="0" dirty="0">
                <a:solidFill>
                  <a:srgbClr val="0B2147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공동의 기준으로 조율해 </a:t>
            </a:r>
            <a:pPr algn="l" indent="0" marL="0">
              <a:buNone/>
            </a:pPr>
            <a:r>
              <a:rPr lang="ko-KR" altLang="en-US" sz="1150" spc="-34" kern="0" dirty="0">
                <a:solidFill>
                  <a:srgbClr val="00A94F"/>
                </a:solidFill>
                <a:latin typeface="Pretendard ExtraBold" pitchFamily="34" charset="0"/>
                <a:ea typeface="Pretendard ExtraBold" pitchFamily="34" charset="-127"/>
                <a:cs typeface="Pretendard ExtraBold" pitchFamily="34" charset="-120"/>
              </a:rPr>
              <a:t>하나의 목표</a:t>
            </a:r>
            <a:pPr algn="l" indent="0" marL="0">
              <a:buNone/>
            </a:pPr>
            <a:r>
              <a:rPr lang="ko-KR" altLang="en-US" sz="1150" b="1" spc="-34" kern="0" dirty="0">
                <a:solidFill>
                  <a:srgbClr val="0B2147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로</a:t>
            </a:r>
            <a:endParaRPr lang="en-US" sz="1150" dirty="0"/>
          </a:p>
        </p:txBody>
      </p:sp>
      <p:sp>
        <p:nvSpPr>
          <p:cNvPr id="81" name="우리"/>
          <p:cNvSpPr txBox="1"/>
          <p:nvPr/>
        </p:nvSpPr>
        <p:spPr>
          <a:xfrm>
            <a:off x="4957068" y="2796679"/>
            <a:ext cx="347464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400" spc="-42" kern="0" dirty="0">
                <a:solidFill>
                  <a:srgbClr val="FFFFFF"/>
                </a:solidFill>
                <a:latin typeface="Pretendard ExtraBold" pitchFamily="34" charset="0"/>
                <a:ea typeface="Pretendard ExtraBold" pitchFamily="34" charset="-127"/>
                <a:cs typeface="Pretendard ExtraBold" pitchFamily="34" charset="-120"/>
              </a:rPr>
              <a:t>우리</a:t>
            </a:r>
            <a:endParaRPr lang="en-US" sz="1400" dirty="0"/>
          </a:p>
        </p:txBody>
      </p:sp>
      <p:sp>
        <p:nvSpPr>
          <p:cNvPr id="82" name="OUR"/>
          <p:cNvSpPr txBox="1"/>
          <p:nvPr/>
        </p:nvSpPr>
        <p:spPr>
          <a:xfrm>
            <a:off x="5537200" y="2568178"/>
            <a:ext cx="360759" cy="146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950" b="1" spc="152" kern="0" dirty="0">
                <a:solidFill>
                  <a:srgbClr val="00A94F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OUR</a:t>
            </a:r>
            <a:endParaRPr lang="en-US" sz="950" dirty="0"/>
          </a:p>
        </p:txBody>
      </p:sp>
      <p:sp>
        <p:nvSpPr>
          <p:cNvPr id="83" name="사람과"/>
          <p:cNvSpPr txBox="1"/>
          <p:nvPr/>
        </p:nvSpPr>
        <p:spPr>
          <a:xfrm>
            <a:off x="5537200" y="2781201"/>
            <a:ext cx="52476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500" spc="-53" kern="0" dirty="0">
                <a:solidFill>
                  <a:srgbClr val="0B2147"/>
                </a:solidFill>
                <a:latin typeface="Pretendard ExtraBold" pitchFamily="34" charset="0"/>
                <a:ea typeface="Pretendard ExtraBold" pitchFamily="34" charset="-127"/>
                <a:cs typeface="Pretendard ExtraBold" pitchFamily="34" charset="-120"/>
              </a:rPr>
              <a:t>사람과</a:t>
            </a:r>
            <a:endParaRPr lang="en-US" sz="1500" dirty="0"/>
          </a:p>
        </p:txBody>
      </p:sp>
      <p:sp>
        <p:nvSpPr>
          <p:cNvPr id="84" name="전문성의 연결"/>
          <p:cNvSpPr txBox="1"/>
          <p:nvPr/>
        </p:nvSpPr>
        <p:spPr>
          <a:xfrm>
            <a:off x="5537200" y="3019326"/>
            <a:ext cx="104288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500" spc="-53" kern="0" dirty="0">
                <a:solidFill>
                  <a:srgbClr val="0B2147"/>
                </a:solidFill>
                <a:latin typeface="Pretendard ExtraBold" pitchFamily="34" charset="0"/>
                <a:ea typeface="Pretendard ExtraBold" pitchFamily="34" charset="-127"/>
                <a:cs typeface="Pretendard ExtraBold" pitchFamily="34" charset="-120"/>
              </a:rPr>
              <a:t>전문성의 연결</a:t>
            </a:r>
            <a:endParaRPr lang="en-US" sz="1500" dirty="0"/>
          </a:p>
        </p:txBody>
      </p:sp>
      <p:sp>
        <p:nvSpPr>
          <p:cNvPr id="85" name="설계"/>
          <p:cNvSpPr txBox="1"/>
          <p:nvPr/>
        </p:nvSpPr>
        <p:spPr>
          <a:xfrm>
            <a:off x="9189789" y="2223889"/>
            <a:ext cx="270371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000" b="1" dirty="0">
                <a:solidFill>
                  <a:srgbClr val="0B6B33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설계</a:t>
            </a:r>
            <a:endParaRPr lang="en-US" sz="1000" dirty="0"/>
          </a:p>
        </p:txBody>
      </p:sp>
      <p:sp>
        <p:nvSpPr>
          <p:cNvPr id="86" name="시공"/>
          <p:cNvSpPr txBox="1"/>
          <p:nvPr/>
        </p:nvSpPr>
        <p:spPr>
          <a:xfrm>
            <a:off x="10789989" y="2675930"/>
            <a:ext cx="270371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000" b="1" dirty="0">
                <a:solidFill>
                  <a:srgbClr val="0B6B33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시공</a:t>
            </a:r>
            <a:endParaRPr lang="en-US" sz="1000" dirty="0"/>
          </a:p>
        </p:txBody>
      </p:sp>
      <p:sp>
        <p:nvSpPr>
          <p:cNvPr id="87" name="유관부서"/>
          <p:cNvSpPr txBox="1"/>
          <p:nvPr/>
        </p:nvSpPr>
        <p:spPr>
          <a:xfrm>
            <a:off x="10069364" y="3406874"/>
            <a:ext cx="489843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000" b="1" dirty="0">
                <a:solidFill>
                  <a:srgbClr val="0B6B33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유관부서</a:t>
            </a:r>
            <a:endParaRPr lang="en-US" sz="1000" dirty="0"/>
          </a:p>
        </p:txBody>
      </p:sp>
      <p:sp>
        <p:nvSpPr>
          <p:cNvPr id="88" name="발주처"/>
          <p:cNvSpPr txBox="1"/>
          <p:nvPr/>
        </p:nvSpPr>
        <p:spPr>
          <a:xfrm>
            <a:off x="8145512" y="3406874"/>
            <a:ext cx="380107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000" b="1" dirty="0">
                <a:solidFill>
                  <a:srgbClr val="0B6B33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발주처</a:t>
            </a:r>
            <a:endParaRPr lang="en-US" sz="1000" dirty="0"/>
          </a:p>
        </p:txBody>
      </p:sp>
      <p:sp>
        <p:nvSpPr>
          <p:cNvPr id="89" name="협력업체"/>
          <p:cNvSpPr txBox="1"/>
          <p:nvPr/>
        </p:nvSpPr>
        <p:spPr>
          <a:xfrm>
            <a:off x="7479854" y="2675930"/>
            <a:ext cx="489843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000" b="1" dirty="0">
                <a:solidFill>
                  <a:srgbClr val="0B6B33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협력업체</a:t>
            </a:r>
            <a:endParaRPr lang="en-US" sz="1000" dirty="0"/>
          </a:p>
        </p:txBody>
      </p:sp>
      <p:sp>
        <p:nvSpPr>
          <p:cNvPr id="90" name="하나의 목표"/>
          <p:cNvSpPr txBox="1"/>
          <p:nvPr/>
        </p:nvSpPr>
        <p:spPr>
          <a:xfrm>
            <a:off x="8966895" y="2704009"/>
            <a:ext cx="557411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900" b="1" spc="-18" kern="0" dirty="0">
                <a:solidFill>
                  <a:srgbClr val="00A94F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하나의 목표</a:t>
            </a:r>
            <a:endParaRPr lang="en-US" sz="900" dirty="0"/>
          </a:p>
        </p:txBody>
      </p:sp>
      <p:sp>
        <p:nvSpPr>
          <p:cNvPr id="91" name="프로젝트"/>
          <p:cNvSpPr txBox="1"/>
          <p:nvPr/>
        </p:nvSpPr>
        <p:spPr>
          <a:xfrm>
            <a:off x="8968879" y="2853829"/>
            <a:ext cx="553343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1200" spc="-48" kern="0" dirty="0">
                <a:solidFill>
                  <a:srgbClr val="0B2147"/>
                </a:solidFill>
                <a:latin typeface="Pretendard ExtraBold" pitchFamily="34" charset="0"/>
                <a:ea typeface="Pretendard ExtraBold" pitchFamily="34" charset="-127"/>
                <a:cs typeface="Pretendard ExtraBold" pitchFamily="34" charset="-120"/>
              </a:rPr>
              <a:t>프로젝트</a:t>
            </a:r>
            <a:endParaRPr lang="en-US" sz="1200" dirty="0"/>
          </a:p>
        </p:txBody>
      </p:sp>
      <p:sp>
        <p:nvSpPr>
          <p:cNvPr id="92" name="완수"/>
          <p:cNvSpPr txBox="1"/>
          <p:nvPr/>
        </p:nvSpPr>
        <p:spPr>
          <a:xfrm>
            <a:off x="9094490" y="3029049"/>
            <a:ext cx="302121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1200" spc="-48" kern="0" dirty="0">
                <a:solidFill>
                  <a:srgbClr val="0B2147"/>
                </a:solidFill>
                <a:latin typeface="Pretendard ExtraBold" pitchFamily="34" charset="0"/>
                <a:ea typeface="Pretendard ExtraBold" pitchFamily="34" charset="-127"/>
                <a:cs typeface="Pretendard ExtraBold" pitchFamily="34" charset="-120"/>
              </a:rPr>
              <a:t>완수</a:t>
            </a:r>
            <a:endParaRPr lang="en-US" sz="1200" dirty="0"/>
          </a:p>
        </p:txBody>
      </p:sp>
      <p:sp>
        <p:nvSpPr>
          <p:cNvPr id="93" name="강점의 연결"/>
          <p:cNvSpPr txBox="1"/>
          <p:nvPr/>
        </p:nvSpPr>
        <p:spPr>
          <a:xfrm>
            <a:off x="939800" y="3947914"/>
            <a:ext cx="87669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500" spc="-53" kern="0" dirty="0">
                <a:solidFill>
                  <a:srgbClr val="0B2147"/>
                </a:solidFill>
                <a:latin typeface="Pretendard ExtraBold" pitchFamily="34" charset="0"/>
                <a:ea typeface="Pretendard ExtraBold" pitchFamily="34" charset="-127"/>
                <a:cs typeface="Pretendard ExtraBold" pitchFamily="34" charset="-120"/>
              </a:rPr>
              <a:t>강점의 연결</a:t>
            </a:r>
            <a:endParaRPr lang="en-US" sz="1500" dirty="0"/>
          </a:p>
        </p:txBody>
      </p:sp>
      <p:sp>
        <p:nvSpPr>
          <p:cNvPr id="94" name="Dynamo 자동화"/>
          <p:cNvSpPr txBox="1"/>
          <p:nvPr/>
        </p:nvSpPr>
        <p:spPr>
          <a:xfrm>
            <a:off x="1189831" y="4351139"/>
            <a:ext cx="877788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000" b="1" spc="-20" kern="0" dirty="0">
                <a:solidFill>
                  <a:srgbClr val="0B2147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Dynamo 자동화</a:t>
            </a:r>
            <a:endParaRPr lang="en-US" sz="1000" dirty="0"/>
          </a:p>
        </p:txBody>
      </p:sp>
      <p:sp>
        <p:nvSpPr>
          <p:cNvPr id="95" name="모듈러 설계"/>
          <p:cNvSpPr txBox="1"/>
          <p:nvPr/>
        </p:nvSpPr>
        <p:spPr>
          <a:xfrm>
            <a:off x="2883991" y="4351139"/>
            <a:ext cx="613668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000" b="1" spc="-20" kern="0" dirty="0">
                <a:solidFill>
                  <a:srgbClr val="0B2147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모듈러 설계</a:t>
            </a:r>
            <a:endParaRPr lang="en-US" sz="1000" dirty="0"/>
          </a:p>
        </p:txBody>
      </p:sp>
      <p:sp>
        <p:nvSpPr>
          <p:cNvPr id="96" name="BIM 모델링"/>
          <p:cNvSpPr txBox="1"/>
          <p:nvPr/>
        </p:nvSpPr>
        <p:spPr>
          <a:xfrm>
            <a:off x="1319609" y="4655939"/>
            <a:ext cx="618331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000" b="1" spc="-20" kern="0" dirty="0">
                <a:solidFill>
                  <a:srgbClr val="0B2147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BIM 모델링</a:t>
            </a:r>
            <a:endParaRPr lang="en-US" sz="1000" dirty="0"/>
          </a:p>
        </p:txBody>
      </p:sp>
      <p:sp>
        <p:nvSpPr>
          <p:cNvPr id="97" name="시나리오 구성"/>
          <p:cNvSpPr txBox="1"/>
          <p:nvPr/>
        </p:nvSpPr>
        <p:spPr>
          <a:xfrm>
            <a:off x="2830413" y="4655939"/>
            <a:ext cx="720923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000" b="1" spc="-20" kern="0" dirty="0">
                <a:solidFill>
                  <a:srgbClr val="0B2147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시나리오 구성</a:t>
            </a:r>
            <a:endParaRPr lang="en-US" sz="1000" dirty="0"/>
          </a:p>
        </p:txBody>
      </p:sp>
      <p:sp>
        <p:nvSpPr>
          <p:cNvPr id="98" name="각자의 강점을 모아 하나의 성과로"/>
          <p:cNvSpPr txBox="1"/>
          <p:nvPr/>
        </p:nvSpPr>
        <p:spPr>
          <a:xfrm>
            <a:off x="1130300" y="5048548"/>
            <a:ext cx="1931481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150" b="1" spc="-34" kern="0" dirty="0">
                <a:solidFill>
                  <a:srgbClr val="0B2147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각자의 강점을 모아 </a:t>
            </a:r>
            <a:pPr algn="l" indent="0" marL="0">
              <a:buNone/>
            </a:pPr>
            <a:r>
              <a:rPr lang="ko-KR" altLang="en-US" sz="1150" spc="-34" kern="0" dirty="0">
                <a:solidFill>
                  <a:srgbClr val="004B8D"/>
                </a:solidFill>
                <a:latin typeface="Pretendard ExtraBold" pitchFamily="34" charset="0"/>
                <a:ea typeface="Pretendard ExtraBold" pitchFamily="34" charset="-127"/>
                <a:cs typeface="Pretendard ExtraBold" pitchFamily="34" charset="-120"/>
              </a:rPr>
              <a:t>하나의 성과</a:t>
            </a:r>
            <a:pPr algn="l" indent="0" marL="0">
              <a:buNone/>
            </a:pPr>
            <a:r>
              <a:rPr lang="ko-KR" altLang="en-US" sz="1150" b="1" spc="-34" kern="0" dirty="0">
                <a:solidFill>
                  <a:srgbClr val="0B2147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로</a:t>
            </a:r>
            <a:endParaRPr lang="en-US" sz="1150" dirty="0"/>
          </a:p>
        </p:txBody>
      </p:sp>
      <p:sp>
        <p:nvSpPr>
          <p:cNvPr id="99" name="기술"/>
          <p:cNvSpPr txBox="1"/>
          <p:nvPr/>
        </p:nvSpPr>
        <p:spPr>
          <a:xfrm>
            <a:off x="4957068" y="4511179"/>
            <a:ext cx="347464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400" spc="-42" kern="0" dirty="0">
                <a:solidFill>
                  <a:srgbClr val="FFFFFF"/>
                </a:solidFill>
                <a:latin typeface="Pretendard ExtraBold" pitchFamily="34" charset="0"/>
                <a:ea typeface="Pretendard ExtraBold" pitchFamily="34" charset="-127"/>
                <a:cs typeface="Pretendard ExtraBold" pitchFamily="34" charset="-120"/>
              </a:rPr>
              <a:t>기술</a:t>
            </a:r>
            <a:endParaRPr lang="en-US" sz="1400" dirty="0"/>
          </a:p>
        </p:txBody>
      </p:sp>
      <p:sp>
        <p:nvSpPr>
          <p:cNvPr id="100" name="TECHNOLOGY"/>
          <p:cNvSpPr txBox="1"/>
          <p:nvPr/>
        </p:nvSpPr>
        <p:spPr>
          <a:xfrm>
            <a:off x="5537200" y="4282678"/>
            <a:ext cx="1075172" cy="146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950" b="1" spc="152" kern="0" dirty="0">
                <a:solidFill>
                  <a:srgbClr val="004B8D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TECHNOLOGY</a:t>
            </a:r>
            <a:endParaRPr lang="en-US" sz="950" dirty="0"/>
          </a:p>
        </p:txBody>
      </p:sp>
      <p:sp>
        <p:nvSpPr>
          <p:cNvPr id="101" name="미래 가치를"/>
          <p:cNvSpPr txBox="1"/>
          <p:nvPr/>
        </p:nvSpPr>
        <p:spPr>
          <a:xfrm>
            <a:off x="5537200" y="4495701"/>
            <a:ext cx="87669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500" spc="-53" kern="0" dirty="0">
                <a:solidFill>
                  <a:srgbClr val="0B2147"/>
                </a:solidFill>
                <a:latin typeface="Pretendard ExtraBold" pitchFamily="34" charset="0"/>
                <a:ea typeface="Pretendard ExtraBold" pitchFamily="34" charset="-127"/>
                <a:cs typeface="Pretendard ExtraBold" pitchFamily="34" charset="-120"/>
              </a:rPr>
              <a:t>미래 가치를</a:t>
            </a:r>
            <a:endParaRPr lang="en-US" sz="1500" dirty="0"/>
          </a:p>
        </p:txBody>
      </p:sp>
      <p:sp>
        <p:nvSpPr>
          <p:cNvPr id="102" name="만드는 원동력"/>
          <p:cNvSpPr txBox="1"/>
          <p:nvPr/>
        </p:nvSpPr>
        <p:spPr>
          <a:xfrm>
            <a:off x="5537200" y="4733826"/>
            <a:ext cx="104288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500" spc="-53" kern="0" dirty="0">
                <a:solidFill>
                  <a:srgbClr val="0B2147"/>
                </a:solidFill>
                <a:latin typeface="Pretendard ExtraBold" pitchFamily="34" charset="0"/>
                <a:ea typeface="Pretendard ExtraBold" pitchFamily="34" charset="-127"/>
                <a:cs typeface="Pretendard ExtraBold" pitchFamily="34" charset="-120"/>
              </a:rPr>
              <a:t>만드는 원동력</a:t>
            </a:r>
            <a:endParaRPr lang="en-US" sz="1500" dirty="0"/>
          </a:p>
        </p:txBody>
      </p:sp>
      <p:sp>
        <p:nvSpPr>
          <p:cNvPr id="103" name="에너지 원천기술"/>
          <p:cNvSpPr txBox="1"/>
          <p:nvPr/>
        </p:nvSpPr>
        <p:spPr>
          <a:xfrm>
            <a:off x="7465616" y="4071739"/>
            <a:ext cx="84842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000" b="1" dirty="0">
                <a:solidFill>
                  <a:srgbClr val="004B8D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에너지 원천기술</a:t>
            </a:r>
            <a:endParaRPr lang="en-US" sz="1000" dirty="0"/>
          </a:p>
        </p:txBody>
      </p:sp>
      <p:sp>
        <p:nvSpPr>
          <p:cNvPr id="104" name="글로벌 EPC 역량"/>
          <p:cNvSpPr txBox="1"/>
          <p:nvPr/>
        </p:nvSpPr>
        <p:spPr>
          <a:xfrm>
            <a:off x="10308034" y="4071739"/>
            <a:ext cx="904373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000" b="1" dirty="0">
                <a:solidFill>
                  <a:srgbClr val="004B8D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글로벌 EPC 역량</a:t>
            </a:r>
            <a:endParaRPr lang="en-US" sz="1000" dirty="0"/>
          </a:p>
        </p:txBody>
      </p:sp>
      <p:sp>
        <p:nvSpPr>
          <p:cNvPr id="105" name="첨단 산업건축 기술"/>
          <p:cNvSpPr txBox="1"/>
          <p:nvPr/>
        </p:nvSpPr>
        <p:spPr>
          <a:xfrm>
            <a:off x="7396162" y="5011539"/>
            <a:ext cx="992822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000" b="1" dirty="0">
                <a:solidFill>
                  <a:srgbClr val="004B8D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첨단 산업건축 기술</a:t>
            </a:r>
            <a:endParaRPr lang="en-US" sz="1000" dirty="0"/>
          </a:p>
        </p:txBody>
      </p:sp>
      <p:sp>
        <p:nvSpPr>
          <p:cNvPr id="106" name="스마트건설 기술"/>
          <p:cNvSpPr txBox="1"/>
          <p:nvPr/>
        </p:nvSpPr>
        <p:spPr>
          <a:xfrm>
            <a:off x="10335816" y="5011539"/>
            <a:ext cx="84842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000" b="1" dirty="0">
                <a:solidFill>
                  <a:srgbClr val="004B8D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스마트건설 기술</a:t>
            </a:r>
            <a:endParaRPr lang="en-US" sz="1000" dirty="0"/>
          </a:p>
        </p:txBody>
      </p:sp>
      <p:sp>
        <p:nvSpPr>
          <p:cNvPr id="107" name="기술의 연결"/>
          <p:cNvSpPr txBox="1"/>
          <p:nvPr/>
        </p:nvSpPr>
        <p:spPr>
          <a:xfrm>
            <a:off x="8966895" y="4367709"/>
            <a:ext cx="557411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900" b="1" spc="-18" kern="0" dirty="0">
                <a:solidFill>
                  <a:srgbClr val="004B8D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기술의 연결</a:t>
            </a:r>
            <a:endParaRPr lang="en-US" sz="900" dirty="0"/>
          </a:p>
        </p:txBody>
      </p:sp>
      <p:sp>
        <p:nvSpPr>
          <p:cNvPr id="108" name="미래 가치"/>
          <p:cNvSpPr txBox="1"/>
          <p:nvPr/>
        </p:nvSpPr>
        <p:spPr>
          <a:xfrm>
            <a:off x="8954889" y="4517529"/>
            <a:ext cx="581323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1200" spc="-48" kern="0" dirty="0">
                <a:solidFill>
                  <a:srgbClr val="0B2147"/>
                </a:solidFill>
                <a:latin typeface="Pretendard ExtraBold" pitchFamily="34" charset="0"/>
                <a:ea typeface="Pretendard ExtraBold" pitchFamily="34" charset="-127"/>
                <a:cs typeface="Pretendard ExtraBold" pitchFamily="34" charset="-120"/>
              </a:rPr>
              <a:t>미래 가치</a:t>
            </a:r>
            <a:endParaRPr lang="en-US" sz="1200" dirty="0"/>
          </a:p>
        </p:txBody>
      </p:sp>
      <p:sp>
        <p:nvSpPr>
          <p:cNvPr id="109" name="창출"/>
          <p:cNvSpPr txBox="1"/>
          <p:nvPr/>
        </p:nvSpPr>
        <p:spPr>
          <a:xfrm>
            <a:off x="9094490" y="4692749"/>
            <a:ext cx="302121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1200" spc="-48" kern="0" dirty="0">
                <a:solidFill>
                  <a:srgbClr val="0B2147"/>
                </a:solidFill>
                <a:latin typeface="Pretendard ExtraBold" pitchFamily="34" charset="0"/>
                <a:ea typeface="Pretendard ExtraBold" pitchFamily="34" charset="-127"/>
                <a:cs typeface="Pretendard ExtraBold" pitchFamily="34" charset="-120"/>
              </a:rPr>
              <a:t>창출</a:t>
            </a:r>
            <a:endParaRPr lang="en-US" sz="1200" dirty="0"/>
          </a:p>
        </p:txBody>
      </p:sp>
      <p:sp>
        <p:nvSpPr>
          <p:cNvPr id="110" name="선정 이유"/>
          <p:cNvSpPr txBox="1"/>
          <p:nvPr/>
        </p:nvSpPr>
        <p:spPr>
          <a:xfrm>
            <a:off x="1308100" y="5859859"/>
            <a:ext cx="544513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000" b="1" spc="40" kern="0" dirty="0">
                <a:solidFill>
                  <a:srgbClr val="8FD3F5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선정 이유</a:t>
            </a:r>
            <a:endParaRPr lang="en-US" sz="1000" dirty="0"/>
          </a:p>
        </p:txBody>
      </p:sp>
      <p:sp>
        <p:nvSpPr>
          <p:cNvPr id="111" name="서로 다른 사람과 전문성이 하나의 목표로 연결될 때,"/>
          <p:cNvSpPr txBox="1"/>
          <p:nvPr/>
        </p:nvSpPr>
        <p:spPr>
          <a:xfrm>
            <a:off x="1979612" y="5681464"/>
            <a:ext cx="4131362" cy="241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600" b="1" spc="-48" kern="0" dirty="0">
                <a:solidFill>
                  <a:srgbClr val="FFFFFF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서로 다른 사람과 전문성이 </a:t>
            </a:r>
            <a:pPr algn="l" indent="0" marL="0">
              <a:buNone/>
            </a:pPr>
            <a:r>
              <a:rPr lang="ko-KR" altLang="en-US" sz="1600" b="1" spc="-48" kern="0" dirty="0">
                <a:solidFill>
                  <a:srgbClr val="FDBB30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하나의 목표</a:t>
            </a:r>
            <a:pPr algn="l" indent="0" marL="0">
              <a:buNone/>
            </a:pPr>
            <a:r>
              <a:rPr lang="ko-KR" altLang="en-US" sz="1600" b="1" spc="-48" kern="0" dirty="0">
                <a:solidFill>
                  <a:srgbClr val="FFFFFF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로 연결될 때,</a:t>
            </a:r>
            <a:endParaRPr lang="en-US" sz="1600" dirty="0"/>
          </a:p>
        </p:txBody>
      </p:sp>
      <p:sp>
        <p:nvSpPr>
          <p:cNvPr id="112" name="기술은 더 큰 가능성을 발휘하고 새로운 미래 가치를 만들어간다고 믿습니다"/>
          <p:cNvSpPr txBox="1"/>
          <p:nvPr/>
        </p:nvSpPr>
        <p:spPr>
          <a:xfrm>
            <a:off x="1979612" y="5945584"/>
            <a:ext cx="6013623" cy="241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600" b="1" spc="-48" kern="0" dirty="0">
                <a:solidFill>
                  <a:srgbClr val="FFFFFF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기술은 더 큰 가능성을 발휘하고 </a:t>
            </a:r>
            <a:pPr algn="l" indent="0" marL="0">
              <a:buNone/>
            </a:pPr>
            <a:r>
              <a:rPr lang="ko-KR" altLang="en-US" sz="1600" b="1" spc="-48" kern="0" dirty="0">
                <a:solidFill>
                  <a:srgbClr val="FDBB30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새로운 미래 가치</a:t>
            </a:r>
            <a:pPr algn="l" indent="0" marL="0">
              <a:buNone/>
            </a:pPr>
            <a:r>
              <a:rPr lang="ko-KR" altLang="en-US" sz="1600" b="1" spc="-48" kern="0" dirty="0">
                <a:solidFill>
                  <a:srgbClr val="FFFFFF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를 만들어간다고 믿습니다.</a:t>
            </a:r>
            <a:endParaRPr lang="en-US" sz="1600" dirty="0"/>
          </a:p>
        </p:txBody>
      </p:sp>
      <p:sp>
        <p:nvSpPr>
          <p:cNvPr id="113" name="2026년 하반기 신입사원 공개채용 | 공사관리 건축 직무 지원자 이현준"/>
          <p:cNvSpPr txBox="1"/>
          <p:nvPr/>
        </p:nvSpPr>
        <p:spPr>
          <a:xfrm>
            <a:off x="609600" y="6425605"/>
            <a:ext cx="3273685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900" spc="-9" kern="0" dirty="0">
                <a:solidFill>
                  <a:srgbClr val="8691A5"/>
                </a:solidFill>
                <a:latin typeface="Pretendard Medium" pitchFamily="34" charset="0"/>
                <a:ea typeface="Pretendard Medium" pitchFamily="34" charset="-127"/>
                <a:cs typeface="Pretendard Medium" pitchFamily="34" charset="-120"/>
              </a:rPr>
              <a:t>2026년 하반기 신입사원 공개채용 | 공사관리 건축 직무 지원자 이현준</a:t>
            </a:r>
            <a:endParaRPr lang="en-US" sz="900" dirty="0"/>
          </a:p>
        </p:txBody>
      </p:sp>
      <p:sp>
        <p:nvSpPr>
          <p:cNvPr id="114" name="02 / 03"/>
          <p:cNvSpPr txBox="1"/>
          <p:nvPr/>
        </p:nvSpPr>
        <p:spPr>
          <a:xfrm>
            <a:off x="11142166" y="6425605"/>
            <a:ext cx="491034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900" spc="54" kern="0" dirty="0">
                <a:solidFill>
                  <a:srgbClr val="004B8D"/>
                </a:solidFill>
                <a:latin typeface="Pretendard ExtraBold" pitchFamily="34" charset="0"/>
                <a:ea typeface="Pretendard ExtraBold" pitchFamily="34" charset="-127"/>
                <a:cs typeface="Pretendard ExtraBold" pitchFamily="34" charset="-120"/>
              </a:rPr>
              <a:t>02</a:t>
            </a:r>
            <a:pPr algn="l" indent="0" marL="0">
              <a:buNone/>
            </a:pPr>
            <a:r>
              <a:rPr lang="ko-KR" altLang="en-US" sz="900" b="1" spc="54" kern="0" dirty="0">
                <a:solidFill>
                  <a:srgbClr val="4B5568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 / 03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"/>
          <p:cNvSpPr/>
          <p:nvPr/>
        </p:nvSpPr>
        <p:spPr>
          <a:xfrm>
            <a:off x="609600" y="475853"/>
            <a:ext cx="63500" cy="63500"/>
          </a:xfrm>
          <a:prstGeom prst="ellipse">
            <a:avLst/>
          </a:prstGeom>
          <a:solidFill>
            <a:srgbClr val="00A94F"/>
          </a:solidFill>
          <a:ln/>
        </p:spPr>
      </p:sp>
      <p:sp>
        <p:nvSpPr>
          <p:cNvPr id="4" name="b"/>
          <p:cNvSpPr/>
          <p:nvPr/>
        </p:nvSpPr>
        <p:spPr>
          <a:xfrm>
            <a:off x="673100" y="501253"/>
            <a:ext cx="88900" cy="12700"/>
          </a:xfrm>
          <a:prstGeom prst="rect">
            <a:avLst/>
          </a:prstGeom>
          <a:solidFill>
            <a:srgbClr val="C3CEDD"/>
          </a:solidFill>
          <a:ln/>
        </p:spPr>
      </p:sp>
      <p:sp>
        <p:nvSpPr>
          <p:cNvPr id="5" name="i"/>
          <p:cNvSpPr/>
          <p:nvPr/>
        </p:nvSpPr>
        <p:spPr>
          <a:xfrm>
            <a:off x="762000" y="475853"/>
            <a:ext cx="63500" cy="63500"/>
          </a:xfrm>
          <a:prstGeom prst="ellipse">
            <a:avLst/>
          </a:prstGeom>
          <a:solidFill>
            <a:srgbClr val="004B8D"/>
          </a:solidFill>
          <a:ln/>
        </p:spPr>
      </p:sp>
      <p:sp>
        <p:nvSpPr>
          <p:cNvPr id="6" name="b"/>
          <p:cNvSpPr/>
          <p:nvPr/>
        </p:nvSpPr>
        <p:spPr>
          <a:xfrm>
            <a:off x="825500" y="501253"/>
            <a:ext cx="88900" cy="12700"/>
          </a:xfrm>
          <a:prstGeom prst="rect">
            <a:avLst/>
          </a:prstGeom>
          <a:solidFill>
            <a:srgbClr val="C3CEDD"/>
          </a:solidFill>
          <a:ln/>
        </p:spPr>
      </p:sp>
      <p:sp>
        <p:nvSpPr>
          <p:cNvPr id="7" name="i"/>
          <p:cNvSpPr/>
          <p:nvPr/>
        </p:nvSpPr>
        <p:spPr>
          <a:xfrm>
            <a:off x="914400" y="475853"/>
            <a:ext cx="63500" cy="63500"/>
          </a:xfrm>
          <a:prstGeom prst="ellipse">
            <a:avLst/>
          </a:prstGeom>
          <a:solidFill>
            <a:srgbClr val="FDBB30"/>
          </a:solidFill>
          <a:ln/>
        </p:spPr>
      </p:sp>
      <p:pic>
        <p:nvPicPr>
          <p:cNvPr id="8" name="img" descr="im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3935" y="415462"/>
            <a:ext cx="1526117" cy="268817"/>
          </a:xfrm>
          <a:prstGeom prst="rect">
            <a:avLst/>
          </a:prstGeom>
        </p:spPr>
      </p:pic>
      <p:pic>
        <p:nvPicPr>
          <p:cNvPr id="9" name="svg" descr="sv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7617" y="2125464"/>
            <a:ext cx="8096250" cy="3160183"/>
          </a:xfrm>
          <a:prstGeom prst="rect">
            <a:avLst/>
          </a:prstGeom>
        </p:spPr>
      </p:pic>
      <p:sp>
        <p:nvSpPr>
          <p:cNvPr id="10" name="dot field"/>
          <p:cNvSpPr/>
          <p:nvPr/>
        </p:nvSpPr>
        <p:spPr>
          <a:xfrm>
            <a:off x="609600" y="1860947"/>
            <a:ext cx="63500" cy="63500"/>
          </a:xfrm>
          <a:prstGeom prst="ellipse">
            <a:avLst/>
          </a:prstGeom>
          <a:solidFill>
            <a:srgbClr val="FDBB30"/>
          </a:solidFill>
          <a:ln/>
        </p:spPr>
      </p:sp>
      <p:pic>
        <p:nvPicPr>
          <p:cNvPr id="11" name="a node ring n-field" descr="a node ring n-fiel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940381"/>
            <a:ext cx="1498600" cy="1498600"/>
          </a:xfrm>
          <a:prstGeom prst="rect">
            <a:avLst/>
          </a:prstGeom>
        </p:spPr>
      </p:pic>
      <p:pic>
        <p:nvPicPr>
          <p:cNvPr id="12" name="ic" descr="ic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1317" y="3394174"/>
            <a:ext cx="275167" cy="245533"/>
          </a:xfrm>
          <a:prstGeom prst="rect">
            <a:avLst/>
          </a:prstGeom>
        </p:spPr>
      </p:pic>
      <p:pic>
        <p:nvPicPr>
          <p:cNvPr id="13" name="li" descr="li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4654881"/>
            <a:ext cx="88900" cy="12700"/>
          </a:xfrm>
          <a:prstGeom prst="rect">
            <a:avLst/>
          </a:prstGeom>
        </p:spPr>
      </p:pic>
      <p:pic>
        <p:nvPicPr>
          <p:cNvPr id="14" name="li" descr="li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4869855"/>
            <a:ext cx="88900" cy="12700"/>
          </a:xfrm>
          <a:prstGeom prst="rect">
            <a:avLst/>
          </a:prstGeom>
        </p:spPr>
      </p:pic>
      <p:pic>
        <p:nvPicPr>
          <p:cNvPr id="15" name="li" descr="li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5086945"/>
            <a:ext cx="88900" cy="12700"/>
          </a:xfrm>
          <a:prstGeom prst="rect">
            <a:avLst/>
          </a:prstGeom>
        </p:spPr>
      </p:pic>
      <p:pic>
        <p:nvPicPr>
          <p:cNvPr id="16" name="a node ring joint" descr="a node ring joint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65400" y="3486481"/>
            <a:ext cx="406400" cy="406400"/>
          </a:xfrm>
          <a:prstGeom prst="rect">
            <a:avLst/>
          </a:prstGeom>
        </p:spPr>
      </p:pic>
      <p:pic>
        <p:nvPicPr>
          <p:cNvPr id="17" name="ic" descr="ic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92400" y="3613481"/>
            <a:ext cx="152400" cy="152400"/>
          </a:xfrm>
          <a:prstGeom prst="rect">
            <a:avLst/>
          </a:prstGeom>
        </p:spPr>
      </p:pic>
      <p:sp>
        <p:nvSpPr>
          <p:cNvPr id="18" name="a ms"/>
          <p:cNvSpPr/>
          <p:nvPr/>
        </p:nvSpPr>
        <p:spPr>
          <a:xfrm>
            <a:off x="2404170" y="3986014"/>
            <a:ext cx="728861" cy="266700"/>
          </a:xfrm>
          <a:prstGeom prst="roundRect">
            <a:avLst>
              <a:gd name="adj" fmla="val 50000"/>
            </a:avLst>
          </a:prstGeom>
          <a:solidFill>
            <a:srgbClr val="E9F6FD"/>
          </a:solidFill>
          <a:ln/>
        </p:spPr>
      </p:sp>
      <p:sp>
        <p:nvSpPr>
          <p:cNvPr id="19" name="dot people"/>
          <p:cNvSpPr/>
          <p:nvPr/>
        </p:nvSpPr>
        <p:spPr>
          <a:xfrm>
            <a:off x="4178300" y="1860947"/>
            <a:ext cx="63500" cy="63500"/>
          </a:xfrm>
          <a:prstGeom prst="ellipse">
            <a:avLst/>
          </a:prstGeom>
          <a:solidFill>
            <a:srgbClr val="00A94F"/>
          </a:solidFill>
          <a:ln/>
        </p:spPr>
      </p:sp>
      <p:pic>
        <p:nvPicPr>
          <p:cNvPr id="20" name="li" descr="li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78300" y="2407113"/>
            <a:ext cx="88900" cy="12700"/>
          </a:xfrm>
          <a:prstGeom prst="rect">
            <a:avLst/>
          </a:prstGeom>
        </p:spPr>
      </p:pic>
      <p:pic>
        <p:nvPicPr>
          <p:cNvPr id="21" name="li" descr="li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178300" y="2622087"/>
            <a:ext cx="88900" cy="12700"/>
          </a:xfrm>
          <a:prstGeom prst="rect">
            <a:avLst/>
          </a:prstGeom>
        </p:spPr>
      </p:pic>
      <p:sp>
        <p:nvSpPr>
          <p:cNvPr id="22" name="a node n-ppl"/>
          <p:cNvSpPr/>
          <p:nvPr/>
        </p:nvSpPr>
        <p:spPr>
          <a:xfrm>
            <a:off x="4187825" y="2839839"/>
            <a:ext cx="615950" cy="615950"/>
          </a:xfrm>
          <a:prstGeom prst="ellipse">
            <a:avLst/>
          </a:prstGeom>
          <a:solidFill>
            <a:srgbClr val="E5F6EC"/>
          </a:solidFill>
          <a:ln w="19050">
            <a:solidFill>
              <a:srgbClr val="00A94F"/>
            </a:solidFill>
            <a:prstDash val="solid"/>
          </a:ln>
        </p:spPr>
      </p:sp>
      <p:pic>
        <p:nvPicPr>
          <p:cNvPr id="23" name="ic" descr="ic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415367" y="2968129"/>
            <a:ext cx="160867" cy="160867"/>
          </a:xfrm>
          <a:prstGeom prst="rect">
            <a:avLst/>
          </a:prstGeom>
        </p:spPr>
      </p:pic>
      <p:sp>
        <p:nvSpPr>
          <p:cNvPr id="24" name="a node n-tch"/>
          <p:cNvSpPr/>
          <p:nvPr/>
        </p:nvSpPr>
        <p:spPr>
          <a:xfrm>
            <a:off x="4187825" y="3919339"/>
            <a:ext cx="615950" cy="615950"/>
          </a:xfrm>
          <a:prstGeom prst="ellipse">
            <a:avLst/>
          </a:prstGeom>
          <a:solidFill>
            <a:srgbClr val="EEF4FC"/>
          </a:solidFill>
          <a:ln w="19050">
            <a:solidFill>
              <a:srgbClr val="004B8D"/>
            </a:solidFill>
            <a:prstDash val="solid"/>
          </a:ln>
        </p:spPr>
      </p:sp>
      <p:pic>
        <p:nvPicPr>
          <p:cNvPr id="25" name="ic" descr="ic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423833" y="4047629"/>
            <a:ext cx="143933" cy="160867"/>
          </a:xfrm>
          <a:prstGeom prst="rect">
            <a:avLst/>
          </a:prstGeom>
        </p:spPr>
      </p:pic>
      <p:pic>
        <p:nvPicPr>
          <p:cNvPr id="26" name="a node ring joint" descr="a node ring joint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692900" y="3486481"/>
            <a:ext cx="406400" cy="406400"/>
          </a:xfrm>
          <a:prstGeom prst="rect">
            <a:avLst/>
          </a:prstGeom>
        </p:spPr>
      </p:pic>
      <p:pic>
        <p:nvPicPr>
          <p:cNvPr id="27" name="ic" descr="ic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834717" y="3643114"/>
            <a:ext cx="129117" cy="93133"/>
          </a:xfrm>
          <a:prstGeom prst="rect">
            <a:avLst/>
          </a:prstGeom>
        </p:spPr>
      </p:pic>
      <p:sp>
        <p:nvSpPr>
          <p:cNvPr id="28" name="a ms"/>
          <p:cNvSpPr/>
          <p:nvPr/>
        </p:nvSpPr>
        <p:spPr>
          <a:xfrm>
            <a:off x="6531670" y="3986014"/>
            <a:ext cx="728861" cy="266700"/>
          </a:xfrm>
          <a:prstGeom prst="roundRect">
            <a:avLst>
              <a:gd name="adj" fmla="val 50000"/>
            </a:avLst>
          </a:prstGeom>
          <a:solidFill>
            <a:srgbClr val="E9F6FD"/>
          </a:solidFill>
          <a:ln/>
        </p:spPr>
      </p:sp>
      <p:pic>
        <p:nvPicPr>
          <p:cNvPr id="29" name="a node n-imp" descr="a node n-imp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531100" y="2991181"/>
            <a:ext cx="1397000" cy="1397000"/>
          </a:xfrm>
          <a:prstGeom prst="rect">
            <a:avLst/>
          </a:prstGeom>
        </p:spPr>
      </p:pic>
      <p:pic>
        <p:nvPicPr>
          <p:cNvPr id="30" name="ic" descr="ic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098367" y="3438624"/>
            <a:ext cx="262467" cy="156633"/>
          </a:xfrm>
          <a:prstGeom prst="rect">
            <a:avLst/>
          </a:prstGeom>
        </p:spPr>
      </p:pic>
      <p:sp>
        <p:nvSpPr>
          <p:cNvPr id="31" name="dot tech"/>
          <p:cNvSpPr/>
          <p:nvPr/>
        </p:nvSpPr>
        <p:spPr>
          <a:xfrm>
            <a:off x="4178300" y="4693047"/>
            <a:ext cx="63500" cy="63500"/>
          </a:xfrm>
          <a:prstGeom prst="ellipse">
            <a:avLst/>
          </a:prstGeom>
          <a:solidFill>
            <a:srgbClr val="004B8D"/>
          </a:solidFill>
          <a:ln/>
        </p:spPr>
      </p:sp>
      <p:pic>
        <p:nvPicPr>
          <p:cNvPr id="32" name="li c1 r3" descr="li c1 r3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178300" y="5251913"/>
            <a:ext cx="88900" cy="12700"/>
          </a:xfrm>
          <a:prstGeom prst="rect">
            <a:avLst/>
          </a:prstGeom>
        </p:spPr>
      </p:pic>
      <p:pic>
        <p:nvPicPr>
          <p:cNvPr id="33" name="li c1 r4" descr="li c1 r4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178300" y="5466887"/>
            <a:ext cx="88900" cy="12700"/>
          </a:xfrm>
          <a:prstGeom prst="rect">
            <a:avLst/>
          </a:prstGeom>
        </p:spPr>
      </p:pic>
      <p:pic>
        <p:nvPicPr>
          <p:cNvPr id="34" name="i" descr="i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382213" y="5250392"/>
            <a:ext cx="374650" cy="12700"/>
          </a:xfrm>
          <a:prstGeom prst="rect">
            <a:avLst/>
          </a:prstGeom>
        </p:spPr>
      </p:pic>
      <p:pic>
        <p:nvPicPr>
          <p:cNvPr id="35" name="ic" descr="ic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796617" y="5229225"/>
            <a:ext cx="33867" cy="55033"/>
          </a:xfrm>
          <a:prstGeom prst="rect">
            <a:avLst/>
          </a:prstGeom>
        </p:spPr>
      </p:pic>
      <p:pic>
        <p:nvPicPr>
          <p:cNvPr id="36" name="i" descr="i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382213" y="5461132"/>
            <a:ext cx="374650" cy="12700"/>
          </a:xfrm>
          <a:prstGeom prst="rect">
            <a:avLst/>
          </a:prstGeom>
        </p:spPr>
      </p:pic>
      <p:pic>
        <p:nvPicPr>
          <p:cNvPr id="37" name="ic" descr="ic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796617" y="5439966"/>
            <a:ext cx="33867" cy="55033"/>
          </a:xfrm>
          <a:prstGeom prst="rect">
            <a:avLst/>
          </a:prstGeom>
        </p:spPr>
      </p:pic>
      <p:sp>
        <p:nvSpPr>
          <p:cNvPr id="38" name="dot field"/>
          <p:cNvSpPr/>
          <p:nvPr/>
        </p:nvSpPr>
        <p:spPr>
          <a:xfrm>
            <a:off x="6959600" y="4693047"/>
            <a:ext cx="63500" cy="63500"/>
          </a:xfrm>
          <a:prstGeom prst="ellipse">
            <a:avLst/>
          </a:prstGeom>
          <a:solidFill>
            <a:srgbClr val="FDBB30"/>
          </a:solidFill>
          <a:ln/>
        </p:spPr>
      </p:sp>
      <p:pic>
        <p:nvPicPr>
          <p:cNvPr id="39" name="li c3 r3" descr="li c3 r3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959600" y="5251913"/>
            <a:ext cx="88900" cy="12700"/>
          </a:xfrm>
          <a:prstGeom prst="rect">
            <a:avLst/>
          </a:prstGeom>
        </p:spPr>
      </p:pic>
      <p:pic>
        <p:nvPicPr>
          <p:cNvPr id="40" name="li c3 r4" descr="li c3 r4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959600" y="5466887"/>
            <a:ext cx="88900" cy="12700"/>
          </a:xfrm>
          <a:prstGeom prst="rect">
            <a:avLst/>
          </a:prstGeom>
        </p:spPr>
      </p:pic>
      <p:sp>
        <p:nvSpPr>
          <p:cNvPr id="41" name="a oc"/>
          <p:cNvSpPr/>
          <p:nvPr/>
        </p:nvSpPr>
        <p:spPr>
          <a:xfrm>
            <a:off x="10185400" y="1947664"/>
            <a:ext cx="1397000" cy="368300"/>
          </a:xfrm>
          <a:prstGeom prst="roundRect">
            <a:avLst>
              <a:gd name="adj" fmla="val 50000"/>
            </a:avLst>
          </a:prstGeom>
          <a:solidFill>
            <a:srgbClr val="FFF4DB"/>
          </a:solidFill>
          <a:ln/>
        </p:spPr>
      </p:sp>
      <p:sp>
        <p:nvSpPr>
          <p:cNvPr id="42" name="bd"/>
          <p:cNvSpPr/>
          <p:nvPr/>
        </p:nvSpPr>
        <p:spPr>
          <a:xfrm>
            <a:off x="10236200" y="1998464"/>
            <a:ext cx="266700" cy="2667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DBB30"/>
            </a:solidFill>
            <a:prstDash val="solid"/>
          </a:ln>
        </p:spPr>
      </p:sp>
      <p:pic>
        <p:nvPicPr>
          <p:cNvPr id="43" name="ic" descr="ic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0295467" y="2059847"/>
            <a:ext cx="156633" cy="156633"/>
          </a:xfrm>
          <a:prstGeom prst="rect">
            <a:avLst/>
          </a:prstGeom>
        </p:spPr>
      </p:pic>
      <p:sp>
        <p:nvSpPr>
          <p:cNvPr id="44" name="a oc"/>
          <p:cNvSpPr/>
          <p:nvPr/>
        </p:nvSpPr>
        <p:spPr>
          <a:xfrm>
            <a:off x="10185400" y="2995414"/>
            <a:ext cx="1397000" cy="368300"/>
          </a:xfrm>
          <a:prstGeom prst="roundRect">
            <a:avLst>
              <a:gd name="adj" fmla="val 50000"/>
            </a:avLst>
          </a:prstGeom>
          <a:solidFill>
            <a:srgbClr val="FFF4DB"/>
          </a:solidFill>
          <a:ln/>
        </p:spPr>
      </p:sp>
      <p:sp>
        <p:nvSpPr>
          <p:cNvPr id="45" name="bd"/>
          <p:cNvSpPr/>
          <p:nvPr/>
        </p:nvSpPr>
        <p:spPr>
          <a:xfrm>
            <a:off x="10236200" y="3046214"/>
            <a:ext cx="266700" cy="2667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DBB30"/>
            </a:solidFill>
            <a:prstDash val="solid"/>
          </a:ln>
        </p:spPr>
      </p:sp>
      <p:pic>
        <p:nvPicPr>
          <p:cNvPr id="46" name="ic" descr="ic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0310283" y="3107597"/>
            <a:ext cx="118533" cy="148167"/>
          </a:xfrm>
          <a:prstGeom prst="rect">
            <a:avLst/>
          </a:prstGeom>
        </p:spPr>
      </p:pic>
      <p:sp>
        <p:nvSpPr>
          <p:cNvPr id="47" name="a oc"/>
          <p:cNvSpPr/>
          <p:nvPr/>
        </p:nvSpPr>
        <p:spPr>
          <a:xfrm>
            <a:off x="10185400" y="4043164"/>
            <a:ext cx="1397000" cy="368300"/>
          </a:xfrm>
          <a:prstGeom prst="roundRect">
            <a:avLst>
              <a:gd name="adj" fmla="val 50000"/>
            </a:avLst>
          </a:prstGeom>
          <a:solidFill>
            <a:srgbClr val="FFF4DB"/>
          </a:solidFill>
          <a:ln/>
        </p:spPr>
      </p:sp>
      <p:sp>
        <p:nvSpPr>
          <p:cNvPr id="48" name="bd"/>
          <p:cNvSpPr/>
          <p:nvPr/>
        </p:nvSpPr>
        <p:spPr>
          <a:xfrm>
            <a:off x="10236200" y="4093964"/>
            <a:ext cx="266700" cy="2667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DBB30"/>
            </a:solidFill>
            <a:prstDash val="solid"/>
          </a:ln>
        </p:spPr>
      </p:sp>
      <p:pic>
        <p:nvPicPr>
          <p:cNvPr id="49" name="ic" descr="ic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0295467" y="4155347"/>
            <a:ext cx="148167" cy="148167"/>
          </a:xfrm>
          <a:prstGeom prst="rect">
            <a:avLst/>
          </a:prstGeom>
        </p:spPr>
      </p:pic>
      <p:sp>
        <p:nvSpPr>
          <p:cNvPr id="50" name="a oc"/>
          <p:cNvSpPr/>
          <p:nvPr/>
        </p:nvSpPr>
        <p:spPr>
          <a:xfrm>
            <a:off x="10185400" y="5090914"/>
            <a:ext cx="1397000" cy="368300"/>
          </a:xfrm>
          <a:prstGeom prst="roundRect">
            <a:avLst>
              <a:gd name="adj" fmla="val 50000"/>
            </a:avLst>
          </a:prstGeom>
          <a:solidFill>
            <a:srgbClr val="FFF4DB"/>
          </a:solidFill>
          <a:ln/>
        </p:spPr>
      </p:sp>
      <p:sp>
        <p:nvSpPr>
          <p:cNvPr id="51" name="bd"/>
          <p:cNvSpPr/>
          <p:nvPr/>
        </p:nvSpPr>
        <p:spPr>
          <a:xfrm>
            <a:off x="10236200" y="5141714"/>
            <a:ext cx="266700" cy="2667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DBB30"/>
            </a:solidFill>
            <a:prstDash val="solid"/>
          </a:ln>
        </p:spPr>
      </p:sp>
      <p:pic>
        <p:nvPicPr>
          <p:cNvPr id="52" name="ic" descr="ic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0295467" y="5203097"/>
            <a:ext cx="148167" cy="148167"/>
          </a:xfrm>
          <a:prstGeom prst="rect">
            <a:avLst/>
          </a:prstGeom>
        </p:spPr>
      </p:pic>
      <p:sp>
        <p:nvSpPr>
          <p:cNvPr id="53" name="key"/>
          <p:cNvSpPr/>
          <p:nvPr/>
        </p:nvSpPr>
        <p:spPr>
          <a:xfrm>
            <a:off x="609600" y="5738614"/>
            <a:ext cx="10972800" cy="610791"/>
          </a:xfrm>
          <a:prstGeom prst="roundRect">
            <a:avLst>
              <a:gd name="adj" fmla="val 22872"/>
            </a:avLst>
          </a:prstGeom>
          <a:solidFill>
            <a:srgbClr val="0B2147"/>
          </a:solidFill>
          <a:ln/>
        </p:spPr>
      </p:sp>
      <p:sp>
        <p:nvSpPr>
          <p:cNvPr id="54" name="i"/>
          <p:cNvSpPr/>
          <p:nvPr/>
        </p:nvSpPr>
        <p:spPr>
          <a:xfrm>
            <a:off x="863600" y="6012259"/>
            <a:ext cx="63500" cy="63500"/>
          </a:xfrm>
          <a:prstGeom prst="ellipse">
            <a:avLst/>
          </a:prstGeom>
          <a:solidFill>
            <a:srgbClr val="00A94F"/>
          </a:solidFill>
          <a:ln/>
        </p:spPr>
      </p:sp>
      <p:sp>
        <p:nvSpPr>
          <p:cNvPr id="55" name="b"/>
          <p:cNvSpPr/>
          <p:nvPr/>
        </p:nvSpPr>
        <p:spPr>
          <a:xfrm>
            <a:off x="927100" y="6037659"/>
            <a:ext cx="88900" cy="12700"/>
          </a:xfrm>
          <a:prstGeom prst="rect">
            <a:avLst/>
          </a:prstGeom>
          <a:solidFill>
            <a:srgbClr val="C3CEDD"/>
          </a:solidFill>
          <a:ln/>
        </p:spPr>
      </p:sp>
      <p:sp>
        <p:nvSpPr>
          <p:cNvPr id="56" name="i"/>
          <p:cNvSpPr/>
          <p:nvPr/>
        </p:nvSpPr>
        <p:spPr>
          <a:xfrm>
            <a:off x="1016000" y="6012259"/>
            <a:ext cx="63500" cy="63500"/>
          </a:xfrm>
          <a:prstGeom prst="ellipse">
            <a:avLst/>
          </a:prstGeom>
          <a:solidFill>
            <a:srgbClr val="004B8D"/>
          </a:solidFill>
          <a:ln/>
        </p:spPr>
      </p:sp>
      <p:sp>
        <p:nvSpPr>
          <p:cNvPr id="57" name="b"/>
          <p:cNvSpPr/>
          <p:nvPr/>
        </p:nvSpPr>
        <p:spPr>
          <a:xfrm>
            <a:off x="1079500" y="6037659"/>
            <a:ext cx="88900" cy="12700"/>
          </a:xfrm>
          <a:prstGeom prst="rect">
            <a:avLst/>
          </a:prstGeom>
          <a:solidFill>
            <a:srgbClr val="C3CEDD"/>
          </a:solidFill>
          <a:ln/>
        </p:spPr>
      </p:sp>
      <p:sp>
        <p:nvSpPr>
          <p:cNvPr id="58" name="i"/>
          <p:cNvSpPr/>
          <p:nvPr/>
        </p:nvSpPr>
        <p:spPr>
          <a:xfrm>
            <a:off x="1168400" y="6012259"/>
            <a:ext cx="63500" cy="63500"/>
          </a:xfrm>
          <a:prstGeom prst="ellipse">
            <a:avLst/>
          </a:prstGeom>
          <a:solidFill>
            <a:srgbClr val="FDBB30"/>
          </a:solidFill>
          <a:ln/>
        </p:spPr>
      </p:sp>
      <p:sp>
        <p:nvSpPr>
          <p:cNvPr id="59" name="03"/>
          <p:cNvSpPr txBox="1"/>
          <p:nvPr/>
        </p:nvSpPr>
        <p:spPr>
          <a:xfrm>
            <a:off x="1066800" y="419100"/>
            <a:ext cx="241995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100" spc="22" kern="0" dirty="0">
                <a:solidFill>
                  <a:srgbClr val="004B8D"/>
                </a:solidFill>
                <a:latin typeface="Pretendard ExtraBold" pitchFamily="34" charset="0"/>
                <a:ea typeface="Pretendard ExtraBold" pitchFamily="34" charset="-127"/>
                <a:cs typeface="Pretendard ExtraBold" pitchFamily="34" charset="-120"/>
              </a:rPr>
              <a:t>03</a:t>
            </a:r>
            <a:endParaRPr lang="en-US" sz="1100" dirty="0"/>
          </a:p>
        </p:txBody>
      </p:sp>
      <p:sp>
        <p:nvSpPr>
          <p:cNvPr id="60" name="PT 주제 2. 가치관과 핵심키워드의 연결점 &amp; 입사 후 실천"/>
          <p:cNvSpPr txBox="1"/>
          <p:nvPr/>
        </p:nvSpPr>
        <p:spPr>
          <a:xfrm>
            <a:off x="1346895" y="419100"/>
            <a:ext cx="3230880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100" spc="-11" kern="0" dirty="0">
                <a:solidFill>
                  <a:srgbClr val="8691A5"/>
                </a:solidFill>
                <a:latin typeface="Pretendard SemiBold" pitchFamily="34" charset="0"/>
                <a:ea typeface="Pretendard SemiBold" pitchFamily="34" charset="-127"/>
                <a:cs typeface="Pretendard SemiBold" pitchFamily="34" charset="-120"/>
              </a:rPr>
              <a:t>PT 주제 2. 가치관과 핵심키워드의 연결점 &amp; 입사 후 실천</a:t>
            </a:r>
            <a:endParaRPr lang="en-US" sz="1100" dirty="0"/>
          </a:p>
        </p:txBody>
      </p:sp>
      <p:sp>
        <p:nvSpPr>
          <p:cNvPr id="61" name="입사 후"/>
          <p:cNvSpPr txBox="1"/>
          <p:nvPr/>
        </p:nvSpPr>
        <p:spPr>
          <a:xfrm>
            <a:off x="609600" y="774005"/>
            <a:ext cx="609699" cy="241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600" spc="-32" kern="0" dirty="0">
                <a:solidFill>
                  <a:srgbClr val="4B5568"/>
                </a:solidFill>
                <a:latin typeface="Pretendard SemiBold" pitchFamily="34" charset="0"/>
                <a:ea typeface="Pretendard SemiBold" pitchFamily="34" charset="-127"/>
                <a:cs typeface="Pretendard SemiBold" pitchFamily="34" charset="-120"/>
              </a:rPr>
              <a:t>입사 후</a:t>
            </a:r>
            <a:endParaRPr lang="en-US" sz="1600" dirty="0"/>
          </a:p>
        </p:txBody>
      </p:sp>
      <p:sp>
        <p:nvSpPr>
          <p:cNvPr id="62" name="사람과 기술을 연결해 현장의 변화를 만들겠습니다."/>
          <p:cNvSpPr txBox="1"/>
          <p:nvPr/>
        </p:nvSpPr>
        <p:spPr>
          <a:xfrm>
            <a:off x="609600" y="1100336"/>
            <a:ext cx="7016962" cy="425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2800" spc="-98" kern="0" dirty="0">
                <a:solidFill>
                  <a:srgbClr val="004B8D"/>
                </a:solidFill>
                <a:latin typeface="Pretendard ExtraBold" pitchFamily="34" charset="0"/>
                <a:ea typeface="Pretendard ExtraBold" pitchFamily="34" charset="-127"/>
                <a:cs typeface="Pretendard ExtraBold" pitchFamily="34" charset="-120"/>
              </a:rPr>
              <a:t>사람</a:t>
            </a:r>
            <a:pPr algn="l" indent="0" marL="0">
              <a:buNone/>
            </a:pPr>
            <a:r>
              <a:rPr lang="ko-KR" altLang="en-US" sz="2800" spc="-98" kern="0" dirty="0">
                <a:solidFill>
                  <a:srgbClr val="0B2147"/>
                </a:solidFill>
                <a:latin typeface="Pretendard ExtraBold" pitchFamily="34" charset="0"/>
                <a:ea typeface="Pretendard ExtraBold" pitchFamily="34" charset="-127"/>
                <a:cs typeface="Pretendard ExtraBold" pitchFamily="34" charset="-120"/>
              </a:rPr>
              <a:t>과 </a:t>
            </a:r>
            <a:pPr algn="l" indent="0" marL="0">
              <a:buNone/>
            </a:pPr>
            <a:r>
              <a:rPr lang="ko-KR" altLang="en-US" sz="2800" spc="-98" kern="0" dirty="0">
                <a:solidFill>
                  <a:srgbClr val="004B8D"/>
                </a:solidFill>
                <a:latin typeface="Pretendard ExtraBold" pitchFamily="34" charset="0"/>
                <a:ea typeface="Pretendard ExtraBold" pitchFamily="34" charset="-127"/>
                <a:cs typeface="Pretendard ExtraBold" pitchFamily="34" charset="-120"/>
              </a:rPr>
              <a:t>기술</a:t>
            </a:r>
            <a:pPr algn="l" indent="0" marL="0">
              <a:buNone/>
            </a:pPr>
            <a:r>
              <a:rPr lang="ko-KR" altLang="en-US" sz="2800" spc="-98" kern="0" dirty="0">
                <a:solidFill>
                  <a:srgbClr val="0B2147"/>
                </a:solidFill>
                <a:latin typeface="Pretendard ExtraBold" pitchFamily="34" charset="0"/>
                <a:ea typeface="Pretendard ExtraBold" pitchFamily="34" charset="-127"/>
                <a:cs typeface="Pretendard ExtraBold" pitchFamily="34" charset="-120"/>
              </a:rPr>
              <a:t>을 연결해 </a:t>
            </a:r>
            <a:pPr algn="l" indent="0" marL="0">
              <a:buNone/>
            </a:pPr>
            <a:r>
              <a:rPr lang="ko-KR" altLang="en-US" sz="2800" spc="-98" kern="0" dirty="0">
                <a:solidFill>
                  <a:srgbClr val="004B8D"/>
                </a:solidFill>
                <a:latin typeface="Pretendard ExtraBold" pitchFamily="34" charset="0"/>
                <a:ea typeface="Pretendard ExtraBold" pitchFamily="34" charset="-127"/>
                <a:cs typeface="Pretendard ExtraBold" pitchFamily="34" charset="-120"/>
              </a:rPr>
              <a:t>현장의 변화</a:t>
            </a:r>
            <a:pPr algn="l" indent="0" marL="0">
              <a:buNone/>
            </a:pPr>
            <a:r>
              <a:rPr lang="ko-KR" altLang="en-US" sz="2800" spc="-98" kern="0" dirty="0">
                <a:solidFill>
                  <a:srgbClr val="0B2147"/>
                </a:solidFill>
                <a:latin typeface="Pretendard ExtraBold" pitchFamily="34" charset="0"/>
                <a:ea typeface="Pretendard ExtraBold" pitchFamily="34" charset="-127"/>
                <a:cs typeface="Pretendard ExtraBold" pitchFamily="34" charset="-120"/>
              </a:rPr>
              <a:t>를 만들겠습니다.</a:t>
            </a:r>
            <a:endParaRPr lang="en-US" sz="2800" dirty="0"/>
          </a:p>
        </p:txBody>
      </p:sp>
      <p:sp>
        <p:nvSpPr>
          <p:cNvPr id="63" name="STEP 01"/>
          <p:cNvSpPr txBox="1"/>
          <p:nvPr/>
        </p:nvSpPr>
        <p:spPr>
          <a:xfrm>
            <a:off x="736600" y="1814314"/>
            <a:ext cx="605929" cy="146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950" spc="95" kern="0" dirty="0">
                <a:solidFill>
                  <a:srgbClr val="0B2147"/>
                </a:solidFill>
                <a:latin typeface="Pretendard ExtraBold" pitchFamily="34" charset="0"/>
                <a:ea typeface="Pretendard ExtraBold" pitchFamily="34" charset="-127"/>
                <a:cs typeface="Pretendard ExtraBold" pitchFamily="34" charset="-120"/>
              </a:rPr>
              <a:t>STEP 01</a:t>
            </a:r>
            <a:endParaRPr lang="en-US" sz="950" dirty="0"/>
          </a:p>
        </p:txBody>
      </p:sp>
      <p:sp>
        <p:nvSpPr>
          <p:cNvPr id="64" name="FIELD"/>
          <p:cNvSpPr txBox="1"/>
          <p:nvPr/>
        </p:nvSpPr>
        <p:spPr>
          <a:xfrm>
            <a:off x="1355229" y="1814314"/>
            <a:ext cx="468809" cy="146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950" b="1" spc="152" kern="0" dirty="0">
                <a:solidFill>
                  <a:srgbClr val="4B5568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FIELD</a:t>
            </a:r>
            <a:endParaRPr lang="en-US" sz="950" dirty="0"/>
          </a:p>
        </p:txBody>
      </p:sp>
      <p:sp>
        <p:nvSpPr>
          <p:cNvPr id="65" name="현장을 이해하겠습니다."/>
          <p:cNvSpPr txBox="1"/>
          <p:nvPr/>
        </p:nvSpPr>
        <p:spPr>
          <a:xfrm>
            <a:off x="609600" y="2015530"/>
            <a:ext cx="177666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500" spc="-45" kern="0" dirty="0">
                <a:solidFill>
                  <a:srgbClr val="0B2147"/>
                </a:solidFill>
                <a:latin typeface="Pretendard ExtraBold" pitchFamily="34" charset="0"/>
                <a:ea typeface="Pretendard ExtraBold" pitchFamily="34" charset="-127"/>
                <a:cs typeface="Pretendard ExtraBold" pitchFamily="34" charset="-120"/>
              </a:rPr>
              <a:t>현장을 이해하겠습니다.</a:t>
            </a:r>
            <a:endParaRPr lang="en-US" sz="1500" dirty="0"/>
          </a:p>
        </p:txBody>
      </p:sp>
      <p:sp>
        <p:nvSpPr>
          <p:cNvPr id="66" name="현장"/>
          <p:cNvSpPr txBox="1"/>
          <p:nvPr/>
        </p:nvSpPr>
        <p:spPr>
          <a:xfrm>
            <a:off x="1100336" y="3698974"/>
            <a:ext cx="517029" cy="336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2200" spc="-66" kern="0" dirty="0">
                <a:solidFill>
                  <a:srgbClr val="0B2147"/>
                </a:solidFill>
                <a:latin typeface="Pretendard ExtraBold" pitchFamily="34" charset="0"/>
                <a:ea typeface="Pretendard ExtraBold" pitchFamily="34" charset="-127"/>
                <a:cs typeface="Pretendard ExtraBold" pitchFamily="34" charset="-120"/>
              </a:rPr>
              <a:t>현장</a:t>
            </a:r>
            <a:endParaRPr lang="en-US" sz="2200" dirty="0"/>
          </a:p>
        </p:txBody>
      </p:sp>
      <p:sp>
        <p:nvSpPr>
          <p:cNvPr id="67" name="도면, 시방서, 시공계획서 검토"/>
          <p:cNvSpPr txBox="1"/>
          <p:nvPr/>
        </p:nvSpPr>
        <p:spPr>
          <a:xfrm>
            <a:off x="774700" y="4570214"/>
            <a:ext cx="1742277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150" spc="-23" kern="0" dirty="0">
                <a:solidFill>
                  <a:srgbClr val="4B5568"/>
                </a:solidFill>
                <a:latin typeface="Pretendard SemiBold" pitchFamily="34" charset="0"/>
                <a:ea typeface="Pretendard SemiBold" pitchFamily="34" charset="-127"/>
                <a:cs typeface="Pretendard SemiBold" pitchFamily="34" charset="-120"/>
              </a:rPr>
              <a:t>도면, 시방서, 시공계획서 검토</a:t>
            </a:r>
            <a:endParaRPr lang="en-US" sz="1150" dirty="0"/>
          </a:p>
        </p:txBody>
      </p:sp>
      <p:sp>
        <p:nvSpPr>
          <p:cNvPr id="68" name="공종별 시공방법과 선후행 관계 이해"/>
          <p:cNvSpPr txBox="1"/>
          <p:nvPr/>
        </p:nvSpPr>
        <p:spPr>
          <a:xfrm>
            <a:off x="774700" y="4787305"/>
            <a:ext cx="2095129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150" spc="-23" kern="0" dirty="0">
                <a:solidFill>
                  <a:srgbClr val="4B5568"/>
                </a:solidFill>
                <a:latin typeface="Pretendard SemiBold" pitchFamily="34" charset="0"/>
                <a:ea typeface="Pretendard SemiBold" pitchFamily="34" charset="-127"/>
                <a:cs typeface="Pretendard SemiBold" pitchFamily="34" charset="-120"/>
              </a:rPr>
              <a:t>공종별 시공방법과 선후행 관계 이해</a:t>
            </a:r>
            <a:endParaRPr lang="en-US" sz="1150" dirty="0"/>
          </a:p>
        </p:txBody>
      </p:sp>
      <p:sp>
        <p:nvSpPr>
          <p:cNvPr id="69" name="작업일보를 통한 일일 작업 현황 파악"/>
          <p:cNvSpPr txBox="1"/>
          <p:nvPr/>
        </p:nvSpPr>
        <p:spPr>
          <a:xfrm>
            <a:off x="774700" y="5004395"/>
            <a:ext cx="2128784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150" spc="-23" kern="0" dirty="0">
                <a:solidFill>
                  <a:srgbClr val="4B5568"/>
                </a:solidFill>
                <a:latin typeface="Pretendard SemiBold" pitchFamily="34" charset="0"/>
                <a:ea typeface="Pretendard SemiBold" pitchFamily="34" charset="-127"/>
                <a:cs typeface="Pretendard SemiBold" pitchFamily="34" charset="-120"/>
              </a:rPr>
              <a:t>작업일보를 통한 일일 작업 현황 파악</a:t>
            </a:r>
            <a:endParaRPr lang="en-US" sz="1150" dirty="0"/>
          </a:p>
        </p:txBody>
      </p:sp>
      <p:sp>
        <p:nvSpPr>
          <p:cNvPr id="70" name="문제 발견"/>
          <p:cNvSpPr txBox="1"/>
          <p:nvPr/>
        </p:nvSpPr>
        <p:spPr>
          <a:xfrm>
            <a:off x="2518470" y="4030762"/>
            <a:ext cx="551061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100" spc="-22" kern="0" dirty="0">
                <a:solidFill>
                  <a:srgbClr val="0B2147"/>
                </a:solidFill>
                <a:latin typeface="Pretendard ExtraBold" pitchFamily="34" charset="0"/>
                <a:ea typeface="Pretendard ExtraBold" pitchFamily="34" charset="-127"/>
                <a:cs typeface="Pretendard ExtraBold" pitchFamily="34" charset="-120"/>
              </a:rPr>
              <a:t>문제 발견</a:t>
            </a:r>
            <a:endParaRPr lang="en-US" sz="1100" dirty="0"/>
          </a:p>
        </p:txBody>
      </p:sp>
      <p:sp>
        <p:nvSpPr>
          <p:cNvPr id="71" name="STEP 02"/>
          <p:cNvSpPr txBox="1"/>
          <p:nvPr/>
        </p:nvSpPr>
        <p:spPr>
          <a:xfrm>
            <a:off x="4305300" y="1814314"/>
            <a:ext cx="622697" cy="146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950" spc="95" kern="0" dirty="0">
                <a:solidFill>
                  <a:srgbClr val="0B2147"/>
                </a:solidFill>
                <a:latin typeface="Pretendard ExtraBold" pitchFamily="34" charset="0"/>
                <a:ea typeface="Pretendard ExtraBold" pitchFamily="34" charset="-127"/>
                <a:cs typeface="Pretendard ExtraBold" pitchFamily="34" charset="-120"/>
              </a:rPr>
              <a:t>STEP 02</a:t>
            </a:r>
            <a:endParaRPr lang="en-US" sz="950" dirty="0"/>
          </a:p>
        </p:txBody>
      </p:sp>
      <p:sp>
        <p:nvSpPr>
          <p:cNvPr id="72" name="PEOPLE"/>
          <p:cNvSpPr txBox="1"/>
          <p:nvPr/>
        </p:nvSpPr>
        <p:spPr>
          <a:xfrm>
            <a:off x="4940697" y="1814314"/>
            <a:ext cx="615851" cy="146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950" b="1" spc="152" kern="0" dirty="0">
                <a:solidFill>
                  <a:srgbClr val="00A94F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PEOPLE</a:t>
            </a:r>
            <a:endParaRPr lang="en-US" sz="950" dirty="0"/>
          </a:p>
        </p:txBody>
      </p:sp>
      <p:sp>
        <p:nvSpPr>
          <p:cNvPr id="73" name="사람을 연결하겠습니다."/>
          <p:cNvSpPr txBox="1"/>
          <p:nvPr/>
        </p:nvSpPr>
        <p:spPr>
          <a:xfrm>
            <a:off x="4178300" y="2015530"/>
            <a:ext cx="177666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500" spc="-45" kern="0" dirty="0">
                <a:solidFill>
                  <a:srgbClr val="0B2147"/>
                </a:solidFill>
                <a:latin typeface="Pretendard ExtraBold" pitchFamily="34" charset="0"/>
                <a:ea typeface="Pretendard ExtraBold" pitchFamily="34" charset="-127"/>
                <a:cs typeface="Pretendard ExtraBold" pitchFamily="34" charset="-120"/>
              </a:rPr>
              <a:t>사람을 연결하겠습니다.</a:t>
            </a:r>
            <a:endParaRPr lang="en-US" sz="1500" dirty="0"/>
          </a:p>
        </p:txBody>
      </p:sp>
      <p:sp>
        <p:nvSpPr>
          <p:cNvPr id="74" name="유관부서 및 협력업체와 공정별 일정 공유"/>
          <p:cNvSpPr txBox="1"/>
          <p:nvPr/>
        </p:nvSpPr>
        <p:spPr>
          <a:xfrm>
            <a:off x="4343400" y="2320330"/>
            <a:ext cx="2390241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150" spc="-23" kern="0" dirty="0">
                <a:solidFill>
                  <a:srgbClr val="4B5568"/>
                </a:solidFill>
                <a:latin typeface="Pretendard SemiBold" pitchFamily="34" charset="0"/>
                <a:ea typeface="Pretendard SemiBold" pitchFamily="34" charset="-127"/>
                <a:cs typeface="Pretendard SemiBold" pitchFamily="34" charset="-120"/>
              </a:rPr>
              <a:t>유관부서 및 협력업체와 공정별 일정 공유</a:t>
            </a:r>
            <a:endParaRPr lang="en-US" sz="1150" dirty="0"/>
          </a:p>
        </p:txBody>
      </p:sp>
      <p:sp>
        <p:nvSpPr>
          <p:cNvPr id="75" name="선후행 공정 간 작업 조건 확인 및 조율"/>
          <p:cNvSpPr txBox="1"/>
          <p:nvPr/>
        </p:nvSpPr>
        <p:spPr>
          <a:xfrm>
            <a:off x="4343400" y="2537420"/>
            <a:ext cx="2196094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150" spc="-23" kern="0" dirty="0">
                <a:solidFill>
                  <a:srgbClr val="4B5568"/>
                </a:solidFill>
                <a:latin typeface="Pretendard SemiBold" pitchFamily="34" charset="0"/>
                <a:ea typeface="Pretendard SemiBold" pitchFamily="34" charset="-127"/>
                <a:cs typeface="Pretendard SemiBold" pitchFamily="34" charset="-120"/>
              </a:rPr>
              <a:t>선후행 공정 간 작업 조건 확인 및 조율</a:t>
            </a:r>
            <a:endParaRPr lang="en-US" sz="1150" dirty="0"/>
          </a:p>
        </p:txBody>
      </p:sp>
      <p:sp>
        <p:nvSpPr>
          <p:cNvPr id="76" name="사람"/>
          <p:cNvSpPr txBox="1"/>
          <p:nvPr/>
        </p:nvSpPr>
        <p:spPr>
          <a:xfrm>
            <a:off x="4332585" y="3145929"/>
            <a:ext cx="326330" cy="1968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1300" spc="-39" kern="0" dirty="0">
                <a:solidFill>
                  <a:srgbClr val="00A94F"/>
                </a:solidFill>
                <a:latin typeface="Pretendard ExtraBold" pitchFamily="34" charset="0"/>
                <a:ea typeface="Pretendard ExtraBold" pitchFamily="34" charset="-127"/>
                <a:cs typeface="Pretendard ExtraBold" pitchFamily="34" charset="-120"/>
              </a:rPr>
              <a:t>사람</a:t>
            </a:r>
            <a:endParaRPr lang="en-US" sz="1300" dirty="0"/>
          </a:p>
        </p:txBody>
      </p:sp>
      <p:sp>
        <p:nvSpPr>
          <p:cNvPr id="77" name="기술"/>
          <p:cNvSpPr txBox="1"/>
          <p:nvPr/>
        </p:nvSpPr>
        <p:spPr>
          <a:xfrm>
            <a:off x="4332585" y="4225429"/>
            <a:ext cx="326330" cy="1968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1300" spc="-39" kern="0" dirty="0">
                <a:solidFill>
                  <a:srgbClr val="004B8D"/>
                </a:solidFill>
                <a:latin typeface="Pretendard ExtraBold" pitchFamily="34" charset="0"/>
                <a:ea typeface="Pretendard ExtraBold" pitchFamily="34" charset="-127"/>
                <a:cs typeface="Pretendard ExtraBold" pitchFamily="34" charset="-120"/>
              </a:rPr>
              <a:t>기술</a:t>
            </a:r>
            <a:endParaRPr lang="en-US" sz="1300" dirty="0"/>
          </a:p>
        </p:txBody>
      </p:sp>
      <p:sp>
        <p:nvSpPr>
          <p:cNvPr id="78" name="문제 해결"/>
          <p:cNvSpPr txBox="1"/>
          <p:nvPr/>
        </p:nvSpPr>
        <p:spPr>
          <a:xfrm>
            <a:off x="6645970" y="4030762"/>
            <a:ext cx="551061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100" spc="-22" kern="0" dirty="0">
                <a:solidFill>
                  <a:srgbClr val="0B2147"/>
                </a:solidFill>
                <a:latin typeface="Pretendard ExtraBold" pitchFamily="34" charset="0"/>
                <a:ea typeface="Pretendard ExtraBold" pitchFamily="34" charset="-127"/>
                <a:cs typeface="Pretendard ExtraBold" pitchFamily="34" charset="-120"/>
              </a:rPr>
              <a:t>문제 해결</a:t>
            </a:r>
            <a:endParaRPr lang="en-US" sz="1100" dirty="0"/>
          </a:p>
        </p:txBody>
      </p:sp>
      <p:sp>
        <p:nvSpPr>
          <p:cNvPr id="79" name="변화"/>
          <p:cNvSpPr txBox="1"/>
          <p:nvPr/>
        </p:nvSpPr>
        <p:spPr>
          <a:xfrm>
            <a:off x="7971036" y="3692624"/>
            <a:ext cx="517029" cy="336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2200" spc="-66" kern="0" dirty="0">
                <a:solidFill>
                  <a:srgbClr val="FFFFFF"/>
                </a:solidFill>
                <a:latin typeface="Pretendard ExtraBold" pitchFamily="34" charset="0"/>
                <a:ea typeface="Pretendard ExtraBold" pitchFamily="34" charset="-127"/>
                <a:cs typeface="Pretendard ExtraBold" pitchFamily="34" charset="-120"/>
              </a:rPr>
              <a:t>변화</a:t>
            </a:r>
            <a:endParaRPr lang="en-US" sz="2200" dirty="0"/>
          </a:p>
        </p:txBody>
      </p:sp>
      <p:sp>
        <p:nvSpPr>
          <p:cNvPr id="80" name="STEP 03"/>
          <p:cNvSpPr txBox="1"/>
          <p:nvPr/>
        </p:nvSpPr>
        <p:spPr>
          <a:xfrm>
            <a:off x="4305300" y="4646414"/>
            <a:ext cx="626170" cy="146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950" spc="95" kern="0" dirty="0">
                <a:solidFill>
                  <a:srgbClr val="0B2147"/>
                </a:solidFill>
                <a:latin typeface="Pretendard ExtraBold" pitchFamily="34" charset="0"/>
                <a:ea typeface="Pretendard ExtraBold" pitchFamily="34" charset="-127"/>
                <a:cs typeface="Pretendard ExtraBold" pitchFamily="34" charset="-120"/>
              </a:rPr>
              <a:t>STEP 03</a:t>
            </a:r>
            <a:endParaRPr lang="en-US" sz="950" dirty="0"/>
          </a:p>
        </p:txBody>
      </p:sp>
      <p:sp>
        <p:nvSpPr>
          <p:cNvPr id="81" name="TECH"/>
          <p:cNvSpPr txBox="1"/>
          <p:nvPr/>
        </p:nvSpPr>
        <p:spPr>
          <a:xfrm>
            <a:off x="4944170" y="4646414"/>
            <a:ext cx="450751" cy="146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950" b="1" spc="152" kern="0" dirty="0">
                <a:solidFill>
                  <a:srgbClr val="004B8D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TECH</a:t>
            </a:r>
            <a:endParaRPr lang="en-US" sz="950" dirty="0"/>
          </a:p>
        </p:txBody>
      </p:sp>
      <p:sp>
        <p:nvSpPr>
          <p:cNvPr id="82" name="기술을 연결하겠습니다."/>
          <p:cNvSpPr txBox="1"/>
          <p:nvPr/>
        </p:nvSpPr>
        <p:spPr>
          <a:xfrm>
            <a:off x="4178300" y="4847630"/>
            <a:ext cx="177666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500" spc="-45" kern="0" dirty="0">
                <a:solidFill>
                  <a:srgbClr val="0B2147"/>
                </a:solidFill>
                <a:latin typeface="Pretendard ExtraBold" pitchFamily="34" charset="0"/>
                <a:ea typeface="Pretendard ExtraBold" pitchFamily="34" charset="-127"/>
                <a:cs typeface="Pretendard ExtraBold" pitchFamily="34" charset="-120"/>
              </a:rPr>
              <a:t>기술을 연결하겠습니다.</a:t>
            </a:r>
            <a:endParaRPr lang="en-US" sz="1500" dirty="0"/>
          </a:p>
        </p:txBody>
      </p:sp>
      <p:sp>
        <p:nvSpPr>
          <p:cNvPr id="83" name="BIM 기반 간섭 · 시공성 검토 지원"/>
          <p:cNvSpPr txBox="1"/>
          <p:nvPr/>
        </p:nvSpPr>
        <p:spPr>
          <a:xfrm>
            <a:off x="4343400" y="5165130"/>
            <a:ext cx="1942209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150" spc="-23" kern="0" dirty="0">
                <a:solidFill>
                  <a:srgbClr val="4B5568"/>
                </a:solidFill>
                <a:latin typeface="Pretendard SemiBold" pitchFamily="34" charset="0"/>
                <a:ea typeface="Pretendard SemiBold" pitchFamily="34" charset="-127"/>
                <a:cs typeface="Pretendard SemiBold" pitchFamily="34" charset="-120"/>
              </a:rPr>
              <a:t>BIM 기반 간섭 · 시공성 검토 지원</a:t>
            </a:r>
            <a:endParaRPr lang="en-US" sz="1150" dirty="0"/>
          </a:p>
        </p:txBody>
      </p:sp>
      <p:sp>
        <p:nvSpPr>
          <p:cNvPr id="84" name="AI 기반 반복 업무 자동화 방안 발굴"/>
          <p:cNvSpPr txBox="1"/>
          <p:nvPr/>
        </p:nvSpPr>
        <p:spPr>
          <a:xfrm>
            <a:off x="4343400" y="5382220"/>
            <a:ext cx="2042227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150" spc="-23" kern="0" dirty="0">
                <a:solidFill>
                  <a:srgbClr val="4B5568"/>
                </a:solidFill>
                <a:latin typeface="Pretendard SemiBold" pitchFamily="34" charset="0"/>
                <a:ea typeface="Pretendard SemiBold" pitchFamily="34" charset="-127"/>
                <a:cs typeface="Pretendard SemiBold" pitchFamily="34" charset="-120"/>
              </a:rPr>
              <a:t>AI 기반 반복 업무 자동화 방안 발굴</a:t>
            </a:r>
            <a:endParaRPr lang="en-US" sz="1150" dirty="0"/>
          </a:p>
        </p:txBody>
      </p:sp>
      <p:sp>
        <p:nvSpPr>
          <p:cNvPr id="85" name="STEP 04"/>
          <p:cNvSpPr txBox="1"/>
          <p:nvPr/>
        </p:nvSpPr>
        <p:spPr>
          <a:xfrm>
            <a:off x="7086600" y="4646414"/>
            <a:ext cx="628749" cy="146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950" spc="95" kern="0" dirty="0">
                <a:solidFill>
                  <a:srgbClr val="0B2147"/>
                </a:solidFill>
                <a:latin typeface="Pretendard ExtraBold" pitchFamily="34" charset="0"/>
                <a:ea typeface="Pretendard ExtraBold" pitchFamily="34" charset="-127"/>
                <a:cs typeface="Pretendard ExtraBold" pitchFamily="34" charset="-120"/>
              </a:rPr>
              <a:t>STEP 04</a:t>
            </a:r>
            <a:endParaRPr lang="en-US" sz="950" dirty="0"/>
          </a:p>
        </p:txBody>
      </p:sp>
      <p:sp>
        <p:nvSpPr>
          <p:cNvPr id="86" name="IMPROVE"/>
          <p:cNvSpPr txBox="1"/>
          <p:nvPr/>
        </p:nvSpPr>
        <p:spPr>
          <a:xfrm>
            <a:off x="7728049" y="4646414"/>
            <a:ext cx="719634" cy="146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950" b="1" spc="152" kern="0" dirty="0">
                <a:solidFill>
                  <a:srgbClr val="4B5568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IMPROVE</a:t>
            </a:r>
            <a:endParaRPr lang="en-US" sz="950" dirty="0"/>
          </a:p>
        </p:txBody>
      </p:sp>
      <p:sp>
        <p:nvSpPr>
          <p:cNvPr id="87" name="작은 개선부터 변화를 만들겠습니다."/>
          <p:cNvSpPr txBox="1"/>
          <p:nvPr/>
        </p:nvSpPr>
        <p:spPr>
          <a:xfrm>
            <a:off x="6959600" y="4847630"/>
            <a:ext cx="269713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500" spc="-45" kern="0" dirty="0">
                <a:solidFill>
                  <a:srgbClr val="0B2147"/>
                </a:solidFill>
                <a:latin typeface="Pretendard ExtraBold" pitchFamily="34" charset="0"/>
                <a:ea typeface="Pretendard ExtraBold" pitchFamily="34" charset="-127"/>
                <a:cs typeface="Pretendard ExtraBold" pitchFamily="34" charset="-120"/>
              </a:rPr>
              <a:t>작은 개선부터 변화를 만들겠습니다.</a:t>
            </a:r>
            <a:endParaRPr lang="en-US" sz="1500" dirty="0"/>
          </a:p>
        </p:txBody>
      </p:sp>
      <p:sp>
        <p:nvSpPr>
          <p:cNvPr id="88" name="공정 간 간섭 사전 발견"/>
          <p:cNvSpPr txBox="1"/>
          <p:nvPr/>
        </p:nvSpPr>
        <p:spPr>
          <a:xfrm>
            <a:off x="7124700" y="5165130"/>
            <a:ext cx="1310967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150" spc="-23" kern="0" dirty="0">
                <a:solidFill>
                  <a:srgbClr val="4B5568"/>
                </a:solidFill>
                <a:latin typeface="Pretendard SemiBold" pitchFamily="34" charset="0"/>
                <a:ea typeface="Pretendard SemiBold" pitchFamily="34" charset="-127"/>
                <a:cs typeface="Pretendard SemiBold" pitchFamily="34" charset="-120"/>
              </a:rPr>
              <a:t>공정 간 간섭 사전 발견</a:t>
            </a:r>
            <a:endParaRPr lang="en-US" sz="1150" dirty="0"/>
          </a:p>
        </p:txBody>
      </p:sp>
      <p:sp>
        <p:nvSpPr>
          <p:cNvPr id="89" name="→"/>
          <p:cNvSpPr txBox="1"/>
          <p:nvPr/>
        </p:nvSpPr>
        <p:spPr>
          <a:xfrm>
            <a:off x="8437662" y="5165130"/>
            <a:ext cx="182563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150" b="1" spc="-23" kern="0" dirty="0">
                <a:solidFill>
                  <a:srgbClr val="2A78DD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→</a:t>
            </a:r>
            <a:endParaRPr lang="en-US" sz="1150" dirty="0"/>
          </a:p>
        </p:txBody>
      </p:sp>
      <p:sp>
        <p:nvSpPr>
          <p:cNvPr id="90" name="재작업 감소"/>
          <p:cNvSpPr txBox="1"/>
          <p:nvPr/>
        </p:nvSpPr>
        <p:spPr>
          <a:xfrm>
            <a:off x="8645624" y="5165130"/>
            <a:ext cx="697111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150" spc="-23" kern="0" dirty="0">
                <a:solidFill>
                  <a:srgbClr val="0B2147"/>
                </a:solidFill>
                <a:latin typeface="Pretendard ExtraBold" pitchFamily="34" charset="0"/>
                <a:ea typeface="Pretendard ExtraBold" pitchFamily="34" charset="-127"/>
                <a:cs typeface="Pretendard ExtraBold" pitchFamily="34" charset="-120"/>
              </a:rPr>
              <a:t>재작업 감소</a:t>
            </a:r>
            <a:endParaRPr lang="en-US" sz="1150" dirty="0"/>
          </a:p>
        </p:txBody>
      </p:sp>
      <p:sp>
        <p:nvSpPr>
          <p:cNvPr id="91" name="반복 업무 효율화"/>
          <p:cNvSpPr txBox="1"/>
          <p:nvPr/>
        </p:nvSpPr>
        <p:spPr>
          <a:xfrm>
            <a:off x="7124700" y="5382220"/>
            <a:ext cx="9822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150" spc="-23" kern="0" dirty="0">
                <a:solidFill>
                  <a:srgbClr val="4B5568"/>
                </a:solidFill>
                <a:latin typeface="Pretendard SemiBold" pitchFamily="34" charset="0"/>
                <a:ea typeface="Pretendard SemiBold" pitchFamily="34" charset="-127"/>
                <a:cs typeface="Pretendard SemiBold" pitchFamily="34" charset="-120"/>
              </a:rPr>
              <a:t>반복 업무 효율화</a:t>
            </a:r>
            <a:endParaRPr lang="en-US" sz="1150" dirty="0"/>
          </a:p>
        </p:txBody>
      </p:sp>
      <p:sp>
        <p:nvSpPr>
          <p:cNvPr id="92" name="→"/>
          <p:cNvSpPr txBox="1"/>
          <p:nvPr/>
        </p:nvSpPr>
        <p:spPr>
          <a:xfrm>
            <a:off x="8127504" y="5382220"/>
            <a:ext cx="182563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150" b="1" spc="-23" kern="0" dirty="0">
                <a:solidFill>
                  <a:srgbClr val="2A78DD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→</a:t>
            </a:r>
            <a:endParaRPr lang="en-US" sz="1150" dirty="0"/>
          </a:p>
        </p:txBody>
      </p:sp>
      <p:sp>
        <p:nvSpPr>
          <p:cNvPr id="93" name="본연의 업무에 집중"/>
          <p:cNvSpPr txBox="1"/>
          <p:nvPr/>
        </p:nvSpPr>
        <p:spPr>
          <a:xfrm>
            <a:off x="8335466" y="5382220"/>
            <a:ext cx="1108722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150" spc="-23" kern="0" dirty="0">
                <a:solidFill>
                  <a:srgbClr val="0B2147"/>
                </a:solidFill>
                <a:latin typeface="Pretendard ExtraBold" pitchFamily="34" charset="0"/>
                <a:ea typeface="Pretendard ExtraBold" pitchFamily="34" charset="-127"/>
                <a:cs typeface="Pretendard ExtraBold" pitchFamily="34" charset="-120"/>
              </a:rPr>
              <a:t>본연의 업무에 집중</a:t>
            </a:r>
            <a:endParaRPr lang="en-US" sz="1150" dirty="0"/>
          </a:p>
        </p:txBody>
      </p:sp>
      <p:sp>
        <p:nvSpPr>
          <p:cNvPr id="94" name="공정 개선"/>
          <p:cNvSpPr txBox="1"/>
          <p:nvPr/>
        </p:nvSpPr>
        <p:spPr>
          <a:xfrm>
            <a:off x="10585450" y="2033984"/>
            <a:ext cx="596503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200" spc="-24" kern="0" dirty="0">
                <a:solidFill>
                  <a:srgbClr val="8A5A00"/>
                </a:solidFill>
                <a:latin typeface="Pretendard ExtraBold" pitchFamily="34" charset="0"/>
                <a:ea typeface="Pretendard ExtraBold" pitchFamily="34" charset="-127"/>
                <a:cs typeface="Pretendard ExtraBold" pitchFamily="34" charset="-120"/>
              </a:rPr>
              <a:t>공정 개선</a:t>
            </a:r>
            <a:endParaRPr lang="en-US" sz="1200" dirty="0"/>
          </a:p>
        </p:txBody>
      </p:sp>
      <p:sp>
        <p:nvSpPr>
          <p:cNvPr id="95" name="품질 개선"/>
          <p:cNvSpPr txBox="1"/>
          <p:nvPr/>
        </p:nvSpPr>
        <p:spPr>
          <a:xfrm>
            <a:off x="10585450" y="3081734"/>
            <a:ext cx="596503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200" spc="-24" kern="0" dirty="0">
                <a:solidFill>
                  <a:srgbClr val="8A5A00"/>
                </a:solidFill>
                <a:latin typeface="Pretendard ExtraBold" pitchFamily="34" charset="0"/>
                <a:ea typeface="Pretendard ExtraBold" pitchFamily="34" charset="-127"/>
                <a:cs typeface="Pretendard ExtraBold" pitchFamily="34" charset="-120"/>
              </a:rPr>
              <a:t>품질 개선</a:t>
            </a:r>
            <a:endParaRPr lang="en-US" sz="1200" dirty="0"/>
          </a:p>
        </p:txBody>
      </p:sp>
      <p:sp>
        <p:nvSpPr>
          <p:cNvPr id="96" name="안전 개선"/>
          <p:cNvSpPr txBox="1"/>
          <p:nvPr/>
        </p:nvSpPr>
        <p:spPr>
          <a:xfrm>
            <a:off x="10585450" y="4129484"/>
            <a:ext cx="596503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200" spc="-24" kern="0" dirty="0">
                <a:solidFill>
                  <a:srgbClr val="8A5A00"/>
                </a:solidFill>
                <a:latin typeface="Pretendard ExtraBold" pitchFamily="34" charset="0"/>
                <a:ea typeface="Pretendard ExtraBold" pitchFamily="34" charset="-127"/>
                <a:cs typeface="Pretendard ExtraBold" pitchFamily="34" charset="-120"/>
              </a:rPr>
              <a:t>안전 개선</a:t>
            </a:r>
            <a:endParaRPr lang="en-US" sz="1200" dirty="0"/>
          </a:p>
        </p:txBody>
      </p:sp>
      <p:sp>
        <p:nvSpPr>
          <p:cNvPr id="97" name="생산성 개선"/>
          <p:cNvSpPr txBox="1"/>
          <p:nvPr/>
        </p:nvSpPr>
        <p:spPr>
          <a:xfrm>
            <a:off x="10585450" y="5177234"/>
            <a:ext cx="725190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200" spc="-24" kern="0" dirty="0">
                <a:solidFill>
                  <a:srgbClr val="8A5A00"/>
                </a:solidFill>
                <a:latin typeface="Pretendard ExtraBold" pitchFamily="34" charset="0"/>
                <a:ea typeface="Pretendard ExtraBold" pitchFamily="34" charset="-127"/>
                <a:cs typeface="Pretendard ExtraBold" pitchFamily="34" charset="-120"/>
              </a:rPr>
              <a:t>생산성 개선</a:t>
            </a:r>
            <a:endParaRPr lang="en-US" sz="1200" dirty="0"/>
          </a:p>
        </p:txBody>
      </p:sp>
      <p:sp>
        <p:nvSpPr>
          <p:cNvPr id="98" name="사람과 기술을 연결해 현장의 변화를 만들어가며, 현대엔지니어링의 Mean"/>
          <p:cNvSpPr txBox="1"/>
          <p:nvPr/>
        </p:nvSpPr>
        <p:spPr>
          <a:xfrm>
            <a:off x="1371600" y="5916414"/>
            <a:ext cx="9370288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1700" b="1" spc="-51" kern="0" dirty="0">
                <a:solidFill>
                  <a:srgbClr val="FFFFFF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사람과 기술을 연결해 </a:t>
            </a:r>
            <a:pPr algn="l" indent="0" marL="0">
              <a:buNone/>
            </a:pPr>
            <a:r>
              <a:rPr lang="ko-KR" altLang="en-US" sz="1700" b="1" spc="-51" kern="0" dirty="0">
                <a:solidFill>
                  <a:srgbClr val="FDBB30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현장의 변화</a:t>
            </a:r>
            <a:pPr algn="l" indent="0" marL="0">
              <a:buNone/>
            </a:pPr>
            <a:r>
              <a:rPr lang="ko-KR" altLang="en-US" sz="1700" b="1" spc="-51" kern="0" dirty="0">
                <a:solidFill>
                  <a:srgbClr val="FFFFFF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를 만들어가며, 현대엔지니어링의 </a:t>
            </a:r>
            <a:pPr algn="l" indent="0" marL="0">
              <a:buNone/>
            </a:pPr>
            <a:r>
              <a:rPr lang="ko-KR" altLang="en-US" sz="1700" b="1" spc="-51" kern="0" dirty="0">
                <a:solidFill>
                  <a:srgbClr val="FDBB30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Meaningful Journey</a:t>
            </a:r>
            <a:pPr algn="l" indent="0" marL="0">
              <a:buNone/>
            </a:pPr>
            <a:r>
              <a:rPr lang="ko-KR" altLang="en-US" sz="1700" b="1" spc="-51" kern="0" dirty="0">
                <a:solidFill>
                  <a:srgbClr val="FFFFFF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에 함께하겠습니다.</a:t>
            </a:r>
            <a:endParaRPr lang="en-US" sz="1700" dirty="0"/>
          </a:p>
        </p:txBody>
      </p:sp>
      <p:sp>
        <p:nvSpPr>
          <p:cNvPr id="99" name="2026년 하반기 신입사원 공개채용 | 공사관리 건축 직무 지원자 이현준"/>
          <p:cNvSpPr txBox="1"/>
          <p:nvPr/>
        </p:nvSpPr>
        <p:spPr>
          <a:xfrm>
            <a:off x="609600" y="6425605"/>
            <a:ext cx="3273685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900" spc="-9" kern="0" dirty="0">
                <a:solidFill>
                  <a:srgbClr val="8691A5"/>
                </a:solidFill>
                <a:latin typeface="Pretendard Medium" pitchFamily="34" charset="0"/>
                <a:ea typeface="Pretendard Medium" pitchFamily="34" charset="-127"/>
                <a:cs typeface="Pretendard Medium" pitchFamily="34" charset="-120"/>
              </a:rPr>
              <a:t>2026년 하반기 신입사원 공개채용 | 공사관리 건축 직무 지원자 이현준</a:t>
            </a:r>
            <a:endParaRPr lang="en-US" sz="900" dirty="0"/>
          </a:p>
        </p:txBody>
      </p:sp>
      <p:sp>
        <p:nvSpPr>
          <p:cNvPr id="100" name="03 / 03"/>
          <p:cNvSpPr txBox="1"/>
          <p:nvPr/>
        </p:nvSpPr>
        <p:spPr>
          <a:xfrm>
            <a:off x="11138892" y="6425605"/>
            <a:ext cx="494308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900" spc="54" kern="0" dirty="0">
                <a:solidFill>
                  <a:srgbClr val="004B8D"/>
                </a:solidFill>
                <a:latin typeface="Pretendard ExtraBold" pitchFamily="34" charset="0"/>
                <a:ea typeface="Pretendard ExtraBold" pitchFamily="34" charset="-127"/>
                <a:cs typeface="Pretendard ExtraBold" pitchFamily="34" charset="-120"/>
              </a:rPr>
              <a:t>03</a:t>
            </a:r>
            <a:pPr algn="l" indent="0" marL="0">
              <a:buNone/>
            </a:pPr>
            <a:r>
              <a:rPr lang="ko-KR" altLang="en-US" sz="900" b="1" spc="54" kern="0" dirty="0">
                <a:solidFill>
                  <a:srgbClr val="4B5568"/>
                </a:solidFill>
                <a:latin typeface="Pretendard" pitchFamily="34" charset="0"/>
                <a:ea typeface="Pretendard" pitchFamily="34" charset="-127"/>
                <a:cs typeface="Pretendard" pitchFamily="34" charset="-120"/>
              </a:rPr>
              <a:t> / 03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retendard ExtraBold"/>
        <a:ea typeface="Pretendard Medium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 Medium"/>
        <a:ea typeface="Pretendard Medium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현대엔지니어링 PT · 가로형</dc:title>
  <dc:subject>PptxGenJS Presentation</dc:subject>
  <dc:creator>PptxGenJS</dc:creator>
  <cp:lastModifiedBy>PptxGenJS</cp:lastModifiedBy>
  <cp:revision>1</cp:revision>
  <dcterms:created xsi:type="dcterms:W3CDTF">2026-10-11T11:17:23Z</dcterms:created>
  <dcterms:modified xsi:type="dcterms:W3CDTF">2026-10-11T11:17:23Z</dcterms:modified>
</cp:coreProperties>
</file>