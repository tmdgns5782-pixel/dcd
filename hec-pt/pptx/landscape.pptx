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67" y="2136047"/>
            <a:ext cx="10936817" cy="148167"/>
          </a:xfrm>
          <a:prstGeom prst="rect">
            <a:avLst/>
          </a:prstGeom>
        </p:spPr>
      </p:pic>
      <p:sp>
        <p:nvSpPr>
          <p:cNvPr id="9" name="p1-h"/>
          <p:cNvSpPr/>
          <p:nvPr/>
        </p:nvSpPr>
        <p:spPr>
          <a:xfrm>
            <a:off x="762000" y="2086124"/>
            <a:ext cx="2639120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p1-h"/>
          <p:cNvSpPr/>
          <p:nvPr/>
        </p:nvSpPr>
        <p:spPr>
          <a:xfrm>
            <a:off x="4406900" y="2086124"/>
            <a:ext cx="2466479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p1-h"/>
          <p:cNvSpPr/>
          <p:nvPr/>
        </p:nvSpPr>
        <p:spPr>
          <a:xfrm>
            <a:off x="8813800" y="2086124"/>
            <a:ext cx="2130723" cy="243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p1-blk p1-b1"/>
          <p:cNvSpPr/>
          <p:nvPr/>
        </p:nvSpPr>
        <p:spPr>
          <a:xfrm>
            <a:off x="609600" y="2436614"/>
            <a:ext cx="3429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pic>
        <p:nvPicPr>
          <p:cNvPr id="13" name="svg" descr="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350" y="2972131"/>
            <a:ext cx="3111500" cy="861483"/>
          </a:xfrm>
          <a:prstGeom prst="rect">
            <a:avLst/>
          </a:prstGeom>
        </p:spPr>
      </p:pic>
      <p:sp>
        <p:nvSpPr>
          <p:cNvPr id="14" name="p1-at p1-tag"/>
          <p:cNvSpPr/>
          <p:nvPr/>
        </p:nvSpPr>
        <p:spPr>
          <a:xfrm>
            <a:off x="1453704" y="2576314"/>
            <a:ext cx="1740793" cy="215900"/>
          </a:xfrm>
          <a:prstGeom prst="roundRect">
            <a:avLst>
              <a:gd name="adj" fmla="val 50000"/>
            </a:avLst>
          </a:prstGeom>
          <a:solidFill>
            <a:srgbClr val="D8E0EB"/>
          </a:solidFill>
          <a:ln/>
        </p:spPr>
      </p:sp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137" y="2629231"/>
            <a:ext cx="116417" cy="114300"/>
          </a:xfrm>
          <a:prstGeom prst="rect">
            <a:avLst/>
          </a:prstGeom>
        </p:spPr>
      </p:pic>
      <p:sp>
        <p:nvSpPr>
          <p:cNvPr id="16" name="p1-op"/>
          <p:cNvSpPr/>
          <p:nvPr/>
        </p:nvSpPr>
        <p:spPr>
          <a:xfrm>
            <a:off x="971550" y="2868414"/>
            <a:ext cx="11049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7" name="i"/>
          <p:cNvSpPr/>
          <p:nvPr/>
        </p:nvSpPr>
        <p:spPr>
          <a:xfrm>
            <a:off x="1241127" y="298906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8" name="p1-op"/>
          <p:cNvSpPr/>
          <p:nvPr/>
        </p:nvSpPr>
        <p:spPr>
          <a:xfrm>
            <a:off x="2571750" y="2868414"/>
            <a:ext cx="1104900" cy="330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sp>
        <p:nvSpPr>
          <p:cNvPr id="19" name="i"/>
          <p:cNvSpPr/>
          <p:nvPr/>
        </p:nvSpPr>
        <p:spPr>
          <a:xfrm>
            <a:off x="2682776" y="2989064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0" name="p1-vs"/>
          <p:cNvSpPr/>
          <p:nvPr/>
        </p:nvSpPr>
        <p:spPr>
          <a:xfrm>
            <a:off x="2155825" y="2865239"/>
            <a:ext cx="336550" cy="336550"/>
          </a:xfrm>
          <a:prstGeom prst="ellipse">
            <a:avLst/>
          </a:prstGeom>
          <a:solidFill>
            <a:srgbClr val="0B214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p1-at p1-crit"/>
          <p:cNvSpPr/>
          <p:nvPr/>
        </p:nvSpPr>
        <p:spPr>
          <a:xfrm>
            <a:off x="1741636" y="3827264"/>
            <a:ext cx="1164927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04B8D"/>
            </a:solidFill>
            <a:prstDash val="solid"/>
          </a:ln>
        </p:spPr>
      </p:sp>
      <p:pic>
        <p:nvPicPr>
          <p:cNvPr id="22" name="p1-down" descr="p1-dow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600" y="4164872"/>
            <a:ext cx="127000" cy="190500"/>
          </a:xfrm>
          <a:prstGeom prst="rect">
            <a:avLst/>
          </a:prstGeom>
        </p:spPr>
      </p:pic>
      <p:sp>
        <p:nvSpPr>
          <p:cNvPr id="23" name="p1-topic"/>
          <p:cNvSpPr/>
          <p:nvPr/>
        </p:nvSpPr>
        <p:spPr>
          <a:xfrm>
            <a:off x="762000" y="4386064"/>
            <a:ext cx="3124200" cy="1174750"/>
          </a:xfrm>
          <a:prstGeom prst="roundRect">
            <a:avLst>
              <a:gd name="adj" fmla="val 9730"/>
            </a:avLst>
          </a:prstGeom>
          <a:solidFill>
            <a:srgbClr val="0B2147"/>
          </a:solidFill>
          <a:ln/>
        </p:spPr>
      </p:sp>
      <p:sp>
        <p:nvSpPr>
          <p:cNvPr id="24" name="p1-blk p1-b2"/>
          <p:cNvSpPr/>
          <p:nvPr/>
        </p:nvSpPr>
        <p:spPr>
          <a:xfrm>
            <a:off x="4254500" y="2436614"/>
            <a:ext cx="4191000" cy="3263900"/>
          </a:xfrm>
          <a:prstGeom prst="roundRect">
            <a:avLst>
              <a:gd name="adj" fmla="val 4280"/>
            </a:avLst>
          </a:prstGeom>
          <a:solidFill>
            <a:srgbClr val="EEF4FC"/>
          </a:solidFill>
          <a:ln/>
        </p:spPr>
      </p:sp>
      <p:pic>
        <p:nvPicPr>
          <p:cNvPr id="25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63067" y="2974247"/>
            <a:ext cx="2573867" cy="2192867"/>
          </a:xfrm>
          <a:prstGeom prst="rect">
            <a:avLst/>
          </a:prstGeom>
        </p:spPr>
      </p:pic>
      <p:sp>
        <p:nvSpPr>
          <p:cNvPr id="26" name="p1-card me"/>
          <p:cNvSpPr/>
          <p:nvPr/>
        </p:nvSpPr>
        <p:spPr>
          <a:xfrm>
            <a:off x="5638800" y="2519164"/>
            <a:ext cx="1422400" cy="927100"/>
          </a:xfrm>
          <a:prstGeom prst="roundRect">
            <a:avLst>
              <a:gd name="adj" fmla="val 11644"/>
            </a:avLst>
          </a:prstGeom>
          <a:solidFill>
            <a:srgbClr val="0B2147"/>
          </a:solidFill>
          <a:ln w="12700">
            <a:solidFill>
              <a:srgbClr val="0B2147"/>
            </a:solidFill>
            <a:prstDash val="solid"/>
          </a:ln>
        </p:spPr>
      </p:sp>
      <p:sp>
        <p:nvSpPr>
          <p:cNvPr id="27" name="p1-av"/>
          <p:cNvSpPr/>
          <p:nvPr/>
        </p:nvSpPr>
        <p:spPr>
          <a:xfrm>
            <a:off x="6022082" y="2633365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8" name="p1-me"/>
          <p:cNvSpPr/>
          <p:nvPr/>
        </p:nvSpPr>
        <p:spPr>
          <a:xfrm>
            <a:off x="6500118" y="2588915"/>
            <a:ext cx="177800" cy="1778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p1-card"/>
          <p:cNvSpPr/>
          <p:nvPr/>
        </p:nvSpPr>
        <p:spPr>
          <a:xfrm>
            <a:off x="6915150" y="3605014"/>
            <a:ext cx="1422400" cy="927100"/>
          </a:xfrm>
          <a:prstGeom prst="roundRect">
            <a:avLst>
              <a:gd name="adj" fmla="val 11644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30" name="p1-av"/>
          <p:cNvSpPr/>
          <p:nvPr/>
        </p:nvSpPr>
        <p:spPr>
          <a:xfrm>
            <a:off x="7346255" y="3814465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1" name="p1-card"/>
          <p:cNvSpPr/>
          <p:nvPr/>
        </p:nvSpPr>
        <p:spPr>
          <a:xfrm>
            <a:off x="5638800" y="4690864"/>
            <a:ext cx="1422400" cy="927100"/>
          </a:xfrm>
          <a:prstGeom prst="roundRect">
            <a:avLst>
              <a:gd name="adj" fmla="val 11644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32" name="p1-av"/>
          <p:cNvSpPr/>
          <p:nvPr/>
        </p:nvSpPr>
        <p:spPr>
          <a:xfrm>
            <a:off x="6070005" y="4805065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3" name="p1-card"/>
          <p:cNvSpPr/>
          <p:nvPr/>
        </p:nvSpPr>
        <p:spPr>
          <a:xfrm>
            <a:off x="4362450" y="3605014"/>
            <a:ext cx="1422400" cy="927100"/>
          </a:xfrm>
          <a:prstGeom prst="roundRect">
            <a:avLst>
              <a:gd name="adj" fmla="val 11644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34" name="p1-av"/>
          <p:cNvSpPr/>
          <p:nvPr/>
        </p:nvSpPr>
        <p:spPr>
          <a:xfrm>
            <a:off x="4796234" y="3719215"/>
            <a:ext cx="88900" cy="889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5" name="p1-share"/>
          <p:cNvSpPr/>
          <p:nvPr/>
        </p:nvSpPr>
        <p:spPr>
          <a:xfrm>
            <a:off x="7131050" y="4754364"/>
            <a:ext cx="1115120" cy="444500"/>
          </a:xfrm>
          <a:prstGeom prst="roundRect">
            <a:avLst>
              <a:gd name="adj" fmla="val 21429"/>
            </a:avLst>
          </a:prstGeom>
          <a:solidFill>
            <a:srgbClr val="E5F6E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p1-blk p1-b3"/>
          <p:cNvSpPr/>
          <p:nvPr/>
        </p:nvSpPr>
        <p:spPr>
          <a:xfrm>
            <a:off x="8661400" y="2436614"/>
            <a:ext cx="2921000" cy="3263900"/>
          </a:xfrm>
          <a:prstGeom prst="roundRect">
            <a:avLst>
              <a:gd name="adj" fmla="val 4783"/>
            </a:avLst>
          </a:prstGeom>
          <a:solidFill>
            <a:srgbClr val="EEF4FC"/>
          </a:solidFill>
          <a:ln/>
        </p:spPr>
      </p:sp>
      <p:pic>
        <p:nvPicPr>
          <p:cNvPr id="37" name="svg" descr="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59900" y="2591131"/>
            <a:ext cx="1524000" cy="2717800"/>
          </a:xfrm>
          <a:prstGeom prst="rect">
            <a:avLst/>
          </a:prstGeom>
        </p:spPr>
      </p:pic>
      <p:sp>
        <p:nvSpPr>
          <p:cNvPr id="38" name="key"/>
          <p:cNvSpPr/>
          <p:nvPr/>
        </p:nvSpPr>
        <p:spPr>
          <a:xfrm>
            <a:off x="609600" y="5814814"/>
            <a:ext cx="10972800" cy="534591"/>
          </a:xfrm>
          <a:prstGeom prst="roundRect">
            <a:avLst>
              <a:gd name="adj" fmla="val 26132"/>
            </a:avLst>
          </a:prstGeom>
          <a:solidFill>
            <a:srgbClr val="0B2147"/>
          </a:solidFill>
          <a:ln/>
        </p:spPr>
      </p:sp>
      <p:sp>
        <p:nvSpPr>
          <p:cNvPr id="39" name="i"/>
          <p:cNvSpPr/>
          <p:nvPr/>
        </p:nvSpPr>
        <p:spPr>
          <a:xfrm>
            <a:off x="863600" y="60502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0" name="b"/>
          <p:cNvSpPr/>
          <p:nvPr/>
        </p:nvSpPr>
        <p:spPr>
          <a:xfrm>
            <a:off x="9271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1" name="i"/>
          <p:cNvSpPr/>
          <p:nvPr/>
        </p:nvSpPr>
        <p:spPr>
          <a:xfrm>
            <a:off x="1016000" y="60502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2" name="b"/>
          <p:cNvSpPr/>
          <p:nvPr/>
        </p:nvSpPr>
        <p:spPr>
          <a:xfrm>
            <a:off x="1079500" y="60756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3" name="i"/>
          <p:cNvSpPr/>
          <p:nvPr/>
        </p:nvSpPr>
        <p:spPr>
          <a:xfrm>
            <a:off x="1168400" y="60502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01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100" dirty="0"/>
          </a:p>
        </p:txBody>
      </p:sp>
      <p:sp>
        <p:nvSpPr>
          <p:cNvPr id="45" name="PT 주제 1 · 가장 중요하게 생각하는 가치와 실천 경험"/>
          <p:cNvSpPr txBox="1"/>
          <p:nvPr/>
        </p:nvSpPr>
        <p:spPr>
          <a:xfrm>
            <a:off x="1347589" y="419100"/>
            <a:ext cx="305829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1 · 가장 중요하게 생각하는 가치와 실천 경험</a:t>
            </a:r>
            <a:endParaRPr lang="en-US" sz="1100" dirty="0"/>
          </a:p>
        </p:txBody>
      </p:sp>
      <p:sp>
        <p:nvSpPr>
          <p:cNvPr id="46" name="제가 가장 중요하게 생각하는 가치는"/>
          <p:cNvSpPr txBox="1"/>
          <p:nvPr/>
        </p:nvSpPr>
        <p:spPr>
          <a:xfrm>
            <a:off x="609600" y="774005"/>
            <a:ext cx="295091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제가 가장 중요하게 생각하는 가치는</a:t>
            </a:r>
            <a:endParaRPr lang="en-US" sz="1600" dirty="0"/>
          </a:p>
        </p:txBody>
      </p:sp>
      <p:sp>
        <p:nvSpPr>
          <p:cNvPr id="47" name="공동의 목표를 공유하며 함께 성과를 만드는 협업입니다"/>
          <p:cNvSpPr txBox="1"/>
          <p:nvPr/>
        </p:nvSpPr>
        <p:spPr>
          <a:xfrm>
            <a:off x="609600" y="1100336"/>
            <a:ext cx="7744331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입니다</a:t>
            </a:r>
            <a:endParaRPr lang="en-US" sz="2800" dirty="0"/>
          </a:p>
        </p:txBody>
      </p:sp>
      <p:sp>
        <p:nvSpPr>
          <p:cNvPr id="48" name="학생 BIM 경진대회 · 4인 팀 팀장"/>
          <p:cNvSpPr txBox="1"/>
          <p:nvPr/>
        </p:nvSpPr>
        <p:spPr>
          <a:xfrm>
            <a:off x="609600" y="1820664"/>
            <a:ext cx="17392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학생 BIM 경진대회 · 4인 팀 팀장</a:t>
            </a:r>
            <a:endParaRPr lang="en-US" sz="1000" dirty="0"/>
          </a:p>
        </p:txBody>
      </p:sp>
      <p:sp>
        <p:nvSpPr>
          <p:cNvPr id="49" name="01"/>
          <p:cNvSpPr txBox="1"/>
          <p:nvPr/>
        </p:nvSpPr>
        <p:spPr>
          <a:xfrm>
            <a:off x="8255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1200" dirty="0"/>
          </a:p>
        </p:txBody>
      </p:sp>
      <p:sp>
        <p:nvSpPr>
          <p:cNvPr id="50" name="충돌을 조율해 주제를 정하다"/>
          <p:cNvSpPr txBox="1"/>
          <p:nvPr/>
        </p:nvSpPr>
        <p:spPr>
          <a:xfrm>
            <a:off x="1111052" y="2086124"/>
            <a:ext cx="2319776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충돌을 조율해 주제를 정하다</a:t>
            </a:r>
            <a:endParaRPr lang="en-US" sz="1600" dirty="0"/>
          </a:p>
        </p:txBody>
      </p:sp>
      <p:sp>
        <p:nvSpPr>
          <p:cNvPr id="51" name="02"/>
          <p:cNvSpPr txBox="1"/>
          <p:nvPr/>
        </p:nvSpPr>
        <p:spPr>
          <a:xfrm>
            <a:off x="44704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200" dirty="0"/>
          </a:p>
        </p:txBody>
      </p:sp>
      <p:sp>
        <p:nvSpPr>
          <p:cNvPr id="52" name="강점에 맞게 역할을 나누다"/>
          <p:cNvSpPr txBox="1"/>
          <p:nvPr/>
        </p:nvSpPr>
        <p:spPr>
          <a:xfrm>
            <a:off x="4755952" y="2086124"/>
            <a:ext cx="213677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강점에 맞게 역할을 나누다</a:t>
            </a:r>
            <a:endParaRPr lang="en-US" sz="1600" dirty="0"/>
          </a:p>
        </p:txBody>
      </p:sp>
      <p:sp>
        <p:nvSpPr>
          <p:cNvPr id="53" name="03"/>
          <p:cNvSpPr txBox="1"/>
          <p:nvPr/>
        </p:nvSpPr>
        <p:spPr>
          <a:xfrm>
            <a:off x="8877300" y="2136924"/>
            <a:ext cx="2601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24" kern="0" dirty="0">
                <a:solidFill>
                  <a:srgbClr val="2A78D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200" dirty="0"/>
          </a:p>
        </p:txBody>
      </p:sp>
      <p:sp>
        <p:nvSpPr>
          <p:cNvPr id="54" name="3주 만에 완성, 장려상"/>
          <p:cNvSpPr txBox="1"/>
          <p:nvPr/>
        </p:nvSpPr>
        <p:spPr>
          <a:xfrm>
            <a:off x="9162852" y="2086124"/>
            <a:ext cx="1780875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4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3주 만에 완성, 장려상</a:t>
            </a:r>
            <a:endParaRPr lang="en-US" sz="1600" dirty="0"/>
          </a:p>
        </p:txBody>
      </p:sp>
      <p:sp>
        <p:nvSpPr>
          <p:cNvPr id="55" name="마감 3주 전까지 주제 미확정"/>
          <p:cNvSpPr txBox="1"/>
          <p:nvPr/>
        </p:nvSpPr>
        <p:spPr>
          <a:xfrm>
            <a:off x="1707704" y="2604889"/>
            <a:ext cx="146830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1C25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56" name="참신성"/>
          <p:cNvSpPr txBox="1"/>
          <p:nvPr/>
        </p:nvSpPr>
        <p:spPr>
          <a:xfrm>
            <a:off x="1380827" y="2932906"/>
            <a:ext cx="4768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참신성</a:t>
            </a:r>
            <a:endParaRPr lang="en-US" sz="1300" dirty="0"/>
          </a:p>
        </p:txBody>
      </p:sp>
      <p:sp>
        <p:nvSpPr>
          <p:cNvPr id="57" name="구현 가능성"/>
          <p:cNvSpPr txBox="1"/>
          <p:nvPr/>
        </p:nvSpPr>
        <p:spPr>
          <a:xfrm>
            <a:off x="2822476" y="293290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구현 가능성</a:t>
            </a:r>
            <a:endParaRPr lang="en-US" sz="1300" dirty="0"/>
          </a:p>
        </p:txBody>
      </p:sp>
      <p:sp>
        <p:nvSpPr>
          <p:cNvPr id="58" name="VS"/>
          <p:cNvSpPr txBox="1"/>
          <p:nvPr/>
        </p:nvSpPr>
        <p:spPr>
          <a:xfrm>
            <a:off x="2228751" y="2954139"/>
            <a:ext cx="241498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50" spc="21" kern="0" dirty="0">
                <a:solidFill>
                  <a:srgbClr val="FFFFFF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VS</a:t>
            </a:r>
            <a:endParaRPr lang="en-US" sz="1050" dirty="0"/>
          </a:p>
        </p:txBody>
      </p:sp>
      <p:sp>
        <p:nvSpPr>
          <p:cNvPr id="59" name="경청 · 수상작 분석 · 교수님 조언"/>
          <p:cNvSpPr txBox="1"/>
          <p:nvPr/>
        </p:nvSpPr>
        <p:spPr>
          <a:xfrm>
            <a:off x="1402209" y="3306564"/>
            <a:ext cx="195440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1C2536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경청 · 수상작 분석 · 교수님 조언</a:t>
            </a:r>
            <a:endParaRPr lang="en-US" sz="1200" dirty="0"/>
          </a:p>
        </p:txBody>
      </p:sp>
      <p:sp>
        <p:nvSpPr>
          <p:cNvPr id="60" name="판단 기준 마련"/>
          <p:cNvSpPr txBox="1"/>
          <p:nvPr/>
        </p:nvSpPr>
        <p:spPr>
          <a:xfrm>
            <a:off x="1900386" y="3888184"/>
            <a:ext cx="89827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판단 기준 마련</a:t>
            </a:r>
            <a:endParaRPr lang="en-US" sz="1200" dirty="0"/>
          </a:p>
        </p:txBody>
      </p:sp>
      <p:sp>
        <p:nvSpPr>
          <p:cNvPr id="61" name="‘유닛 모듈러 기반 사용자 맞춤형"/>
          <p:cNvSpPr txBox="1"/>
          <p:nvPr/>
        </p:nvSpPr>
        <p:spPr>
          <a:xfrm>
            <a:off x="914400" y="4506714"/>
            <a:ext cx="2741936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‘유닛 모듈러 기반 사용자 맞춤형</a:t>
            </a:r>
            <a:endParaRPr lang="en-US" sz="1700" dirty="0"/>
          </a:p>
        </p:txBody>
      </p:sp>
      <p:sp>
        <p:nvSpPr>
          <p:cNvPr id="62" name="리모델링 방법’ 선정"/>
          <p:cNvSpPr txBox="1"/>
          <p:nvPr/>
        </p:nvSpPr>
        <p:spPr>
          <a:xfrm>
            <a:off x="914400" y="4776589"/>
            <a:ext cx="1690428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9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700" spc="-59" kern="0" dirty="0">
                <a:solidFill>
                  <a:srgbClr val="45B9EC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선정</a:t>
            </a:r>
            <a:endParaRPr lang="en-US" sz="1700" dirty="0"/>
          </a:p>
        </p:txBody>
      </p:sp>
      <p:sp>
        <p:nvSpPr>
          <p:cNvPr id="63" name="리모델링 규모에 따라 유닛 모듈러를 배치하고,"/>
          <p:cNvSpPr txBox="1"/>
          <p:nvPr/>
        </p:nvSpPr>
        <p:spPr>
          <a:xfrm>
            <a:off x="914400" y="5103614"/>
            <a:ext cx="236552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64" name="모듈 수 · 자재 물량을 자동 산출"/>
          <p:cNvSpPr txBox="1"/>
          <p:nvPr/>
        </p:nvSpPr>
        <p:spPr>
          <a:xfrm>
            <a:off x="914400" y="5281414"/>
            <a:ext cx="15879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C9CED7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모듈 수 · 자재 물량을 자동 산출</a:t>
            </a:r>
            <a:endParaRPr lang="en-US" sz="1000" dirty="0"/>
          </a:p>
        </p:txBody>
      </p:sp>
      <p:sp>
        <p:nvSpPr>
          <p:cNvPr id="65" name="공동 목표"/>
          <p:cNvSpPr txBox="1"/>
          <p:nvPr/>
        </p:nvSpPr>
        <p:spPr>
          <a:xfrm>
            <a:off x="6047184" y="3902224"/>
            <a:ext cx="60563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공동 목표</a:t>
            </a:r>
            <a:endParaRPr lang="en-US" sz="1200" dirty="0"/>
          </a:p>
        </p:txBody>
      </p:sp>
      <p:sp>
        <p:nvSpPr>
          <p:cNvPr id="66" name="3주 내 완성"/>
          <p:cNvSpPr txBox="1"/>
          <p:nvPr/>
        </p:nvSpPr>
        <p:spPr>
          <a:xfrm>
            <a:off x="6068120" y="4091434"/>
            <a:ext cx="563662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18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3주 내 완성</a:t>
            </a:r>
            <a:endParaRPr lang="en-US" sz="900" dirty="0"/>
          </a:p>
        </p:txBody>
      </p:sp>
      <p:sp>
        <p:nvSpPr>
          <p:cNvPr id="67" name="팀장"/>
          <p:cNvSpPr txBox="1"/>
          <p:nvPr/>
        </p:nvSpPr>
        <p:spPr>
          <a:xfrm>
            <a:off x="6149082" y="2586434"/>
            <a:ext cx="31293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팀장</a:t>
            </a:r>
            <a:endParaRPr lang="en-US" sz="1200" dirty="0"/>
          </a:p>
        </p:txBody>
      </p:sp>
      <p:sp>
        <p:nvSpPr>
          <p:cNvPr id="68" name="나"/>
          <p:cNvSpPr txBox="1"/>
          <p:nvPr/>
        </p:nvSpPr>
        <p:spPr>
          <a:xfrm>
            <a:off x="6514802" y="2607965"/>
            <a:ext cx="14843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나</a:t>
            </a:r>
            <a:endParaRPr lang="en-US" sz="900" dirty="0"/>
          </a:p>
        </p:txBody>
      </p:sp>
      <p:sp>
        <p:nvSpPr>
          <p:cNvPr id="69" name="프로젝트 총괄 ·"/>
          <p:cNvSpPr txBox="1"/>
          <p:nvPr/>
        </p:nvSpPr>
        <p:spPr>
          <a:xfrm>
            <a:off x="5885777" y="2813745"/>
            <a:ext cx="92824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프로젝트 총괄 ·</a:t>
            </a:r>
            <a:endParaRPr lang="en-US" sz="1200" dirty="0"/>
          </a:p>
        </p:txBody>
      </p:sp>
      <p:sp>
        <p:nvSpPr>
          <p:cNvPr id="70" name="Dynamo 기반"/>
          <p:cNvSpPr txBox="1"/>
          <p:nvPr/>
        </p:nvSpPr>
        <p:spPr>
          <a:xfrm>
            <a:off x="5858219" y="3004245"/>
            <a:ext cx="98346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Dynamo 기반</a:t>
            </a:r>
            <a:endParaRPr lang="en-US" sz="1200" dirty="0"/>
          </a:p>
        </p:txBody>
      </p:sp>
      <p:sp>
        <p:nvSpPr>
          <p:cNvPr id="71" name="자동화 알고리즘 개발"/>
          <p:cNvSpPr txBox="1"/>
          <p:nvPr/>
        </p:nvSpPr>
        <p:spPr>
          <a:xfrm>
            <a:off x="5701303" y="3194745"/>
            <a:ext cx="129729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DADEE3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자동화 알고리즘 개발</a:t>
            </a:r>
            <a:endParaRPr lang="en-US" sz="1200" dirty="0"/>
          </a:p>
        </p:txBody>
      </p:sp>
      <p:sp>
        <p:nvSpPr>
          <p:cNvPr id="72" name="팀원 A"/>
          <p:cNvSpPr txBox="1"/>
          <p:nvPr/>
        </p:nvSpPr>
        <p:spPr>
          <a:xfrm>
            <a:off x="7473255" y="3767534"/>
            <a:ext cx="45858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A</a:t>
            </a:r>
            <a:endParaRPr lang="en-US" sz="1200" dirty="0"/>
          </a:p>
        </p:txBody>
      </p:sp>
      <p:sp>
        <p:nvSpPr>
          <p:cNvPr id="73" name="유닛 모듈러 설계 ·"/>
          <p:cNvSpPr txBox="1"/>
          <p:nvPr/>
        </p:nvSpPr>
        <p:spPr>
          <a:xfrm>
            <a:off x="7078197" y="3994845"/>
            <a:ext cx="109620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유닛 모듈러 설계 ·</a:t>
            </a:r>
            <a:endParaRPr lang="en-US" sz="1200" dirty="0"/>
          </a:p>
        </p:txBody>
      </p:sp>
      <p:sp>
        <p:nvSpPr>
          <p:cNvPr id="74" name="배치계획"/>
          <p:cNvSpPr txBox="1"/>
          <p:nvPr/>
        </p:nvSpPr>
        <p:spPr>
          <a:xfrm>
            <a:off x="7341791" y="4185345"/>
            <a:ext cx="569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배치계획</a:t>
            </a:r>
            <a:endParaRPr lang="en-US" sz="1200" dirty="0"/>
          </a:p>
        </p:txBody>
      </p:sp>
      <p:sp>
        <p:nvSpPr>
          <p:cNvPr id="75" name="팀원 B"/>
          <p:cNvSpPr txBox="1"/>
          <p:nvPr/>
        </p:nvSpPr>
        <p:spPr>
          <a:xfrm>
            <a:off x="6197005" y="4758134"/>
            <a:ext cx="45839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B</a:t>
            </a:r>
            <a:endParaRPr lang="en-US" sz="1200" dirty="0"/>
          </a:p>
        </p:txBody>
      </p:sp>
      <p:sp>
        <p:nvSpPr>
          <p:cNvPr id="76" name="Revit 기반"/>
          <p:cNvSpPr txBox="1"/>
          <p:nvPr/>
        </p:nvSpPr>
        <p:spPr>
          <a:xfrm>
            <a:off x="5995987" y="4985445"/>
            <a:ext cx="7078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Revit 기반</a:t>
            </a:r>
            <a:endParaRPr lang="en-US" sz="1200" dirty="0"/>
          </a:p>
        </p:txBody>
      </p:sp>
      <p:sp>
        <p:nvSpPr>
          <p:cNvPr id="77" name="BIM 모델링 ·"/>
          <p:cNvSpPr txBox="1"/>
          <p:nvPr/>
        </p:nvSpPr>
        <p:spPr>
          <a:xfrm>
            <a:off x="5933877" y="5175945"/>
            <a:ext cx="8321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BIM 모델링 ·</a:t>
            </a:r>
            <a:endParaRPr lang="en-US" sz="1200" dirty="0"/>
          </a:p>
        </p:txBody>
      </p:sp>
      <p:sp>
        <p:nvSpPr>
          <p:cNvPr id="78" name="데이터 구축"/>
          <p:cNvSpPr txBox="1"/>
          <p:nvPr/>
        </p:nvSpPr>
        <p:spPr>
          <a:xfrm>
            <a:off x="5986165" y="5366445"/>
            <a:ext cx="7274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데이터 구축</a:t>
            </a:r>
            <a:endParaRPr lang="en-US" sz="1200" dirty="0"/>
          </a:p>
        </p:txBody>
      </p:sp>
      <p:sp>
        <p:nvSpPr>
          <p:cNvPr id="79" name="팀원 C"/>
          <p:cNvSpPr txBox="1"/>
          <p:nvPr/>
        </p:nvSpPr>
        <p:spPr>
          <a:xfrm>
            <a:off x="4923234" y="3672284"/>
            <a:ext cx="45323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24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팀원 C</a:t>
            </a:r>
            <a:endParaRPr lang="en-US" sz="1200" dirty="0"/>
          </a:p>
        </p:txBody>
      </p:sp>
      <p:sp>
        <p:nvSpPr>
          <p:cNvPr id="80" name="리모델링 적용"/>
          <p:cNvSpPr txBox="1"/>
          <p:nvPr/>
        </p:nvSpPr>
        <p:spPr>
          <a:xfrm>
            <a:off x="4645124" y="3899595"/>
            <a:ext cx="85705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리모델링 적용</a:t>
            </a:r>
            <a:endParaRPr lang="en-US" sz="1200" dirty="0"/>
          </a:p>
        </p:txBody>
      </p:sp>
      <p:sp>
        <p:nvSpPr>
          <p:cNvPr id="81" name="시나리오 구성 ·"/>
          <p:cNvSpPr txBox="1"/>
          <p:nvPr/>
        </p:nvSpPr>
        <p:spPr>
          <a:xfrm>
            <a:off x="4609527" y="4090095"/>
            <a:ext cx="92824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시나리오 구성 ·</a:t>
            </a:r>
            <a:endParaRPr lang="en-US" sz="1200" dirty="0"/>
          </a:p>
        </p:txBody>
      </p:sp>
      <p:sp>
        <p:nvSpPr>
          <p:cNvPr id="82" name="시연 영상 제작"/>
          <p:cNvSpPr txBox="1"/>
          <p:nvPr/>
        </p:nvSpPr>
        <p:spPr>
          <a:xfrm>
            <a:off x="4630638" y="4280595"/>
            <a:ext cx="88602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4B5568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시연 영상 제작</a:t>
            </a:r>
            <a:endParaRPr lang="en-US" sz="1200" dirty="0"/>
          </a:p>
        </p:txBody>
      </p:sp>
      <p:sp>
        <p:nvSpPr>
          <p:cNvPr id="83" name="이틀마다 진행상황"/>
          <p:cNvSpPr txBox="1"/>
          <p:nvPr/>
        </p:nvSpPr>
        <p:spPr>
          <a:xfrm>
            <a:off x="7212023" y="4817864"/>
            <a:ext cx="95317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이틀마다 진행상황</a:t>
            </a:r>
            <a:endParaRPr lang="en-US" sz="1000" dirty="0"/>
          </a:p>
        </p:txBody>
      </p:sp>
      <p:sp>
        <p:nvSpPr>
          <p:cNvPr id="84" name="공유 · 피드백"/>
          <p:cNvSpPr txBox="1"/>
          <p:nvPr/>
        </p:nvSpPr>
        <p:spPr>
          <a:xfrm>
            <a:off x="7345561" y="4982964"/>
            <a:ext cx="6860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공유 · 피드백</a:t>
            </a:r>
            <a:endParaRPr lang="en-US" sz="1000" dirty="0"/>
          </a:p>
        </p:txBody>
      </p:sp>
      <p:sp>
        <p:nvSpPr>
          <p:cNvPr id="85" name="리모델링 앱 개발 아이디어 시연 영상"/>
          <p:cNvSpPr txBox="1"/>
          <p:nvPr/>
        </p:nvSpPr>
        <p:spPr>
          <a:xfrm>
            <a:off x="9239200" y="3497064"/>
            <a:ext cx="18713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86" name="장려상"/>
          <p:cNvSpPr txBox="1"/>
          <p:nvPr/>
        </p:nvSpPr>
        <p:spPr>
          <a:xfrm>
            <a:off x="9749433" y="4500364"/>
            <a:ext cx="795734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300" spc="-69" kern="0" dirty="0">
                <a:solidFill>
                  <a:srgbClr val="0B2147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장려상</a:t>
            </a:r>
            <a:endParaRPr lang="en-US" sz="2300" dirty="0"/>
          </a:p>
        </p:txBody>
      </p:sp>
      <p:sp>
        <p:nvSpPr>
          <p:cNvPr id="87" name="학생 BIM 경진대회 장려상 · 남은 3주 내 완성"/>
          <p:cNvSpPr txBox="1"/>
          <p:nvPr/>
        </p:nvSpPr>
        <p:spPr>
          <a:xfrm>
            <a:off x="9014619" y="5376664"/>
            <a:ext cx="234743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학생 BIM 경진대회 장려상 · 남은 3주 내 완성</a:t>
            </a:r>
            <a:endParaRPr lang="en-US" sz="1000" dirty="0"/>
          </a:p>
        </p:txBody>
      </p:sp>
      <p:sp>
        <p:nvSpPr>
          <p:cNvPr id="88" name="KEY MESSAGE"/>
          <p:cNvSpPr txBox="1"/>
          <p:nvPr/>
        </p:nvSpPr>
        <p:spPr>
          <a:xfrm>
            <a:off x="1308100" y="60072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9" name="서로 다른 사람을 하나의 공동 목표로 연결합니다"/>
          <p:cNvSpPr txBox="1"/>
          <p:nvPr/>
        </p:nvSpPr>
        <p:spPr>
          <a:xfrm>
            <a:off x="2591395" y="5954514"/>
            <a:ext cx="415166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서로 다른 사람을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연결합니다</a:t>
            </a:r>
            <a:endParaRPr lang="en-US" sz="1700" dirty="0"/>
          </a:p>
        </p:txBody>
      </p:sp>
      <p:sp>
        <p:nvSpPr>
          <p:cNvPr id="90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91" name="01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01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p2-tag" descr="p2-t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2250" y="1917303"/>
            <a:ext cx="177800" cy="12700"/>
          </a:xfrm>
          <a:prstGeom prst="rect">
            <a:avLst/>
          </a:prstGeom>
        </p:spPr>
      </p:pic>
      <p:sp>
        <p:nvSpPr>
          <p:cNvPr id="9" name="em"/>
          <p:cNvSpPr/>
          <p:nvPr/>
        </p:nvSpPr>
        <p:spPr>
          <a:xfrm>
            <a:off x="3575149" y="1827312"/>
            <a:ext cx="692150" cy="184150"/>
          </a:xfrm>
          <a:prstGeom prst="roundRect">
            <a:avLst>
              <a:gd name="adj" fmla="val 27586"/>
            </a:avLst>
          </a:prstGeom>
          <a:solidFill>
            <a:srgbClr val="EEF4FC"/>
          </a:solidFill>
          <a:ln/>
        </p:spPr>
      </p:sp>
      <p:sp>
        <p:nvSpPr>
          <p:cNvPr id="10" name="p2-panel"/>
          <p:cNvSpPr/>
          <p:nvPr/>
        </p:nvSpPr>
        <p:spPr>
          <a:xfrm>
            <a:off x="615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11" name="i"/>
          <p:cNvSpPr/>
          <p:nvPr/>
        </p:nvSpPr>
        <p:spPr>
          <a:xfrm>
            <a:off x="14819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2" name="b"/>
          <p:cNvSpPr/>
          <p:nvPr/>
        </p:nvSpPr>
        <p:spPr>
          <a:xfrm>
            <a:off x="1545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13" name="i"/>
          <p:cNvSpPr/>
          <p:nvPr/>
        </p:nvSpPr>
        <p:spPr>
          <a:xfrm>
            <a:off x="1685131" y="24556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4" name="p2-svg" descr="p2-sv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3650" y="2936147"/>
            <a:ext cx="3822700" cy="2023533"/>
          </a:xfrm>
          <a:prstGeom prst="rect">
            <a:avLst/>
          </a:prstGeom>
        </p:spPr>
      </p:pic>
      <p:sp>
        <p:nvSpPr>
          <p:cNvPr id="15" name="p2-n chip people"/>
          <p:cNvSpPr/>
          <p:nvPr/>
        </p:nvSpPr>
        <p:spPr>
          <a:xfrm>
            <a:off x="2861518" y="279856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6" name="dot people"/>
          <p:cNvSpPr/>
          <p:nvPr/>
        </p:nvSpPr>
        <p:spPr>
          <a:xfrm>
            <a:off x="2988518" y="291286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7" name="p2-n chip people"/>
          <p:cNvSpPr/>
          <p:nvPr/>
        </p:nvSpPr>
        <p:spPr>
          <a:xfrm>
            <a:off x="4673154" y="3491905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18" name="dot people"/>
          <p:cNvSpPr/>
          <p:nvPr/>
        </p:nvSpPr>
        <p:spPr>
          <a:xfrm>
            <a:off x="4800154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19" name="p2-n chip people"/>
          <p:cNvSpPr/>
          <p:nvPr/>
        </p:nvSpPr>
        <p:spPr>
          <a:xfrm>
            <a:off x="398100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0" name="dot people"/>
          <p:cNvSpPr/>
          <p:nvPr/>
        </p:nvSpPr>
        <p:spPr>
          <a:xfrm>
            <a:off x="410800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1" name="p2-n chip people"/>
          <p:cNvSpPr/>
          <p:nvPr/>
        </p:nvSpPr>
        <p:spPr>
          <a:xfrm>
            <a:off x="1741934" y="4613374"/>
            <a:ext cx="626963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2" name="dot people"/>
          <p:cNvSpPr/>
          <p:nvPr/>
        </p:nvSpPr>
        <p:spPr>
          <a:xfrm>
            <a:off x="1868934" y="4727674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23" name="p2-n chip people"/>
          <p:cNvSpPr/>
          <p:nvPr/>
        </p:nvSpPr>
        <p:spPr>
          <a:xfrm>
            <a:off x="926852" y="3491905"/>
            <a:ext cx="872827" cy="292100"/>
          </a:xfrm>
          <a:prstGeom prst="roundRect">
            <a:avLst>
              <a:gd name="adj" fmla="val 50000"/>
            </a:avLst>
          </a:prstGeom>
          <a:solidFill>
            <a:srgbClr val="E5F6EC"/>
          </a:solidFill>
          <a:ln/>
        </p:spPr>
      </p:sp>
      <p:sp>
        <p:nvSpPr>
          <p:cNvPr id="24" name="dot people"/>
          <p:cNvSpPr/>
          <p:nvPr/>
        </p:nvSpPr>
        <p:spPr>
          <a:xfrm>
            <a:off x="1053852" y="3606205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25" name="p2-n ring p2-goal" descr="p2-n ring p2-go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1600" y="3416631"/>
            <a:ext cx="1066800" cy="1066800"/>
          </a:xfrm>
          <a:prstGeom prst="rect">
            <a:avLst/>
          </a:prstGeom>
        </p:spPr>
      </p:pic>
      <p:pic>
        <p:nvPicPr>
          <p:cNvPr id="26" name="ring" descr="r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2000" y="3696031"/>
            <a:ext cx="508000" cy="508000"/>
          </a:xfrm>
          <a:prstGeom prst="rect">
            <a:avLst/>
          </a:prstGeom>
        </p:spPr>
      </p:pic>
      <p:pic>
        <p:nvPicPr>
          <p:cNvPr id="27" name="svg" descr="sv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0167" y="3844197"/>
            <a:ext cx="211667" cy="211667"/>
          </a:xfrm>
          <a:prstGeom prst="rect">
            <a:avLst/>
          </a:prstGeom>
        </p:spPr>
      </p:pic>
      <p:sp>
        <p:nvSpPr>
          <p:cNvPr id="28" name="p2-panel"/>
          <p:cNvSpPr/>
          <p:nvPr/>
        </p:nvSpPr>
        <p:spPr>
          <a:xfrm>
            <a:off x="6457950" y="2150864"/>
            <a:ext cx="5118100" cy="2959100"/>
          </a:xfrm>
          <a:prstGeom prst="roundRect">
            <a:avLst>
              <a:gd name="adj" fmla="val 4506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9" name="i"/>
          <p:cNvSpPr/>
          <p:nvPr/>
        </p:nvSpPr>
        <p:spPr>
          <a:xfrm>
            <a:off x="7323931" y="24556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0" name="b"/>
          <p:cNvSpPr/>
          <p:nvPr/>
        </p:nvSpPr>
        <p:spPr>
          <a:xfrm>
            <a:off x="7387431" y="2481064"/>
            <a:ext cx="1397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31" name="i"/>
          <p:cNvSpPr/>
          <p:nvPr/>
        </p:nvSpPr>
        <p:spPr>
          <a:xfrm>
            <a:off x="7527131" y="24556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p2-svg" descr="p2-sv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58617" y="3101247"/>
            <a:ext cx="2916767" cy="1697567"/>
          </a:xfrm>
          <a:prstGeom prst="rect">
            <a:avLst/>
          </a:prstGeom>
        </p:spPr>
      </p:pic>
      <p:sp>
        <p:nvSpPr>
          <p:cNvPr id="33" name="p2-n chip tech p2-tchip"/>
          <p:cNvSpPr/>
          <p:nvPr/>
        </p:nvSpPr>
        <p:spPr>
          <a:xfrm>
            <a:off x="6654800" y="3192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4" name="dot tech"/>
          <p:cNvSpPr/>
          <p:nvPr/>
        </p:nvSpPr>
        <p:spPr>
          <a:xfrm>
            <a:off x="6973689" y="33065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5" name="p2-n chip tech p2-tchip"/>
          <p:cNvSpPr/>
          <p:nvPr/>
        </p:nvSpPr>
        <p:spPr>
          <a:xfrm>
            <a:off x="6654800" y="38018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6" name="dot tech"/>
          <p:cNvSpPr/>
          <p:nvPr/>
        </p:nvSpPr>
        <p:spPr>
          <a:xfrm>
            <a:off x="6905427" y="39161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37" name="p2-n chip tech p2-tchip"/>
          <p:cNvSpPr/>
          <p:nvPr/>
        </p:nvSpPr>
        <p:spPr>
          <a:xfrm>
            <a:off x="6654800" y="4411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EEF4FC"/>
          </a:solidFill>
          <a:ln/>
        </p:spPr>
      </p:sp>
      <p:sp>
        <p:nvSpPr>
          <p:cNvPr id="38" name="dot tech"/>
          <p:cNvSpPr/>
          <p:nvPr/>
        </p:nvSpPr>
        <p:spPr>
          <a:xfrm>
            <a:off x="6864052" y="4525764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39" name="p2-n ring p2-field" descr="p2-n ring p2-fiel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83600" y="3416631"/>
            <a:ext cx="1066800" cy="1066800"/>
          </a:xfrm>
          <a:prstGeom prst="rect">
            <a:avLst/>
          </a:prstGeom>
        </p:spPr>
      </p:pic>
      <p:sp>
        <p:nvSpPr>
          <p:cNvPr id="40" name="p2-n chip field p2-ochip"/>
          <p:cNvSpPr/>
          <p:nvPr/>
        </p:nvSpPr>
        <p:spPr>
          <a:xfrm>
            <a:off x="10464800" y="29636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1" name="dot field"/>
          <p:cNvSpPr/>
          <p:nvPr/>
        </p:nvSpPr>
        <p:spPr>
          <a:xfrm>
            <a:off x="10735469" y="30779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2" name="p2-n chip field p2-ochip"/>
          <p:cNvSpPr/>
          <p:nvPr/>
        </p:nvSpPr>
        <p:spPr>
          <a:xfrm>
            <a:off x="10464800" y="35224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3" name="dot field"/>
          <p:cNvSpPr/>
          <p:nvPr/>
        </p:nvSpPr>
        <p:spPr>
          <a:xfrm>
            <a:off x="10735469" y="36367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4" name="p2-n chip field p2-ochip"/>
          <p:cNvSpPr/>
          <p:nvPr/>
        </p:nvSpPr>
        <p:spPr>
          <a:xfrm>
            <a:off x="10464800" y="40812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5" name="dot field"/>
          <p:cNvSpPr/>
          <p:nvPr/>
        </p:nvSpPr>
        <p:spPr>
          <a:xfrm>
            <a:off x="10735469" y="41955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6" name="p2-n chip field p2-ochip"/>
          <p:cNvSpPr/>
          <p:nvPr/>
        </p:nvSpPr>
        <p:spPr>
          <a:xfrm>
            <a:off x="10464800" y="4640064"/>
            <a:ext cx="914400" cy="2921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7" name="dot field"/>
          <p:cNvSpPr/>
          <p:nvPr/>
        </p:nvSpPr>
        <p:spPr>
          <a:xfrm>
            <a:off x="10674052" y="4754364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8" name="key"/>
          <p:cNvSpPr/>
          <p:nvPr/>
        </p:nvSpPr>
        <p:spPr>
          <a:xfrm>
            <a:off x="609600" y="57259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pic>
        <p:nvPicPr>
          <p:cNvPr id="49" name="p2-svg" descr="p2-sv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26317" y="5069747"/>
            <a:ext cx="5939367" cy="668867"/>
          </a:xfrm>
          <a:prstGeom prst="rect">
            <a:avLst/>
          </a:prstGeom>
        </p:spPr>
      </p:pic>
      <p:pic>
        <p:nvPicPr>
          <p:cNvPr id="50" name="p2-eqop ring solid" descr="p2-eqop ring soli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92800" y="5194631"/>
            <a:ext cx="406400" cy="406400"/>
          </a:xfrm>
          <a:prstGeom prst="rect">
            <a:avLst/>
          </a:prstGeom>
        </p:spPr>
      </p:pic>
      <p:pic>
        <p:nvPicPr>
          <p:cNvPr id="51" name="svg" descr="sv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2867" y="5342797"/>
            <a:ext cx="186267" cy="110067"/>
          </a:xfrm>
          <a:prstGeom prst="rect">
            <a:avLst/>
          </a:prstGeom>
        </p:spPr>
      </p:pic>
      <p:sp>
        <p:nvSpPr>
          <p:cNvPr id="52" name="i"/>
          <p:cNvSpPr/>
          <p:nvPr/>
        </p:nvSpPr>
        <p:spPr>
          <a:xfrm>
            <a:off x="863600" y="59994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53" name="b"/>
          <p:cNvSpPr/>
          <p:nvPr/>
        </p:nvSpPr>
        <p:spPr>
          <a:xfrm>
            <a:off x="9271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4" name="i"/>
          <p:cNvSpPr/>
          <p:nvPr/>
        </p:nvSpPr>
        <p:spPr>
          <a:xfrm>
            <a:off x="1016000" y="59994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5" name="b"/>
          <p:cNvSpPr/>
          <p:nvPr/>
        </p:nvSpPr>
        <p:spPr>
          <a:xfrm>
            <a:off x="1079500" y="60248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56" name="i"/>
          <p:cNvSpPr/>
          <p:nvPr/>
        </p:nvSpPr>
        <p:spPr>
          <a:xfrm>
            <a:off x="1168400" y="59994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57" name="02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1100" dirty="0"/>
          </a:p>
        </p:txBody>
      </p:sp>
      <p:sp>
        <p:nvSpPr>
          <p:cNvPr id="58" name="PT 주제 2 · 가치체계 키워드 ‘우리의 기술’"/>
          <p:cNvSpPr txBox="1"/>
          <p:nvPr/>
        </p:nvSpPr>
        <p:spPr>
          <a:xfrm>
            <a:off x="1347589" y="419100"/>
            <a:ext cx="24272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가치체계 키워드 ‘우리의 기술’</a:t>
            </a:r>
            <a:endParaRPr lang="en-US" sz="1100" dirty="0"/>
          </a:p>
        </p:txBody>
      </p:sp>
      <p:sp>
        <p:nvSpPr>
          <p:cNvPr id="59" name="현대엔지니어링 가치체계 키워드 중"/>
          <p:cNvSpPr txBox="1"/>
          <p:nvPr/>
        </p:nvSpPr>
        <p:spPr>
          <a:xfrm>
            <a:off x="609600" y="774005"/>
            <a:ext cx="2907897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현대엔지니어링 가치체계 키워드 중</a:t>
            </a:r>
            <a:endParaRPr lang="en-US" sz="1600" dirty="0"/>
          </a:p>
        </p:txBody>
      </p:sp>
      <p:sp>
        <p:nvSpPr>
          <p:cNvPr id="60" name="저는 ‘우리의 기술’을 이렇게 이해했습니다"/>
          <p:cNvSpPr txBox="1"/>
          <p:nvPr/>
        </p:nvSpPr>
        <p:spPr>
          <a:xfrm>
            <a:off x="609600" y="1100336"/>
            <a:ext cx="5886785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’을 이렇게 이해했습니다</a:t>
            </a:r>
            <a:endParaRPr lang="en-US" sz="2800" dirty="0"/>
          </a:p>
        </p:txBody>
      </p:sp>
      <p:sp>
        <p:nvSpPr>
          <p:cNvPr id="61" name="가치체계 정체성"/>
          <p:cNvSpPr txBox="1"/>
          <p:nvPr/>
        </p:nvSpPr>
        <p:spPr>
          <a:xfrm>
            <a:off x="609600" y="1847453"/>
            <a:ext cx="8592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38" kern="0" dirty="0">
                <a:solidFill>
                  <a:srgbClr val="2A78D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가치체계 정체성</a:t>
            </a:r>
            <a:endParaRPr lang="en-US" sz="950" dirty="0"/>
          </a:p>
        </p:txBody>
      </p:sp>
      <p:sp>
        <p:nvSpPr>
          <p:cNvPr id="62" name="“공간과 에너지를 잇는 길 위에서, 우리의 기술로 더 나은 삶을 만듭니다"/>
          <p:cNvSpPr txBox="1"/>
          <p:nvPr/>
        </p:nvSpPr>
        <p:spPr>
          <a:xfrm>
            <a:off x="1786334" y="1833662"/>
            <a:ext cx="406468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“공간과 에너지를 잇는 길 위에서, 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100" spc="-2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로 더 나은 삶을 만듭니다”</a:t>
            </a:r>
            <a:endParaRPr lang="en-US" sz="1100" dirty="0"/>
          </a:p>
        </p:txBody>
      </p:sp>
      <p:sp>
        <p:nvSpPr>
          <p:cNvPr id="63" name="우리"/>
          <p:cNvSpPr txBox="1"/>
          <p:nvPr/>
        </p:nvSpPr>
        <p:spPr>
          <a:xfrm>
            <a:off x="812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A94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우리</a:t>
            </a:r>
            <a:endParaRPr lang="en-US" sz="2600" dirty="0"/>
          </a:p>
        </p:txBody>
      </p:sp>
      <p:sp>
        <p:nvSpPr>
          <p:cNvPr id="64" name="사람과 전문성의 연결"/>
          <p:cNvSpPr txBox="1"/>
          <p:nvPr/>
        </p:nvSpPr>
        <p:spPr>
          <a:xfrm>
            <a:off x="1862931" y="2377579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전문성의 연결</a:t>
            </a:r>
            <a:endParaRPr lang="en-US" sz="1400" dirty="0"/>
          </a:p>
        </p:txBody>
      </p:sp>
      <p:sp>
        <p:nvSpPr>
          <p:cNvPr id="65" name="PEOPLE"/>
          <p:cNvSpPr txBox="1"/>
          <p:nvPr/>
        </p:nvSpPr>
        <p:spPr>
          <a:xfrm>
            <a:off x="4907855" y="2412603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6" name="설계"/>
          <p:cNvSpPr txBox="1"/>
          <p:nvPr/>
        </p:nvSpPr>
        <p:spPr>
          <a:xfrm>
            <a:off x="3115518" y="28560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설계</a:t>
            </a:r>
            <a:endParaRPr lang="en-US" sz="1100" dirty="0"/>
          </a:p>
        </p:txBody>
      </p:sp>
      <p:sp>
        <p:nvSpPr>
          <p:cNvPr id="67" name="시공"/>
          <p:cNvSpPr txBox="1"/>
          <p:nvPr/>
        </p:nvSpPr>
        <p:spPr>
          <a:xfrm>
            <a:off x="4927154" y="354935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시공</a:t>
            </a:r>
            <a:endParaRPr lang="en-US" sz="1100" dirty="0"/>
          </a:p>
        </p:txBody>
      </p:sp>
      <p:sp>
        <p:nvSpPr>
          <p:cNvPr id="68" name="품질"/>
          <p:cNvSpPr txBox="1"/>
          <p:nvPr/>
        </p:nvSpPr>
        <p:spPr>
          <a:xfrm>
            <a:off x="423500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69" name="안전"/>
          <p:cNvSpPr txBox="1"/>
          <p:nvPr/>
        </p:nvSpPr>
        <p:spPr>
          <a:xfrm>
            <a:off x="1995934" y="467082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70" name="협력업체"/>
          <p:cNvSpPr txBox="1"/>
          <p:nvPr/>
        </p:nvSpPr>
        <p:spPr>
          <a:xfrm>
            <a:off x="1180852" y="3549352"/>
            <a:ext cx="54262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B6B33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협력업체</a:t>
            </a:r>
            <a:endParaRPr lang="en-US" sz="1100" dirty="0"/>
          </a:p>
        </p:txBody>
      </p:sp>
      <p:sp>
        <p:nvSpPr>
          <p:cNvPr id="71" name="하나의 목표"/>
          <p:cNvSpPr txBox="1"/>
          <p:nvPr/>
        </p:nvSpPr>
        <p:spPr>
          <a:xfrm>
            <a:off x="2888952" y="3645991"/>
            <a:ext cx="572095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spc="-9" kern="0" dirty="0">
                <a:solidFill>
                  <a:srgbClr val="00A94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endParaRPr lang="en-US" sz="900" dirty="0"/>
          </a:p>
        </p:txBody>
      </p:sp>
      <p:sp>
        <p:nvSpPr>
          <p:cNvPr id="72" name="프로젝트"/>
          <p:cNvSpPr txBox="1"/>
          <p:nvPr/>
        </p:nvSpPr>
        <p:spPr>
          <a:xfrm>
            <a:off x="2829520" y="3818037"/>
            <a:ext cx="690959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프로젝트</a:t>
            </a:r>
            <a:endParaRPr lang="en-US" sz="1500" dirty="0"/>
          </a:p>
        </p:txBody>
      </p:sp>
      <p:sp>
        <p:nvSpPr>
          <p:cNvPr id="73" name="완수"/>
          <p:cNvSpPr txBox="1"/>
          <p:nvPr/>
        </p:nvSpPr>
        <p:spPr>
          <a:xfrm>
            <a:off x="2989560" y="4037112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완수</a:t>
            </a:r>
            <a:endParaRPr lang="en-US" sz="1500" dirty="0"/>
          </a:p>
        </p:txBody>
      </p:sp>
      <p:sp>
        <p:nvSpPr>
          <p:cNvPr id="74" name="기술"/>
          <p:cNvSpPr txBox="1"/>
          <p:nvPr/>
        </p:nvSpPr>
        <p:spPr>
          <a:xfrm>
            <a:off x="6654800" y="2290564"/>
            <a:ext cx="605631" cy="387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600" spc="-104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2600" dirty="0"/>
          </a:p>
        </p:txBody>
      </p:sp>
      <p:sp>
        <p:nvSpPr>
          <p:cNvPr id="75" name="현장 문제 해결에 활용"/>
          <p:cNvSpPr txBox="1"/>
          <p:nvPr/>
        </p:nvSpPr>
        <p:spPr>
          <a:xfrm>
            <a:off x="7704931" y="2377579"/>
            <a:ext cx="1549287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 문제 해결에 활용</a:t>
            </a:r>
            <a:endParaRPr lang="en-US" sz="1400" dirty="0"/>
          </a:p>
        </p:txBody>
      </p:sp>
      <p:sp>
        <p:nvSpPr>
          <p:cNvPr id="76" name="TECHNOLOGY"/>
          <p:cNvSpPr txBox="1"/>
          <p:nvPr/>
        </p:nvSpPr>
        <p:spPr>
          <a:xfrm>
            <a:off x="10294144" y="2412603"/>
            <a:ext cx="115016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TECHNOLOGY</a:t>
            </a:r>
            <a:endParaRPr lang="en-US" sz="950" dirty="0"/>
          </a:p>
        </p:txBody>
      </p:sp>
      <p:sp>
        <p:nvSpPr>
          <p:cNvPr id="77" name="AI"/>
          <p:cNvSpPr txBox="1"/>
          <p:nvPr/>
        </p:nvSpPr>
        <p:spPr>
          <a:xfrm>
            <a:off x="7100689" y="3249712"/>
            <a:ext cx="2003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AI</a:t>
            </a:r>
            <a:endParaRPr lang="en-US" sz="1100" dirty="0"/>
          </a:p>
        </p:txBody>
      </p:sp>
      <p:sp>
        <p:nvSpPr>
          <p:cNvPr id="78" name="BIM"/>
          <p:cNvSpPr txBox="1"/>
          <p:nvPr/>
        </p:nvSpPr>
        <p:spPr>
          <a:xfrm>
            <a:off x="7032427" y="3859312"/>
            <a:ext cx="33694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BIM</a:t>
            </a:r>
            <a:endParaRPr lang="en-US" sz="1100" dirty="0"/>
          </a:p>
        </p:txBody>
      </p:sp>
      <p:sp>
        <p:nvSpPr>
          <p:cNvPr id="79" name="데이터"/>
          <p:cNvSpPr txBox="1"/>
          <p:nvPr/>
        </p:nvSpPr>
        <p:spPr>
          <a:xfrm>
            <a:off x="6991052" y="44689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데이터</a:t>
            </a:r>
            <a:endParaRPr lang="en-US" sz="1100" dirty="0"/>
          </a:p>
        </p:txBody>
      </p:sp>
      <p:sp>
        <p:nvSpPr>
          <p:cNvPr id="80" name="현장의"/>
          <p:cNvSpPr txBox="1"/>
          <p:nvPr/>
        </p:nvSpPr>
        <p:spPr>
          <a:xfrm>
            <a:off x="8751491" y="3735189"/>
            <a:ext cx="53092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</a:t>
            </a:r>
            <a:endParaRPr lang="en-US" sz="1500" dirty="0"/>
          </a:p>
        </p:txBody>
      </p:sp>
      <p:sp>
        <p:nvSpPr>
          <p:cNvPr id="81" name="문제"/>
          <p:cNvSpPr txBox="1"/>
          <p:nvPr/>
        </p:nvSpPr>
        <p:spPr>
          <a:xfrm>
            <a:off x="8831461" y="3954264"/>
            <a:ext cx="370880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500" spc="-60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</a:t>
            </a:r>
            <a:endParaRPr lang="en-US" sz="1500" dirty="0"/>
          </a:p>
        </p:txBody>
      </p:sp>
      <p:sp>
        <p:nvSpPr>
          <p:cNvPr id="82" name="공정"/>
          <p:cNvSpPr txBox="1"/>
          <p:nvPr/>
        </p:nvSpPr>
        <p:spPr>
          <a:xfrm>
            <a:off x="10862469" y="30211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공정</a:t>
            </a:r>
            <a:endParaRPr lang="en-US" sz="1100" dirty="0"/>
          </a:p>
        </p:txBody>
      </p:sp>
      <p:sp>
        <p:nvSpPr>
          <p:cNvPr id="83" name="품질"/>
          <p:cNvSpPr txBox="1"/>
          <p:nvPr/>
        </p:nvSpPr>
        <p:spPr>
          <a:xfrm>
            <a:off x="10862469" y="35799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품질</a:t>
            </a:r>
            <a:endParaRPr lang="en-US" sz="1100" dirty="0"/>
          </a:p>
        </p:txBody>
      </p:sp>
      <p:sp>
        <p:nvSpPr>
          <p:cNvPr id="84" name="안전"/>
          <p:cNvSpPr txBox="1"/>
          <p:nvPr/>
        </p:nvSpPr>
        <p:spPr>
          <a:xfrm>
            <a:off x="10862469" y="4138712"/>
            <a:ext cx="29676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안전</a:t>
            </a:r>
            <a:endParaRPr lang="en-US" sz="1100" dirty="0"/>
          </a:p>
        </p:txBody>
      </p:sp>
      <p:sp>
        <p:nvSpPr>
          <p:cNvPr id="85" name="생산성"/>
          <p:cNvSpPr txBox="1"/>
          <p:nvPr/>
        </p:nvSpPr>
        <p:spPr>
          <a:xfrm>
            <a:off x="10801052" y="4697512"/>
            <a:ext cx="4196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dirty="0">
                <a:solidFill>
                  <a:srgbClr val="8A5A0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생산성</a:t>
            </a:r>
            <a:endParaRPr lang="en-US" sz="1100" dirty="0"/>
          </a:p>
        </p:txBody>
      </p:sp>
      <p:sp>
        <p:nvSpPr>
          <p:cNvPr id="86" name="‘우리’의 ‘기술’"/>
          <p:cNvSpPr txBox="1"/>
          <p:nvPr/>
        </p:nvSpPr>
        <p:spPr>
          <a:xfrm>
            <a:off x="1308100" y="5942707"/>
            <a:ext cx="865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11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‘우리’의 ‘기술’</a:t>
            </a:r>
            <a:endParaRPr lang="en-US" sz="1100" dirty="0"/>
          </a:p>
        </p:txBody>
      </p:sp>
      <p:sp>
        <p:nvSpPr>
          <p:cNvPr id="87" name="사람과 전문성을 하나의 목표로, 기술을 현장의 가치로 연결하는 것"/>
          <p:cNvSpPr txBox="1"/>
          <p:nvPr/>
        </p:nvSpPr>
        <p:spPr>
          <a:xfrm>
            <a:off x="2300585" y="5903714"/>
            <a:ext cx="565709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사람과 전문성을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로, 기술을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가치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로 연결하는 것</a:t>
            </a:r>
            <a:endParaRPr lang="en-US" sz="1700" dirty="0"/>
          </a:p>
        </p:txBody>
      </p:sp>
      <p:sp>
        <p:nvSpPr>
          <p:cNvPr id="88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9" name="02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02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"/>
          <p:cNvSpPr/>
          <p:nvPr/>
        </p:nvSpPr>
        <p:spPr>
          <a:xfrm>
            <a:off x="609600" y="475853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3" name="b"/>
          <p:cNvSpPr/>
          <p:nvPr/>
        </p:nvSpPr>
        <p:spPr>
          <a:xfrm>
            <a:off x="6731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" name="i"/>
          <p:cNvSpPr/>
          <p:nvPr/>
        </p:nvSpPr>
        <p:spPr>
          <a:xfrm>
            <a:off x="762000" y="475853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5" name="b"/>
          <p:cNvSpPr/>
          <p:nvPr/>
        </p:nvSpPr>
        <p:spPr>
          <a:xfrm>
            <a:off x="825500" y="501253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6" name="i"/>
          <p:cNvSpPr/>
          <p:nvPr/>
        </p:nvSpPr>
        <p:spPr>
          <a:xfrm>
            <a:off x="914400" y="475853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7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87252" y="440002"/>
            <a:ext cx="1392767" cy="198967"/>
          </a:xfrm>
          <a:prstGeom prst="rect">
            <a:avLst/>
          </a:prstGeom>
        </p:spPr>
      </p:pic>
      <p:pic>
        <p:nvPicPr>
          <p:cNvPr id="8" name="svg" descr="sv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817" y="2347714"/>
            <a:ext cx="8020050" cy="2683933"/>
          </a:xfrm>
          <a:prstGeom prst="rect">
            <a:avLst/>
          </a:prstGeom>
        </p:spPr>
      </p:pic>
      <p:sp>
        <p:nvSpPr>
          <p:cNvPr id="9" name="dot field"/>
          <p:cNvSpPr/>
          <p:nvPr/>
        </p:nvSpPr>
        <p:spPr>
          <a:xfrm>
            <a:off x="6096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10" name="a node ring n-field" descr="a node ring n-fiel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2902281"/>
            <a:ext cx="1574800" cy="1574800"/>
          </a:xfrm>
          <a:prstGeom prst="rect">
            <a:avLst/>
          </a:prstGeom>
        </p:spPr>
      </p:pic>
      <p:pic>
        <p:nvPicPr>
          <p:cNvPr id="11" name="ic" descr="ic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6717" y="3447091"/>
            <a:ext cx="300567" cy="177800"/>
          </a:xfrm>
          <a:prstGeom prst="rect">
            <a:avLst/>
          </a:prstGeom>
        </p:spPr>
      </p:pic>
      <p:pic>
        <p:nvPicPr>
          <p:cNvPr id="12" name="li" descr="li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4724731"/>
            <a:ext cx="88900" cy="12700"/>
          </a:xfrm>
          <a:prstGeom prst="rect">
            <a:avLst/>
          </a:prstGeom>
        </p:spPr>
      </p:pic>
      <p:pic>
        <p:nvPicPr>
          <p:cNvPr id="13" name="li" descr="li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4966196"/>
            <a:ext cx="88900" cy="12700"/>
          </a:xfrm>
          <a:prstGeom prst="rect">
            <a:avLst/>
          </a:prstGeom>
        </p:spPr>
      </p:pic>
      <p:pic>
        <p:nvPicPr>
          <p:cNvPr id="14" name="a node ring joint" descr="a node ring join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28900" y="3473781"/>
            <a:ext cx="431800" cy="431800"/>
          </a:xfrm>
          <a:prstGeom prst="rect">
            <a:avLst/>
          </a:prstGeom>
        </p:spPr>
      </p:pic>
      <p:pic>
        <p:nvPicPr>
          <p:cNvPr id="15" name="svg" descr="sv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0717" y="3615597"/>
            <a:ext cx="148167" cy="148167"/>
          </a:xfrm>
          <a:prstGeom prst="rect">
            <a:avLst/>
          </a:prstGeom>
        </p:spPr>
      </p:pic>
      <p:sp>
        <p:nvSpPr>
          <p:cNvPr id="16" name="a ms"/>
          <p:cNvSpPr/>
          <p:nvPr/>
        </p:nvSpPr>
        <p:spPr>
          <a:xfrm>
            <a:off x="2476202" y="39987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17" name="dot people"/>
          <p:cNvSpPr/>
          <p:nvPr/>
        </p:nvSpPr>
        <p:spPr>
          <a:xfrm>
            <a:off x="4178300" y="1860947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pic>
        <p:nvPicPr>
          <p:cNvPr id="18" name="li" descr="li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178300" y="2394777"/>
            <a:ext cx="88900" cy="12700"/>
          </a:xfrm>
          <a:prstGeom prst="rect">
            <a:avLst/>
          </a:prstGeom>
        </p:spPr>
      </p:pic>
      <p:pic>
        <p:nvPicPr>
          <p:cNvPr id="19" name="li" descr="li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78300" y="2636242"/>
            <a:ext cx="88900" cy="12700"/>
          </a:xfrm>
          <a:prstGeom prst="rect">
            <a:avLst/>
          </a:prstGeom>
        </p:spPr>
      </p:pic>
      <p:sp>
        <p:nvSpPr>
          <p:cNvPr id="20" name="a node n-ppl"/>
          <p:cNvSpPr/>
          <p:nvPr/>
        </p:nvSpPr>
        <p:spPr>
          <a:xfrm>
            <a:off x="4187825" y="2852539"/>
            <a:ext cx="615950" cy="615950"/>
          </a:xfrm>
          <a:prstGeom prst="ellipse">
            <a:avLst/>
          </a:prstGeom>
          <a:solidFill>
            <a:srgbClr val="E5F6EC"/>
          </a:solidFill>
          <a:ln w="19050">
            <a:solidFill>
              <a:srgbClr val="00A94F"/>
            </a:solidFill>
            <a:prstDash val="solid"/>
          </a:ln>
        </p:spPr>
      </p:sp>
      <p:pic>
        <p:nvPicPr>
          <p:cNvPr id="21" name="ic" descr="ic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415367" y="2998821"/>
            <a:ext cx="160867" cy="129117"/>
          </a:xfrm>
          <a:prstGeom prst="rect">
            <a:avLst/>
          </a:prstGeom>
        </p:spPr>
      </p:pic>
      <p:sp>
        <p:nvSpPr>
          <p:cNvPr id="22" name="a chip ghost gh"/>
          <p:cNvSpPr/>
          <p:nvPr/>
        </p:nvSpPr>
        <p:spPr>
          <a:xfrm>
            <a:off x="6323707" y="2836664"/>
            <a:ext cx="629543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3" name="a plus"/>
          <p:cNvSpPr/>
          <p:nvPr/>
        </p:nvSpPr>
        <p:spPr>
          <a:xfrm>
            <a:off x="5772150" y="3541514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prstDash val="solid"/>
          </a:ln>
        </p:spPr>
      </p:sp>
      <p:pic>
        <p:nvPicPr>
          <p:cNvPr id="24" name="svg" descr="sv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65283" y="3636764"/>
            <a:ext cx="105833" cy="105833"/>
          </a:xfrm>
          <a:prstGeom prst="rect">
            <a:avLst/>
          </a:prstGeom>
        </p:spPr>
      </p:pic>
      <p:sp>
        <p:nvSpPr>
          <p:cNvPr id="25" name="a node n-tch"/>
          <p:cNvSpPr/>
          <p:nvPr/>
        </p:nvSpPr>
        <p:spPr>
          <a:xfrm>
            <a:off x="4187825" y="3906639"/>
            <a:ext cx="615950" cy="615950"/>
          </a:xfrm>
          <a:prstGeom prst="ellipse">
            <a:avLst/>
          </a:prstGeom>
          <a:solidFill>
            <a:srgbClr val="EEF4FC"/>
          </a:solidFill>
          <a:ln w="19050">
            <a:solidFill>
              <a:srgbClr val="004B8D"/>
            </a:solidFill>
            <a:prstDash val="solid"/>
          </a:ln>
        </p:spPr>
      </p:sp>
      <p:pic>
        <p:nvPicPr>
          <p:cNvPr id="26" name="ic" descr="ic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21717" y="4033871"/>
            <a:ext cx="148167" cy="160867"/>
          </a:xfrm>
          <a:prstGeom prst="rect">
            <a:avLst/>
          </a:prstGeom>
        </p:spPr>
      </p:pic>
      <p:sp>
        <p:nvSpPr>
          <p:cNvPr id="27" name="a chip ghost gh"/>
          <p:cNvSpPr/>
          <p:nvPr/>
        </p:nvSpPr>
        <p:spPr>
          <a:xfrm>
            <a:off x="5996781" y="4309864"/>
            <a:ext cx="956469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8E0EB"/>
            </a:solidFill>
            <a:prstDash val="solid"/>
          </a:ln>
        </p:spPr>
      </p:sp>
      <p:sp>
        <p:nvSpPr>
          <p:cNvPr id="28" name="dot tech"/>
          <p:cNvSpPr/>
          <p:nvPr/>
        </p:nvSpPr>
        <p:spPr>
          <a:xfrm>
            <a:off x="4178300" y="4667647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pic>
        <p:nvPicPr>
          <p:cNvPr id="29" name="li" descr="li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78300" y="5201477"/>
            <a:ext cx="88900" cy="12700"/>
          </a:xfrm>
          <a:prstGeom prst="rect">
            <a:avLst/>
          </a:prstGeom>
        </p:spPr>
      </p:pic>
      <p:pic>
        <p:nvPicPr>
          <p:cNvPr id="30" name="li" descr="li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178300" y="5442942"/>
            <a:ext cx="88900" cy="12700"/>
          </a:xfrm>
          <a:prstGeom prst="rect">
            <a:avLst/>
          </a:prstGeom>
        </p:spPr>
      </p:pic>
      <p:sp>
        <p:nvSpPr>
          <p:cNvPr id="31" name="dot field"/>
          <p:cNvSpPr/>
          <p:nvPr/>
        </p:nvSpPr>
        <p:spPr>
          <a:xfrm>
            <a:off x="8089900" y="1860947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pic>
        <p:nvPicPr>
          <p:cNvPr id="32" name="a node ring solid n-imp" descr="a node ring solid n-imp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89900" y="2876881"/>
            <a:ext cx="1625600" cy="1625600"/>
          </a:xfrm>
          <a:prstGeom prst="rect">
            <a:avLst/>
          </a:prstGeom>
        </p:spPr>
      </p:pic>
      <p:pic>
        <p:nvPicPr>
          <p:cNvPr id="33" name="ic" descr="ic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65117" y="3434391"/>
            <a:ext cx="275167" cy="165100"/>
          </a:xfrm>
          <a:prstGeom prst="rect">
            <a:avLst/>
          </a:prstGeom>
        </p:spPr>
      </p:pic>
      <p:sp>
        <p:nvSpPr>
          <p:cNvPr id="34" name="a ms"/>
          <p:cNvSpPr/>
          <p:nvPr/>
        </p:nvSpPr>
        <p:spPr>
          <a:xfrm>
            <a:off x="8534102" y="4532114"/>
            <a:ext cx="737195" cy="266700"/>
          </a:xfrm>
          <a:prstGeom prst="roundRect">
            <a:avLst>
              <a:gd name="adj" fmla="val 50000"/>
            </a:avLst>
          </a:prstGeom>
          <a:solidFill>
            <a:srgbClr val="E9F6FD"/>
          </a:solidFill>
          <a:ln/>
        </p:spPr>
      </p:sp>
      <p:sp>
        <p:nvSpPr>
          <p:cNvPr id="35" name="a chip field oc"/>
          <p:cNvSpPr/>
          <p:nvPr/>
        </p:nvSpPr>
        <p:spPr>
          <a:xfrm>
            <a:off x="10185400" y="2163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6" name="dot field"/>
          <p:cNvSpPr/>
          <p:nvPr/>
        </p:nvSpPr>
        <p:spPr>
          <a:xfrm>
            <a:off x="10325100" y="2309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7" name="a chip field oc"/>
          <p:cNvSpPr/>
          <p:nvPr/>
        </p:nvSpPr>
        <p:spPr>
          <a:xfrm>
            <a:off x="10185400" y="3052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38" name="dot field"/>
          <p:cNvSpPr/>
          <p:nvPr/>
        </p:nvSpPr>
        <p:spPr>
          <a:xfrm>
            <a:off x="10325100" y="3198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39" name="a chip field oc"/>
          <p:cNvSpPr/>
          <p:nvPr/>
        </p:nvSpPr>
        <p:spPr>
          <a:xfrm>
            <a:off x="10185400" y="3941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0" name="dot field"/>
          <p:cNvSpPr/>
          <p:nvPr/>
        </p:nvSpPr>
        <p:spPr>
          <a:xfrm>
            <a:off x="10325100" y="4087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1" name="a chip field oc"/>
          <p:cNvSpPr/>
          <p:nvPr/>
        </p:nvSpPr>
        <p:spPr>
          <a:xfrm>
            <a:off x="10185400" y="4830564"/>
            <a:ext cx="1397000" cy="381000"/>
          </a:xfrm>
          <a:prstGeom prst="roundRect">
            <a:avLst>
              <a:gd name="adj" fmla="val 50000"/>
            </a:avLst>
          </a:prstGeom>
          <a:solidFill>
            <a:srgbClr val="FFF4DB"/>
          </a:solidFill>
          <a:ln/>
        </p:spPr>
      </p:sp>
      <p:sp>
        <p:nvSpPr>
          <p:cNvPr id="42" name="dot field"/>
          <p:cNvSpPr/>
          <p:nvPr/>
        </p:nvSpPr>
        <p:spPr>
          <a:xfrm>
            <a:off x="10325100" y="4976614"/>
            <a:ext cx="88900" cy="889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3" name="key"/>
          <p:cNvSpPr/>
          <p:nvPr/>
        </p:nvSpPr>
        <p:spPr>
          <a:xfrm>
            <a:off x="609600" y="5738614"/>
            <a:ext cx="10972800" cy="610791"/>
          </a:xfrm>
          <a:prstGeom prst="roundRect">
            <a:avLst>
              <a:gd name="adj" fmla="val 22872"/>
            </a:avLst>
          </a:prstGeom>
          <a:solidFill>
            <a:srgbClr val="0B2147"/>
          </a:solidFill>
          <a:ln/>
        </p:spPr>
      </p:sp>
      <p:sp>
        <p:nvSpPr>
          <p:cNvPr id="44" name="i"/>
          <p:cNvSpPr/>
          <p:nvPr/>
        </p:nvSpPr>
        <p:spPr>
          <a:xfrm>
            <a:off x="863600" y="6012160"/>
            <a:ext cx="63500" cy="63500"/>
          </a:xfrm>
          <a:prstGeom prst="ellipse">
            <a:avLst/>
          </a:prstGeom>
          <a:solidFill>
            <a:srgbClr val="00A94F"/>
          </a:solidFill>
          <a:ln/>
        </p:spPr>
      </p:sp>
      <p:sp>
        <p:nvSpPr>
          <p:cNvPr id="45" name="b"/>
          <p:cNvSpPr/>
          <p:nvPr/>
        </p:nvSpPr>
        <p:spPr>
          <a:xfrm>
            <a:off x="9271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6" name="i"/>
          <p:cNvSpPr/>
          <p:nvPr/>
        </p:nvSpPr>
        <p:spPr>
          <a:xfrm>
            <a:off x="1016000" y="6012160"/>
            <a:ext cx="63500" cy="63500"/>
          </a:xfrm>
          <a:prstGeom prst="ellipse">
            <a:avLst/>
          </a:prstGeom>
          <a:solidFill>
            <a:srgbClr val="004B8D"/>
          </a:solidFill>
          <a:ln/>
        </p:spPr>
      </p:sp>
      <p:sp>
        <p:nvSpPr>
          <p:cNvPr id="47" name="b"/>
          <p:cNvSpPr/>
          <p:nvPr/>
        </p:nvSpPr>
        <p:spPr>
          <a:xfrm>
            <a:off x="1079500" y="6037560"/>
            <a:ext cx="88900" cy="12700"/>
          </a:xfrm>
          <a:prstGeom prst="rect">
            <a:avLst/>
          </a:prstGeom>
          <a:solidFill>
            <a:srgbClr val="C3CEDD"/>
          </a:solidFill>
          <a:ln/>
        </p:spPr>
      </p:sp>
      <p:sp>
        <p:nvSpPr>
          <p:cNvPr id="48" name="i"/>
          <p:cNvSpPr/>
          <p:nvPr/>
        </p:nvSpPr>
        <p:spPr>
          <a:xfrm>
            <a:off x="1168400" y="6012160"/>
            <a:ext cx="63500" cy="63500"/>
          </a:xfrm>
          <a:prstGeom prst="ellipse">
            <a:avLst/>
          </a:prstGeom>
          <a:solidFill>
            <a:srgbClr val="FDBB30"/>
          </a:solidFill>
          <a:ln/>
        </p:spPr>
      </p:sp>
      <p:sp>
        <p:nvSpPr>
          <p:cNvPr id="49" name="03"/>
          <p:cNvSpPr txBox="1"/>
          <p:nvPr/>
        </p:nvSpPr>
        <p:spPr>
          <a:xfrm>
            <a:off x="1066800" y="419100"/>
            <a:ext cx="24268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22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03</a:t>
            </a:r>
            <a:endParaRPr lang="en-US" sz="1100" dirty="0"/>
          </a:p>
        </p:txBody>
      </p:sp>
      <p:sp>
        <p:nvSpPr>
          <p:cNvPr id="50" name="PT 주제 2 · 입사 후 실천"/>
          <p:cNvSpPr txBox="1"/>
          <p:nvPr/>
        </p:nvSpPr>
        <p:spPr>
          <a:xfrm>
            <a:off x="1347589" y="419100"/>
            <a:ext cx="141897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11" kern="0" dirty="0">
                <a:solidFill>
                  <a:srgbClr val="8691A5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PT 주제 2 · 입사 후 실천</a:t>
            </a:r>
            <a:endParaRPr lang="en-US" sz="1100" dirty="0"/>
          </a:p>
        </p:txBody>
      </p:sp>
      <p:sp>
        <p:nvSpPr>
          <p:cNvPr id="51" name="입사 후"/>
          <p:cNvSpPr txBox="1"/>
          <p:nvPr/>
        </p:nvSpPr>
        <p:spPr>
          <a:xfrm>
            <a:off x="609600" y="774005"/>
            <a:ext cx="615752" cy="2349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600" spc="-32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입사 후</a:t>
            </a:r>
            <a:endParaRPr lang="en-US" sz="1600" dirty="0"/>
          </a:p>
        </p:txBody>
      </p:sp>
      <p:sp>
        <p:nvSpPr>
          <p:cNvPr id="52" name="기술을 실질적인 현장 개선으로 연결하는 공사관리자가 되겠습니다"/>
          <p:cNvSpPr txBox="1"/>
          <p:nvPr/>
        </p:nvSpPr>
        <p:spPr>
          <a:xfrm>
            <a:off x="609600" y="1100336"/>
            <a:ext cx="9336844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실질적인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 개선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으로 연결하는 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공사관리자</a:t>
            </a:r>
            <a:pPr algn="l" indent="0" marL="0">
              <a:buNone/>
            </a:pPr>
            <a:r>
              <a:rPr lang="ko-KR" altLang="en-US" sz="2800" spc="-98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가 되겠습니다</a:t>
            </a:r>
            <a:endParaRPr lang="en-US" sz="2800" dirty="0"/>
          </a:p>
        </p:txBody>
      </p:sp>
      <p:sp>
        <p:nvSpPr>
          <p:cNvPr id="53" name="STEP 01"/>
          <p:cNvSpPr txBox="1"/>
          <p:nvPr/>
        </p:nvSpPr>
        <p:spPr>
          <a:xfrm>
            <a:off x="7366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01</a:t>
            </a:r>
            <a:endParaRPr lang="en-US" sz="950" dirty="0"/>
          </a:p>
        </p:txBody>
      </p:sp>
      <p:sp>
        <p:nvSpPr>
          <p:cNvPr id="54" name="FIELD"/>
          <p:cNvSpPr txBox="1"/>
          <p:nvPr/>
        </p:nvSpPr>
        <p:spPr>
          <a:xfrm>
            <a:off x="1394420" y="1814314"/>
            <a:ext cx="51633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FIELD</a:t>
            </a:r>
            <a:endParaRPr lang="en-US" sz="950" dirty="0"/>
          </a:p>
        </p:txBody>
      </p:sp>
      <p:sp>
        <p:nvSpPr>
          <p:cNvPr id="55" name="현장을 이해한다"/>
          <p:cNvSpPr txBox="1"/>
          <p:nvPr/>
        </p:nvSpPr>
        <p:spPr>
          <a:xfrm>
            <a:off x="6096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현장을 이해한다</a:t>
            </a:r>
            <a:endParaRPr lang="en-US" sz="1400" dirty="0"/>
          </a:p>
        </p:txBody>
      </p:sp>
      <p:sp>
        <p:nvSpPr>
          <p:cNvPr id="56" name="현장"/>
          <p:cNvSpPr txBox="1"/>
          <p:nvPr/>
        </p:nvSpPr>
        <p:spPr>
          <a:xfrm>
            <a:off x="1134070" y="371802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</a:t>
            </a:r>
            <a:endParaRPr lang="en-US" sz="2200" dirty="0"/>
          </a:p>
        </p:txBody>
      </p:sp>
      <p:sp>
        <p:nvSpPr>
          <p:cNvPr id="57" name="공정 · 품질 · 안전"/>
          <p:cNvSpPr txBox="1"/>
          <p:nvPr/>
        </p:nvSpPr>
        <p:spPr>
          <a:xfrm>
            <a:off x="774700" y="4633714"/>
            <a:ext cx="11441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공정 · 품질 · 안전</a:t>
            </a:r>
            <a:endParaRPr lang="en-US" sz="1300" dirty="0"/>
          </a:p>
        </p:txBody>
      </p:sp>
      <p:sp>
        <p:nvSpPr>
          <p:cNvPr id="58" name="시공관리 기본기"/>
          <p:cNvSpPr txBox="1"/>
          <p:nvPr/>
        </p:nvSpPr>
        <p:spPr>
          <a:xfrm>
            <a:off x="774700" y="4870946"/>
            <a:ext cx="1088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시공관리 기본기</a:t>
            </a:r>
            <a:endParaRPr lang="en-US" sz="1300" dirty="0"/>
          </a:p>
        </p:txBody>
      </p:sp>
      <p:sp>
        <p:nvSpPr>
          <p:cNvPr id="59" name="문제 발견"/>
          <p:cNvSpPr txBox="1"/>
          <p:nvPr/>
        </p:nvSpPr>
        <p:spPr>
          <a:xfrm>
            <a:off x="2590502" y="40434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발견</a:t>
            </a:r>
            <a:endParaRPr lang="en-US" sz="1100" dirty="0"/>
          </a:p>
        </p:txBody>
      </p:sp>
      <p:sp>
        <p:nvSpPr>
          <p:cNvPr id="60" name="STEP 02"/>
          <p:cNvSpPr txBox="1"/>
          <p:nvPr/>
        </p:nvSpPr>
        <p:spPr>
          <a:xfrm>
            <a:off x="43053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02</a:t>
            </a:r>
            <a:endParaRPr lang="en-US" sz="950" dirty="0"/>
          </a:p>
        </p:txBody>
      </p:sp>
      <p:sp>
        <p:nvSpPr>
          <p:cNvPr id="61" name="PEOPLE"/>
          <p:cNvSpPr txBox="1"/>
          <p:nvPr/>
        </p:nvSpPr>
        <p:spPr>
          <a:xfrm>
            <a:off x="4963120" y="1814314"/>
            <a:ext cx="68014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7336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PEOPLE</a:t>
            </a:r>
            <a:endParaRPr lang="en-US" sz="950" dirty="0"/>
          </a:p>
        </p:txBody>
      </p:sp>
      <p:sp>
        <p:nvSpPr>
          <p:cNvPr id="62" name="사람을 연결한다"/>
          <p:cNvSpPr txBox="1"/>
          <p:nvPr/>
        </p:nvSpPr>
        <p:spPr>
          <a:xfrm>
            <a:off x="4178300" y="20155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사람을 연결한다</a:t>
            </a:r>
            <a:endParaRPr lang="en-US" sz="1400" dirty="0"/>
          </a:p>
        </p:txBody>
      </p:sp>
      <p:sp>
        <p:nvSpPr>
          <p:cNvPr id="63" name="유관부서 · 협력업체 · 공종"/>
          <p:cNvSpPr txBox="1"/>
          <p:nvPr/>
        </p:nvSpPr>
        <p:spPr>
          <a:xfrm>
            <a:off x="4343400" y="2303760"/>
            <a:ext cx="17462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유관부서 · 협력업체 · 공종</a:t>
            </a:r>
            <a:endParaRPr lang="en-US" sz="1300" dirty="0"/>
          </a:p>
        </p:txBody>
      </p:sp>
      <p:sp>
        <p:nvSpPr>
          <p:cNvPr id="64" name="목표 · 진행상황 공유"/>
          <p:cNvSpPr txBox="1"/>
          <p:nvPr/>
        </p:nvSpPr>
        <p:spPr>
          <a:xfrm>
            <a:off x="4343400" y="2540992"/>
            <a:ext cx="135966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목표 · 진행상황 공유</a:t>
            </a:r>
            <a:endParaRPr lang="en-US" sz="1300" dirty="0"/>
          </a:p>
        </p:txBody>
      </p:sp>
      <p:sp>
        <p:nvSpPr>
          <p:cNvPr id="65" name="사람"/>
          <p:cNvSpPr txBox="1"/>
          <p:nvPr/>
        </p:nvSpPr>
        <p:spPr>
          <a:xfrm>
            <a:off x="4330005" y="31681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7336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사람</a:t>
            </a:r>
            <a:endParaRPr lang="en-US" sz="1300" dirty="0"/>
          </a:p>
        </p:txBody>
      </p:sp>
      <p:sp>
        <p:nvSpPr>
          <p:cNvPr id="66" name="01"/>
          <p:cNvSpPr txBox="1"/>
          <p:nvPr/>
        </p:nvSpPr>
        <p:spPr>
          <a:xfrm>
            <a:off x="6431657" y="28808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01</a:t>
            </a:r>
            <a:endParaRPr lang="en-US" sz="900" dirty="0"/>
          </a:p>
        </p:txBody>
      </p:sp>
      <p:sp>
        <p:nvSpPr>
          <p:cNvPr id="67" name="협업"/>
          <p:cNvSpPr txBox="1"/>
          <p:nvPr/>
        </p:nvSpPr>
        <p:spPr>
          <a:xfrm>
            <a:off x="6644084" y="2880816"/>
            <a:ext cx="252016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협업</a:t>
            </a:r>
            <a:endParaRPr lang="en-US" sz="900" dirty="0"/>
          </a:p>
        </p:txBody>
      </p:sp>
      <p:sp>
        <p:nvSpPr>
          <p:cNvPr id="68" name="기술"/>
          <p:cNvSpPr txBox="1"/>
          <p:nvPr/>
        </p:nvSpPr>
        <p:spPr>
          <a:xfrm>
            <a:off x="4330005" y="4222254"/>
            <a:ext cx="3314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</a:t>
            </a:r>
            <a:endParaRPr lang="en-US" sz="1300" dirty="0"/>
          </a:p>
        </p:txBody>
      </p:sp>
      <p:sp>
        <p:nvSpPr>
          <p:cNvPr id="69" name="02"/>
          <p:cNvSpPr txBox="1"/>
          <p:nvPr/>
        </p:nvSpPr>
        <p:spPr>
          <a:xfrm>
            <a:off x="6104731" y="4354016"/>
            <a:ext cx="21242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36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02</a:t>
            </a:r>
            <a:endParaRPr lang="en-US" sz="900" dirty="0"/>
          </a:p>
        </p:txBody>
      </p:sp>
      <p:sp>
        <p:nvSpPr>
          <p:cNvPr id="70" name="우리의 기술"/>
          <p:cNvSpPr txBox="1"/>
          <p:nvPr/>
        </p:nvSpPr>
        <p:spPr>
          <a:xfrm>
            <a:off x="6317159" y="4354016"/>
            <a:ext cx="578941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우리의 기술</a:t>
            </a:r>
            <a:endParaRPr lang="en-US" sz="900" dirty="0"/>
          </a:p>
        </p:txBody>
      </p:sp>
      <p:sp>
        <p:nvSpPr>
          <p:cNvPr id="71" name="STEP 03"/>
          <p:cNvSpPr txBox="1"/>
          <p:nvPr/>
        </p:nvSpPr>
        <p:spPr>
          <a:xfrm>
            <a:off x="4305300" y="46210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03</a:t>
            </a:r>
            <a:endParaRPr lang="en-US" sz="950" dirty="0"/>
          </a:p>
        </p:txBody>
      </p:sp>
      <p:sp>
        <p:nvSpPr>
          <p:cNvPr id="72" name="TECH"/>
          <p:cNvSpPr txBox="1"/>
          <p:nvPr/>
        </p:nvSpPr>
        <p:spPr>
          <a:xfrm>
            <a:off x="4963120" y="4621014"/>
            <a:ext cx="46940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004B8D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TECH</a:t>
            </a:r>
            <a:endParaRPr lang="en-US" sz="950" dirty="0"/>
          </a:p>
        </p:txBody>
      </p:sp>
      <p:sp>
        <p:nvSpPr>
          <p:cNvPr id="73" name="기술을 연결한다"/>
          <p:cNvSpPr txBox="1"/>
          <p:nvPr/>
        </p:nvSpPr>
        <p:spPr>
          <a:xfrm>
            <a:off x="4178300" y="4822230"/>
            <a:ext cx="1157206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기술을 연결한다</a:t>
            </a:r>
            <a:endParaRPr lang="en-US" sz="1400" dirty="0"/>
          </a:p>
        </p:txBody>
      </p:sp>
      <p:sp>
        <p:nvSpPr>
          <p:cNvPr id="74" name="BIM 간섭 · 시공성 사전 검토"/>
          <p:cNvSpPr txBox="1"/>
          <p:nvPr/>
        </p:nvSpPr>
        <p:spPr>
          <a:xfrm>
            <a:off x="4343400" y="5110460"/>
            <a:ext cx="19254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BIM 간섭 · 시공성 사전 검토</a:t>
            </a:r>
            <a:endParaRPr lang="en-US" sz="1300" dirty="0"/>
          </a:p>
        </p:txBody>
      </p:sp>
      <p:sp>
        <p:nvSpPr>
          <p:cNvPr id="75" name="AI 반복업무 효율화"/>
          <p:cNvSpPr txBox="1"/>
          <p:nvPr/>
        </p:nvSpPr>
        <p:spPr>
          <a:xfrm>
            <a:off x="4343400" y="5347692"/>
            <a:ext cx="13005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4B5568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AI 반복업무 효율화</a:t>
            </a:r>
            <a:endParaRPr lang="en-US" sz="1300" dirty="0"/>
          </a:p>
        </p:txBody>
      </p:sp>
      <p:sp>
        <p:nvSpPr>
          <p:cNvPr id="76" name="STEP 04"/>
          <p:cNvSpPr txBox="1"/>
          <p:nvPr/>
        </p:nvSpPr>
        <p:spPr>
          <a:xfrm>
            <a:off x="8216900" y="1814314"/>
            <a:ext cx="645120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95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STEP 04</a:t>
            </a:r>
            <a:endParaRPr lang="en-US" sz="950" dirty="0"/>
          </a:p>
        </p:txBody>
      </p:sp>
      <p:sp>
        <p:nvSpPr>
          <p:cNvPr id="77" name="IMPROVE"/>
          <p:cNvSpPr txBox="1"/>
          <p:nvPr/>
        </p:nvSpPr>
        <p:spPr>
          <a:xfrm>
            <a:off x="8874720" y="1814314"/>
            <a:ext cx="788194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IMPROVE</a:t>
            </a:r>
            <a:endParaRPr lang="en-US" sz="950" dirty="0"/>
          </a:p>
        </p:txBody>
      </p:sp>
      <p:sp>
        <p:nvSpPr>
          <p:cNvPr id="78" name="현장의 변화를 만든다"/>
          <p:cNvSpPr txBox="1"/>
          <p:nvPr/>
        </p:nvSpPr>
        <p:spPr>
          <a:xfrm>
            <a:off x="8089900" y="2015530"/>
            <a:ext cx="1513423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현장의 변화를 만든다</a:t>
            </a:r>
            <a:endParaRPr lang="en-US" sz="1400" dirty="0"/>
          </a:p>
        </p:txBody>
      </p:sp>
      <p:sp>
        <p:nvSpPr>
          <p:cNvPr id="79" name="변화"/>
          <p:cNvSpPr txBox="1"/>
          <p:nvPr/>
        </p:nvSpPr>
        <p:spPr>
          <a:xfrm>
            <a:off x="8639770" y="3711674"/>
            <a:ext cx="525859" cy="330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2200" spc="-66" kern="0" dirty="0">
                <a:solidFill>
                  <a:srgbClr val="FFFFFF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변화</a:t>
            </a:r>
            <a:endParaRPr lang="en-US" sz="2200" dirty="0"/>
          </a:p>
        </p:txBody>
      </p:sp>
      <p:sp>
        <p:nvSpPr>
          <p:cNvPr id="80" name="문제 해결"/>
          <p:cNvSpPr txBox="1"/>
          <p:nvPr/>
        </p:nvSpPr>
        <p:spPr>
          <a:xfrm>
            <a:off x="8648402" y="4576862"/>
            <a:ext cx="55939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문제 해결</a:t>
            </a:r>
            <a:endParaRPr lang="en-US" sz="1100" dirty="0"/>
          </a:p>
        </p:txBody>
      </p:sp>
      <p:sp>
        <p:nvSpPr>
          <p:cNvPr id="81" name="공정 개선"/>
          <p:cNvSpPr txBox="1"/>
          <p:nvPr/>
        </p:nvSpPr>
        <p:spPr>
          <a:xfrm>
            <a:off x="10502900" y="2253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공정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2" name="품질 개선"/>
          <p:cNvSpPr txBox="1"/>
          <p:nvPr/>
        </p:nvSpPr>
        <p:spPr>
          <a:xfrm>
            <a:off x="10502900" y="3142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품질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3" name="안전 개선"/>
          <p:cNvSpPr txBox="1"/>
          <p:nvPr/>
        </p:nvSpPr>
        <p:spPr>
          <a:xfrm>
            <a:off x="10502900" y="4031456"/>
            <a:ext cx="6518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안전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4" name="생산성 개선"/>
          <p:cNvSpPr txBox="1"/>
          <p:nvPr/>
        </p:nvSpPr>
        <p:spPr>
          <a:xfrm>
            <a:off x="10502900" y="4920456"/>
            <a:ext cx="79384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8 ExtraBold" pitchFamily="34" charset="0"/>
                <a:ea typeface="Paperlogy 8 ExtraBold" pitchFamily="34" charset="-127"/>
                <a:cs typeface="Paperlogy 8 ExtraBold" pitchFamily="34" charset="-120"/>
              </a:rPr>
              <a:t>생산성</a:t>
            </a:r>
            <a:pPr algn="l" indent="0" marL="0">
              <a:buNone/>
            </a:pPr>
            <a:r>
              <a:rPr lang="ko-KR" altLang="en-US" sz="1300" spc="-26" kern="0" dirty="0">
                <a:solidFill>
                  <a:srgbClr val="8A5A00"/>
                </a:solidFill>
                <a:latin typeface="Paperlogy 6 SemiBold" pitchFamily="34" charset="0"/>
                <a:ea typeface="Paperlogy 6 SemiBold" pitchFamily="34" charset="-127"/>
                <a:cs typeface="Paperlogy 6 SemiBold" pitchFamily="34" charset="-120"/>
              </a:rPr>
              <a:t> 개선</a:t>
            </a:r>
            <a:endParaRPr lang="en-US" sz="1300" dirty="0"/>
          </a:p>
        </p:txBody>
      </p:sp>
      <p:sp>
        <p:nvSpPr>
          <p:cNvPr id="85" name="KEY MESSAGE"/>
          <p:cNvSpPr txBox="1"/>
          <p:nvPr/>
        </p:nvSpPr>
        <p:spPr>
          <a:xfrm>
            <a:off x="1308100" y="5969198"/>
            <a:ext cx="1171825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50" spc="152" kern="0" dirty="0">
                <a:solidFill>
                  <a:srgbClr val="8FD3F5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KEY MESSAGE</a:t>
            </a:r>
            <a:endParaRPr lang="en-US" sz="950" dirty="0"/>
          </a:p>
        </p:txBody>
      </p:sp>
      <p:sp>
        <p:nvSpPr>
          <p:cNvPr id="86" name="사람 · 전문성 · 기술을 연결해 현장의 변화를 만들겠습니다"/>
          <p:cNvSpPr txBox="1"/>
          <p:nvPr/>
        </p:nvSpPr>
        <p:spPr>
          <a:xfrm>
            <a:off x="2591395" y="5916414"/>
            <a:ext cx="4955804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사람 · 전문성 · 기술을 연결해 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DBB30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700" spc="-51" kern="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를 만들겠습니다</a:t>
            </a:r>
            <a:endParaRPr lang="en-US" sz="1700" dirty="0"/>
          </a:p>
        </p:txBody>
      </p:sp>
      <p:sp>
        <p:nvSpPr>
          <p:cNvPr id="87" name="2026년 하반기 신입사원 공개채용"/>
          <p:cNvSpPr txBox="1"/>
          <p:nvPr/>
        </p:nvSpPr>
        <p:spPr>
          <a:xfrm>
            <a:off x="609600" y="6425605"/>
            <a:ext cx="1659507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8691A5"/>
                </a:solidFill>
                <a:latin typeface="Paperlogy 5 Medium" pitchFamily="34" charset="0"/>
                <a:ea typeface="Paperlogy 5 Medium" pitchFamily="34" charset="-127"/>
                <a:cs typeface="Paperlogy 5 Medium" pitchFamily="34" charset="-120"/>
              </a:rPr>
              <a:t>2026년 하반기 신입사원 공개채용</a:t>
            </a:r>
            <a:endParaRPr lang="en-US" sz="900" dirty="0"/>
          </a:p>
        </p:txBody>
      </p:sp>
      <p:sp>
        <p:nvSpPr>
          <p:cNvPr id="88" name="03 / 03"/>
          <p:cNvSpPr txBox="1"/>
          <p:nvPr/>
        </p:nvSpPr>
        <p:spPr>
          <a:xfrm>
            <a:off x="11135916" y="6425605"/>
            <a:ext cx="497284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aperlogy 9 Black" pitchFamily="34" charset="0"/>
                <a:ea typeface="Paperlogy 9 Black" pitchFamily="34" charset="-127"/>
                <a:cs typeface="Paperlogy 9 Black" pitchFamily="34" charset="-120"/>
              </a:rPr>
              <a:t>03</a:t>
            </a:r>
            <a:pPr algn="l" indent="0" marL="0">
              <a:buNone/>
            </a:pPr>
            <a:r>
              <a:rPr lang="ko-KR" altLang="en-US" sz="900" spc="54" kern="0" dirty="0">
                <a:solidFill>
                  <a:srgbClr val="4B5568"/>
                </a:solidFill>
                <a:latin typeface="Paperlogy 7 Bold" pitchFamily="34" charset="0"/>
                <a:ea typeface="Paperlogy 7 Bold" pitchFamily="34" charset="-127"/>
                <a:cs typeface="Paperlogy 7 Bol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aperlogy 8 ExtraBold"/>
        <a:ea typeface="Paperlogy 5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aperlogy 5 Medium"/>
        <a:ea typeface="Paperlogy 5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2026-10-08T15:45:09Z</dcterms:created>
  <dcterms:modified xsi:type="dcterms:W3CDTF">2026-10-08T15:45:09Z</dcterms:modified>
</cp:coreProperties>
</file>