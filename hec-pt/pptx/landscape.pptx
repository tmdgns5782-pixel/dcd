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sp>
        <p:nvSpPr>
          <p:cNvPr id="8" name="chip tech"/>
          <p:cNvSpPr/>
          <p:nvPr/>
        </p:nvSpPr>
        <p:spPr>
          <a:xfrm>
            <a:off x="1889026" y="1814314"/>
            <a:ext cx="1339155" cy="2794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9" name="chip people"/>
          <p:cNvSpPr/>
          <p:nvPr/>
        </p:nvSpPr>
        <p:spPr>
          <a:xfrm>
            <a:off x="3317081" y="1814314"/>
            <a:ext cx="1344414" cy="2794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0" name="i"/>
          <p:cNvSpPr/>
          <p:nvPr/>
        </p:nvSpPr>
        <p:spPr>
          <a:xfrm>
            <a:off x="3444081" y="192543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1" name="i"/>
          <p:cNvSpPr/>
          <p:nvPr/>
        </p:nvSpPr>
        <p:spPr>
          <a:xfrm>
            <a:off x="3526631" y="192543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i"/>
          <p:cNvSpPr/>
          <p:nvPr/>
        </p:nvSpPr>
        <p:spPr>
          <a:xfrm>
            <a:off x="3609181" y="192543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3" name="i"/>
          <p:cNvSpPr/>
          <p:nvPr/>
        </p:nvSpPr>
        <p:spPr>
          <a:xfrm>
            <a:off x="3691731" y="192543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4" name="chip ghost"/>
          <p:cNvSpPr/>
          <p:nvPr/>
        </p:nvSpPr>
        <p:spPr>
          <a:xfrm>
            <a:off x="4756745" y="1820664"/>
            <a:ext cx="1855490" cy="266700"/>
          </a:xfrm>
          <a:prstGeom prst="roundRect">
            <a:avLst>
              <a:gd name="adj" fmla="val 50000"/>
            </a:avLst>
          </a:prstGeom>
          <a:ln w="12700">
            <a:solidFill>
              <a:srgbClr val="D8E0EB"/>
            </a:solidFill>
            <a:prstDash val="solid"/>
          </a:ln>
        </p:spPr>
      </p:sp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445" y="1898981"/>
            <a:ext cx="114300" cy="114300"/>
          </a:xfrm>
          <a:prstGeom prst="rect">
            <a:avLst/>
          </a:prstGeom>
        </p:spPr>
      </p:pic>
      <p:sp>
        <p:nvSpPr>
          <p:cNvPr id="16" name="p1-panel"/>
          <p:cNvSpPr/>
          <p:nvPr/>
        </p:nvSpPr>
        <p:spPr>
          <a:xfrm>
            <a:off x="609600" y="2271514"/>
            <a:ext cx="2590800" cy="1663700"/>
          </a:xfrm>
          <a:prstGeom prst="roundRect">
            <a:avLst>
              <a:gd name="adj" fmla="val 8397"/>
            </a:avLst>
          </a:prstGeom>
          <a:solidFill>
            <a:srgbClr val="EEF4FC"/>
          </a:solidFill>
          <a:ln/>
        </p:spPr>
      </p:sp>
      <p:pic>
        <p:nvPicPr>
          <p:cNvPr id="17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67" y="2648281"/>
            <a:ext cx="2116667" cy="571500"/>
          </a:xfrm>
          <a:prstGeom prst="rect">
            <a:avLst/>
          </a:prstGeom>
        </p:spPr>
      </p:pic>
      <p:sp>
        <p:nvSpPr>
          <p:cNvPr id="18" name="p1-lbl p1-pill"/>
          <p:cNvSpPr/>
          <p:nvPr/>
        </p:nvSpPr>
        <p:spPr>
          <a:xfrm>
            <a:off x="1004590" y="3373239"/>
            <a:ext cx="48002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p1-lbl p1-pill"/>
          <p:cNvSpPr/>
          <p:nvPr/>
        </p:nvSpPr>
        <p:spPr>
          <a:xfrm>
            <a:off x="2207766" y="3373239"/>
            <a:ext cx="715268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p1-panel"/>
          <p:cNvSpPr/>
          <p:nvPr/>
        </p:nvSpPr>
        <p:spPr>
          <a:xfrm>
            <a:off x="3403600" y="2271514"/>
            <a:ext cx="2590800" cy="1663700"/>
          </a:xfrm>
          <a:prstGeom prst="roundRect">
            <a:avLst>
              <a:gd name="adj" fmla="val 8397"/>
            </a:avLst>
          </a:prstGeom>
          <a:solidFill>
            <a:srgbClr val="EEF4FC"/>
          </a:solidFill>
          <a:ln/>
        </p:spPr>
      </p:sp>
      <p:pic>
        <p:nvPicPr>
          <p:cNvPr id="21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7450" y="2527631"/>
            <a:ext cx="1943100" cy="1155700"/>
          </a:xfrm>
          <a:prstGeom prst="rect">
            <a:avLst/>
          </a:prstGeom>
        </p:spPr>
      </p:pic>
      <p:sp>
        <p:nvSpPr>
          <p:cNvPr id="22" name="p1-panel"/>
          <p:cNvSpPr/>
          <p:nvPr/>
        </p:nvSpPr>
        <p:spPr>
          <a:xfrm>
            <a:off x="6197600" y="2271514"/>
            <a:ext cx="2590800" cy="1663700"/>
          </a:xfrm>
          <a:prstGeom prst="roundRect">
            <a:avLst>
              <a:gd name="adj" fmla="val 8397"/>
            </a:avLst>
          </a:prstGeom>
          <a:solidFill>
            <a:srgbClr val="EEF4FC"/>
          </a:solidFill>
          <a:ln/>
        </p:spPr>
      </p:sp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450" y="2591131"/>
            <a:ext cx="1435100" cy="1028700"/>
          </a:xfrm>
          <a:prstGeom prst="rect">
            <a:avLst/>
          </a:prstGeom>
        </p:spPr>
      </p:pic>
      <p:pic>
        <p:nvPicPr>
          <p:cNvPr id="24" name="p1-lbl p1-pill people" descr="p1-lbl p1-pill peop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2879" y="2998589"/>
            <a:ext cx="821267" cy="211667"/>
          </a:xfrm>
          <a:prstGeom prst="rect">
            <a:avLst/>
          </a:prstGeom>
        </p:spPr>
      </p:pic>
      <p:sp>
        <p:nvSpPr>
          <p:cNvPr id="25" name="p1-panel"/>
          <p:cNvSpPr/>
          <p:nvPr/>
        </p:nvSpPr>
        <p:spPr>
          <a:xfrm>
            <a:off x="8991600" y="2271514"/>
            <a:ext cx="2590800" cy="1663700"/>
          </a:xfrm>
          <a:prstGeom prst="roundRect">
            <a:avLst>
              <a:gd name="adj" fmla="val 8397"/>
            </a:avLst>
          </a:prstGeom>
          <a:solidFill>
            <a:srgbClr val="EEF4FC"/>
          </a:solidFill>
          <a:ln/>
        </p:spPr>
      </p:sp>
      <p:pic>
        <p:nvPicPr>
          <p:cNvPr id="26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8667" y="2644047"/>
            <a:ext cx="2214033" cy="922867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5367" y="4129947"/>
            <a:ext cx="10936817" cy="148167"/>
          </a:xfrm>
          <a:prstGeom prst="rect">
            <a:avLst/>
          </a:prstGeom>
        </p:spPr>
      </p:pic>
      <p:pic>
        <p:nvPicPr>
          <p:cNvPr id="28" name="p1-tag" descr="p1-ta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500" y="4096081"/>
            <a:ext cx="844550" cy="215900"/>
          </a:xfrm>
          <a:prstGeom prst="rect">
            <a:avLst/>
          </a:prstGeom>
        </p:spPr>
      </p:pic>
      <p:pic>
        <p:nvPicPr>
          <p:cNvPr id="29" name="svg" descr="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583" y="4151114"/>
            <a:ext cx="105833" cy="105833"/>
          </a:xfrm>
          <a:prstGeom prst="rect">
            <a:avLst/>
          </a:prstGeom>
        </p:spPr>
      </p:pic>
      <p:sp>
        <p:nvSpPr>
          <p:cNvPr id="30" name="p1-tag end"/>
          <p:cNvSpPr/>
          <p:nvPr/>
        </p:nvSpPr>
        <p:spPr>
          <a:xfrm>
            <a:off x="9207500" y="4093964"/>
            <a:ext cx="846336" cy="2159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81583" y="4151114"/>
            <a:ext cx="105833" cy="105833"/>
          </a:xfrm>
          <a:prstGeom prst="rect">
            <a:avLst/>
          </a:prstGeom>
        </p:spPr>
      </p:pic>
      <p:pic>
        <p:nvPicPr>
          <p:cNvPr id="32" name="li" descr="li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048184"/>
            <a:ext cx="38100" cy="38100"/>
          </a:xfrm>
          <a:prstGeom prst="rect">
            <a:avLst/>
          </a:prstGeom>
        </p:spPr>
      </p:pic>
      <p:pic>
        <p:nvPicPr>
          <p:cNvPr id="33" name="p1-ar" descr="p1-a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8228" y="5022883"/>
            <a:ext cx="127000" cy="63500"/>
          </a:xfrm>
          <a:prstGeom prst="rect">
            <a:avLst/>
          </a:prstGeom>
        </p:spPr>
      </p:pic>
      <p:pic>
        <p:nvPicPr>
          <p:cNvPr id="34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5263389"/>
            <a:ext cx="38100" cy="38100"/>
          </a:xfrm>
          <a:prstGeom prst="rect">
            <a:avLst/>
          </a:prstGeom>
        </p:spPr>
      </p:pic>
      <p:pic>
        <p:nvPicPr>
          <p:cNvPr id="35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03600" y="5048184"/>
            <a:ext cx="38100" cy="38100"/>
          </a:xfrm>
          <a:prstGeom prst="rect">
            <a:avLst/>
          </a:prstGeom>
        </p:spPr>
      </p:pic>
      <p:pic>
        <p:nvPicPr>
          <p:cNvPr id="36" name="li" descr="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03600" y="5263389"/>
            <a:ext cx="38100" cy="38100"/>
          </a:xfrm>
          <a:prstGeom prst="rect">
            <a:avLst/>
          </a:prstGeom>
        </p:spPr>
      </p:pic>
      <p:pic>
        <p:nvPicPr>
          <p:cNvPr id="37" name="p1-ar" descr="p1-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4317" y="5238089"/>
            <a:ext cx="127000" cy="63500"/>
          </a:xfrm>
          <a:prstGeom prst="rect">
            <a:avLst/>
          </a:prstGeom>
        </p:spPr>
      </p:pic>
      <p:pic>
        <p:nvPicPr>
          <p:cNvPr id="38" name="li" descr="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7600" y="5048184"/>
            <a:ext cx="38100" cy="38100"/>
          </a:xfrm>
          <a:prstGeom prst="rect">
            <a:avLst/>
          </a:prstGeom>
        </p:spPr>
      </p:pic>
      <p:pic>
        <p:nvPicPr>
          <p:cNvPr id="39" name="li" descr="li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97600" y="5263389"/>
            <a:ext cx="38100" cy="38100"/>
          </a:xfrm>
          <a:prstGeom prst="rect">
            <a:avLst/>
          </a:prstGeom>
        </p:spPr>
      </p:pic>
      <p:pic>
        <p:nvPicPr>
          <p:cNvPr id="40" name="li" descr="li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991600" y="5048184"/>
            <a:ext cx="38100" cy="38100"/>
          </a:xfrm>
          <a:prstGeom prst="rect">
            <a:avLst/>
          </a:prstGeom>
        </p:spPr>
      </p:pic>
      <p:pic>
        <p:nvPicPr>
          <p:cNvPr id="41" name="li" descr="li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91600" y="5263389"/>
            <a:ext cx="38100" cy="38100"/>
          </a:xfrm>
          <a:prstGeom prst="rect">
            <a:avLst/>
          </a:prstGeom>
        </p:spPr>
      </p:pic>
      <p:sp>
        <p:nvSpPr>
          <p:cNvPr id="42" name="key"/>
          <p:cNvSpPr/>
          <p:nvPr/>
        </p:nvSpPr>
        <p:spPr>
          <a:xfrm>
            <a:off x="609600" y="56624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3" name="i"/>
          <p:cNvSpPr/>
          <p:nvPr/>
        </p:nvSpPr>
        <p:spPr>
          <a:xfrm>
            <a:off x="863600" y="59359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4" name="b"/>
          <p:cNvSpPr/>
          <p:nvPr/>
        </p:nvSpPr>
        <p:spPr>
          <a:xfrm>
            <a:off x="927100" y="59613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5" name="i"/>
          <p:cNvSpPr/>
          <p:nvPr/>
        </p:nvSpPr>
        <p:spPr>
          <a:xfrm>
            <a:off x="1016000" y="59359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6" name="b"/>
          <p:cNvSpPr/>
          <p:nvPr/>
        </p:nvSpPr>
        <p:spPr>
          <a:xfrm>
            <a:off x="1079500" y="59613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7" name="i"/>
          <p:cNvSpPr/>
          <p:nvPr/>
        </p:nvSpPr>
        <p:spPr>
          <a:xfrm>
            <a:off x="1168400" y="59359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49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50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51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52" name="BACKGROUND"/>
          <p:cNvSpPr txBox="1"/>
          <p:nvPr/>
        </p:nvSpPr>
        <p:spPr>
          <a:xfrm>
            <a:off x="609600" y="1879203"/>
            <a:ext cx="119464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691A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53" name="학생 BIM 경진대회"/>
          <p:cNvSpPr txBox="1"/>
          <p:nvPr/>
        </p:nvSpPr>
        <p:spPr>
          <a:xfrm>
            <a:off x="2016026" y="1865412"/>
            <a:ext cx="115026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1100" dirty="0"/>
          </a:p>
        </p:txBody>
      </p:sp>
      <p:sp>
        <p:nvSpPr>
          <p:cNvPr id="54" name="4인 팀 · 팀장"/>
          <p:cNvSpPr txBox="1"/>
          <p:nvPr/>
        </p:nvSpPr>
        <p:spPr>
          <a:xfrm>
            <a:off x="3812381" y="1865412"/>
            <a:ext cx="7729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4인 팀 · 팀장</a:t>
            </a:r>
            <a:endParaRPr lang="en-US" sz="1100" dirty="0"/>
          </a:p>
        </p:txBody>
      </p:sp>
      <p:sp>
        <p:nvSpPr>
          <p:cNvPr id="55" name="마감 3주 전 · 주제 미확정"/>
          <p:cNvSpPr txBox="1"/>
          <p:nvPr/>
        </p:nvSpPr>
        <p:spPr>
          <a:xfrm>
            <a:off x="5080595" y="1865412"/>
            <a:ext cx="148218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 · 주제 미확정</a:t>
            </a:r>
            <a:endParaRPr lang="en-US" sz="1100" dirty="0"/>
          </a:p>
        </p:txBody>
      </p:sp>
      <p:sp>
        <p:nvSpPr>
          <p:cNvPr id="56" name="참신성"/>
          <p:cNvSpPr txBox="1"/>
          <p:nvPr/>
        </p:nvSpPr>
        <p:spPr>
          <a:xfrm>
            <a:off x="1087140" y="3404989"/>
            <a:ext cx="3657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0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950" dirty="0"/>
          </a:p>
        </p:txBody>
      </p:sp>
      <p:sp>
        <p:nvSpPr>
          <p:cNvPr id="57" name="구현 가능성"/>
          <p:cNvSpPr txBox="1"/>
          <p:nvPr/>
        </p:nvSpPr>
        <p:spPr>
          <a:xfrm>
            <a:off x="2290316" y="3404989"/>
            <a:ext cx="60096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0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950" dirty="0"/>
          </a:p>
        </p:txBody>
      </p:sp>
      <p:sp>
        <p:nvSpPr>
          <p:cNvPr id="58" name="공통"/>
          <p:cNvSpPr txBox="1"/>
          <p:nvPr/>
        </p:nvSpPr>
        <p:spPr>
          <a:xfrm>
            <a:off x="4563070" y="2950964"/>
            <a:ext cx="2718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10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공통</a:t>
            </a:r>
            <a:endParaRPr lang="en-US" sz="1000" dirty="0"/>
          </a:p>
        </p:txBody>
      </p:sp>
      <p:sp>
        <p:nvSpPr>
          <p:cNvPr id="59" name="기준"/>
          <p:cNvSpPr txBox="1"/>
          <p:nvPr/>
        </p:nvSpPr>
        <p:spPr>
          <a:xfrm>
            <a:off x="4563070" y="3097014"/>
            <a:ext cx="2718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10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기준</a:t>
            </a:r>
            <a:endParaRPr lang="en-US" sz="1000" dirty="0"/>
          </a:p>
        </p:txBody>
      </p:sp>
      <p:sp>
        <p:nvSpPr>
          <p:cNvPr id="60" name="이틀마다 공유"/>
          <p:cNvSpPr txBox="1"/>
          <p:nvPr/>
        </p:nvSpPr>
        <p:spPr>
          <a:xfrm>
            <a:off x="7165429" y="3030339"/>
            <a:ext cx="70594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-10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공유</a:t>
            </a:r>
            <a:endParaRPr lang="en-US" sz="950" dirty="0"/>
          </a:p>
        </p:txBody>
      </p:sp>
      <p:sp>
        <p:nvSpPr>
          <p:cNvPr id="61" name="장려상"/>
          <p:cNvSpPr txBox="1"/>
          <p:nvPr/>
        </p:nvSpPr>
        <p:spPr>
          <a:xfrm>
            <a:off x="10803186" y="3016696"/>
            <a:ext cx="41542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1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1100" dirty="0"/>
          </a:p>
        </p:txBody>
      </p:sp>
      <p:sp>
        <p:nvSpPr>
          <p:cNvPr id="62" name="마감 3주 전"/>
          <p:cNvSpPr txBox="1"/>
          <p:nvPr/>
        </p:nvSpPr>
        <p:spPr>
          <a:xfrm>
            <a:off x="1054100" y="4131766"/>
            <a:ext cx="57963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</a:t>
            </a:r>
            <a:endParaRPr lang="en-US" sz="900" dirty="0"/>
          </a:p>
        </p:txBody>
      </p:sp>
      <p:sp>
        <p:nvSpPr>
          <p:cNvPr id="63" name="3주 내 완수"/>
          <p:cNvSpPr txBox="1"/>
          <p:nvPr/>
        </p:nvSpPr>
        <p:spPr>
          <a:xfrm>
            <a:off x="9436100" y="4131766"/>
            <a:ext cx="57963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3주 내 완수</a:t>
            </a:r>
            <a:endParaRPr lang="en-US" sz="900" dirty="0"/>
          </a:p>
        </p:txBody>
      </p:sp>
      <p:sp>
        <p:nvSpPr>
          <p:cNvPr id="64" name="01"/>
          <p:cNvSpPr txBox="1"/>
          <p:nvPr/>
        </p:nvSpPr>
        <p:spPr>
          <a:xfrm>
            <a:off x="609600" y="4455914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50" dirty="0"/>
          </a:p>
        </p:txBody>
      </p:sp>
      <p:sp>
        <p:nvSpPr>
          <p:cNvPr id="65" name="CONFLICT"/>
          <p:cNvSpPr txBox="1"/>
          <p:nvPr/>
        </p:nvSpPr>
        <p:spPr>
          <a:xfrm>
            <a:off x="843657" y="4455914"/>
            <a:ext cx="84593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CONFLICT</a:t>
            </a:r>
            <a:endParaRPr lang="en-US" sz="950" dirty="0"/>
          </a:p>
        </p:txBody>
      </p:sp>
      <p:sp>
        <p:nvSpPr>
          <p:cNvPr id="66" name="서로 다른 의견"/>
          <p:cNvSpPr txBox="1"/>
          <p:nvPr/>
        </p:nvSpPr>
        <p:spPr>
          <a:xfrm>
            <a:off x="609600" y="4662587"/>
            <a:ext cx="103289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의견</a:t>
            </a:r>
            <a:endParaRPr lang="en-US" sz="1400" dirty="0"/>
          </a:p>
        </p:txBody>
      </p:sp>
      <p:sp>
        <p:nvSpPr>
          <p:cNvPr id="67" name="참신성"/>
          <p:cNvSpPr txBox="1"/>
          <p:nvPr/>
        </p:nvSpPr>
        <p:spPr>
          <a:xfrm>
            <a:off x="711200" y="4963517"/>
            <a:ext cx="411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참신성</a:t>
            </a:r>
            <a:endParaRPr lang="en-US" sz="1100" dirty="0"/>
          </a:p>
        </p:txBody>
      </p:sp>
      <p:sp>
        <p:nvSpPr>
          <p:cNvPr id="68" name="구현 가능성"/>
          <p:cNvSpPr txBox="1"/>
          <p:nvPr/>
        </p:nvSpPr>
        <p:spPr>
          <a:xfrm>
            <a:off x="1287562" y="4963517"/>
            <a:ext cx="67945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구현 가능성</a:t>
            </a:r>
            <a:endParaRPr lang="en-US" sz="1100" dirty="0"/>
          </a:p>
        </p:txBody>
      </p:sp>
      <p:sp>
        <p:nvSpPr>
          <p:cNvPr id="69" name="마감 3주 전까지 주제 미확정"/>
          <p:cNvSpPr txBox="1"/>
          <p:nvPr/>
        </p:nvSpPr>
        <p:spPr>
          <a:xfrm>
            <a:off x="711200" y="5178723"/>
            <a:ext cx="161512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마감 3주 전까지 주제 미확정</a:t>
            </a:r>
            <a:endParaRPr lang="en-US" sz="1100" dirty="0"/>
          </a:p>
        </p:txBody>
      </p:sp>
      <p:sp>
        <p:nvSpPr>
          <p:cNvPr id="70" name="02"/>
          <p:cNvSpPr txBox="1"/>
          <p:nvPr/>
        </p:nvSpPr>
        <p:spPr>
          <a:xfrm>
            <a:off x="3403600" y="4455914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50" dirty="0"/>
          </a:p>
        </p:txBody>
      </p:sp>
      <p:sp>
        <p:nvSpPr>
          <p:cNvPr id="71" name="ALIGN"/>
          <p:cNvSpPr txBox="1"/>
          <p:nvPr/>
        </p:nvSpPr>
        <p:spPr>
          <a:xfrm>
            <a:off x="3637657" y="4455914"/>
            <a:ext cx="54233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ALIGN</a:t>
            </a:r>
            <a:endParaRPr lang="en-US" sz="950" dirty="0"/>
          </a:p>
        </p:txBody>
      </p:sp>
      <p:sp>
        <p:nvSpPr>
          <p:cNvPr id="72" name="의견 조율 · 공통 기준 마련"/>
          <p:cNvSpPr txBox="1"/>
          <p:nvPr/>
        </p:nvSpPr>
        <p:spPr>
          <a:xfrm>
            <a:off x="3403600" y="4662587"/>
            <a:ext cx="183609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의견 조율 · 공통 기준 마련</a:t>
            </a:r>
            <a:endParaRPr lang="en-US" sz="1400" dirty="0"/>
          </a:p>
        </p:txBody>
      </p:sp>
      <p:sp>
        <p:nvSpPr>
          <p:cNvPr id="73" name="경청 · 수상작 분석 · 교수님 조언"/>
          <p:cNvSpPr txBox="1"/>
          <p:nvPr/>
        </p:nvSpPr>
        <p:spPr>
          <a:xfrm>
            <a:off x="3505200" y="4963517"/>
            <a:ext cx="178760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경청 · 수상작 분석 · 교수님 조언</a:t>
            </a:r>
            <a:endParaRPr lang="en-US" sz="1100" dirty="0"/>
          </a:p>
        </p:txBody>
      </p:sp>
      <p:sp>
        <p:nvSpPr>
          <p:cNvPr id="74" name="판단 기준 마련"/>
          <p:cNvSpPr txBox="1"/>
          <p:nvPr/>
        </p:nvSpPr>
        <p:spPr>
          <a:xfrm>
            <a:off x="3505200" y="5178723"/>
            <a:ext cx="82758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판단 기준 마련</a:t>
            </a:r>
            <a:endParaRPr lang="en-US" sz="1100" dirty="0"/>
          </a:p>
        </p:txBody>
      </p:sp>
      <p:sp>
        <p:nvSpPr>
          <p:cNvPr id="75" name="방향 합의"/>
          <p:cNvSpPr txBox="1"/>
          <p:nvPr/>
        </p:nvSpPr>
        <p:spPr>
          <a:xfrm>
            <a:off x="4497884" y="5178723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방향 합의</a:t>
            </a:r>
            <a:endParaRPr lang="en-US" sz="1100" dirty="0"/>
          </a:p>
        </p:txBody>
      </p:sp>
      <p:sp>
        <p:nvSpPr>
          <p:cNvPr id="76" name="03"/>
          <p:cNvSpPr txBox="1"/>
          <p:nvPr/>
        </p:nvSpPr>
        <p:spPr>
          <a:xfrm>
            <a:off x="6197600" y="4455914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50" dirty="0"/>
          </a:p>
        </p:txBody>
      </p:sp>
      <p:sp>
        <p:nvSpPr>
          <p:cNvPr id="77" name="ONE TEAM"/>
          <p:cNvSpPr txBox="1"/>
          <p:nvPr/>
        </p:nvSpPr>
        <p:spPr>
          <a:xfrm>
            <a:off x="6431657" y="4455914"/>
            <a:ext cx="87868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ONE TEAM</a:t>
            </a:r>
            <a:endParaRPr lang="en-US" sz="950" dirty="0"/>
          </a:p>
        </p:txBody>
      </p:sp>
      <p:sp>
        <p:nvSpPr>
          <p:cNvPr id="78" name="역할 분담 · 지속적인 공유"/>
          <p:cNvSpPr txBox="1"/>
          <p:nvPr/>
        </p:nvSpPr>
        <p:spPr>
          <a:xfrm>
            <a:off x="6197600" y="4662587"/>
            <a:ext cx="1800332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역할 분담 · 지속적인 공유</a:t>
            </a:r>
            <a:endParaRPr lang="en-US" sz="1400" dirty="0"/>
          </a:p>
        </p:txBody>
      </p:sp>
      <p:sp>
        <p:nvSpPr>
          <p:cNvPr id="79" name="강점 기반 역할 분담"/>
          <p:cNvSpPr txBox="1"/>
          <p:nvPr/>
        </p:nvSpPr>
        <p:spPr>
          <a:xfrm>
            <a:off x="6299200" y="4963517"/>
            <a:ext cx="110767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강점 기반 역할 분담</a:t>
            </a:r>
            <a:endParaRPr lang="en-US" sz="1100" dirty="0"/>
          </a:p>
        </p:txBody>
      </p:sp>
      <p:sp>
        <p:nvSpPr>
          <p:cNvPr id="80" name="이틀마다 진행상황 공유 · 피드백"/>
          <p:cNvSpPr txBox="1"/>
          <p:nvPr/>
        </p:nvSpPr>
        <p:spPr>
          <a:xfrm>
            <a:off x="6299200" y="5178723"/>
            <a:ext cx="18148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이틀마다 진행상황 공유 · 피드백</a:t>
            </a:r>
            <a:endParaRPr lang="en-US" sz="1100" dirty="0"/>
          </a:p>
        </p:txBody>
      </p:sp>
      <p:sp>
        <p:nvSpPr>
          <p:cNvPr id="81" name="04"/>
          <p:cNvSpPr txBox="1"/>
          <p:nvPr/>
        </p:nvSpPr>
        <p:spPr>
          <a:xfrm>
            <a:off x="8991600" y="4455914"/>
            <a:ext cx="22135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04</a:t>
            </a:r>
            <a:endParaRPr lang="en-US" sz="950" dirty="0"/>
          </a:p>
        </p:txBody>
      </p:sp>
      <p:sp>
        <p:nvSpPr>
          <p:cNvPr id="82" name="RESULT"/>
          <p:cNvSpPr txBox="1"/>
          <p:nvPr/>
        </p:nvSpPr>
        <p:spPr>
          <a:xfrm>
            <a:off x="9225657" y="4455914"/>
            <a:ext cx="64631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RESULT</a:t>
            </a:r>
            <a:endParaRPr lang="en-US" sz="950" dirty="0"/>
          </a:p>
        </p:txBody>
      </p:sp>
      <p:sp>
        <p:nvSpPr>
          <p:cNvPr id="83" name="프로젝트 완성 · 장려상 수상"/>
          <p:cNvSpPr txBox="1"/>
          <p:nvPr/>
        </p:nvSpPr>
        <p:spPr>
          <a:xfrm>
            <a:off x="8991600" y="4662587"/>
            <a:ext cx="196050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완성 · 장려상 수상</a:t>
            </a:r>
            <a:endParaRPr lang="en-US" sz="1400" dirty="0"/>
          </a:p>
        </p:txBody>
      </p:sp>
      <p:sp>
        <p:nvSpPr>
          <p:cNvPr id="84" name="남은 3주 내 프로젝트 완수"/>
          <p:cNvSpPr txBox="1"/>
          <p:nvPr/>
        </p:nvSpPr>
        <p:spPr>
          <a:xfrm>
            <a:off x="9093200" y="4963517"/>
            <a:ext cx="14877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남은 3주 내 프로젝트 완수</a:t>
            </a:r>
            <a:endParaRPr lang="en-US" sz="1100" dirty="0"/>
          </a:p>
        </p:txBody>
      </p:sp>
      <p:sp>
        <p:nvSpPr>
          <p:cNvPr id="85" name="학생 BIM 경진대회 장려상"/>
          <p:cNvSpPr txBox="1"/>
          <p:nvPr/>
        </p:nvSpPr>
        <p:spPr>
          <a:xfrm>
            <a:off x="9093200" y="5178723"/>
            <a:ext cx="152541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학생 BIM 경진대회 장려상</a:t>
            </a:r>
            <a:endParaRPr lang="en-US" sz="1100" dirty="0"/>
          </a:p>
        </p:txBody>
      </p:sp>
      <p:sp>
        <p:nvSpPr>
          <p:cNvPr id="86" name="KEY MESSAGE"/>
          <p:cNvSpPr txBox="1"/>
          <p:nvPr/>
        </p:nvSpPr>
        <p:spPr>
          <a:xfrm>
            <a:off x="1308100" y="58929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7" name="서로 다른 사람을 하나의 공동 목표로 연결합니다"/>
          <p:cNvSpPr txBox="1"/>
          <p:nvPr/>
        </p:nvSpPr>
        <p:spPr>
          <a:xfrm>
            <a:off x="2591395" y="58402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2026-10-08T13:02:41Z</dcterms:created>
  <dcterms:modified xsi:type="dcterms:W3CDTF">2026-10-08T13:02:41Z</dcterms:modified>
</cp:coreProperties>
</file>