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sp>
        <p:nvSpPr>
          <p:cNvPr id="8" name="p1-proj"/>
          <p:cNvSpPr/>
          <p:nvPr/>
        </p:nvSpPr>
        <p:spPr>
          <a:xfrm>
            <a:off x="615950" y="1820664"/>
            <a:ext cx="10960100" cy="1727200"/>
          </a:xfrm>
          <a:prstGeom prst="roundRect">
            <a:avLst>
              <a:gd name="adj" fmla="val 7721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9" name="chip tech"/>
          <p:cNvSpPr/>
          <p:nvPr/>
        </p:nvSpPr>
        <p:spPr>
          <a:xfrm>
            <a:off x="1663898" y="2126159"/>
            <a:ext cx="1115020" cy="2159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10" name="chip people"/>
          <p:cNvSpPr/>
          <p:nvPr/>
        </p:nvSpPr>
        <p:spPr>
          <a:xfrm>
            <a:off x="2842419" y="2126159"/>
            <a:ext cx="1131689" cy="2159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1" name="i"/>
          <p:cNvSpPr/>
          <p:nvPr/>
        </p:nvSpPr>
        <p:spPr>
          <a:xfrm>
            <a:off x="2931319" y="2208709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2" name="i"/>
          <p:cNvSpPr/>
          <p:nvPr/>
        </p:nvSpPr>
        <p:spPr>
          <a:xfrm>
            <a:off x="3007519" y="2208709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3" name="i"/>
          <p:cNvSpPr/>
          <p:nvPr/>
        </p:nvSpPr>
        <p:spPr>
          <a:xfrm>
            <a:off x="3083719" y="2208709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4" name="i"/>
          <p:cNvSpPr/>
          <p:nvPr/>
        </p:nvSpPr>
        <p:spPr>
          <a:xfrm>
            <a:off x="3159919" y="2208709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5" name="p1-sep"/>
          <p:cNvSpPr/>
          <p:nvPr/>
        </p:nvSpPr>
        <p:spPr>
          <a:xfrm>
            <a:off x="6083300" y="1890514"/>
            <a:ext cx="12700" cy="1587500"/>
          </a:xfrm>
          <a:prstGeom prst="rect">
            <a:avLst/>
          </a:prstGeom>
          <a:solidFill>
            <a:srgbClr val="D8E0EB"/>
          </a:solidFill>
          <a:ln/>
        </p:spPr>
      </p:sp>
      <p:pic>
        <p:nvPicPr>
          <p:cNvPr id="16" name="p1-hero-art" descr="p1-hero-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417" y="1918031"/>
            <a:ext cx="2480733" cy="1282700"/>
          </a:xfrm>
          <a:prstGeom prst="rect">
            <a:avLst/>
          </a:prstGeom>
        </p:spPr>
      </p:pic>
      <p:sp>
        <p:nvSpPr>
          <p:cNvPr id="17" name="p1-video"/>
          <p:cNvSpPr/>
          <p:nvPr/>
        </p:nvSpPr>
        <p:spPr>
          <a:xfrm>
            <a:off x="6273800" y="1890514"/>
            <a:ext cx="2146300" cy="1206500"/>
          </a:xfrm>
          <a:prstGeom prst="roundRect">
            <a:avLst>
              <a:gd name="adj" fmla="val 8421"/>
            </a:avLst>
          </a:prstGeom>
          <a:solidFill>
            <a:srgbClr val="0B2147"/>
          </a:solidFill>
          <a:ln/>
        </p:spPr>
      </p:sp>
      <p:pic>
        <p:nvPicPr>
          <p:cNvPr id="18" name="svg" descr="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933" y="2000581"/>
            <a:ext cx="1712383" cy="626533"/>
          </a:xfrm>
          <a:prstGeom prst="rect">
            <a:avLst/>
          </a:prstGeom>
        </p:spPr>
      </p:pic>
      <p:pic>
        <p:nvPicPr>
          <p:cNvPr id="19" name="p1-path-line" descr="p1-path-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67" y="3511881"/>
            <a:ext cx="10936817" cy="289983"/>
          </a:xfrm>
          <a:prstGeom prst="rect">
            <a:avLst/>
          </a:prstGeom>
        </p:spPr>
      </p:pic>
      <p:sp>
        <p:nvSpPr>
          <p:cNvPr id="20" name="eyebrow p1-eb"/>
          <p:cNvSpPr/>
          <p:nvPr/>
        </p:nvSpPr>
        <p:spPr>
          <a:xfrm>
            <a:off x="762000" y="3665339"/>
            <a:ext cx="1168896" cy="1206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eyebrow p1-eb"/>
          <p:cNvSpPr/>
          <p:nvPr/>
        </p:nvSpPr>
        <p:spPr>
          <a:xfrm>
            <a:off x="2667000" y="3665339"/>
            <a:ext cx="865287" cy="1206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eyebrow p1-eb"/>
          <p:cNvSpPr/>
          <p:nvPr/>
        </p:nvSpPr>
        <p:spPr>
          <a:xfrm>
            <a:off x="4826000" y="3665339"/>
            <a:ext cx="1201638" cy="1206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eyebrow p1-eb"/>
          <p:cNvSpPr/>
          <p:nvPr/>
        </p:nvSpPr>
        <p:spPr>
          <a:xfrm>
            <a:off x="10464800" y="3665339"/>
            <a:ext cx="969268" cy="1206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p1-panel"/>
          <p:cNvSpPr/>
          <p:nvPr/>
        </p:nvSpPr>
        <p:spPr>
          <a:xfrm>
            <a:off x="609600" y="4115495"/>
            <a:ext cx="1752600" cy="1712020"/>
          </a:xfrm>
          <a:prstGeom prst="roundRect">
            <a:avLst>
              <a:gd name="adj" fmla="val 8160"/>
            </a:avLst>
          </a:prstGeom>
          <a:solidFill>
            <a:srgbClr val="EEF4FC"/>
          </a:solidFill>
          <a:ln/>
        </p:spPr>
      </p:sp>
      <p:pic>
        <p:nvPicPr>
          <p:cNvPr id="25" name="svg" descr="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867" y="4401245"/>
            <a:ext cx="1380067" cy="533400"/>
          </a:xfrm>
          <a:prstGeom prst="rect">
            <a:avLst/>
          </a:prstGeom>
        </p:spPr>
      </p:pic>
      <p:sp>
        <p:nvSpPr>
          <p:cNvPr id="26" name="p1-lbl p1-pill"/>
          <p:cNvSpPr/>
          <p:nvPr/>
        </p:nvSpPr>
        <p:spPr>
          <a:xfrm>
            <a:off x="834926" y="5001320"/>
            <a:ext cx="463748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7" name="p1-lbl p1-pill"/>
          <p:cNvSpPr/>
          <p:nvPr/>
        </p:nvSpPr>
        <p:spPr>
          <a:xfrm>
            <a:off x="1468438" y="5001320"/>
            <a:ext cx="695325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pic>
        <p:nvPicPr>
          <p:cNvPr id="28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550" y="5385594"/>
            <a:ext cx="114300" cy="114300"/>
          </a:xfrm>
          <a:prstGeom prst="rect">
            <a:avLst/>
          </a:prstGeom>
        </p:spPr>
      </p:pic>
      <p:sp>
        <p:nvSpPr>
          <p:cNvPr id="29" name="p1-panel"/>
          <p:cNvSpPr/>
          <p:nvPr/>
        </p:nvSpPr>
        <p:spPr>
          <a:xfrm>
            <a:off x="2514600" y="4115495"/>
            <a:ext cx="2006600" cy="1712020"/>
          </a:xfrm>
          <a:prstGeom prst="roundRect">
            <a:avLst>
              <a:gd name="adj" fmla="val 8160"/>
            </a:avLst>
          </a:prstGeom>
          <a:solidFill>
            <a:srgbClr val="EEF4FC"/>
          </a:solidFill>
          <a:ln/>
        </p:spPr>
      </p:sp>
      <p:pic>
        <p:nvPicPr>
          <p:cNvPr id="30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8633" y="4497321"/>
            <a:ext cx="908050" cy="668867"/>
          </a:xfrm>
          <a:prstGeom prst="rect">
            <a:avLst/>
          </a:prstGeom>
        </p:spPr>
      </p:pic>
      <p:sp>
        <p:nvSpPr>
          <p:cNvPr id="31" name="p1-lbl p1-pill p1-in"/>
          <p:cNvSpPr/>
          <p:nvPr/>
        </p:nvSpPr>
        <p:spPr>
          <a:xfrm>
            <a:off x="2667000" y="4409480"/>
            <a:ext cx="7874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2" name="p1-lbl p1-pill p1-in"/>
          <p:cNvSpPr/>
          <p:nvPr/>
        </p:nvSpPr>
        <p:spPr>
          <a:xfrm>
            <a:off x="2667000" y="4726980"/>
            <a:ext cx="7874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3" name="p1-lbl p1-pill p1-in"/>
          <p:cNvSpPr/>
          <p:nvPr/>
        </p:nvSpPr>
        <p:spPr>
          <a:xfrm>
            <a:off x="2667000" y="5044480"/>
            <a:ext cx="7874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4" name="p1-agree"/>
          <p:cNvSpPr/>
          <p:nvPr/>
        </p:nvSpPr>
        <p:spPr>
          <a:xfrm>
            <a:off x="2622550" y="5465564"/>
            <a:ext cx="1790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4B8D"/>
            </a:solidFill>
            <a:prstDash val="solid"/>
          </a:ln>
        </p:spPr>
      </p:sp>
      <p:pic>
        <p:nvPicPr>
          <p:cNvPr id="35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4702" y="5543881"/>
            <a:ext cx="114300" cy="114300"/>
          </a:xfrm>
          <a:prstGeom prst="rect">
            <a:avLst/>
          </a:prstGeom>
        </p:spPr>
      </p:pic>
      <p:sp>
        <p:nvSpPr>
          <p:cNvPr id="36" name="p1-panel p1-team"/>
          <p:cNvSpPr/>
          <p:nvPr/>
        </p:nvSpPr>
        <p:spPr>
          <a:xfrm>
            <a:off x="4673600" y="4115495"/>
            <a:ext cx="5486400" cy="1712020"/>
          </a:xfrm>
          <a:prstGeom prst="roundRect">
            <a:avLst>
              <a:gd name="adj" fmla="val 8160"/>
            </a:avLst>
          </a:prstGeom>
          <a:solidFill>
            <a:srgbClr val="EEF4FC"/>
          </a:solidFill>
          <a:ln/>
        </p:spPr>
      </p:sp>
      <p:sp>
        <p:nvSpPr>
          <p:cNvPr id="37" name="p1-role me"/>
          <p:cNvSpPr/>
          <p:nvPr/>
        </p:nvSpPr>
        <p:spPr>
          <a:xfrm>
            <a:off x="4781550" y="4175522"/>
            <a:ext cx="2584450" cy="695920"/>
          </a:xfrm>
          <a:prstGeom prst="roundRect">
            <a:avLst>
              <a:gd name="adj" fmla="val 13687"/>
            </a:avLst>
          </a:prstGeom>
          <a:solidFill>
            <a:srgbClr val="FFFFFF"/>
          </a:solidFill>
          <a:ln w="12700">
            <a:solidFill>
              <a:srgbClr val="004B8D"/>
            </a:solidFill>
            <a:prstDash val="solid"/>
          </a:ln>
        </p:spPr>
      </p:sp>
      <p:sp>
        <p:nvSpPr>
          <p:cNvPr id="38" name="p1-av"/>
          <p:cNvSpPr/>
          <p:nvPr/>
        </p:nvSpPr>
        <p:spPr>
          <a:xfrm>
            <a:off x="4892675" y="4261247"/>
            <a:ext cx="107950" cy="107950"/>
          </a:xfrm>
          <a:prstGeom prst="ellipse">
            <a:avLst/>
          </a:prstGeom>
          <a:solidFill>
            <a:srgbClr val="00A94F"/>
          </a:solidFill>
          <a:ln w="31750">
            <a:solidFill>
              <a:srgbClr val="E5F6EC"/>
            </a:solidFill>
            <a:prstDash val="solid"/>
          </a:ln>
        </p:spPr>
      </p:sp>
      <p:sp>
        <p:nvSpPr>
          <p:cNvPr id="39" name="p1-me"/>
          <p:cNvSpPr/>
          <p:nvPr/>
        </p:nvSpPr>
        <p:spPr>
          <a:xfrm>
            <a:off x="5383808" y="4219972"/>
            <a:ext cx="190500" cy="190500"/>
          </a:xfrm>
          <a:prstGeom prst="ellipse">
            <a:avLst/>
          </a:prstGeom>
          <a:solidFill>
            <a:srgbClr val="0B2147"/>
          </a:solidFill>
          <a:ln/>
        </p:spPr>
      </p:sp>
      <p:pic>
        <p:nvPicPr>
          <p:cNvPr id="40" name="li" descr="l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3150" y="4526889"/>
            <a:ext cx="38100" cy="38100"/>
          </a:xfrm>
          <a:prstGeom prst="rect">
            <a:avLst/>
          </a:prstGeom>
        </p:spPr>
      </p:pic>
      <p:pic>
        <p:nvPicPr>
          <p:cNvPr id="41" name="li" descr="l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3150" y="4724565"/>
            <a:ext cx="38100" cy="38100"/>
          </a:xfrm>
          <a:prstGeom prst="rect">
            <a:avLst/>
          </a:prstGeom>
        </p:spPr>
      </p:pic>
      <p:sp>
        <p:nvSpPr>
          <p:cNvPr id="42" name="chip tech p1-tool"/>
          <p:cNvSpPr/>
          <p:nvPr/>
        </p:nvSpPr>
        <p:spPr>
          <a:xfrm>
            <a:off x="4965700" y="4640263"/>
            <a:ext cx="602655" cy="1778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43" name="p1-role"/>
          <p:cNvSpPr/>
          <p:nvPr/>
        </p:nvSpPr>
        <p:spPr>
          <a:xfrm>
            <a:off x="7467600" y="4175522"/>
            <a:ext cx="2584450" cy="695920"/>
          </a:xfrm>
          <a:prstGeom prst="roundRect">
            <a:avLst>
              <a:gd name="adj" fmla="val 136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p1-av"/>
          <p:cNvSpPr/>
          <p:nvPr/>
        </p:nvSpPr>
        <p:spPr>
          <a:xfrm>
            <a:off x="7578725" y="4253309"/>
            <a:ext cx="107950" cy="107950"/>
          </a:xfrm>
          <a:prstGeom prst="ellipse">
            <a:avLst/>
          </a:prstGeom>
          <a:solidFill>
            <a:srgbClr val="00A94F"/>
          </a:solidFill>
          <a:ln w="31750">
            <a:solidFill>
              <a:srgbClr val="E5F6EC"/>
            </a:solidFill>
            <a:prstDash val="solid"/>
          </a:ln>
        </p:spPr>
      </p:sp>
      <p:pic>
        <p:nvPicPr>
          <p:cNvPr id="45" name="li" descr="li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69200" y="4515247"/>
            <a:ext cx="38100" cy="38100"/>
          </a:xfrm>
          <a:prstGeom prst="rect">
            <a:avLst/>
          </a:prstGeom>
        </p:spPr>
      </p:pic>
      <p:pic>
        <p:nvPicPr>
          <p:cNvPr id="46" name="li" descr="li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69200" y="4704457"/>
            <a:ext cx="38100" cy="38100"/>
          </a:xfrm>
          <a:prstGeom prst="rect">
            <a:avLst/>
          </a:prstGeom>
        </p:spPr>
      </p:pic>
      <p:pic>
        <p:nvPicPr>
          <p:cNvPr id="47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9800" y="4877792"/>
            <a:ext cx="2794000" cy="203200"/>
          </a:xfrm>
          <a:prstGeom prst="rect">
            <a:avLst/>
          </a:prstGeom>
        </p:spPr>
      </p:pic>
      <p:sp>
        <p:nvSpPr>
          <p:cNvPr id="48" name="chip people p1-share"/>
          <p:cNvSpPr/>
          <p:nvPr/>
        </p:nvSpPr>
        <p:spPr>
          <a:xfrm>
            <a:off x="6459041" y="4877792"/>
            <a:ext cx="1915517" cy="2032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pic>
        <p:nvPicPr>
          <p:cNvPr id="49" name="svg" descr="sv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2175" y="4926476"/>
            <a:ext cx="91017" cy="105833"/>
          </a:xfrm>
          <a:prstGeom prst="rect">
            <a:avLst/>
          </a:prstGeom>
        </p:spPr>
      </p:pic>
      <p:sp>
        <p:nvSpPr>
          <p:cNvPr id="50" name="p1-role"/>
          <p:cNvSpPr/>
          <p:nvPr/>
        </p:nvSpPr>
        <p:spPr>
          <a:xfrm>
            <a:off x="4781550" y="5087342"/>
            <a:ext cx="2584450" cy="680045"/>
          </a:xfrm>
          <a:prstGeom prst="roundRect">
            <a:avLst>
              <a:gd name="adj" fmla="val 140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p1-av"/>
          <p:cNvSpPr/>
          <p:nvPr/>
        </p:nvSpPr>
        <p:spPr>
          <a:xfrm>
            <a:off x="4892675" y="5165130"/>
            <a:ext cx="107950" cy="107950"/>
          </a:xfrm>
          <a:prstGeom prst="ellipse">
            <a:avLst/>
          </a:prstGeom>
          <a:solidFill>
            <a:srgbClr val="00A94F"/>
          </a:solidFill>
          <a:ln w="31750">
            <a:solidFill>
              <a:srgbClr val="E5F6EC"/>
            </a:solidFill>
            <a:prstDash val="solid"/>
          </a:ln>
        </p:spPr>
      </p:sp>
      <p:pic>
        <p:nvPicPr>
          <p:cNvPr id="52" name="li" descr="li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83150" y="5422834"/>
            <a:ext cx="38100" cy="38100"/>
          </a:xfrm>
          <a:prstGeom prst="rect">
            <a:avLst/>
          </a:prstGeom>
        </p:spPr>
      </p:pic>
      <p:sp>
        <p:nvSpPr>
          <p:cNvPr id="53" name="chip tech p1-tool"/>
          <p:cNvSpPr/>
          <p:nvPr/>
        </p:nvSpPr>
        <p:spPr>
          <a:xfrm>
            <a:off x="4965700" y="5340648"/>
            <a:ext cx="400943" cy="1778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pic>
        <p:nvPicPr>
          <p:cNvPr id="54" name="li" descr="li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883150" y="5620511"/>
            <a:ext cx="38100" cy="38100"/>
          </a:xfrm>
          <a:prstGeom prst="rect">
            <a:avLst/>
          </a:prstGeom>
        </p:spPr>
      </p:pic>
      <p:sp>
        <p:nvSpPr>
          <p:cNvPr id="55" name="p1-role"/>
          <p:cNvSpPr/>
          <p:nvPr/>
        </p:nvSpPr>
        <p:spPr>
          <a:xfrm>
            <a:off x="7467600" y="5087342"/>
            <a:ext cx="2584450" cy="680045"/>
          </a:xfrm>
          <a:prstGeom prst="roundRect">
            <a:avLst>
              <a:gd name="adj" fmla="val 140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p1-av"/>
          <p:cNvSpPr/>
          <p:nvPr/>
        </p:nvSpPr>
        <p:spPr>
          <a:xfrm>
            <a:off x="7578725" y="5165130"/>
            <a:ext cx="107950" cy="107950"/>
          </a:xfrm>
          <a:prstGeom prst="ellipse">
            <a:avLst/>
          </a:prstGeom>
          <a:solidFill>
            <a:srgbClr val="00A94F"/>
          </a:solidFill>
          <a:ln w="31750">
            <a:solidFill>
              <a:srgbClr val="E5F6EC"/>
            </a:solidFill>
            <a:prstDash val="solid"/>
          </a:ln>
        </p:spPr>
      </p:sp>
      <p:pic>
        <p:nvPicPr>
          <p:cNvPr id="57" name="li" descr="li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69200" y="5422834"/>
            <a:ext cx="38100" cy="38100"/>
          </a:xfrm>
          <a:prstGeom prst="rect">
            <a:avLst/>
          </a:prstGeom>
        </p:spPr>
      </p:pic>
      <p:pic>
        <p:nvPicPr>
          <p:cNvPr id="58" name="li" descr="li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69200" y="5620511"/>
            <a:ext cx="38100" cy="38100"/>
          </a:xfrm>
          <a:prstGeom prst="rect">
            <a:avLst/>
          </a:prstGeom>
        </p:spPr>
      </p:pic>
      <p:sp>
        <p:nvSpPr>
          <p:cNvPr id="59" name="p1-panel"/>
          <p:cNvSpPr/>
          <p:nvPr/>
        </p:nvSpPr>
        <p:spPr>
          <a:xfrm>
            <a:off x="10312400" y="4115495"/>
            <a:ext cx="1270000" cy="1712020"/>
          </a:xfrm>
          <a:prstGeom prst="roundRect">
            <a:avLst>
              <a:gd name="adj" fmla="val 11000"/>
            </a:avLst>
          </a:prstGeom>
          <a:solidFill>
            <a:srgbClr val="EEF4FC"/>
          </a:solidFill>
          <a:ln/>
        </p:spPr>
      </p:sp>
      <p:pic>
        <p:nvPicPr>
          <p:cNvPr id="60" name="svg" descr="sv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16117" y="4454161"/>
            <a:ext cx="1064683" cy="643467"/>
          </a:xfrm>
          <a:prstGeom prst="rect">
            <a:avLst/>
          </a:prstGeom>
        </p:spPr>
      </p:pic>
      <p:pic>
        <p:nvPicPr>
          <p:cNvPr id="61" name="svg" descr="sv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420350" y="5385594"/>
            <a:ext cx="114300" cy="114300"/>
          </a:xfrm>
          <a:prstGeom prst="rect">
            <a:avLst/>
          </a:prstGeom>
        </p:spPr>
      </p:pic>
      <p:sp>
        <p:nvSpPr>
          <p:cNvPr id="62" name="key"/>
          <p:cNvSpPr/>
          <p:nvPr/>
        </p:nvSpPr>
        <p:spPr>
          <a:xfrm>
            <a:off x="609600" y="5916414"/>
            <a:ext cx="10972800" cy="432991"/>
          </a:xfrm>
          <a:prstGeom prst="roundRect">
            <a:avLst>
              <a:gd name="adj" fmla="val 32264"/>
            </a:avLst>
          </a:prstGeom>
          <a:solidFill>
            <a:srgbClr val="0B2147"/>
          </a:solidFill>
          <a:ln/>
        </p:spPr>
      </p:sp>
      <p:sp>
        <p:nvSpPr>
          <p:cNvPr id="63" name="i"/>
          <p:cNvSpPr/>
          <p:nvPr/>
        </p:nvSpPr>
        <p:spPr>
          <a:xfrm>
            <a:off x="863600" y="61010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64" name="b"/>
          <p:cNvSpPr/>
          <p:nvPr/>
        </p:nvSpPr>
        <p:spPr>
          <a:xfrm>
            <a:off x="927100" y="61264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5" name="i"/>
          <p:cNvSpPr/>
          <p:nvPr/>
        </p:nvSpPr>
        <p:spPr>
          <a:xfrm>
            <a:off x="1016000" y="61010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6" name="b"/>
          <p:cNvSpPr/>
          <p:nvPr/>
        </p:nvSpPr>
        <p:spPr>
          <a:xfrm>
            <a:off x="1079500" y="61264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7" name="i"/>
          <p:cNvSpPr/>
          <p:nvPr/>
        </p:nvSpPr>
        <p:spPr>
          <a:xfrm>
            <a:off x="1168400" y="61010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68" name="01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100" dirty="0"/>
          </a:p>
        </p:txBody>
      </p:sp>
      <p:sp>
        <p:nvSpPr>
          <p:cNvPr id="69" name="PT 주제 1 · 가장 중요하게 생각하는 가치와 실천 경험"/>
          <p:cNvSpPr txBox="1"/>
          <p:nvPr/>
        </p:nvSpPr>
        <p:spPr>
          <a:xfrm>
            <a:off x="1347589" y="419100"/>
            <a:ext cx="305829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100" dirty="0"/>
          </a:p>
        </p:txBody>
      </p:sp>
      <p:sp>
        <p:nvSpPr>
          <p:cNvPr id="70" name="제가 가장 중요하게 생각하는 가치는"/>
          <p:cNvSpPr txBox="1"/>
          <p:nvPr/>
        </p:nvSpPr>
        <p:spPr>
          <a:xfrm>
            <a:off x="609600" y="774005"/>
            <a:ext cx="295091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600" dirty="0"/>
          </a:p>
        </p:txBody>
      </p:sp>
      <p:sp>
        <p:nvSpPr>
          <p:cNvPr id="71" name="공동의 목표를 공유하며 함께 성과를 만드는 협업입니다"/>
          <p:cNvSpPr txBox="1"/>
          <p:nvPr/>
        </p:nvSpPr>
        <p:spPr>
          <a:xfrm>
            <a:off x="609600" y="1100336"/>
            <a:ext cx="7744331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 함께 성과를 만드는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800" dirty="0"/>
          </a:p>
        </p:txBody>
      </p:sp>
      <p:sp>
        <p:nvSpPr>
          <p:cNvPr id="72" name="PROJECT"/>
          <p:cNvSpPr txBox="1"/>
          <p:nvPr/>
        </p:nvSpPr>
        <p:spPr>
          <a:xfrm>
            <a:off x="825500" y="2159298"/>
            <a:ext cx="774898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PROJECT</a:t>
            </a:r>
            <a:endParaRPr lang="en-US" sz="950" dirty="0"/>
          </a:p>
        </p:txBody>
      </p:sp>
      <p:sp>
        <p:nvSpPr>
          <p:cNvPr id="73" name="학생 BIM 경진대회"/>
          <p:cNvSpPr txBox="1"/>
          <p:nvPr/>
        </p:nvSpPr>
        <p:spPr>
          <a:xfrm>
            <a:off x="1752798" y="2159298"/>
            <a:ext cx="99345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학생 BIM 경진대회</a:t>
            </a:r>
            <a:endParaRPr lang="en-US" sz="950" dirty="0"/>
          </a:p>
        </p:txBody>
      </p:sp>
      <p:sp>
        <p:nvSpPr>
          <p:cNvPr id="74" name="4인 팀 · 팀장"/>
          <p:cNvSpPr txBox="1"/>
          <p:nvPr/>
        </p:nvSpPr>
        <p:spPr>
          <a:xfrm>
            <a:off x="3261519" y="2159298"/>
            <a:ext cx="67448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4인 팀 · 팀장</a:t>
            </a:r>
            <a:endParaRPr lang="en-US" sz="950" dirty="0"/>
          </a:p>
        </p:txBody>
      </p:sp>
      <p:sp>
        <p:nvSpPr>
          <p:cNvPr id="75" name="‘유닛 모듈러 기반 사용자 맞춤형 리모델링 방법’"/>
          <p:cNvSpPr txBox="1"/>
          <p:nvPr/>
        </p:nvSpPr>
        <p:spPr>
          <a:xfrm>
            <a:off x="825500" y="2462709"/>
            <a:ext cx="4759448" cy="298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000" spc="-7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‘유닛 모듈러 기반 사용자 맞춤형 리모델링 방법’</a:t>
            </a:r>
            <a:endParaRPr lang="en-US" sz="2000" dirty="0"/>
          </a:p>
        </p:txBody>
      </p:sp>
      <p:sp>
        <p:nvSpPr>
          <p:cNvPr id="76" name="사용자가 원하는 리모델링 규모에 따라 유닛 모듈러를 배치하고,"/>
          <p:cNvSpPr txBox="1"/>
          <p:nvPr/>
        </p:nvSpPr>
        <p:spPr>
          <a:xfrm>
            <a:off x="825500" y="2850059"/>
            <a:ext cx="355270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사용자가 원하는 리모델링 규모에 따라 유닛 모듈러를 배치하고,</a:t>
            </a:r>
            <a:endParaRPr lang="en-US" sz="1100" dirty="0"/>
          </a:p>
        </p:txBody>
      </p:sp>
      <p:sp>
        <p:nvSpPr>
          <p:cNvPr id="77" name="필요한 모듈 수와 자재 물량을 자동으로 산출하는 BIM 기반 리모델링 방"/>
          <p:cNvSpPr txBox="1"/>
          <p:nvPr/>
        </p:nvSpPr>
        <p:spPr>
          <a:xfrm>
            <a:off x="825500" y="3052564"/>
            <a:ext cx="443678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필요한 모듈 수와 자재 물량을 자동으로 산출하는 BIM 기반 리모델링 방법 제안</a:t>
            </a:r>
            <a:endParaRPr lang="en-US" sz="1100" dirty="0"/>
          </a:p>
        </p:txBody>
      </p:sp>
      <p:sp>
        <p:nvSpPr>
          <p:cNvPr id="78" name="장려상"/>
          <p:cNvSpPr txBox="1"/>
          <p:nvPr/>
        </p:nvSpPr>
        <p:spPr>
          <a:xfrm>
            <a:off x="10058350" y="2449314"/>
            <a:ext cx="698599" cy="298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000" spc="-60" kern="0" dirty="0">
                <a:solidFill>
                  <a:srgbClr val="0B2147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장려상</a:t>
            </a:r>
            <a:endParaRPr lang="en-US" sz="2000" dirty="0"/>
          </a:p>
        </p:txBody>
      </p:sp>
      <p:sp>
        <p:nvSpPr>
          <p:cNvPr id="79" name="리모델링"/>
          <p:cNvSpPr txBox="1"/>
          <p:nvPr/>
        </p:nvSpPr>
        <p:spPr>
          <a:xfrm>
            <a:off x="6426398" y="2639814"/>
            <a:ext cx="44400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18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리모델링</a:t>
            </a:r>
            <a:endParaRPr lang="en-US" sz="900" dirty="0"/>
          </a:p>
        </p:txBody>
      </p:sp>
      <p:sp>
        <p:nvSpPr>
          <p:cNvPr id="80" name="규모 입력"/>
          <p:cNvSpPr txBox="1"/>
          <p:nvPr/>
        </p:nvSpPr>
        <p:spPr>
          <a:xfrm>
            <a:off x="6414988" y="2771180"/>
            <a:ext cx="466923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18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규모 입력</a:t>
            </a:r>
            <a:endParaRPr lang="en-US" sz="900" dirty="0"/>
          </a:p>
        </p:txBody>
      </p:sp>
      <p:sp>
        <p:nvSpPr>
          <p:cNvPr id="81" name="유닛 모듈러"/>
          <p:cNvSpPr txBox="1"/>
          <p:nvPr/>
        </p:nvSpPr>
        <p:spPr>
          <a:xfrm>
            <a:off x="7064375" y="2639814"/>
            <a:ext cx="56515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18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유닛 모듈러</a:t>
            </a:r>
            <a:endParaRPr lang="en-US" sz="900" dirty="0"/>
          </a:p>
        </p:txBody>
      </p:sp>
      <p:sp>
        <p:nvSpPr>
          <p:cNvPr id="82" name="배치"/>
          <p:cNvSpPr txBox="1"/>
          <p:nvPr/>
        </p:nvSpPr>
        <p:spPr>
          <a:xfrm>
            <a:off x="7223224" y="2771180"/>
            <a:ext cx="247452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18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배치</a:t>
            </a:r>
            <a:endParaRPr lang="en-US" sz="900" dirty="0"/>
          </a:p>
        </p:txBody>
      </p:sp>
      <p:sp>
        <p:nvSpPr>
          <p:cNvPr id="83" name="모듈 수 ·"/>
          <p:cNvSpPr txBox="1"/>
          <p:nvPr/>
        </p:nvSpPr>
        <p:spPr>
          <a:xfrm>
            <a:off x="7826077" y="2639814"/>
            <a:ext cx="426045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18" kern="0" dirty="0">
                <a:solidFill>
                  <a:srgbClr val="45B9EC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모듈 수 ·</a:t>
            </a:r>
            <a:endParaRPr lang="en-US" sz="900" dirty="0"/>
          </a:p>
        </p:txBody>
      </p:sp>
      <p:sp>
        <p:nvSpPr>
          <p:cNvPr id="84" name="자재 물량"/>
          <p:cNvSpPr txBox="1"/>
          <p:nvPr/>
        </p:nvSpPr>
        <p:spPr>
          <a:xfrm>
            <a:off x="7805638" y="2771180"/>
            <a:ext cx="466923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18" kern="0" dirty="0">
                <a:solidFill>
                  <a:srgbClr val="45B9EC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자재 물량</a:t>
            </a:r>
            <a:endParaRPr lang="en-US" sz="900" dirty="0"/>
          </a:p>
        </p:txBody>
      </p:sp>
      <p:sp>
        <p:nvSpPr>
          <p:cNvPr id="85" name="자동 산출"/>
          <p:cNvSpPr txBox="1"/>
          <p:nvPr/>
        </p:nvSpPr>
        <p:spPr>
          <a:xfrm>
            <a:off x="7805638" y="2902545"/>
            <a:ext cx="466923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18" kern="0" dirty="0">
                <a:solidFill>
                  <a:srgbClr val="45B9EC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자동 산출</a:t>
            </a:r>
            <a:endParaRPr lang="en-US" sz="900" dirty="0"/>
          </a:p>
        </p:txBody>
      </p:sp>
      <p:sp>
        <p:nvSpPr>
          <p:cNvPr id="86" name="결과물 · 유닛 모듈러 기반 사용자 맞춤형"/>
          <p:cNvSpPr txBox="1"/>
          <p:nvPr/>
        </p:nvSpPr>
        <p:spPr>
          <a:xfrm>
            <a:off x="6273800" y="3154164"/>
            <a:ext cx="20529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결과물</a:t>
            </a:r>
            <a:pPr algn="l" indent="0" marL="0">
              <a:buNone/>
            </a:pPr>
            <a:r>
              <a:rPr lang="ko-KR" altLang="en-US" sz="1000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· 유닛 모듈러 기반 사용자 맞춤형</a:t>
            </a:r>
            <a:endParaRPr lang="en-US" sz="1000" dirty="0"/>
          </a:p>
        </p:txBody>
      </p:sp>
      <p:sp>
        <p:nvSpPr>
          <p:cNvPr id="87" name="리모델링 앱 개발 아이디어 시연 영상"/>
          <p:cNvSpPr txBox="1"/>
          <p:nvPr/>
        </p:nvSpPr>
        <p:spPr>
          <a:xfrm>
            <a:off x="6273800" y="3319264"/>
            <a:ext cx="18713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리모델링 앱 개발 아이디어 시연 영상</a:t>
            </a:r>
            <a:endParaRPr lang="en-US" sz="1000" dirty="0"/>
          </a:p>
        </p:txBody>
      </p:sp>
      <p:sp>
        <p:nvSpPr>
          <p:cNvPr id="88" name="학생 BIM 경진대회"/>
          <p:cNvSpPr txBox="1"/>
          <p:nvPr/>
        </p:nvSpPr>
        <p:spPr>
          <a:xfrm>
            <a:off x="9902924" y="3319264"/>
            <a:ext cx="101617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학생 BIM 경진대회</a:t>
            </a:r>
            <a:endParaRPr lang="en-US" sz="1000" dirty="0"/>
          </a:p>
        </p:txBody>
      </p:sp>
      <p:sp>
        <p:nvSpPr>
          <p:cNvPr id="89" name="01"/>
          <p:cNvSpPr txBox="1"/>
          <p:nvPr/>
        </p:nvSpPr>
        <p:spPr>
          <a:xfrm>
            <a:off x="825500" y="3652639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50" dirty="0"/>
          </a:p>
        </p:txBody>
      </p:sp>
      <p:sp>
        <p:nvSpPr>
          <p:cNvPr id="90" name="CONFLICT"/>
          <p:cNvSpPr txBox="1"/>
          <p:nvPr/>
        </p:nvSpPr>
        <p:spPr>
          <a:xfrm>
            <a:off x="1059557" y="3652639"/>
            <a:ext cx="84593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CONFLICT</a:t>
            </a:r>
            <a:endParaRPr lang="en-US" sz="950" dirty="0"/>
          </a:p>
        </p:txBody>
      </p:sp>
      <p:sp>
        <p:nvSpPr>
          <p:cNvPr id="91" name="02"/>
          <p:cNvSpPr txBox="1"/>
          <p:nvPr/>
        </p:nvSpPr>
        <p:spPr>
          <a:xfrm>
            <a:off x="2730500" y="3652639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50" dirty="0"/>
          </a:p>
        </p:txBody>
      </p:sp>
      <p:sp>
        <p:nvSpPr>
          <p:cNvPr id="92" name="ALIGN"/>
          <p:cNvSpPr txBox="1"/>
          <p:nvPr/>
        </p:nvSpPr>
        <p:spPr>
          <a:xfrm>
            <a:off x="2964557" y="3652639"/>
            <a:ext cx="54233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ALIGN</a:t>
            </a:r>
            <a:endParaRPr lang="en-US" sz="950" dirty="0"/>
          </a:p>
        </p:txBody>
      </p:sp>
      <p:sp>
        <p:nvSpPr>
          <p:cNvPr id="93" name="03"/>
          <p:cNvSpPr txBox="1"/>
          <p:nvPr/>
        </p:nvSpPr>
        <p:spPr>
          <a:xfrm>
            <a:off x="4889500" y="3652639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950" dirty="0"/>
          </a:p>
        </p:txBody>
      </p:sp>
      <p:sp>
        <p:nvSpPr>
          <p:cNvPr id="94" name="ONE TEAM"/>
          <p:cNvSpPr txBox="1"/>
          <p:nvPr/>
        </p:nvSpPr>
        <p:spPr>
          <a:xfrm>
            <a:off x="5123557" y="3652639"/>
            <a:ext cx="87868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ONE TEAM</a:t>
            </a:r>
            <a:endParaRPr lang="en-US" sz="950" dirty="0"/>
          </a:p>
        </p:txBody>
      </p:sp>
      <p:sp>
        <p:nvSpPr>
          <p:cNvPr id="95" name="04"/>
          <p:cNvSpPr txBox="1"/>
          <p:nvPr/>
        </p:nvSpPr>
        <p:spPr>
          <a:xfrm>
            <a:off x="10528300" y="3652639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04</a:t>
            </a:r>
            <a:endParaRPr lang="en-US" sz="950" dirty="0"/>
          </a:p>
        </p:txBody>
      </p:sp>
      <p:sp>
        <p:nvSpPr>
          <p:cNvPr id="96" name="RESULT"/>
          <p:cNvSpPr txBox="1"/>
          <p:nvPr/>
        </p:nvSpPr>
        <p:spPr>
          <a:xfrm>
            <a:off x="10762357" y="3652639"/>
            <a:ext cx="64631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RESULT</a:t>
            </a:r>
            <a:endParaRPr lang="en-US" sz="950" dirty="0"/>
          </a:p>
        </p:txBody>
      </p:sp>
      <p:sp>
        <p:nvSpPr>
          <p:cNvPr id="97" name="주제 선정 의견 충돌"/>
          <p:cNvSpPr txBox="1"/>
          <p:nvPr/>
        </p:nvSpPr>
        <p:spPr>
          <a:xfrm>
            <a:off x="609600" y="3852664"/>
            <a:ext cx="137869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주제 선정 의견 충돌</a:t>
            </a:r>
            <a:endParaRPr lang="en-US" sz="1400" dirty="0"/>
          </a:p>
        </p:txBody>
      </p:sp>
      <p:sp>
        <p:nvSpPr>
          <p:cNvPr id="98" name="참신성"/>
          <p:cNvSpPr txBox="1"/>
          <p:nvPr/>
        </p:nvSpPr>
        <p:spPr>
          <a:xfrm>
            <a:off x="911126" y="5033070"/>
            <a:ext cx="362148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-19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참신성</a:t>
            </a:r>
            <a:endParaRPr lang="en-US" sz="950" dirty="0"/>
          </a:p>
        </p:txBody>
      </p:sp>
      <p:sp>
        <p:nvSpPr>
          <p:cNvPr id="99" name="구현 가능성"/>
          <p:cNvSpPr txBox="1"/>
          <p:nvPr/>
        </p:nvSpPr>
        <p:spPr>
          <a:xfrm>
            <a:off x="1544637" y="5033070"/>
            <a:ext cx="5937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-19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구현 가능성</a:t>
            </a:r>
            <a:endParaRPr lang="en-US" sz="950" dirty="0"/>
          </a:p>
        </p:txBody>
      </p:sp>
      <p:sp>
        <p:nvSpPr>
          <p:cNvPr id="100" name="마감 3주 전까지"/>
          <p:cNvSpPr txBox="1"/>
          <p:nvPr/>
        </p:nvSpPr>
        <p:spPr>
          <a:xfrm>
            <a:off x="889000" y="5360194"/>
            <a:ext cx="91247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마감 3주 전까지</a:t>
            </a:r>
            <a:endParaRPr lang="en-US" sz="1100" dirty="0"/>
          </a:p>
        </p:txBody>
      </p:sp>
      <p:sp>
        <p:nvSpPr>
          <p:cNvPr id="101" name="주제 미확정"/>
          <p:cNvSpPr txBox="1"/>
          <p:nvPr/>
        </p:nvSpPr>
        <p:spPr>
          <a:xfrm>
            <a:off x="889000" y="5555754"/>
            <a:ext cx="67528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주제 미확정</a:t>
            </a:r>
            <a:endParaRPr lang="en-US" sz="1100" dirty="0"/>
          </a:p>
        </p:txBody>
      </p:sp>
      <p:sp>
        <p:nvSpPr>
          <p:cNvPr id="102" name="의견 조율 · 주제 확정"/>
          <p:cNvSpPr txBox="1"/>
          <p:nvPr/>
        </p:nvSpPr>
        <p:spPr>
          <a:xfrm>
            <a:off x="2514600" y="3852664"/>
            <a:ext cx="146767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의견 조율 · 주제 확정</a:t>
            </a:r>
            <a:endParaRPr lang="en-US" sz="1400" dirty="0"/>
          </a:p>
        </p:txBody>
      </p:sp>
      <p:sp>
        <p:nvSpPr>
          <p:cNvPr id="103" name="경청"/>
          <p:cNvSpPr txBox="1"/>
          <p:nvPr/>
        </p:nvSpPr>
        <p:spPr>
          <a:xfrm>
            <a:off x="2931517" y="4441230"/>
            <a:ext cx="258366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spc="-19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경청</a:t>
            </a:r>
            <a:endParaRPr lang="en-US" sz="950" dirty="0"/>
          </a:p>
        </p:txBody>
      </p:sp>
      <p:sp>
        <p:nvSpPr>
          <p:cNvPr id="104" name="수상작 분석"/>
          <p:cNvSpPr txBox="1"/>
          <p:nvPr/>
        </p:nvSpPr>
        <p:spPr>
          <a:xfrm>
            <a:off x="2763838" y="4758730"/>
            <a:ext cx="5937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spc="-19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수상작 분석</a:t>
            </a:r>
            <a:endParaRPr lang="en-US" sz="950" dirty="0"/>
          </a:p>
        </p:txBody>
      </p:sp>
      <p:sp>
        <p:nvSpPr>
          <p:cNvPr id="105" name="교수님 조언"/>
          <p:cNvSpPr txBox="1"/>
          <p:nvPr/>
        </p:nvSpPr>
        <p:spPr>
          <a:xfrm>
            <a:off x="2763838" y="5076230"/>
            <a:ext cx="5937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spc="-19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교수님 조언</a:t>
            </a:r>
            <a:endParaRPr lang="en-US" sz="950" dirty="0"/>
          </a:p>
        </p:txBody>
      </p:sp>
      <p:sp>
        <p:nvSpPr>
          <p:cNvPr id="106" name="판단"/>
          <p:cNvSpPr txBox="1"/>
          <p:nvPr/>
        </p:nvSpPr>
        <p:spPr>
          <a:xfrm>
            <a:off x="3897610" y="4679355"/>
            <a:ext cx="2692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판단</a:t>
            </a:r>
            <a:endParaRPr lang="en-US" sz="1000" dirty="0"/>
          </a:p>
        </p:txBody>
      </p:sp>
      <p:sp>
        <p:nvSpPr>
          <p:cNvPr id="107" name="기준"/>
          <p:cNvSpPr txBox="1"/>
          <p:nvPr/>
        </p:nvSpPr>
        <p:spPr>
          <a:xfrm>
            <a:off x="3897610" y="4825405"/>
            <a:ext cx="2692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기준</a:t>
            </a:r>
            <a:endParaRPr lang="en-US" sz="1000" dirty="0"/>
          </a:p>
        </p:txBody>
      </p:sp>
      <p:sp>
        <p:nvSpPr>
          <p:cNvPr id="108" name="주제 합의"/>
          <p:cNvSpPr txBox="1"/>
          <p:nvPr/>
        </p:nvSpPr>
        <p:spPr>
          <a:xfrm>
            <a:off x="3358852" y="551031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주제 합의</a:t>
            </a:r>
            <a:endParaRPr lang="en-US" sz="1100" dirty="0"/>
          </a:p>
        </p:txBody>
      </p:sp>
      <p:sp>
        <p:nvSpPr>
          <p:cNvPr id="109" name="강점 기반 역할 분담 · 지속적인 공유"/>
          <p:cNvSpPr txBox="1"/>
          <p:nvPr/>
        </p:nvSpPr>
        <p:spPr>
          <a:xfrm>
            <a:off x="4673600" y="3852664"/>
            <a:ext cx="249299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강점 기반 역할 분담 · 지속적인 공유</a:t>
            </a:r>
            <a:endParaRPr lang="en-US" sz="1400" dirty="0"/>
          </a:p>
        </p:txBody>
      </p:sp>
      <p:sp>
        <p:nvSpPr>
          <p:cNvPr id="110" name="팀장"/>
          <p:cNvSpPr txBox="1"/>
          <p:nvPr/>
        </p:nvSpPr>
        <p:spPr>
          <a:xfrm>
            <a:off x="5080000" y="4227909"/>
            <a:ext cx="29110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팀장</a:t>
            </a:r>
            <a:endParaRPr lang="en-US" sz="1100" dirty="0"/>
          </a:p>
        </p:txBody>
      </p:sp>
      <p:sp>
        <p:nvSpPr>
          <p:cNvPr id="111" name="나"/>
          <p:cNvSpPr txBox="1"/>
          <p:nvPr/>
        </p:nvSpPr>
        <p:spPr>
          <a:xfrm>
            <a:off x="5430143" y="4245372"/>
            <a:ext cx="14863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22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나</a:t>
            </a:r>
            <a:endParaRPr lang="en-US" sz="900" dirty="0"/>
          </a:p>
        </p:txBody>
      </p:sp>
      <p:sp>
        <p:nvSpPr>
          <p:cNvPr id="112" name="프로젝트 총괄"/>
          <p:cNvSpPr txBox="1"/>
          <p:nvPr/>
        </p:nvSpPr>
        <p:spPr>
          <a:xfrm>
            <a:off x="4965700" y="4448572"/>
            <a:ext cx="79474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총괄</a:t>
            </a:r>
            <a:endParaRPr lang="en-US" sz="1100" dirty="0"/>
          </a:p>
        </p:txBody>
      </p:sp>
      <p:sp>
        <p:nvSpPr>
          <p:cNvPr id="113" name="Dynamo"/>
          <p:cNvSpPr txBox="1"/>
          <p:nvPr/>
        </p:nvSpPr>
        <p:spPr>
          <a:xfrm>
            <a:off x="5022850" y="4655542"/>
            <a:ext cx="539155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28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Dynamo</a:t>
            </a:r>
            <a:endParaRPr lang="en-US" sz="900" dirty="0"/>
          </a:p>
        </p:txBody>
      </p:sp>
      <p:sp>
        <p:nvSpPr>
          <p:cNvPr id="114" name="기반 자동화 알고리즘 개발"/>
          <p:cNvSpPr txBox="1"/>
          <p:nvPr/>
        </p:nvSpPr>
        <p:spPr>
          <a:xfrm>
            <a:off x="5619155" y="4644132"/>
            <a:ext cx="147934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기반 자동화 알고리즘 개발</a:t>
            </a:r>
            <a:endParaRPr lang="en-US" sz="1100" dirty="0"/>
          </a:p>
        </p:txBody>
      </p:sp>
      <p:sp>
        <p:nvSpPr>
          <p:cNvPr id="115" name="팀원 A"/>
          <p:cNvSpPr txBox="1"/>
          <p:nvPr/>
        </p:nvSpPr>
        <p:spPr>
          <a:xfrm>
            <a:off x="7766050" y="4219972"/>
            <a:ext cx="42465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A</a:t>
            </a:r>
            <a:endParaRPr lang="en-US" sz="1100" dirty="0"/>
          </a:p>
        </p:txBody>
      </p:sp>
      <p:sp>
        <p:nvSpPr>
          <p:cNvPr id="116" name="유닛 모듈러 설계"/>
          <p:cNvSpPr txBox="1"/>
          <p:nvPr/>
        </p:nvSpPr>
        <p:spPr>
          <a:xfrm>
            <a:off x="7651750" y="4432697"/>
            <a:ext cx="9440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유닛 모듈러 설계</a:t>
            </a:r>
            <a:endParaRPr lang="en-US" sz="1100" dirty="0"/>
          </a:p>
        </p:txBody>
      </p:sp>
      <p:sp>
        <p:nvSpPr>
          <p:cNvPr id="117" name="배치계획"/>
          <p:cNvSpPr txBox="1"/>
          <p:nvPr/>
        </p:nvSpPr>
        <p:spPr>
          <a:xfrm>
            <a:off x="7651750" y="4628257"/>
            <a:ext cx="52863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배치계획</a:t>
            </a:r>
            <a:endParaRPr lang="en-US" sz="1100" dirty="0"/>
          </a:p>
        </p:txBody>
      </p:sp>
      <p:sp>
        <p:nvSpPr>
          <p:cNvPr id="118" name="이틀마다 진행상황 공유 · 피드백"/>
          <p:cNvSpPr txBox="1"/>
          <p:nvPr/>
        </p:nvSpPr>
        <p:spPr>
          <a:xfrm>
            <a:off x="6713041" y="4900017"/>
            <a:ext cx="16535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진행상황 공유 · 피드백</a:t>
            </a:r>
            <a:endParaRPr lang="en-US" sz="1000" dirty="0"/>
          </a:p>
        </p:txBody>
      </p:sp>
      <p:sp>
        <p:nvSpPr>
          <p:cNvPr id="119" name="팀원 B"/>
          <p:cNvSpPr txBox="1"/>
          <p:nvPr/>
        </p:nvSpPr>
        <p:spPr>
          <a:xfrm>
            <a:off x="5080000" y="5131792"/>
            <a:ext cx="42445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B</a:t>
            </a:r>
            <a:endParaRPr lang="en-US" sz="1100" dirty="0"/>
          </a:p>
        </p:txBody>
      </p:sp>
      <p:sp>
        <p:nvSpPr>
          <p:cNvPr id="120" name="Revit"/>
          <p:cNvSpPr txBox="1"/>
          <p:nvPr/>
        </p:nvSpPr>
        <p:spPr>
          <a:xfrm>
            <a:off x="5022850" y="5355927"/>
            <a:ext cx="337443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28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Revit</a:t>
            </a:r>
            <a:endParaRPr lang="en-US" sz="900" dirty="0"/>
          </a:p>
        </p:txBody>
      </p:sp>
      <p:sp>
        <p:nvSpPr>
          <p:cNvPr id="121" name="기반 BIM 모델링"/>
          <p:cNvSpPr txBox="1"/>
          <p:nvPr/>
        </p:nvSpPr>
        <p:spPr>
          <a:xfrm>
            <a:off x="5417443" y="5344517"/>
            <a:ext cx="97904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기반 BIM 모델링</a:t>
            </a:r>
            <a:endParaRPr lang="en-US" sz="1100" dirty="0"/>
          </a:p>
        </p:txBody>
      </p:sp>
      <p:sp>
        <p:nvSpPr>
          <p:cNvPr id="122" name="데이터 구축"/>
          <p:cNvSpPr txBox="1"/>
          <p:nvPr/>
        </p:nvSpPr>
        <p:spPr>
          <a:xfrm>
            <a:off x="4965700" y="5540077"/>
            <a:ext cx="67528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데이터 구축</a:t>
            </a:r>
            <a:endParaRPr lang="en-US" sz="1100" dirty="0"/>
          </a:p>
        </p:txBody>
      </p:sp>
      <p:sp>
        <p:nvSpPr>
          <p:cNvPr id="123" name="팀원 C"/>
          <p:cNvSpPr txBox="1"/>
          <p:nvPr/>
        </p:nvSpPr>
        <p:spPr>
          <a:xfrm>
            <a:off x="7766050" y="513179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C</a:t>
            </a:r>
            <a:endParaRPr lang="en-US" sz="1100" dirty="0"/>
          </a:p>
        </p:txBody>
      </p:sp>
      <p:sp>
        <p:nvSpPr>
          <p:cNvPr id="124" name="리모델링 적용 시나리오 구성"/>
          <p:cNvSpPr txBox="1"/>
          <p:nvPr/>
        </p:nvSpPr>
        <p:spPr>
          <a:xfrm>
            <a:off x="7651750" y="5344517"/>
            <a:ext cx="16059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적용 시나리오 구성</a:t>
            </a:r>
            <a:endParaRPr lang="en-US" sz="1100" dirty="0"/>
          </a:p>
        </p:txBody>
      </p:sp>
      <p:sp>
        <p:nvSpPr>
          <p:cNvPr id="125" name="시연 영상 제작"/>
          <p:cNvSpPr txBox="1"/>
          <p:nvPr/>
        </p:nvSpPr>
        <p:spPr>
          <a:xfrm>
            <a:off x="7651750" y="5540077"/>
            <a:ext cx="8220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시연 영상 제작</a:t>
            </a:r>
            <a:endParaRPr lang="en-US" sz="1100" dirty="0"/>
          </a:p>
        </p:txBody>
      </p:sp>
      <p:sp>
        <p:nvSpPr>
          <p:cNvPr id="126" name="프로젝트 완성"/>
          <p:cNvSpPr txBox="1"/>
          <p:nvPr/>
        </p:nvSpPr>
        <p:spPr>
          <a:xfrm>
            <a:off x="10312400" y="3852664"/>
            <a:ext cx="99040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프로젝트 완성</a:t>
            </a:r>
            <a:endParaRPr lang="en-US" sz="1400" dirty="0"/>
          </a:p>
        </p:txBody>
      </p:sp>
      <p:sp>
        <p:nvSpPr>
          <p:cNvPr id="127" name="남은 3주 내"/>
          <p:cNvSpPr txBox="1"/>
          <p:nvPr/>
        </p:nvSpPr>
        <p:spPr>
          <a:xfrm>
            <a:off x="10591800" y="5360194"/>
            <a:ext cx="67270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남은 3주 내</a:t>
            </a:r>
            <a:endParaRPr lang="en-US" sz="1100" dirty="0"/>
          </a:p>
        </p:txBody>
      </p:sp>
      <p:sp>
        <p:nvSpPr>
          <p:cNvPr id="128" name="시연 영상 완성"/>
          <p:cNvSpPr txBox="1"/>
          <p:nvPr/>
        </p:nvSpPr>
        <p:spPr>
          <a:xfrm>
            <a:off x="10591800" y="5555754"/>
            <a:ext cx="8220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시연 영상 완성</a:t>
            </a:r>
            <a:endParaRPr lang="en-US" sz="1100" dirty="0"/>
          </a:p>
        </p:txBody>
      </p:sp>
      <p:sp>
        <p:nvSpPr>
          <p:cNvPr id="129" name="KEY MESSAGE"/>
          <p:cNvSpPr txBox="1"/>
          <p:nvPr/>
        </p:nvSpPr>
        <p:spPr>
          <a:xfrm>
            <a:off x="1308100" y="60580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130" name="서로 다른 사람을 하나의 공동 목표로 연결합니다"/>
          <p:cNvSpPr txBox="1"/>
          <p:nvPr/>
        </p:nvSpPr>
        <p:spPr>
          <a:xfrm>
            <a:off x="2591395" y="6005314"/>
            <a:ext cx="41516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700" dirty="0"/>
          </a:p>
        </p:txBody>
      </p:sp>
      <p:sp>
        <p:nvSpPr>
          <p:cNvPr id="131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132" name="01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p2-tag" descr="p2-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250" y="1917303"/>
            <a:ext cx="177800" cy="12700"/>
          </a:xfrm>
          <a:prstGeom prst="rect">
            <a:avLst/>
          </a:prstGeom>
        </p:spPr>
      </p:pic>
      <p:sp>
        <p:nvSpPr>
          <p:cNvPr id="9" name="em"/>
          <p:cNvSpPr/>
          <p:nvPr/>
        </p:nvSpPr>
        <p:spPr>
          <a:xfrm>
            <a:off x="3575149" y="1827312"/>
            <a:ext cx="692150" cy="184150"/>
          </a:xfrm>
          <a:prstGeom prst="roundRect">
            <a:avLst>
              <a:gd name="adj" fmla="val 27586"/>
            </a:avLst>
          </a:prstGeom>
          <a:solidFill>
            <a:srgbClr val="EEF4FC"/>
          </a:solidFill>
          <a:ln/>
        </p:spPr>
      </p:sp>
      <p:sp>
        <p:nvSpPr>
          <p:cNvPr id="10" name="p2-panel"/>
          <p:cNvSpPr/>
          <p:nvPr/>
        </p:nvSpPr>
        <p:spPr>
          <a:xfrm>
            <a:off x="615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11" name="i"/>
          <p:cNvSpPr/>
          <p:nvPr/>
        </p:nvSpPr>
        <p:spPr>
          <a:xfrm>
            <a:off x="14819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2" name="b"/>
          <p:cNvSpPr/>
          <p:nvPr/>
        </p:nvSpPr>
        <p:spPr>
          <a:xfrm>
            <a:off x="1545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13" name="i"/>
          <p:cNvSpPr/>
          <p:nvPr/>
        </p:nvSpPr>
        <p:spPr>
          <a:xfrm>
            <a:off x="16851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4" name="p2-svg" descr="p2-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650" y="2936147"/>
            <a:ext cx="3822700" cy="2023533"/>
          </a:xfrm>
          <a:prstGeom prst="rect">
            <a:avLst/>
          </a:prstGeom>
        </p:spPr>
      </p:pic>
      <p:sp>
        <p:nvSpPr>
          <p:cNvPr id="15" name="p2-n chip people"/>
          <p:cNvSpPr/>
          <p:nvPr/>
        </p:nvSpPr>
        <p:spPr>
          <a:xfrm>
            <a:off x="2861518" y="279856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6" name="dot people"/>
          <p:cNvSpPr/>
          <p:nvPr/>
        </p:nvSpPr>
        <p:spPr>
          <a:xfrm>
            <a:off x="2988518" y="29128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7" name="p2-n chip people"/>
          <p:cNvSpPr/>
          <p:nvPr/>
        </p:nvSpPr>
        <p:spPr>
          <a:xfrm>
            <a:off x="4673154" y="3491905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8" name="dot people"/>
          <p:cNvSpPr/>
          <p:nvPr/>
        </p:nvSpPr>
        <p:spPr>
          <a:xfrm>
            <a:off x="4800154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9" name="p2-n chip people"/>
          <p:cNvSpPr/>
          <p:nvPr/>
        </p:nvSpPr>
        <p:spPr>
          <a:xfrm>
            <a:off x="398100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0" name="dot people"/>
          <p:cNvSpPr/>
          <p:nvPr/>
        </p:nvSpPr>
        <p:spPr>
          <a:xfrm>
            <a:off x="410800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1" name="p2-n chip people"/>
          <p:cNvSpPr/>
          <p:nvPr/>
        </p:nvSpPr>
        <p:spPr>
          <a:xfrm>
            <a:off x="174193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2" name="dot people"/>
          <p:cNvSpPr/>
          <p:nvPr/>
        </p:nvSpPr>
        <p:spPr>
          <a:xfrm>
            <a:off x="186893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3" name="p2-n chip people"/>
          <p:cNvSpPr/>
          <p:nvPr/>
        </p:nvSpPr>
        <p:spPr>
          <a:xfrm>
            <a:off x="926852" y="3491905"/>
            <a:ext cx="872827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4" name="dot people"/>
          <p:cNvSpPr/>
          <p:nvPr/>
        </p:nvSpPr>
        <p:spPr>
          <a:xfrm>
            <a:off x="1053852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5" name="p2-n ring p2-goal" descr="p2-n ring p2-go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600" y="3416631"/>
            <a:ext cx="1066800" cy="1066800"/>
          </a:xfrm>
          <a:prstGeom prst="rect">
            <a:avLst/>
          </a:prstGeom>
        </p:spPr>
      </p:pic>
      <p:pic>
        <p:nvPicPr>
          <p:cNvPr id="26" name="ring" descr="r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0" y="3696031"/>
            <a:ext cx="508000" cy="508000"/>
          </a:xfrm>
          <a:prstGeom prst="rect">
            <a:avLst/>
          </a:prstGeom>
        </p:spPr>
      </p:pic>
      <p:pic>
        <p:nvPicPr>
          <p:cNvPr id="27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0167" y="3844197"/>
            <a:ext cx="211667" cy="211667"/>
          </a:xfrm>
          <a:prstGeom prst="rect">
            <a:avLst/>
          </a:prstGeom>
        </p:spPr>
      </p:pic>
      <p:sp>
        <p:nvSpPr>
          <p:cNvPr id="28" name="p2-panel"/>
          <p:cNvSpPr/>
          <p:nvPr/>
        </p:nvSpPr>
        <p:spPr>
          <a:xfrm>
            <a:off x="6457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9" name="i"/>
          <p:cNvSpPr/>
          <p:nvPr/>
        </p:nvSpPr>
        <p:spPr>
          <a:xfrm>
            <a:off x="7323931" y="24556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0" name="b"/>
          <p:cNvSpPr/>
          <p:nvPr/>
        </p:nvSpPr>
        <p:spPr>
          <a:xfrm>
            <a:off x="7387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1" name="i"/>
          <p:cNvSpPr/>
          <p:nvPr/>
        </p:nvSpPr>
        <p:spPr>
          <a:xfrm>
            <a:off x="7527131" y="24556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p2-svg" descr="p2-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8617" y="3101247"/>
            <a:ext cx="2916767" cy="1697567"/>
          </a:xfrm>
          <a:prstGeom prst="rect">
            <a:avLst/>
          </a:prstGeom>
        </p:spPr>
      </p:pic>
      <p:sp>
        <p:nvSpPr>
          <p:cNvPr id="33" name="p2-n chip tech p2-tchip"/>
          <p:cNvSpPr/>
          <p:nvPr/>
        </p:nvSpPr>
        <p:spPr>
          <a:xfrm>
            <a:off x="6654800" y="3192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4" name="dot tech"/>
          <p:cNvSpPr/>
          <p:nvPr/>
        </p:nvSpPr>
        <p:spPr>
          <a:xfrm>
            <a:off x="6973689" y="33065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5" name="p2-n chip tech p2-tchip"/>
          <p:cNvSpPr/>
          <p:nvPr/>
        </p:nvSpPr>
        <p:spPr>
          <a:xfrm>
            <a:off x="6654800" y="38018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6" name="dot tech"/>
          <p:cNvSpPr/>
          <p:nvPr/>
        </p:nvSpPr>
        <p:spPr>
          <a:xfrm>
            <a:off x="6905427" y="39161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7" name="p2-n chip tech p2-tchip"/>
          <p:cNvSpPr/>
          <p:nvPr/>
        </p:nvSpPr>
        <p:spPr>
          <a:xfrm>
            <a:off x="6654800" y="4411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8" name="dot tech"/>
          <p:cNvSpPr/>
          <p:nvPr/>
        </p:nvSpPr>
        <p:spPr>
          <a:xfrm>
            <a:off x="6864052" y="45257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p2-n ring p2-field" descr="p2-n ring p2-fiel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3600" y="3416631"/>
            <a:ext cx="1066800" cy="1066800"/>
          </a:xfrm>
          <a:prstGeom prst="rect">
            <a:avLst/>
          </a:prstGeom>
        </p:spPr>
      </p:pic>
      <p:sp>
        <p:nvSpPr>
          <p:cNvPr id="40" name="p2-n chip field p2-ochip"/>
          <p:cNvSpPr/>
          <p:nvPr/>
        </p:nvSpPr>
        <p:spPr>
          <a:xfrm>
            <a:off x="10464800" y="29636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1" name="dot field"/>
          <p:cNvSpPr/>
          <p:nvPr/>
        </p:nvSpPr>
        <p:spPr>
          <a:xfrm>
            <a:off x="10735469" y="30779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2" name="p2-n chip field p2-ochip"/>
          <p:cNvSpPr/>
          <p:nvPr/>
        </p:nvSpPr>
        <p:spPr>
          <a:xfrm>
            <a:off x="10464800" y="3522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3" name="dot field"/>
          <p:cNvSpPr/>
          <p:nvPr/>
        </p:nvSpPr>
        <p:spPr>
          <a:xfrm>
            <a:off x="10735469" y="36367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4" name="p2-n chip field p2-ochip"/>
          <p:cNvSpPr/>
          <p:nvPr/>
        </p:nvSpPr>
        <p:spPr>
          <a:xfrm>
            <a:off x="10464800" y="4081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5" name="dot field"/>
          <p:cNvSpPr/>
          <p:nvPr/>
        </p:nvSpPr>
        <p:spPr>
          <a:xfrm>
            <a:off x="10735469" y="41955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6" name="p2-n chip field p2-ochip"/>
          <p:cNvSpPr/>
          <p:nvPr/>
        </p:nvSpPr>
        <p:spPr>
          <a:xfrm>
            <a:off x="10464800" y="46400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7" name="dot field"/>
          <p:cNvSpPr/>
          <p:nvPr/>
        </p:nvSpPr>
        <p:spPr>
          <a:xfrm>
            <a:off x="10674052" y="47543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8" name="key"/>
          <p:cNvSpPr/>
          <p:nvPr/>
        </p:nvSpPr>
        <p:spPr>
          <a:xfrm>
            <a:off x="609600" y="57259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pic>
        <p:nvPicPr>
          <p:cNvPr id="49" name="p2-svg" descr="p2-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6317" y="5069747"/>
            <a:ext cx="5939367" cy="668867"/>
          </a:xfrm>
          <a:prstGeom prst="rect">
            <a:avLst/>
          </a:prstGeom>
        </p:spPr>
      </p:pic>
      <p:pic>
        <p:nvPicPr>
          <p:cNvPr id="50" name="p2-eqop ring solid" descr="p2-eqop ring soli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2800" y="5194631"/>
            <a:ext cx="406400" cy="406400"/>
          </a:xfrm>
          <a:prstGeom prst="rect">
            <a:avLst/>
          </a:prstGeom>
        </p:spPr>
      </p:pic>
      <p:pic>
        <p:nvPicPr>
          <p:cNvPr id="51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02867" y="5342797"/>
            <a:ext cx="186267" cy="110067"/>
          </a:xfrm>
          <a:prstGeom prst="rect">
            <a:avLst/>
          </a:prstGeom>
        </p:spPr>
      </p:pic>
      <p:sp>
        <p:nvSpPr>
          <p:cNvPr id="52" name="i"/>
          <p:cNvSpPr/>
          <p:nvPr/>
        </p:nvSpPr>
        <p:spPr>
          <a:xfrm>
            <a:off x="863600" y="59994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3" name="b"/>
          <p:cNvSpPr/>
          <p:nvPr/>
        </p:nvSpPr>
        <p:spPr>
          <a:xfrm>
            <a:off x="9271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4" name="i"/>
          <p:cNvSpPr/>
          <p:nvPr/>
        </p:nvSpPr>
        <p:spPr>
          <a:xfrm>
            <a:off x="1016000" y="59994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5" name="b"/>
          <p:cNvSpPr/>
          <p:nvPr/>
        </p:nvSpPr>
        <p:spPr>
          <a:xfrm>
            <a:off x="10795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6" name="i"/>
          <p:cNvSpPr/>
          <p:nvPr/>
        </p:nvSpPr>
        <p:spPr>
          <a:xfrm>
            <a:off x="1168400" y="59994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57" name="02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100" dirty="0"/>
          </a:p>
        </p:txBody>
      </p:sp>
      <p:sp>
        <p:nvSpPr>
          <p:cNvPr id="58" name="PT 주제 2 · 가치체계 키워드 ‘우리의 기술’"/>
          <p:cNvSpPr txBox="1"/>
          <p:nvPr/>
        </p:nvSpPr>
        <p:spPr>
          <a:xfrm>
            <a:off x="1347589" y="419100"/>
            <a:ext cx="24272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100" dirty="0"/>
          </a:p>
        </p:txBody>
      </p:sp>
      <p:sp>
        <p:nvSpPr>
          <p:cNvPr id="59" name="현대엔지니어링 가치체계 키워드 중"/>
          <p:cNvSpPr txBox="1"/>
          <p:nvPr/>
        </p:nvSpPr>
        <p:spPr>
          <a:xfrm>
            <a:off x="609600" y="774005"/>
            <a:ext cx="2907897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600" dirty="0"/>
          </a:p>
        </p:txBody>
      </p:sp>
      <p:sp>
        <p:nvSpPr>
          <p:cNvPr id="60" name="저는 ‘우리의 기술’을 이렇게 이해했습니다"/>
          <p:cNvSpPr txBox="1"/>
          <p:nvPr/>
        </p:nvSpPr>
        <p:spPr>
          <a:xfrm>
            <a:off x="609600" y="1100336"/>
            <a:ext cx="5886785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 이렇게 이해했습니다</a:t>
            </a:r>
            <a:endParaRPr lang="en-US" sz="2800" dirty="0"/>
          </a:p>
        </p:txBody>
      </p:sp>
      <p:sp>
        <p:nvSpPr>
          <p:cNvPr id="61" name="가치체계 정체성"/>
          <p:cNvSpPr txBox="1"/>
          <p:nvPr/>
        </p:nvSpPr>
        <p:spPr>
          <a:xfrm>
            <a:off x="609600" y="1847453"/>
            <a:ext cx="8592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950" dirty="0"/>
          </a:p>
        </p:txBody>
      </p:sp>
      <p:sp>
        <p:nvSpPr>
          <p:cNvPr id="62" name="“공간과 에너지를 잇는 길 위에서, 우리의 기술로 더 나은 삶을 만듭니다"/>
          <p:cNvSpPr txBox="1"/>
          <p:nvPr/>
        </p:nvSpPr>
        <p:spPr>
          <a:xfrm>
            <a:off x="1786334" y="1833662"/>
            <a:ext cx="406468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100" dirty="0"/>
          </a:p>
        </p:txBody>
      </p:sp>
      <p:sp>
        <p:nvSpPr>
          <p:cNvPr id="63" name="우리"/>
          <p:cNvSpPr txBox="1"/>
          <p:nvPr/>
        </p:nvSpPr>
        <p:spPr>
          <a:xfrm>
            <a:off x="812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2600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1862931" y="2377579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전문성의 연결</a:t>
            </a:r>
            <a:endParaRPr lang="en-US" sz="1400" dirty="0"/>
          </a:p>
        </p:txBody>
      </p:sp>
      <p:sp>
        <p:nvSpPr>
          <p:cNvPr id="65" name="PEOPLE"/>
          <p:cNvSpPr txBox="1"/>
          <p:nvPr/>
        </p:nvSpPr>
        <p:spPr>
          <a:xfrm>
            <a:off x="4907855" y="2412603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6" name="설계"/>
          <p:cNvSpPr txBox="1"/>
          <p:nvPr/>
        </p:nvSpPr>
        <p:spPr>
          <a:xfrm>
            <a:off x="3115518" y="28560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100" dirty="0"/>
          </a:p>
        </p:txBody>
      </p:sp>
      <p:sp>
        <p:nvSpPr>
          <p:cNvPr id="67" name="시공"/>
          <p:cNvSpPr txBox="1"/>
          <p:nvPr/>
        </p:nvSpPr>
        <p:spPr>
          <a:xfrm>
            <a:off x="4927154" y="354935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100" dirty="0"/>
          </a:p>
        </p:txBody>
      </p:sp>
      <p:sp>
        <p:nvSpPr>
          <p:cNvPr id="68" name="품질"/>
          <p:cNvSpPr txBox="1"/>
          <p:nvPr/>
        </p:nvSpPr>
        <p:spPr>
          <a:xfrm>
            <a:off x="423500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69" name="안전"/>
          <p:cNvSpPr txBox="1"/>
          <p:nvPr/>
        </p:nvSpPr>
        <p:spPr>
          <a:xfrm>
            <a:off x="199593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70" name="협력업체"/>
          <p:cNvSpPr txBox="1"/>
          <p:nvPr/>
        </p:nvSpPr>
        <p:spPr>
          <a:xfrm>
            <a:off x="1180852" y="3549352"/>
            <a:ext cx="5426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협력업체</a:t>
            </a:r>
            <a:endParaRPr lang="en-US" sz="1100" dirty="0"/>
          </a:p>
        </p:txBody>
      </p:sp>
      <p:sp>
        <p:nvSpPr>
          <p:cNvPr id="71" name="하나의 목표"/>
          <p:cNvSpPr txBox="1"/>
          <p:nvPr/>
        </p:nvSpPr>
        <p:spPr>
          <a:xfrm>
            <a:off x="2888952" y="3645991"/>
            <a:ext cx="572095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9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endParaRPr lang="en-US" sz="900" dirty="0"/>
          </a:p>
        </p:txBody>
      </p:sp>
      <p:sp>
        <p:nvSpPr>
          <p:cNvPr id="72" name="프로젝트"/>
          <p:cNvSpPr txBox="1"/>
          <p:nvPr/>
        </p:nvSpPr>
        <p:spPr>
          <a:xfrm>
            <a:off x="2829520" y="3818037"/>
            <a:ext cx="690959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프로젝트</a:t>
            </a:r>
            <a:endParaRPr lang="en-US" sz="1500" dirty="0"/>
          </a:p>
        </p:txBody>
      </p:sp>
      <p:sp>
        <p:nvSpPr>
          <p:cNvPr id="73" name="완수"/>
          <p:cNvSpPr txBox="1"/>
          <p:nvPr/>
        </p:nvSpPr>
        <p:spPr>
          <a:xfrm>
            <a:off x="2989560" y="4037112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완수</a:t>
            </a:r>
            <a:endParaRPr lang="en-US" sz="1500" dirty="0"/>
          </a:p>
        </p:txBody>
      </p:sp>
      <p:sp>
        <p:nvSpPr>
          <p:cNvPr id="74" name="기술"/>
          <p:cNvSpPr txBox="1"/>
          <p:nvPr/>
        </p:nvSpPr>
        <p:spPr>
          <a:xfrm>
            <a:off x="6654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2600" dirty="0"/>
          </a:p>
        </p:txBody>
      </p:sp>
      <p:sp>
        <p:nvSpPr>
          <p:cNvPr id="75" name="현장 문제 해결에 활용"/>
          <p:cNvSpPr txBox="1"/>
          <p:nvPr/>
        </p:nvSpPr>
        <p:spPr>
          <a:xfrm>
            <a:off x="7704931" y="2377579"/>
            <a:ext cx="154928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 문제 해결에 활용</a:t>
            </a:r>
            <a:endParaRPr lang="en-US" sz="1400" dirty="0"/>
          </a:p>
        </p:txBody>
      </p:sp>
      <p:sp>
        <p:nvSpPr>
          <p:cNvPr id="76" name="TECHNOLOGY"/>
          <p:cNvSpPr txBox="1"/>
          <p:nvPr/>
        </p:nvSpPr>
        <p:spPr>
          <a:xfrm>
            <a:off x="10294144" y="2412603"/>
            <a:ext cx="115016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950" dirty="0"/>
          </a:p>
        </p:txBody>
      </p:sp>
      <p:sp>
        <p:nvSpPr>
          <p:cNvPr id="77" name="AI"/>
          <p:cNvSpPr txBox="1"/>
          <p:nvPr/>
        </p:nvSpPr>
        <p:spPr>
          <a:xfrm>
            <a:off x="7100689" y="3249712"/>
            <a:ext cx="2003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100" dirty="0"/>
          </a:p>
        </p:txBody>
      </p:sp>
      <p:sp>
        <p:nvSpPr>
          <p:cNvPr id="78" name="BIM"/>
          <p:cNvSpPr txBox="1"/>
          <p:nvPr/>
        </p:nvSpPr>
        <p:spPr>
          <a:xfrm>
            <a:off x="7032427" y="3859312"/>
            <a:ext cx="33694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100" dirty="0"/>
          </a:p>
        </p:txBody>
      </p:sp>
      <p:sp>
        <p:nvSpPr>
          <p:cNvPr id="79" name="데이터"/>
          <p:cNvSpPr txBox="1"/>
          <p:nvPr/>
        </p:nvSpPr>
        <p:spPr>
          <a:xfrm>
            <a:off x="6991052" y="44689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80" name="현장의"/>
          <p:cNvSpPr txBox="1"/>
          <p:nvPr/>
        </p:nvSpPr>
        <p:spPr>
          <a:xfrm>
            <a:off x="8751491" y="3735189"/>
            <a:ext cx="5309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500" dirty="0"/>
          </a:p>
        </p:txBody>
      </p:sp>
      <p:sp>
        <p:nvSpPr>
          <p:cNvPr id="81" name="문제"/>
          <p:cNvSpPr txBox="1"/>
          <p:nvPr/>
        </p:nvSpPr>
        <p:spPr>
          <a:xfrm>
            <a:off x="8831461" y="3954264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500" dirty="0"/>
          </a:p>
        </p:txBody>
      </p:sp>
      <p:sp>
        <p:nvSpPr>
          <p:cNvPr id="82" name="공정"/>
          <p:cNvSpPr txBox="1"/>
          <p:nvPr/>
        </p:nvSpPr>
        <p:spPr>
          <a:xfrm>
            <a:off x="10862469" y="30211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100" dirty="0"/>
          </a:p>
        </p:txBody>
      </p:sp>
      <p:sp>
        <p:nvSpPr>
          <p:cNvPr id="83" name="품질"/>
          <p:cNvSpPr txBox="1"/>
          <p:nvPr/>
        </p:nvSpPr>
        <p:spPr>
          <a:xfrm>
            <a:off x="10862469" y="35799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84" name="안전"/>
          <p:cNvSpPr txBox="1"/>
          <p:nvPr/>
        </p:nvSpPr>
        <p:spPr>
          <a:xfrm>
            <a:off x="10862469" y="41387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85" name="생산성"/>
          <p:cNvSpPr txBox="1"/>
          <p:nvPr/>
        </p:nvSpPr>
        <p:spPr>
          <a:xfrm>
            <a:off x="10801052" y="46975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100" dirty="0"/>
          </a:p>
        </p:txBody>
      </p:sp>
      <p:sp>
        <p:nvSpPr>
          <p:cNvPr id="86" name="‘우리’의 ‘기술’"/>
          <p:cNvSpPr txBox="1"/>
          <p:nvPr/>
        </p:nvSpPr>
        <p:spPr>
          <a:xfrm>
            <a:off x="1308100" y="5942707"/>
            <a:ext cx="86548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11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1100" dirty="0"/>
          </a:p>
        </p:txBody>
      </p:sp>
      <p:sp>
        <p:nvSpPr>
          <p:cNvPr id="87" name="사람과 전문성을 하나의 목표로, 기술을 현장의 가치로 연결하는 것"/>
          <p:cNvSpPr txBox="1"/>
          <p:nvPr/>
        </p:nvSpPr>
        <p:spPr>
          <a:xfrm>
            <a:off x="2300585" y="5903714"/>
            <a:ext cx="565709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 기술을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700" dirty="0"/>
          </a:p>
        </p:txBody>
      </p:sp>
      <p:sp>
        <p:nvSpPr>
          <p:cNvPr id="88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9" name="02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817" y="2347714"/>
            <a:ext cx="8020050" cy="2683933"/>
          </a:xfrm>
          <a:prstGeom prst="rect">
            <a:avLst/>
          </a:prstGeom>
        </p:spPr>
      </p:pic>
      <p:sp>
        <p:nvSpPr>
          <p:cNvPr id="9" name="dot field"/>
          <p:cNvSpPr/>
          <p:nvPr/>
        </p:nvSpPr>
        <p:spPr>
          <a:xfrm>
            <a:off x="6096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10" name="a node ring n-field" descr="a node ring n-f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902281"/>
            <a:ext cx="1574800" cy="1574800"/>
          </a:xfrm>
          <a:prstGeom prst="rect">
            <a:avLst/>
          </a:prstGeom>
        </p:spPr>
      </p:pic>
      <p:pic>
        <p:nvPicPr>
          <p:cNvPr id="11" name="ic" descr="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6717" y="3447091"/>
            <a:ext cx="300567" cy="17780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724731"/>
            <a:ext cx="88900" cy="12700"/>
          </a:xfrm>
          <a:prstGeom prst="rect">
            <a:avLst/>
          </a:prstGeom>
        </p:spPr>
      </p:pic>
      <p:pic>
        <p:nvPicPr>
          <p:cNvPr id="13" name="li" descr="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966196"/>
            <a:ext cx="88900" cy="12700"/>
          </a:xfrm>
          <a:prstGeom prst="rect">
            <a:avLst/>
          </a:prstGeom>
        </p:spPr>
      </p:pic>
      <p:pic>
        <p:nvPicPr>
          <p:cNvPr id="14" name="a node ring joint" descr="a node ring joi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3473781"/>
            <a:ext cx="431800" cy="431800"/>
          </a:xfrm>
          <a:prstGeom prst="rect">
            <a:avLst/>
          </a:prstGeom>
        </p:spPr>
      </p:pic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0717" y="3615597"/>
            <a:ext cx="148167" cy="148167"/>
          </a:xfrm>
          <a:prstGeom prst="rect">
            <a:avLst/>
          </a:prstGeom>
        </p:spPr>
      </p:pic>
      <p:sp>
        <p:nvSpPr>
          <p:cNvPr id="16" name="a ms"/>
          <p:cNvSpPr/>
          <p:nvPr/>
        </p:nvSpPr>
        <p:spPr>
          <a:xfrm>
            <a:off x="2476202" y="39987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17" name="dot people"/>
          <p:cNvSpPr/>
          <p:nvPr/>
        </p:nvSpPr>
        <p:spPr>
          <a:xfrm>
            <a:off x="4178300" y="1860947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8" name="li" descr="l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78300" y="2394777"/>
            <a:ext cx="88900" cy="12700"/>
          </a:xfrm>
          <a:prstGeom prst="rect">
            <a:avLst/>
          </a:prstGeom>
        </p:spPr>
      </p:pic>
      <p:pic>
        <p:nvPicPr>
          <p:cNvPr id="19" name="li" descr="l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78300" y="2636242"/>
            <a:ext cx="88900" cy="12700"/>
          </a:xfrm>
          <a:prstGeom prst="rect">
            <a:avLst/>
          </a:prstGeom>
        </p:spPr>
      </p:pic>
      <p:sp>
        <p:nvSpPr>
          <p:cNvPr id="20" name="a node n-ppl"/>
          <p:cNvSpPr/>
          <p:nvPr/>
        </p:nvSpPr>
        <p:spPr>
          <a:xfrm>
            <a:off x="4187825" y="2852539"/>
            <a:ext cx="615950" cy="615950"/>
          </a:xfrm>
          <a:prstGeom prst="ellipse">
            <a:avLst/>
          </a:prstGeom>
          <a:solidFill>
            <a:srgbClr val="E5F6EC"/>
          </a:solidFill>
          <a:ln w="19050">
            <a:solidFill>
              <a:srgbClr val="00A94F"/>
            </a:solidFill>
            <a:prstDash val="solid"/>
          </a:ln>
        </p:spPr>
      </p:sp>
      <p:pic>
        <p:nvPicPr>
          <p:cNvPr id="21" name="ic" descr="i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15367" y="2998821"/>
            <a:ext cx="160867" cy="129117"/>
          </a:xfrm>
          <a:prstGeom prst="rect">
            <a:avLst/>
          </a:prstGeom>
        </p:spPr>
      </p:pic>
      <p:sp>
        <p:nvSpPr>
          <p:cNvPr id="22" name="a chip ghost gh"/>
          <p:cNvSpPr/>
          <p:nvPr/>
        </p:nvSpPr>
        <p:spPr>
          <a:xfrm>
            <a:off x="6323707" y="2836664"/>
            <a:ext cx="629543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3" name="a plus"/>
          <p:cNvSpPr/>
          <p:nvPr/>
        </p:nvSpPr>
        <p:spPr>
          <a:xfrm>
            <a:off x="5772150" y="3541514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pic>
        <p:nvPicPr>
          <p:cNvPr id="24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5283" y="3636764"/>
            <a:ext cx="105833" cy="105833"/>
          </a:xfrm>
          <a:prstGeom prst="rect">
            <a:avLst/>
          </a:prstGeom>
        </p:spPr>
      </p:pic>
      <p:sp>
        <p:nvSpPr>
          <p:cNvPr id="25" name="a node n-tch"/>
          <p:cNvSpPr/>
          <p:nvPr/>
        </p:nvSpPr>
        <p:spPr>
          <a:xfrm>
            <a:off x="4187825" y="3906639"/>
            <a:ext cx="615950" cy="615950"/>
          </a:xfrm>
          <a:prstGeom prst="ellipse">
            <a:avLst/>
          </a:prstGeom>
          <a:solidFill>
            <a:srgbClr val="EEF4FC"/>
          </a:solidFill>
          <a:ln w="19050">
            <a:solidFill>
              <a:srgbClr val="004B8D"/>
            </a:solidFill>
            <a:prstDash val="solid"/>
          </a:ln>
        </p:spPr>
      </p:sp>
      <p:pic>
        <p:nvPicPr>
          <p:cNvPr id="26" name="ic" descr="ic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21717" y="4033871"/>
            <a:ext cx="148167" cy="160867"/>
          </a:xfrm>
          <a:prstGeom prst="rect">
            <a:avLst/>
          </a:prstGeom>
        </p:spPr>
      </p:pic>
      <p:sp>
        <p:nvSpPr>
          <p:cNvPr id="27" name="a chip ghost gh"/>
          <p:cNvSpPr/>
          <p:nvPr/>
        </p:nvSpPr>
        <p:spPr>
          <a:xfrm>
            <a:off x="5996781" y="4309864"/>
            <a:ext cx="956469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8" name="dot tech"/>
          <p:cNvSpPr/>
          <p:nvPr/>
        </p:nvSpPr>
        <p:spPr>
          <a:xfrm>
            <a:off x="4178300" y="4667647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29" name="li" descr="li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78300" y="5201477"/>
            <a:ext cx="88900" cy="12700"/>
          </a:xfrm>
          <a:prstGeom prst="rect">
            <a:avLst/>
          </a:prstGeom>
        </p:spPr>
      </p:pic>
      <p:pic>
        <p:nvPicPr>
          <p:cNvPr id="30" name="li" descr="li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78300" y="5442942"/>
            <a:ext cx="88900" cy="12700"/>
          </a:xfrm>
          <a:prstGeom prst="rect">
            <a:avLst/>
          </a:prstGeom>
        </p:spPr>
      </p:pic>
      <p:sp>
        <p:nvSpPr>
          <p:cNvPr id="31" name="dot field"/>
          <p:cNvSpPr/>
          <p:nvPr/>
        </p:nvSpPr>
        <p:spPr>
          <a:xfrm>
            <a:off x="80899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a node ring solid n-imp" descr="a node ring solid n-imp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89900" y="2876881"/>
            <a:ext cx="1625600" cy="1625600"/>
          </a:xfrm>
          <a:prstGeom prst="rect">
            <a:avLst/>
          </a:prstGeom>
        </p:spPr>
      </p:pic>
      <p:pic>
        <p:nvPicPr>
          <p:cNvPr id="33" name="ic" descr="ic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65117" y="3434391"/>
            <a:ext cx="275167" cy="165100"/>
          </a:xfrm>
          <a:prstGeom prst="rect">
            <a:avLst/>
          </a:prstGeom>
        </p:spPr>
      </p:pic>
      <p:sp>
        <p:nvSpPr>
          <p:cNvPr id="34" name="a ms"/>
          <p:cNvSpPr/>
          <p:nvPr/>
        </p:nvSpPr>
        <p:spPr>
          <a:xfrm>
            <a:off x="8534102" y="45321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35" name="a chip field oc"/>
          <p:cNvSpPr/>
          <p:nvPr/>
        </p:nvSpPr>
        <p:spPr>
          <a:xfrm>
            <a:off x="10185400" y="2163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10325100" y="2309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7" name="a chip field oc"/>
          <p:cNvSpPr/>
          <p:nvPr/>
        </p:nvSpPr>
        <p:spPr>
          <a:xfrm>
            <a:off x="10185400" y="3052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8" name="dot field"/>
          <p:cNvSpPr/>
          <p:nvPr/>
        </p:nvSpPr>
        <p:spPr>
          <a:xfrm>
            <a:off x="10325100" y="3198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9" name="a chip field oc"/>
          <p:cNvSpPr/>
          <p:nvPr/>
        </p:nvSpPr>
        <p:spPr>
          <a:xfrm>
            <a:off x="10185400" y="3941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0" name="dot field"/>
          <p:cNvSpPr/>
          <p:nvPr/>
        </p:nvSpPr>
        <p:spPr>
          <a:xfrm>
            <a:off x="10325100" y="4087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a chip field oc"/>
          <p:cNvSpPr/>
          <p:nvPr/>
        </p:nvSpPr>
        <p:spPr>
          <a:xfrm>
            <a:off x="10185400" y="4830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2" name="dot field"/>
          <p:cNvSpPr/>
          <p:nvPr/>
        </p:nvSpPr>
        <p:spPr>
          <a:xfrm>
            <a:off x="10325100" y="4976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3" name="key"/>
          <p:cNvSpPr/>
          <p:nvPr/>
        </p:nvSpPr>
        <p:spPr>
          <a:xfrm>
            <a:off x="609600" y="57386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sp>
        <p:nvSpPr>
          <p:cNvPr id="44" name="i"/>
          <p:cNvSpPr/>
          <p:nvPr/>
        </p:nvSpPr>
        <p:spPr>
          <a:xfrm>
            <a:off x="863600" y="60121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5" name="b"/>
          <p:cNvSpPr/>
          <p:nvPr/>
        </p:nvSpPr>
        <p:spPr>
          <a:xfrm>
            <a:off x="9271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16000" y="60121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7" name="b"/>
          <p:cNvSpPr/>
          <p:nvPr/>
        </p:nvSpPr>
        <p:spPr>
          <a:xfrm>
            <a:off x="10795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8" name="i"/>
          <p:cNvSpPr/>
          <p:nvPr/>
        </p:nvSpPr>
        <p:spPr>
          <a:xfrm>
            <a:off x="1168400" y="60121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9" name="03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100" dirty="0"/>
          </a:p>
        </p:txBody>
      </p:sp>
      <p:sp>
        <p:nvSpPr>
          <p:cNvPr id="50" name="PT 주제 2 · 입사 후 실천"/>
          <p:cNvSpPr txBox="1"/>
          <p:nvPr/>
        </p:nvSpPr>
        <p:spPr>
          <a:xfrm>
            <a:off x="1347589" y="419100"/>
            <a:ext cx="141897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100" dirty="0"/>
          </a:p>
        </p:txBody>
      </p:sp>
      <p:sp>
        <p:nvSpPr>
          <p:cNvPr id="51" name="입사 후"/>
          <p:cNvSpPr txBox="1"/>
          <p:nvPr/>
        </p:nvSpPr>
        <p:spPr>
          <a:xfrm>
            <a:off x="609600" y="774005"/>
            <a:ext cx="61575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600" dirty="0"/>
          </a:p>
        </p:txBody>
      </p:sp>
      <p:sp>
        <p:nvSpPr>
          <p:cNvPr id="52" name="기술을 실질적인 현장 개선으로 연결하는 공사관리자가 되겠습니다"/>
          <p:cNvSpPr txBox="1"/>
          <p:nvPr/>
        </p:nvSpPr>
        <p:spPr>
          <a:xfrm>
            <a:off x="609600" y="1100336"/>
            <a:ext cx="9336844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 연결하는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800" dirty="0"/>
          </a:p>
        </p:txBody>
      </p:sp>
      <p:sp>
        <p:nvSpPr>
          <p:cNvPr id="53" name="STEP 01"/>
          <p:cNvSpPr txBox="1"/>
          <p:nvPr/>
        </p:nvSpPr>
        <p:spPr>
          <a:xfrm>
            <a:off x="7366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01</a:t>
            </a:r>
            <a:endParaRPr lang="en-US" sz="950" dirty="0"/>
          </a:p>
        </p:txBody>
      </p:sp>
      <p:sp>
        <p:nvSpPr>
          <p:cNvPr id="54" name="FIELD"/>
          <p:cNvSpPr txBox="1"/>
          <p:nvPr/>
        </p:nvSpPr>
        <p:spPr>
          <a:xfrm>
            <a:off x="1394420" y="1814314"/>
            <a:ext cx="5163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950" dirty="0"/>
          </a:p>
        </p:txBody>
      </p:sp>
      <p:sp>
        <p:nvSpPr>
          <p:cNvPr id="55" name="현장을 이해한다"/>
          <p:cNvSpPr txBox="1"/>
          <p:nvPr/>
        </p:nvSpPr>
        <p:spPr>
          <a:xfrm>
            <a:off x="6096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400" dirty="0"/>
          </a:p>
        </p:txBody>
      </p:sp>
      <p:sp>
        <p:nvSpPr>
          <p:cNvPr id="56" name="현장"/>
          <p:cNvSpPr txBox="1"/>
          <p:nvPr/>
        </p:nvSpPr>
        <p:spPr>
          <a:xfrm>
            <a:off x="1134070" y="371802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</a:t>
            </a:r>
            <a:endParaRPr lang="en-US" sz="2200" dirty="0"/>
          </a:p>
        </p:txBody>
      </p:sp>
      <p:sp>
        <p:nvSpPr>
          <p:cNvPr id="57" name="공정 · 품질 · 안전"/>
          <p:cNvSpPr txBox="1"/>
          <p:nvPr/>
        </p:nvSpPr>
        <p:spPr>
          <a:xfrm>
            <a:off x="774700" y="4633714"/>
            <a:ext cx="11441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공정 · 품질 · 안전</a:t>
            </a:r>
            <a:endParaRPr lang="en-US" sz="1300" dirty="0"/>
          </a:p>
        </p:txBody>
      </p:sp>
      <p:sp>
        <p:nvSpPr>
          <p:cNvPr id="58" name="시공관리 기본기"/>
          <p:cNvSpPr txBox="1"/>
          <p:nvPr/>
        </p:nvSpPr>
        <p:spPr>
          <a:xfrm>
            <a:off x="774700" y="4870946"/>
            <a:ext cx="1088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시공관리 기본기</a:t>
            </a:r>
            <a:endParaRPr lang="en-US" sz="1300" dirty="0"/>
          </a:p>
        </p:txBody>
      </p:sp>
      <p:sp>
        <p:nvSpPr>
          <p:cNvPr id="59" name="문제 발견"/>
          <p:cNvSpPr txBox="1"/>
          <p:nvPr/>
        </p:nvSpPr>
        <p:spPr>
          <a:xfrm>
            <a:off x="2590502" y="40434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발견</a:t>
            </a:r>
            <a:endParaRPr lang="en-US" sz="1100" dirty="0"/>
          </a:p>
        </p:txBody>
      </p:sp>
      <p:sp>
        <p:nvSpPr>
          <p:cNvPr id="60" name="STEP 02"/>
          <p:cNvSpPr txBox="1"/>
          <p:nvPr/>
        </p:nvSpPr>
        <p:spPr>
          <a:xfrm>
            <a:off x="43053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02</a:t>
            </a:r>
            <a:endParaRPr lang="en-US" sz="950" dirty="0"/>
          </a:p>
        </p:txBody>
      </p:sp>
      <p:sp>
        <p:nvSpPr>
          <p:cNvPr id="61" name="PEOPLE"/>
          <p:cNvSpPr txBox="1"/>
          <p:nvPr/>
        </p:nvSpPr>
        <p:spPr>
          <a:xfrm>
            <a:off x="4963120" y="1814314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73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2" name="사람을 연결한다"/>
          <p:cNvSpPr txBox="1"/>
          <p:nvPr/>
        </p:nvSpPr>
        <p:spPr>
          <a:xfrm>
            <a:off x="41783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400" dirty="0"/>
          </a:p>
        </p:txBody>
      </p:sp>
      <p:sp>
        <p:nvSpPr>
          <p:cNvPr id="63" name="유관부서 · 협력업체 · 공종"/>
          <p:cNvSpPr txBox="1"/>
          <p:nvPr/>
        </p:nvSpPr>
        <p:spPr>
          <a:xfrm>
            <a:off x="4343400" y="2303760"/>
            <a:ext cx="17462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300" dirty="0"/>
          </a:p>
        </p:txBody>
      </p:sp>
      <p:sp>
        <p:nvSpPr>
          <p:cNvPr id="64" name="목표 · 진행상황 공유"/>
          <p:cNvSpPr txBox="1"/>
          <p:nvPr/>
        </p:nvSpPr>
        <p:spPr>
          <a:xfrm>
            <a:off x="4343400" y="2540992"/>
            <a:ext cx="13596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300" dirty="0"/>
          </a:p>
        </p:txBody>
      </p:sp>
      <p:sp>
        <p:nvSpPr>
          <p:cNvPr id="65" name="사람"/>
          <p:cNvSpPr txBox="1"/>
          <p:nvPr/>
        </p:nvSpPr>
        <p:spPr>
          <a:xfrm>
            <a:off x="4330005" y="31681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7336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300" dirty="0"/>
          </a:p>
        </p:txBody>
      </p:sp>
      <p:sp>
        <p:nvSpPr>
          <p:cNvPr id="66" name="01"/>
          <p:cNvSpPr txBox="1"/>
          <p:nvPr/>
        </p:nvSpPr>
        <p:spPr>
          <a:xfrm>
            <a:off x="6431657" y="28808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00" dirty="0"/>
          </a:p>
        </p:txBody>
      </p:sp>
      <p:sp>
        <p:nvSpPr>
          <p:cNvPr id="67" name="협업"/>
          <p:cNvSpPr txBox="1"/>
          <p:nvPr/>
        </p:nvSpPr>
        <p:spPr>
          <a:xfrm>
            <a:off x="6644084" y="2880816"/>
            <a:ext cx="252016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900" dirty="0"/>
          </a:p>
        </p:txBody>
      </p:sp>
      <p:sp>
        <p:nvSpPr>
          <p:cNvPr id="68" name="기술"/>
          <p:cNvSpPr txBox="1"/>
          <p:nvPr/>
        </p:nvSpPr>
        <p:spPr>
          <a:xfrm>
            <a:off x="4330005" y="42222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300" dirty="0"/>
          </a:p>
        </p:txBody>
      </p:sp>
      <p:sp>
        <p:nvSpPr>
          <p:cNvPr id="69" name="02"/>
          <p:cNvSpPr txBox="1"/>
          <p:nvPr/>
        </p:nvSpPr>
        <p:spPr>
          <a:xfrm>
            <a:off x="6104731" y="43540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00" dirty="0"/>
          </a:p>
        </p:txBody>
      </p:sp>
      <p:sp>
        <p:nvSpPr>
          <p:cNvPr id="70" name="우리의 기술"/>
          <p:cNvSpPr txBox="1"/>
          <p:nvPr/>
        </p:nvSpPr>
        <p:spPr>
          <a:xfrm>
            <a:off x="6317159" y="4354016"/>
            <a:ext cx="578941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900" dirty="0"/>
          </a:p>
        </p:txBody>
      </p:sp>
      <p:sp>
        <p:nvSpPr>
          <p:cNvPr id="71" name="STEP 03"/>
          <p:cNvSpPr txBox="1"/>
          <p:nvPr/>
        </p:nvSpPr>
        <p:spPr>
          <a:xfrm>
            <a:off x="4305300" y="46210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03</a:t>
            </a:r>
            <a:endParaRPr lang="en-US" sz="950" dirty="0"/>
          </a:p>
        </p:txBody>
      </p:sp>
      <p:sp>
        <p:nvSpPr>
          <p:cNvPr id="72" name="TECH"/>
          <p:cNvSpPr txBox="1"/>
          <p:nvPr/>
        </p:nvSpPr>
        <p:spPr>
          <a:xfrm>
            <a:off x="4963120" y="4621014"/>
            <a:ext cx="46940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</a:t>
            </a:r>
            <a:endParaRPr lang="en-US" sz="950" dirty="0"/>
          </a:p>
        </p:txBody>
      </p:sp>
      <p:sp>
        <p:nvSpPr>
          <p:cNvPr id="73" name="기술을 연결한다"/>
          <p:cNvSpPr txBox="1"/>
          <p:nvPr/>
        </p:nvSpPr>
        <p:spPr>
          <a:xfrm>
            <a:off x="4178300" y="48222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400" dirty="0"/>
          </a:p>
        </p:txBody>
      </p:sp>
      <p:sp>
        <p:nvSpPr>
          <p:cNvPr id="74" name="BIM 간섭 · 시공성 사전 검토"/>
          <p:cNvSpPr txBox="1"/>
          <p:nvPr/>
        </p:nvSpPr>
        <p:spPr>
          <a:xfrm>
            <a:off x="4343400" y="5110460"/>
            <a:ext cx="19254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300" dirty="0"/>
          </a:p>
        </p:txBody>
      </p:sp>
      <p:sp>
        <p:nvSpPr>
          <p:cNvPr id="75" name="AI 반복업무 효율화"/>
          <p:cNvSpPr txBox="1"/>
          <p:nvPr/>
        </p:nvSpPr>
        <p:spPr>
          <a:xfrm>
            <a:off x="4343400" y="5347692"/>
            <a:ext cx="13005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300" dirty="0"/>
          </a:p>
        </p:txBody>
      </p:sp>
      <p:sp>
        <p:nvSpPr>
          <p:cNvPr id="76" name="STEP 04"/>
          <p:cNvSpPr txBox="1"/>
          <p:nvPr/>
        </p:nvSpPr>
        <p:spPr>
          <a:xfrm>
            <a:off x="82169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04</a:t>
            </a:r>
            <a:endParaRPr lang="en-US" sz="950" dirty="0"/>
          </a:p>
        </p:txBody>
      </p:sp>
      <p:sp>
        <p:nvSpPr>
          <p:cNvPr id="77" name="IMPROVE"/>
          <p:cNvSpPr txBox="1"/>
          <p:nvPr/>
        </p:nvSpPr>
        <p:spPr>
          <a:xfrm>
            <a:off x="8874720" y="1814314"/>
            <a:ext cx="78819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950" dirty="0"/>
          </a:p>
        </p:txBody>
      </p:sp>
      <p:sp>
        <p:nvSpPr>
          <p:cNvPr id="78" name="현장의 변화를 만든다"/>
          <p:cNvSpPr txBox="1"/>
          <p:nvPr/>
        </p:nvSpPr>
        <p:spPr>
          <a:xfrm>
            <a:off x="8089900" y="2015530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400" dirty="0"/>
          </a:p>
        </p:txBody>
      </p:sp>
      <p:sp>
        <p:nvSpPr>
          <p:cNvPr id="79" name="변화"/>
          <p:cNvSpPr txBox="1"/>
          <p:nvPr/>
        </p:nvSpPr>
        <p:spPr>
          <a:xfrm>
            <a:off x="8639770" y="371167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변화</a:t>
            </a:r>
            <a:endParaRPr lang="en-US" sz="2200" dirty="0"/>
          </a:p>
        </p:txBody>
      </p:sp>
      <p:sp>
        <p:nvSpPr>
          <p:cNvPr id="80" name="문제 해결"/>
          <p:cNvSpPr txBox="1"/>
          <p:nvPr/>
        </p:nvSpPr>
        <p:spPr>
          <a:xfrm>
            <a:off x="8648402" y="45768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100" dirty="0"/>
          </a:p>
        </p:txBody>
      </p:sp>
      <p:sp>
        <p:nvSpPr>
          <p:cNvPr id="81" name="공정 개선"/>
          <p:cNvSpPr txBox="1"/>
          <p:nvPr/>
        </p:nvSpPr>
        <p:spPr>
          <a:xfrm>
            <a:off x="10502900" y="2253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2" name="품질 개선"/>
          <p:cNvSpPr txBox="1"/>
          <p:nvPr/>
        </p:nvSpPr>
        <p:spPr>
          <a:xfrm>
            <a:off x="10502900" y="3142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3" name="안전 개선"/>
          <p:cNvSpPr txBox="1"/>
          <p:nvPr/>
        </p:nvSpPr>
        <p:spPr>
          <a:xfrm>
            <a:off x="10502900" y="4031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4" name="생산성 개선"/>
          <p:cNvSpPr txBox="1"/>
          <p:nvPr/>
        </p:nvSpPr>
        <p:spPr>
          <a:xfrm>
            <a:off x="10502900" y="4920456"/>
            <a:ext cx="79384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5" name="KEY MESSAGE"/>
          <p:cNvSpPr txBox="1"/>
          <p:nvPr/>
        </p:nvSpPr>
        <p:spPr>
          <a:xfrm>
            <a:off x="1308100" y="59691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86" name="사람 · 전문성 · 기술을 연결해 현장의 변화를 만들겠습니다"/>
          <p:cNvSpPr txBox="1"/>
          <p:nvPr/>
        </p:nvSpPr>
        <p:spPr>
          <a:xfrm>
            <a:off x="2591395" y="5916414"/>
            <a:ext cx="495580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700" dirty="0"/>
          </a:p>
        </p:txBody>
      </p:sp>
      <p:sp>
        <p:nvSpPr>
          <p:cNvPr id="87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8" name="03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가로형</dc:title>
  <dc:subject>PptxGenJS Presentation</dc:subject>
  <dc:creator>PptxGenJS</dc:creator>
  <cp:lastModifiedBy>PptxGenJS</cp:lastModifiedBy>
  <cp:revision>1</cp:revision>
  <dcterms:created xsi:type="dcterms:W3CDTF">2026-10-08T14:41:31Z</dcterms:created>
  <dcterms:modified xsi:type="dcterms:W3CDTF">2026-10-08T14:41:31Z</dcterms:modified>
</cp:coreProperties>
</file>