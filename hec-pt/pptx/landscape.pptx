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7252" y="440002"/>
            <a:ext cx="1392767" cy="198967"/>
          </a:xfrm>
          <a:prstGeom prst="rect">
            <a:avLst/>
          </a:prstGeom>
        </p:spPr>
      </p:pic>
      <p:pic>
        <p:nvPicPr>
          <p:cNvPr id="8" name="svg" descr="sv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67" y="2136047"/>
            <a:ext cx="10936817" cy="148167"/>
          </a:xfrm>
          <a:prstGeom prst="rect">
            <a:avLst/>
          </a:prstGeom>
        </p:spPr>
      </p:pic>
      <p:sp>
        <p:nvSpPr>
          <p:cNvPr id="9" name="p1-h"/>
          <p:cNvSpPr/>
          <p:nvPr/>
        </p:nvSpPr>
        <p:spPr>
          <a:xfrm>
            <a:off x="762000" y="2086124"/>
            <a:ext cx="2639120" cy="2437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p1-h"/>
          <p:cNvSpPr/>
          <p:nvPr/>
        </p:nvSpPr>
        <p:spPr>
          <a:xfrm>
            <a:off x="4406900" y="2086124"/>
            <a:ext cx="2466479" cy="2437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p1-h"/>
          <p:cNvSpPr/>
          <p:nvPr/>
        </p:nvSpPr>
        <p:spPr>
          <a:xfrm>
            <a:off x="8813800" y="2086124"/>
            <a:ext cx="2130723" cy="2437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p1-blk p1-b1"/>
          <p:cNvSpPr/>
          <p:nvPr/>
        </p:nvSpPr>
        <p:spPr>
          <a:xfrm>
            <a:off x="609600" y="2436614"/>
            <a:ext cx="3429000" cy="3263900"/>
          </a:xfrm>
          <a:prstGeom prst="roundRect">
            <a:avLst>
              <a:gd name="adj" fmla="val 4280"/>
            </a:avLst>
          </a:prstGeom>
          <a:solidFill>
            <a:srgbClr val="EEF4FC"/>
          </a:solidFill>
          <a:ln/>
        </p:spPr>
      </p:sp>
      <p:pic>
        <p:nvPicPr>
          <p:cNvPr id="13" name="svg" descr="sv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350" y="2972131"/>
            <a:ext cx="3111500" cy="861483"/>
          </a:xfrm>
          <a:prstGeom prst="rect">
            <a:avLst/>
          </a:prstGeom>
        </p:spPr>
      </p:pic>
      <p:sp>
        <p:nvSpPr>
          <p:cNvPr id="14" name="p1-at p1-tag"/>
          <p:cNvSpPr/>
          <p:nvPr/>
        </p:nvSpPr>
        <p:spPr>
          <a:xfrm>
            <a:off x="1453704" y="2576314"/>
            <a:ext cx="1740793" cy="215900"/>
          </a:xfrm>
          <a:prstGeom prst="roundRect">
            <a:avLst>
              <a:gd name="adj" fmla="val 50000"/>
            </a:avLst>
          </a:prstGeom>
          <a:solidFill>
            <a:srgbClr val="D8E0EB"/>
          </a:solidFill>
          <a:ln/>
        </p:spPr>
      </p:sp>
      <p:pic>
        <p:nvPicPr>
          <p:cNvPr id="15" name="svg" descr="sv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137" y="2629231"/>
            <a:ext cx="116417" cy="114300"/>
          </a:xfrm>
          <a:prstGeom prst="rect">
            <a:avLst/>
          </a:prstGeom>
        </p:spPr>
      </p:pic>
      <p:sp>
        <p:nvSpPr>
          <p:cNvPr id="16" name="p1-op"/>
          <p:cNvSpPr/>
          <p:nvPr/>
        </p:nvSpPr>
        <p:spPr>
          <a:xfrm>
            <a:off x="971550" y="2868414"/>
            <a:ext cx="11049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3CEDD"/>
            </a:solidFill>
            <a:prstDash val="solid"/>
          </a:ln>
        </p:spPr>
      </p:sp>
      <p:sp>
        <p:nvSpPr>
          <p:cNvPr id="17" name="i"/>
          <p:cNvSpPr/>
          <p:nvPr/>
        </p:nvSpPr>
        <p:spPr>
          <a:xfrm>
            <a:off x="1241127" y="2989064"/>
            <a:ext cx="88900" cy="889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8" name="p1-op"/>
          <p:cNvSpPr/>
          <p:nvPr/>
        </p:nvSpPr>
        <p:spPr>
          <a:xfrm>
            <a:off x="2571750" y="2868414"/>
            <a:ext cx="11049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3CEDD"/>
            </a:solidFill>
            <a:prstDash val="solid"/>
          </a:ln>
        </p:spPr>
      </p:sp>
      <p:sp>
        <p:nvSpPr>
          <p:cNvPr id="19" name="i"/>
          <p:cNvSpPr/>
          <p:nvPr/>
        </p:nvSpPr>
        <p:spPr>
          <a:xfrm>
            <a:off x="2682776" y="2989064"/>
            <a:ext cx="88900" cy="889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0" name="p1-vs"/>
          <p:cNvSpPr/>
          <p:nvPr/>
        </p:nvSpPr>
        <p:spPr>
          <a:xfrm>
            <a:off x="2155825" y="2865239"/>
            <a:ext cx="336550" cy="336550"/>
          </a:xfrm>
          <a:prstGeom prst="ellipse">
            <a:avLst/>
          </a:prstGeom>
          <a:solidFill>
            <a:srgbClr val="0B214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p1-at p1-crit"/>
          <p:cNvSpPr/>
          <p:nvPr/>
        </p:nvSpPr>
        <p:spPr>
          <a:xfrm>
            <a:off x="1741636" y="3827264"/>
            <a:ext cx="1164927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4B8D"/>
            </a:solidFill>
            <a:prstDash val="solid"/>
          </a:ln>
        </p:spPr>
      </p:sp>
      <p:pic>
        <p:nvPicPr>
          <p:cNvPr id="22" name="p1-down" descr="p1-dow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0600" y="4164872"/>
            <a:ext cx="127000" cy="190500"/>
          </a:xfrm>
          <a:prstGeom prst="rect">
            <a:avLst/>
          </a:prstGeom>
        </p:spPr>
      </p:pic>
      <p:sp>
        <p:nvSpPr>
          <p:cNvPr id="23" name="p1-topic"/>
          <p:cNvSpPr/>
          <p:nvPr/>
        </p:nvSpPr>
        <p:spPr>
          <a:xfrm>
            <a:off x="762000" y="4386064"/>
            <a:ext cx="3124200" cy="1174750"/>
          </a:xfrm>
          <a:prstGeom prst="roundRect">
            <a:avLst>
              <a:gd name="adj" fmla="val 9730"/>
            </a:avLst>
          </a:prstGeom>
          <a:solidFill>
            <a:srgbClr val="0B2147"/>
          </a:solidFill>
          <a:ln/>
        </p:spPr>
      </p:sp>
      <p:sp>
        <p:nvSpPr>
          <p:cNvPr id="24" name="p1-blk p1-b2"/>
          <p:cNvSpPr/>
          <p:nvPr/>
        </p:nvSpPr>
        <p:spPr>
          <a:xfrm>
            <a:off x="4254500" y="2436614"/>
            <a:ext cx="4191000" cy="3263900"/>
          </a:xfrm>
          <a:prstGeom prst="roundRect">
            <a:avLst>
              <a:gd name="adj" fmla="val 4280"/>
            </a:avLst>
          </a:prstGeom>
          <a:solidFill>
            <a:srgbClr val="EEF4FC"/>
          </a:solidFill>
          <a:ln/>
        </p:spPr>
      </p:sp>
      <p:sp>
        <p:nvSpPr>
          <p:cNvPr id="25" name="p1-lead"/>
          <p:cNvSpPr/>
          <p:nvPr/>
        </p:nvSpPr>
        <p:spPr>
          <a:xfrm>
            <a:off x="5061148" y="2576314"/>
            <a:ext cx="2577604" cy="863402"/>
          </a:xfrm>
          <a:prstGeom prst="roundRect">
            <a:avLst>
              <a:gd name="adj" fmla="val 13238"/>
            </a:avLst>
          </a:prstGeom>
          <a:solidFill>
            <a:srgbClr val="0B2147"/>
          </a:solidFill>
          <a:ln/>
        </p:spPr>
      </p:sp>
      <p:sp>
        <p:nvSpPr>
          <p:cNvPr id="26" name="p1-av"/>
          <p:cNvSpPr/>
          <p:nvPr/>
        </p:nvSpPr>
        <p:spPr>
          <a:xfrm>
            <a:off x="6022578" y="2745184"/>
            <a:ext cx="88900" cy="889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27" name="p1-tree" descr="p1-tre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7450" y="3431249"/>
            <a:ext cx="2705100" cy="541867"/>
          </a:xfrm>
          <a:prstGeom prst="rect">
            <a:avLst/>
          </a:prstGeom>
        </p:spPr>
      </p:pic>
      <p:sp>
        <p:nvSpPr>
          <p:cNvPr id="28" name="p1-mem"/>
          <p:cNvSpPr/>
          <p:nvPr/>
        </p:nvSpPr>
        <p:spPr>
          <a:xfrm>
            <a:off x="4387850" y="3966766"/>
            <a:ext cx="1240334" cy="1030982"/>
          </a:xfrm>
          <a:prstGeom prst="roundRect">
            <a:avLst>
              <a:gd name="adj" fmla="val 10471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29" name="p1-av"/>
          <p:cNvSpPr/>
          <p:nvPr/>
        </p:nvSpPr>
        <p:spPr>
          <a:xfrm>
            <a:off x="4727873" y="4116586"/>
            <a:ext cx="88900" cy="889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0" name="p1-mem"/>
          <p:cNvSpPr/>
          <p:nvPr/>
        </p:nvSpPr>
        <p:spPr>
          <a:xfrm>
            <a:off x="5729784" y="3966766"/>
            <a:ext cx="1240334" cy="1030982"/>
          </a:xfrm>
          <a:prstGeom prst="roundRect">
            <a:avLst>
              <a:gd name="adj" fmla="val 10471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31" name="p1-av"/>
          <p:cNvSpPr/>
          <p:nvPr/>
        </p:nvSpPr>
        <p:spPr>
          <a:xfrm>
            <a:off x="6069905" y="4116586"/>
            <a:ext cx="88900" cy="889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2" name="p1-mem"/>
          <p:cNvSpPr/>
          <p:nvPr/>
        </p:nvSpPr>
        <p:spPr>
          <a:xfrm>
            <a:off x="7071717" y="3966766"/>
            <a:ext cx="1240334" cy="1030982"/>
          </a:xfrm>
          <a:prstGeom prst="roundRect">
            <a:avLst>
              <a:gd name="adj" fmla="val 10471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33" name="p1-av"/>
          <p:cNvSpPr/>
          <p:nvPr/>
        </p:nvSpPr>
        <p:spPr>
          <a:xfrm>
            <a:off x="7414419" y="4116586"/>
            <a:ext cx="88900" cy="889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34" name="svg" descr="sv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7450" y="5004098"/>
            <a:ext cx="2705100" cy="226483"/>
          </a:xfrm>
          <a:prstGeom prst="rect">
            <a:avLst/>
          </a:prstGeom>
        </p:spPr>
      </p:pic>
      <p:sp>
        <p:nvSpPr>
          <p:cNvPr id="35" name="p1-share"/>
          <p:cNvSpPr/>
          <p:nvPr/>
        </p:nvSpPr>
        <p:spPr>
          <a:xfrm>
            <a:off x="4381500" y="5230614"/>
            <a:ext cx="3937000" cy="3302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pic>
        <p:nvPicPr>
          <p:cNvPr id="36" name="svg" descr="sv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25170" y="5330097"/>
            <a:ext cx="118533" cy="135467"/>
          </a:xfrm>
          <a:prstGeom prst="rect">
            <a:avLst/>
          </a:prstGeom>
        </p:spPr>
      </p:pic>
      <p:sp>
        <p:nvSpPr>
          <p:cNvPr id="37" name="p1-blk p1-b3"/>
          <p:cNvSpPr/>
          <p:nvPr/>
        </p:nvSpPr>
        <p:spPr>
          <a:xfrm>
            <a:off x="8661400" y="2436614"/>
            <a:ext cx="2921000" cy="3263900"/>
          </a:xfrm>
          <a:prstGeom prst="roundRect">
            <a:avLst>
              <a:gd name="adj" fmla="val 4783"/>
            </a:avLst>
          </a:prstGeom>
          <a:solidFill>
            <a:srgbClr val="EEF4FC"/>
          </a:solidFill>
          <a:ln/>
        </p:spPr>
      </p:sp>
      <p:pic>
        <p:nvPicPr>
          <p:cNvPr id="38" name="svg" descr="sv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59900" y="2591131"/>
            <a:ext cx="1524000" cy="2717800"/>
          </a:xfrm>
          <a:prstGeom prst="rect">
            <a:avLst/>
          </a:prstGeom>
        </p:spPr>
      </p:pic>
      <p:sp>
        <p:nvSpPr>
          <p:cNvPr id="39" name="key"/>
          <p:cNvSpPr/>
          <p:nvPr/>
        </p:nvSpPr>
        <p:spPr>
          <a:xfrm>
            <a:off x="609600" y="5814814"/>
            <a:ext cx="10972800" cy="534591"/>
          </a:xfrm>
          <a:prstGeom prst="roundRect">
            <a:avLst>
              <a:gd name="adj" fmla="val 26132"/>
            </a:avLst>
          </a:prstGeom>
          <a:solidFill>
            <a:srgbClr val="0B2147"/>
          </a:solidFill>
          <a:ln/>
        </p:spPr>
      </p:sp>
      <p:sp>
        <p:nvSpPr>
          <p:cNvPr id="40" name="i"/>
          <p:cNvSpPr/>
          <p:nvPr/>
        </p:nvSpPr>
        <p:spPr>
          <a:xfrm>
            <a:off x="863600" y="6050260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1" name="b"/>
          <p:cNvSpPr/>
          <p:nvPr/>
        </p:nvSpPr>
        <p:spPr>
          <a:xfrm>
            <a:off x="927100" y="60756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2" name="i"/>
          <p:cNvSpPr/>
          <p:nvPr/>
        </p:nvSpPr>
        <p:spPr>
          <a:xfrm>
            <a:off x="1016000" y="6050260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43" name="b"/>
          <p:cNvSpPr/>
          <p:nvPr/>
        </p:nvSpPr>
        <p:spPr>
          <a:xfrm>
            <a:off x="1079500" y="60756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4" name="i"/>
          <p:cNvSpPr/>
          <p:nvPr/>
        </p:nvSpPr>
        <p:spPr>
          <a:xfrm>
            <a:off x="1168400" y="6050260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5" name="01"/>
          <p:cNvSpPr txBox="1"/>
          <p:nvPr/>
        </p:nvSpPr>
        <p:spPr>
          <a:xfrm>
            <a:off x="1066800" y="419100"/>
            <a:ext cx="24268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1100" dirty="0"/>
          </a:p>
        </p:txBody>
      </p:sp>
      <p:sp>
        <p:nvSpPr>
          <p:cNvPr id="46" name="PT 주제 1 · 가장 중요하게 생각하는 가치와 실천 경험"/>
          <p:cNvSpPr txBox="1"/>
          <p:nvPr/>
        </p:nvSpPr>
        <p:spPr>
          <a:xfrm>
            <a:off x="1347589" y="419100"/>
            <a:ext cx="305829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1 · 가장 중요하게 생각하는 가치와 실천 경험</a:t>
            </a:r>
            <a:endParaRPr lang="en-US" sz="1100" dirty="0"/>
          </a:p>
        </p:txBody>
      </p:sp>
      <p:sp>
        <p:nvSpPr>
          <p:cNvPr id="47" name="제가 가장 중요하게 생각하는 가치는"/>
          <p:cNvSpPr txBox="1"/>
          <p:nvPr/>
        </p:nvSpPr>
        <p:spPr>
          <a:xfrm>
            <a:off x="609600" y="774005"/>
            <a:ext cx="2950912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제가 가장 중요하게 생각하는 가치는</a:t>
            </a:r>
            <a:endParaRPr lang="en-US" sz="1600" dirty="0"/>
          </a:p>
        </p:txBody>
      </p:sp>
      <p:sp>
        <p:nvSpPr>
          <p:cNvPr id="48" name="공동의 목표를 공유하며 함께 성과를 만드는 협업입니다"/>
          <p:cNvSpPr txBox="1"/>
          <p:nvPr/>
        </p:nvSpPr>
        <p:spPr>
          <a:xfrm>
            <a:off x="609600" y="1100336"/>
            <a:ext cx="7744331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공동의 목표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를 공유하며 함께 성과를 만드는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협업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입니다</a:t>
            </a:r>
            <a:endParaRPr lang="en-US" sz="2800" dirty="0"/>
          </a:p>
        </p:txBody>
      </p:sp>
      <p:sp>
        <p:nvSpPr>
          <p:cNvPr id="49" name="학생 BIM 경진대회 · 4인 팀 팀장"/>
          <p:cNvSpPr txBox="1"/>
          <p:nvPr/>
        </p:nvSpPr>
        <p:spPr>
          <a:xfrm>
            <a:off x="609600" y="1820664"/>
            <a:ext cx="173922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1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학생 BIM 경진대회 · 4인 팀 팀장</a:t>
            </a:r>
            <a:endParaRPr lang="en-US" sz="1000" dirty="0"/>
          </a:p>
        </p:txBody>
      </p:sp>
      <p:sp>
        <p:nvSpPr>
          <p:cNvPr id="50" name="01"/>
          <p:cNvSpPr txBox="1"/>
          <p:nvPr/>
        </p:nvSpPr>
        <p:spPr>
          <a:xfrm>
            <a:off x="825500" y="2136924"/>
            <a:ext cx="26015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24" kern="0" dirty="0">
                <a:solidFill>
                  <a:srgbClr val="2A78D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1200" dirty="0"/>
          </a:p>
        </p:txBody>
      </p:sp>
      <p:sp>
        <p:nvSpPr>
          <p:cNvPr id="51" name="충돌을 조율해 주제를 정하다"/>
          <p:cNvSpPr txBox="1"/>
          <p:nvPr/>
        </p:nvSpPr>
        <p:spPr>
          <a:xfrm>
            <a:off x="1111052" y="2086124"/>
            <a:ext cx="2319776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4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충돌을 조율해 주제를 정하다</a:t>
            </a:r>
            <a:endParaRPr lang="en-US" sz="1600" dirty="0"/>
          </a:p>
        </p:txBody>
      </p:sp>
      <p:sp>
        <p:nvSpPr>
          <p:cNvPr id="52" name="02"/>
          <p:cNvSpPr txBox="1"/>
          <p:nvPr/>
        </p:nvSpPr>
        <p:spPr>
          <a:xfrm>
            <a:off x="4470400" y="2136924"/>
            <a:ext cx="26015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24" kern="0" dirty="0">
                <a:solidFill>
                  <a:srgbClr val="2A78D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1200" dirty="0"/>
          </a:p>
        </p:txBody>
      </p:sp>
      <p:sp>
        <p:nvSpPr>
          <p:cNvPr id="53" name="강점에 맞게 역할을 나누다"/>
          <p:cNvSpPr txBox="1"/>
          <p:nvPr/>
        </p:nvSpPr>
        <p:spPr>
          <a:xfrm>
            <a:off x="4755952" y="2086124"/>
            <a:ext cx="2136777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4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강점에 맞게 역할을 나누다</a:t>
            </a:r>
            <a:endParaRPr lang="en-US" sz="1600" dirty="0"/>
          </a:p>
        </p:txBody>
      </p:sp>
      <p:sp>
        <p:nvSpPr>
          <p:cNvPr id="54" name="03"/>
          <p:cNvSpPr txBox="1"/>
          <p:nvPr/>
        </p:nvSpPr>
        <p:spPr>
          <a:xfrm>
            <a:off x="8877300" y="2136924"/>
            <a:ext cx="26015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24" kern="0" dirty="0">
                <a:solidFill>
                  <a:srgbClr val="2A78D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03</a:t>
            </a:r>
            <a:endParaRPr lang="en-US" sz="1200" dirty="0"/>
          </a:p>
        </p:txBody>
      </p:sp>
      <p:sp>
        <p:nvSpPr>
          <p:cNvPr id="55" name="3주 만에 완성, 장려상"/>
          <p:cNvSpPr txBox="1"/>
          <p:nvPr/>
        </p:nvSpPr>
        <p:spPr>
          <a:xfrm>
            <a:off x="9162852" y="2086124"/>
            <a:ext cx="1780875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4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3주 만에 완성, 장려상</a:t>
            </a:r>
            <a:endParaRPr lang="en-US" sz="1600" dirty="0"/>
          </a:p>
        </p:txBody>
      </p:sp>
      <p:sp>
        <p:nvSpPr>
          <p:cNvPr id="56" name="마감 3주 전까지 주제 미확정"/>
          <p:cNvSpPr txBox="1"/>
          <p:nvPr/>
        </p:nvSpPr>
        <p:spPr>
          <a:xfrm>
            <a:off x="1707704" y="2604889"/>
            <a:ext cx="146830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마감 3주 전까지 주제 미확정</a:t>
            </a:r>
            <a:endParaRPr lang="en-US" sz="1000" dirty="0"/>
          </a:p>
        </p:txBody>
      </p:sp>
      <p:sp>
        <p:nvSpPr>
          <p:cNvPr id="57" name="참신성"/>
          <p:cNvSpPr txBox="1"/>
          <p:nvPr/>
        </p:nvSpPr>
        <p:spPr>
          <a:xfrm>
            <a:off x="1380827" y="2932906"/>
            <a:ext cx="4768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참신성</a:t>
            </a:r>
            <a:endParaRPr lang="en-US" sz="1300" dirty="0"/>
          </a:p>
        </p:txBody>
      </p:sp>
      <p:sp>
        <p:nvSpPr>
          <p:cNvPr id="58" name="구현 가능성"/>
          <p:cNvSpPr txBox="1"/>
          <p:nvPr/>
        </p:nvSpPr>
        <p:spPr>
          <a:xfrm>
            <a:off x="2822476" y="2932906"/>
            <a:ext cx="79384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구현 가능성</a:t>
            </a:r>
            <a:endParaRPr lang="en-US" sz="1300" dirty="0"/>
          </a:p>
        </p:txBody>
      </p:sp>
      <p:sp>
        <p:nvSpPr>
          <p:cNvPr id="59" name="VS"/>
          <p:cNvSpPr txBox="1"/>
          <p:nvPr/>
        </p:nvSpPr>
        <p:spPr>
          <a:xfrm>
            <a:off x="2228751" y="2954139"/>
            <a:ext cx="241498" cy="158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0" spc="21" kern="0" dirty="0">
                <a:solidFill>
                  <a:srgbClr val="FFFFFF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VS</a:t>
            </a:r>
            <a:endParaRPr lang="en-US" sz="1050" dirty="0"/>
          </a:p>
        </p:txBody>
      </p:sp>
      <p:sp>
        <p:nvSpPr>
          <p:cNvPr id="60" name="경청 · 수상작 분석 · 교수님 조언"/>
          <p:cNvSpPr txBox="1"/>
          <p:nvPr/>
        </p:nvSpPr>
        <p:spPr>
          <a:xfrm>
            <a:off x="1402209" y="3306564"/>
            <a:ext cx="195440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24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경청 · 수상작 분석 · 교수님 조언</a:t>
            </a:r>
            <a:endParaRPr lang="en-US" sz="1200" dirty="0"/>
          </a:p>
        </p:txBody>
      </p:sp>
      <p:sp>
        <p:nvSpPr>
          <p:cNvPr id="61" name="판단 기준 마련"/>
          <p:cNvSpPr txBox="1"/>
          <p:nvPr/>
        </p:nvSpPr>
        <p:spPr>
          <a:xfrm>
            <a:off x="1900386" y="3888184"/>
            <a:ext cx="89827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2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판단 기준 마련</a:t>
            </a:r>
            <a:endParaRPr lang="en-US" sz="1200" dirty="0"/>
          </a:p>
        </p:txBody>
      </p:sp>
      <p:sp>
        <p:nvSpPr>
          <p:cNvPr id="62" name="‘유닛 모듈러 기반 사용자 맞춤형"/>
          <p:cNvSpPr txBox="1"/>
          <p:nvPr/>
        </p:nvSpPr>
        <p:spPr>
          <a:xfrm>
            <a:off x="914400" y="4506714"/>
            <a:ext cx="274193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spc="-59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‘유닛 모듈러 기반 사용자 맞춤형</a:t>
            </a:r>
            <a:endParaRPr lang="en-US" sz="1700" dirty="0"/>
          </a:p>
        </p:txBody>
      </p:sp>
      <p:sp>
        <p:nvSpPr>
          <p:cNvPr id="63" name="리모델링 방법’ 선정"/>
          <p:cNvSpPr txBox="1"/>
          <p:nvPr/>
        </p:nvSpPr>
        <p:spPr>
          <a:xfrm>
            <a:off x="914400" y="4776589"/>
            <a:ext cx="169042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spc="-59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리모델링 방법’ </a:t>
            </a:r>
            <a:pPr algn="l" indent="0" marL="0">
              <a:buNone/>
            </a:pPr>
            <a:r>
              <a:rPr lang="ko-KR" altLang="en-US" sz="1700" spc="-59" kern="0" dirty="0">
                <a:solidFill>
                  <a:srgbClr val="45B9EC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선정</a:t>
            </a:r>
            <a:endParaRPr lang="en-US" sz="1700" dirty="0"/>
          </a:p>
        </p:txBody>
      </p:sp>
      <p:sp>
        <p:nvSpPr>
          <p:cNvPr id="64" name="리모델링 규모에 따라 유닛 모듈러를 배치하고,"/>
          <p:cNvSpPr txBox="1"/>
          <p:nvPr/>
        </p:nvSpPr>
        <p:spPr>
          <a:xfrm>
            <a:off x="914400" y="5103614"/>
            <a:ext cx="236552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C9CED7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리모델링 규모에 따라 유닛 모듈러를 배치하고,</a:t>
            </a:r>
            <a:endParaRPr lang="en-US" sz="1000" dirty="0"/>
          </a:p>
        </p:txBody>
      </p:sp>
      <p:sp>
        <p:nvSpPr>
          <p:cNvPr id="65" name="모듈 수 · 자재 물량을 자동 산출"/>
          <p:cNvSpPr txBox="1"/>
          <p:nvPr/>
        </p:nvSpPr>
        <p:spPr>
          <a:xfrm>
            <a:off x="914400" y="5281414"/>
            <a:ext cx="158799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C9CED7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모듈 수 · 자재 물량을 자동 산출</a:t>
            </a:r>
            <a:endParaRPr lang="en-US" sz="1000" dirty="0"/>
          </a:p>
        </p:txBody>
      </p:sp>
      <p:sp>
        <p:nvSpPr>
          <p:cNvPr id="66" name="팀장 · 나"/>
          <p:cNvSpPr txBox="1"/>
          <p:nvPr/>
        </p:nvSpPr>
        <p:spPr>
          <a:xfrm>
            <a:off x="6149578" y="2696964"/>
            <a:ext cx="5530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24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팀장 · 나</a:t>
            </a:r>
            <a:endParaRPr lang="en-US" sz="1200" dirty="0"/>
          </a:p>
        </p:txBody>
      </p:sp>
      <p:sp>
        <p:nvSpPr>
          <p:cNvPr id="67" name="프로젝트 총괄 ·"/>
          <p:cNvSpPr txBox="1"/>
          <p:nvPr/>
        </p:nvSpPr>
        <p:spPr>
          <a:xfrm>
            <a:off x="5882198" y="2926755"/>
            <a:ext cx="93550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0" kern="0" dirty="0">
                <a:solidFill>
                  <a:srgbClr val="DADEE3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프로젝트 총괄 ·</a:t>
            </a:r>
            <a:endParaRPr lang="en-US" sz="1200" dirty="0"/>
          </a:p>
        </p:txBody>
      </p:sp>
      <p:sp>
        <p:nvSpPr>
          <p:cNvPr id="68" name="Dynamo 기반 자동화 알고리즘 개발"/>
          <p:cNvSpPr txBox="1"/>
          <p:nvPr/>
        </p:nvSpPr>
        <p:spPr>
          <a:xfrm>
            <a:off x="5185750" y="3132435"/>
            <a:ext cx="2328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0" kern="0" dirty="0">
                <a:solidFill>
                  <a:srgbClr val="DADEE3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Dynamo 기반 자동화 알고리즘 개발</a:t>
            </a:r>
            <a:endParaRPr lang="en-US" sz="1200" dirty="0"/>
          </a:p>
        </p:txBody>
      </p:sp>
      <p:sp>
        <p:nvSpPr>
          <p:cNvPr id="69" name="팀원 A"/>
          <p:cNvSpPr txBox="1"/>
          <p:nvPr/>
        </p:nvSpPr>
        <p:spPr>
          <a:xfrm>
            <a:off x="4854873" y="4068366"/>
            <a:ext cx="45858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2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A</a:t>
            </a:r>
            <a:endParaRPr lang="en-US" sz="1200" dirty="0"/>
          </a:p>
        </p:txBody>
      </p:sp>
      <p:sp>
        <p:nvSpPr>
          <p:cNvPr id="70" name="유닛 모듈러 설계 ·"/>
          <p:cNvSpPr txBox="1"/>
          <p:nvPr/>
        </p:nvSpPr>
        <p:spPr>
          <a:xfrm>
            <a:off x="4455394" y="4298156"/>
            <a:ext cx="11051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유닛 모듈러 설계 ·</a:t>
            </a:r>
            <a:endParaRPr lang="en-US" sz="1200" dirty="0"/>
          </a:p>
        </p:txBody>
      </p:sp>
      <p:sp>
        <p:nvSpPr>
          <p:cNvPr id="71" name="배치계획"/>
          <p:cNvSpPr txBox="1"/>
          <p:nvPr/>
        </p:nvSpPr>
        <p:spPr>
          <a:xfrm>
            <a:off x="4721920" y="4503837"/>
            <a:ext cx="57209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배치계획</a:t>
            </a:r>
            <a:endParaRPr lang="en-US" sz="1200" dirty="0"/>
          </a:p>
        </p:txBody>
      </p:sp>
      <p:sp>
        <p:nvSpPr>
          <p:cNvPr id="72" name="팀원 B"/>
          <p:cNvSpPr txBox="1"/>
          <p:nvPr/>
        </p:nvSpPr>
        <p:spPr>
          <a:xfrm>
            <a:off x="6196905" y="4068366"/>
            <a:ext cx="45839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2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B</a:t>
            </a:r>
            <a:endParaRPr lang="en-US" sz="1200" dirty="0"/>
          </a:p>
        </p:txBody>
      </p:sp>
      <p:sp>
        <p:nvSpPr>
          <p:cNvPr id="73" name="Revit 기반"/>
          <p:cNvSpPr txBox="1"/>
          <p:nvPr/>
        </p:nvSpPr>
        <p:spPr>
          <a:xfrm>
            <a:off x="5992912" y="4298156"/>
            <a:ext cx="71397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Revit 기반</a:t>
            </a:r>
            <a:endParaRPr lang="en-US" sz="1200" dirty="0"/>
          </a:p>
        </p:txBody>
      </p:sp>
      <p:sp>
        <p:nvSpPr>
          <p:cNvPr id="74" name="BIM 모델링 ·"/>
          <p:cNvSpPr txBox="1"/>
          <p:nvPr/>
        </p:nvSpPr>
        <p:spPr>
          <a:xfrm>
            <a:off x="5930404" y="4503837"/>
            <a:ext cx="83899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BIM 모델링 ·</a:t>
            </a:r>
            <a:endParaRPr lang="en-US" sz="1200" dirty="0"/>
          </a:p>
        </p:txBody>
      </p:sp>
      <p:sp>
        <p:nvSpPr>
          <p:cNvPr id="75" name="데이터 구축"/>
          <p:cNvSpPr txBox="1"/>
          <p:nvPr/>
        </p:nvSpPr>
        <p:spPr>
          <a:xfrm>
            <a:off x="5983883" y="4709517"/>
            <a:ext cx="73203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데이터 구축</a:t>
            </a:r>
            <a:endParaRPr lang="en-US" sz="1200" dirty="0"/>
          </a:p>
        </p:txBody>
      </p:sp>
      <p:sp>
        <p:nvSpPr>
          <p:cNvPr id="76" name="팀원 C"/>
          <p:cNvSpPr txBox="1"/>
          <p:nvPr/>
        </p:nvSpPr>
        <p:spPr>
          <a:xfrm>
            <a:off x="7541419" y="4068366"/>
            <a:ext cx="45323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2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C</a:t>
            </a:r>
            <a:endParaRPr lang="en-US" sz="1200" dirty="0"/>
          </a:p>
        </p:txBody>
      </p:sp>
      <p:sp>
        <p:nvSpPr>
          <p:cNvPr id="77" name="리모델링 적용"/>
          <p:cNvSpPr txBox="1"/>
          <p:nvPr/>
        </p:nvSpPr>
        <p:spPr>
          <a:xfrm>
            <a:off x="7260630" y="4298156"/>
            <a:ext cx="86240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리모델링 적용</a:t>
            </a:r>
            <a:endParaRPr lang="en-US" sz="1200" dirty="0"/>
          </a:p>
        </p:txBody>
      </p:sp>
      <p:sp>
        <p:nvSpPr>
          <p:cNvPr id="78" name="시나리오 구성 ·"/>
          <p:cNvSpPr txBox="1"/>
          <p:nvPr/>
        </p:nvSpPr>
        <p:spPr>
          <a:xfrm>
            <a:off x="7224132" y="4503837"/>
            <a:ext cx="93550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시나리오 구성 ·</a:t>
            </a:r>
            <a:endParaRPr lang="en-US" sz="1200" dirty="0"/>
          </a:p>
        </p:txBody>
      </p:sp>
      <p:sp>
        <p:nvSpPr>
          <p:cNvPr id="79" name="시연 영상 제작"/>
          <p:cNvSpPr txBox="1"/>
          <p:nvPr/>
        </p:nvSpPr>
        <p:spPr>
          <a:xfrm>
            <a:off x="7245846" y="4709517"/>
            <a:ext cx="89207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시연 영상 제작</a:t>
            </a:r>
            <a:endParaRPr lang="en-US" sz="1200" dirty="0"/>
          </a:p>
        </p:txBody>
      </p:sp>
      <p:sp>
        <p:nvSpPr>
          <p:cNvPr id="80" name="이틀마다 진행상황 공유 · 피드백"/>
          <p:cNvSpPr txBox="1"/>
          <p:nvPr/>
        </p:nvSpPr>
        <p:spPr>
          <a:xfrm>
            <a:off x="5528370" y="5304234"/>
            <a:ext cx="198417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24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이틀마다 진행상황 공유 · 피드백</a:t>
            </a:r>
            <a:endParaRPr lang="en-US" sz="1200" dirty="0"/>
          </a:p>
        </p:txBody>
      </p:sp>
      <p:sp>
        <p:nvSpPr>
          <p:cNvPr id="81" name="리모델링 앱 개발 아이디어 시연 영상"/>
          <p:cNvSpPr txBox="1"/>
          <p:nvPr/>
        </p:nvSpPr>
        <p:spPr>
          <a:xfrm>
            <a:off x="9239200" y="3497064"/>
            <a:ext cx="187132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리모델링 앱 개발 아이디어 시연 영상</a:t>
            </a:r>
            <a:endParaRPr lang="en-US" sz="1000" dirty="0"/>
          </a:p>
        </p:txBody>
      </p:sp>
      <p:sp>
        <p:nvSpPr>
          <p:cNvPr id="82" name="장려상"/>
          <p:cNvSpPr txBox="1"/>
          <p:nvPr/>
        </p:nvSpPr>
        <p:spPr>
          <a:xfrm>
            <a:off x="9749433" y="4500364"/>
            <a:ext cx="79573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300" spc="-69" kern="0" dirty="0">
                <a:solidFill>
                  <a:srgbClr val="0B2147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장려상</a:t>
            </a:r>
            <a:endParaRPr lang="en-US" sz="2300" dirty="0"/>
          </a:p>
        </p:txBody>
      </p:sp>
      <p:sp>
        <p:nvSpPr>
          <p:cNvPr id="83" name="학생 BIM 경진대회 장려상 · 남은 3주 내 완성"/>
          <p:cNvSpPr txBox="1"/>
          <p:nvPr/>
        </p:nvSpPr>
        <p:spPr>
          <a:xfrm>
            <a:off x="9014619" y="5376664"/>
            <a:ext cx="234743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학생 BIM 경진대회 장려상 · 남은 3주 내 완성</a:t>
            </a:r>
            <a:endParaRPr lang="en-US" sz="1000" dirty="0"/>
          </a:p>
        </p:txBody>
      </p:sp>
      <p:sp>
        <p:nvSpPr>
          <p:cNvPr id="84" name="KEY MESSAGE"/>
          <p:cNvSpPr txBox="1"/>
          <p:nvPr/>
        </p:nvSpPr>
        <p:spPr>
          <a:xfrm>
            <a:off x="1308100" y="6007298"/>
            <a:ext cx="117182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KEY MESSAGE</a:t>
            </a:r>
            <a:endParaRPr lang="en-US" sz="950" dirty="0"/>
          </a:p>
        </p:txBody>
      </p:sp>
      <p:sp>
        <p:nvSpPr>
          <p:cNvPr id="85" name="서로 다른 사람을 하나의 공동 목표로 연결합니다"/>
          <p:cNvSpPr txBox="1"/>
          <p:nvPr/>
        </p:nvSpPr>
        <p:spPr>
          <a:xfrm>
            <a:off x="2591395" y="5954514"/>
            <a:ext cx="415166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서로 다른 사람을 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공동 목표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 연결합니다</a:t>
            </a:r>
            <a:endParaRPr lang="en-US" sz="1700" dirty="0"/>
          </a:p>
        </p:txBody>
      </p:sp>
      <p:sp>
        <p:nvSpPr>
          <p:cNvPr id="86" name="2026년 하반기 신입사원 공개채용"/>
          <p:cNvSpPr txBox="1"/>
          <p:nvPr/>
        </p:nvSpPr>
        <p:spPr>
          <a:xfrm>
            <a:off x="609600" y="6425605"/>
            <a:ext cx="165950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900" dirty="0"/>
          </a:p>
        </p:txBody>
      </p:sp>
      <p:sp>
        <p:nvSpPr>
          <p:cNvPr id="87" name="01 / 03"/>
          <p:cNvSpPr txBox="1"/>
          <p:nvPr/>
        </p:nvSpPr>
        <p:spPr>
          <a:xfrm>
            <a:off x="11135916" y="6425605"/>
            <a:ext cx="497284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01</a:t>
            </a:r>
            <a:pPr algn="l" indent="0" marL="0">
              <a:buNone/>
            </a:pPr>
            <a:r>
              <a:rPr lang="ko-KR" altLang="en-US" sz="900" spc="54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7252" y="440002"/>
            <a:ext cx="1392767" cy="198967"/>
          </a:xfrm>
          <a:prstGeom prst="rect">
            <a:avLst/>
          </a:prstGeom>
        </p:spPr>
      </p:pic>
      <p:pic>
        <p:nvPicPr>
          <p:cNvPr id="8" name="p2-tag" descr="p2-t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250" y="1917303"/>
            <a:ext cx="177800" cy="12700"/>
          </a:xfrm>
          <a:prstGeom prst="rect">
            <a:avLst/>
          </a:prstGeom>
        </p:spPr>
      </p:pic>
      <p:sp>
        <p:nvSpPr>
          <p:cNvPr id="9" name="em"/>
          <p:cNvSpPr/>
          <p:nvPr/>
        </p:nvSpPr>
        <p:spPr>
          <a:xfrm>
            <a:off x="3575149" y="1827312"/>
            <a:ext cx="692150" cy="184150"/>
          </a:xfrm>
          <a:prstGeom prst="roundRect">
            <a:avLst>
              <a:gd name="adj" fmla="val 27586"/>
            </a:avLst>
          </a:prstGeom>
          <a:solidFill>
            <a:srgbClr val="EEF4FC"/>
          </a:solidFill>
          <a:ln/>
        </p:spPr>
      </p:sp>
      <p:sp>
        <p:nvSpPr>
          <p:cNvPr id="10" name="p2-panel"/>
          <p:cNvSpPr/>
          <p:nvPr/>
        </p:nvSpPr>
        <p:spPr>
          <a:xfrm>
            <a:off x="615950" y="2150864"/>
            <a:ext cx="5118100" cy="2959100"/>
          </a:xfrm>
          <a:prstGeom prst="roundRect">
            <a:avLst>
              <a:gd name="adj" fmla="val 4506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11" name="i"/>
          <p:cNvSpPr/>
          <p:nvPr/>
        </p:nvSpPr>
        <p:spPr>
          <a:xfrm>
            <a:off x="1481931" y="245566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2" name="b"/>
          <p:cNvSpPr/>
          <p:nvPr/>
        </p:nvSpPr>
        <p:spPr>
          <a:xfrm>
            <a:off x="1545431" y="2481064"/>
            <a:ext cx="1397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13" name="i"/>
          <p:cNvSpPr/>
          <p:nvPr/>
        </p:nvSpPr>
        <p:spPr>
          <a:xfrm>
            <a:off x="1685131" y="245566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14" name="p2-svg" descr="p2-sv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3650" y="2936147"/>
            <a:ext cx="3822700" cy="2023533"/>
          </a:xfrm>
          <a:prstGeom prst="rect">
            <a:avLst/>
          </a:prstGeom>
        </p:spPr>
      </p:pic>
      <p:sp>
        <p:nvSpPr>
          <p:cNvPr id="15" name="p2-n chip people"/>
          <p:cNvSpPr/>
          <p:nvPr/>
        </p:nvSpPr>
        <p:spPr>
          <a:xfrm>
            <a:off x="2861518" y="2798564"/>
            <a:ext cx="626963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16" name="dot people"/>
          <p:cNvSpPr/>
          <p:nvPr/>
        </p:nvSpPr>
        <p:spPr>
          <a:xfrm>
            <a:off x="2988518" y="291286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7" name="p2-n chip people"/>
          <p:cNvSpPr/>
          <p:nvPr/>
        </p:nvSpPr>
        <p:spPr>
          <a:xfrm>
            <a:off x="4673154" y="3491905"/>
            <a:ext cx="626963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18" name="dot people"/>
          <p:cNvSpPr/>
          <p:nvPr/>
        </p:nvSpPr>
        <p:spPr>
          <a:xfrm>
            <a:off x="4800154" y="3606205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9" name="p2-n chip people"/>
          <p:cNvSpPr/>
          <p:nvPr/>
        </p:nvSpPr>
        <p:spPr>
          <a:xfrm>
            <a:off x="3981004" y="4613374"/>
            <a:ext cx="626963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20" name="dot people"/>
          <p:cNvSpPr/>
          <p:nvPr/>
        </p:nvSpPr>
        <p:spPr>
          <a:xfrm>
            <a:off x="4108004" y="472767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1" name="p2-n chip people"/>
          <p:cNvSpPr/>
          <p:nvPr/>
        </p:nvSpPr>
        <p:spPr>
          <a:xfrm>
            <a:off x="1741934" y="4613374"/>
            <a:ext cx="626963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22" name="dot people"/>
          <p:cNvSpPr/>
          <p:nvPr/>
        </p:nvSpPr>
        <p:spPr>
          <a:xfrm>
            <a:off x="1868934" y="472767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3" name="p2-n chip people"/>
          <p:cNvSpPr/>
          <p:nvPr/>
        </p:nvSpPr>
        <p:spPr>
          <a:xfrm>
            <a:off x="926852" y="3491905"/>
            <a:ext cx="872827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24" name="dot people"/>
          <p:cNvSpPr/>
          <p:nvPr/>
        </p:nvSpPr>
        <p:spPr>
          <a:xfrm>
            <a:off x="1053852" y="3606205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25" name="p2-n ring p2-goal" descr="p2-n ring p2-go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1600" y="3416631"/>
            <a:ext cx="1066800" cy="1066800"/>
          </a:xfrm>
          <a:prstGeom prst="rect">
            <a:avLst/>
          </a:prstGeom>
        </p:spPr>
      </p:pic>
      <p:pic>
        <p:nvPicPr>
          <p:cNvPr id="26" name="ring" descr="r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2000" y="3696031"/>
            <a:ext cx="508000" cy="508000"/>
          </a:xfrm>
          <a:prstGeom prst="rect">
            <a:avLst/>
          </a:prstGeom>
        </p:spPr>
      </p:pic>
      <p:pic>
        <p:nvPicPr>
          <p:cNvPr id="27" name="svg" descr="sv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0167" y="3844197"/>
            <a:ext cx="211667" cy="211667"/>
          </a:xfrm>
          <a:prstGeom prst="rect">
            <a:avLst/>
          </a:prstGeom>
        </p:spPr>
      </p:pic>
      <p:sp>
        <p:nvSpPr>
          <p:cNvPr id="28" name="p2-panel"/>
          <p:cNvSpPr/>
          <p:nvPr/>
        </p:nvSpPr>
        <p:spPr>
          <a:xfrm>
            <a:off x="6457950" y="2150864"/>
            <a:ext cx="5118100" cy="2959100"/>
          </a:xfrm>
          <a:prstGeom prst="roundRect">
            <a:avLst>
              <a:gd name="adj" fmla="val 4506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29" name="i"/>
          <p:cNvSpPr/>
          <p:nvPr/>
        </p:nvSpPr>
        <p:spPr>
          <a:xfrm>
            <a:off x="7323931" y="2455664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0" name="b"/>
          <p:cNvSpPr/>
          <p:nvPr/>
        </p:nvSpPr>
        <p:spPr>
          <a:xfrm>
            <a:off x="7387431" y="2481064"/>
            <a:ext cx="1397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31" name="i"/>
          <p:cNvSpPr/>
          <p:nvPr/>
        </p:nvSpPr>
        <p:spPr>
          <a:xfrm>
            <a:off x="7527131" y="24556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32" name="p2-svg" descr="p2-sv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8617" y="3101247"/>
            <a:ext cx="2916767" cy="1697567"/>
          </a:xfrm>
          <a:prstGeom prst="rect">
            <a:avLst/>
          </a:prstGeom>
        </p:spPr>
      </p:pic>
      <p:sp>
        <p:nvSpPr>
          <p:cNvPr id="33" name="p2-n chip tech p2-tchip"/>
          <p:cNvSpPr/>
          <p:nvPr/>
        </p:nvSpPr>
        <p:spPr>
          <a:xfrm>
            <a:off x="6654800" y="31922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34" name="dot tech"/>
          <p:cNvSpPr/>
          <p:nvPr/>
        </p:nvSpPr>
        <p:spPr>
          <a:xfrm>
            <a:off x="6973689" y="3306564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5" name="p2-n chip tech p2-tchip"/>
          <p:cNvSpPr/>
          <p:nvPr/>
        </p:nvSpPr>
        <p:spPr>
          <a:xfrm>
            <a:off x="6654800" y="38018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36" name="dot tech"/>
          <p:cNvSpPr/>
          <p:nvPr/>
        </p:nvSpPr>
        <p:spPr>
          <a:xfrm>
            <a:off x="6905427" y="3916164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7" name="p2-n chip tech p2-tchip"/>
          <p:cNvSpPr/>
          <p:nvPr/>
        </p:nvSpPr>
        <p:spPr>
          <a:xfrm>
            <a:off x="6654800" y="44114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38" name="dot tech"/>
          <p:cNvSpPr/>
          <p:nvPr/>
        </p:nvSpPr>
        <p:spPr>
          <a:xfrm>
            <a:off x="6864052" y="4525764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39" name="p2-n ring p2-field" descr="p2-n ring p2-fiel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3600" y="3416631"/>
            <a:ext cx="1066800" cy="1066800"/>
          </a:xfrm>
          <a:prstGeom prst="rect">
            <a:avLst/>
          </a:prstGeom>
        </p:spPr>
      </p:pic>
      <p:sp>
        <p:nvSpPr>
          <p:cNvPr id="40" name="p2-n chip field p2-ochip"/>
          <p:cNvSpPr/>
          <p:nvPr/>
        </p:nvSpPr>
        <p:spPr>
          <a:xfrm>
            <a:off x="10464800" y="29636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1" name="dot field"/>
          <p:cNvSpPr/>
          <p:nvPr/>
        </p:nvSpPr>
        <p:spPr>
          <a:xfrm>
            <a:off x="10735469" y="30779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2" name="p2-n chip field p2-ochip"/>
          <p:cNvSpPr/>
          <p:nvPr/>
        </p:nvSpPr>
        <p:spPr>
          <a:xfrm>
            <a:off x="10464800" y="35224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3" name="dot field"/>
          <p:cNvSpPr/>
          <p:nvPr/>
        </p:nvSpPr>
        <p:spPr>
          <a:xfrm>
            <a:off x="10735469" y="36367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4" name="p2-n chip field p2-ochip"/>
          <p:cNvSpPr/>
          <p:nvPr/>
        </p:nvSpPr>
        <p:spPr>
          <a:xfrm>
            <a:off x="10464800" y="40812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5" name="dot field"/>
          <p:cNvSpPr/>
          <p:nvPr/>
        </p:nvSpPr>
        <p:spPr>
          <a:xfrm>
            <a:off x="10735469" y="41955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6" name="p2-n chip field p2-ochip"/>
          <p:cNvSpPr/>
          <p:nvPr/>
        </p:nvSpPr>
        <p:spPr>
          <a:xfrm>
            <a:off x="10464800" y="46400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7" name="dot field"/>
          <p:cNvSpPr/>
          <p:nvPr/>
        </p:nvSpPr>
        <p:spPr>
          <a:xfrm>
            <a:off x="10674052" y="47543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8" name="key"/>
          <p:cNvSpPr/>
          <p:nvPr/>
        </p:nvSpPr>
        <p:spPr>
          <a:xfrm>
            <a:off x="609600" y="5725914"/>
            <a:ext cx="10972800" cy="610791"/>
          </a:xfrm>
          <a:prstGeom prst="roundRect">
            <a:avLst>
              <a:gd name="adj" fmla="val 22872"/>
            </a:avLst>
          </a:prstGeom>
          <a:solidFill>
            <a:srgbClr val="0B2147"/>
          </a:solidFill>
          <a:ln/>
        </p:spPr>
      </p:sp>
      <p:pic>
        <p:nvPicPr>
          <p:cNvPr id="49" name="p2-svg" descr="p2-sv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26317" y="5069747"/>
            <a:ext cx="5939367" cy="668867"/>
          </a:xfrm>
          <a:prstGeom prst="rect">
            <a:avLst/>
          </a:prstGeom>
        </p:spPr>
      </p:pic>
      <p:pic>
        <p:nvPicPr>
          <p:cNvPr id="50" name="p2-eqop ring solid" descr="p2-eqop ring solid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92800" y="5194631"/>
            <a:ext cx="406400" cy="406400"/>
          </a:xfrm>
          <a:prstGeom prst="rect">
            <a:avLst/>
          </a:prstGeom>
        </p:spPr>
      </p:pic>
      <p:pic>
        <p:nvPicPr>
          <p:cNvPr id="51" name="svg" descr="sv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02867" y="5342797"/>
            <a:ext cx="186267" cy="110067"/>
          </a:xfrm>
          <a:prstGeom prst="rect">
            <a:avLst/>
          </a:prstGeom>
        </p:spPr>
      </p:pic>
      <p:sp>
        <p:nvSpPr>
          <p:cNvPr id="52" name="i"/>
          <p:cNvSpPr/>
          <p:nvPr/>
        </p:nvSpPr>
        <p:spPr>
          <a:xfrm>
            <a:off x="863600" y="5999460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53" name="b"/>
          <p:cNvSpPr/>
          <p:nvPr/>
        </p:nvSpPr>
        <p:spPr>
          <a:xfrm>
            <a:off x="927100" y="60248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4" name="i"/>
          <p:cNvSpPr/>
          <p:nvPr/>
        </p:nvSpPr>
        <p:spPr>
          <a:xfrm>
            <a:off x="1016000" y="5999460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5" name="b"/>
          <p:cNvSpPr/>
          <p:nvPr/>
        </p:nvSpPr>
        <p:spPr>
          <a:xfrm>
            <a:off x="1079500" y="60248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6" name="i"/>
          <p:cNvSpPr/>
          <p:nvPr/>
        </p:nvSpPr>
        <p:spPr>
          <a:xfrm>
            <a:off x="1168400" y="5999460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57" name="02"/>
          <p:cNvSpPr txBox="1"/>
          <p:nvPr/>
        </p:nvSpPr>
        <p:spPr>
          <a:xfrm>
            <a:off x="1066800" y="419100"/>
            <a:ext cx="24268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1100" dirty="0"/>
          </a:p>
        </p:txBody>
      </p:sp>
      <p:sp>
        <p:nvSpPr>
          <p:cNvPr id="58" name="PT 주제 2 · 가치체계 키워드 ‘우리의 기술’"/>
          <p:cNvSpPr txBox="1"/>
          <p:nvPr/>
        </p:nvSpPr>
        <p:spPr>
          <a:xfrm>
            <a:off x="1347589" y="419100"/>
            <a:ext cx="242726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2 · 가치체계 키워드 ‘우리의 기술’</a:t>
            </a:r>
            <a:endParaRPr lang="en-US" sz="1100" dirty="0"/>
          </a:p>
        </p:txBody>
      </p:sp>
      <p:sp>
        <p:nvSpPr>
          <p:cNvPr id="59" name="현대엔지니어링 가치체계 키워드 중"/>
          <p:cNvSpPr txBox="1"/>
          <p:nvPr/>
        </p:nvSpPr>
        <p:spPr>
          <a:xfrm>
            <a:off x="609600" y="774005"/>
            <a:ext cx="2907897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현대엔지니어링 가치체계 키워드 중</a:t>
            </a:r>
            <a:endParaRPr lang="en-US" sz="1600" dirty="0"/>
          </a:p>
        </p:txBody>
      </p:sp>
      <p:sp>
        <p:nvSpPr>
          <p:cNvPr id="60" name="저는 ‘우리의 기술’을 이렇게 이해했습니다"/>
          <p:cNvSpPr txBox="1"/>
          <p:nvPr/>
        </p:nvSpPr>
        <p:spPr>
          <a:xfrm>
            <a:off x="609600" y="1100336"/>
            <a:ext cx="5886785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저는 ‘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’을 이렇게 이해했습니다</a:t>
            </a:r>
            <a:endParaRPr lang="en-US" sz="2800" dirty="0"/>
          </a:p>
        </p:txBody>
      </p:sp>
      <p:sp>
        <p:nvSpPr>
          <p:cNvPr id="61" name="가치체계 정체성"/>
          <p:cNvSpPr txBox="1"/>
          <p:nvPr/>
        </p:nvSpPr>
        <p:spPr>
          <a:xfrm>
            <a:off x="609600" y="1847453"/>
            <a:ext cx="85923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38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가치체계 정체성</a:t>
            </a:r>
            <a:endParaRPr lang="en-US" sz="950" dirty="0"/>
          </a:p>
        </p:txBody>
      </p:sp>
      <p:sp>
        <p:nvSpPr>
          <p:cNvPr id="62" name="“공간과 에너지를 잇는 길 위에서, 우리의 기술로 더 나은 삶을 만듭니다"/>
          <p:cNvSpPr txBox="1"/>
          <p:nvPr/>
        </p:nvSpPr>
        <p:spPr>
          <a:xfrm>
            <a:off x="1786334" y="1833662"/>
            <a:ext cx="406468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“공간과 에너지를 잇는 길 위에서, </a:t>
            </a:r>
            <a:pPr algn="l" indent="0" marL="0">
              <a:buNone/>
            </a:pPr>
            <a:r>
              <a:rPr lang="ko-KR" altLang="en-US" sz="1100" spc="-2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1100" spc="-2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로 더 나은 삶을 만듭니다”</a:t>
            </a:r>
            <a:endParaRPr lang="en-US" sz="1100" dirty="0"/>
          </a:p>
        </p:txBody>
      </p:sp>
      <p:sp>
        <p:nvSpPr>
          <p:cNvPr id="63" name="우리"/>
          <p:cNvSpPr txBox="1"/>
          <p:nvPr/>
        </p:nvSpPr>
        <p:spPr>
          <a:xfrm>
            <a:off x="812800" y="2290564"/>
            <a:ext cx="605631" cy="387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600" spc="-104" kern="0" dirty="0">
                <a:solidFill>
                  <a:srgbClr val="00A94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</a:t>
            </a:r>
            <a:endParaRPr lang="en-US" sz="2600" dirty="0"/>
          </a:p>
        </p:txBody>
      </p:sp>
      <p:sp>
        <p:nvSpPr>
          <p:cNvPr id="64" name="사람과 전문성의 연결"/>
          <p:cNvSpPr txBox="1"/>
          <p:nvPr/>
        </p:nvSpPr>
        <p:spPr>
          <a:xfrm>
            <a:off x="1862931" y="2377579"/>
            <a:ext cx="1513423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사람과 전문성의 연결</a:t>
            </a:r>
            <a:endParaRPr lang="en-US" sz="1400" dirty="0"/>
          </a:p>
        </p:txBody>
      </p:sp>
      <p:sp>
        <p:nvSpPr>
          <p:cNvPr id="65" name="PEOPLE"/>
          <p:cNvSpPr txBox="1"/>
          <p:nvPr/>
        </p:nvSpPr>
        <p:spPr>
          <a:xfrm>
            <a:off x="4907855" y="2412603"/>
            <a:ext cx="68014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00A94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PEOPLE</a:t>
            </a:r>
            <a:endParaRPr lang="en-US" sz="950" dirty="0"/>
          </a:p>
        </p:txBody>
      </p:sp>
      <p:sp>
        <p:nvSpPr>
          <p:cNvPr id="66" name="설계"/>
          <p:cNvSpPr txBox="1"/>
          <p:nvPr/>
        </p:nvSpPr>
        <p:spPr>
          <a:xfrm>
            <a:off x="3115518" y="285601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설계</a:t>
            </a:r>
            <a:endParaRPr lang="en-US" sz="1100" dirty="0"/>
          </a:p>
        </p:txBody>
      </p:sp>
      <p:sp>
        <p:nvSpPr>
          <p:cNvPr id="67" name="시공"/>
          <p:cNvSpPr txBox="1"/>
          <p:nvPr/>
        </p:nvSpPr>
        <p:spPr>
          <a:xfrm>
            <a:off x="4927154" y="354935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시공</a:t>
            </a:r>
            <a:endParaRPr lang="en-US" sz="1100" dirty="0"/>
          </a:p>
        </p:txBody>
      </p:sp>
      <p:sp>
        <p:nvSpPr>
          <p:cNvPr id="68" name="품질"/>
          <p:cNvSpPr txBox="1"/>
          <p:nvPr/>
        </p:nvSpPr>
        <p:spPr>
          <a:xfrm>
            <a:off x="4235004" y="467082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품질</a:t>
            </a:r>
            <a:endParaRPr lang="en-US" sz="1100" dirty="0"/>
          </a:p>
        </p:txBody>
      </p:sp>
      <p:sp>
        <p:nvSpPr>
          <p:cNvPr id="69" name="안전"/>
          <p:cNvSpPr txBox="1"/>
          <p:nvPr/>
        </p:nvSpPr>
        <p:spPr>
          <a:xfrm>
            <a:off x="1995934" y="467082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안전</a:t>
            </a:r>
            <a:endParaRPr lang="en-US" sz="1100" dirty="0"/>
          </a:p>
        </p:txBody>
      </p:sp>
      <p:sp>
        <p:nvSpPr>
          <p:cNvPr id="70" name="협력업체"/>
          <p:cNvSpPr txBox="1"/>
          <p:nvPr/>
        </p:nvSpPr>
        <p:spPr>
          <a:xfrm>
            <a:off x="1180852" y="3549352"/>
            <a:ext cx="542627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협력업체</a:t>
            </a:r>
            <a:endParaRPr lang="en-US" sz="1100" dirty="0"/>
          </a:p>
        </p:txBody>
      </p:sp>
      <p:sp>
        <p:nvSpPr>
          <p:cNvPr id="71" name="하나의 목표"/>
          <p:cNvSpPr txBox="1"/>
          <p:nvPr/>
        </p:nvSpPr>
        <p:spPr>
          <a:xfrm>
            <a:off x="2888952" y="3645991"/>
            <a:ext cx="572095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00" spc="-9" kern="0" dirty="0">
                <a:solidFill>
                  <a:srgbClr val="00A94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목표</a:t>
            </a:r>
            <a:endParaRPr lang="en-US" sz="900" dirty="0"/>
          </a:p>
        </p:txBody>
      </p:sp>
      <p:sp>
        <p:nvSpPr>
          <p:cNvPr id="72" name="프로젝트"/>
          <p:cNvSpPr txBox="1"/>
          <p:nvPr/>
        </p:nvSpPr>
        <p:spPr>
          <a:xfrm>
            <a:off x="2829520" y="3818037"/>
            <a:ext cx="690959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500" spc="-6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프로젝트</a:t>
            </a:r>
            <a:endParaRPr lang="en-US" sz="1500" dirty="0"/>
          </a:p>
        </p:txBody>
      </p:sp>
      <p:sp>
        <p:nvSpPr>
          <p:cNvPr id="73" name="완수"/>
          <p:cNvSpPr txBox="1"/>
          <p:nvPr/>
        </p:nvSpPr>
        <p:spPr>
          <a:xfrm>
            <a:off x="2989560" y="4037112"/>
            <a:ext cx="37088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500" spc="-6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완수</a:t>
            </a:r>
            <a:endParaRPr lang="en-US" sz="1500" dirty="0"/>
          </a:p>
        </p:txBody>
      </p:sp>
      <p:sp>
        <p:nvSpPr>
          <p:cNvPr id="74" name="기술"/>
          <p:cNvSpPr txBox="1"/>
          <p:nvPr/>
        </p:nvSpPr>
        <p:spPr>
          <a:xfrm>
            <a:off x="6654800" y="2290564"/>
            <a:ext cx="605631" cy="387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600" spc="-10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</a:t>
            </a:r>
            <a:endParaRPr lang="en-US" sz="2600" dirty="0"/>
          </a:p>
        </p:txBody>
      </p:sp>
      <p:sp>
        <p:nvSpPr>
          <p:cNvPr id="75" name="현장 문제 해결에 활용"/>
          <p:cNvSpPr txBox="1"/>
          <p:nvPr/>
        </p:nvSpPr>
        <p:spPr>
          <a:xfrm>
            <a:off x="7704931" y="2377579"/>
            <a:ext cx="1549287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 문제 해결에 활용</a:t>
            </a:r>
            <a:endParaRPr lang="en-US" sz="1400" dirty="0"/>
          </a:p>
        </p:txBody>
      </p:sp>
      <p:sp>
        <p:nvSpPr>
          <p:cNvPr id="76" name="TECHNOLOGY"/>
          <p:cNvSpPr txBox="1"/>
          <p:nvPr/>
        </p:nvSpPr>
        <p:spPr>
          <a:xfrm>
            <a:off x="10294144" y="2412603"/>
            <a:ext cx="115016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TECHNOLOGY</a:t>
            </a:r>
            <a:endParaRPr lang="en-US" sz="950" dirty="0"/>
          </a:p>
        </p:txBody>
      </p:sp>
      <p:sp>
        <p:nvSpPr>
          <p:cNvPr id="77" name="AI"/>
          <p:cNvSpPr txBox="1"/>
          <p:nvPr/>
        </p:nvSpPr>
        <p:spPr>
          <a:xfrm>
            <a:off x="7100689" y="3249712"/>
            <a:ext cx="2003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AI</a:t>
            </a:r>
            <a:endParaRPr lang="en-US" sz="1100" dirty="0"/>
          </a:p>
        </p:txBody>
      </p:sp>
      <p:sp>
        <p:nvSpPr>
          <p:cNvPr id="78" name="BIM"/>
          <p:cNvSpPr txBox="1"/>
          <p:nvPr/>
        </p:nvSpPr>
        <p:spPr>
          <a:xfrm>
            <a:off x="7032427" y="3859312"/>
            <a:ext cx="336947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BIM</a:t>
            </a:r>
            <a:endParaRPr lang="en-US" sz="1100" dirty="0"/>
          </a:p>
        </p:txBody>
      </p:sp>
      <p:sp>
        <p:nvSpPr>
          <p:cNvPr id="79" name="데이터"/>
          <p:cNvSpPr txBox="1"/>
          <p:nvPr/>
        </p:nvSpPr>
        <p:spPr>
          <a:xfrm>
            <a:off x="6991052" y="4468912"/>
            <a:ext cx="4196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데이터</a:t>
            </a:r>
            <a:endParaRPr lang="en-US" sz="1100" dirty="0"/>
          </a:p>
        </p:txBody>
      </p:sp>
      <p:sp>
        <p:nvSpPr>
          <p:cNvPr id="80" name="현장의"/>
          <p:cNvSpPr txBox="1"/>
          <p:nvPr/>
        </p:nvSpPr>
        <p:spPr>
          <a:xfrm>
            <a:off x="8751491" y="3735189"/>
            <a:ext cx="5309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500" spc="-6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현장의</a:t>
            </a:r>
            <a:endParaRPr lang="en-US" sz="1500" dirty="0"/>
          </a:p>
        </p:txBody>
      </p:sp>
      <p:sp>
        <p:nvSpPr>
          <p:cNvPr id="81" name="문제"/>
          <p:cNvSpPr txBox="1"/>
          <p:nvPr/>
        </p:nvSpPr>
        <p:spPr>
          <a:xfrm>
            <a:off x="8831461" y="3954264"/>
            <a:ext cx="37088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500" spc="-6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</a:t>
            </a:r>
            <a:endParaRPr lang="en-US" sz="1500" dirty="0"/>
          </a:p>
        </p:txBody>
      </p:sp>
      <p:sp>
        <p:nvSpPr>
          <p:cNvPr id="82" name="공정"/>
          <p:cNvSpPr txBox="1"/>
          <p:nvPr/>
        </p:nvSpPr>
        <p:spPr>
          <a:xfrm>
            <a:off x="10862469" y="302111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공정</a:t>
            </a:r>
            <a:endParaRPr lang="en-US" sz="1100" dirty="0"/>
          </a:p>
        </p:txBody>
      </p:sp>
      <p:sp>
        <p:nvSpPr>
          <p:cNvPr id="83" name="품질"/>
          <p:cNvSpPr txBox="1"/>
          <p:nvPr/>
        </p:nvSpPr>
        <p:spPr>
          <a:xfrm>
            <a:off x="10862469" y="357991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품질</a:t>
            </a:r>
            <a:endParaRPr lang="en-US" sz="1100" dirty="0"/>
          </a:p>
        </p:txBody>
      </p:sp>
      <p:sp>
        <p:nvSpPr>
          <p:cNvPr id="84" name="안전"/>
          <p:cNvSpPr txBox="1"/>
          <p:nvPr/>
        </p:nvSpPr>
        <p:spPr>
          <a:xfrm>
            <a:off x="10862469" y="413871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안전</a:t>
            </a:r>
            <a:endParaRPr lang="en-US" sz="1100" dirty="0"/>
          </a:p>
        </p:txBody>
      </p:sp>
      <p:sp>
        <p:nvSpPr>
          <p:cNvPr id="85" name="생산성"/>
          <p:cNvSpPr txBox="1"/>
          <p:nvPr/>
        </p:nvSpPr>
        <p:spPr>
          <a:xfrm>
            <a:off x="10801052" y="4697512"/>
            <a:ext cx="4196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생산성</a:t>
            </a:r>
            <a:endParaRPr lang="en-US" sz="1100" dirty="0"/>
          </a:p>
        </p:txBody>
      </p:sp>
      <p:sp>
        <p:nvSpPr>
          <p:cNvPr id="86" name="‘우리’의 ‘기술’"/>
          <p:cNvSpPr txBox="1"/>
          <p:nvPr/>
        </p:nvSpPr>
        <p:spPr>
          <a:xfrm>
            <a:off x="1308100" y="5942707"/>
            <a:ext cx="86548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11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‘우리’의 ‘기술’</a:t>
            </a:r>
            <a:endParaRPr lang="en-US" sz="1100" dirty="0"/>
          </a:p>
        </p:txBody>
      </p:sp>
      <p:sp>
        <p:nvSpPr>
          <p:cNvPr id="87" name="사람과 전문성을 하나의 목표로, 기술을 현장의 가치로 연결하는 것"/>
          <p:cNvSpPr txBox="1"/>
          <p:nvPr/>
        </p:nvSpPr>
        <p:spPr>
          <a:xfrm>
            <a:off x="2300585" y="5903714"/>
            <a:ext cx="565709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사람과 전문성을 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목표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로, 기술을 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가치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 연결하는 것</a:t>
            </a:r>
            <a:endParaRPr lang="en-US" sz="1700" dirty="0"/>
          </a:p>
        </p:txBody>
      </p:sp>
      <p:sp>
        <p:nvSpPr>
          <p:cNvPr id="88" name="2026년 하반기 신입사원 공개채용"/>
          <p:cNvSpPr txBox="1"/>
          <p:nvPr/>
        </p:nvSpPr>
        <p:spPr>
          <a:xfrm>
            <a:off x="609600" y="6425605"/>
            <a:ext cx="165950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900" dirty="0"/>
          </a:p>
        </p:txBody>
      </p:sp>
      <p:sp>
        <p:nvSpPr>
          <p:cNvPr id="89" name="02 / 03"/>
          <p:cNvSpPr txBox="1"/>
          <p:nvPr/>
        </p:nvSpPr>
        <p:spPr>
          <a:xfrm>
            <a:off x="11135916" y="6425605"/>
            <a:ext cx="497284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02</a:t>
            </a:r>
            <a:pPr algn="l" indent="0" marL="0">
              <a:buNone/>
            </a:pPr>
            <a:r>
              <a:rPr lang="ko-KR" altLang="en-US" sz="900" spc="54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7252" y="440002"/>
            <a:ext cx="1392767" cy="198967"/>
          </a:xfrm>
          <a:prstGeom prst="rect">
            <a:avLst/>
          </a:prstGeom>
        </p:spPr>
      </p:pic>
      <p:pic>
        <p:nvPicPr>
          <p:cNvPr id="8" name="svg" descr="sv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3817" y="2347714"/>
            <a:ext cx="8020050" cy="2683933"/>
          </a:xfrm>
          <a:prstGeom prst="rect">
            <a:avLst/>
          </a:prstGeom>
        </p:spPr>
      </p:pic>
      <p:sp>
        <p:nvSpPr>
          <p:cNvPr id="9" name="dot field"/>
          <p:cNvSpPr/>
          <p:nvPr/>
        </p:nvSpPr>
        <p:spPr>
          <a:xfrm>
            <a:off x="609600" y="1860947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10" name="a node ring n-field" descr="a node ring n-fiel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902281"/>
            <a:ext cx="1574800" cy="1574800"/>
          </a:xfrm>
          <a:prstGeom prst="rect">
            <a:avLst/>
          </a:prstGeom>
        </p:spPr>
      </p:pic>
      <p:pic>
        <p:nvPicPr>
          <p:cNvPr id="11" name="ic" descr="ic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6717" y="3447091"/>
            <a:ext cx="300567" cy="177800"/>
          </a:xfrm>
          <a:prstGeom prst="rect">
            <a:avLst/>
          </a:prstGeom>
        </p:spPr>
      </p:pic>
      <p:pic>
        <p:nvPicPr>
          <p:cNvPr id="12" name="li" descr="l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4724731"/>
            <a:ext cx="88900" cy="12700"/>
          </a:xfrm>
          <a:prstGeom prst="rect">
            <a:avLst/>
          </a:prstGeom>
        </p:spPr>
      </p:pic>
      <p:pic>
        <p:nvPicPr>
          <p:cNvPr id="13" name="li" descr="li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4966196"/>
            <a:ext cx="88900" cy="12700"/>
          </a:xfrm>
          <a:prstGeom prst="rect">
            <a:avLst/>
          </a:prstGeom>
        </p:spPr>
      </p:pic>
      <p:pic>
        <p:nvPicPr>
          <p:cNvPr id="14" name="a node ring joint" descr="a node ring join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28900" y="3473781"/>
            <a:ext cx="431800" cy="431800"/>
          </a:xfrm>
          <a:prstGeom prst="rect">
            <a:avLst/>
          </a:prstGeom>
        </p:spPr>
      </p:pic>
      <p:pic>
        <p:nvPicPr>
          <p:cNvPr id="15" name="svg" descr="sv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0717" y="3615597"/>
            <a:ext cx="148167" cy="148167"/>
          </a:xfrm>
          <a:prstGeom prst="rect">
            <a:avLst/>
          </a:prstGeom>
        </p:spPr>
      </p:pic>
      <p:sp>
        <p:nvSpPr>
          <p:cNvPr id="16" name="a ms"/>
          <p:cNvSpPr/>
          <p:nvPr/>
        </p:nvSpPr>
        <p:spPr>
          <a:xfrm>
            <a:off x="2476202" y="3998714"/>
            <a:ext cx="737195" cy="266700"/>
          </a:xfrm>
          <a:prstGeom prst="roundRect">
            <a:avLst>
              <a:gd name="adj" fmla="val 50000"/>
            </a:avLst>
          </a:prstGeom>
          <a:solidFill>
            <a:srgbClr val="E9F6FD"/>
          </a:solidFill>
          <a:ln/>
        </p:spPr>
      </p:sp>
      <p:sp>
        <p:nvSpPr>
          <p:cNvPr id="17" name="dot people"/>
          <p:cNvSpPr/>
          <p:nvPr/>
        </p:nvSpPr>
        <p:spPr>
          <a:xfrm>
            <a:off x="4178300" y="1860947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18" name="li" descr="li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78300" y="2394777"/>
            <a:ext cx="88900" cy="12700"/>
          </a:xfrm>
          <a:prstGeom prst="rect">
            <a:avLst/>
          </a:prstGeom>
        </p:spPr>
      </p:pic>
      <p:pic>
        <p:nvPicPr>
          <p:cNvPr id="19" name="li" descr="li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78300" y="2636242"/>
            <a:ext cx="88900" cy="12700"/>
          </a:xfrm>
          <a:prstGeom prst="rect">
            <a:avLst/>
          </a:prstGeom>
        </p:spPr>
      </p:pic>
      <p:sp>
        <p:nvSpPr>
          <p:cNvPr id="20" name="a node n-ppl"/>
          <p:cNvSpPr/>
          <p:nvPr/>
        </p:nvSpPr>
        <p:spPr>
          <a:xfrm>
            <a:off x="4187825" y="2852539"/>
            <a:ext cx="615950" cy="615950"/>
          </a:xfrm>
          <a:prstGeom prst="ellipse">
            <a:avLst/>
          </a:prstGeom>
          <a:solidFill>
            <a:srgbClr val="E5F6EC"/>
          </a:solidFill>
          <a:ln w="19050">
            <a:solidFill>
              <a:srgbClr val="00A94F"/>
            </a:solidFill>
            <a:prstDash val="solid"/>
          </a:ln>
        </p:spPr>
      </p:sp>
      <p:pic>
        <p:nvPicPr>
          <p:cNvPr id="21" name="ic" descr="ic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15367" y="2998821"/>
            <a:ext cx="160867" cy="129117"/>
          </a:xfrm>
          <a:prstGeom prst="rect">
            <a:avLst/>
          </a:prstGeom>
        </p:spPr>
      </p:pic>
      <p:sp>
        <p:nvSpPr>
          <p:cNvPr id="22" name="a chip ghost gh"/>
          <p:cNvSpPr/>
          <p:nvPr/>
        </p:nvSpPr>
        <p:spPr>
          <a:xfrm>
            <a:off x="6323707" y="2836664"/>
            <a:ext cx="629543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23" name="a plus"/>
          <p:cNvSpPr/>
          <p:nvPr/>
        </p:nvSpPr>
        <p:spPr>
          <a:xfrm>
            <a:off x="5772150" y="3541514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3CEDD"/>
            </a:solidFill>
            <a:prstDash val="solid"/>
          </a:ln>
        </p:spPr>
      </p:sp>
      <p:pic>
        <p:nvPicPr>
          <p:cNvPr id="24" name="svg" descr="sv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65283" y="3636764"/>
            <a:ext cx="105833" cy="105833"/>
          </a:xfrm>
          <a:prstGeom prst="rect">
            <a:avLst/>
          </a:prstGeom>
        </p:spPr>
      </p:pic>
      <p:sp>
        <p:nvSpPr>
          <p:cNvPr id="25" name="a node n-tch"/>
          <p:cNvSpPr/>
          <p:nvPr/>
        </p:nvSpPr>
        <p:spPr>
          <a:xfrm>
            <a:off x="4187825" y="3906639"/>
            <a:ext cx="615950" cy="615950"/>
          </a:xfrm>
          <a:prstGeom prst="ellipse">
            <a:avLst/>
          </a:prstGeom>
          <a:solidFill>
            <a:srgbClr val="EEF4FC"/>
          </a:solidFill>
          <a:ln w="19050">
            <a:solidFill>
              <a:srgbClr val="004B8D"/>
            </a:solidFill>
            <a:prstDash val="solid"/>
          </a:ln>
        </p:spPr>
      </p:sp>
      <p:pic>
        <p:nvPicPr>
          <p:cNvPr id="26" name="ic" descr="ic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21717" y="4033871"/>
            <a:ext cx="148167" cy="160867"/>
          </a:xfrm>
          <a:prstGeom prst="rect">
            <a:avLst/>
          </a:prstGeom>
        </p:spPr>
      </p:pic>
      <p:sp>
        <p:nvSpPr>
          <p:cNvPr id="27" name="a chip ghost gh"/>
          <p:cNvSpPr/>
          <p:nvPr/>
        </p:nvSpPr>
        <p:spPr>
          <a:xfrm>
            <a:off x="5996781" y="4309864"/>
            <a:ext cx="956469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28" name="dot tech"/>
          <p:cNvSpPr/>
          <p:nvPr/>
        </p:nvSpPr>
        <p:spPr>
          <a:xfrm>
            <a:off x="4178300" y="4667647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29" name="li" descr="li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78300" y="5201477"/>
            <a:ext cx="88900" cy="12700"/>
          </a:xfrm>
          <a:prstGeom prst="rect">
            <a:avLst/>
          </a:prstGeom>
        </p:spPr>
      </p:pic>
      <p:pic>
        <p:nvPicPr>
          <p:cNvPr id="30" name="li" descr="li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178300" y="5442942"/>
            <a:ext cx="88900" cy="12700"/>
          </a:xfrm>
          <a:prstGeom prst="rect">
            <a:avLst/>
          </a:prstGeom>
        </p:spPr>
      </p:pic>
      <p:sp>
        <p:nvSpPr>
          <p:cNvPr id="31" name="dot field"/>
          <p:cNvSpPr/>
          <p:nvPr/>
        </p:nvSpPr>
        <p:spPr>
          <a:xfrm>
            <a:off x="8089900" y="1860947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32" name="a node ring solid n-imp" descr="a node ring solid n-imp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89900" y="2876881"/>
            <a:ext cx="1625600" cy="1625600"/>
          </a:xfrm>
          <a:prstGeom prst="rect">
            <a:avLst/>
          </a:prstGeom>
        </p:spPr>
      </p:pic>
      <p:pic>
        <p:nvPicPr>
          <p:cNvPr id="33" name="ic" descr="ic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65117" y="3434391"/>
            <a:ext cx="275167" cy="165100"/>
          </a:xfrm>
          <a:prstGeom prst="rect">
            <a:avLst/>
          </a:prstGeom>
        </p:spPr>
      </p:pic>
      <p:sp>
        <p:nvSpPr>
          <p:cNvPr id="34" name="a ms"/>
          <p:cNvSpPr/>
          <p:nvPr/>
        </p:nvSpPr>
        <p:spPr>
          <a:xfrm>
            <a:off x="8534102" y="4532114"/>
            <a:ext cx="737195" cy="266700"/>
          </a:xfrm>
          <a:prstGeom prst="roundRect">
            <a:avLst>
              <a:gd name="adj" fmla="val 50000"/>
            </a:avLst>
          </a:prstGeom>
          <a:solidFill>
            <a:srgbClr val="E9F6FD"/>
          </a:solidFill>
          <a:ln/>
        </p:spPr>
      </p:sp>
      <p:sp>
        <p:nvSpPr>
          <p:cNvPr id="35" name="a chip field oc"/>
          <p:cNvSpPr/>
          <p:nvPr/>
        </p:nvSpPr>
        <p:spPr>
          <a:xfrm>
            <a:off x="10185400" y="2163564"/>
            <a:ext cx="1397000" cy="3810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6" name="dot field"/>
          <p:cNvSpPr/>
          <p:nvPr/>
        </p:nvSpPr>
        <p:spPr>
          <a:xfrm>
            <a:off x="10325100" y="2309614"/>
            <a:ext cx="88900" cy="889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7" name="a chip field oc"/>
          <p:cNvSpPr/>
          <p:nvPr/>
        </p:nvSpPr>
        <p:spPr>
          <a:xfrm>
            <a:off x="10185400" y="3052564"/>
            <a:ext cx="1397000" cy="3810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8" name="dot field"/>
          <p:cNvSpPr/>
          <p:nvPr/>
        </p:nvSpPr>
        <p:spPr>
          <a:xfrm>
            <a:off x="10325100" y="3198614"/>
            <a:ext cx="88900" cy="889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9" name="a chip field oc"/>
          <p:cNvSpPr/>
          <p:nvPr/>
        </p:nvSpPr>
        <p:spPr>
          <a:xfrm>
            <a:off x="10185400" y="3941564"/>
            <a:ext cx="1397000" cy="3810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0" name="dot field"/>
          <p:cNvSpPr/>
          <p:nvPr/>
        </p:nvSpPr>
        <p:spPr>
          <a:xfrm>
            <a:off x="10325100" y="4087614"/>
            <a:ext cx="88900" cy="889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1" name="a chip field oc"/>
          <p:cNvSpPr/>
          <p:nvPr/>
        </p:nvSpPr>
        <p:spPr>
          <a:xfrm>
            <a:off x="10185400" y="4830564"/>
            <a:ext cx="1397000" cy="3810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2" name="dot field"/>
          <p:cNvSpPr/>
          <p:nvPr/>
        </p:nvSpPr>
        <p:spPr>
          <a:xfrm>
            <a:off x="10325100" y="4976614"/>
            <a:ext cx="88900" cy="889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3" name="key"/>
          <p:cNvSpPr/>
          <p:nvPr/>
        </p:nvSpPr>
        <p:spPr>
          <a:xfrm>
            <a:off x="609600" y="5738614"/>
            <a:ext cx="10972800" cy="610791"/>
          </a:xfrm>
          <a:prstGeom prst="roundRect">
            <a:avLst>
              <a:gd name="adj" fmla="val 22872"/>
            </a:avLst>
          </a:prstGeom>
          <a:solidFill>
            <a:srgbClr val="0B2147"/>
          </a:solidFill>
          <a:ln/>
        </p:spPr>
      </p:sp>
      <p:sp>
        <p:nvSpPr>
          <p:cNvPr id="44" name="i"/>
          <p:cNvSpPr/>
          <p:nvPr/>
        </p:nvSpPr>
        <p:spPr>
          <a:xfrm>
            <a:off x="863600" y="6012160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5" name="b"/>
          <p:cNvSpPr/>
          <p:nvPr/>
        </p:nvSpPr>
        <p:spPr>
          <a:xfrm>
            <a:off x="927100" y="60375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6" name="i"/>
          <p:cNvSpPr/>
          <p:nvPr/>
        </p:nvSpPr>
        <p:spPr>
          <a:xfrm>
            <a:off x="1016000" y="6012160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47" name="b"/>
          <p:cNvSpPr/>
          <p:nvPr/>
        </p:nvSpPr>
        <p:spPr>
          <a:xfrm>
            <a:off x="1079500" y="60375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8" name="i"/>
          <p:cNvSpPr/>
          <p:nvPr/>
        </p:nvSpPr>
        <p:spPr>
          <a:xfrm>
            <a:off x="1168400" y="6012160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9" name="03"/>
          <p:cNvSpPr txBox="1"/>
          <p:nvPr/>
        </p:nvSpPr>
        <p:spPr>
          <a:xfrm>
            <a:off x="1066800" y="419100"/>
            <a:ext cx="24268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03</a:t>
            </a:r>
            <a:endParaRPr lang="en-US" sz="1100" dirty="0"/>
          </a:p>
        </p:txBody>
      </p:sp>
      <p:sp>
        <p:nvSpPr>
          <p:cNvPr id="50" name="PT 주제 2 · 입사 후 실천"/>
          <p:cNvSpPr txBox="1"/>
          <p:nvPr/>
        </p:nvSpPr>
        <p:spPr>
          <a:xfrm>
            <a:off x="1347589" y="419100"/>
            <a:ext cx="141897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2 · 입사 후 실천</a:t>
            </a:r>
            <a:endParaRPr lang="en-US" sz="1100" dirty="0"/>
          </a:p>
        </p:txBody>
      </p:sp>
      <p:sp>
        <p:nvSpPr>
          <p:cNvPr id="51" name="입사 후"/>
          <p:cNvSpPr txBox="1"/>
          <p:nvPr/>
        </p:nvSpPr>
        <p:spPr>
          <a:xfrm>
            <a:off x="609600" y="774005"/>
            <a:ext cx="615752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입사 후</a:t>
            </a:r>
            <a:endParaRPr lang="en-US" sz="1600" dirty="0"/>
          </a:p>
        </p:txBody>
      </p:sp>
      <p:sp>
        <p:nvSpPr>
          <p:cNvPr id="52" name="기술을 실질적인 현장 개선으로 연결하는 공사관리자가 되겠습니다"/>
          <p:cNvSpPr txBox="1"/>
          <p:nvPr/>
        </p:nvSpPr>
        <p:spPr>
          <a:xfrm>
            <a:off x="609600" y="1100336"/>
            <a:ext cx="9336844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기술을 실질적인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 개선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으로 연결하는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공사관리자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가 되겠습니다</a:t>
            </a:r>
            <a:endParaRPr lang="en-US" sz="2800" dirty="0"/>
          </a:p>
        </p:txBody>
      </p:sp>
      <p:sp>
        <p:nvSpPr>
          <p:cNvPr id="53" name="STEP 01"/>
          <p:cNvSpPr txBox="1"/>
          <p:nvPr/>
        </p:nvSpPr>
        <p:spPr>
          <a:xfrm>
            <a:off x="736600" y="1814314"/>
            <a:ext cx="6451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STEP 01</a:t>
            </a:r>
            <a:endParaRPr lang="en-US" sz="950" dirty="0"/>
          </a:p>
        </p:txBody>
      </p:sp>
      <p:sp>
        <p:nvSpPr>
          <p:cNvPr id="54" name="FIELD"/>
          <p:cNvSpPr txBox="1"/>
          <p:nvPr/>
        </p:nvSpPr>
        <p:spPr>
          <a:xfrm>
            <a:off x="1394420" y="1814314"/>
            <a:ext cx="51633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FIELD</a:t>
            </a:r>
            <a:endParaRPr lang="en-US" sz="950" dirty="0"/>
          </a:p>
        </p:txBody>
      </p:sp>
      <p:sp>
        <p:nvSpPr>
          <p:cNvPr id="55" name="현장을 이해한다"/>
          <p:cNvSpPr txBox="1"/>
          <p:nvPr/>
        </p:nvSpPr>
        <p:spPr>
          <a:xfrm>
            <a:off x="609600" y="2015530"/>
            <a:ext cx="115720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현장을 이해한다</a:t>
            </a:r>
            <a:endParaRPr lang="en-US" sz="1400" dirty="0"/>
          </a:p>
        </p:txBody>
      </p:sp>
      <p:sp>
        <p:nvSpPr>
          <p:cNvPr id="56" name="현장"/>
          <p:cNvSpPr txBox="1"/>
          <p:nvPr/>
        </p:nvSpPr>
        <p:spPr>
          <a:xfrm>
            <a:off x="1134070" y="3718024"/>
            <a:ext cx="525859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spc="-6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</a:t>
            </a:r>
            <a:endParaRPr lang="en-US" sz="2200" dirty="0"/>
          </a:p>
        </p:txBody>
      </p:sp>
      <p:sp>
        <p:nvSpPr>
          <p:cNvPr id="57" name="공정 · 품질 · 안전"/>
          <p:cNvSpPr txBox="1"/>
          <p:nvPr/>
        </p:nvSpPr>
        <p:spPr>
          <a:xfrm>
            <a:off x="774700" y="4633714"/>
            <a:ext cx="11441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공정 · 품질 · 안전</a:t>
            </a:r>
            <a:endParaRPr lang="en-US" sz="1300" dirty="0"/>
          </a:p>
        </p:txBody>
      </p:sp>
      <p:sp>
        <p:nvSpPr>
          <p:cNvPr id="58" name="시공관리 기본기"/>
          <p:cNvSpPr txBox="1"/>
          <p:nvPr/>
        </p:nvSpPr>
        <p:spPr>
          <a:xfrm>
            <a:off x="774700" y="4870946"/>
            <a:ext cx="1088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시공관리 기본기</a:t>
            </a:r>
            <a:endParaRPr lang="en-US" sz="1300" dirty="0"/>
          </a:p>
        </p:txBody>
      </p:sp>
      <p:sp>
        <p:nvSpPr>
          <p:cNvPr id="59" name="문제 발견"/>
          <p:cNvSpPr txBox="1"/>
          <p:nvPr/>
        </p:nvSpPr>
        <p:spPr>
          <a:xfrm>
            <a:off x="2590502" y="4043462"/>
            <a:ext cx="5593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 발견</a:t>
            </a:r>
            <a:endParaRPr lang="en-US" sz="1100" dirty="0"/>
          </a:p>
        </p:txBody>
      </p:sp>
      <p:sp>
        <p:nvSpPr>
          <p:cNvPr id="60" name="STEP 02"/>
          <p:cNvSpPr txBox="1"/>
          <p:nvPr/>
        </p:nvSpPr>
        <p:spPr>
          <a:xfrm>
            <a:off x="4305300" y="1814314"/>
            <a:ext cx="6451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STEP 02</a:t>
            </a:r>
            <a:endParaRPr lang="en-US" sz="950" dirty="0"/>
          </a:p>
        </p:txBody>
      </p:sp>
      <p:sp>
        <p:nvSpPr>
          <p:cNvPr id="61" name="PEOPLE"/>
          <p:cNvSpPr txBox="1"/>
          <p:nvPr/>
        </p:nvSpPr>
        <p:spPr>
          <a:xfrm>
            <a:off x="4963120" y="1814314"/>
            <a:ext cx="68014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0073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PEOPLE</a:t>
            </a:r>
            <a:endParaRPr lang="en-US" sz="950" dirty="0"/>
          </a:p>
        </p:txBody>
      </p:sp>
      <p:sp>
        <p:nvSpPr>
          <p:cNvPr id="62" name="사람을 연결한다"/>
          <p:cNvSpPr txBox="1"/>
          <p:nvPr/>
        </p:nvSpPr>
        <p:spPr>
          <a:xfrm>
            <a:off x="4178300" y="2015530"/>
            <a:ext cx="115720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사람을 연결한다</a:t>
            </a:r>
            <a:endParaRPr lang="en-US" sz="1400" dirty="0"/>
          </a:p>
        </p:txBody>
      </p:sp>
      <p:sp>
        <p:nvSpPr>
          <p:cNvPr id="63" name="유관부서 · 협력업체 · 공종"/>
          <p:cNvSpPr txBox="1"/>
          <p:nvPr/>
        </p:nvSpPr>
        <p:spPr>
          <a:xfrm>
            <a:off x="4343400" y="2303760"/>
            <a:ext cx="17462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유관부서 · 협력업체 · 공종</a:t>
            </a:r>
            <a:endParaRPr lang="en-US" sz="1300" dirty="0"/>
          </a:p>
        </p:txBody>
      </p:sp>
      <p:sp>
        <p:nvSpPr>
          <p:cNvPr id="64" name="목표 · 진행상황 공유"/>
          <p:cNvSpPr txBox="1"/>
          <p:nvPr/>
        </p:nvSpPr>
        <p:spPr>
          <a:xfrm>
            <a:off x="4343400" y="2540992"/>
            <a:ext cx="135966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목표 · 진행상황 공유</a:t>
            </a:r>
            <a:endParaRPr lang="en-US" sz="1300" dirty="0"/>
          </a:p>
        </p:txBody>
      </p:sp>
      <p:sp>
        <p:nvSpPr>
          <p:cNvPr id="65" name="사람"/>
          <p:cNvSpPr txBox="1"/>
          <p:nvPr/>
        </p:nvSpPr>
        <p:spPr>
          <a:xfrm>
            <a:off x="4330005" y="3168154"/>
            <a:ext cx="3314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300" spc="-39" kern="0" dirty="0">
                <a:solidFill>
                  <a:srgbClr val="007336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</a:t>
            </a:r>
            <a:endParaRPr lang="en-US" sz="1300" dirty="0"/>
          </a:p>
        </p:txBody>
      </p:sp>
      <p:sp>
        <p:nvSpPr>
          <p:cNvPr id="66" name="01"/>
          <p:cNvSpPr txBox="1"/>
          <p:nvPr/>
        </p:nvSpPr>
        <p:spPr>
          <a:xfrm>
            <a:off x="6431657" y="2880816"/>
            <a:ext cx="21242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3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900" dirty="0"/>
          </a:p>
        </p:txBody>
      </p:sp>
      <p:sp>
        <p:nvSpPr>
          <p:cNvPr id="67" name="협업"/>
          <p:cNvSpPr txBox="1"/>
          <p:nvPr/>
        </p:nvSpPr>
        <p:spPr>
          <a:xfrm>
            <a:off x="6644084" y="2880816"/>
            <a:ext cx="252016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협업</a:t>
            </a:r>
            <a:endParaRPr lang="en-US" sz="900" dirty="0"/>
          </a:p>
        </p:txBody>
      </p:sp>
      <p:sp>
        <p:nvSpPr>
          <p:cNvPr id="68" name="기술"/>
          <p:cNvSpPr txBox="1"/>
          <p:nvPr/>
        </p:nvSpPr>
        <p:spPr>
          <a:xfrm>
            <a:off x="4330005" y="4222254"/>
            <a:ext cx="3314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300" spc="-39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</a:t>
            </a:r>
            <a:endParaRPr lang="en-US" sz="1300" dirty="0"/>
          </a:p>
        </p:txBody>
      </p:sp>
      <p:sp>
        <p:nvSpPr>
          <p:cNvPr id="69" name="02"/>
          <p:cNvSpPr txBox="1"/>
          <p:nvPr/>
        </p:nvSpPr>
        <p:spPr>
          <a:xfrm>
            <a:off x="6104731" y="4354016"/>
            <a:ext cx="21242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3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900" dirty="0"/>
          </a:p>
        </p:txBody>
      </p:sp>
      <p:sp>
        <p:nvSpPr>
          <p:cNvPr id="70" name="우리의 기술"/>
          <p:cNvSpPr txBox="1"/>
          <p:nvPr/>
        </p:nvSpPr>
        <p:spPr>
          <a:xfrm>
            <a:off x="6317159" y="4354016"/>
            <a:ext cx="578941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우리의 기술</a:t>
            </a:r>
            <a:endParaRPr lang="en-US" sz="900" dirty="0"/>
          </a:p>
        </p:txBody>
      </p:sp>
      <p:sp>
        <p:nvSpPr>
          <p:cNvPr id="71" name="STEP 03"/>
          <p:cNvSpPr txBox="1"/>
          <p:nvPr/>
        </p:nvSpPr>
        <p:spPr>
          <a:xfrm>
            <a:off x="4305300" y="4621014"/>
            <a:ext cx="6451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STEP 03</a:t>
            </a:r>
            <a:endParaRPr lang="en-US" sz="950" dirty="0"/>
          </a:p>
        </p:txBody>
      </p:sp>
      <p:sp>
        <p:nvSpPr>
          <p:cNvPr id="72" name="TECH"/>
          <p:cNvSpPr txBox="1"/>
          <p:nvPr/>
        </p:nvSpPr>
        <p:spPr>
          <a:xfrm>
            <a:off x="4963120" y="4621014"/>
            <a:ext cx="46940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TECH</a:t>
            </a:r>
            <a:endParaRPr lang="en-US" sz="950" dirty="0"/>
          </a:p>
        </p:txBody>
      </p:sp>
      <p:sp>
        <p:nvSpPr>
          <p:cNvPr id="73" name="기술을 연결한다"/>
          <p:cNvSpPr txBox="1"/>
          <p:nvPr/>
        </p:nvSpPr>
        <p:spPr>
          <a:xfrm>
            <a:off x="4178300" y="4822230"/>
            <a:ext cx="115720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기술을 연결한다</a:t>
            </a:r>
            <a:endParaRPr lang="en-US" sz="1400" dirty="0"/>
          </a:p>
        </p:txBody>
      </p:sp>
      <p:sp>
        <p:nvSpPr>
          <p:cNvPr id="74" name="BIM 간섭 · 시공성 사전 검토"/>
          <p:cNvSpPr txBox="1"/>
          <p:nvPr/>
        </p:nvSpPr>
        <p:spPr>
          <a:xfrm>
            <a:off x="4343400" y="5110460"/>
            <a:ext cx="19254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BIM 간섭 · 시공성 사전 검토</a:t>
            </a:r>
            <a:endParaRPr lang="en-US" sz="1300" dirty="0"/>
          </a:p>
        </p:txBody>
      </p:sp>
      <p:sp>
        <p:nvSpPr>
          <p:cNvPr id="75" name="AI 반복업무 효율화"/>
          <p:cNvSpPr txBox="1"/>
          <p:nvPr/>
        </p:nvSpPr>
        <p:spPr>
          <a:xfrm>
            <a:off x="4343400" y="5347692"/>
            <a:ext cx="13005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AI 반복업무 효율화</a:t>
            </a:r>
            <a:endParaRPr lang="en-US" sz="1300" dirty="0"/>
          </a:p>
        </p:txBody>
      </p:sp>
      <p:sp>
        <p:nvSpPr>
          <p:cNvPr id="76" name="STEP 04"/>
          <p:cNvSpPr txBox="1"/>
          <p:nvPr/>
        </p:nvSpPr>
        <p:spPr>
          <a:xfrm>
            <a:off x="8216900" y="1814314"/>
            <a:ext cx="6451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STEP 04</a:t>
            </a:r>
            <a:endParaRPr lang="en-US" sz="950" dirty="0"/>
          </a:p>
        </p:txBody>
      </p:sp>
      <p:sp>
        <p:nvSpPr>
          <p:cNvPr id="77" name="IMPROVE"/>
          <p:cNvSpPr txBox="1"/>
          <p:nvPr/>
        </p:nvSpPr>
        <p:spPr>
          <a:xfrm>
            <a:off x="8874720" y="1814314"/>
            <a:ext cx="78819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IMPROVE</a:t>
            </a:r>
            <a:endParaRPr lang="en-US" sz="950" dirty="0"/>
          </a:p>
        </p:txBody>
      </p:sp>
      <p:sp>
        <p:nvSpPr>
          <p:cNvPr id="78" name="현장의 변화를 만든다"/>
          <p:cNvSpPr txBox="1"/>
          <p:nvPr/>
        </p:nvSpPr>
        <p:spPr>
          <a:xfrm>
            <a:off x="8089900" y="2015530"/>
            <a:ext cx="1513423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현장의 변화를 만든다</a:t>
            </a:r>
            <a:endParaRPr lang="en-US" sz="1400" dirty="0"/>
          </a:p>
        </p:txBody>
      </p:sp>
      <p:sp>
        <p:nvSpPr>
          <p:cNvPr id="79" name="변화"/>
          <p:cNvSpPr txBox="1"/>
          <p:nvPr/>
        </p:nvSpPr>
        <p:spPr>
          <a:xfrm>
            <a:off x="8639770" y="3711674"/>
            <a:ext cx="525859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spc="-66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변화</a:t>
            </a:r>
            <a:endParaRPr lang="en-US" sz="2200" dirty="0"/>
          </a:p>
        </p:txBody>
      </p:sp>
      <p:sp>
        <p:nvSpPr>
          <p:cNvPr id="80" name="문제 해결"/>
          <p:cNvSpPr txBox="1"/>
          <p:nvPr/>
        </p:nvSpPr>
        <p:spPr>
          <a:xfrm>
            <a:off x="8648402" y="4576862"/>
            <a:ext cx="5593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 해결</a:t>
            </a:r>
            <a:endParaRPr lang="en-US" sz="1100" dirty="0"/>
          </a:p>
        </p:txBody>
      </p:sp>
      <p:sp>
        <p:nvSpPr>
          <p:cNvPr id="81" name="공정 개선"/>
          <p:cNvSpPr txBox="1"/>
          <p:nvPr/>
        </p:nvSpPr>
        <p:spPr>
          <a:xfrm>
            <a:off x="10502900" y="2253456"/>
            <a:ext cx="6518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공정</a:t>
            </a:r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300" dirty="0"/>
          </a:p>
        </p:txBody>
      </p:sp>
      <p:sp>
        <p:nvSpPr>
          <p:cNvPr id="82" name="품질 개선"/>
          <p:cNvSpPr txBox="1"/>
          <p:nvPr/>
        </p:nvSpPr>
        <p:spPr>
          <a:xfrm>
            <a:off x="10502900" y="3142456"/>
            <a:ext cx="6518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품질</a:t>
            </a:r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300" dirty="0"/>
          </a:p>
        </p:txBody>
      </p:sp>
      <p:sp>
        <p:nvSpPr>
          <p:cNvPr id="83" name="안전 개선"/>
          <p:cNvSpPr txBox="1"/>
          <p:nvPr/>
        </p:nvSpPr>
        <p:spPr>
          <a:xfrm>
            <a:off x="10502900" y="4031456"/>
            <a:ext cx="6518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안전</a:t>
            </a:r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300" dirty="0"/>
          </a:p>
        </p:txBody>
      </p:sp>
      <p:sp>
        <p:nvSpPr>
          <p:cNvPr id="84" name="생산성 개선"/>
          <p:cNvSpPr txBox="1"/>
          <p:nvPr/>
        </p:nvSpPr>
        <p:spPr>
          <a:xfrm>
            <a:off x="10502900" y="4920456"/>
            <a:ext cx="79384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생산성</a:t>
            </a:r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300" dirty="0"/>
          </a:p>
        </p:txBody>
      </p:sp>
      <p:sp>
        <p:nvSpPr>
          <p:cNvPr id="85" name="KEY MESSAGE"/>
          <p:cNvSpPr txBox="1"/>
          <p:nvPr/>
        </p:nvSpPr>
        <p:spPr>
          <a:xfrm>
            <a:off x="1308100" y="5969198"/>
            <a:ext cx="117182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KEY MESSAGE</a:t>
            </a:r>
            <a:endParaRPr lang="en-US" sz="950" dirty="0"/>
          </a:p>
        </p:txBody>
      </p:sp>
      <p:sp>
        <p:nvSpPr>
          <p:cNvPr id="86" name="사람 · 전문성 · 기술을 연결해 현장의 변화를 만들겠습니다"/>
          <p:cNvSpPr txBox="1"/>
          <p:nvPr/>
        </p:nvSpPr>
        <p:spPr>
          <a:xfrm>
            <a:off x="2591395" y="5916414"/>
            <a:ext cx="495580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 · 전문성 · 기술을 연결해 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변화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를 만들겠습니다</a:t>
            </a:r>
            <a:endParaRPr lang="en-US" sz="1700" dirty="0"/>
          </a:p>
        </p:txBody>
      </p:sp>
      <p:sp>
        <p:nvSpPr>
          <p:cNvPr id="87" name="2026년 하반기 신입사원 공개채용"/>
          <p:cNvSpPr txBox="1"/>
          <p:nvPr/>
        </p:nvSpPr>
        <p:spPr>
          <a:xfrm>
            <a:off x="609600" y="6425605"/>
            <a:ext cx="165950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900" dirty="0"/>
          </a:p>
        </p:txBody>
      </p:sp>
      <p:sp>
        <p:nvSpPr>
          <p:cNvPr id="88" name="03 / 03"/>
          <p:cNvSpPr txBox="1"/>
          <p:nvPr/>
        </p:nvSpPr>
        <p:spPr>
          <a:xfrm>
            <a:off x="11135916" y="6425605"/>
            <a:ext cx="497284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03</a:t>
            </a:r>
            <a:pPr algn="l" indent="0" marL="0">
              <a:buNone/>
            </a:pPr>
            <a:r>
              <a:rPr lang="ko-KR" altLang="en-US" sz="900" spc="54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aperlogy 8 ExtraBold"/>
        <a:ea typeface="Paperlogy 5 Medium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aperlogy 5 Medium"/>
        <a:ea typeface="Paperlogy 5 Medium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현대엔지니어링 PT · 가로형</dc:title>
  <dc:subject>PptxGenJS Presentation</dc:subject>
  <dc:creator>PptxGenJS</dc:creator>
  <cp:lastModifiedBy>PptxGenJS</cp:lastModifiedBy>
  <cp:revision>1</cp:revision>
  <dcterms:created xsi:type="dcterms:W3CDTF">2026-10-08T15:05:08Z</dcterms:created>
  <dcterms:modified xsi:type="dcterms:W3CDTF">2026-10-08T15:05:08Z</dcterms:modified>
</cp:coreProperties>
</file>