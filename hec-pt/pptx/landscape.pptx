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sp>
        <p:nvSpPr>
          <p:cNvPr id="8" name="p1-proj"/>
          <p:cNvSpPr/>
          <p:nvPr/>
        </p:nvSpPr>
        <p:spPr>
          <a:xfrm>
            <a:off x="615950" y="1820664"/>
            <a:ext cx="10960100" cy="1294011"/>
          </a:xfrm>
          <a:prstGeom prst="roundRect">
            <a:avLst>
              <a:gd name="adj" fmla="val 10305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9" name="chip tech"/>
          <p:cNvSpPr/>
          <p:nvPr/>
        </p:nvSpPr>
        <p:spPr>
          <a:xfrm>
            <a:off x="1663898" y="1941314"/>
            <a:ext cx="1115020" cy="2159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10" name="chip people"/>
          <p:cNvSpPr/>
          <p:nvPr/>
        </p:nvSpPr>
        <p:spPr>
          <a:xfrm>
            <a:off x="2842419" y="1941314"/>
            <a:ext cx="1131689" cy="2159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1" name="i"/>
          <p:cNvSpPr/>
          <p:nvPr/>
        </p:nvSpPr>
        <p:spPr>
          <a:xfrm>
            <a:off x="2931319" y="2023864"/>
            <a:ext cx="50800" cy="508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2" name="i"/>
          <p:cNvSpPr/>
          <p:nvPr/>
        </p:nvSpPr>
        <p:spPr>
          <a:xfrm>
            <a:off x="3007519" y="2023864"/>
            <a:ext cx="50800" cy="508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3" name="i"/>
          <p:cNvSpPr/>
          <p:nvPr/>
        </p:nvSpPr>
        <p:spPr>
          <a:xfrm>
            <a:off x="3083719" y="2023864"/>
            <a:ext cx="50800" cy="508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4" name="i"/>
          <p:cNvSpPr/>
          <p:nvPr/>
        </p:nvSpPr>
        <p:spPr>
          <a:xfrm>
            <a:off x="3159919" y="2023864"/>
            <a:ext cx="50800" cy="508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5" name="p1-sep"/>
          <p:cNvSpPr/>
          <p:nvPr/>
        </p:nvSpPr>
        <p:spPr>
          <a:xfrm>
            <a:off x="5930900" y="1941314"/>
            <a:ext cx="12700" cy="1040011"/>
          </a:xfrm>
          <a:prstGeom prst="rect">
            <a:avLst/>
          </a:prstGeom>
          <a:solidFill>
            <a:srgbClr val="D8E0EB"/>
          </a:solidFill>
          <a:ln/>
        </p:spPr>
      </p:sp>
      <p:pic>
        <p:nvPicPr>
          <p:cNvPr id="16" name="p1-flow-line" descr="p1-flow-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2053497"/>
            <a:ext cx="3810000" cy="135467"/>
          </a:xfrm>
          <a:prstGeom prst="rect">
            <a:avLst/>
          </a:prstGeom>
        </p:spPr>
      </p:pic>
      <p:pic>
        <p:nvPicPr>
          <p:cNvPr id="17" name="ring" descr="r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950" y="1943431"/>
            <a:ext cx="357717" cy="355600"/>
          </a:xfrm>
          <a:prstGeom prst="rect">
            <a:avLst/>
          </a:prstGeom>
        </p:spPr>
      </p:pic>
      <p:pic>
        <p:nvPicPr>
          <p:cNvPr id="18" name="svg" descr="sv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1900" y="2051381"/>
            <a:ext cx="141817" cy="139700"/>
          </a:xfrm>
          <a:prstGeom prst="rect">
            <a:avLst/>
          </a:prstGeom>
        </p:spPr>
      </p:pic>
      <p:pic>
        <p:nvPicPr>
          <p:cNvPr id="19" name="ring" descr="r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3383" y="1943431"/>
            <a:ext cx="357717" cy="355600"/>
          </a:xfrm>
          <a:prstGeom prst="rect">
            <a:avLst/>
          </a:prstGeom>
        </p:spPr>
      </p:pic>
      <p:pic>
        <p:nvPicPr>
          <p:cNvPr id="20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1333" y="2051381"/>
            <a:ext cx="141817" cy="139700"/>
          </a:xfrm>
          <a:prstGeom prst="rect">
            <a:avLst/>
          </a:prstGeom>
        </p:spPr>
      </p:pic>
      <p:pic>
        <p:nvPicPr>
          <p:cNvPr id="21" name="ring solid" descr="ring soli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13950" y="1943431"/>
            <a:ext cx="357717" cy="355600"/>
          </a:xfrm>
          <a:prstGeom prst="rect">
            <a:avLst/>
          </a:prstGeom>
        </p:spPr>
      </p:pic>
      <p:pic>
        <p:nvPicPr>
          <p:cNvPr id="22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28250" y="2057731"/>
            <a:ext cx="129117" cy="127000"/>
          </a:xfrm>
          <a:prstGeom prst="rect">
            <a:avLst/>
          </a:prstGeom>
        </p:spPr>
      </p:pic>
      <p:sp>
        <p:nvSpPr>
          <p:cNvPr id="23" name="p1-out"/>
          <p:cNvSpPr/>
          <p:nvPr/>
        </p:nvSpPr>
        <p:spPr>
          <a:xfrm>
            <a:off x="6146800" y="2701925"/>
            <a:ext cx="4600773" cy="2794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pic>
        <p:nvPicPr>
          <p:cNvPr id="24" name="svg" descr="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37817" y="2776008"/>
            <a:ext cx="135467" cy="135467"/>
          </a:xfrm>
          <a:prstGeom prst="rect">
            <a:avLst/>
          </a:prstGeom>
        </p:spPr>
      </p:pic>
      <p:sp>
        <p:nvSpPr>
          <p:cNvPr id="25" name="i"/>
          <p:cNvSpPr/>
          <p:nvPr/>
        </p:nvSpPr>
        <p:spPr>
          <a:xfrm>
            <a:off x="6888262" y="2784475"/>
            <a:ext cx="12700" cy="114300"/>
          </a:xfrm>
          <a:prstGeom prst="rect">
            <a:avLst/>
          </a:prstGeom>
          <a:solidFill>
            <a:srgbClr val="8A5A00">
              <a:alpha val="30000"/>
            </a:srgbClr>
          </a:solidFill>
          <a:ln/>
        </p:spPr>
      </p:sp>
      <p:pic>
        <p:nvPicPr>
          <p:cNvPr id="26" name="p1-path-line" descr="p1-path-lin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5367" y="3078692"/>
            <a:ext cx="10936817" cy="340783"/>
          </a:xfrm>
          <a:prstGeom prst="rect">
            <a:avLst/>
          </a:prstGeom>
        </p:spPr>
      </p:pic>
      <p:sp>
        <p:nvSpPr>
          <p:cNvPr id="27" name="eyebrow p1-eb"/>
          <p:cNvSpPr/>
          <p:nvPr/>
        </p:nvSpPr>
        <p:spPr>
          <a:xfrm>
            <a:off x="762000" y="3282950"/>
            <a:ext cx="1168896" cy="1206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eyebrow p1-eb"/>
          <p:cNvSpPr/>
          <p:nvPr/>
        </p:nvSpPr>
        <p:spPr>
          <a:xfrm>
            <a:off x="2540000" y="3282950"/>
            <a:ext cx="865287" cy="1206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eyebrow p1-eb"/>
          <p:cNvSpPr/>
          <p:nvPr/>
        </p:nvSpPr>
        <p:spPr>
          <a:xfrm>
            <a:off x="4597400" y="3282950"/>
            <a:ext cx="1201638" cy="1206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eyebrow p1-eb"/>
          <p:cNvSpPr/>
          <p:nvPr/>
        </p:nvSpPr>
        <p:spPr>
          <a:xfrm>
            <a:off x="9829800" y="3282950"/>
            <a:ext cx="969268" cy="1206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p1-panel"/>
          <p:cNvSpPr/>
          <p:nvPr/>
        </p:nvSpPr>
        <p:spPr>
          <a:xfrm>
            <a:off x="609600" y="3796605"/>
            <a:ext cx="1625600" cy="1903909"/>
          </a:xfrm>
          <a:prstGeom prst="roundRect">
            <a:avLst>
              <a:gd name="adj" fmla="val 8594"/>
            </a:avLst>
          </a:prstGeom>
          <a:solidFill>
            <a:srgbClr val="EEF4FC"/>
          </a:solidFill>
          <a:ln/>
        </p:spPr>
      </p:sp>
      <p:pic>
        <p:nvPicPr>
          <p:cNvPr id="32" name="svg" descr="sv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367" y="4178300"/>
            <a:ext cx="1380067" cy="533400"/>
          </a:xfrm>
          <a:prstGeom prst="rect">
            <a:avLst/>
          </a:prstGeom>
        </p:spPr>
      </p:pic>
      <p:sp>
        <p:nvSpPr>
          <p:cNvPr id="33" name="p1-lbl p1-pill"/>
          <p:cNvSpPr/>
          <p:nvPr/>
        </p:nvSpPr>
        <p:spPr>
          <a:xfrm>
            <a:off x="771426" y="4778375"/>
            <a:ext cx="463748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4" name="p1-lbl p1-pill"/>
          <p:cNvSpPr/>
          <p:nvPr/>
        </p:nvSpPr>
        <p:spPr>
          <a:xfrm>
            <a:off x="1404938" y="4778375"/>
            <a:ext cx="695325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pic>
        <p:nvPicPr>
          <p:cNvPr id="35" name="svg" descr="sv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7550" y="5245894"/>
            <a:ext cx="114300" cy="114300"/>
          </a:xfrm>
          <a:prstGeom prst="rect">
            <a:avLst/>
          </a:prstGeom>
        </p:spPr>
      </p:pic>
      <p:sp>
        <p:nvSpPr>
          <p:cNvPr id="36" name="p1-panel"/>
          <p:cNvSpPr/>
          <p:nvPr/>
        </p:nvSpPr>
        <p:spPr>
          <a:xfrm>
            <a:off x="2387600" y="3796605"/>
            <a:ext cx="1905000" cy="1903909"/>
          </a:xfrm>
          <a:prstGeom prst="roundRect">
            <a:avLst>
              <a:gd name="adj" fmla="val 7338"/>
            </a:avLst>
          </a:prstGeom>
          <a:solidFill>
            <a:srgbClr val="EEF4FC"/>
          </a:solidFill>
          <a:ln/>
        </p:spPr>
      </p:sp>
      <p:pic>
        <p:nvPicPr>
          <p:cNvPr id="37" name="svg" descr="sv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80833" y="4276493"/>
            <a:ext cx="908050" cy="668867"/>
          </a:xfrm>
          <a:prstGeom prst="rect">
            <a:avLst/>
          </a:prstGeom>
        </p:spPr>
      </p:pic>
      <p:sp>
        <p:nvSpPr>
          <p:cNvPr id="38" name="p1-lbl p1-pill p1-in"/>
          <p:cNvSpPr/>
          <p:nvPr/>
        </p:nvSpPr>
        <p:spPr>
          <a:xfrm>
            <a:off x="2489200" y="4186535"/>
            <a:ext cx="7874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9" name="p1-lbl p1-pill p1-in"/>
          <p:cNvSpPr/>
          <p:nvPr/>
        </p:nvSpPr>
        <p:spPr>
          <a:xfrm>
            <a:off x="2489200" y="4504035"/>
            <a:ext cx="7874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0" name="p1-lbl p1-pill p1-in"/>
          <p:cNvSpPr/>
          <p:nvPr/>
        </p:nvSpPr>
        <p:spPr>
          <a:xfrm>
            <a:off x="2489200" y="4821535"/>
            <a:ext cx="7874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1" name="p1-agree"/>
          <p:cNvSpPr/>
          <p:nvPr/>
        </p:nvSpPr>
        <p:spPr>
          <a:xfrm>
            <a:off x="2495550" y="5325864"/>
            <a:ext cx="16891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4B8D"/>
            </a:solidFill>
            <a:prstDash val="solid"/>
          </a:ln>
        </p:spPr>
      </p:sp>
      <p:pic>
        <p:nvPicPr>
          <p:cNvPr id="42" name="svg" descr="sv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96902" y="5404181"/>
            <a:ext cx="114300" cy="114300"/>
          </a:xfrm>
          <a:prstGeom prst="rect">
            <a:avLst/>
          </a:prstGeom>
        </p:spPr>
      </p:pic>
      <p:sp>
        <p:nvSpPr>
          <p:cNvPr id="43" name="p1-panel p1-team"/>
          <p:cNvSpPr/>
          <p:nvPr/>
        </p:nvSpPr>
        <p:spPr>
          <a:xfrm>
            <a:off x="4445000" y="3796605"/>
            <a:ext cx="5080000" cy="1903909"/>
          </a:xfrm>
          <a:prstGeom prst="roundRect">
            <a:avLst>
              <a:gd name="adj" fmla="val 7338"/>
            </a:avLst>
          </a:prstGeom>
          <a:solidFill>
            <a:srgbClr val="EEF4FC"/>
          </a:solidFill>
          <a:ln/>
        </p:spPr>
      </p:sp>
      <p:sp>
        <p:nvSpPr>
          <p:cNvPr id="44" name="p1-role me"/>
          <p:cNvSpPr/>
          <p:nvPr/>
        </p:nvSpPr>
        <p:spPr>
          <a:xfrm>
            <a:off x="4552950" y="3891855"/>
            <a:ext cx="2381250" cy="731242"/>
          </a:xfrm>
          <a:prstGeom prst="roundRect">
            <a:avLst>
              <a:gd name="adj" fmla="val 13026"/>
            </a:avLst>
          </a:prstGeom>
          <a:solidFill>
            <a:srgbClr val="FFFFFF"/>
          </a:solidFill>
          <a:ln w="12700">
            <a:solidFill>
              <a:srgbClr val="004B8D"/>
            </a:solidFill>
            <a:prstDash val="solid"/>
          </a:ln>
        </p:spPr>
      </p:sp>
      <p:sp>
        <p:nvSpPr>
          <p:cNvPr id="45" name="p1-av"/>
          <p:cNvSpPr/>
          <p:nvPr/>
        </p:nvSpPr>
        <p:spPr>
          <a:xfrm>
            <a:off x="4664075" y="3990280"/>
            <a:ext cx="107950" cy="107950"/>
          </a:xfrm>
          <a:prstGeom prst="ellipse">
            <a:avLst/>
          </a:prstGeom>
          <a:solidFill>
            <a:srgbClr val="00A94F"/>
          </a:solidFill>
          <a:ln w="31750">
            <a:solidFill>
              <a:srgbClr val="E5F6EC"/>
            </a:solidFill>
            <a:prstDash val="solid"/>
          </a:ln>
        </p:spPr>
      </p:sp>
      <p:sp>
        <p:nvSpPr>
          <p:cNvPr id="46" name="p1-me"/>
          <p:cNvSpPr/>
          <p:nvPr/>
        </p:nvSpPr>
        <p:spPr>
          <a:xfrm>
            <a:off x="5155208" y="3949005"/>
            <a:ext cx="190500" cy="190500"/>
          </a:xfrm>
          <a:prstGeom prst="ellipse">
            <a:avLst/>
          </a:prstGeom>
          <a:solidFill>
            <a:srgbClr val="0B2147"/>
          </a:solidFill>
          <a:ln/>
        </p:spPr>
      </p:sp>
      <p:pic>
        <p:nvPicPr>
          <p:cNvPr id="47" name="li" descr="li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54550" y="4253805"/>
            <a:ext cx="38100" cy="38100"/>
          </a:xfrm>
          <a:prstGeom prst="rect">
            <a:avLst/>
          </a:prstGeom>
        </p:spPr>
      </p:pic>
      <p:pic>
        <p:nvPicPr>
          <p:cNvPr id="48" name="li" descr="li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54550" y="4451482"/>
            <a:ext cx="38100" cy="38100"/>
          </a:xfrm>
          <a:prstGeom prst="rect">
            <a:avLst/>
          </a:prstGeom>
        </p:spPr>
      </p:pic>
      <p:sp>
        <p:nvSpPr>
          <p:cNvPr id="49" name="chip tech p1-tool"/>
          <p:cNvSpPr/>
          <p:nvPr/>
        </p:nvSpPr>
        <p:spPr>
          <a:xfrm>
            <a:off x="4737100" y="4369296"/>
            <a:ext cx="602655" cy="1778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50" name="p1-role"/>
          <p:cNvSpPr/>
          <p:nvPr/>
        </p:nvSpPr>
        <p:spPr>
          <a:xfrm>
            <a:off x="7035800" y="3891855"/>
            <a:ext cx="2381250" cy="731242"/>
          </a:xfrm>
          <a:prstGeom prst="roundRect">
            <a:avLst>
              <a:gd name="adj" fmla="val 130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p1-av"/>
          <p:cNvSpPr/>
          <p:nvPr/>
        </p:nvSpPr>
        <p:spPr>
          <a:xfrm>
            <a:off x="7146925" y="3982343"/>
            <a:ext cx="107950" cy="107950"/>
          </a:xfrm>
          <a:prstGeom prst="ellipse">
            <a:avLst/>
          </a:prstGeom>
          <a:solidFill>
            <a:srgbClr val="00A94F"/>
          </a:solidFill>
          <a:ln w="31750">
            <a:solidFill>
              <a:srgbClr val="E5F6EC"/>
            </a:solidFill>
            <a:prstDash val="solid"/>
          </a:ln>
        </p:spPr>
      </p:sp>
      <p:pic>
        <p:nvPicPr>
          <p:cNvPr id="52" name="li" descr="li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37400" y="4242164"/>
            <a:ext cx="38100" cy="38100"/>
          </a:xfrm>
          <a:prstGeom prst="rect">
            <a:avLst/>
          </a:prstGeom>
        </p:spPr>
      </p:pic>
      <p:pic>
        <p:nvPicPr>
          <p:cNvPr id="53" name="li" descr="li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37400" y="4437724"/>
            <a:ext cx="38100" cy="38100"/>
          </a:xfrm>
          <a:prstGeom prst="rect">
            <a:avLst/>
          </a:prstGeom>
        </p:spPr>
      </p:pic>
      <p:sp>
        <p:nvSpPr>
          <p:cNvPr id="54" name="p1-role"/>
          <p:cNvSpPr/>
          <p:nvPr/>
        </p:nvSpPr>
        <p:spPr>
          <a:xfrm>
            <a:off x="4552950" y="4889798"/>
            <a:ext cx="2381250" cy="715466"/>
          </a:xfrm>
          <a:prstGeom prst="round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p1-av"/>
          <p:cNvSpPr/>
          <p:nvPr/>
        </p:nvSpPr>
        <p:spPr>
          <a:xfrm>
            <a:off x="4664075" y="4980285"/>
            <a:ext cx="107950" cy="107950"/>
          </a:xfrm>
          <a:prstGeom prst="ellipse">
            <a:avLst/>
          </a:prstGeom>
          <a:solidFill>
            <a:srgbClr val="00A94F"/>
          </a:solidFill>
          <a:ln w="31750">
            <a:solidFill>
              <a:srgbClr val="E5F6EC"/>
            </a:solidFill>
            <a:prstDash val="solid"/>
          </a:ln>
        </p:spPr>
      </p:sp>
      <p:pic>
        <p:nvPicPr>
          <p:cNvPr id="56" name="li" descr="li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54550" y="5237989"/>
            <a:ext cx="38100" cy="38100"/>
          </a:xfrm>
          <a:prstGeom prst="rect">
            <a:avLst/>
          </a:prstGeom>
        </p:spPr>
      </p:pic>
      <p:sp>
        <p:nvSpPr>
          <p:cNvPr id="57" name="chip tech p1-tool"/>
          <p:cNvSpPr/>
          <p:nvPr/>
        </p:nvSpPr>
        <p:spPr>
          <a:xfrm>
            <a:off x="4737100" y="5155803"/>
            <a:ext cx="400943" cy="1778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pic>
        <p:nvPicPr>
          <p:cNvPr id="58" name="li" descr="li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654550" y="5435666"/>
            <a:ext cx="38100" cy="38100"/>
          </a:xfrm>
          <a:prstGeom prst="rect">
            <a:avLst/>
          </a:prstGeom>
        </p:spPr>
      </p:pic>
      <p:sp>
        <p:nvSpPr>
          <p:cNvPr id="59" name="p1-role"/>
          <p:cNvSpPr/>
          <p:nvPr/>
        </p:nvSpPr>
        <p:spPr>
          <a:xfrm>
            <a:off x="7035800" y="4889798"/>
            <a:ext cx="2381250" cy="715466"/>
          </a:xfrm>
          <a:prstGeom prst="round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0" name="svg" descr="sv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689600" y="4629448"/>
            <a:ext cx="2590800" cy="254000"/>
          </a:xfrm>
          <a:prstGeom prst="rect">
            <a:avLst/>
          </a:prstGeom>
        </p:spPr>
      </p:pic>
      <p:sp>
        <p:nvSpPr>
          <p:cNvPr id="61" name="chip people p1-share"/>
          <p:cNvSpPr/>
          <p:nvPr/>
        </p:nvSpPr>
        <p:spPr>
          <a:xfrm>
            <a:off x="6027241" y="4648498"/>
            <a:ext cx="1915517" cy="2159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pic>
        <p:nvPicPr>
          <p:cNvPr id="62" name="svg" descr="sv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120375" y="4703531"/>
            <a:ext cx="91017" cy="105833"/>
          </a:xfrm>
          <a:prstGeom prst="rect">
            <a:avLst/>
          </a:prstGeom>
        </p:spPr>
      </p:pic>
      <p:sp>
        <p:nvSpPr>
          <p:cNvPr id="63" name="p1-av"/>
          <p:cNvSpPr/>
          <p:nvPr/>
        </p:nvSpPr>
        <p:spPr>
          <a:xfrm>
            <a:off x="7146925" y="4980285"/>
            <a:ext cx="107950" cy="107950"/>
          </a:xfrm>
          <a:prstGeom prst="ellipse">
            <a:avLst/>
          </a:prstGeom>
          <a:solidFill>
            <a:srgbClr val="00A94F"/>
          </a:solidFill>
          <a:ln w="31750">
            <a:solidFill>
              <a:srgbClr val="E5F6EC"/>
            </a:solidFill>
            <a:prstDash val="solid"/>
          </a:ln>
        </p:spPr>
      </p:sp>
      <p:pic>
        <p:nvPicPr>
          <p:cNvPr id="64" name="li" descr="li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137400" y="5237989"/>
            <a:ext cx="38100" cy="38100"/>
          </a:xfrm>
          <a:prstGeom prst="rect">
            <a:avLst/>
          </a:prstGeom>
        </p:spPr>
      </p:pic>
      <p:pic>
        <p:nvPicPr>
          <p:cNvPr id="65" name="li" descr="li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137400" y="5435666"/>
            <a:ext cx="38100" cy="38100"/>
          </a:xfrm>
          <a:prstGeom prst="rect">
            <a:avLst/>
          </a:prstGeom>
        </p:spPr>
      </p:pic>
      <p:sp>
        <p:nvSpPr>
          <p:cNvPr id="66" name="p1-panel"/>
          <p:cNvSpPr/>
          <p:nvPr/>
        </p:nvSpPr>
        <p:spPr>
          <a:xfrm>
            <a:off x="9677400" y="3796605"/>
            <a:ext cx="1905000" cy="1903909"/>
          </a:xfrm>
          <a:prstGeom prst="roundRect">
            <a:avLst>
              <a:gd name="adj" fmla="val 7338"/>
            </a:avLst>
          </a:prstGeom>
          <a:solidFill>
            <a:srgbClr val="EEF4FC"/>
          </a:solidFill>
          <a:ln/>
        </p:spPr>
      </p:sp>
      <p:pic>
        <p:nvPicPr>
          <p:cNvPr id="67" name="svg" descr="sv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781117" y="4129617"/>
            <a:ext cx="1699683" cy="821267"/>
          </a:xfrm>
          <a:prstGeom prst="rect">
            <a:avLst/>
          </a:prstGeom>
        </p:spPr>
      </p:pic>
      <p:pic>
        <p:nvPicPr>
          <p:cNvPr id="68" name="svg" descr="sv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785350" y="5220494"/>
            <a:ext cx="114300" cy="114300"/>
          </a:xfrm>
          <a:prstGeom prst="rect">
            <a:avLst/>
          </a:prstGeom>
        </p:spPr>
      </p:pic>
      <p:sp>
        <p:nvSpPr>
          <p:cNvPr id="69" name="p1-fd"/>
          <p:cNvSpPr/>
          <p:nvPr/>
        </p:nvSpPr>
        <p:spPr>
          <a:xfrm>
            <a:off x="9804400" y="5466854"/>
            <a:ext cx="76200" cy="762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70" name="key"/>
          <p:cNvSpPr/>
          <p:nvPr/>
        </p:nvSpPr>
        <p:spPr>
          <a:xfrm>
            <a:off x="609600" y="5814814"/>
            <a:ext cx="10972800" cy="534591"/>
          </a:xfrm>
          <a:prstGeom prst="roundRect">
            <a:avLst>
              <a:gd name="adj" fmla="val 26132"/>
            </a:avLst>
          </a:prstGeom>
          <a:solidFill>
            <a:srgbClr val="0B2147"/>
          </a:solidFill>
          <a:ln/>
        </p:spPr>
      </p:sp>
      <p:sp>
        <p:nvSpPr>
          <p:cNvPr id="71" name="i"/>
          <p:cNvSpPr/>
          <p:nvPr/>
        </p:nvSpPr>
        <p:spPr>
          <a:xfrm>
            <a:off x="863600" y="60502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72" name="b"/>
          <p:cNvSpPr/>
          <p:nvPr/>
        </p:nvSpPr>
        <p:spPr>
          <a:xfrm>
            <a:off x="927100" y="60756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73" name="i"/>
          <p:cNvSpPr/>
          <p:nvPr/>
        </p:nvSpPr>
        <p:spPr>
          <a:xfrm>
            <a:off x="1016000" y="60502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74" name="b"/>
          <p:cNvSpPr/>
          <p:nvPr/>
        </p:nvSpPr>
        <p:spPr>
          <a:xfrm>
            <a:off x="1079500" y="60756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75" name="i"/>
          <p:cNvSpPr/>
          <p:nvPr/>
        </p:nvSpPr>
        <p:spPr>
          <a:xfrm>
            <a:off x="1168400" y="60502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76" name="01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1100" dirty="0"/>
          </a:p>
        </p:txBody>
      </p:sp>
      <p:sp>
        <p:nvSpPr>
          <p:cNvPr id="77" name="PT 주제 1 · 가장 중요하게 생각하는 가치와 실천 경험"/>
          <p:cNvSpPr txBox="1"/>
          <p:nvPr/>
        </p:nvSpPr>
        <p:spPr>
          <a:xfrm>
            <a:off x="1347589" y="419100"/>
            <a:ext cx="305829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1 · 가장 중요하게 생각하는 가치와 실천 경험</a:t>
            </a:r>
            <a:endParaRPr lang="en-US" sz="1100" dirty="0"/>
          </a:p>
        </p:txBody>
      </p:sp>
      <p:sp>
        <p:nvSpPr>
          <p:cNvPr id="78" name="제가 가장 중요하게 생각하는 가치는"/>
          <p:cNvSpPr txBox="1"/>
          <p:nvPr/>
        </p:nvSpPr>
        <p:spPr>
          <a:xfrm>
            <a:off x="609600" y="774005"/>
            <a:ext cx="2950912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제가 가장 중요하게 생각하는 가치는</a:t>
            </a:r>
            <a:endParaRPr lang="en-US" sz="1600" dirty="0"/>
          </a:p>
        </p:txBody>
      </p:sp>
      <p:sp>
        <p:nvSpPr>
          <p:cNvPr id="79" name="공동의 목표를 공유하며 함께 성과를 만드는 협업입니다"/>
          <p:cNvSpPr txBox="1"/>
          <p:nvPr/>
        </p:nvSpPr>
        <p:spPr>
          <a:xfrm>
            <a:off x="609600" y="1100336"/>
            <a:ext cx="7744331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공동의 목표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를 공유하며 함께 성과를 만드는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협업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입니다</a:t>
            </a:r>
            <a:endParaRPr lang="en-US" sz="2800" dirty="0"/>
          </a:p>
        </p:txBody>
      </p:sp>
      <p:sp>
        <p:nvSpPr>
          <p:cNvPr id="80" name="PROJECT"/>
          <p:cNvSpPr txBox="1"/>
          <p:nvPr/>
        </p:nvSpPr>
        <p:spPr>
          <a:xfrm>
            <a:off x="825500" y="1974453"/>
            <a:ext cx="774898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PROJECT</a:t>
            </a:r>
            <a:endParaRPr lang="en-US" sz="950" dirty="0"/>
          </a:p>
        </p:txBody>
      </p:sp>
      <p:sp>
        <p:nvSpPr>
          <p:cNvPr id="81" name="학생 BIM 경진대회"/>
          <p:cNvSpPr txBox="1"/>
          <p:nvPr/>
        </p:nvSpPr>
        <p:spPr>
          <a:xfrm>
            <a:off x="1752798" y="1974453"/>
            <a:ext cx="99345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학생 BIM 경진대회</a:t>
            </a:r>
            <a:endParaRPr lang="en-US" sz="950" dirty="0"/>
          </a:p>
        </p:txBody>
      </p:sp>
      <p:sp>
        <p:nvSpPr>
          <p:cNvPr id="82" name="4인 팀 · 팀장"/>
          <p:cNvSpPr txBox="1"/>
          <p:nvPr/>
        </p:nvSpPr>
        <p:spPr>
          <a:xfrm>
            <a:off x="3261519" y="1974453"/>
            <a:ext cx="67448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4인 팀 · 팀장</a:t>
            </a:r>
            <a:endParaRPr lang="en-US" sz="950" dirty="0"/>
          </a:p>
        </p:txBody>
      </p:sp>
      <p:sp>
        <p:nvSpPr>
          <p:cNvPr id="83" name="‘유닛 모듈러 기반 사용자 맞춤형 리모델링 방법’"/>
          <p:cNvSpPr txBox="1"/>
          <p:nvPr/>
        </p:nvSpPr>
        <p:spPr>
          <a:xfrm>
            <a:off x="825500" y="2227064"/>
            <a:ext cx="4759448" cy="298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000" spc="-7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‘유닛 모듈러 기반 사용자 맞춤형 리모델링 방법’</a:t>
            </a:r>
            <a:endParaRPr lang="en-US" sz="2000" dirty="0"/>
          </a:p>
        </p:txBody>
      </p:sp>
      <p:sp>
        <p:nvSpPr>
          <p:cNvPr id="84" name="사용자가 원하는 리모델링 규모에 따라 유닛 모듈러를 배치하고,"/>
          <p:cNvSpPr txBox="1"/>
          <p:nvPr/>
        </p:nvSpPr>
        <p:spPr>
          <a:xfrm>
            <a:off x="825500" y="2589014"/>
            <a:ext cx="355270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사용자가 원하는 리모델링 규모에 따라 유닛 모듈러를 배치하고,</a:t>
            </a:r>
            <a:endParaRPr lang="en-US" sz="1100" dirty="0"/>
          </a:p>
        </p:txBody>
      </p:sp>
      <p:sp>
        <p:nvSpPr>
          <p:cNvPr id="85" name="필요한 모듈 수와 자재 물량을 자동으로 산출하는 BIM 기반 리모델링 방"/>
          <p:cNvSpPr txBox="1"/>
          <p:nvPr/>
        </p:nvSpPr>
        <p:spPr>
          <a:xfrm>
            <a:off x="825500" y="2791520"/>
            <a:ext cx="443678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필요한 모듈 수와 자재 물량을 자동으로 산출하는 BIM 기반 리모델링 방법 제안</a:t>
            </a:r>
            <a:endParaRPr lang="en-US" sz="1100" dirty="0"/>
          </a:p>
        </p:txBody>
      </p:sp>
      <p:sp>
        <p:nvSpPr>
          <p:cNvPr id="86" name="리모델링 규모 입력"/>
          <p:cNvSpPr txBox="1"/>
          <p:nvPr/>
        </p:nvSpPr>
        <p:spPr>
          <a:xfrm>
            <a:off x="6319490" y="2354064"/>
            <a:ext cx="98009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리모델링 규모 입력</a:t>
            </a:r>
            <a:endParaRPr lang="en-US" sz="1000" dirty="0"/>
          </a:p>
        </p:txBody>
      </p:sp>
      <p:sp>
        <p:nvSpPr>
          <p:cNvPr id="87" name="유닛 모듈러 배치"/>
          <p:cNvSpPr txBox="1"/>
          <p:nvPr/>
        </p:nvSpPr>
        <p:spPr>
          <a:xfrm>
            <a:off x="8215610" y="2354064"/>
            <a:ext cx="8661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유닛 모듈러 배치</a:t>
            </a:r>
            <a:endParaRPr lang="en-US" sz="1000" dirty="0"/>
          </a:p>
        </p:txBody>
      </p:sp>
      <p:sp>
        <p:nvSpPr>
          <p:cNvPr id="88" name="모듈 수 · 자재 물량 자동 산출"/>
          <p:cNvSpPr txBox="1"/>
          <p:nvPr/>
        </p:nvSpPr>
        <p:spPr>
          <a:xfrm>
            <a:off x="9894838" y="2354064"/>
            <a:ext cx="14775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모듈 수 · 자재 물량 자동 산출</a:t>
            </a:r>
            <a:endParaRPr lang="en-US" sz="1000" dirty="0"/>
          </a:p>
        </p:txBody>
      </p:sp>
      <p:sp>
        <p:nvSpPr>
          <p:cNvPr id="89" name="결과물"/>
          <p:cNvSpPr txBox="1"/>
          <p:nvPr/>
        </p:nvSpPr>
        <p:spPr>
          <a:xfrm>
            <a:off x="6451600" y="2753023"/>
            <a:ext cx="4112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결과물</a:t>
            </a:r>
            <a:endParaRPr lang="en-US" sz="1100" dirty="0"/>
          </a:p>
        </p:txBody>
      </p:sp>
      <p:sp>
        <p:nvSpPr>
          <p:cNvPr id="90" name="유닛 모듈러 기반 사용자 맞춤형 리모델링 앱 개발 아이디어 시연 영상"/>
          <p:cNvSpPr txBox="1"/>
          <p:nvPr/>
        </p:nvSpPr>
        <p:spPr>
          <a:xfrm>
            <a:off x="6977162" y="2753023"/>
            <a:ext cx="386201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유닛 모듈러 기반 사용자 맞춤형 리모델링 앱 개발 아이디어 시연 영상</a:t>
            </a:r>
            <a:endParaRPr lang="en-US" sz="1100" dirty="0"/>
          </a:p>
        </p:txBody>
      </p:sp>
      <p:sp>
        <p:nvSpPr>
          <p:cNvPr id="91" name="01"/>
          <p:cNvSpPr txBox="1"/>
          <p:nvPr/>
        </p:nvSpPr>
        <p:spPr>
          <a:xfrm>
            <a:off x="825500" y="3270250"/>
            <a:ext cx="22135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950" dirty="0"/>
          </a:p>
        </p:txBody>
      </p:sp>
      <p:sp>
        <p:nvSpPr>
          <p:cNvPr id="92" name="CONFLICT"/>
          <p:cNvSpPr txBox="1"/>
          <p:nvPr/>
        </p:nvSpPr>
        <p:spPr>
          <a:xfrm>
            <a:off x="1059557" y="3270250"/>
            <a:ext cx="84593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CONFLICT</a:t>
            </a:r>
            <a:endParaRPr lang="en-US" sz="950" dirty="0"/>
          </a:p>
        </p:txBody>
      </p:sp>
      <p:sp>
        <p:nvSpPr>
          <p:cNvPr id="93" name="02"/>
          <p:cNvSpPr txBox="1"/>
          <p:nvPr/>
        </p:nvSpPr>
        <p:spPr>
          <a:xfrm>
            <a:off x="2603500" y="3270250"/>
            <a:ext cx="22135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950" dirty="0"/>
          </a:p>
        </p:txBody>
      </p:sp>
      <p:sp>
        <p:nvSpPr>
          <p:cNvPr id="94" name="ALIGN"/>
          <p:cNvSpPr txBox="1"/>
          <p:nvPr/>
        </p:nvSpPr>
        <p:spPr>
          <a:xfrm>
            <a:off x="2837557" y="3270250"/>
            <a:ext cx="54233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ALIGN</a:t>
            </a:r>
            <a:endParaRPr lang="en-US" sz="950" dirty="0"/>
          </a:p>
        </p:txBody>
      </p:sp>
      <p:sp>
        <p:nvSpPr>
          <p:cNvPr id="95" name="03"/>
          <p:cNvSpPr txBox="1"/>
          <p:nvPr/>
        </p:nvSpPr>
        <p:spPr>
          <a:xfrm>
            <a:off x="4660900" y="3270250"/>
            <a:ext cx="22135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950" dirty="0"/>
          </a:p>
        </p:txBody>
      </p:sp>
      <p:sp>
        <p:nvSpPr>
          <p:cNvPr id="96" name="ONE TEAM"/>
          <p:cNvSpPr txBox="1"/>
          <p:nvPr/>
        </p:nvSpPr>
        <p:spPr>
          <a:xfrm>
            <a:off x="4894957" y="3270250"/>
            <a:ext cx="878681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ONE TEAM</a:t>
            </a:r>
            <a:endParaRPr lang="en-US" sz="950" dirty="0"/>
          </a:p>
        </p:txBody>
      </p:sp>
      <p:sp>
        <p:nvSpPr>
          <p:cNvPr id="97" name="04"/>
          <p:cNvSpPr txBox="1"/>
          <p:nvPr/>
        </p:nvSpPr>
        <p:spPr>
          <a:xfrm>
            <a:off x="9893300" y="3270250"/>
            <a:ext cx="22135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04</a:t>
            </a:r>
            <a:endParaRPr lang="en-US" sz="950" dirty="0"/>
          </a:p>
        </p:txBody>
      </p:sp>
      <p:sp>
        <p:nvSpPr>
          <p:cNvPr id="98" name="RESULT"/>
          <p:cNvSpPr txBox="1"/>
          <p:nvPr/>
        </p:nvSpPr>
        <p:spPr>
          <a:xfrm>
            <a:off x="10127357" y="3270250"/>
            <a:ext cx="646311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RESULT</a:t>
            </a:r>
            <a:endParaRPr lang="en-US" sz="950" dirty="0"/>
          </a:p>
        </p:txBody>
      </p:sp>
      <p:sp>
        <p:nvSpPr>
          <p:cNvPr id="99" name="주제 선정 의견 충돌"/>
          <p:cNvSpPr txBox="1"/>
          <p:nvPr/>
        </p:nvSpPr>
        <p:spPr>
          <a:xfrm>
            <a:off x="609600" y="3508375"/>
            <a:ext cx="1378698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주제 선정 의견 충돌</a:t>
            </a:r>
            <a:endParaRPr lang="en-US" sz="1400" dirty="0"/>
          </a:p>
        </p:txBody>
      </p:sp>
      <p:sp>
        <p:nvSpPr>
          <p:cNvPr id="100" name="참신성"/>
          <p:cNvSpPr txBox="1"/>
          <p:nvPr/>
        </p:nvSpPr>
        <p:spPr>
          <a:xfrm>
            <a:off x="847626" y="4810125"/>
            <a:ext cx="362148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-19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참신성</a:t>
            </a:r>
            <a:endParaRPr lang="en-US" sz="950" dirty="0"/>
          </a:p>
        </p:txBody>
      </p:sp>
      <p:sp>
        <p:nvSpPr>
          <p:cNvPr id="101" name="구현 가능성"/>
          <p:cNvSpPr txBox="1"/>
          <p:nvPr/>
        </p:nvSpPr>
        <p:spPr>
          <a:xfrm>
            <a:off x="1481137" y="4810125"/>
            <a:ext cx="5937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-19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구현 가능성</a:t>
            </a:r>
            <a:endParaRPr lang="en-US" sz="950" dirty="0"/>
          </a:p>
        </p:txBody>
      </p:sp>
      <p:sp>
        <p:nvSpPr>
          <p:cNvPr id="102" name="마감 3주 전까지"/>
          <p:cNvSpPr txBox="1"/>
          <p:nvPr/>
        </p:nvSpPr>
        <p:spPr>
          <a:xfrm>
            <a:off x="889000" y="5220494"/>
            <a:ext cx="91247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마감 3주 전까지</a:t>
            </a:r>
            <a:endParaRPr lang="en-US" sz="1100" dirty="0"/>
          </a:p>
        </p:txBody>
      </p:sp>
      <p:sp>
        <p:nvSpPr>
          <p:cNvPr id="103" name="주제 미확정"/>
          <p:cNvSpPr txBox="1"/>
          <p:nvPr/>
        </p:nvSpPr>
        <p:spPr>
          <a:xfrm>
            <a:off x="889000" y="5416054"/>
            <a:ext cx="67528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주제 미확정</a:t>
            </a:r>
            <a:endParaRPr lang="en-US" sz="1100" dirty="0"/>
          </a:p>
        </p:txBody>
      </p:sp>
      <p:sp>
        <p:nvSpPr>
          <p:cNvPr id="104" name="의견 조율 · 주제 확정"/>
          <p:cNvSpPr txBox="1"/>
          <p:nvPr/>
        </p:nvSpPr>
        <p:spPr>
          <a:xfrm>
            <a:off x="2387600" y="3508375"/>
            <a:ext cx="146767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의견 조율 · 주제 확정</a:t>
            </a:r>
            <a:endParaRPr lang="en-US" sz="1400" dirty="0"/>
          </a:p>
        </p:txBody>
      </p:sp>
      <p:sp>
        <p:nvSpPr>
          <p:cNvPr id="105" name="경청"/>
          <p:cNvSpPr txBox="1"/>
          <p:nvPr/>
        </p:nvSpPr>
        <p:spPr>
          <a:xfrm>
            <a:off x="2753717" y="4218285"/>
            <a:ext cx="258366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spc="-19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경청</a:t>
            </a:r>
            <a:endParaRPr lang="en-US" sz="950" dirty="0"/>
          </a:p>
        </p:txBody>
      </p:sp>
      <p:sp>
        <p:nvSpPr>
          <p:cNvPr id="106" name="수상작 분석"/>
          <p:cNvSpPr txBox="1"/>
          <p:nvPr/>
        </p:nvSpPr>
        <p:spPr>
          <a:xfrm>
            <a:off x="2586038" y="4535785"/>
            <a:ext cx="5937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spc="-19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수상작 분석</a:t>
            </a:r>
            <a:endParaRPr lang="en-US" sz="950" dirty="0"/>
          </a:p>
        </p:txBody>
      </p:sp>
      <p:sp>
        <p:nvSpPr>
          <p:cNvPr id="107" name="교수님 조언"/>
          <p:cNvSpPr txBox="1"/>
          <p:nvPr/>
        </p:nvSpPr>
        <p:spPr>
          <a:xfrm>
            <a:off x="2586038" y="4853285"/>
            <a:ext cx="5937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spc="-19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교수님 조언</a:t>
            </a:r>
            <a:endParaRPr lang="en-US" sz="950" dirty="0"/>
          </a:p>
        </p:txBody>
      </p:sp>
      <p:sp>
        <p:nvSpPr>
          <p:cNvPr id="108" name="판단"/>
          <p:cNvSpPr txBox="1"/>
          <p:nvPr/>
        </p:nvSpPr>
        <p:spPr>
          <a:xfrm>
            <a:off x="3719810" y="4456410"/>
            <a:ext cx="2692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spc="-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판단</a:t>
            </a:r>
            <a:endParaRPr lang="en-US" sz="1000" dirty="0"/>
          </a:p>
        </p:txBody>
      </p:sp>
      <p:sp>
        <p:nvSpPr>
          <p:cNvPr id="109" name="기준"/>
          <p:cNvSpPr txBox="1"/>
          <p:nvPr/>
        </p:nvSpPr>
        <p:spPr>
          <a:xfrm>
            <a:off x="3719810" y="4602460"/>
            <a:ext cx="2692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spc="-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기준</a:t>
            </a:r>
            <a:endParaRPr lang="en-US" sz="1000" dirty="0"/>
          </a:p>
        </p:txBody>
      </p:sp>
      <p:sp>
        <p:nvSpPr>
          <p:cNvPr id="110" name="주제 합의"/>
          <p:cNvSpPr txBox="1"/>
          <p:nvPr/>
        </p:nvSpPr>
        <p:spPr>
          <a:xfrm>
            <a:off x="3181052" y="5370612"/>
            <a:ext cx="5593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주제 합의</a:t>
            </a:r>
            <a:endParaRPr lang="en-US" sz="1100" dirty="0"/>
          </a:p>
        </p:txBody>
      </p:sp>
      <p:sp>
        <p:nvSpPr>
          <p:cNvPr id="111" name="강점 기반 역할 분담 · 지속적인 공유"/>
          <p:cNvSpPr txBox="1"/>
          <p:nvPr/>
        </p:nvSpPr>
        <p:spPr>
          <a:xfrm>
            <a:off x="4445000" y="3508375"/>
            <a:ext cx="249299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강점 기반 역할 분담 · 지속적인 공유</a:t>
            </a:r>
            <a:endParaRPr lang="en-US" sz="1400" dirty="0"/>
          </a:p>
        </p:txBody>
      </p:sp>
      <p:sp>
        <p:nvSpPr>
          <p:cNvPr id="112" name="팀장"/>
          <p:cNvSpPr txBox="1"/>
          <p:nvPr/>
        </p:nvSpPr>
        <p:spPr>
          <a:xfrm>
            <a:off x="4851400" y="3956943"/>
            <a:ext cx="29110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팀장</a:t>
            </a:r>
            <a:endParaRPr lang="en-US" sz="1100" dirty="0"/>
          </a:p>
        </p:txBody>
      </p:sp>
      <p:sp>
        <p:nvSpPr>
          <p:cNvPr id="113" name="나"/>
          <p:cNvSpPr txBox="1"/>
          <p:nvPr/>
        </p:nvSpPr>
        <p:spPr>
          <a:xfrm>
            <a:off x="5201543" y="3974405"/>
            <a:ext cx="14863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22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나</a:t>
            </a:r>
            <a:endParaRPr lang="en-US" sz="900" dirty="0"/>
          </a:p>
        </p:txBody>
      </p:sp>
      <p:sp>
        <p:nvSpPr>
          <p:cNvPr id="114" name="프로젝트 총괄"/>
          <p:cNvSpPr txBox="1"/>
          <p:nvPr/>
        </p:nvSpPr>
        <p:spPr>
          <a:xfrm>
            <a:off x="4737100" y="4177605"/>
            <a:ext cx="79474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프로젝트 총괄</a:t>
            </a:r>
            <a:endParaRPr lang="en-US" sz="1100" dirty="0"/>
          </a:p>
        </p:txBody>
      </p:sp>
      <p:sp>
        <p:nvSpPr>
          <p:cNvPr id="115" name="Dynamo"/>
          <p:cNvSpPr txBox="1"/>
          <p:nvPr/>
        </p:nvSpPr>
        <p:spPr>
          <a:xfrm>
            <a:off x="4794250" y="4384576"/>
            <a:ext cx="539155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28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Dynamo</a:t>
            </a:r>
            <a:endParaRPr lang="en-US" sz="900" dirty="0"/>
          </a:p>
        </p:txBody>
      </p:sp>
      <p:sp>
        <p:nvSpPr>
          <p:cNvPr id="116" name="기반 자동화 알고리즘 개발"/>
          <p:cNvSpPr txBox="1"/>
          <p:nvPr/>
        </p:nvSpPr>
        <p:spPr>
          <a:xfrm>
            <a:off x="5390555" y="4373166"/>
            <a:ext cx="147934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기반 자동화 알고리즘 개발</a:t>
            </a:r>
            <a:endParaRPr lang="en-US" sz="1100" dirty="0"/>
          </a:p>
        </p:txBody>
      </p:sp>
      <p:sp>
        <p:nvSpPr>
          <p:cNvPr id="117" name="팀원 A"/>
          <p:cNvSpPr txBox="1"/>
          <p:nvPr/>
        </p:nvSpPr>
        <p:spPr>
          <a:xfrm>
            <a:off x="7334250" y="3949005"/>
            <a:ext cx="42465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A</a:t>
            </a:r>
            <a:endParaRPr lang="en-US" sz="1100" dirty="0"/>
          </a:p>
        </p:txBody>
      </p:sp>
      <p:sp>
        <p:nvSpPr>
          <p:cNvPr id="118" name="유닛 모듈러 설계"/>
          <p:cNvSpPr txBox="1"/>
          <p:nvPr/>
        </p:nvSpPr>
        <p:spPr>
          <a:xfrm>
            <a:off x="7219950" y="4161730"/>
            <a:ext cx="9440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유닛 모듈러 설계</a:t>
            </a:r>
            <a:endParaRPr lang="en-US" sz="1100" dirty="0"/>
          </a:p>
        </p:txBody>
      </p:sp>
      <p:sp>
        <p:nvSpPr>
          <p:cNvPr id="119" name="배치계획"/>
          <p:cNvSpPr txBox="1"/>
          <p:nvPr/>
        </p:nvSpPr>
        <p:spPr>
          <a:xfrm>
            <a:off x="7219950" y="4357291"/>
            <a:ext cx="52863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배치계획</a:t>
            </a:r>
            <a:endParaRPr lang="en-US" sz="1100" dirty="0"/>
          </a:p>
        </p:txBody>
      </p:sp>
      <p:sp>
        <p:nvSpPr>
          <p:cNvPr id="120" name="이틀마다 진행상황 공유 · 피드백"/>
          <p:cNvSpPr txBox="1"/>
          <p:nvPr/>
        </p:nvSpPr>
        <p:spPr>
          <a:xfrm>
            <a:off x="6281241" y="4677073"/>
            <a:ext cx="16535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이틀마다 진행상황 공유 · 피드백</a:t>
            </a:r>
            <a:endParaRPr lang="en-US" sz="1000" dirty="0"/>
          </a:p>
        </p:txBody>
      </p:sp>
      <p:sp>
        <p:nvSpPr>
          <p:cNvPr id="121" name="팀원 B"/>
          <p:cNvSpPr txBox="1"/>
          <p:nvPr/>
        </p:nvSpPr>
        <p:spPr>
          <a:xfrm>
            <a:off x="4851400" y="4946948"/>
            <a:ext cx="42445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B</a:t>
            </a:r>
            <a:endParaRPr lang="en-US" sz="1100" dirty="0"/>
          </a:p>
        </p:txBody>
      </p:sp>
      <p:sp>
        <p:nvSpPr>
          <p:cNvPr id="122" name="Revit"/>
          <p:cNvSpPr txBox="1"/>
          <p:nvPr/>
        </p:nvSpPr>
        <p:spPr>
          <a:xfrm>
            <a:off x="4794250" y="5171083"/>
            <a:ext cx="337443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28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Revit</a:t>
            </a:r>
            <a:endParaRPr lang="en-US" sz="900" dirty="0"/>
          </a:p>
        </p:txBody>
      </p:sp>
      <p:sp>
        <p:nvSpPr>
          <p:cNvPr id="123" name="기반 BIM 모델링"/>
          <p:cNvSpPr txBox="1"/>
          <p:nvPr/>
        </p:nvSpPr>
        <p:spPr>
          <a:xfrm>
            <a:off x="5188843" y="5159673"/>
            <a:ext cx="97904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기반 BIM 모델링</a:t>
            </a:r>
            <a:endParaRPr lang="en-US" sz="1100" dirty="0"/>
          </a:p>
        </p:txBody>
      </p:sp>
      <p:sp>
        <p:nvSpPr>
          <p:cNvPr id="124" name="데이터 구축"/>
          <p:cNvSpPr txBox="1"/>
          <p:nvPr/>
        </p:nvSpPr>
        <p:spPr>
          <a:xfrm>
            <a:off x="4737100" y="5355233"/>
            <a:ext cx="67528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데이터 구축</a:t>
            </a:r>
            <a:endParaRPr lang="en-US" sz="1100" dirty="0"/>
          </a:p>
        </p:txBody>
      </p:sp>
      <p:sp>
        <p:nvSpPr>
          <p:cNvPr id="125" name="팀원 C"/>
          <p:cNvSpPr txBox="1"/>
          <p:nvPr/>
        </p:nvSpPr>
        <p:spPr>
          <a:xfrm>
            <a:off x="7334250" y="4946948"/>
            <a:ext cx="4196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C</a:t>
            </a:r>
            <a:endParaRPr lang="en-US" sz="1100" dirty="0"/>
          </a:p>
        </p:txBody>
      </p:sp>
      <p:sp>
        <p:nvSpPr>
          <p:cNvPr id="126" name="리모델링 적용 시나리오 구성"/>
          <p:cNvSpPr txBox="1"/>
          <p:nvPr/>
        </p:nvSpPr>
        <p:spPr>
          <a:xfrm>
            <a:off x="7219950" y="5159673"/>
            <a:ext cx="16059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리모델링 적용 시나리오 구성</a:t>
            </a:r>
            <a:endParaRPr lang="en-US" sz="1100" dirty="0"/>
          </a:p>
        </p:txBody>
      </p:sp>
      <p:sp>
        <p:nvSpPr>
          <p:cNvPr id="127" name="시연 영상 제작"/>
          <p:cNvSpPr txBox="1"/>
          <p:nvPr/>
        </p:nvSpPr>
        <p:spPr>
          <a:xfrm>
            <a:off x="7219950" y="5355233"/>
            <a:ext cx="82202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시연 영상 제작</a:t>
            </a:r>
            <a:endParaRPr lang="en-US" sz="1100" dirty="0"/>
          </a:p>
        </p:txBody>
      </p:sp>
      <p:sp>
        <p:nvSpPr>
          <p:cNvPr id="128" name="프로젝트 완성 · 장려상 수상"/>
          <p:cNvSpPr txBox="1"/>
          <p:nvPr/>
        </p:nvSpPr>
        <p:spPr>
          <a:xfrm>
            <a:off x="9677400" y="3508375"/>
            <a:ext cx="194546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프로젝트 완성 · 장려상 수상</a:t>
            </a:r>
            <a:endParaRPr lang="en-US" sz="1400" dirty="0"/>
          </a:p>
        </p:txBody>
      </p:sp>
      <p:sp>
        <p:nvSpPr>
          <p:cNvPr id="129" name="장려상"/>
          <p:cNvSpPr txBox="1"/>
          <p:nvPr/>
        </p:nvSpPr>
        <p:spPr>
          <a:xfrm>
            <a:off x="10944969" y="4457700"/>
            <a:ext cx="4112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장려상</a:t>
            </a:r>
            <a:endParaRPr lang="en-US" sz="1100" dirty="0"/>
          </a:p>
        </p:txBody>
      </p:sp>
      <p:sp>
        <p:nvSpPr>
          <p:cNvPr id="130" name="남은 3주 내 시연 영상 완성"/>
          <p:cNvSpPr txBox="1"/>
          <p:nvPr/>
        </p:nvSpPr>
        <p:spPr>
          <a:xfrm>
            <a:off x="9956800" y="5195094"/>
            <a:ext cx="150553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남은 3주 내 시연 영상 완성</a:t>
            </a:r>
            <a:endParaRPr lang="en-US" sz="1100" dirty="0"/>
          </a:p>
        </p:txBody>
      </p:sp>
      <p:sp>
        <p:nvSpPr>
          <p:cNvPr id="131" name="학생 BIM 경진대회 장려상"/>
          <p:cNvSpPr txBox="1"/>
          <p:nvPr/>
        </p:nvSpPr>
        <p:spPr>
          <a:xfrm>
            <a:off x="9956800" y="5416054"/>
            <a:ext cx="151615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8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학생 BIM 경진대회 장려상</a:t>
            </a:r>
            <a:endParaRPr lang="en-US" sz="1100" dirty="0"/>
          </a:p>
        </p:txBody>
      </p:sp>
      <p:sp>
        <p:nvSpPr>
          <p:cNvPr id="132" name="KEY MESSAGE"/>
          <p:cNvSpPr txBox="1"/>
          <p:nvPr/>
        </p:nvSpPr>
        <p:spPr>
          <a:xfrm>
            <a:off x="1308100" y="6007298"/>
            <a:ext cx="11718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950" dirty="0"/>
          </a:p>
        </p:txBody>
      </p:sp>
      <p:sp>
        <p:nvSpPr>
          <p:cNvPr id="133" name="서로 다른 사람을 하나의 공동 목표로 연결합니다"/>
          <p:cNvSpPr txBox="1"/>
          <p:nvPr/>
        </p:nvSpPr>
        <p:spPr>
          <a:xfrm>
            <a:off x="2591395" y="5954514"/>
            <a:ext cx="415166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서로 다른 사람을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공동 목표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연결합니다</a:t>
            </a:r>
            <a:endParaRPr lang="en-US" sz="1700" dirty="0"/>
          </a:p>
        </p:txBody>
      </p:sp>
      <p:sp>
        <p:nvSpPr>
          <p:cNvPr id="134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135" name="01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01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pic>
        <p:nvPicPr>
          <p:cNvPr id="8" name="p2-tag" descr="p2-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250" y="1917303"/>
            <a:ext cx="177800" cy="12700"/>
          </a:xfrm>
          <a:prstGeom prst="rect">
            <a:avLst/>
          </a:prstGeom>
        </p:spPr>
      </p:pic>
      <p:sp>
        <p:nvSpPr>
          <p:cNvPr id="9" name="em"/>
          <p:cNvSpPr/>
          <p:nvPr/>
        </p:nvSpPr>
        <p:spPr>
          <a:xfrm>
            <a:off x="3575149" y="1827312"/>
            <a:ext cx="692150" cy="184150"/>
          </a:xfrm>
          <a:prstGeom prst="roundRect">
            <a:avLst>
              <a:gd name="adj" fmla="val 27586"/>
            </a:avLst>
          </a:prstGeom>
          <a:solidFill>
            <a:srgbClr val="EEF4FC"/>
          </a:solidFill>
          <a:ln/>
        </p:spPr>
      </p:sp>
      <p:sp>
        <p:nvSpPr>
          <p:cNvPr id="10" name="p2-panel"/>
          <p:cNvSpPr/>
          <p:nvPr/>
        </p:nvSpPr>
        <p:spPr>
          <a:xfrm>
            <a:off x="615950" y="2150864"/>
            <a:ext cx="5118100" cy="2959100"/>
          </a:xfrm>
          <a:prstGeom prst="roundRect">
            <a:avLst>
              <a:gd name="adj" fmla="val 4506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11" name="i"/>
          <p:cNvSpPr/>
          <p:nvPr/>
        </p:nvSpPr>
        <p:spPr>
          <a:xfrm>
            <a:off x="1481931" y="24556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2" name="b"/>
          <p:cNvSpPr/>
          <p:nvPr/>
        </p:nvSpPr>
        <p:spPr>
          <a:xfrm>
            <a:off x="1545431" y="2481064"/>
            <a:ext cx="1397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13" name="i"/>
          <p:cNvSpPr/>
          <p:nvPr/>
        </p:nvSpPr>
        <p:spPr>
          <a:xfrm>
            <a:off x="1685131" y="24556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4" name="p2-svg" descr="p2-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650" y="2936147"/>
            <a:ext cx="3822700" cy="2023533"/>
          </a:xfrm>
          <a:prstGeom prst="rect">
            <a:avLst/>
          </a:prstGeom>
        </p:spPr>
      </p:pic>
      <p:sp>
        <p:nvSpPr>
          <p:cNvPr id="15" name="p2-n chip people"/>
          <p:cNvSpPr/>
          <p:nvPr/>
        </p:nvSpPr>
        <p:spPr>
          <a:xfrm>
            <a:off x="2861518" y="279856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6" name="dot people"/>
          <p:cNvSpPr/>
          <p:nvPr/>
        </p:nvSpPr>
        <p:spPr>
          <a:xfrm>
            <a:off x="2988518" y="29128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7" name="p2-n chip people"/>
          <p:cNvSpPr/>
          <p:nvPr/>
        </p:nvSpPr>
        <p:spPr>
          <a:xfrm>
            <a:off x="4673154" y="3491905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8" name="dot people"/>
          <p:cNvSpPr/>
          <p:nvPr/>
        </p:nvSpPr>
        <p:spPr>
          <a:xfrm>
            <a:off x="4800154" y="360620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9" name="p2-n chip people"/>
          <p:cNvSpPr/>
          <p:nvPr/>
        </p:nvSpPr>
        <p:spPr>
          <a:xfrm>
            <a:off x="3981004" y="461337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0" name="dot people"/>
          <p:cNvSpPr/>
          <p:nvPr/>
        </p:nvSpPr>
        <p:spPr>
          <a:xfrm>
            <a:off x="4108004" y="472767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1" name="p2-n chip people"/>
          <p:cNvSpPr/>
          <p:nvPr/>
        </p:nvSpPr>
        <p:spPr>
          <a:xfrm>
            <a:off x="1741934" y="461337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2" name="dot people"/>
          <p:cNvSpPr/>
          <p:nvPr/>
        </p:nvSpPr>
        <p:spPr>
          <a:xfrm>
            <a:off x="1868934" y="472767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3" name="p2-n chip people"/>
          <p:cNvSpPr/>
          <p:nvPr/>
        </p:nvSpPr>
        <p:spPr>
          <a:xfrm>
            <a:off x="926852" y="3491905"/>
            <a:ext cx="872827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4" name="dot people"/>
          <p:cNvSpPr/>
          <p:nvPr/>
        </p:nvSpPr>
        <p:spPr>
          <a:xfrm>
            <a:off x="1053852" y="360620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5" name="p2-n ring p2-goal" descr="p2-n ring p2-go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1600" y="3416631"/>
            <a:ext cx="1066800" cy="1066800"/>
          </a:xfrm>
          <a:prstGeom prst="rect">
            <a:avLst/>
          </a:prstGeom>
        </p:spPr>
      </p:pic>
      <p:pic>
        <p:nvPicPr>
          <p:cNvPr id="26" name="ring" descr="r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0" y="3696031"/>
            <a:ext cx="508000" cy="508000"/>
          </a:xfrm>
          <a:prstGeom prst="rect">
            <a:avLst/>
          </a:prstGeom>
        </p:spPr>
      </p:pic>
      <p:pic>
        <p:nvPicPr>
          <p:cNvPr id="27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0167" y="3844197"/>
            <a:ext cx="211667" cy="211667"/>
          </a:xfrm>
          <a:prstGeom prst="rect">
            <a:avLst/>
          </a:prstGeom>
        </p:spPr>
      </p:pic>
      <p:sp>
        <p:nvSpPr>
          <p:cNvPr id="28" name="p2-panel"/>
          <p:cNvSpPr/>
          <p:nvPr/>
        </p:nvSpPr>
        <p:spPr>
          <a:xfrm>
            <a:off x="6457950" y="2150864"/>
            <a:ext cx="5118100" cy="2959100"/>
          </a:xfrm>
          <a:prstGeom prst="roundRect">
            <a:avLst>
              <a:gd name="adj" fmla="val 4506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9" name="i"/>
          <p:cNvSpPr/>
          <p:nvPr/>
        </p:nvSpPr>
        <p:spPr>
          <a:xfrm>
            <a:off x="7323931" y="24556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0" name="b"/>
          <p:cNvSpPr/>
          <p:nvPr/>
        </p:nvSpPr>
        <p:spPr>
          <a:xfrm>
            <a:off x="7387431" y="2481064"/>
            <a:ext cx="1397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1" name="i"/>
          <p:cNvSpPr/>
          <p:nvPr/>
        </p:nvSpPr>
        <p:spPr>
          <a:xfrm>
            <a:off x="7527131" y="24556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2" name="p2-svg" descr="p2-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8617" y="3101247"/>
            <a:ext cx="2916767" cy="1697567"/>
          </a:xfrm>
          <a:prstGeom prst="rect">
            <a:avLst/>
          </a:prstGeom>
        </p:spPr>
      </p:pic>
      <p:sp>
        <p:nvSpPr>
          <p:cNvPr id="33" name="p2-n chip tech p2-tchip"/>
          <p:cNvSpPr/>
          <p:nvPr/>
        </p:nvSpPr>
        <p:spPr>
          <a:xfrm>
            <a:off x="6654800" y="31922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4" name="dot tech"/>
          <p:cNvSpPr/>
          <p:nvPr/>
        </p:nvSpPr>
        <p:spPr>
          <a:xfrm>
            <a:off x="6973689" y="33065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5" name="p2-n chip tech p2-tchip"/>
          <p:cNvSpPr/>
          <p:nvPr/>
        </p:nvSpPr>
        <p:spPr>
          <a:xfrm>
            <a:off x="6654800" y="38018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6" name="dot tech"/>
          <p:cNvSpPr/>
          <p:nvPr/>
        </p:nvSpPr>
        <p:spPr>
          <a:xfrm>
            <a:off x="6905427" y="39161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7" name="p2-n chip tech p2-tchip"/>
          <p:cNvSpPr/>
          <p:nvPr/>
        </p:nvSpPr>
        <p:spPr>
          <a:xfrm>
            <a:off x="6654800" y="44114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8" name="dot tech"/>
          <p:cNvSpPr/>
          <p:nvPr/>
        </p:nvSpPr>
        <p:spPr>
          <a:xfrm>
            <a:off x="6864052" y="45257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9" name="p2-n ring p2-field" descr="p2-n ring p2-fiel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3600" y="3416631"/>
            <a:ext cx="1066800" cy="1066800"/>
          </a:xfrm>
          <a:prstGeom prst="rect">
            <a:avLst/>
          </a:prstGeom>
        </p:spPr>
      </p:pic>
      <p:sp>
        <p:nvSpPr>
          <p:cNvPr id="40" name="p2-n chip field p2-ochip"/>
          <p:cNvSpPr/>
          <p:nvPr/>
        </p:nvSpPr>
        <p:spPr>
          <a:xfrm>
            <a:off x="10464800" y="29636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1" name="dot field"/>
          <p:cNvSpPr/>
          <p:nvPr/>
        </p:nvSpPr>
        <p:spPr>
          <a:xfrm>
            <a:off x="10735469" y="30779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2" name="p2-n chip field p2-ochip"/>
          <p:cNvSpPr/>
          <p:nvPr/>
        </p:nvSpPr>
        <p:spPr>
          <a:xfrm>
            <a:off x="10464800" y="35224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3" name="dot field"/>
          <p:cNvSpPr/>
          <p:nvPr/>
        </p:nvSpPr>
        <p:spPr>
          <a:xfrm>
            <a:off x="10735469" y="36367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4" name="p2-n chip field p2-ochip"/>
          <p:cNvSpPr/>
          <p:nvPr/>
        </p:nvSpPr>
        <p:spPr>
          <a:xfrm>
            <a:off x="10464800" y="40812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5" name="dot field"/>
          <p:cNvSpPr/>
          <p:nvPr/>
        </p:nvSpPr>
        <p:spPr>
          <a:xfrm>
            <a:off x="10735469" y="41955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6" name="p2-n chip field p2-ochip"/>
          <p:cNvSpPr/>
          <p:nvPr/>
        </p:nvSpPr>
        <p:spPr>
          <a:xfrm>
            <a:off x="10464800" y="46400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7" name="dot field"/>
          <p:cNvSpPr/>
          <p:nvPr/>
        </p:nvSpPr>
        <p:spPr>
          <a:xfrm>
            <a:off x="10674052" y="47543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8" name="key"/>
          <p:cNvSpPr/>
          <p:nvPr/>
        </p:nvSpPr>
        <p:spPr>
          <a:xfrm>
            <a:off x="609600" y="5725914"/>
            <a:ext cx="10972800" cy="610791"/>
          </a:xfrm>
          <a:prstGeom prst="roundRect">
            <a:avLst>
              <a:gd name="adj" fmla="val 22872"/>
            </a:avLst>
          </a:prstGeom>
          <a:solidFill>
            <a:srgbClr val="0B2147"/>
          </a:solidFill>
          <a:ln/>
        </p:spPr>
      </p:sp>
      <p:pic>
        <p:nvPicPr>
          <p:cNvPr id="49" name="p2-svg" descr="p2-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26317" y="5069747"/>
            <a:ext cx="5939367" cy="668867"/>
          </a:xfrm>
          <a:prstGeom prst="rect">
            <a:avLst/>
          </a:prstGeom>
        </p:spPr>
      </p:pic>
      <p:pic>
        <p:nvPicPr>
          <p:cNvPr id="50" name="p2-eqop ring solid" descr="p2-eqop ring soli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92800" y="5194631"/>
            <a:ext cx="406400" cy="406400"/>
          </a:xfrm>
          <a:prstGeom prst="rect">
            <a:avLst/>
          </a:prstGeom>
        </p:spPr>
      </p:pic>
      <p:pic>
        <p:nvPicPr>
          <p:cNvPr id="51" name="svg" descr="sv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02867" y="5342797"/>
            <a:ext cx="186267" cy="110067"/>
          </a:xfrm>
          <a:prstGeom prst="rect">
            <a:avLst/>
          </a:prstGeom>
        </p:spPr>
      </p:pic>
      <p:sp>
        <p:nvSpPr>
          <p:cNvPr id="52" name="i"/>
          <p:cNvSpPr/>
          <p:nvPr/>
        </p:nvSpPr>
        <p:spPr>
          <a:xfrm>
            <a:off x="863600" y="59994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53" name="b"/>
          <p:cNvSpPr/>
          <p:nvPr/>
        </p:nvSpPr>
        <p:spPr>
          <a:xfrm>
            <a:off x="927100" y="60248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4" name="i"/>
          <p:cNvSpPr/>
          <p:nvPr/>
        </p:nvSpPr>
        <p:spPr>
          <a:xfrm>
            <a:off x="1016000" y="59994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5" name="b"/>
          <p:cNvSpPr/>
          <p:nvPr/>
        </p:nvSpPr>
        <p:spPr>
          <a:xfrm>
            <a:off x="1079500" y="60248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6" name="i"/>
          <p:cNvSpPr/>
          <p:nvPr/>
        </p:nvSpPr>
        <p:spPr>
          <a:xfrm>
            <a:off x="1168400" y="59994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57" name="02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1100" dirty="0"/>
          </a:p>
        </p:txBody>
      </p:sp>
      <p:sp>
        <p:nvSpPr>
          <p:cNvPr id="58" name="PT 주제 2 · 가치체계 키워드 ‘우리의 기술’"/>
          <p:cNvSpPr txBox="1"/>
          <p:nvPr/>
        </p:nvSpPr>
        <p:spPr>
          <a:xfrm>
            <a:off x="1347589" y="419100"/>
            <a:ext cx="24272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가치체계 키워드 ‘우리의 기술’</a:t>
            </a:r>
            <a:endParaRPr lang="en-US" sz="1100" dirty="0"/>
          </a:p>
        </p:txBody>
      </p:sp>
      <p:sp>
        <p:nvSpPr>
          <p:cNvPr id="59" name="현대엔지니어링 가치체계 키워드 중"/>
          <p:cNvSpPr txBox="1"/>
          <p:nvPr/>
        </p:nvSpPr>
        <p:spPr>
          <a:xfrm>
            <a:off x="609600" y="774005"/>
            <a:ext cx="2907897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현대엔지니어링 가치체계 키워드 중</a:t>
            </a:r>
            <a:endParaRPr lang="en-US" sz="1600" dirty="0"/>
          </a:p>
        </p:txBody>
      </p:sp>
      <p:sp>
        <p:nvSpPr>
          <p:cNvPr id="60" name="저는 ‘우리의 기술’을 이렇게 이해했습니다"/>
          <p:cNvSpPr txBox="1"/>
          <p:nvPr/>
        </p:nvSpPr>
        <p:spPr>
          <a:xfrm>
            <a:off x="609600" y="1100336"/>
            <a:ext cx="5886785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저는 ‘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’을 이렇게 이해했습니다</a:t>
            </a:r>
            <a:endParaRPr lang="en-US" sz="2800" dirty="0"/>
          </a:p>
        </p:txBody>
      </p:sp>
      <p:sp>
        <p:nvSpPr>
          <p:cNvPr id="61" name="가치체계 정체성"/>
          <p:cNvSpPr txBox="1"/>
          <p:nvPr/>
        </p:nvSpPr>
        <p:spPr>
          <a:xfrm>
            <a:off x="609600" y="1847453"/>
            <a:ext cx="8592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가치체계 정체성</a:t>
            </a:r>
            <a:endParaRPr lang="en-US" sz="950" dirty="0"/>
          </a:p>
        </p:txBody>
      </p:sp>
      <p:sp>
        <p:nvSpPr>
          <p:cNvPr id="62" name="“공간과 에너지를 잇는 길 위에서, 우리의 기술로 더 나은 삶을 만듭니다"/>
          <p:cNvSpPr txBox="1"/>
          <p:nvPr/>
        </p:nvSpPr>
        <p:spPr>
          <a:xfrm>
            <a:off x="1786334" y="1833662"/>
            <a:ext cx="406468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“공간과 에너지를 잇는 길 위에서, 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로 더 나은 삶을 만듭니다”</a:t>
            </a:r>
            <a:endParaRPr lang="en-US" sz="1100" dirty="0"/>
          </a:p>
        </p:txBody>
      </p:sp>
      <p:sp>
        <p:nvSpPr>
          <p:cNvPr id="63" name="우리"/>
          <p:cNvSpPr txBox="1"/>
          <p:nvPr/>
        </p:nvSpPr>
        <p:spPr>
          <a:xfrm>
            <a:off x="812800" y="2290564"/>
            <a:ext cx="605631" cy="387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600" spc="-104" kern="0" dirty="0">
                <a:solidFill>
                  <a:srgbClr val="00A94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</a:t>
            </a:r>
            <a:endParaRPr lang="en-US" sz="2600" dirty="0"/>
          </a:p>
        </p:txBody>
      </p:sp>
      <p:sp>
        <p:nvSpPr>
          <p:cNvPr id="64" name="사람과 전문성의 연결"/>
          <p:cNvSpPr txBox="1"/>
          <p:nvPr/>
        </p:nvSpPr>
        <p:spPr>
          <a:xfrm>
            <a:off x="1862931" y="2377579"/>
            <a:ext cx="151342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전문성의 연결</a:t>
            </a:r>
            <a:endParaRPr lang="en-US" sz="1400" dirty="0"/>
          </a:p>
        </p:txBody>
      </p:sp>
      <p:sp>
        <p:nvSpPr>
          <p:cNvPr id="65" name="PEOPLE"/>
          <p:cNvSpPr txBox="1"/>
          <p:nvPr/>
        </p:nvSpPr>
        <p:spPr>
          <a:xfrm>
            <a:off x="4907855" y="2412603"/>
            <a:ext cx="68014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950" dirty="0"/>
          </a:p>
        </p:txBody>
      </p:sp>
      <p:sp>
        <p:nvSpPr>
          <p:cNvPr id="66" name="설계"/>
          <p:cNvSpPr txBox="1"/>
          <p:nvPr/>
        </p:nvSpPr>
        <p:spPr>
          <a:xfrm>
            <a:off x="3115518" y="28560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설계</a:t>
            </a:r>
            <a:endParaRPr lang="en-US" sz="1100" dirty="0"/>
          </a:p>
        </p:txBody>
      </p:sp>
      <p:sp>
        <p:nvSpPr>
          <p:cNvPr id="67" name="시공"/>
          <p:cNvSpPr txBox="1"/>
          <p:nvPr/>
        </p:nvSpPr>
        <p:spPr>
          <a:xfrm>
            <a:off x="4927154" y="354935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시공</a:t>
            </a:r>
            <a:endParaRPr lang="en-US" sz="1100" dirty="0"/>
          </a:p>
        </p:txBody>
      </p:sp>
      <p:sp>
        <p:nvSpPr>
          <p:cNvPr id="68" name="품질"/>
          <p:cNvSpPr txBox="1"/>
          <p:nvPr/>
        </p:nvSpPr>
        <p:spPr>
          <a:xfrm>
            <a:off x="4235004" y="467082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100" dirty="0"/>
          </a:p>
        </p:txBody>
      </p:sp>
      <p:sp>
        <p:nvSpPr>
          <p:cNvPr id="69" name="안전"/>
          <p:cNvSpPr txBox="1"/>
          <p:nvPr/>
        </p:nvSpPr>
        <p:spPr>
          <a:xfrm>
            <a:off x="1995934" y="467082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100" dirty="0"/>
          </a:p>
        </p:txBody>
      </p:sp>
      <p:sp>
        <p:nvSpPr>
          <p:cNvPr id="70" name="협력업체"/>
          <p:cNvSpPr txBox="1"/>
          <p:nvPr/>
        </p:nvSpPr>
        <p:spPr>
          <a:xfrm>
            <a:off x="1180852" y="3549352"/>
            <a:ext cx="54262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협력업체</a:t>
            </a:r>
            <a:endParaRPr lang="en-US" sz="1100" dirty="0"/>
          </a:p>
        </p:txBody>
      </p:sp>
      <p:sp>
        <p:nvSpPr>
          <p:cNvPr id="71" name="하나의 목표"/>
          <p:cNvSpPr txBox="1"/>
          <p:nvPr/>
        </p:nvSpPr>
        <p:spPr>
          <a:xfrm>
            <a:off x="2888952" y="3645991"/>
            <a:ext cx="572095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9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endParaRPr lang="en-US" sz="900" dirty="0"/>
          </a:p>
        </p:txBody>
      </p:sp>
      <p:sp>
        <p:nvSpPr>
          <p:cNvPr id="72" name="프로젝트"/>
          <p:cNvSpPr txBox="1"/>
          <p:nvPr/>
        </p:nvSpPr>
        <p:spPr>
          <a:xfrm>
            <a:off x="2829520" y="3818037"/>
            <a:ext cx="690959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프로젝트</a:t>
            </a:r>
            <a:endParaRPr lang="en-US" sz="1500" dirty="0"/>
          </a:p>
        </p:txBody>
      </p:sp>
      <p:sp>
        <p:nvSpPr>
          <p:cNvPr id="73" name="완수"/>
          <p:cNvSpPr txBox="1"/>
          <p:nvPr/>
        </p:nvSpPr>
        <p:spPr>
          <a:xfrm>
            <a:off x="2989560" y="4037112"/>
            <a:ext cx="37088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완수</a:t>
            </a:r>
            <a:endParaRPr lang="en-US" sz="1500" dirty="0"/>
          </a:p>
        </p:txBody>
      </p:sp>
      <p:sp>
        <p:nvSpPr>
          <p:cNvPr id="74" name="기술"/>
          <p:cNvSpPr txBox="1"/>
          <p:nvPr/>
        </p:nvSpPr>
        <p:spPr>
          <a:xfrm>
            <a:off x="6654800" y="2290564"/>
            <a:ext cx="605631" cy="387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600" spc="-10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2600" dirty="0"/>
          </a:p>
        </p:txBody>
      </p:sp>
      <p:sp>
        <p:nvSpPr>
          <p:cNvPr id="75" name="현장 문제 해결에 활용"/>
          <p:cNvSpPr txBox="1"/>
          <p:nvPr/>
        </p:nvSpPr>
        <p:spPr>
          <a:xfrm>
            <a:off x="7704931" y="2377579"/>
            <a:ext cx="1549287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 문제 해결에 활용</a:t>
            </a:r>
            <a:endParaRPr lang="en-US" sz="1400" dirty="0"/>
          </a:p>
        </p:txBody>
      </p:sp>
      <p:sp>
        <p:nvSpPr>
          <p:cNvPr id="76" name="TECHNOLOGY"/>
          <p:cNvSpPr txBox="1"/>
          <p:nvPr/>
        </p:nvSpPr>
        <p:spPr>
          <a:xfrm>
            <a:off x="10294144" y="2412603"/>
            <a:ext cx="115016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TECHNOLOGY</a:t>
            </a:r>
            <a:endParaRPr lang="en-US" sz="950" dirty="0"/>
          </a:p>
        </p:txBody>
      </p:sp>
      <p:sp>
        <p:nvSpPr>
          <p:cNvPr id="77" name="AI"/>
          <p:cNvSpPr txBox="1"/>
          <p:nvPr/>
        </p:nvSpPr>
        <p:spPr>
          <a:xfrm>
            <a:off x="7100689" y="3249712"/>
            <a:ext cx="2003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AI</a:t>
            </a:r>
            <a:endParaRPr lang="en-US" sz="1100" dirty="0"/>
          </a:p>
        </p:txBody>
      </p:sp>
      <p:sp>
        <p:nvSpPr>
          <p:cNvPr id="78" name="BIM"/>
          <p:cNvSpPr txBox="1"/>
          <p:nvPr/>
        </p:nvSpPr>
        <p:spPr>
          <a:xfrm>
            <a:off x="7032427" y="3859312"/>
            <a:ext cx="33694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BIM</a:t>
            </a:r>
            <a:endParaRPr lang="en-US" sz="1100" dirty="0"/>
          </a:p>
        </p:txBody>
      </p:sp>
      <p:sp>
        <p:nvSpPr>
          <p:cNvPr id="79" name="데이터"/>
          <p:cNvSpPr txBox="1"/>
          <p:nvPr/>
        </p:nvSpPr>
        <p:spPr>
          <a:xfrm>
            <a:off x="6991052" y="4468912"/>
            <a:ext cx="4196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데이터</a:t>
            </a:r>
            <a:endParaRPr lang="en-US" sz="1100" dirty="0"/>
          </a:p>
        </p:txBody>
      </p:sp>
      <p:sp>
        <p:nvSpPr>
          <p:cNvPr id="80" name="현장의"/>
          <p:cNvSpPr txBox="1"/>
          <p:nvPr/>
        </p:nvSpPr>
        <p:spPr>
          <a:xfrm>
            <a:off x="8751491" y="3735189"/>
            <a:ext cx="5309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</a:t>
            </a:r>
            <a:endParaRPr lang="en-US" sz="1500" dirty="0"/>
          </a:p>
        </p:txBody>
      </p:sp>
      <p:sp>
        <p:nvSpPr>
          <p:cNvPr id="81" name="문제"/>
          <p:cNvSpPr txBox="1"/>
          <p:nvPr/>
        </p:nvSpPr>
        <p:spPr>
          <a:xfrm>
            <a:off x="8831461" y="3954264"/>
            <a:ext cx="37088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</a:t>
            </a:r>
            <a:endParaRPr lang="en-US" sz="1500" dirty="0"/>
          </a:p>
        </p:txBody>
      </p:sp>
      <p:sp>
        <p:nvSpPr>
          <p:cNvPr id="82" name="공정"/>
          <p:cNvSpPr txBox="1"/>
          <p:nvPr/>
        </p:nvSpPr>
        <p:spPr>
          <a:xfrm>
            <a:off x="10862469" y="30211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</a:t>
            </a:r>
            <a:endParaRPr lang="en-US" sz="1100" dirty="0"/>
          </a:p>
        </p:txBody>
      </p:sp>
      <p:sp>
        <p:nvSpPr>
          <p:cNvPr id="83" name="품질"/>
          <p:cNvSpPr txBox="1"/>
          <p:nvPr/>
        </p:nvSpPr>
        <p:spPr>
          <a:xfrm>
            <a:off x="10862469" y="35799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100" dirty="0"/>
          </a:p>
        </p:txBody>
      </p:sp>
      <p:sp>
        <p:nvSpPr>
          <p:cNvPr id="84" name="안전"/>
          <p:cNvSpPr txBox="1"/>
          <p:nvPr/>
        </p:nvSpPr>
        <p:spPr>
          <a:xfrm>
            <a:off x="10862469" y="41387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100" dirty="0"/>
          </a:p>
        </p:txBody>
      </p:sp>
      <p:sp>
        <p:nvSpPr>
          <p:cNvPr id="85" name="생산성"/>
          <p:cNvSpPr txBox="1"/>
          <p:nvPr/>
        </p:nvSpPr>
        <p:spPr>
          <a:xfrm>
            <a:off x="10801052" y="4697512"/>
            <a:ext cx="4196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생산성</a:t>
            </a:r>
            <a:endParaRPr lang="en-US" sz="1100" dirty="0"/>
          </a:p>
        </p:txBody>
      </p:sp>
      <p:sp>
        <p:nvSpPr>
          <p:cNvPr id="86" name="‘우리’의 ‘기술’"/>
          <p:cNvSpPr txBox="1"/>
          <p:nvPr/>
        </p:nvSpPr>
        <p:spPr>
          <a:xfrm>
            <a:off x="1308100" y="5942707"/>
            <a:ext cx="86548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11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‘우리’의 ‘기술’</a:t>
            </a:r>
            <a:endParaRPr lang="en-US" sz="1100" dirty="0"/>
          </a:p>
        </p:txBody>
      </p:sp>
      <p:sp>
        <p:nvSpPr>
          <p:cNvPr id="87" name="사람과 전문성을 하나의 목표로, 기술을 현장의 가치로 연결하는 것"/>
          <p:cNvSpPr txBox="1"/>
          <p:nvPr/>
        </p:nvSpPr>
        <p:spPr>
          <a:xfrm>
            <a:off x="2300585" y="5903714"/>
            <a:ext cx="565709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로, 기술을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가치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연결하는 것</a:t>
            </a:r>
            <a:endParaRPr lang="en-US" sz="1700" dirty="0"/>
          </a:p>
        </p:txBody>
      </p:sp>
      <p:sp>
        <p:nvSpPr>
          <p:cNvPr id="88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89" name="02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02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pic>
        <p:nvPicPr>
          <p:cNvPr id="8" name="svg" descr="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817" y="2347714"/>
            <a:ext cx="8020050" cy="2683933"/>
          </a:xfrm>
          <a:prstGeom prst="rect">
            <a:avLst/>
          </a:prstGeom>
        </p:spPr>
      </p:pic>
      <p:sp>
        <p:nvSpPr>
          <p:cNvPr id="9" name="dot field"/>
          <p:cNvSpPr/>
          <p:nvPr/>
        </p:nvSpPr>
        <p:spPr>
          <a:xfrm>
            <a:off x="609600" y="18609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10" name="a node ring n-field" descr="a node ring n-f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902281"/>
            <a:ext cx="1574800" cy="1574800"/>
          </a:xfrm>
          <a:prstGeom prst="rect">
            <a:avLst/>
          </a:prstGeom>
        </p:spPr>
      </p:pic>
      <p:pic>
        <p:nvPicPr>
          <p:cNvPr id="11" name="ic" descr="i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6717" y="3447091"/>
            <a:ext cx="300567" cy="177800"/>
          </a:xfrm>
          <a:prstGeom prst="rect">
            <a:avLst/>
          </a:prstGeom>
        </p:spPr>
      </p:pic>
      <p:pic>
        <p:nvPicPr>
          <p:cNvPr id="12" name="li" descr="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724731"/>
            <a:ext cx="88900" cy="12700"/>
          </a:xfrm>
          <a:prstGeom prst="rect">
            <a:avLst/>
          </a:prstGeom>
        </p:spPr>
      </p:pic>
      <p:pic>
        <p:nvPicPr>
          <p:cNvPr id="13" name="li" descr="l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966196"/>
            <a:ext cx="88900" cy="12700"/>
          </a:xfrm>
          <a:prstGeom prst="rect">
            <a:avLst/>
          </a:prstGeom>
        </p:spPr>
      </p:pic>
      <p:pic>
        <p:nvPicPr>
          <p:cNvPr id="14" name="a node ring joint" descr="a node ring joi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8900" y="3473781"/>
            <a:ext cx="431800" cy="431800"/>
          </a:xfrm>
          <a:prstGeom prst="rect">
            <a:avLst/>
          </a:prstGeom>
        </p:spPr>
      </p:pic>
      <p:pic>
        <p:nvPicPr>
          <p:cNvPr id="15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0717" y="3615597"/>
            <a:ext cx="148167" cy="148167"/>
          </a:xfrm>
          <a:prstGeom prst="rect">
            <a:avLst/>
          </a:prstGeom>
        </p:spPr>
      </p:pic>
      <p:sp>
        <p:nvSpPr>
          <p:cNvPr id="16" name="a ms"/>
          <p:cNvSpPr/>
          <p:nvPr/>
        </p:nvSpPr>
        <p:spPr>
          <a:xfrm>
            <a:off x="2476202" y="3998714"/>
            <a:ext cx="737195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sp>
        <p:nvSpPr>
          <p:cNvPr id="17" name="dot people"/>
          <p:cNvSpPr/>
          <p:nvPr/>
        </p:nvSpPr>
        <p:spPr>
          <a:xfrm>
            <a:off x="4178300" y="1860947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8" name="li" descr="l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78300" y="2394777"/>
            <a:ext cx="88900" cy="12700"/>
          </a:xfrm>
          <a:prstGeom prst="rect">
            <a:avLst/>
          </a:prstGeom>
        </p:spPr>
      </p:pic>
      <p:pic>
        <p:nvPicPr>
          <p:cNvPr id="19" name="li" descr="l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78300" y="2636242"/>
            <a:ext cx="88900" cy="12700"/>
          </a:xfrm>
          <a:prstGeom prst="rect">
            <a:avLst/>
          </a:prstGeom>
        </p:spPr>
      </p:pic>
      <p:sp>
        <p:nvSpPr>
          <p:cNvPr id="20" name="a node n-ppl"/>
          <p:cNvSpPr/>
          <p:nvPr/>
        </p:nvSpPr>
        <p:spPr>
          <a:xfrm>
            <a:off x="4187825" y="2852539"/>
            <a:ext cx="615950" cy="615950"/>
          </a:xfrm>
          <a:prstGeom prst="ellipse">
            <a:avLst/>
          </a:prstGeom>
          <a:solidFill>
            <a:srgbClr val="E5F6EC"/>
          </a:solidFill>
          <a:ln w="19050">
            <a:solidFill>
              <a:srgbClr val="00A94F"/>
            </a:solidFill>
            <a:prstDash val="solid"/>
          </a:ln>
        </p:spPr>
      </p:sp>
      <p:pic>
        <p:nvPicPr>
          <p:cNvPr id="21" name="ic" descr="ic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15367" y="2998821"/>
            <a:ext cx="160867" cy="129117"/>
          </a:xfrm>
          <a:prstGeom prst="rect">
            <a:avLst/>
          </a:prstGeom>
        </p:spPr>
      </p:pic>
      <p:sp>
        <p:nvSpPr>
          <p:cNvPr id="22" name="a chip ghost gh"/>
          <p:cNvSpPr/>
          <p:nvPr/>
        </p:nvSpPr>
        <p:spPr>
          <a:xfrm>
            <a:off x="6323707" y="2836664"/>
            <a:ext cx="629543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3" name="a plus"/>
          <p:cNvSpPr/>
          <p:nvPr/>
        </p:nvSpPr>
        <p:spPr>
          <a:xfrm>
            <a:off x="5772150" y="3541514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EDD"/>
            </a:solidFill>
            <a:prstDash val="solid"/>
          </a:ln>
        </p:spPr>
      </p:sp>
      <p:pic>
        <p:nvPicPr>
          <p:cNvPr id="24" name="svg" descr="sv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65283" y="3636764"/>
            <a:ext cx="105833" cy="105833"/>
          </a:xfrm>
          <a:prstGeom prst="rect">
            <a:avLst/>
          </a:prstGeom>
        </p:spPr>
      </p:pic>
      <p:sp>
        <p:nvSpPr>
          <p:cNvPr id="25" name="a node n-tch"/>
          <p:cNvSpPr/>
          <p:nvPr/>
        </p:nvSpPr>
        <p:spPr>
          <a:xfrm>
            <a:off x="4187825" y="3906639"/>
            <a:ext cx="615950" cy="615950"/>
          </a:xfrm>
          <a:prstGeom prst="ellipse">
            <a:avLst/>
          </a:prstGeom>
          <a:solidFill>
            <a:srgbClr val="EEF4FC"/>
          </a:solidFill>
          <a:ln w="19050">
            <a:solidFill>
              <a:srgbClr val="004B8D"/>
            </a:solidFill>
            <a:prstDash val="solid"/>
          </a:ln>
        </p:spPr>
      </p:sp>
      <p:pic>
        <p:nvPicPr>
          <p:cNvPr id="26" name="ic" descr="ic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21717" y="4033871"/>
            <a:ext cx="148167" cy="160867"/>
          </a:xfrm>
          <a:prstGeom prst="rect">
            <a:avLst/>
          </a:prstGeom>
        </p:spPr>
      </p:pic>
      <p:sp>
        <p:nvSpPr>
          <p:cNvPr id="27" name="a chip ghost gh"/>
          <p:cNvSpPr/>
          <p:nvPr/>
        </p:nvSpPr>
        <p:spPr>
          <a:xfrm>
            <a:off x="5996781" y="4309864"/>
            <a:ext cx="956469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8" name="dot tech"/>
          <p:cNvSpPr/>
          <p:nvPr/>
        </p:nvSpPr>
        <p:spPr>
          <a:xfrm>
            <a:off x="4178300" y="4667647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29" name="li" descr="li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78300" y="5201477"/>
            <a:ext cx="88900" cy="12700"/>
          </a:xfrm>
          <a:prstGeom prst="rect">
            <a:avLst/>
          </a:prstGeom>
        </p:spPr>
      </p:pic>
      <p:pic>
        <p:nvPicPr>
          <p:cNvPr id="30" name="li" descr="li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78300" y="5442942"/>
            <a:ext cx="88900" cy="12700"/>
          </a:xfrm>
          <a:prstGeom prst="rect">
            <a:avLst/>
          </a:prstGeom>
        </p:spPr>
      </p:pic>
      <p:sp>
        <p:nvSpPr>
          <p:cNvPr id="31" name="dot field"/>
          <p:cNvSpPr/>
          <p:nvPr/>
        </p:nvSpPr>
        <p:spPr>
          <a:xfrm>
            <a:off x="8089900" y="18609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2" name="a node ring solid n-imp" descr="a node ring solid n-imp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89900" y="2876881"/>
            <a:ext cx="1625600" cy="1625600"/>
          </a:xfrm>
          <a:prstGeom prst="rect">
            <a:avLst/>
          </a:prstGeom>
        </p:spPr>
      </p:pic>
      <p:pic>
        <p:nvPicPr>
          <p:cNvPr id="33" name="ic" descr="ic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65117" y="3434391"/>
            <a:ext cx="275167" cy="165100"/>
          </a:xfrm>
          <a:prstGeom prst="rect">
            <a:avLst/>
          </a:prstGeom>
        </p:spPr>
      </p:pic>
      <p:sp>
        <p:nvSpPr>
          <p:cNvPr id="34" name="a ms"/>
          <p:cNvSpPr/>
          <p:nvPr/>
        </p:nvSpPr>
        <p:spPr>
          <a:xfrm>
            <a:off x="8534102" y="4532114"/>
            <a:ext cx="737195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sp>
        <p:nvSpPr>
          <p:cNvPr id="35" name="a chip field oc"/>
          <p:cNvSpPr/>
          <p:nvPr/>
        </p:nvSpPr>
        <p:spPr>
          <a:xfrm>
            <a:off x="10185400" y="2163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6" name="dot field"/>
          <p:cNvSpPr/>
          <p:nvPr/>
        </p:nvSpPr>
        <p:spPr>
          <a:xfrm>
            <a:off x="10325100" y="2309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7" name="a chip field oc"/>
          <p:cNvSpPr/>
          <p:nvPr/>
        </p:nvSpPr>
        <p:spPr>
          <a:xfrm>
            <a:off x="10185400" y="3052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8" name="dot field"/>
          <p:cNvSpPr/>
          <p:nvPr/>
        </p:nvSpPr>
        <p:spPr>
          <a:xfrm>
            <a:off x="10325100" y="3198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9" name="a chip field oc"/>
          <p:cNvSpPr/>
          <p:nvPr/>
        </p:nvSpPr>
        <p:spPr>
          <a:xfrm>
            <a:off x="10185400" y="3941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0" name="dot field"/>
          <p:cNvSpPr/>
          <p:nvPr/>
        </p:nvSpPr>
        <p:spPr>
          <a:xfrm>
            <a:off x="10325100" y="4087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1" name="a chip field oc"/>
          <p:cNvSpPr/>
          <p:nvPr/>
        </p:nvSpPr>
        <p:spPr>
          <a:xfrm>
            <a:off x="10185400" y="4830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2" name="dot field"/>
          <p:cNvSpPr/>
          <p:nvPr/>
        </p:nvSpPr>
        <p:spPr>
          <a:xfrm>
            <a:off x="10325100" y="4976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3" name="key"/>
          <p:cNvSpPr/>
          <p:nvPr/>
        </p:nvSpPr>
        <p:spPr>
          <a:xfrm>
            <a:off x="609600" y="5738614"/>
            <a:ext cx="10972800" cy="610791"/>
          </a:xfrm>
          <a:prstGeom prst="roundRect">
            <a:avLst>
              <a:gd name="adj" fmla="val 22872"/>
            </a:avLst>
          </a:prstGeom>
          <a:solidFill>
            <a:srgbClr val="0B2147"/>
          </a:solidFill>
          <a:ln/>
        </p:spPr>
      </p:sp>
      <p:sp>
        <p:nvSpPr>
          <p:cNvPr id="44" name="i"/>
          <p:cNvSpPr/>
          <p:nvPr/>
        </p:nvSpPr>
        <p:spPr>
          <a:xfrm>
            <a:off x="863600" y="60121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5" name="b"/>
          <p:cNvSpPr/>
          <p:nvPr/>
        </p:nvSpPr>
        <p:spPr>
          <a:xfrm>
            <a:off x="927100" y="60375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6" name="i"/>
          <p:cNvSpPr/>
          <p:nvPr/>
        </p:nvSpPr>
        <p:spPr>
          <a:xfrm>
            <a:off x="1016000" y="60121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7" name="b"/>
          <p:cNvSpPr/>
          <p:nvPr/>
        </p:nvSpPr>
        <p:spPr>
          <a:xfrm>
            <a:off x="1079500" y="60375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8" name="i"/>
          <p:cNvSpPr/>
          <p:nvPr/>
        </p:nvSpPr>
        <p:spPr>
          <a:xfrm>
            <a:off x="1168400" y="60121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9" name="03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1100" dirty="0"/>
          </a:p>
        </p:txBody>
      </p:sp>
      <p:sp>
        <p:nvSpPr>
          <p:cNvPr id="50" name="PT 주제 2 · 입사 후 실천"/>
          <p:cNvSpPr txBox="1"/>
          <p:nvPr/>
        </p:nvSpPr>
        <p:spPr>
          <a:xfrm>
            <a:off x="1347589" y="419100"/>
            <a:ext cx="141897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입사 후 실천</a:t>
            </a:r>
            <a:endParaRPr lang="en-US" sz="1100" dirty="0"/>
          </a:p>
        </p:txBody>
      </p:sp>
      <p:sp>
        <p:nvSpPr>
          <p:cNvPr id="51" name="입사 후"/>
          <p:cNvSpPr txBox="1"/>
          <p:nvPr/>
        </p:nvSpPr>
        <p:spPr>
          <a:xfrm>
            <a:off x="609600" y="774005"/>
            <a:ext cx="615752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입사 후</a:t>
            </a:r>
            <a:endParaRPr lang="en-US" sz="1600" dirty="0"/>
          </a:p>
        </p:txBody>
      </p:sp>
      <p:sp>
        <p:nvSpPr>
          <p:cNvPr id="52" name="기술을 실질적인 현장 개선으로 연결하는 공사관리자가 되겠습니다"/>
          <p:cNvSpPr txBox="1"/>
          <p:nvPr/>
        </p:nvSpPr>
        <p:spPr>
          <a:xfrm>
            <a:off x="609600" y="1100336"/>
            <a:ext cx="9336844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실질적인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개선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으로 연결하는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공사관리자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가 되겠습니다</a:t>
            </a:r>
            <a:endParaRPr lang="en-US" sz="2800" dirty="0"/>
          </a:p>
        </p:txBody>
      </p:sp>
      <p:sp>
        <p:nvSpPr>
          <p:cNvPr id="53" name="STEP 01"/>
          <p:cNvSpPr txBox="1"/>
          <p:nvPr/>
        </p:nvSpPr>
        <p:spPr>
          <a:xfrm>
            <a:off x="7366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01</a:t>
            </a:r>
            <a:endParaRPr lang="en-US" sz="950" dirty="0"/>
          </a:p>
        </p:txBody>
      </p:sp>
      <p:sp>
        <p:nvSpPr>
          <p:cNvPr id="54" name="FIELD"/>
          <p:cNvSpPr txBox="1"/>
          <p:nvPr/>
        </p:nvSpPr>
        <p:spPr>
          <a:xfrm>
            <a:off x="1394420" y="1814314"/>
            <a:ext cx="5163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FIELD</a:t>
            </a:r>
            <a:endParaRPr lang="en-US" sz="950" dirty="0"/>
          </a:p>
        </p:txBody>
      </p:sp>
      <p:sp>
        <p:nvSpPr>
          <p:cNvPr id="55" name="현장을 이해한다"/>
          <p:cNvSpPr txBox="1"/>
          <p:nvPr/>
        </p:nvSpPr>
        <p:spPr>
          <a:xfrm>
            <a:off x="609600" y="20155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현장을 이해한다</a:t>
            </a:r>
            <a:endParaRPr lang="en-US" sz="1400" dirty="0"/>
          </a:p>
        </p:txBody>
      </p:sp>
      <p:sp>
        <p:nvSpPr>
          <p:cNvPr id="56" name="현장"/>
          <p:cNvSpPr txBox="1"/>
          <p:nvPr/>
        </p:nvSpPr>
        <p:spPr>
          <a:xfrm>
            <a:off x="1134070" y="3718024"/>
            <a:ext cx="525859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spc="-6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</a:t>
            </a:r>
            <a:endParaRPr lang="en-US" sz="2200" dirty="0"/>
          </a:p>
        </p:txBody>
      </p:sp>
      <p:sp>
        <p:nvSpPr>
          <p:cNvPr id="57" name="공정 · 품질 · 안전"/>
          <p:cNvSpPr txBox="1"/>
          <p:nvPr/>
        </p:nvSpPr>
        <p:spPr>
          <a:xfrm>
            <a:off x="774700" y="4633714"/>
            <a:ext cx="11441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공정 · 품질 · 안전</a:t>
            </a:r>
            <a:endParaRPr lang="en-US" sz="1300" dirty="0"/>
          </a:p>
        </p:txBody>
      </p:sp>
      <p:sp>
        <p:nvSpPr>
          <p:cNvPr id="58" name="시공관리 기본기"/>
          <p:cNvSpPr txBox="1"/>
          <p:nvPr/>
        </p:nvSpPr>
        <p:spPr>
          <a:xfrm>
            <a:off x="774700" y="4870946"/>
            <a:ext cx="1088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시공관리 기본기</a:t>
            </a:r>
            <a:endParaRPr lang="en-US" sz="1300" dirty="0"/>
          </a:p>
        </p:txBody>
      </p:sp>
      <p:sp>
        <p:nvSpPr>
          <p:cNvPr id="59" name="문제 발견"/>
          <p:cNvSpPr txBox="1"/>
          <p:nvPr/>
        </p:nvSpPr>
        <p:spPr>
          <a:xfrm>
            <a:off x="2590502" y="4043462"/>
            <a:ext cx="5593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발견</a:t>
            </a:r>
            <a:endParaRPr lang="en-US" sz="1100" dirty="0"/>
          </a:p>
        </p:txBody>
      </p:sp>
      <p:sp>
        <p:nvSpPr>
          <p:cNvPr id="60" name="STEP 02"/>
          <p:cNvSpPr txBox="1"/>
          <p:nvPr/>
        </p:nvSpPr>
        <p:spPr>
          <a:xfrm>
            <a:off x="43053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02</a:t>
            </a:r>
            <a:endParaRPr lang="en-US" sz="950" dirty="0"/>
          </a:p>
        </p:txBody>
      </p:sp>
      <p:sp>
        <p:nvSpPr>
          <p:cNvPr id="61" name="PEOPLE"/>
          <p:cNvSpPr txBox="1"/>
          <p:nvPr/>
        </p:nvSpPr>
        <p:spPr>
          <a:xfrm>
            <a:off x="4963120" y="1814314"/>
            <a:ext cx="68014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73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950" dirty="0"/>
          </a:p>
        </p:txBody>
      </p:sp>
      <p:sp>
        <p:nvSpPr>
          <p:cNvPr id="62" name="사람을 연결한다"/>
          <p:cNvSpPr txBox="1"/>
          <p:nvPr/>
        </p:nvSpPr>
        <p:spPr>
          <a:xfrm>
            <a:off x="4178300" y="20155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사람을 연결한다</a:t>
            </a:r>
            <a:endParaRPr lang="en-US" sz="1400" dirty="0"/>
          </a:p>
        </p:txBody>
      </p:sp>
      <p:sp>
        <p:nvSpPr>
          <p:cNvPr id="63" name="유관부서 · 협력업체 · 공종"/>
          <p:cNvSpPr txBox="1"/>
          <p:nvPr/>
        </p:nvSpPr>
        <p:spPr>
          <a:xfrm>
            <a:off x="4343400" y="2303760"/>
            <a:ext cx="17462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유관부서 · 협력업체 · 공종</a:t>
            </a:r>
            <a:endParaRPr lang="en-US" sz="1300" dirty="0"/>
          </a:p>
        </p:txBody>
      </p:sp>
      <p:sp>
        <p:nvSpPr>
          <p:cNvPr id="64" name="목표 · 진행상황 공유"/>
          <p:cNvSpPr txBox="1"/>
          <p:nvPr/>
        </p:nvSpPr>
        <p:spPr>
          <a:xfrm>
            <a:off x="4343400" y="2540992"/>
            <a:ext cx="13596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목표 · 진행상황 공유</a:t>
            </a:r>
            <a:endParaRPr lang="en-US" sz="1300" dirty="0"/>
          </a:p>
        </p:txBody>
      </p:sp>
      <p:sp>
        <p:nvSpPr>
          <p:cNvPr id="65" name="사람"/>
          <p:cNvSpPr txBox="1"/>
          <p:nvPr/>
        </p:nvSpPr>
        <p:spPr>
          <a:xfrm>
            <a:off x="4330005" y="3168154"/>
            <a:ext cx="3314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300" spc="-39" kern="0" dirty="0">
                <a:solidFill>
                  <a:srgbClr val="007336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</a:t>
            </a:r>
            <a:endParaRPr lang="en-US" sz="1300" dirty="0"/>
          </a:p>
        </p:txBody>
      </p:sp>
      <p:sp>
        <p:nvSpPr>
          <p:cNvPr id="66" name="01"/>
          <p:cNvSpPr txBox="1"/>
          <p:nvPr/>
        </p:nvSpPr>
        <p:spPr>
          <a:xfrm>
            <a:off x="6431657" y="2880816"/>
            <a:ext cx="21242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900" dirty="0"/>
          </a:p>
        </p:txBody>
      </p:sp>
      <p:sp>
        <p:nvSpPr>
          <p:cNvPr id="67" name="협업"/>
          <p:cNvSpPr txBox="1"/>
          <p:nvPr/>
        </p:nvSpPr>
        <p:spPr>
          <a:xfrm>
            <a:off x="6644084" y="2880816"/>
            <a:ext cx="252016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협업</a:t>
            </a:r>
            <a:endParaRPr lang="en-US" sz="900" dirty="0"/>
          </a:p>
        </p:txBody>
      </p:sp>
      <p:sp>
        <p:nvSpPr>
          <p:cNvPr id="68" name="기술"/>
          <p:cNvSpPr txBox="1"/>
          <p:nvPr/>
        </p:nvSpPr>
        <p:spPr>
          <a:xfrm>
            <a:off x="4330005" y="4222254"/>
            <a:ext cx="3314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300" spc="-39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1300" dirty="0"/>
          </a:p>
        </p:txBody>
      </p:sp>
      <p:sp>
        <p:nvSpPr>
          <p:cNvPr id="69" name="02"/>
          <p:cNvSpPr txBox="1"/>
          <p:nvPr/>
        </p:nvSpPr>
        <p:spPr>
          <a:xfrm>
            <a:off x="6104731" y="4354016"/>
            <a:ext cx="21242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900" dirty="0"/>
          </a:p>
        </p:txBody>
      </p:sp>
      <p:sp>
        <p:nvSpPr>
          <p:cNvPr id="70" name="우리의 기술"/>
          <p:cNvSpPr txBox="1"/>
          <p:nvPr/>
        </p:nvSpPr>
        <p:spPr>
          <a:xfrm>
            <a:off x="6317159" y="4354016"/>
            <a:ext cx="578941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우리의 기술</a:t>
            </a:r>
            <a:endParaRPr lang="en-US" sz="900" dirty="0"/>
          </a:p>
        </p:txBody>
      </p:sp>
      <p:sp>
        <p:nvSpPr>
          <p:cNvPr id="71" name="STEP 03"/>
          <p:cNvSpPr txBox="1"/>
          <p:nvPr/>
        </p:nvSpPr>
        <p:spPr>
          <a:xfrm>
            <a:off x="4305300" y="46210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03</a:t>
            </a:r>
            <a:endParaRPr lang="en-US" sz="950" dirty="0"/>
          </a:p>
        </p:txBody>
      </p:sp>
      <p:sp>
        <p:nvSpPr>
          <p:cNvPr id="72" name="TECH"/>
          <p:cNvSpPr txBox="1"/>
          <p:nvPr/>
        </p:nvSpPr>
        <p:spPr>
          <a:xfrm>
            <a:off x="4963120" y="4621014"/>
            <a:ext cx="46940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</a:t>
            </a:r>
            <a:endParaRPr lang="en-US" sz="950" dirty="0"/>
          </a:p>
        </p:txBody>
      </p:sp>
      <p:sp>
        <p:nvSpPr>
          <p:cNvPr id="73" name="기술을 연결한다"/>
          <p:cNvSpPr txBox="1"/>
          <p:nvPr/>
        </p:nvSpPr>
        <p:spPr>
          <a:xfrm>
            <a:off x="4178300" y="48222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연결한다</a:t>
            </a:r>
            <a:endParaRPr lang="en-US" sz="1400" dirty="0"/>
          </a:p>
        </p:txBody>
      </p:sp>
      <p:sp>
        <p:nvSpPr>
          <p:cNvPr id="74" name="BIM 간섭 · 시공성 사전 검토"/>
          <p:cNvSpPr txBox="1"/>
          <p:nvPr/>
        </p:nvSpPr>
        <p:spPr>
          <a:xfrm>
            <a:off x="4343400" y="5110460"/>
            <a:ext cx="19254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BIM 간섭 · 시공성 사전 검토</a:t>
            </a:r>
            <a:endParaRPr lang="en-US" sz="1300" dirty="0"/>
          </a:p>
        </p:txBody>
      </p:sp>
      <p:sp>
        <p:nvSpPr>
          <p:cNvPr id="75" name="AI 반복업무 효율화"/>
          <p:cNvSpPr txBox="1"/>
          <p:nvPr/>
        </p:nvSpPr>
        <p:spPr>
          <a:xfrm>
            <a:off x="4343400" y="5347692"/>
            <a:ext cx="13005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AI 반복업무 효율화</a:t>
            </a:r>
            <a:endParaRPr lang="en-US" sz="1300" dirty="0"/>
          </a:p>
        </p:txBody>
      </p:sp>
      <p:sp>
        <p:nvSpPr>
          <p:cNvPr id="76" name="STEP 04"/>
          <p:cNvSpPr txBox="1"/>
          <p:nvPr/>
        </p:nvSpPr>
        <p:spPr>
          <a:xfrm>
            <a:off x="82169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04</a:t>
            </a:r>
            <a:endParaRPr lang="en-US" sz="950" dirty="0"/>
          </a:p>
        </p:txBody>
      </p:sp>
      <p:sp>
        <p:nvSpPr>
          <p:cNvPr id="77" name="IMPROVE"/>
          <p:cNvSpPr txBox="1"/>
          <p:nvPr/>
        </p:nvSpPr>
        <p:spPr>
          <a:xfrm>
            <a:off x="8874720" y="1814314"/>
            <a:ext cx="78819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IMPROVE</a:t>
            </a:r>
            <a:endParaRPr lang="en-US" sz="950" dirty="0"/>
          </a:p>
        </p:txBody>
      </p:sp>
      <p:sp>
        <p:nvSpPr>
          <p:cNvPr id="78" name="현장의 변화를 만든다"/>
          <p:cNvSpPr txBox="1"/>
          <p:nvPr/>
        </p:nvSpPr>
        <p:spPr>
          <a:xfrm>
            <a:off x="8089900" y="2015530"/>
            <a:ext cx="151342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 변화를 만든다</a:t>
            </a:r>
            <a:endParaRPr lang="en-US" sz="1400" dirty="0"/>
          </a:p>
        </p:txBody>
      </p:sp>
      <p:sp>
        <p:nvSpPr>
          <p:cNvPr id="79" name="변화"/>
          <p:cNvSpPr txBox="1"/>
          <p:nvPr/>
        </p:nvSpPr>
        <p:spPr>
          <a:xfrm>
            <a:off x="8639770" y="3711674"/>
            <a:ext cx="525859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spc="-66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변화</a:t>
            </a:r>
            <a:endParaRPr lang="en-US" sz="2200" dirty="0"/>
          </a:p>
        </p:txBody>
      </p:sp>
      <p:sp>
        <p:nvSpPr>
          <p:cNvPr id="80" name="문제 해결"/>
          <p:cNvSpPr txBox="1"/>
          <p:nvPr/>
        </p:nvSpPr>
        <p:spPr>
          <a:xfrm>
            <a:off x="8648402" y="4576862"/>
            <a:ext cx="5593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해결</a:t>
            </a:r>
            <a:endParaRPr lang="en-US" sz="1100" dirty="0"/>
          </a:p>
        </p:txBody>
      </p:sp>
      <p:sp>
        <p:nvSpPr>
          <p:cNvPr id="81" name="공정 개선"/>
          <p:cNvSpPr txBox="1"/>
          <p:nvPr/>
        </p:nvSpPr>
        <p:spPr>
          <a:xfrm>
            <a:off x="10502900" y="2253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공정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2" name="품질 개선"/>
          <p:cNvSpPr txBox="1"/>
          <p:nvPr/>
        </p:nvSpPr>
        <p:spPr>
          <a:xfrm>
            <a:off x="10502900" y="3142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품질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3" name="안전 개선"/>
          <p:cNvSpPr txBox="1"/>
          <p:nvPr/>
        </p:nvSpPr>
        <p:spPr>
          <a:xfrm>
            <a:off x="10502900" y="4031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안전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4" name="생산성 개선"/>
          <p:cNvSpPr txBox="1"/>
          <p:nvPr/>
        </p:nvSpPr>
        <p:spPr>
          <a:xfrm>
            <a:off x="10502900" y="4920456"/>
            <a:ext cx="79384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생산성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5" name="KEY MESSAGE"/>
          <p:cNvSpPr txBox="1"/>
          <p:nvPr/>
        </p:nvSpPr>
        <p:spPr>
          <a:xfrm>
            <a:off x="1308100" y="5969198"/>
            <a:ext cx="11718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950" dirty="0"/>
          </a:p>
        </p:txBody>
      </p:sp>
      <p:sp>
        <p:nvSpPr>
          <p:cNvPr id="86" name="사람 · 전문성 · 기술을 연결해 현장의 변화를 만들겠습니다"/>
          <p:cNvSpPr txBox="1"/>
          <p:nvPr/>
        </p:nvSpPr>
        <p:spPr>
          <a:xfrm>
            <a:off x="2591395" y="5916414"/>
            <a:ext cx="495580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 · 전문성 · 기술을 연결해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를 만들겠습니다</a:t>
            </a:r>
            <a:endParaRPr lang="en-US" sz="1700" dirty="0"/>
          </a:p>
        </p:txBody>
      </p:sp>
      <p:sp>
        <p:nvSpPr>
          <p:cNvPr id="87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88" name="03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03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perlogy 8 ExtraBold"/>
        <a:ea typeface="Paperlogy 5 Medium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 5 Medium"/>
        <a:ea typeface="Paperlogy 5 Medium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현대엔지니어링 PT · 가로형</dc:title>
  <dc:subject>PptxGenJS Presentation</dc:subject>
  <dc:creator>PptxGenJS</dc:creator>
  <cp:lastModifiedBy>PptxGenJS</cp:lastModifiedBy>
  <cp:revision>1</cp:revision>
  <dcterms:created xsi:type="dcterms:W3CDTF">2026-10-08T14:23:02Z</dcterms:created>
  <dcterms:modified xsi:type="dcterms:W3CDTF">2026-10-08T14:23:02Z</dcterms:modified>
</cp:coreProperties>
</file>