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학부 시절 여러 팀 프로젝트를 수행하며 처음에는 각자 맡은 역할만 잘 수행하는 것이 협업이라고 생각했습니다.
그러나 프로젝트를 거듭하며 개인의 역할 수행만큼 팀이 같은 목표와 방향을 공유하는 것이 중요함을 깨달았습니다.
학생 BIM 경진대회에서 이를 실천했습니다.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‘우리’는 다양한 사람과 전문성의 연결, ‘기술’은 새로운 가치를 만들어 미래 사업으로 연결하는 원동력입니다.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제가 만들고 싶은 현장의 변화는 거창한 기술 혁신만을 의미하지 않습니다. 공정 간 간섭을 사전에 발견해 재작업을 줄이고, 반복 업무를 효율화해 현장 구성원들이 본연의 업무에 집중할 수 있도록 만드는 작은 개선부터 시작하겠습니다.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"/>
          <p:cNvSpPr/>
          <p:nvPr/>
        </p:nvSpPr>
        <p:spPr>
          <a:xfrm>
            <a:off x="508000" y="339725"/>
            <a:ext cx="63500" cy="6350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" name="b"/>
          <p:cNvSpPr/>
          <p:nvPr/>
        </p:nvSpPr>
        <p:spPr>
          <a:xfrm>
            <a:off x="571500" y="365125"/>
            <a:ext cx="88900" cy="12700"/>
          </a:xfrm>
          <a:prstGeom prst="rect">
            <a:avLst/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" name="i"/>
          <p:cNvSpPr/>
          <p:nvPr/>
        </p:nvSpPr>
        <p:spPr>
          <a:xfrm>
            <a:off x="660400" y="339725"/>
            <a:ext cx="63500" cy="6350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" name="b"/>
          <p:cNvSpPr/>
          <p:nvPr/>
        </p:nvSpPr>
        <p:spPr>
          <a:xfrm>
            <a:off x="723900" y="365125"/>
            <a:ext cx="88900" cy="12700"/>
          </a:xfrm>
          <a:prstGeom prst="rect">
            <a:avLst/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" name="i"/>
          <p:cNvSpPr/>
          <p:nvPr/>
        </p:nvSpPr>
        <p:spPr>
          <a:xfrm>
            <a:off x="812800" y="339725"/>
            <a:ext cx="63500" cy="63500"/>
          </a:xfrm>
          <a:prstGeom prst="ellipse">
            <a:avLst/>
          </a:prstGeom>
          <a:solidFill>
            <a:srgbClr val="FDBB30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" name="hd-no::after"/>
          <p:cNvSpPr/>
          <p:nvPr/>
        </p:nvSpPr>
        <p:spPr>
          <a:xfrm>
            <a:off x="1181199" y="317500"/>
            <a:ext cx="6350" cy="101600"/>
          </a:xfrm>
          <a:prstGeom prst="roundRect">
            <a:avLst>
              <a:gd name="adj" fmla="val 0"/>
            </a:avLst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pic>
        <p:nvPicPr>
          <p:cNvPr id="9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55535" y="237662"/>
            <a:ext cx="1526117" cy="268817"/>
          </a:xfrm>
          <a:prstGeom prst="rect">
            <a:avLst/>
          </a:prstGeom>
        </p:spPr>
      </p:pic>
      <p:sp>
        <p:nvSpPr>
          <p:cNvPr id="10" name="p1-tile p1-val"/>
          <p:cNvSpPr/>
          <p:nvPr/>
        </p:nvSpPr>
        <p:spPr>
          <a:xfrm>
            <a:off x="508000" y="1436291"/>
            <a:ext cx="11176000" cy="558800"/>
          </a:xfrm>
          <a:prstGeom prst="roundRect">
            <a:avLst>
              <a:gd name="adj" fmla="val 27273"/>
            </a:avLst>
          </a:prstGeom>
          <a:solidFill>
            <a:srgbClr val="F3F6FA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1" name="p1-val-lab 선"/>
          <p:cNvSpPr/>
          <p:nvPr/>
        </p:nvSpPr>
        <p:spPr>
          <a:xfrm>
            <a:off x="1805186" y="1553766"/>
            <a:ext cx="1" cy="323850"/>
          </a:xfrm>
          <a:custGeom>
            <a:avLst/>
            <a:gdLst/>
            <a:ahLst/>
            <a:cxnLst/>
            <a:rect l="0" t="0" r="r" b="b"/>
            <a:pathLst>
              <a:path w="1" h="323850" fill="none">
                <a:moveTo>
                  <a:pt x="0" y="0"/>
                </a:moveTo>
                <a:lnTo>
                  <a:pt x="0" y="323850"/>
                </a:lnTo>
              </a:path>
            </a:pathLst>
          </a:custGeom>
          <a:noFill/>
          <a:ln w="6350">
            <a:solidFill>
              <a:srgbClr val="C3CED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2" name="p1-ba"/>
          <p:cNvSpPr/>
          <p:nvPr/>
        </p:nvSpPr>
        <p:spPr>
          <a:xfrm>
            <a:off x="1986161" y="1614091"/>
            <a:ext cx="639862" cy="203200"/>
          </a:xfrm>
          <a:prstGeom prst="roundRect">
            <a:avLst>
              <a:gd name="adj" fmla="val 50000"/>
            </a:avLst>
          </a:prstGeom>
          <a:solidFill>
            <a:srgbClr val="6A7487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3" name="i"/>
          <p:cNvSpPr/>
          <p:nvPr/>
        </p:nvSpPr>
        <p:spPr>
          <a:xfrm>
            <a:off x="4606330" y="1709341"/>
            <a:ext cx="1279624" cy="12700"/>
          </a:xfrm>
          <a:prstGeom prst="roundRect">
            <a:avLst>
              <a:gd name="adj" fmla="val 50000"/>
            </a:avLst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4" name="svg path"/>
          <p:cNvSpPr/>
          <p:nvPr/>
        </p:nvSpPr>
        <p:spPr>
          <a:xfrm>
            <a:off x="5876429" y="1680766"/>
            <a:ext cx="34925" cy="69850"/>
          </a:xfrm>
          <a:custGeom>
            <a:avLst/>
            <a:gdLst/>
            <a:ahLst/>
            <a:cxnLst/>
            <a:rect l="0" t="0" r="r" b="b"/>
            <a:pathLst>
              <a:path w="34925" h="69850" fill="none">
                <a:moveTo>
                  <a:pt x="0" y="0"/>
                </a:moveTo>
                <a:lnTo>
                  <a:pt x="34925" y="34925"/>
                </a:lnTo>
                <a:lnTo>
                  <a:pt x="0" y="69850"/>
                </a:lnTo>
              </a:path>
            </a:pathLst>
          </a:custGeom>
          <a:noFill/>
          <a:ln w="12700" cap="rnd">
            <a:solidFill>
              <a:srgbClr val="C3CED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5" name="ring"/>
          <p:cNvSpPr/>
          <p:nvPr/>
        </p:nvSpPr>
        <p:spPr>
          <a:xfrm>
            <a:off x="6006604" y="1595041"/>
            <a:ext cx="241300" cy="241300"/>
          </a:xfrm>
          <a:prstGeom prst="ellipse">
            <a:avLst/>
          </a:prstGeom>
          <a:solidFill>
            <a:srgbClr val="FFFFFF"/>
          </a:solidFill>
          <a:ln w="12700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5400000" scaled="0"/>
            </a:gra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6" name="svg path"/>
          <p:cNvSpPr/>
          <p:nvPr/>
        </p:nvSpPr>
        <p:spPr>
          <a:xfrm>
            <a:off x="6115612" y="1709870"/>
            <a:ext cx="23283" cy="23283"/>
          </a:xfrm>
          <a:custGeom>
            <a:avLst/>
            <a:gdLst/>
            <a:ahLst/>
            <a:cxnLst/>
            <a:rect l="0" t="0" r="r" b="b"/>
            <a:pathLst>
              <a:path w="23283" h="23283" fill="none">
                <a:moveTo>
                  <a:pt x="0" y="11642"/>
                </a:moveTo>
                <a:cubicBezTo>
                  <a:pt x="0" y="18071"/>
                  <a:pt x="5212" y="23283"/>
                  <a:pt x="11642" y="23283"/>
                </a:cubicBezTo>
                <a:cubicBezTo>
                  <a:pt x="18071" y="23283"/>
                  <a:pt x="23283" y="18071"/>
                  <a:pt x="23283" y="11642"/>
                </a:cubicBezTo>
                <a:cubicBezTo>
                  <a:pt x="23283" y="5212"/>
                  <a:pt x="18071" y="0"/>
                  <a:pt x="11642" y="0"/>
                </a:cubicBezTo>
                <a:cubicBezTo>
                  <a:pt x="5212" y="0"/>
                  <a:pt x="0" y="5212"/>
                  <a:pt x="0" y="11642"/>
                </a:cubicBezTo>
              </a:path>
            </a:pathLst>
          </a:custGeom>
          <a:noFill/>
          <a:ln w="11642" cap="rnd">
            <a:solidFill>
              <a:srgbClr val="004B8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7" name="svg path"/>
          <p:cNvSpPr/>
          <p:nvPr/>
        </p:nvSpPr>
        <p:spPr>
          <a:xfrm>
            <a:off x="6103971" y="1750616"/>
            <a:ext cx="46567" cy="17463"/>
          </a:xfrm>
          <a:custGeom>
            <a:avLst/>
            <a:gdLst/>
            <a:ahLst/>
            <a:cxnLst/>
            <a:rect l="0" t="0" r="r" b="b"/>
            <a:pathLst>
              <a:path w="46567" h="17463" fill="none">
                <a:moveTo>
                  <a:pt x="0" y="17463"/>
                </a:moveTo>
                <a:lnTo>
                  <a:pt x="0" y="11642"/>
                </a:lnTo>
                <a:cubicBezTo>
                  <a:pt x="0" y="5212"/>
                  <a:pt x="5212" y="0"/>
                  <a:pt x="11642" y="0"/>
                </a:cubicBezTo>
                <a:lnTo>
                  <a:pt x="34925" y="0"/>
                </a:lnTo>
                <a:cubicBezTo>
                  <a:pt x="41355" y="0"/>
                  <a:pt x="46567" y="5212"/>
                  <a:pt x="46567" y="11642"/>
                </a:cubicBezTo>
                <a:lnTo>
                  <a:pt x="46567" y="17463"/>
                </a:lnTo>
              </a:path>
            </a:pathLst>
          </a:custGeom>
          <a:noFill/>
          <a:ln w="11642" cap="rnd">
            <a:solidFill>
              <a:srgbClr val="004B8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8" name="svg path"/>
          <p:cNvSpPr/>
          <p:nvPr/>
        </p:nvSpPr>
        <p:spPr>
          <a:xfrm>
            <a:off x="6144716" y="1663303"/>
            <a:ext cx="23283" cy="23803"/>
          </a:xfrm>
          <a:custGeom>
            <a:avLst/>
            <a:gdLst/>
            <a:ahLst/>
            <a:cxnLst/>
            <a:rect l="0" t="0" r="r" b="b"/>
            <a:pathLst>
              <a:path w="23283" h="23803" fill="none">
                <a:moveTo>
                  <a:pt x="0" y="11642"/>
                </a:moveTo>
                <a:cubicBezTo>
                  <a:pt x="0" y="15801"/>
                  <a:pt x="2219" y="19644"/>
                  <a:pt x="5821" y="21724"/>
                </a:cubicBezTo>
                <a:cubicBezTo>
                  <a:pt x="9423" y="23803"/>
                  <a:pt x="13861" y="23803"/>
                  <a:pt x="17463" y="21724"/>
                </a:cubicBezTo>
                <a:cubicBezTo>
                  <a:pt x="21064" y="19644"/>
                  <a:pt x="23283" y="15801"/>
                  <a:pt x="23283" y="11642"/>
                </a:cubicBezTo>
                <a:cubicBezTo>
                  <a:pt x="23283" y="5212"/>
                  <a:pt x="18071" y="0"/>
                  <a:pt x="11642" y="0"/>
                </a:cubicBezTo>
                <a:cubicBezTo>
                  <a:pt x="5212" y="0"/>
                  <a:pt x="0" y="5212"/>
                  <a:pt x="0" y="11642"/>
                </a:cubicBezTo>
              </a:path>
            </a:pathLst>
          </a:custGeom>
          <a:noFill/>
          <a:ln w="11642" cap="rnd">
            <a:solidFill>
              <a:srgbClr val="004B8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9" name="svg path"/>
          <p:cNvSpPr/>
          <p:nvPr/>
        </p:nvSpPr>
        <p:spPr>
          <a:xfrm>
            <a:off x="6156358" y="1704049"/>
            <a:ext cx="23283" cy="17463"/>
          </a:xfrm>
          <a:custGeom>
            <a:avLst/>
            <a:gdLst/>
            <a:ahLst/>
            <a:cxnLst/>
            <a:rect l="0" t="0" r="r" b="b"/>
            <a:pathLst>
              <a:path w="23283" h="17463" fill="none">
                <a:moveTo>
                  <a:pt x="0" y="0"/>
                </a:moveTo>
                <a:lnTo>
                  <a:pt x="11642" y="0"/>
                </a:lnTo>
                <a:cubicBezTo>
                  <a:pt x="14729" y="0"/>
                  <a:pt x="17690" y="1227"/>
                  <a:pt x="19874" y="3410"/>
                </a:cubicBezTo>
                <a:cubicBezTo>
                  <a:pt x="22057" y="5593"/>
                  <a:pt x="23283" y="8554"/>
                  <a:pt x="23283" y="11642"/>
                </a:cubicBezTo>
                <a:lnTo>
                  <a:pt x="23283" y="17463"/>
                </a:lnTo>
              </a:path>
            </a:pathLst>
          </a:custGeom>
          <a:noFill/>
          <a:ln w="11642" cap="rnd">
            <a:solidFill>
              <a:srgbClr val="004B8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0" name="svg path"/>
          <p:cNvSpPr/>
          <p:nvPr/>
        </p:nvSpPr>
        <p:spPr>
          <a:xfrm>
            <a:off x="6086508" y="1663303"/>
            <a:ext cx="23283" cy="23803"/>
          </a:xfrm>
          <a:custGeom>
            <a:avLst/>
            <a:gdLst/>
            <a:ahLst/>
            <a:cxnLst/>
            <a:rect l="0" t="0" r="r" b="b"/>
            <a:pathLst>
              <a:path w="23283" h="23803" fill="none">
                <a:moveTo>
                  <a:pt x="0" y="11642"/>
                </a:moveTo>
                <a:cubicBezTo>
                  <a:pt x="0" y="15801"/>
                  <a:pt x="2219" y="19644"/>
                  <a:pt x="5821" y="21724"/>
                </a:cubicBezTo>
                <a:cubicBezTo>
                  <a:pt x="9423" y="23803"/>
                  <a:pt x="13861" y="23803"/>
                  <a:pt x="17463" y="21724"/>
                </a:cubicBezTo>
                <a:cubicBezTo>
                  <a:pt x="21064" y="19644"/>
                  <a:pt x="23283" y="15801"/>
                  <a:pt x="23283" y="11642"/>
                </a:cubicBezTo>
                <a:cubicBezTo>
                  <a:pt x="23283" y="5212"/>
                  <a:pt x="18071" y="0"/>
                  <a:pt x="11642" y="0"/>
                </a:cubicBezTo>
                <a:cubicBezTo>
                  <a:pt x="5212" y="0"/>
                  <a:pt x="0" y="5212"/>
                  <a:pt x="0" y="11642"/>
                </a:cubicBezTo>
              </a:path>
            </a:pathLst>
          </a:custGeom>
          <a:noFill/>
          <a:ln w="11642" cap="rnd">
            <a:solidFill>
              <a:srgbClr val="004B8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1" name="svg path"/>
          <p:cNvSpPr/>
          <p:nvPr/>
        </p:nvSpPr>
        <p:spPr>
          <a:xfrm>
            <a:off x="6074866" y="1704049"/>
            <a:ext cx="23283" cy="17463"/>
          </a:xfrm>
          <a:custGeom>
            <a:avLst/>
            <a:gdLst/>
            <a:ahLst/>
            <a:cxnLst/>
            <a:rect l="0" t="0" r="r" b="b"/>
            <a:pathLst>
              <a:path w="23283" h="17463" fill="none">
                <a:moveTo>
                  <a:pt x="0" y="17463"/>
                </a:moveTo>
                <a:lnTo>
                  <a:pt x="0" y="11642"/>
                </a:lnTo>
                <a:cubicBezTo>
                  <a:pt x="0" y="8554"/>
                  <a:pt x="1227" y="5593"/>
                  <a:pt x="3410" y="3410"/>
                </a:cubicBezTo>
                <a:cubicBezTo>
                  <a:pt x="5593" y="1227"/>
                  <a:pt x="8554" y="0"/>
                  <a:pt x="11642" y="0"/>
                </a:cubicBezTo>
                <a:lnTo>
                  <a:pt x="23283" y="0"/>
                </a:lnTo>
              </a:path>
            </a:pathLst>
          </a:custGeom>
          <a:noFill/>
          <a:ln w="11642" cap="rnd">
            <a:solidFill>
              <a:srgbClr val="004B8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2" name="i"/>
          <p:cNvSpPr/>
          <p:nvPr/>
        </p:nvSpPr>
        <p:spPr>
          <a:xfrm>
            <a:off x="7198023" y="1709341"/>
            <a:ext cx="1279624" cy="127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5B9EC"/>
              </a:gs>
              <a:gs pos="100000">
                <a:srgbClr val="2A78DD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3" name="svg path"/>
          <p:cNvSpPr/>
          <p:nvPr/>
        </p:nvSpPr>
        <p:spPr>
          <a:xfrm>
            <a:off x="8468122" y="1680766"/>
            <a:ext cx="34925" cy="69850"/>
          </a:xfrm>
          <a:custGeom>
            <a:avLst/>
            <a:gdLst/>
            <a:ahLst/>
            <a:cxnLst/>
            <a:rect l="0" t="0" r="r" b="b"/>
            <a:pathLst>
              <a:path w="34925" h="69850" fill="none">
                <a:moveTo>
                  <a:pt x="0" y="0"/>
                </a:moveTo>
                <a:lnTo>
                  <a:pt x="34925" y="34925"/>
                </a:lnTo>
                <a:lnTo>
                  <a:pt x="0" y="69850"/>
                </a:lnTo>
              </a:path>
            </a:pathLst>
          </a:custGeom>
          <a:noFill/>
          <a:ln w="12700" cap="rnd">
            <a:solidFill>
              <a:srgbClr val="2A78D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4" name="p1-st after"/>
          <p:cNvSpPr/>
          <p:nvPr/>
        </p:nvSpPr>
        <p:spPr>
          <a:xfrm>
            <a:off x="8617248" y="1512491"/>
            <a:ext cx="2990552" cy="4064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114300" dist="38100" dir="5400000" algn="ctr" rotWithShape="0">
              <a:srgbClr val="0B2147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5" name="p1-ba"/>
          <p:cNvSpPr/>
          <p:nvPr/>
        </p:nvSpPr>
        <p:spPr>
          <a:xfrm>
            <a:off x="8718848" y="1614091"/>
            <a:ext cx="566043" cy="203200"/>
          </a:xfrm>
          <a:prstGeom prst="roundRect">
            <a:avLst>
              <a:gd name="adj" fmla="val 50000"/>
            </a:avLst>
          </a:prstGeom>
          <a:solidFill>
            <a:srgbClr val="0B2147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6" name="i"/>
          <p:cNvSpPr/>
          <p:nvPr/>
        </p:nvSpPr>
        <p:spPr>
          <a:xfrm>
            <a:off x="1039019" y="2179241"/>
            <a:ext cx="6350" cy="101600"/>
          </a:xfrm>
          <a:prstGeom prst="roundRect">
            <a:avLst>
              <a:gd name="adj" fmla="val 0"/>
            </a:avLst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7" name="p1-tile p1-c1"/>
          <p:cNvSpPr/>
          <p:nvPr/>
        </p:nvSpPr>
        <p:spPr>
          <a:xfrm>
            <a:off x="508000" y="2414191"/>
            <a:ext cx="3556000" cy="3947914"/>
          </a:xfrm>
          <a:prstGeom prst="roundRect">
            <a:avLst>
              <a:gd name="adj" fmla="val 4286"/>
            </a:avLst>
          </a:prstGeom>
          <a:solidFill>
            <a:srgbClr val="F3F6FA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8" name="p1-no"/>
          <p:cNvSpPr/>
          <p:nvPr/>
        </p:nvSpPr>
        <p:spPr>
          <a:xfrm>
            <a:off x="717550" y="2623741"/>
            <a:ext cx="241300" cy="241300"/>
          </a:xfrm>
          <a:prstGeom prst="ellipse">
            <a:avLst/>
          </a:prstGeom>
          <a:solidFill>
            <a:srgbClr val="FFFFFF"/>
          </a:solidFill>
          <a:ln w="12700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5400000" scaled="0"/>
            </a:gra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9" name="svg line"/>
          <p:cNvSpPr/>
          <p:nvPr/>
        </p:nvSpPr>
        <p:spPr>
          <a:xfrm>
            <a:off x="762000" y="3487087"/>
            <a:ext cx="97536" cy="1"/>
          </a:xfrm>
          <a:custGeom>
            <a:avLst/>
            <a:gdLst/>
            <a:ahLst/>
            <a:cxnLst/>
            <a:rect l="0" t="0" r="r" b="b"/>
            <a:pathLst>
              <a:path w="97536" h="1" fill="none">
                <a:moveTo>
                  <a:pt x="97536" y="0"/>
                </a:moveTo>
                <a:lnTo>
                  <a:pt x="0" y="0"/>
                </a:lnTo>
              </a:path>
            </a:pathLst>
          </a:custGeom>
          <a:noFill/>
          <a:ln w="15240" cap="rnd">
            <a:solidFill>
              <a:srgbClr val="6A7487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0" name="svg path"/>
          <p:cNvSpPr/>
          <p:nvPr/>
        </p:nvSpPr>
        <p:spPr>
          <a:xfrm>
            <a:off x="762000" y="3450511"/>
            <a:ext cx="36576" cy="73152"/>
          </a:xfrm>
          <a:custGeom>
            <a:avLst/>
            <a:gdLst/>
            <a:ahLst/>
            <a:cxnLst/>
            <a:rect l="0" t="0" r="r" b="b"/>
            <a:pathLst>
              <a:path w="36576" h="73152" fill="none">
                <a:moveTo>
                  <a:pt x="36576" y="0"/>
                </a:moveTo>
                <a:lnTo>
                  <a:pt x="0" y="36576"/>
                </a:lnTo>
                <a:lnTo>
                  <a:pt x="36576" y="73152"/>
                </a:lnTo>
              </a:path>
            </a:pathLst>
          </a:custGeom>
          <a:noFill/>
          <a:ln w="15240" cap="rnd">
            <a:solidFill>
              <a:srgbClr val="6A7487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1" name="svg line"/>
          <p:cNvSpPr/>
          <p:nvPr/>
        </p:nvSpPr>
        <p:spPr>
          <a:xfrm>
            <a:off x="3712464" y="3487087"/>
            <a:ext cx="97536" cy="1"/>
          </a:xfrm>
          <a:custGeom>
            <a:avLst/>
            <a:gdLst/>
            <a:ahLst/>
            <a:cxnLst/>
            <a:rect l="0" t="0" r="r" b="b"/>
            <a:pathLst>
              <a:path w="97536" h="1" fill="none">
                <a:moveTo>
                  <a:pt x="0" y="0"/>
                </a:moveTo>
                <a:lnTo>
                  <a:pt x="97536" y="0"/>
                </a:lnTo>
              </a:path>
            </a:pathLst>
          </a:custGeom>
          <a:noFill/>
          <a:ln w="15240" cap="rnd">
            <a:solidFill>
              <a:srgbClr val="6A7487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2" name="svg path"/>
          <p:cNvSpPr/>
          <p:nvPr/>
        </p:nvSpPr>
        <p:spPr>
          <a:xfrm>
            <a:off x="3773424" y="3450511"/>
            <a:ext cx="36576" cy="73152"/>
          </a:xfrm>
          <a:custGeom>
            <a:avLst/>
            <a:gdLst/>
            <a:ahLst/>
            <a:cxnLst/>
            <a:rect l="0" t="0" r="r" b="b"/>
            <a:pathLst>
              <a:path w="36576" h="73152" fill="none">
                <a:moveTo>
                  <a:pt x="0" y="0"/>
                </a:moveTo>
                <a:lnTo>
                  <a:pt x="36576" y="36576"/>
                </a:lnTo>
                <a:lnTo>
                  <a:pt x="0" y="73152"/>
                </a:lnTo>
              </a:path>
            </a:pathLst>
          </a:custGeom>
          <a:noFill/>
          <a:ln w="15240" cap="rnd">
            <a:solidFill>
              <a:srgbClr val="6A7487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3" name="svg line"/>
          <p:cNvSpPr/>
          <p:nvPr/>
        </p:nvSpPr>
        <p:spPr>
          <a:xfrm>
            <a:off x="1408176" y="3657775"/>
            <a:ext cx="1" cy="463296"/>
          </a:xfrm>
          <a:custGeom>
            <a:avLst/>
            <a:gdLst/>
            <a:ahLst/>
            <a:cxnLst/>
            <a:rect l="0" t="0" r="r" b="b"/>
            <a:pathLst>
              <a:path w="1" h="463296" fill="none">
                <a:moveTo>
                  <a:pt x="0" y="0"/>
                </a:moveTo>
                <a:lnTo>
                  <a:pt x="0" y="463296"/>
                </a:lnTo>
              </a:path>
            </a:pathLst>
          </a:custGeom>
          <a:noFill/>
          <a:ln w="15240" cap="rnd">
            <a:gradFill rotWithShape="1">
              <a:gsLst>
                <a:gs pos="0">
                  <a:srgbClr val="45B9EC"/>
                </a:gs>
                <a:gs pos="100000">
                  <a:srgbClr val="2B7ADD"/>
                </a:gs>
              </a:gsLst>
              <a:lin ang="5400000" scaled="0"/>
            </a:gra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4" name="svg path"/>
          <p:cNvSpPr/>
          <p:nvPr/>
        </p:nvSpPr>
        <p:spPr>
          <a:xfrm>
            <a:off x="1371600" y="4084495"/>
            <a:ext cx="73152" cy="42672"/>
          </a:xfrm>
          <a:custGeom>
            <a:avLst/>
            <a:gdLst/>
            <a:ahLst/>
            <a:cxnLst/>
            <a:rect l="0" t="0" r="r" b="b"/>
            <a:pathLst>
              <a:path w="73152" h="42672" fill="none">
                <a:moveTo>
                  <a:pt x="0" y="0"/>
                </a:moveTo>
                <a:lnTo>
                  <a:pt x="36576" y="42672"/>
                </a:lnTo>
                <a:lnTo>
                  <a:pt x="73152" y="0"/>
                </a:lnTo>
              </a:path>
            </a:pathLst>
          </a:custGeom>
          <a:noFill/>
          <a:ln w="15240" cap="rnd">
            <a:gradFill rotWithShape="1">
              <a:gsLst>
                <a:gs pos="0">
                  <a:srgbClr val="2D7FDF"/>
                </a:gs>
                <a:gs pos="100000">
                  <a:srgbClr val="2A79DD"/>
                </a:gs>
              </a:gsLst>
              <a:lin ang="5400000" scaled="0"/>
            </a:gra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5" name="svg line"/>
          <p:cNvSpPr/>
          <p:nvPr/>
        </p:nvSpPr>
        <p:spPr>
          <a:xfrm>
            <a:off x="3163824" y="3657775"/>
            <a:ext cx="1" cy="463296"/>
          </a:xfrm>
          <a:custGeom>
            <a:avLst/>
            <a:gdLst/>
            <a:ahLst/>
            <a:cxnLst/>
            <a:rect l="0" t="0" r="r" b="b"/>
            <a:pathLst>
              <a:path w="1" h="463296" fill="none">
                <a:moveTo>
                  <a:pt x="0" y="0"/>
                </a:moveTo>
                <a:lnTo>
                  <a:pt x="0" y="463296"/>
                </a:lnTo>
              </a:path>
            </a:pathLst>
          </a:custGeom>
          <a:noFill/>
          <a:ln w="15240" cap="rnd">
            <a:gradFill rotWithShape="1">
              <a:gsLst>
                <a:gs pos="0">
                  <a:srgbClr val="45B9EC"/>
                </a:gs>
                <a:gs pos="100000">
                  <a:srgbClr val="2B7ADD"/>
                </a:gs>
              </a:gsLst>
              <a:lin ang="5400000" scaled="0"/>
            </a:gra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6" name="svg path"/>
          <p:cNvSpPr/>
          <p:nvPr/>
        </p:nvSpPr>
        <p:spPr>
          <a:xfrm>
            <a:off x="3127248" y="4084495"/>
            <a:ext cx="73152" cy="42672"/>
          </a:xfrm>
          <a:custGeom>
            <a:avLst/>
            <a:gdLst/>
            <a:ahLst/>
            <a:cxnLst/>
            <a:rect l="0" t="0" r="r" b="b"/>
            <a:pathLst>
              <a:path w="73152" h="42672" fill="none">
                <a:moveTo>
                  <a:pt x="0" y="0"/>
                </a:moveTo>
                <a:lnTo>
                  <a:pt x="36576" y="42672"/>
                </a:lnTo>
                <a:lnTo>
                  <a:pt x="73152" y="0"/>
                </a:lnTo>
              </a:path>
            </a:pathLst>
          </a:custGeom>
          <a:noFill/>
          <a:ln w="15240" cap="rnd">
            <a:gradFill rotWithShape="1">
              <a:gsLst>
                <a:gs pos="0">
                  <a:srgbClr val="2D7FDF"/>
                </a:gs>
                <a:gs pos="100000">
                  <a:srgbClr val="2A79DD"/>
                </a:gs>
              </a:gsLst>
              <a:lin ang="5400000" scaled="0"/>
            </a:gra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7" name="svg path"/>
          <p:cNvSpPr/>
          <p:nvPr/>
        </p:nvSpPr>
        <p:spPr>
          <a:xfrm>
            <a:off x="1408176" y="4572175"/>
            <a:ext cx="1755648" cy="97536"/>
          </a:xfrm>
          <a:custGeom>
            <a:avLst/>
            <a:gdLst/>
            <a:ahLst/>
            <a:cxnLst/>
            <a:rect l="0" t="0" r="r" b="b"/>
            <a:pathLst>
              <a:path w="1755648" h="97536" fill="none">
                <a:moveTo>
                  <a:pt x="0" y="0"/>
                </a:moveTo>
                <a:lnTo>
                  <a:pt x="0" y="48768"/>
                </a:lnTo>
                <a:quadBezTo>
                  <a:pt x="0" y="97536"/>
                  <a:pt x="48768" y="97536"/>
                </a:quadBezTo>
                <a:lnTo>
                  <a:pt x="1706880" y="97536"/>
                </a:lnTo>
                <a:quadBezTo>
                  <a:pt x="1755648" y="97536"/>
                  <a:pt x="1755648" y="48768"/>
                </a:quadBezTo>
                <a:lnTo>
                  <a:pt x="1755648" y="0"/>
                </a:lnTo>
              </a:path>
            </a:pathLst>
          </a:custGeom>
          <a:noFill/>
          <a:ln w="15240" cap="rnd">
            <a:gradFill rotWithShape="1">
              <a:gsLst>
                <a:gs pos="0">
                  <a:srgbClr val="43B5EB"/>
                </a:gs>
                <a:gs pos="100000">
                  <a:srgbClr val="3798E4"/>
                </a:gs>
              </a:gsLst>
              <a:lin ang="5400000" scaled="0"/>
            </a:gra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8" name="svg line"/>
          <p:cNvSpPr/>
          <p:nvPr/>
        </p:nvSpPr>
        <p:spPr>
          <a:xfrm>
            <a:off x="2286000" y="4669711"/>
            <a:ext cx="1" cy="97536"/>
          </a:xfrm>
          <a:custGeom>
            <a:avLst/>
            <a:gdLst/>
            <a:ahLst/>
            <a:cxnLst/>
            <a:rect l="0" t="0" r="r" b="b"/>
            <a:pathLst>
              <a:path w="1" h="97536" fill="none">
                <a:moveTo>
                  <a:pt x="0" y="0"/>
                </a:moveTo>
                <a:lnTo>
                  <a:pt x="0" y="97536"/>
                </a:lnTo>
              </a:path>
            </a:pathLst>
          </a:custGeom>
          <a:noFill/>
          <a:ln w="15240" cap="rnd">
            <a:gradFill rotWithShape="1">
              <a:gsLst>
                <a:gs pos="0">
                  <a:srgbClr val="3798E4"/>
                </a:gs>
                <a:gs pos="100000">
                  <a:srgbClr val="2C7CDE"/>
                </a:gs>
              </a:gsLst>
              <a:lin ang="5400000" scaled="0"/>
            </a:gra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9" name="svg path"/>
          <p:cNvSpPr/>
          <p:nvPr/>
        </p:nvSpPr>
        <p:spPr>
          <a:xfrm>
            <a:off x="2249424" y="4730671"/>
            <a:ext cx="73152" cy="42672"/>
          </a:xfrm>
          <a:custGeom>
            <a:avLst/>
            <a:gdLst/>
            <a:ahLst/>
            <a:cxnLst/>
            <a:rect l="0" t="0" r="r" b="b"/>
            <a:pathLst>
              <a:path w="73152" h="42672" fill="none">
                <a:moveTo>
                  <a:pt x="0" y="0"/>
                </a:moveTo>
                <a:lnTo>
                  <a:pt x="36576" y="42672"/>
                </a:lnTo>
                <a:lnTo>
                  <a:pt x="73152" y="0"/>
                </a:lnTo>
              </a:path>
            </a:pathLst>
          </a:custGeom>
          <a:noFill/>
          <a:ln w="15240" cap="rnd">
            <a:gradFill rotWithShape="1">
              <a:gsLst>
                <a:gs pos="0">
                  <a:srgbClr val="3086E0"/>
                </a:gs>
                <a:gs pos="100000">
                  <a:srgbClr val="2B7ADD"/>
                </a:gs>
              </a:gsLst>
              <a:lin ang="5400000" scaled="0"/>
            </a:gra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0" name="p1-at p1-tag"/>
          <p:cNvSpPr/>
          <p:nvPr/>
        </p:nvSpPr>
        <p:spPr>
          <a:xfrm>
            <a:off x="1413024" y="3023791"/>
            <a:ext cx="1745952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1" name="svg path"/>
          <p:cNvSpPr/>
          <p:nvPr/>
        </p:nvSpPr>
        <p:spPr>
          <a:xfrm>
            <a:off x="1517799" y="3090466"/>
            <a:ext cx="95250" cy="95250"/>
          </a:xfrm>
          <a:custGeom>
            <a:avLst/>
            <a:gdLst/>
            <a:ahLst/>
            <a:cxnLst/>
            <a:rect l="0" t="0" r="r" b="b"/>
            <a:pathLst>
              <a:path w="95250" h="95250" fill="none">
                <a:moveTo>
                  <a:pt x="0" y="47625"/>
                </a:moveTo>
                <a:cubicBezTo>
                  <a:pt x="0" y="73928"/>
                  <a:pt x="21322" y="95250"/>
                  <a:pt x="47625" y="95250"/>
                </a:cubicBezTo>
                <a:cubicBezTo>
                  <a:pt x="73928" y="95250"/>
                  <a:pt x="95250" y="73928"/>
                  <a:pt x="95250" y="47625"/>
                </a:cubicBezTo>
                <a:cubicBezTo>
                  <a:pt x="95250" y="21322"/>
                  <a:pt x="73928" y="0"/>
                  <a:pt x="47625" y="0"/>
                </a:cubicBezTo>
                <a:cubicBezTo>
                  <a:pt x="21322" y="0"/>
                  <a:pt x="0" y="21322"/>
                  <a:pt x="0" y="47625"/>
                </a:cubicBezTo>
              </a:path>
            </a:pathLst>
          </a:custGeom>
          <a:noFill/>
          <a:ln w="10583" cap="rnd">
            <a:solidFill>
              <a:srgbClr val="6A7487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2" name="svg path"/>
          <p:cNvSpPr/>
          <p:nvPr/>
        </p:nvSpPr>
        <p:spPr>
          <a:xfrm>
            <a:off x="1565424" y="3111632"/>
            <a:ext cx="15875" cy="42333"/>
          </a:xfrm>
          <a:custGeom>
            <a:avLst/>
            <a:gdLst/>
            <a:ahLst/>
            <a:cxnLst/>
            <a:rect l="0" t="0" r="r" b="b"/>
            <a:pathLst>
              <a:path w="15875" h="42333" fill="none">
                <a:moveTo>
                  <a:pt x="0" y="0"/>
                </a:moveTo>
                <a:lnTo>
                  <a:pt x="0" y="26458"/>
                </a:lnTo>
                <a:lnTo>
                  <a:pt x="15875" y="42333"/>
                </a:lnTo>
              </a:path>
            </a:pathLst>
          </a:custGeom>
          <a:noFill/>
          <a:ln w="10583" cap="rnd">
            <a:solidFill>
              <a:srgbClr val="6A7487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3" name="p1-op"/>
          <p:cNvSpPr/>
          <p:nvPr/>
        </p:nvSpPr>
        <p:spPr>
          <a:xfrm>
            <a:off x="841375" y="3357166"/>
            <a:ext cx="1060450" cy="2984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4" name="i"/>
          <p:cNvSpPr/>
          <p:nvPr/>
        </p:nvSpPr>
        <p:spPr>
          <a:xfrm>
            <a:off x="1121370" y="3474641"/>
            <a:ext cx="63500" cy="6350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5" name="p1-op"/>
          <p:cNvSpPr/>
          <p:nvPr/>
        </p:nvSpPr>
        <p:spPr>
          <a:xfrm>
            <a:off x="2670175" y="3357166"/>
            <a:ext cx="1060450" cy="2984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6" name="i"/>
          <p:cNvSpPr/>
          <p:nvPr/>
        </p:nvSpPr>
        <p:spPr>
          <a:xfrm>
            <a:off x="2805509" y="3474641"/>
            <a:ext cx="63500" cy="6350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7" name="p1-vs"/>
          <p:cNvSpPr/>
          <p:nvPr/>
        </p:nvSpPr>
        <p:spPr>
          <a:xfrm>
            <a:off x="2133600" y="3353991"/>
            <a:ext cx="304800" cy="304800"/>
          </a:xfrm>
          <a:prstGeom prst="ellipse">
            <a:avLst/>
          </a:prstGeom>
          <a:solidFill>
            <a:srgbClr val="0B2147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8" name="p1-at p1-crit-t"/>
          <p:cNvSpPr/>
          <p:nvPr/>
        </p:nvSpPr>
        <p:spPr>
          <a:xfrm>
            <a:off x="1824137" y="3925491"/>
            <a:ext cx="923727" cy="215900"/>
          </a:xfrm>
          <a:prstGeom prst="roundRect">
            <a:avLst>
              <a:gd name="adj" fmla="val 50000"/>
            </a:avLst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9" name="b"/>
          <p:cNvSpPr/>
          <p:nvPr/>
        </p:nvSpPr>
        <p:spPr>
          <a:xfrm>
            <a:off x="878483" y="4217591"/>
            <a:ext cx="165100" cy="16510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0" name="b"/>
          <p:cNvSpPr/>
          <p:nvPr/>
        </p:nvSpPr>
        <p:spPr>
          <a:xfrm>
            <a:off x="2693293" y="4217591"/>
            <a:ext cx="165100" cy="16510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1" name="p1-topic"/>
          <p:cNvSpPr/>
          <p:nvPr/>
        </p:nvSpPr>
        <p:spPr>
          <a:xfrm>
            <a:off x="711200" y="4954191"/>
            <a:ext cx="3149600" cy="1204714"/>
          </a:xfrm>
          <a:prstGeom prst="roundRect">
            <a:avLst>
              <a:gd name="adj" fmla="val 8434"/>
            </a:avLst>
          </a:prstGeom>
          <a:solidFill>
            <a:srgbClr val="FFFFFF"/>
          </a:solidFill>
          <a:ln>
            <a:noFill/>
          </a:ln>
          <a:effectLst>
            <a:outerShdw blurRad="152400" dist="50800" dir="5400000" algn="ctr" rotWithShape="0">
              <a:srgbClr val="0B2147">
                <a:alpha val="12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2" name="p 선"/>
          <p:cNvSpPr/>
          <p:nvPr/>
        </p:nvSpPr>
        <p:spPr>
          <a:xfrm>
            <a:off x="892175" y="5595243"/>
            <a:ext cx="2787650" cy="1"/>
          </a:xfrm>
          <a:custGeom>
            <a:avLst/>
            <a:gdLst/>
            <a:ahLst/>
            <a:cxnLst/>
            <a:rect l="0" t="0" r="r" b="b"/>
            <a:pathLst>
              <a:path w="2787650" h="1" fill="none">
                <a:moveTo>
                  <a:pt x="0" y="0"/>
                </a:moveTo>
                <a:lnTo>
                  <a:pt x="2787650" y="0"/>
                </a:lnTo>
              </a:path>
            </a:pathLst>
          </a:custGeom>
          <a:noFill/>
          <a:ln w="6350">
            <a:solidFill>
              <a:srgbClr val="D8E0EB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3" name="p1-tile p1-c2"/>
          <p:cNvSpPr/>
          <p:nvPr/>
        </p:nvSpPr>
        <p:spPr>
          <a:xfrm>
            <a:off x="4216400" y="2414191"/>
            <a:ext cx="4216400" cy="3033514"/>
          </a:xfrm>
          <a:prstGeom prst="roundRect">
            <a:avLst>
              <a:gd name="adj" fmla="val 5024"/>
            </a:avLst>
          </a:prstGeom>
          <a:solidFill>
            <a:srgbClr val="F3F6FA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4" name="p1-no"/>
          <p:cNvSpPr/>
          <p:nvPr/>
        </p:nvSpPr>
        <p:spPr>
          <a:xfrm>
            <a:off x="4425950" y="2623741"/>
            <a:ext cx="241300" cy="241300"/>
          </a:xfrm>
          <a:prstGeom prst="ellipse">
            <a:avLst/>
          </a:prstGeom>
          <a:solidFill>
            <a:srgbClr val="FFFFFF"/>
          </a:solidFill>
          <a:ln w="12700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5400000" scaled="0"/>
            </a:gra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5" name="svg ellipse"/>
          <p:cNvSpPr/>
          <p:nvPr/>
        </p:nvSpPr>
        <p:spPr>
          <a:xfrm>
            <a:off x="4826000" y="3188891"/>
            <a:ext cx="2997200" cy="1574800"/>
          </a:xfrm>
          <a:prstGeom prst="ellipse">
            <a:avLst/>
          </a:prstGeom>
          <a:noFill/>
          <a:ln w="12700">
            <a:solidFill>
              <a:srgbClr val="00A94F">
                <a:alpha val="55000"/>
              </a:srgbClr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6" name="svg path"/>
          <p:cNvSpPr/>
          <p:nvPr/>
        </p:nvSpPr>
        <p:spPr>
          <a:xfrm>
            <a:off x="6286500" y="3150791"/>
            <a:ext cx="50800" cy="76200"/>
          </a:xfrm>
          <a:custGeom>
            <a:avLst/>
            <a:gdLst/>
            <a:ahLst/>
            <a:cxnLst/>
            <a:rect l="0" t="0" r="r" b="b"/>
            <a:pathLst>
              <a:path w="50800" h="76200" fill="none">
                <a:moveTo>
                  <a:pt x="0" y="0"/>
                </a:moveTo>
                <a:lnTo>
                  <a:pt x="50800" y="38100"/>
                </a:lnTo>
                <a:lnTo>
                  <a:pt x="0" y="76200"/>
                </a:lnTo>
              </a:path>
            </a:pathLst>
          </a:custGeom>
          <a:noFill/>
          <a:ln w="15875" cap="rnd">
            <a:solidFill>
              <a:srgbClr val="00A94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7" name="svg path"/>
          <p:cNvSpPr/>
          <p:nvPr/>
        </p:nvSpPr>
        <p:spPr>
          <a:xfrm>
            <a:off x="6311900" y="4725591"/>
            <a:ext cx="50800" cy="76200"/>
          </a:xfrm>
          <a:custGeom>
            <a:avLst/>
            <a:gdLst/>
            <a:ahLst/>
            <a:cxnLst/>
            <a:rect l="0" t="0" r="r" b="b"/>
            <a:pathLst>
              <a:path w="50800" h="76200" fill="none">
                <a:moveTo>
                  <a:pt x="50800" y="0"/>
                </a:moveTo>
                <a:lnTo>
                  <a:pt x="0" y="38100"/>
                </a:lnTo>
                <a:lnTo>
                  <a:pt x="50800" y="76200"/>
                </a:lnTo>
              </a:path>
            </a:pathLst>
          </a:custGeom>
          <a:noFill/>
          <a:ln w="15875" cap="rnd">
            <a:solidFill>
              <a:srgbClr val="00A94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8" name="svg path"/>
          <p:cNvSpPr/>
          <p:nvPr/>
        </p:nvSpPr>
        <p:spPr>
          <a:xfrm>
            <a:off x="4787900" y="3957241"/>
            <a:ext cx="76200" cy="44450"/>
          </a:xfrm>
          <a:custGeom>
            <a:avLst/>
            <a:gdLst/>
            <a:ahLst/>
            <a:cxnLst/>
            <a:rect l="0" t="0" r="r" b="b"/>
            <a:pathLst>
              <a:path w="76200" h="44450" fill="none">
                <a:moveTo>
                  <a:pt x="0" y="44450"/>
                </a:moveTo>
                <a:lnTo>
                  <a:pt x="38100" y="0"/>
                </a:lnTo>
                <a:lnTo>
                  <a:pt x="76200" y="44450"/>
                </a:lnTo>
              </a:path>
            </a:pathLst>
          </a:custGeom>
          <a:noFill/>
          <a:ln w="15875" cap="rnd">
            <a:solidFill>
              <a:srgbClr val="00A94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9" name="svg path"/>
          <p:cNvSpPr/>
          <p:nvPr/>
        </p:nvSpPr>
        <p:spPr>
          <a:xfrm>
            <a:off x="7785100" y="3950891"/>
            <a:ext cx="76200" cy="44450"/>
          </a:xfrm>
          <a:custGeom>
            <a:avLst/>
            <a:gdLst/>
            <a:ahLst/>
            <a:cxnLst/>
            <a:rect l="0" t="0" r="r" b="b"/>
            <a:pathLst>
              <a:path w="76200" h="44450" fill="none">
                <a:moveTo>
                  <a:pt x="0" y="0"/>
                </a:moveTo>
                <a:lnTo>
                  <a:pt x="38100" y="44450"/>
                </a:lnTo>
                <a:lnTo>
                  <a:pt x="76200" y="0"/>
                </a:lnTo>
              </a:path>
            </a:pathLst>
          </a:custGeom>
          <a:noFill/>
          <a:ln w="15875" cap="rnd">
            <a:solidFill>
              <a:srgbClr val="00A94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0" name="svg circle"/>
          <p:cNvSpPr/>
          <p:nvPr/>
        </p:nvSpPr>
        <p:spPr>
          <a:xfrm>
            <a:off x="5943600" y="3595291"/>
            <a:ext cx="762000" cy="762000"/>
          </a:xfrm>
          <a:prstGeom prst="ellipse">
            <a:avLst/>
          </a:prstGeom>
          <a:solidFill>
            <a:srgbClr val="FFFFFF"/>
          </a:solidFill>
          <a:ln w="19050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5400000" scaled="0"/>
            </a:gra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1" name="p1-card"/>
          <p:cNvSpPr/>
          <p:nvPr/>
        </p:nvSpPr>
        <p:spPr>
          <a:xfrm>
            <a:off x="4419600" y="3023791"/>
            <a:ext cx="1447800" cy="8636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>
            <a:noFill/>
          </a:ln>
          <a:effectLst>
            <a:outerShdw blurRad="114300" dist="38100" dir="5400000" algn="ctr" rotWithShape="0">
              <a:srgbClr val="0B2147">
                <a:alpha val="11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2" name="p1-av"/>
          <p:cNvSpPr/>
          <p:nvPr/>
        </p:nvSpPr>
        <p:spPr>
          <a:xfrm>
            <a:off x="4533900" y="3177381"/>
            <a:ext cx="63500" cy="6350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3" name="p1-me"/>
          <p:cNvSpPr/>
          <p:nvPr/>
        </p:nvSpPr>
        <p:spPr>
          <a:xfrm>
            <a:off x="4934942" y="3132931"/>
            <a:ext cx="152400" cy="152400"/>
          </a:xfrm>
          <a:prstGeom prst="ellipse">
            <a:avLst/>
          </a:prstGeom>
          <a:solidFill>
            <a:srgbClr val="0B2147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4" name="p1-card"/>
          <p:cNvSpPr/>
          <p:nvPr/>
        </p:nvSpPr>
        <p:spPr>
          <a:xfrm>
            <a:off x="6781800" y="3023791"/>
            <a:ext cx="1447800" cy="8636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>
            <a:noFill/>
          </a:ln>
          <a:effectLst>
            <a:outerShdw blurRad="114300" dist="38100" dir="5400000" algn="ctr" rotWithShape="0">
              <a:srgbClr val="0B2147">
                <a:alpha val="11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5" name="p1-av"/>
          <p:cNvSpPr/>
          <p:nvPr/>
        </p:nvSpPr>
        <p:spPr>
          <a:xfrm>
            <a:off x="6896100" y="3177381"/>
            <a:ext cx="63500" cy="6350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6" name="p1-card"/>
          <p:cNvSpPr/>
          <p:nvPr/>
        </p:nvSpPr>
        <p:spPr>
          <a:xfrm>
            <a:off x="4419600" y="4065191"/>
            <a:ext cx="1447800" cy="8636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>
            <a:noFill/>
          </a:ln>
          <a:effectLst>
            <a:outerShdw blurRad="114300" dist="38100" dir="5400000" algn="ctr" rotWithShape="0">
              <a:srgbClr val="0B2147">
                <a:alpha val="11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7" name="p1-av"/>
          <p:cNvSpPr/>
          <p:nvPr/>
        </p:nvSpPr>
        <p:spPr>
          <a:xfrm>
            <a:off x="4533900" y="4218781"/>
            <a:ext cx="63500" cy="6350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8" name="p1-card"/>
          <p:cNvSpPr/>
          <p:nvPr/>
        </p:nvSpPr>
        <p:spPr>
          <a:xfrm>
            <a:off x="6781800" y="4065191"/>
            <a:ext cx="1447800" cy="86360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>
            <a:noFill/>
          </a:ln>
          <a:effectLst>
            <a:outerShdw blurRad="114300" dist="38100" dir="5400000" algn="ctr" rotWithShape="0">
              <a:srgbClr val="0B2147">
                <a:alpha val="11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9" name="p1-av"/>
          <p:cNvSpPr/>
          <p:nvPr/>
        </p:nvSpPr>
        <p:spPr>
          <a:xfrm>
            <a:off x="6896100" y="4218781"/>
            <a:ext cx="63500" cy="6350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0" name="svg path"/>
          <p:cNvSpPr/>
          <p:nvPr/>
        </p:nvSpPr>
        <p:spPr>
          <a:xfrm>
            <a:off x="5481340" y="5108705"/>
            <a:ext cx="101600" cy="46900"/>
          </a:xfrm>
          <a:custGeom>
            <a:avLst/>
            <a:gdLst/>
            <a:ahLst/>
            <a:cxnLst/>
            <a:rect l="0" t="0" r="r" b="b"/>
            <a:pathLst>
              <a:path w="101600" h="46900" fill="none">
                <a:moveTo>
                  <a:pt x="101600" y="46900"/>
                </a:moveTo>
                <a:cubicBezTo>
                  <a:pt x="98408" y="23929"/>
                  <a:pt x="80238" y="5936"/>
                  <a:pt x="57237" y="2968"/>
                </a:cubicBezTo>
                <a:cubicBezTo>
                  <a:pt x="34236" y="0"/>
                  <a:pt x="12094" y="12792"/>
                  <a:pt x="3175" y="34200"/>
                </a:cubicBezTo>
                <a:moveTo>
                  <a:pt x="0" y="8800"/>
                </a:moveTo>
                <a:lnTo>
                  <a:pt x="0" y="34200"/>
                </a:lnTo>
                <a:lnTo>
                  <a:pt x="25400" y="34200"/>
                </a:lnTo>
              </a:path>
            </a:pathLst>
          </a:custGeom>
          <a:noFill/>
          <a:ln w="12700" cap="rnd">
            <a:solidFill>
              <a:srgbClr val="00A94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1" name="svg path"/>
          <p:cNvSpPr/>
          <p:nvPr/>
        </p:nvSpPr>
        <p:spPr>
          <a:xfrm>
            <a:off x="5481340" y="5168305"/>
            <a:ext cx="101600" cy="46900"/>
          </a:xfrm>
          <a:custGeom>
            <a:avLst/>
            <a:gdLst/>
            <a:ahLst/>
            <a:cxnLst/>
            <a:rect l="0" t="0" r="r" b="b"/>
            <a:pathLst>
              <a:path w="101600" h="46900" fill="none">
                <a:moveTo>
                  <a:pt x="0" y="0"/>
                </a:moveTo>
                <a:cubicBezTo>
                  <a:pt x="3192" y="22971"/>
                  <a:pt x="21362" y="40964"/>
                  <a:pt x="44363" y="43932"/>
                </a:cubicBezTo>
                <a:cubicBezTo>
                  <a:pt x="67364" y="46900"/>
                  <a:pt x="89506" y="34108"/>
                  <a:pt x="98425" y="12700"/>
                </a:cubicBezTo>
                <a:moveTo>
                  <a:pt x="101600" y="38100"/>
                </a:moveTo>
                <a:lnTo>
                  <a:pt x="101600" y="12700"/>
                </a:lnTo>
                <a:lnTo>
                  <a:pt x="76200" y="12700"/>
                </a:lnTo>
              </a:path>
            </a:pathLst>
          </a:custGeom>
          <a:noFill/>
          <a:ln w="12700" cap="rnd">
            <a:solidFill>
              <a:srgbClr val="00A94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2" name="p1-tile p1-c3"/>
          <p:cNvSpPr/>
          <p:nvPr/>
        </p:nvSpPr>
        <p:spPr>
          <a:xfrm>
            <a:off x="8585200" y="2414191"/>
            <a:ext cx="3098800" cy="3033514"/>
          </a:xfrm>
          <a:prstGeom prst="roundRect">
            <a:avLst>
              <a:gd name="adj" fmla="val 5024"/>
            </a:avLst>
          </a:prstGeom>
          <a:gradFill rotWithShape="1">
            <a:gsLst>
              <a:gs pos="0">
                <a:srgbClr val="12305F"/>
              </a:gs>
              <a:gs pos="60000">
                <a:srgbClr val="0B2147"/>
              </a:gs>
            </a:gsLst>
            <a:path path="circle">
              <a:fillToRect l="100000" t="0" r="0" b="100000"/>
            </a:path>
          </a:gra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3" name="p1-no"/>
          <p:cNvSpPr/>
          <p:nvPr/>
        </p:nvSpPr>
        <p:spPr>
          <a:xfrm>
            <a:off x="8794750" y="2623741"/>
            <a:ext cx="241300" cy="241300"/>
          </a:xfrm>
          <a:prstGeom prst="ellipse">
            <a:avLst/>
          </a:prstGeom>
          <a:solidFill>
            <a:srgbClr val="0B2147"/>
          </a:solidFill>
          <a:ln w="12700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5400000" scaled="0"/>
            </a:gra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4" name="p1-video"/>
          <p:cNvSpPr/>
          <p:nvPr/>
        </p:nvSpPr>
        <p:spPr>
          <a:xfrm>
            <a:off x="8788400" y="3023791"/>
            <a:ext cx="2692400" cy="1422400"/>
          </a:xfrm>
          <a:prstGeom prst="roundRect">
            <a:avLst>
              <a:gd name="adj" fmla="val 6250"/>
            </a:avLst>
          </a:prstGeom>
          <a:solidFill>
            <a:srgbClr val="23324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pic>
        <p:nvPicPr>
          <p:cNvPr id="75" name="img" descr="im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88400" y="3021674"/>
            <a:ext cx="2692400" cy="1422400"/>
          </a:xfrm>
          <a:prstGeom prst="rect">
            <a:avLst/>
          </a:prstGeom>
        </p:spPr>
      </p:pic>
      <p:sp>
        <p:nvSpPr>
          <p:cNvPr id="76" name="p1-play"/>
          <p:cNvSpPr/>
          <p:nvPr/>
        </p:nvSpPr>
        <p:spPr>
          <a:xfrm>
            <a:off x="9944100" y="3544491"/>
            <a:ext cx="381000" cy="381000"/>
          </a:xfrm>
          <a:prstGeom prst="ellipse">
            <a:avLst/>
          </a:prstGeom>
          <a:solidFill>
            <a:srgbClr val="0B2147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7" name="svg path"/>
          <p:cNvSpPr/>
          <p:nvPr/>
        </p:nvSpPr>
        <p:spPr>
          <a:xfrm>
            <a:off x="10115550" y="3684191"/>
            <a:ext cx="82550" cy="101600"/>
          </a:xfrm>
          <a:custGeom>
            <a:avLst/>
            <a:gdLst/>
            <a:ahLst/>
            <a:cxnLst/>
            <a:rect l="0" t="0" r="r" b="b"/>
            <a:pathLst>
              <a:path w="82550" h="101600" stroke="0">
                <a:moveTo>
                  <a:pt x="0" y="0"/>
                </a:moveTo>
                <a:lnTo>
                  <a:pt x="0" y="101600"/>
                </a:lnTo>
                <a:lnTo>
                  <a:pt x="82550" y="508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8" name="svg path"/>
          <p:cNvSpPr/>
          <p:nvPr/>
        </p:nvSpPr>
        <p:spPr>
          <a:xfrm>
            <a:off x="8821738" y="4560491"/>
            <a:ext cx="61913" cy="76200"/>
          </a:xfrm>
          <a:custGeom>
            <a:avLst/>
            <a:gdLst/>
            <a:ahLst/>
            <a:cxnLst/>
            <a:rect l="0" t="0" r="r" b="b"/>
            <a:pathLst>
              <a:path w="61913" h="76200" fill="none">
                <a:moveTo>
                  <a:pt x="0" y="0"/>
                </a:moveTo>
                <a:lnTo>
                  <a:pt x="0" y="76200"/>
                </a:lnTo>
                <a:lnTo>
                  <a:pt x="61913" y="38100"/>
                </a:lnTo>
                <a:close/>
              </a:path>
            </a:pathLst>
          </a:custGeom>
          <a:noFill/>
          <a:ln w="9525" cap="rnd">
            <a:solidFill>
              <a:srgbClr val="45B9EC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9" name="p1-win 선"/>
          <p:cNvSpPr/>
          <p:nvPr/>
        </p:nvSpPr>
        <p:spPr>
          <a:xfrm>
            <a:off x="8791575" y="4695230"/>
            <a:ext cx="2686050" cy="1"/>
          </a:xfrm>
          <a:custGeom>
            <a:avLst/>
            <a:gdLst/>
            <a:ahLst/>
            <a:cxnLst/>
            <a:rect l="0" t="0" r="r" b="b"/>
            <a:pathLst>
              <a:path w="2686050" h="1" fill="none">
                <a:moveTo>
                  <a:pt x="0" y="0"/>
                </a:moveTo>
                <a:lnTo>
                  <a:pt x="2686050" y="0"/>
                </a:lnTo>
              </a:path>
            </a:pathLst>
          </a:custGeom>
          <a:noFill/>
          <a:ln w="6350">
            <a:solidFill>
              <a:srgbClr val="FFFFFF">
                <a:alpha val="14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0" name="svg polygon"/>
          <p:cNvSpPr/>
          <p:nvPr/>
        </p:nvSpPr>
        <p:spPr>
          <a:xfrm>
            <a:off x="8871373" y="4790691"/>
            <a:ext cx="154093" cy="165947"/>
          </a:xfrm>
          <a:custGeom>
            <a:avLst/>
            <a:gdLst/>
            <a:ahLst/>
            <a:cxnLst/>
            <a:rect l="0" t="0" r="r" b="b"/>
            <a:pathLst>
              <a:path w="154093" h="165947" stroke="0">
                <a:moveTo>
                  <a:pt x="0" y="0"/>
                </a:moveTo>
                <a:lnTo>
                  <a:pt x="82973" y="0"/>
                </a:lnTo>
                <a:lnTo>
                  <a:pt x="154093" y="165947"/>
                </a:lnTo>
                <a:lnTo>
                  <a:pt x="71120" y="165947"/>
                </a:lnTo>
                <a:close/>
              </a:path>
            </a:pathLst>
          </a:cu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1" name="svg polygon"/>
          <p:cNvSpPr/>
          <p:nvPr/>
        </p:nvSpPr>
        <p:spPr>
          <a:xfrm>
            <a:off x="8906933" y="4790691"/>
            <a:ext cx="154093" cy="165947"/>
          </a:xfrm>
          <a:custGeom>
            <a:avLst/>
            <a:gdLst/>
            <a:ahLst/>
            <a:cxnLst/>
            <a:rect l="0" t="0" r="r" b="b"/>
            <a:pathLst>
              <a:path w="154093" h="165947" stroke="0">
                <a:moveTo>
                  <a:pt x="154093" y="0"/>
                </a:moveTo>
                <a:lnTo>
                  <a:pt x="71120" y="0"/>
                </a:lnTo>
                <a:lnTo>
                  <a:pt x="0" y="165947"/>
                </a:lnTo>
                <a:lnTo>
                  <a:pt x="82973" y="165947"/>
                </a:lnTo>
                <a:close/>
              </a:path>
            </a:pathLst>
          </a:custGeom>
          <a:solidFill>
            <a:srgbClr val="2A78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2" name="svg circle"/>
          <p:cNvSpPr/>
          <p:nvPr/>
        </p:nvSpPr>
        <p:spPr>
          <a:xfrm>
            <a:off x="8800253" y="4897371"/>
            <a:ext cx="331893" cy="331893"/>
          </a:xfrm>
          <a:prstGeom prst="ellipse">
            <a:avLst/>
          </a:prstGeom>
          <a:gradFill rotWithShape="1">
            <a:gsLst>
              <a:gs pos="0">
                <a:srgbClr val="FFD873"/>
              </a:gs>
              <a:gs pos="55000">
                <a:srgbClr val="FDBB30"/>
              </a:gs>
              <a:gs pos="100000">
                <a:srgbClr val="E89B12"/>
              </a:gs>
            </a:gsLst>
            <a:lin ang="270000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3" name="svg circle"/>
          <p:cNvSpPr/>
          <p:nvPr/>
        </p:nvSpPr>
        <p:spPr>
          <a:xfrm>
            <a:off x="8841740" y="4938858"/>
            <a:ext cx="248920" cy="248920"/>
          </a:xfrm>
          <a:prstGeom prst="ellipse">
            <a:avLst/>
          </a:prstGeom>
          <a:noFill/>
          <a:ln w="11853">
            <a:solidFill>
              <a:srgbClr val="FFFFFF">
                <a:alpha val="85000"/>
              </a:srgbClr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4" name="svg path"/>
          <p:cNvSpPr/>
          <p:nvPr/>
        </p:nvSpPr>
        <p:spPr>
          <a:xfrm>
            <a:off x="8897451" y="4992198"/>
            <a:ext cx="137499" cy="130979"/>
          </a:xfrm>
          <a:custGeom>
            <a:avLst/>
            <a:gdLst/>
            <a:ahLst/>
            <a:cxnLst/>
            <a:rect l="0" t="0" r="r" b="b"/>
            <a:pathLst>
              <a:path w="137499" h="130979" stroke="0">
                <a:moveTo>
                  <a:pt x="68749" y="0"/>
                </a:moveTo>
                <a:lnTo>
                  <a:pt x="90085" y="43265"/>
                </a:lnTo>
                <a:lnTo>
                  <a:pt x="137499" y="50377"/>
                </a:lnTo>
                <a:lnTo>
                  <a:pt x="103124" y="83566"/>
                </a:lnTo>
                <a:lnTo>
                  <a:pt x="111421" y="130979"/>
                </a:lnTo>
                <a:lnTo>
                  <a:pt x="68749" y="108458"/>
                </a:lnTo>
                <a:lnTo>
                  <a:pt x="26077" y="130979"/>
                </a:lnTo>
                <a:lnTo>
                  <a:pt x="34375" y="83566"/>
                </a:lnTo>
                <a:lnTo>
                  <a:pt x="0" y="50377"/>
                </a:lnTo>
                <a:lnTo>
                  <a:pt x="47413" y="43265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5" name="key p1-key"/>
          <p:cNvSpPr/>
          <p:nvPr/>
        </p:nvSpPr>
        <p:spPr>
          <a:xfrm>
            <a:off x="4216400" y="5600105"/>
            <a:ext cx="7467600" cy="762000"/>
          </a:xfrm>
          <a:prstGeom prst="roundRect">
            <a:avLst>
              <a:gd name="adj" fmla="val 20000"/>
            </a:avLst>
          </a:prstGeom>
          <a:solidFill>
            <a:srgbClr val="0B2147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6" name="i"/>
          <p:cNvSpPr/>
          <p:nvPr/>
        </p:nvSpPr>
        <p:spPr>
          <a:xfrm>
            <a:off x="4419600" y="5949355"/>
            <a:ext cx="63500" cy="6350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7" name="b"/>
          <p:cNvSpPr/>
          <p:nvPr/>
        </p:nvSpPr>
        <p:spPr>
          <a:xfrm>
            <a:off x="4483100" y="5974755"/>
            <a:ext cx="88900" cy="12700"/>
          </a:xfrm>
          <a:prstGeom prst="rect">
            <a:avLst/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8" name="i"/>
          <p:cNvSpPr/>
          <p:nvPr/>
        </p:nvSpPr>
        <p:spPr>
          <a:xfrm>
            <a:off x="4572000" y="5949355"/>
            <a:ext cx="63500" cy="6350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9" name="b"/>
          <p:cNvSpPr/>
          <p:nvPr/>
        </p:nvSpPr>
        <p:spPr>
          <a:xfrm>
            <a:off x="4635500" y="5974755"/>
            <a:ext cx="88900" cy="12700"/>
          </a:xfrm>
          <a:prstGeom prst="rect">
            <a:avLst/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0" name="i"/>
          <p:cNvSpPr/>
          <p:nvPr/>
        </p:nvSpPr>
        <p:spPr>
          <a:xfrm>
            <a:off x="4724400" y="5949355"/>
            <a:ext cx="63500" cy="63500"/>
          </a:xfrm>
          <a:prstGeom prst="ellipse">
            <a:avLst/>
          </a:prstGeom>
          <a:solidFill>
            <a:srgbClr val="FDBB30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1" name="01"/>
          <p:cNvSpPr txBox="1"/>
          <p:nvPr/>
        </p:nvSpPr>
        <p:spPr>
          <a:xfrm>
            <a:off x="952500" y="292100"/>
            <a:ext cx="20329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20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01</a:t>
            </a:r>
            <a:endParaRPr lang="en-US" sz="1000" dirty="0"/>
          </a:p>
        </p:txBody>
      </p:sp>
      <p:sp>
        <p:nvSpPr>
          <p:cNvPr id="92" name="PT 주제 1. 가장 중요하게 생각하는 가치와 실천 경험"/>
          <p:cNvSpPr txBox="1"/>
          <p:nvPr/>
        </p:nvSpPr>
        <p:spPr>
          <a:xfrm>
            <a:off x="1263749" y="292100"/>
            <a:ext cx="268293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10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PT 주제 1. 가장 중요하게 생각하는 가치와 실천 경험</a:t>
            </a:r>
            <a:endParaRPr lang="en-US" sz="1000" dirty="0"/>
          </a:p>
        </p:txBody>
      </p:sp>
      <p:sp>
        <p:nvSpPr>
          <p:cNvPr id="93" name="제가 가장 중요하게 생각하는 가치는"/>
          <p:cNvSpPr txBox="1"/>
          <p:nvPr/>
        </p:nvSpPr>
        <p:spPr>
          <a:xfrm>
            <a:off x="508000" y="571500"/>
            <a:ext cx="255062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28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제가 가장 중요하게 생각하는 가치는</a:t>
            </a:r>
            <a:endParaRPr lang="en-US" sz="1400" dirty="0"/>
          </a:p>
        </p:txBody>
      </p:sp>
      <p:sp>
        <p:nvSpPr>
          <p:cNvPr id="94" name="공동의 목표를 공유하며 함께 성과를 만드는 협업입니다."/>
          <p:cNvSpPr txBox="1"/>
          <p:nvPr/>
        </p:nvSpPr>
        <p:spPr>
          <a:xfrm>
            <a:off x="508000" y="821630"/>
            <a:ext cx="738296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700" spc="-10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공동의 목표</a:t>
            </a:r>
            <a:pPr algn="l" indent="0" marL="0">
              <a:buNone/>
            </a:pPr>
            <a:r>
              <a:rPr lang="ko-KR" altLang="en-US" sz="2700" spc="-10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를 공유하며 함께 성과를 만드는 </a:t>
            </a:r>
            <a:pPr algn="l" indent="0" marL="0">
              <a:buNone/>
            </a:pPr>
            <a:r>
              <a:rPr lang="ko-KR" altLang="en-US" sz="2700" spc="-10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협업</a:t>
            </a:r>
            <a:pPr algn="l" indent="0" marL="0">
              <a:buNone/>
            </a:pPr>
            <a:r>
              <a:rPr lang="ko-KR" altLang="en-US" sz="2700" spc="-10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입니다.</a:t>
            </a:r>
            <a:endParaRPr lang="en-US" sz="2700" dirty="0"/>
          </a:p>
        </p:txBody>
      </p:sp>
      <p:sp>
        <p:nvSpPr>
          <p:cNvPr id="95" name="가치관 형성 배경"/>
          <p:cNvSpPr txBox="1"/>
          <p:nvPr/>
        </p:nvSpPr>
        <p:spPr>
          <a:xfrm>
            <a:off x="711200" y="1550591"/>
            <a:ext cx="85308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가치관 형성 배경</a:t>
            </a:r>
            <a:endParaRPr lang="en-US" sz="1000" dirty="0"/>
          </a:p>
        </p:txBody>
      </p:sp>
      <p:sp>
        <p:nvSpPr>
          <p:cNvPr id="96" name="협업을 대하는 태도"/>
          <p:cNvSpPr txBox="1"/>
          <p:nvPr/>
        </p:nvSpPr>
        <p:spPr>
          <a:xfrm>
            <a:off x="711200" y="1722041"/>
            <a:ext cx="96779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협업을 대하는 태도</a:t>
            </a:r>
            <a:endParaRPr lang="en-US" sz="1000" dirty="0"/>
          </a:p>
        </p:txBody>
      </p:sp>
      <p:sp>
        <p:nvSpPr>
          <p:cNvPr id="97" name="BEFORE"/>
          <p:cNvSpPr txBox="1"/>
          <p:nvPr/>
        </p:nvSpPr>
        <p:spPr>
          <a:xfrm>
            <a:off x="2075061" y="1649016"/>
            <a:ext cx="512862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68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BEFORE</a:t>
            </a:r>
            <a:endParaRPr lang="en-US" sz="850" dirty="0"/>
          </a:p>
        </p:txBody>
      </p:sp>
      <p:sp>
        <p:nvSpPr>
          <p:cNvPr id="98" name="각자 맡은 역할만 잘하면 된다"/>
          <p:cNvSpPr txBox="1"/>
          <p:nvPr/>
        </p:nvSpPr>
        <p:spPr>
          <a:xfrm>
            <a:off x="2714923" y="1616670"/>
            <a:ext cx="1897195" cy="196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39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각자 맡은 역할만 잘하면 된다</a:t>
            </a:r>
            <a:endParaRPr lang="en-US" sz="1300" dirty="0"/>
          </a:p>
        </p:txBody>
      </p:sp>
      <p:sp>
        <p:nvSpPr>
          <p:cNvPr id="99" name="학부 팀 프로젝트"/>
          <p:cNvSpPr txBox="1"/>
          <p:nvPr/>
        </p:nvSpPr>
        <p:spPr>
          <a:xfrm>
            <a:off x="6317754" y="1639491"/>
            <a:ext cx="85486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학부 팀 프로젝트</a:t>
            </a:r>
            <a:endParaRPr lang="en-US" sz="1000" dirty="0"/>
          </a:p>
        </p:txBody>
      </p:sp>
      <p:sp>
        <p:nvSpPr>
          <p:cNvPr id="100" name="AFTER"/>
          <p:cNvSpPr txBox="1"/>
          <p:nvPr/>
        </p:nvSpPr>
        <p:spPr>
          <a:xfrm>
            <a:off x="8807748" y="1649016"/>
            <a:ext cx="439043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68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AFTER</a:t>
            </a:r>
            <a:endParaRPr lang="en-US" sz="850" dirty="0"/>
          </a:p>
        </p:txBody>
      </p:sp>
      <p:sp>
        <p:nvSpPr>
          <p:cNvPr id="101" name="같은 목표와 방향을 공유해야 한다"/>
          <p:cNvSpPr txBox="1"/>
          <p:nvPr/>
        </p:nvSpPr>
        <p:spPr>
          <a:xfrm>
            <a:off x="9373791" y="1616670"/>
            <a:ext cx="2179582" cy="196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39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같은 목표와 방향을 공유해야 한다</a:t>
            </a:r>
            <a:endParaRPr lang="en-US" sz="1300" dirty="0"/>
          </a:p>
        </p:txBody>
      </p:sp>
      <p:sp>
        <p:nvSpPr>
          <p:cNvPr id="102" name="실천 경험"/>
          <p:cNvSpPr txBox="1"/>
          <p:nvPr/>
        </p:nvSpPr>
        <p:spPr>
          <a:xfrm>
            <a:off x="508000" y="2153841"/>
            <a:ext cx="50561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실천 경험</a:t>
            </a:r>
            <a:endParaRPr lang="en-US" sz="1000" dirty="0"/>
          </a:p>
        </p:txBody>
      </p:sp>
      <p:sp>
        <p:nvSpPr>
          <p:cNvPr id="103" name="학생 BIM 경진대회"/>
          <p:cNvSpPr txBox="1"/>
          <p:nvPr/>
        </p:nvSpPr>
        <p:spPr>
          <a:xfrm>
            <a:off x="1121569" y="2153841"/>
            <a:ext cx="9695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학생 BIM 경진대회</a:t>
            </a:r>
            <a:endParaRPr lang="en-US" sz="1000" dirty="0"/>
          </a:p>
        </p:txBody>
      </p:sp>
      <p:sp>
        <p:nvSpPr>
          <p:cNvPr id="104" name="01"/>
          <p:cNvSpPr txBox="1"/>
          <p:nvPr/>
        </p:nvSpPr>
        <p:spPr>
          <a:xfrm>
            <a:off x="774402" y="2677716"/>
            <a:ext cx="178296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9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01</a:t>
            </a:r>
            <a:endParaRPr lang="en-US" sz="850" dirty="0"/>
          </a:p>
        </p:txBody>
      </p:sp>
      <p:sp>
        <p:nvSpPr>
          <p:cNvPr id="105" name="충돌을 조율해 주제를 확정하다"/>
          <p:cNvSpPr txBox="1"/>
          <p:nvPr/>
        </p:nvSpPr>
        <p:spPr>
          <a:xfrm>
            <a:off x="1054100" y="2631380"/>
            <a:ext cx="213846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9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충돌을 조율해 주제를 확정하다</a:t>
            </a:r>
            <a:endParaRPr lang="en-US" sz="1400" dirty="0"/>
          </a:p>
        </p:txBody>
      </p:sp>
      <p:sp>
        <p:nvSpPr>
          <p:cNvPr id="106" name="마감 3주 전까지 주제 미확정"/>
          <p:cNvSpPr txBox="1"/>
          <p:nvPr/>
        </p:nvSpPr>
        <p:spPr>
          <a:xfrm>
            <a:off x="1679724" y="3058716"/>
            <a:ext cx="144684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1C2536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마감 3주 전까지 주제 미확정</a:t>
            </a:r>
            <a:endParaRPr lang="en-US" sz="1000" dirty="0"/>
          </a:p>
        </p:txBody>
      </p:sp>
      <p:sp>
        <p:nvSpPr>
          <p:cNvPr id="107" name="참신성"/>
          <p:cNvSpPr txBox="1"/>
          <p:nvPr/>
        </p:nvSpPr>
        <p:spPr>
          <a:xfrm>
            <a:off x="1235670" y="3408561"/>
            <a:ext cx="436860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spc="-2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참신성</a:t>
            </a:r>
            <a:endParaRPr lang="en-US" sz="1200" dirty="0"/>
          </a:p>
        </p:txBody>
      </p:sp>
      <p:sp>
        <p:nvSpPr>
          <p:cNvPr id="108" name="구현 가능성"/>
          <p:cNvSpPr txBox="1"/>
          <p:nvPr/>
        </p:nvSpPr>
        <p:spPr>
          <a:xfrm>
            <a:off x="2919809" y="3408561"/>
            <a:ext cx="726281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spc="-24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구현 가능성</a:t>
            </a:r>
            <a:endParaRPr lang="en-US" sz="1200" dirty="0"/>
          </a:p>
        </p:txBody>
      </p:sp>
      <p:sp>
        <p:nvSpPr>
          <p:cNvPr id="109" name="VS"/>
          <p:cNvSpPr txBox="1"/>
          <p:nvPr/>
        </p:nvSpPr>
        <p:spPr>
          <a:xfrm>
            <a:off x="2204839" y="3436541"/>
            <a:ext cx="21312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18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VS</a:t>
            </a:r>
            <a:endParaRPr lang="en-US" sz="900" dirty="0"/>
          </a:p>
        </p:txBody>
      </p:sp>
      <p:sp>
        <p:nvSpPr>
          <p:cNvPr id="110" name="경청 · 수상작 분석 · 교수님 조언"/>
          <p:cNvSpPr txBox="1"/>
          <p:nvPr/>
        </p:nvSpPr>
        <p:spPr>
          <a:xfrm>
            <a:off x="1540470" y="3722291"/>
            <a:ext cx="158052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3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경청 · 수상작 분석 · 교수님 조언</a:t>
            </a:r>
            <a:endParaRPr lang="en-US" sz="1000" dirty="0"/>
          </a:p>
        </p:txBody>
      </p:sp>
      <p:sp>
        <p:nvSpPr>
          <p:cNvPr id="111" name="판단 기준 마련"/>
          <p:cNvSpPr txBox="1"/>
          <p:nvPr/>
        </p:nvSpPr>
        <p:spPr>
          <a:xfrm>
            <a:off x="1938437" y="3957241"/>
            <a:ext cx="74592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판단 기준 마련</a:t>
            </a:r>
            <a:endParaRPr lang="en-US" sz="1000" dirty="0"/>
          </a:p>
        </p:txBody>
      </p:sp>
      <p:sp>
        <p:nvSpPr>
          <p:cNvPr id="112" name="1"/>
          <p:cNvSpPr txBox="1"/>
          <p:nvPr/>
        </p:nvSpPr>
        <p:spPr>
          <a:xfrm>
            <a:off x="937220" y="4233466"/>
            <a:ext cx="98326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-33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1</a:t>
            </a:r>
            <a:endParaRPr lang="en-US" sz="850" dirty="0"/>
          </a:p>
        </p:txBody>
      </p:sp>
      <p:sp>
        <p:nvSpPr>
          <p:cNvPr id="113" name="기존 수상작과"/>
          <p:cNvSpPr txBox="1"/>
          <p:nvPr/>
        </p:nvSpPr>
        <p:spPr>
          <a:xfrm>
            <a:off x="1094383" y="4211241"/>
            <a:ext cx="77817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33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기존 수상작과</a:t>
            </a:r>
            <a:endParaRPr lang="en-US" sz="1100" dirty="0"/>
          </a:p>
        </p:txBody>
      </p:sp>
      <p:sp>
        <p:nvSpPr>
          <p:cNvPr id="114" name="차별화되는가?"/>
          <p:cNvSpPr txBox="1"/>
          <p:nvPr/>
        </p:nvSpPr>
        <p:spPr>
          <a:xfrm>
            <a:off x="1094383" y="4392811"/>
            <a:ext cx="82113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33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차별화되는가?</a:t>
            </a:r>
            <a:endParaRPr lang="en-US" sz="1100" dirty="0"/>
          </a:p>
        </p:txBody>
      </p:sp>
      <p:sp>
        <p:nvSpPr>
          <p:cNvPr id="115" name="2"/>
          <p:cNvSpPr txBox="1"/>
          <p:nvPr/>
        </p:nvSpPr>
        <p:spPr>
          <a:xfrm>
            <a:off x="2744490" y="4233466"/>
            <a:ext cx="113407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-33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2</a:t>
            </a:r>
            <a:endParaRPr lang="en-US" sz="850" dirty="0"/>
          </a:p>
        </p:txBody>
      </p:sp>
      <p:sp>
        <p:nvSpPr>
          <p:cNvPr id="116" name="남은 3주 안에"/>
          <p:cNvSpPr txBox="1"/>
          <p:nvPr/>
        </p:nvSpPr>
        <p:spPr>
          <a:xfrm>
            <a:off x="2909193" y="4211241"/>
            <a:ext cx="77460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33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남은 3주 안에</a:t>
            </a:r>
            <a:endParaRPr lang="en-US" sz="1100" dirty="0"/>
          </a:p>
        </p:txBody>
      </p:sp>
      <p:sp>
        <p:nvSpPr>
          <p:cNvPr id="117" name="완성 가능한가?"/>
          <p:cNvSpPr txBox="1"/>
          <p:nvPr/>
        </p:nvSpPr>
        <p:spPr>
          <a:xfrm>
            <a:off x="2909193" y="4392811"/>
            <a:ext cx="8491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33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완성 가능한가?</a:t>
            </a:r>
            <a:endParaRPr lang="en-US" sz="1100" dirty="0"/>
          </a:p>
        </p:txBody>
      </p:sp>
      <p:sp>
        <p:nvSpPr>
          <p:cNvPr id="118" name="‘유닛 모듈러 기반 사용자 맞춤형"/>
          <p:cNvSpPr txBox="1"/>
          <p:nvPr/>
        </p:nvSpPr>
        <p:spPr>
          <a:xfrm>
            <a:off x="889000" y="5089227"/>
            <a:ext cx="2124051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50" spc="-54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‘유닛 모듈러 기반 사용자 맞춤형</a:t>
            </a:r>
            <a:endParaRPr lang="en-US" sz="1350" dirty="0"/>
          </a:p>
        </p:txBody>
      </p:sp>
      <p:sp>
        <p:nvSpPr>
          <p:cNvPr id="119" name="리모델링 방법’ 선정"/>
          <p:cNvSpPr txBox="1"/>
          <p:nvPr/>
        </p:nvSpPr>
        <p:spPr>
          <a:xfrm>
            <a:off x="889000" y="5312073"/>
            <a:ext cx="1308338" cy="209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50" spc="-54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리모델링 방법’ </a:t>
            </a:r>
            <a:pPr algn="l" indent="0" marL="0">
              <a:buNone/>
            </a:pPr>
            <a:r>
              <a:rPr lang="ko-KR" altLang="en-US" sz="1350" spc="-54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선정</a:t>
            </a:r>
            <a:endParaRPr lang="en-US" sz="1350" dirty="0"/>
          </a:p>
        </p:txBody>
      </p:sp>
      <p:sp>
        <p:nvSpPr>
          <p:cNvPr id="120" name="리모델링 규모에 따라 유닛 모듈러를 배치하고,"/>
          <p:cNvSpPr txBox="1"/>
          <p:nvPr/>
        </p:nvSpPr>
        <p:spPr>
          <a:xfrm>
            <a:off x="889000" y="5674618"/>
            <a:ext cx="230999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30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리모델링 규모에 따라 유닛 모듈러를 배치하고,</a:t>
            </a:r>
            <a:endParaRPr lang="en-US" sz="1000" dirty="0"/>
          </a:p>
        </p:txBody>
      </p:sp>
      <p:sp>
        <p:nvSpPr>
          <p:cNvPr id="121" name="모듈 수 · 자재 물량 자동 산출"/>
          <p:cNvSpPr txBox="1"/>
          <p:nvPr/>
        </p:nvSpPr>
        <p:spPr>
          <a:xfrm>
            <a:off x="889000" y="5858768"/>
            <a:ext cx="143990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30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모듈 수 · 자재 물량 자동 산출</a:t>
            </a:r>
            <a:endParaRPr lang="en-US" sz="1000" dirty="0"/>
          </a:p>
        </p:txBody>
      </p:sp>
      <p:sp>
        <p:nvSpPr>
          <p:cNvPr id="122" name="02"/>
          <p:cNvSpPr txBox="1"/>
          <p:nvPr/>
        </p:nvSpPr>
        <p:spPr>
          <a:xfrm>
            <a:off x="4475361" y="2677716"/>
            <a:ext cx="193278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9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02</a:t>
            </a:r>
            <a:endParaRPr lang="en-US" sz="850" dirty="0"/>
          </a:p>
        </p:txBody>
      </p:sp>
      <p:sp>
        <p:nvSpPr>
          <p:cNvPr id="123" name="강점에 맞게 역할을 나누다"/>
          <p:cNvSpPr txBox="1"/>
          <p:nvPr/>
        </p:nvSpPr>
        <p:spPr>
          <a:xfrm>
            <a:off x="4762500" y="2631380"/>
            <a:ext cx="1825889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9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강점에 맞게 역할을 나누다</a:t>
            </a:r>
            <a:endParaRPr lang="en-US" sz="1400" dirty="0"/>
          </a:p>
        </p:txBody>
      </p:sp>
      <p:sp>
        <p:nvSpPr>
          <p:cNvPr id="124" name="공동 목표"/>
          <p:cNvSpPr txBox="1"/>
          <p:nvPr/>
        </p:nvSpPr>
        <p:spPr>
          <a:xfrm>
            <a:off x="6063754" y="3821410"/>
            <a:ext cx="521692" cy="1587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050" spc="-32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공동 목표</a:t>
            </a:r>
            <a:endParaRPr lang="en-US" sz="1050" dirty="0"/>
          </a:p>
        </p:txBody>
      </p:sp>
      <p:sp>
        <p:nvSpPr>
          <p:cNvPr id="125" name="프로젝트 완수"/>
          <p:cNvSpPr txBox="1"/>
          <p:nvPr/>
        </p:nvSpPr>
        <p:spPr>
          <a:xfrm>
            <a:off x="6001643" y="3994051"/>
            <a:ext cx="645914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00" b="1" spc="-27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프로젝트 완수</a:t>
            </a:r>
            <a:endParaRPr lang="en-US" sz="900" dirty="0"/>
          </a:p>
        </p:txBody>
      </p:sp>
      <p:sp>
        <p:nvSpPr>
          <p:cNvPr id="126" name="팀장"/>
          <p:cNvSpPr txBox="1"/>
          <p:nvPr/>
        </p:nvSpPr>
        <p:spPr>
          <a:xfrm>
            <a:off x="4648200" y="3125391"/>
            <a:ext cx="28674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팀장</a:t>
            </a:r>
            <a:endParaRPr lang="en-US" sz="1100" dirty="0"/>
          </a:p>
        </p:txBody>
      </p:sp>
      <p:sp>
        <p:nvSpPr>
          <p:cNvPr id="127" name="나"/>
          <p:cNvSpPr txBox="1"/>
          <p:nvPr/>
        </p:nvSpPr>
        <p:spPr>
          <a:xfrm>
            <a:off x="4971355" y="3148806"/>
            <a:ext cx="130373" cy="114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750" spc="-22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나</a:t>
            </a:r>
            <a:endParaRPr lang="en-US" sz="750" dirty="0"/>
          </a:p>
        </p:txBody>
      </p:sp>
      <p:sp>
        <p:nvSpPr>
          <p:cNvPr id="128" name="프로젝트 일정 총괄 ·"/>
          <p:cNvSpPr txBox="1"/>
          <p:nvPr/>
        </p:nvSpPr>
        <p:spPr>
          <a:xfrm>
            <a:off x="4533900" y="3337421"/>
            <a:ext cx="101648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30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프로젝트 일정 총괄 ·</a:t>
            </a:r>
            <a:endParaRPr lang="en-US" sz="1000" dirty="0"/>
          </a:p>
        </p:txBody>
      </p:sp>
      <p:sp>
        <p:nvSpPr>
          <p:cNvPr id="129" name="Dynamo 기반"/>
          <p:cNvSpPr txBox="1"/>
          <p:nvPr/>
        </p:nvSpPr>
        <p:spPr>
          <a:xfrm>
            <a:off x="4533900" y="3502521"/>
            <a:ext cx="74543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30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Dynamo 기반</a:t>
            </a:r>
            <a:endParaRPr lang="en-US" sz="1000" dirty="0"/>
          </a:p>
        </p:txBody>
      </p:sp>
      <p:sp>
        <p:nvSpPr>
          <p:cNvPr id="130" name="자동화 알고리즘 개발"/>
          <p:cNvSpPr txBox="1"/>
          <p:nvPr/>
        </p:nvSpPr>
        <p:spPr>
          <a:xfrm>
            <a:off x="4533900" y="3667621"/>
            <a:ext cx="106844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30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자동화 알고리즘 개발</a:t>
            </a:r>
            <a:endParaRPr lang="en-US" sz="1000" dirty="0"/>
          </a:p>
        </p:txBody>
      </p:sp>
      <p:sp>
        <p:nvSpPr>
          <p:cNvPr id="131" name="팀원 A"/>
          <p:cNvSpPr txBox="1"/>
          <p:nvPr/>
        </p:nvSpPr>
        <p:spPr>
          <a:xfrm>
            <a:off x="7010400" y="3125391"/>
            <a:ext cx="41602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팀원 A</a:t>
            </a:r>
            <a:endParaRPr lang="en-US" sz="1100" dirty="0"/>
          </a:p>
        </p:txBody>
      </p:sp>
      <p:sp>
        <p:nvSpPr>
          <p:cNvPr id="132" name="유닛 모듈러 설계 ·"/>
          <p:cNvSpPr txBox="1"/>
          <p:nvPr/>
        </p:nvSpPr>
        <p:spPr>
          <a:xfrm>
            <a:off x="6896100" y="3337421"/>
            <a:ext cx="90416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30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유닛 모듈러 설계 ·</a:t>
            </a:r>
            <a:endParaRPr lang="en-US" sz="1000" dirty="0"/>
          </a:p>
        </p:txBody>
      </p:sp>
      <p:sp>
        <p:nvSpPr>
          <p:cNvPr id="133" name="배치 계획"/>
          <p:cNvSpPr txBox="1"/>
          <p:nvPr/>
        </p:nvSpPr>
        <p:spPr>
          <a:xfrm>
            <a:off x="6896100" y="3502521"/>
            <a:ext cx="50184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30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배치 계획</a:t>
            </a:r>
            <a:endParaRPr lang="en-US" sz="1000" dirty="0"/>
          </a:p>
        </p:txBody>
      </p:sp>
      <p:sp>
        <p:nvSpPr>
          <p:cNvPr id="134" name="팀원 B"/>
          <p:cNvSpPr txBox="1"/>
          <p:nvPr/>
        </p:nvSpPr>
        <p:spPr>
          <a:xfrm>
            <a:off x="4648200" y="4166791"/>
            <a:ext cx="40203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팀원 B</a:t>
            </a:r>
            <a:endParaRPr lang="en-US" sz="1100" dirty="0"/>
          </a:p>
        </p:txBody>
      </p:sp>
      <p:sp>
        <p:nvSpPr>
          <p:cNvPr id="135" name="Revit 기반"/>
          <p:cNvSpPr txBox="1"/>
          <p:nvPr/>
        </p:nvSpPr>
        <p:spPr>
          <a:xfrm>
            <a:off x="4533900" y="4378821"/>
            <a:ext cx="55989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30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Revit 기반</a:t>
            </a:r>
            <a:endParaRPr lang="en-US" sz="1000" dirty="0"/>
          </a:p>
        </p:txBody>
      </p:sp>
      <p:sp>
        <p:nvSpPr>
          <p:cNvPr id="136" name="BIM 모델링 ·"/>
          <p:cNvSpPr txBox="1"/>
          <p:nvPr/>
        </p:nvSpPr>
        <p:spPr>
          <a:xfrm>
            <a:off x="4533900" y="4543921"/>
            <a:ext cx="6620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30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BIM 모델링 ·</a:t>
            </a:r>
            <a:endParaRPr lang="en-US" sz="1000" dirty="0"/>
          </a:p>
        </p:txBody>
      </p:sp>
      <p:sp>
        <p:nvSpPr>
          <p:cNvPr id="137" name="모듈러 라이브러리 구축"/>
          <p:cNvSpPr txBox="1"/>
          <p:nvPr/>
        </p:nvSpPr>
        <p:spPr>
          <a:xfrm>
            <a:off x="4533900" y="4709021"/>
            <a:ext cx="118076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30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모듈러 라이브러리 구축</a:t>
            </a:r>
            <a:endParaRPr lang="en-US" sz="1000" dirty="0"/>
          </a:p>
        </p:txBody>
      </p:sp>
      <p:sp>
        <p:nvSpPr>
          <p:cNvPr id="138" name="팀원 C"/>
          <p:cNvSpPr txBox="1"/>
          <p:nvPr/>
        </p:nvSpPr>
        <p:spPr>
          <a:xfrm>
            <a:off x="7010400" y="4166791"/>
            <a:ext cx="41493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22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팀원 C</a:t>
            </a:r>
            <a:endParaRPr lang="en-US" sz="1100" dirty="0"/>
          </a:p>
        </p:txBody>
      </p:sp>
      <p:sp>
        <p:nvSpPr>
          <p:cNvPr id="139" name="리모델링 적용"/>
          <p:cNvSpPr txBox="1"/>
          <p:nvPr/>
        </p:nvSpPr>
        <p:spPr>
          <a:xfrm>
            <a:off x="6896100" y="4378821"/>
            <a:ext cx="7137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30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리모델링 적용</a:t>
            </a:r>
            <a:endParaRPr lang="en-US" sz="1000" dirty="0"/>
          </a:p>
        </p:txBody>
      </p:sp>
      <p:sp>
        <p:nvSpPr>
          <p:cNvPr id="140" name="시나리오 구성 ·"/>
          <p:cNvSpPr txBox="1"/>
          <p:nvPr/>
        </p:nvSpPr>
        <p:spPr>
          <a:xfrm>
            <a:off x="6896100" y="4543921"/>
            <a:ext cx="77063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30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시나리오 구성 ·</a:t>
            </a:r>
            <a:endParaRPr lang="en-US" sz="1000" dirty="0"/>
          </a:p>
        </p:txBody>
      </p:sp>
      <p:sp>
        <p:nvSpPr>
          <p:cNvPr id="141" name="시연 영상 제작"/>
          <p:cNvSpPr txBox="1"/>
          <p:nvPr/>
        </p:nvSpPr>
        <p:spPr>
          <a:xfrm>
            <a:off x="6896100" y="4709021"/>
            <a:ext cx="7409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30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시연 영상 제작</a:t>
            </a:r>
            <a:endParaRPr lang="en-US" sz="1000" dirty="0"/>
          </a:p>
        </p:txBody>
      </p:sp>
      <p:sp>
        <p:nvSpPr>
          <p:cNvPr id="142" name="이틀마다 진행상황 공유 · 피드백"/>
          <p:cNvSpPr txBox="1"/>
          <p:nvPr/>
        </p:nvSpPr>
        <p:spPr>
          <a:xfrm>
            <a:off x="5659140" y="5085755"/>
            <a:ext cx="162616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이틀마다 진행상황 공유 · 피드백</a:t>
            </a:r>
            <a:endParaRPr lang="en-US" sz="1000" dirty="0"/>
          </a:p>
        </p:txBody>
      </p:sp>
      <p:sp>
        <p:nvSpPr>
          <p:cNvPr id="143" name="03"/>
          <p:cNvSpPr txBox="1"/>
          <p:nvPr/>
        </p:nvSpPr>
        <p:spPr>
          <a:xfrm>
            <a:off x="8842573" y="2677716"/>
            <a:ext cx="196354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9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03</a:t>
            </a:r>
            <a:endParaRPr lang="en-US" sz="850" dirty="0"/>
          </a:p>
        </p:txBody>
      </p:sp>
      <p:sp>
        <p:nvSpPr>
          <p:cNvPr id="144" name="3주 만에 완성, 장려상 수상"/>
          <p:cNvSpPr txBox="1"/>
          <p:nvPr/>
        </p:nvSpPr>
        <p:spPr>
          <a:xfrm>
            <a:off x="9131300" y="2631380"/>
            <a:ext cx="186185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9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3주 만에 완성, 장려상 수상</a:t>
            </a:r>
            <a:endParaRPr lang="en-US" sz="1400" dirty="0"/>
          </a:p>
        </p:txBody>
      </p:sp>
      <p:sp>
        <p:nvSpPr>
          <p:cNvPr id="145" name="리모델링 앱 개발 아이디어 시연 영상"/>
          <p:cNvSpPr txBox="1"/>
          <p:nvPr/>
        </p:nvSpPr>
        <p:spPr>
          <a:xfrm>
            <a:off x="8953500" y="4522391"/>
            <a:ext cx="185113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FFFFFF">
                    <a:alpha val="82000"/>
                  </a:srgbClr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리모델링 앱 개발 아이디어 시연 영상</a:t>
            </a:r>
            <a:endParaRPr lang="en-US" sz="1000" dirty="0"/>
          </a:p>
        </p:txBody>
      </p:sp>
      <p:sp>
        <p:nvSpPr>
          <p:cNvPr id="146" name="학생 BIM 경진대회"/>
          <p:cNvSpPr txBox="1"/>
          <p:nvPr/>
        </p:nvSpPr>
        <p:spPr>
          <a:xfrm>
            <a:off x="9258300" y="4790480"/>
            <a:ext cx="9695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FFFFFF">
                    <a:alpha val="78000"/>
                  </a:srgbClr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학생 BIM 경진대회</a:t>
            </a:r>
            <a:endParaRPr lang="en-US" sz="1000" dirty="0"/>
          </a:p>
        </p:txBody>
      </p:sp>
      <p:sp>
        <p:nvSpPr>
          <p:cNvPr id="147" name="장려상"/>
          <p:cNvSpPr txBox="1"/>
          <p:nvPr/>
        </p:nvSpPr>
        <p:spPr>
          <a:xfrm>
            <a:off x="9258300" y="4949230"/>
            <a:ext cx="686594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000" spc="-60" kern="0" dirty="0">
                <a:solidFill>
                  <a:srgbClr val="FDBB30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장려상</a:t>
            </a:r>
            <a:endParaRPr lang="en-US" sz="2000" dirty="0"/>
          </a:p>
        </p:txBody>
      </p:sp>
      <p:sp>
        <p:nvSpPr>
          <p:cNvPr id="148" name="의견 차이로 출발조차 하지 못했던 팀이,"/>
          <p:cNvSpPr txBox="1"/>
          <p:nvPr/>
        </p:nvSpPr>
        <p:spPr>
          <a:xfrm>
            <a:off x="4965700" y="5741392"/>
            <a:ext cx="2732365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9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의견 차이로 출발조차 하지 못했던 팀이,</a:t>
            </a:r>
            <a:endParaRPr lang="en-US" sz="1400" dirty="0"/>
          </a:p>
        </p:txBody>
      </p:sp>
      <p:sp>
        <p:nvSpPr>
          <p:cNvPr id="149" name="서로 다른 의견을 조율하며 하나의 공동 목표를 향해 함께 결과를 만들었습"/>
          <p:cNvSpPr txBox="1"/>
          <p:nvPr/>
        </p:nvSpPr>
        <p:spPr>
          <a:xfrm>
            <a:off x="4965700" y="5993805"/>
            <a:ext cx="5416352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9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서로 다른 의견을 조율하며 </a:t>
            </a:r>
            <a:pPr algn="l" indent="0" marL="0">
              <a:buNone/>
            </a:pPr>
            <a:r>
              <a:rPr lang="ko-KR" altLang="en-US" sz="1400" b="1" spc="-49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하나의 공동 목표</a:t>
            </a:r>
            <a:pPr algn="l" indent="0" marL="0">
              <a:buNone/>
            </a:pPr>
            <a:r>
              <a:rPr lang="ko-KR" altLang="en-US" sz="1400" b="1" spc="-49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를 향해 함께 결과를 만들었습니다.</a:t>
            </a:r>
            <a:endParaRPr lang="en-US" sz="1400" dirty="0"/>
          </a:p>
        </p:txBody>
      </p:sp>
      <p:sp>
        <p:nvSpPr>
          <p:cNvPr id="150" name="2026년 하반기 신입사원 공개채용 | 공사관리 건축 직무 지원자 이현준"/>
          <p:cNvSpPr txBox="1"/>
          <p:nvPr/>
        </p:nvSpPr>
        <p:spPr>
          <a:xfrm>
            <a:off x="508000" y="6527205"/>
            <a:ext cx="327368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6A748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2026년 하반기 신입사원 공개채용 | 공사관리 건축 직무 지원자 이현준</a:t>
            </a:r>
            <a:endParaRPr lang="en-US" sz="900" dirty="0"/>
          </a:p>
        </p:txBody>
      </p:sp>
      <p:sp>
        <p:nvSpPr>
          <p:cNvPr id="151" name="01 / 03"/>
          <p:cNvSpPr txBox="1"/>
          <p:nvPr/>
        </p:nvSpPr>
        <p:spPr>
          <a:xfrm>
            <a:off x="11259741" y="6527205"/>
            <a:ext cx="475059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01</a:t>
            </a:r>
            <a:pPr algn="l" indent="0" marL="0">
              <a:buNone/>
            </a:pPr>
            <a:r>
              <a:rPr lang="ko-KR" altLang="en-US" sz="900" b="1" spc="54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"/>
          <p:cNvSpPr/>
          <p:nvPr/>
        </p:nvSpPr>
        <p:spPr>
          <a:xfrm>
            <a:off x="508000" y="339725"/>
            <a:ext cx="63500" cy="6350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" name="b"/>
          <p:cNvSpPr/>
          <p:nvPr/>
        </p:nvSpPr>
        <p:spPr>
          <a:xfrm>
            <a:off x="571500" y="365125"/>
            <a:ext cx="88900" cy="12700"/>
          </a:xfrm>
          <a:prstGeom prst="rect">
            <a:avLst/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" name="i"/>
          <p:cNvSpPr/>
          <p:nvPr/>
        </p:nvSpPr>
        <p:spPr>
          <a:xfrm>
            <a:off x="660400" y="339725"/>
            <a:ext cx="63500" cy="6350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" name="b"/>
          <p:cNvSpPr/>
          <p:nvPr/>
        </p:nvSpPr>
        <p:spPr>
          <a:xfrm>
            <a:off x="723900" y="365125"/>
            <a:ext cx="88900" cy="12700"/>
          </a:xfrm>
          <a:prstGeom prst="rect">
            <a:avLst/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" name="i"/>
          <p:cNvSpPr/>
          <p:nvPr/>
        </p:nvSpPr>
        <p:spPr>
          <a:xfrm>
            <a:off x="812800" y="339725"/>
            <a:ext cx="63500" cy="63500"/>
          </a:xfrm>
          <a:prstGeom prst="ellipse">
            <a:avLst/>
          </a:prstGeom>
          <a:solidFill>
            <a:srgbClr val="FDBB30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" name="hd-no::after"/>
          <p:cNvSpPr/>
          <p:nvPr/>
        </p:nvSpPr>
        <p:spPr>
          <a:xfrm>
            <a:off x="1198860" y="317500"/>
            <a:ext cx="6350" cy="101600"/>
          </a:xfrm>
          <a:prstGeom prst="roundRect">
            <a:avLst>
              <a:gd name="adj" fmla="val 0"/>
            </a:avLst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pic>
        <p:nvPicPr>
          <p:cNvPr id="9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55535" y="237662"/>
            <a:ext cx="1526117" cy="268817"/>
          </a:xfrm>
          <a:prstGeom prst="rect">
            <a:avLst/>
          </a:prstGeom>
        </p:spPr>
      </p:pic>
      <p:sp>
        <p:nvSpPr>
          <p:cNvPr id="10" name="i"/>
          <p:cNvSpPr/>
          <p:nvPr/>
        </p:nvSpPr>
        <p:spPr>
          <a:xfrm>
            <a:off x="1318121" y="1468041"/>
            <a:ext cx="6350" cy="101600"/>
          </a:xfrm>
          <a:prstGeom prst="roundRect">
            <a:avLst>
              <a:gd name="adj" fmla="val 0"/>
            </a:avLst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1" name="i"/>
          <p:cNvSpPr/>
          <p:nvPr/>
        </p:nvSpPr>
        <p:spPr>
          <a:xfrm>
            <a:off x="5093990" y="1468041"/>
            <a:ext cx="6350" cy="101600"/>
          </a:xfrm>
          <a:prstGeom prst="roundRect">
            <a:avLst>
              <a:gd name="adj" fmla="val 0"/>
            </a:avLst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2" name="p2-tile p2-v1 g"/>
          <p:cNvSpPr/>
          <p:nvPr/>
        </p:nvSpPr>
        <p:spPr>
          <a:xfrm>
            <a:off x="508000" y="1702991"/>
            <a:ext cx="3606800" cy="2253357"/>
          </a:xfrm>
          <a:prstGeom prst="roundRect">
            <a:avLst>
              <a:gd name="adj" fmla="val 6763"/>
            </a:avLst>
          </a:prstGeom>
          <a:solidFill>
            <a:srgbClr val="F3F6FA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3" name="p2-no"/>
          <p:cNvSpPr/>
          <p:nvPr/>
        </p:nvSpPr>
        <p:spPr>
          <a:xfrm>
            <a:off x="717550" y="1963341"/>
            <a:ext cx="241300" cy="241300"/>
          </a:xfrm>
          <a:prstGeom prst="ellipse">
            <a:avLst/>
          </a:prstGeom>
          <a:solidFill>
            <a:srgbClr val="FFFFFF"/>
          </a:solidFill>
          <a:ln w="12700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5400000" scaled="0"/>
            </a:gra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4" name="p2-op"/>
          <p:cNvSpPr/>
          <p:nvPr/>
        </p:nvSpPr>
        <p:spPr>
          <a:xfrm>
            <a:off x="1031875" y="2508945"/>
            <a:ext cx="1060450" cy="273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5" name="i"/>
          <p:cNvSpPr/>
          <p:nvPr/>
        </p:nvSpPr>
        <p:spPr>
          <a:xfrm>
            <a:off x="1327944" y="2613720"/>
            <a:ext cx="63500" cy="6350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6" name="p2-vs"/>
          <p:cNvSpPr/>
          <p:nvPr/>
        </p:nvSpPr>
        <p:spPr>
          <a:xfrm>
            <a:off x="2171700" y="2505770"/>
            <a:ext cx="279400" cy="279400"/>
          </a:xfrm>
          <a:prstGeom prst="ellipse">
            <a:avLst/>
          </a:prstGeom>
          <a:solidFill>
            <a:srgbClr val="0B2147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7" name="p2-op"/>
          <p:cNvSpPr/>
          <p:nvPr/>
        </p:nvSpPr>
        <p:spPr>
          <a:xfrm>
            <a:off x="2530475" y="2508945"/>
            <a:ext cx="1060450" cy="273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8" name="i"/>
          <p:cNvSpPr/>
          <p:nvPr/>
        </p:nvSpPr>
        <p:spPr>
          <a:xfrm>
            <a:off x="2693988" y="2613720"/>
            <a:ext cx="63500" cy="6350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9" name="p2-brk::before 선"/>
          <p:cNvSpPr/>
          <p:nvPr/>
        </p:nvSpPr>
        <p:spPr>
          <a:xfrm>
            <a:off x="1562100" y="2785170"/>
            <a:ext cx="317500" cy="127000"/>
          </a:xfrm>
          <a:custGeom>
            <a:avLst/>
            <a:gdLst/>
            <a:ahLst/>
            <a:cxnLst/>
            <a:rect l="0" t="0" r="r" b="b"/>
            <a:pathLst>
              <a:path w="317500" h="127000" fill="none">
                <a:moveTo>
                  <a:pt x="317500" y="127000"/>
                </a:moveTo>
                <a:lnTo>
                  <a:pt x="57150" y="127000"/>
                </a:lnTo>
                <a:cubicBezTo>
                  <a:pt x="25586" y="127000"/>
                  <a:pt x="0" y="101414"/>
                  <a:pt x="0" y="69850"/>
                </a:cubicBezTo>
                <a:lnTo>
                  <a:pt x="0" y="0"/>
                </a:lnTo>
              </a:path>
            </a:pathLst>
          </a:custGeom>
          <a:noFill/>
          <a:ln w="12700">
            <a:solidFill>
              <a:srgbClr val="C3CED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0" name="p2-brk::after 선"/>
          <p:cNvSpPr/>
          <p:nvPr/>
        </p:nvSpPr>
        <p:spPr>
          <a:xfrm>
            <a:off x="2743299" y="2785170"/>
            <a:ext cx="317500" cy="127000"/>
          </a:xfrm>
          <a:custGeom>
            <a:avLst/>
            <a:gdLst/>
            <a:ahLst/>
            <a:cxnLst/>
            <a:rect l="0" t="0" r="r" b="b"/>
            <a:pathLst>
              <a:path w="317500" h="127000" fill="none">
                <a:moveTo>
                  <a:pt x="317500" y="0"/>
                </a:moveTo>
                <a:lnTo>
                  <a:pt x="317500" y="69850"/>
                </a:lnTo>
                <a:cubicBezTo>
                  <a:pt x="317500" y="101414"/>
                  <a:pt x="291914" y="127000"/>
                  <a:pt x="260350" y="127000"/>
                </a:cubicBezTo>
                <a:lnTo>
                  <a:pt x="0" y="127000"/>
                </a:lnTo>
              </a:path>
            </a:pathLst>
          </a:custGeom>
          <a:noFill/>
          <a:ln w="12700">
            <a:solidFill>
              <a:srgbClr val="C3CED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1" name="p2-res"/>
          <p:cNvSpPr/>
          <p:nvPr/>
        </p:nvSpPr>
        <p:spPr>
          <a:xfrm>
            <a:off x="711200" y="3295848"/>
            <a:ext cx="3200400" cy="4572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>
            <a:outerShdw blurRad="152400" dist="50800" dir="5400000" algn="ctr" rotWithShape="0">
              <a:srgbClr val="0B2147">
                <a:alpha val="12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2" name="p2-ic"/>
          <p:cNvSpPr/>
          <p:nvPr/>
        </p:nvSpPr>
        <p:spPr>
          <a:xfrm>
            <a:off x="863600" y="3422848"/>
            <a:ext cx="203200" cy="20320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3" name="svg path"/>
          <p:cNvSpPr/>
          <p:nvPr/>
        </p:nvSpPr>
        <p:spPr>
          <a:xfrm>
            <a:off x="931863" y="3524448"/>
            <a:ext cx="66675" cy="1"/>
          </a:xfrm>
          <a:custGeom>
            <a:avLst/>
            <a:gdLst/>
            <a:ahLst/>
            <a:cxnLst/>
            <a:rect l="0" t="0" r="r" b="b"/>
            <a:pathLst>
              <a:path w="66675" h="1" fill="none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11430" cap="rnd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4" name="svg path"/>
          <p:cNvSpPr/>
          <p:nvPr/>
        </p:nvSpPr>
        <p:spPr>
          <a:xfrm>
            <a:off x="969963" y="3524448"/>
            <a:ext cx="28575" cy="28575"/>
          </a:xfrm>
          <a:custGeom>
            <a:avLst/>
            <a:gdLst/>
            <a:ahLst/>
            <a:cxnLst/>
            <a:rect l="0" t="0" r="r" b="b"/>
            <a:pathLst>
              <a:path w="28575" h="28575" fill="none">
                <a:moveTo>
                  <a:pt x="0" y="28575"/>
                </a:moveTo>
                <a:lnTo>
                  <a:pt x="28575" y="0"/>
                </a:lnTo>
              </a:path>
            </a:pathLst>
          </a:custGeom>
          <a:noFill/>
          <a:ln w="11430" cap="rnd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5" name="svg path"/>
          <p:cNvSpPr/>
          <p:nvPr/>
        </p:nvSpPr>
        <p:spPr>
          <a:xfrm>
            <a:off x="969963" y="3495873"/>
            <a:ext cx="28575" cy="28575"/>
          </a:xfrm>
          <a:custGeom>
            <a:avLst/>
            <a:gdLst/>
            <a:ahLst/>
            <a:cxnLst/>
            <a:rect l="0" t="0" r="r" b="b"/>
            <a:pathLst>
              <a:path w="28575" h="28575" fill="none">
                <a:moveTo>
                  <a:pt x="0" y="0"/>
                </a:moveTo>
                <a:lnTo>
                  <a:pt x="28575" y="28575"/>
                </a:lnTo>
              </a:path>
            </a:pathLst>
          </a:custGeom>
          <a:noFill/>
          <a:ln w="11430" cap="rnd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6" name="p2-tile p2-v2 b"/>
          <p:cNvSpPr/>
          <p:nvPr/>
        </p:nvSpPr>
        <p:spPr>
          <a:xfrm>
            <a:off x="508000" y="4108748"/>
            <a:ext cx="3606800" cy="2253357"/>
          </a:xfrm>
          <a:prstGeom prst="roundRect">
            <a:avLst>
              <a:gd name="adj" fmla="val 6763"/>
            </a:avLst>
          </a:prstGeom>
          <a:solidFill>
            <a:srgbClr val="F3F6FA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7" name="p2-no"/>
          <p:cNvSpPr/>
          <p:nvPr/>
        </p:nvSpPr>
        <p:spPr>
          <a:xfrm>
            <a:off x="717550" y="4369098"/>
            <a:ext cx="241300" cy="241300"/>
          </a:xfrm>
          <a:prstGeom prst="ellipse">
            <a:avLst/>
          </a:prstGeom>
          <a:solidFill>
            <a:srgbClr val="FFFFFF"/>
          </a:solidFill>
          <a:ln w="12700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5400000" scaled="0"/>
            </a:gra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8" name="p2-sk"/>
          <p:cNvSpPr/>
          <p:nvPr/>
        </p:nvSpPr>
        <p:spPr>
          <a:xfrm>
            <a:off x="714375" y="4844852"/>
            <a:ext cx="1555750" cy="273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9" name="i"/>
          <p:cNvSpPr/>
          <p:nvPr/>
        </p:nvSpPr>
        <p:spPr>
          <a:xfrm>
            <a:off x="831850" y="4949627"/>
            <a:ext cx="63500" cy="6350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0" name="p2-sk"/>
          <p:cNvSpPr/>
          <p:nvPr/>
        </p:nvSpPr>
        <p:spPr>
          <a:xfrm>
            <a:off x="2352675" y="4844852"/>
            <a:ext cx="1555750" cy="273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1" name="i"/>
          <p:cNvSpPr/>
          <p:nvPr/>
        </p:nvSpPr>
        <p:spPr>
          <a:xfrm>
            <a:off x="2470150" y="4949627"/>
            <a:ext cx="63500" cy="6350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2" name="p2-sk"/>
          <p:cNvSpPr/>
          <p:nvPr/>
        </p:nvSpPr>
        <p:spPr>
          <a:xfrm>
            <a:off x="714375" y="5200452"/>
            <a:ext cx="1555750" cy="273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3" name="i"/>
          <p:cNvSpPr/>
          <p:nvPr/>
        </p:nvSpPr>
        <p:spPr>
          <a:xfrm>
            <a:off x="831850" y="5305227"/>
            <a:ext cx="63500" cy="6350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4" name="p2-sk"/>
          <p:cNvSpPr/>
          <p:nvPr/>
        </p:nvSpPr>
        <p:spPr>
          <a:xfrm>
            <a:off x="2352675" y="5200452"/>
            <a:ext cx="1555750" cy="2730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6350">
            <a:solidFill>
              <a:srgbClr val="C3CEDD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5" name="i"/>
          <p:cNvSpPr/>
          <p:nvPr/>
        </p:nvSpPr>
        <p:spPr>
          <a:xfrm>
            <a:off x="2470150" y="5305227"/>
            <a:ext cx="63500" cy="6350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6" name="p2-res"/>
          <p:cNvSpPr/>
          <p:nvPr/>
        </p:nvSpPr>
        <p:spPr>
          <a:xfrm>
            <a:off x="711200" y="5701605"/>
            <a:ext cx="3200400" cy="457200"/>
          </a:xfrm>
          <a:prstGeom prst="roundRect">
            <a:avLst>
              <a:gd name="adj" fmla="val 22222"/>
            </a:avLst>
          </a:prstGeom>
          <a:solidFill>
            <a:srgbClr val="FFFFFF"/>
          </a:solidFill>
          <a:ln>
            <a:noFill/>
          </a:ln>
          <a:effectLst>
            <a:outerShdw blurRad="152400" dist="50800" dir="5400000" algn="ctr" rotWithShape="0">
              <a:srgbClr val="0B2147">
                <a:alpha val="12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7" name="p2-ic"/>
          <p:cNvSpPr/>
          <p:nvPr/>
        </p:nvSpPr>
        <p:spPr>
          <a:xfrm>
            <a:off x="863600" y="5828605"/>
            <a:ext cx="203200" cy="20320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8" name="svg path"/>
          <p:cNvSpPr/>
          <p:nvPr/>
        </p:nvSpPr>
        <p:spPr>
          <a:xfrm>
            <a:off x="931863" y="5930205"/>
            <a:ext cx="66675" cy="1"/>
          </a:xfrm>
          <a:custGeom>
            <a:avLst/>
            <a:gdLst/>
            <a:ahLst/>
            <a:cxnLst/>
            <a:rect l="0" t="0" r="r" b="b"/>
            <a:pathLst>
              <a:path w="66675" h="1" fill="none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11430" cap="rnd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9" name="svg path"/>
          <p:cNvSpPr/>
          <p:nvPr/>
        </p:nvSpPr>
        <p:spPr>
          <a:xfrm>
            <a:off x="969963" y="5930205"/>
            <a:ext cx="28575" cy="28575"/>
          </a:xfrm>
          <a:custGeom>
            <a:avLst/>
            <a:gdLst/>
            <a:ahLst/>
            <a:cxnLst/>
            <a:rect l="0" t="0" r="r" b="b"/>
            <a:pathLst>
              <a:path w="28575" h="28575" fill="none">
                <a:moveTo>
                  <a:pt x="0" y="28575"/>
                </a:moveTo>
                <a:lnTo>
                  <a:pt x="28575" y="0"/>
                </a:lnTo>
              </a:path>
            </a:pathLst>
          </a:custGeom>
          <a:noFill/>
          <a:ln w="11430" cap="rnd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0" name="svg path"/>
          <p:cNvSpPr/>
          <p:nvPr/>
        </p:nvSpPr>
        <p:spPr>
          <a:xfrm>
            <a:off x="969963" y="5901630"/>
            <a:ext cx="28575" cy="28575"/>
          </a:xfrm>
          <a:custGeom>
            <a:avLst/>
            <a:gdLst/>
            <a:ahLst/>
            <a:cxnLst/>
            <a:rect l="0" t="0" r="r" b="b"/>
            <a:pathLst>
              <a:path w="28575" h="28575" fill="none">
                <a:moveTo>
                  <a:pt x="0" y="0"/>
                </a:moveTo>
                <a:lnTo>
                  <a:pt x="28575" y="28575"/>
                </a:lnTo>
              </a:path>
            </a:pathLst>
          </a:custGeom>
          <a:noFill/>
          <a:ln w="11430" cap="rnd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1" name="p2-tile p2-k1 g"/>
          <p:cNvSpPr/>
          <p:nvPr/>
        </p:nvSpPr>
        <p:spPr>
          <a:xfrm>
            <a:off x="4267200" y="1702991"/>
            <a:ext cx="4216400" cy="2253357"/>
          </a:xfrm>
          <a:prstGeom prst="roundRect">
            <a:avLst>
              <a:gd name="adj" fmla="val 6763"/>
            </a:avLst>
          </a:prstGeom>
          <a:solidFill>
            <a:srgbClr val="F3F6FA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2" name="p2-def 선"/>
          <p:cNvSpPr/>
          <p:nvPr/>
        </p:nvSpPr>
        <p:spPr>
          <a:xfrm>
            <a:off x="5064423" y="1920180"/>
            <a:ext cx="1" cy="327521"/>
          </a:xfrm>
          <a:custGeom>
            <a:avLst/>
            <a:gdLst/>
            <a:ahLst/>
            <a:cxnLst/>
            <a:rect l="0" t="0" r="r" b="b"/>
            <a:pathLst>
              <a:path w="1" h="327521" fill="none">
                <a:moveTo>
                  <a:pt x="0" y="327521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C3CED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3" name="svg path"/>
          <p:cNvSpPr/>
          <p:nvPr/>
        </p:nvSpPr>
        <p:spPr>
          <a:xfrm>
            <a:off x="5969000" y="2490391"/>
            <a:ext cx="1346200" cy="558800"/>
          </a:xfrm>
          <a:custGeom>
            <a:avLst/>
            <a:gdLst/>
            <a:ahLst/>
            <a:cxnLst/>
            <a:rect l="0" t="0" r="r" b="b"/>
            <a:pathLst>
              <a:path w="1346200" h="558800" fill="none">
                <a:moveTo>
                  <a:pt x="0" y="0"/>
                </a:moveTo>
                <a:cubicBezTo>
                  <a:pt x="673100" y="0"/>
                  <a:pt x="673100" y="558800"/>
                  <a:pt x="1346200" y="558800"/>
                </a:cubicBezTo>
              </a:path>
            </a:pathLst>
          </a:custGeom>
          <a:noFill/>
          <a:ln w="12700" cap="rnd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0" scaled="0"/>
            </a:gra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4" name="svg path"/>
          <p:cNvSpPr/>
          <p:nvPr/>
        </p:nvSpPr>
        <p:spPr>
          <a:xfrm>
            <a:off x="5969000" y="2769791"/>
            <a:ext cx="1346200" cy="279400"/>
          </a:xfrm>
          <a:custGeom>
            <a:avLst/>
            <a:gdLst/>
            <a:ahLst/>
            <a:cxnLst/>
            <a:rect l="0" t="0" r="r" b="b"/>
            <a:pathLst>
              <a:path w="1346200" h="279400" fill="none">
                <a:moveTo>
                  <a:pt x="0" y="0"/>
                </a:moveTo>
                <a:cubicBezTo>
                  <a:pt x="673100" y="0"/>
                  <a:pt x="673100" y="279400"/>
                  <a:pt x="1346200" y="279400"/>
                </a:cubicBezTo>
              </a:path>
            </a:pathLst>
          </a:custGeom>
          <a:noFill/>
          <a:ln w="12700" cap="rnd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0" scaled="0"/>
            </a:gra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5" name="svg path"/>
          <p:cNvSpPr/>
          <p:nvPr/>
        </p:nvSpPr>
        <p:spPr>
          <a:xfrm>
            <a:off x="5969000" y="3049191"/>
            <a:ext cx="1346200" cy="1"/>
          </a:xfrm>
          <a:custGeom>
            <a:avLst/>
            <a:gdLst/>
            <a:ahLst/>
            <a:cxnLst/>
            <a:rect l="0" t="0" r="r" b="b"/>
            <a:pathLst>
              <a:path w="1346200" h="1" fill="none">
                <a:moveTo>
                  <a:pt x="0" y="0"/>
                </a:moveTo>
                <a:lnTo>
                  <a:pt x="1346200" y="0"/>
                </a:lnTo>
              </a:path>
            </a:pathLst>
          </a:custGeom>
          <a:noFill/>
          <a:ln w="12700" cap="rnd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0" scaled="0"/>
            </a:gra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6" name="svg path"/>
          <p:cNvSpPr/>
          <p:nvPr/>
        </p:nvSpPr>
        <p:spPr>
          <a:xfrm>
            <a:off x="5969000" y="3049191"/>
            <a:ext cx="1346200" cy="279400"/>
          </a:xfrm>
          <a:custGeom>
            <a:avLst/>
            <a:gdLst/>
            <a:ahLst/>
            <a:cxnLst/>
            <a:rect l="0" t="0" r="r" b="b"/>
            <a:pathLst>
              <a:path w="1346200" h="279400" fill="none">
                <a:moveTo>
                  <a:pt x="0" y="279400"/>
                </a:moveTo>
                <a:cubicBezTo>
                  <a:pt x="673100" y="279400"/>
                  <a:pt x="673100" y="0"/>
                  <a:pt x="1346200" y="0"/>
                </a:cubicBezTo>
              </a:path>
            </a:pathLst>
          </a:custGeom>
          <a:noFill/>
          <a:ln w="12700" cap="rnd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0" scaled="0"/>
            </a:gra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7" name="svg path"/>
          <p:cNvSpPr/>
          <p:nvPr/>
        </p:nvSpPr>
        <p:spPr>
          <a:xfrm>
            <a:off x="5969000" y="3049191"/>
            <a:ext cx="1346200" cy="558800"/>
          </a:xfrm>
          <a:custGeom>
            <a:avLst/>
            <a:gdLst/>
            <a:ahLst/>
            <a:cxnLst/>
            <a:rect l="0" t="0" r="r" b="b"/>
            <a:pathLst>
              <a:path w="1346200" h="558800" fill="none">
                <a:moveTo>
                  <a:pt x="0" y="558800"/>
                </a:moveTo>
                <a:cubicBezTo>
                  <a:pt x="673100" y="558800"/>
                  <a:pt x="673100" y="0"/>
                  <a:pt x="1346200" y="0"/>
                </a:cubicBezTo>
              </a:path>
            </a:pathLst>
          </a:custGeom>
          <a:noFill/>
          <a:ln w="12700" cap="rnd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0" scaled="0"/>
            </a:gra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8" name="svg circle"/>
          <p:cNvSpPr/>
          <p:nvPr/>
        </p:nvSpPr>
        <p:spPr>
          <a:xfrm>
            <a:off x="7280275" y="3014266"/>
            <a:ext cx="69850" cy="69850"/>
          </a:xfrm>
          <a:prstGeom prst="ellipse">
            <a:avLst/>
          </a:prstGeom>
          <a:solidFill>
            <a:srgbClr val="00A94F"/>
          </a:solidFill>
          <a:ln w="15875">
            <a:solidFill>
              <a:srgbClr val="FFFFFF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9" name="p2-chip"/>
          <p:cNvSpPr/>
          <p:nvPr/>
        </p:nvSpPr>
        <p:spPr>
          <a:xfrm>
            <a:off x="4470400" y="2376091"/>
            <a:ext cx="149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ctr" rotWithShape="0">
              <a:srgbClr val="0B2147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0" name="i"/>
          <p:cNvSpPr/>
          <p:nvPr/>
        </p:nvSpPr>
        <p:spPr>
          <a:xfrm>
            <a:off x="4572000" y="2461816"/>
            <a:ext cx="57150" cy="5715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1" name="p2-chip"/>
          <p:cNvSpPr/>
          <p:nvPr/>
        </p:nvSpPr>
        <p:spPr>
          <a:xfrm>
            <a:off x="4470400" y="2655491"/>
            <a:ext cx="149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ctr" rotWithShape="0">
              <a:srgbClr val="0B2147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2" name="i"/>
          <p:cNvSpPr/>
          <p:nvPr/>
        </p:nvSpPr>
        <p:spPr>
          <a:xfrm>
            <a:off x="4572000" y="2741216"/>
            <a:ext cx="57150" cy="5715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3" name="p2-chip"/>
          <p:cNvSpPr/>
          <p:nvPr/>
        </p:nvSpPr>
        <p:spPr>
          <a:xfrm>
            <a:off x="4470400" y="2934891"/>
            <a:ext cx="149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ctr" rotWithShape="0">
              <a:srgbClr val="0B2147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4" name="i"/>
          <p:cNvSpPr/>
          <p:nvPr/>
        </p:nvSpPr>
        <p:spPr>
          <a:xfrm>
            <a:off x="4572000" y="3020616"/>
            <a:ext cx="57150" cy="5715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5" name="p2-chip"/>
          <p:cNvSpPr/>
          <p:nvPr/>
        </p:nvSpPr>
        <p:spPr>
          <a:xfrm>
            <a:off x="4470400" y="3214291"/>
            <a:ext cx="149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ctr" rotWithShape="0">
              <a:srgbClr val="0B2147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6" name="i"/>
          <p:cNvSpPr/>
          <p:nvPr/>
        </p:nvSpPr>
        <p:spPr>
          <a:xfrm>
            <a:off x="4572000" y="3300016"/>
            <a:ext cx="57150" cy="5715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7" name="p2-chip"/>
          <p:cNvSpPr/>
          <p:nvPr/>
        </p:nvSpPr>
        <p:spPr>
          <a:xfrm>
            <a:off x="4470400" y="3493691"/>
            <a:ext cx="149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ctr" rotWithShape="0">
              <a:srgbClr val="0B2147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8" name="i"/>
          <p:cNvSpPr/>
          <p:nvPr/>
        </p:nvSpPr>
        <p:spPr>
          <a:xfrm>
            <a:off x="4572000" y="3579416"/>
            <a:ext cx="57150" cy="5715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9" name="ring p2-core"/>
          <p:cNvSpPr/>
          <p:nvPr/>
        </p:nvSpPr>
        <p:spPr>
          <a:xfrm>
            <a:off x="7324725" y="2576116"/>
            <a:ext cx="946150" cy="946150"/>
          </a:xfrm>
          <a:prstGeom prst="ellipse">
            <a:avLst/>
          </a:prstGeom>
          <a:solidFill>
            <a:srgbClr val="FFFFFF"/>
          </a:solidFill>
          <a:ln w="19050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5400000" scaled="0"/>
            </a:gradFill>
            <a:miter lim="800000"/>
          </a:ln>
          <a:effectLst>
            <a:outerShdw blurRad="127000" dist="38100" dir="5400000" algn="ctr" rotWithShape="0">
              <a:srgbClr val="0B2147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0" name="p2-tile p2-k2 b"/>
          <p:cNvSpPr/>
          <p:nvPr/>
        </p:nvSpPr>
        <p:spPr>
          <a:xfrm>
            <a:off x="4267200" y="4108748"/>
            <a:ext cx="4216400" cy="2253357"/>
          </a:xfrm>
          <a:prstGeom prst="roundRect">
            <a:avLst>
              <a:gd name="adj" fmla="val 6763"/>
            </a:avLst>
          </a:prstGeom>
          <a:solidFill>
            <a:srgbClr val="F3F6FA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1" name="p2-def 선"/>
          <p:cNvSpPr/>
          <p:nvPr/>
        </p:nvSpPr>
        <p:spPr>
          <a:xfrm>
            <a:off x="5064423" y="4325938"/>
            <a:ext cx="1" cy="327521"/>
          </a:xfrm>
          <a:custGeom>
            <a:avLst/>
            <a:gdLst/>
            <a:ahLst/>
            <a:cxnLst/>
            <a:rect l="0" t="0" r="r" b="b"/>
            <a:pathLst>
              <a:path w="1" h="327521" fill="none">
                <a:moveTo>
                  <a:pt x="0" y="327521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C3CED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2" name="svg path"/>
          <p:cNvSpPr/>
          <p:nvPr/>
        </p:nvSpPr>
        <p:spPr>
          <a:xfrm>
            <a:off x="5969000" y="5035848"/>
            <a:ext cx="1346200" cy="419100"/>
          </a:xfrm>
          <a:custGeom>
            <a:avLst/>
            <a:gdLst/>
            <a:ahLst/>
            <a:cxnLst/>
            <a:rect l="0" t="0" r="r" b="b"/>
            <a:pathLst>
              <a:path w="1346200" h="419100" fill="none">
                <a:moveTo>
                  <a:pt x="0" y="0"/>
                </a:moveTo>
                <a:cubicBezTo>
                  <a:pt x="673100" y="0"/>
                  <a:pt x="673100" y="419100"/>
                  <a:pt x="1346200" y="419100"/>
                </a:cubicBezTo>
              </a:path>
            </a:pathLst>
          </a:custGeom>
          <a:noFill/>
          <a:ln w="12700" cap="rnd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0" scaled="0"/>
            </a:gra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3" name="svg path"/>
          <p:cNvSpPr/>
          <p:nvPr/>
        </p:nvSpPr>
        <p:spPr>
          <a:xfrm>
            <a:off x="5969000" y="5315248"/>
            <a:ext cx="1346200" cy="139700"/>
          </a:xfrm>
          <a:custGeom>
            <a:avLst/>
            <a:gdLst/>
            <a:ahLst/>
            <a:cxnLst/>
            <a:rect l="0" t="0" r="r" b="b"/>
            <a:pathLst>
              <a:path w="1346200" h="139700" fill="none">
                <a:moveTo>
                  <a:pt x="0" y="0"/>
                </a:moveTo>
                <a:cubicBezTo>
                  <a:pt x="673100" y="0"/>
                  <a:pt x="673100" y="139700"/>
                  <a:pt x="1346200" y="139700"/>
                </a:cubicBezTo>
              </a:path>
            </a:pathLst>
          </a:custGeom>
          <a:noFill/>
          <a:ln w="12700" cap="rnd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0" scaled="0"/>
            </a:gra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4" name="svg path"/>
          <p:cNvSpPr/>
          <p:nvPr/>
        </p:nvSpPr>
        <p:spPr>
          <a:xfrm>
            <a:off x="5969000" y="5454948"/>
            <a:ext cx="1346200" cy="139700"/>
          </a:xfrm>
          <a:custGeom>
            <a:avLst/>
            <a:gdLst/>
            <a:ahLst/>
            <a:cxnLst/>
            <a:rect l="0" t="0" r="r" b="b"/>
            <a:pathLst>
              <a:path w="1346200" h="139700" fill="none">
                <a:moveTo>
                  <a:pt x="0" y="139700"/>
                </a:moveTo>
                <a:cubicBezTo>
                  <a:pt x="673100" y="139700"/>
                  <a:pt x="673100" y="0"/>
                  <a:pt x="1346200" y="0"/>
                </a:cubicBezTo>
              </a:path>
            </a:pathLst>
          </a:custGeom>
          <a:noFill/>
          <a:ln w="12700" cap="rnd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0" scaled="0"/>
            </a:gra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5" name="svg path"/>
          <p:cNvSpPr/>
          <p:nvPr/>
        </p:nvSpPr>
        <p:spPr>
          <a:xfrm>
            <a:off x="5969000" y="5454948"/>
            <a:ext cx="1346200" cy="419100"/>
          </a:xfrm>
          <a:custGeom>
            <a:avLst/>
            <a:gdLst/>
            <a:ahLst/>
            <a:cxnLst/>
            <a:rect l="0" t="0" r="r" b="b"/>
            <a:pathLst>
              <a:path w="1346200" h="419100" fill="none">
                <a:moveTo>
                  <a:pt x="0" y="419100"/>
                </a:moveTo>
                <a:cubicBezTo>
                  <a:pt x="673100" y="419100"/>
                  <a:pt x="673100" y="0"/>
                  <a:pt x="1346200" y="0"/>
                </a:cubicBezTo>
              </a:path>
            </a:pathLst>
          </a:custGeom>
          <a:noFill/>
          <a:ln w="12700" cap="rnd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0" scaled="0"/>
            </a:gra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6" name="svg circle"/>
          <p:cNvSpPr/>
          <p:nvPr/>
        </p:nvSpPr>
        <p:spPr>
          <a:xfrm>
            <a:off x="7280275" y="5420023"/>
            <a:ext cx="69850" cy="69850"/>
          </a:xfrm>
          <a:prstGeom prst="ellipse">
            <a:avLst/>
          </a:prstGeom>
          <a:solidFill>
            <a:srgbClr val="004B8D"/>
          </a:solidFill>
          <a:ln w="15875">
            <a:solidFill>
              <a:srgbClr val="FFFFFF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7" name="p2-chip"/>
          <p:cNvSpPr/>
          <p:nvPr/>
        </p:nvSpPr>
        <p:spPr>
          <a:xfrm>
            <a:off x="4470400" y="4921548"/>
            <a:ext cx="149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ctr" rotWithShape="0">
              <a:srgbClr val="0B2147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8" name="i"/>
          <p:cNvSpPr/>
          <p:nvPr/>
        </p:nvSpPr>
        <p:spPr>
          <a:xfrm>
            <a:off x="4572000" y="5007273"/>
            <a:ext cx="57150" cy="5715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9" name="p2-chip"/>
          <p:cNvSpPr/>
          <p:nvPr/>
        </p:nvSpPr>
        <p:spPr>
          <a:xfrm>
            <a:off x="4470400" y="5200948"/>
            <a:ext cx="149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ctr" rotWithShape="0">
              <a:srgbClr val="0B2147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0" name="i"/>
          <p:cNvSpPr/>
          <p:nvPr/>
        </p:nvSpPr>
        <p:spPr>
          <a:xfrm>
            <a:off x="4572000" y="5286673"/>
            <a:ext cx="57150" cy="5715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1" name="p2-chip"/>
          <p:cNvSpPr/>
          <p:nvPr/>
        </p:nvSpPr>
        <p:spPr>
          <a:xfrm>
            <a:off x="4470400" y="5480348"/>
            <a:ext cx="149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ctr" rotWithShape="0">
              <a:srgbClr val="0B2147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2" name="i"/>
          <p:cNvSpPr/>
          <p:nvPr/>
        </p:nvSpPr>
        <p:spPr>
          <a:xfrm>
            <a:off x="4572000" y="5566073"/>
            <a:ext cx="57150" cy="5715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3" name="p2-chip"/>
          <p:cNvSpPr/>
          <p:nvPr/>
        </p:nvSpPr>
        <p:spPr>
          <a:xfrm>
            <a:off x="4470400" y="5759748"/>
            <a:ext cx="1498600" cy="228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76200" dist="25400" dir="5400000" algn="ctr" rotWithShape="0">
              <a:srgbClr val="0B2147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4" name="i"/>
          <p:cNvSpPr/>
          <p:nvPr/>
        </p:nvSpPr>
        <p:spPr>
          <a:xfrm>
            <a:off x="4572000" y="5845473"/>
            <a:ext cx="57150" cy="5715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5" name="ring p2-core"/>
          <p:cNvSpPr/>
          <p:nvPr/>
        </p:nvSpPr>
        <p:spPr>
          <a:xfrm>
            <a:off x="7324725" y="4981873"/>
            <a:ext cx="946150" cy="946150"/>
          </a:xfrm>
          <a:prstGeom prst="ellipse">
            <a:avLst/>
          </a:prstGeom>
          <a:solidFill>
            <a:srgbClr val="FFFFFF"/>
          </a:solidFill>
          <a:ln w="19050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5400000" scaled="0"/>
            </a:gradFill>
            <a:miter lim="800000"/>
          </a:ln>
          <a:effectLst>
            <a:outerShdw blurRad="127000" dist="38100" dir="5400000" algn="ctr" rotWithShape="0">
              <a:srgbClr val="0B2147">
                <a:alpha val="8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6" name="key p2-hero"/>
          <p:cNvSpPr/>
          <p:nvPr/>
        </p:nvSpPr>
        <p:spPr>
          <a:xfrm>
            <a:off x="8636000" y="1436291"/>
            <a:ext cx="3048000" cy="4925814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12305F"/>
              </a:gs>
              <a:gs pos="60000">
                <a:srgbClr val="0B2147"/>
              </a:gs>
            </a:gsLst>
            <a:path path="circle">
              <a:fillToRect l="100000" t="0" r="0" b="100000"/>
            </a:path>
          </a:gra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7" name="p2-emb circle"/>
          <p:cNvSpPr/>
          <p:nvPr/>
        </p:nvSpPr>
        <p:spPr>
          <a:xfrm>
            <a:off x="8890000" y="1931591"/>
            <a:ext cx="914400" cy="914400"/>
          </a:xfrm>
          <a:prstGeom prst="ellipse">
            <a:avLst/>
          </a:prstGeom>
          <a:solidFill>
            <a:srgbClr val="00A94F">
              <a:alpha val="14000"/>
            </a:srgbClr>
          </a:solidFill>
          <a:ln w="15875">
            <a:solidFill>
              <a:srgbClr val="00A94F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8" name="p2-emb circle"/>
          <p:cNvSpPr/>
          <p:nvPr/>
        </p:nvSpPr>
        <p:spPr>
          <a:xfrm>
            <a:off x="9448800" y="1931591"/>
            <a:ext cx="914400" cy="914400"/>
          </a:xfrm>
          <a:prstGeom prst="ellipse">
            <a:avLst/>
          </a:prstGeom>
          <a:solidFill>
            <a:srgbClr val="45B9EC">
              <a:alpha val="12000"/>
            </a:srgbClr>
          </a:solidFill>
          <a:ln w="15875">
            <a:solidFill>
              <a:srgbClr val="45B9EC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9" name="p2-emb circle"/>
          <p:cNvSpPr/>
          <p:nvPr/>
        </p:nvSpPr>
        <p:spPr>
          <a:xfrm>
            <a:off x="9448800" y="2026896"/>
            <a:ext cx="355600" cy="723789"/>
          </a:xfrm>
          <a:custGeom>
            <a:avLst/>
            <a:gdLst/>
            <a:ahLst/>
            <a:cxnLst/>
            <a:rect l="0" t="0" r="r" b="b"/>
            <a:pathLst>
              <a:path w="355600" h="723789" stroke="0">
                <a:moveTo>
                  <a:pt x="177800" y="0"/>
                </a:moveTo>
                <a:cubicBezTo>
                  <a:pt x="65668" y="86571"/>
                  <a:pt x="0" y="220232"/>
                  <a:pt x="0" y="361894"/>
                </a:cubicBezTo>
                <a:cubicBezTo>
                  <a:pt x="0" y="503557"/>
                  <a:pt x="65668" y="637217"/>
                  <a:pt x="177800" y="723789"/>
                </a:cubicBezTo>
                <a:cubicBezTo>
                  <a:pt x="289932" y="637217"/>
                  <a:pt x="355600" y="503557"/>
                  <a:pt x="355600" y="361894"/>
                </a:cubicBezTo>
                <a:cubicBezTo>
                  <a:pt x="355600" y="220232"/>
                  <a:pt x="289932" y="86571"/>
                  <a:pt x="177800" y="0"/>
                </a:cubicBezTo>
                <a:close/>
              </a:path>
            </a:pathLst>
          </a:custGeom>
          <a:gradFill rotWithShape="1">
            <a:gsLst>
              <a:gs pos="0">
                <a:srgbClr val="FFD366"/>
              </a:gs>
              <a:gs pos="56317">
                <a:srgbClr val="FDBB30"/>
              </a:gs>
              <a:gs pos="100000">
                <a:srgbClr val="EDA219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0" name="i"/>
          <p:cNvSpPr/>
          <p:nvPr/>
        </p:nvSpPr>
        <p:spPr>
          <a:xfrm>
            <a:off x="8864600" y="4000202"/>
            <a:ext cx="63500" cy="6350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1" name="b"/>
          <p:cNvSpPr/>
          <p:nvPr/>
        </p:nvSpPr>
        <p:spPr>
          <a:xfrm>
            <a:off x="8928100" y="4025602"/>
            <a:ext cx="88900" cy="12700"/>
          </a:xfrm>
          <a:prstGeom prst="rect">
            <a:avLst/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2" name="i"/>
          <p:cNvSpPr/>
          <p:nvPr/>
        </p:nvSpPr>
        <p:spPr>
          <a:xfrm>
            <a:off x="9017000" y="4000202"/>
            <a:ext cx="63500" cy="6350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3" name="b"/>
          <p:cNvSpPr/>
          <p:nvPr/>
        </p:nvSpPr>
        <p:spPr>
          <a:xfrm>
            <a:off x="9080500" y="4025602"/>
            <a:ext cx="88900" cy="12700"/>
          </a:xfrm>
          <a:prstGeom prst="rect">
            <a:avLst/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4" name="i"/>
          <p:cNvSpPr/>
          <p:nvPr/>
        </p:nvSpPr>
        <p:spPr>
          <a:xfrm>
            <a:off x="9169400" y="4000202"/>
            <a:ext cx="63500" cy="63500"/>
          </a:xfrm>
          <a:prstGeom prst="ellipse">
            <a:avLst/>
          </a:prstGeom>
          <a:solidFill>
            <a:srgbClr val="FDBB30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5" name="p2-go g 고리"/>
          <p:cNvSpPr/>
          <p:nvPr/>
        </p:nvSpPr>
        <p:spPr>
          <a:xfrm>
            <a:off x="4019550" y="1912541"/>
            <a:ext cx="342900" cy="3429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6" name="p2-go g"/>
          <p:cNvSpPr/>
          <p:nvPr/>
        </p:nvSpPr>
        <p:spPr>
          <a:xfrm>
            <a:off x="4051300" y="1944291"/>
            <a:ext cx="279400" cy="27940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7" name="svg path"/>
          <p:cNvSpPr/>
          <p:nvPr/>
        </p:nvSpPr>
        <p:spPr>
          <a:xfrm>
            <a:off x="4150254" y="2083991"/>
            <a:ext cx="81492" cy="1"/>
          </a:xfrm>
          <a:custGeom>
            <a:avLst/>
            <a:gdLst/>
            <a:ahLst/>
            <a:cxnLst/>
            <a:rect l="0" t="0" r="r" b="b"/>
            <a:pathLst>
              <a:path w="81492" h="1" fill="none">
                <a:moveTo>
                  <a:pt x="0" y="0"/>
                </a:moveTo>
                <a:lnTo>
                  <a:pt x="81492" y="0"/>
                </a:lnTo>
              </a:path>
            </a:pathLst>
          </a:custGeom>
          <a:noFill/>
          <a:ln w="13970" cap="rnd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8" name="svg path"/>
          <p:cNvSpPr/>
          <p:nvPr/>
        </p:nvSpPr>
        <p:spPr>
          <a:xfrm>
            <a:off x="4196821" y="2083991"/>
            <a:ext cx="34925" cy="34925"/>
          </a:xfrm>
          <a:custGeom>
            <a:avLst/>
            <a:gdLst/>
            <a:ahLst/>
            <a:cxnLst/>
            <a:rect l="0" t="0" r="r" b="b"/>
            <a:pathLst>
              <a:path w="34925" h="34925" fill="none">
                <a:moveTo>
                  <a:pt x="0" y="34925"/>
                </a:moveTo>
                <a:lnTo>
                  <a:pt x="34925" y="0"/>
                </a:lnTo>
              </a:path>
            </a:pathLst>
          </a:custGeom>
          <a:noFill/>
          <a:ln w="13970" cap="rnd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9" name="svg path"/>
          <p:cNvSpPr/>
          <p:nvPr/>
        </p:nvSpPr>
        <p:spPr>
          <a:xfrm>
            <a:off x="4196821" y="2049066"/>
            <a:ext cx="34925" cy="34925"/>
          </a:xfrm>
          <a:custGeom>
            <a:avLst/>
            <a:gdLst/>
            <a:ahLst/>
            <a:cxnLst/>
            <a:rect l="0" t="0" r="r" b="b"/>
            <a:pathLst>
              <a:path w="34925" h="34925" fill="none">
                <a:moveTo>
                  <a:pt x="0" y="0"/>
                </a:moveTo>
                <a:lnTo>
                  <a:pt x="34925" y="34925"/>
                </a:lnTo>
              </a:path>
            </a:pathLst>
          </a:custGeom>
          <a:noFill/>
          <a:ln w="13970" cap="rnd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0" name="p2-go b 고리"/>
          <p:cNvSpPr/>
          <p:nvPr/>
        </p:nvSpPr>
        <p:spPr>
          <a:xfrm>
            <a:off x="4019550" y="4319191"/>
            <a:ext cx="342900" cy="3429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1" name="p2-go b"/>
          <p:cNvSpPr/>
          <p:nvPr/>
        </p:nvSpPr>
        <p:spPr>
          <a:xfrm>
            <a:off x="4051300" y="4350941"/>
            <a:ext cx="279400" cy="27940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2" name="svg path"/>
          <p:cNvSpPr/>
          <p:nvPr/>
        </p:nvSpPr>
        <p:spPr>
          <a:xfrm>
            <a:off x="4150254" y="4490641"/>
            <a:ext cx="81492" cy="1"/>
          </a:xfrm>
          <a:custGeom>
            <a:avLst/>
            <a:gdLst/>
            <a:ahLst/>
            <a:cxnLst/>
            <a:rect l="0" t="0" r="r" b="b"/>
            <a:pathLst>
              <a:path w="81492" h="1" fill="none">
                <a:moveTo>
                  <a:pt x="0" y="0"/>
                </a:moveTo>
                <a:lnTo>
                  <a:pt x="81492" y="0"/>
                </a:lnTo>
              </a:path>
            </a:pathLst>
          </a:custGeom>
          <a:noFill/>
          <a:ln w="13970" cap="rnd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3" name="svg path"/>
          <p:cNvSpPr/>
          <p:nvPr/>
        </p:nvSpPr>
        <p:spPr>
          <a:xfrm>
            <a:off x="4196821" y="4490641"/>
            <a:ext cx="34925" cy="34925"/>
          </a:xfrm>
          <a:custGeom>
            <a:avLst/>
            <a:gdLst/>
            <a:ahLst/>
            <a:cxnLst/>
            <a:rect l="0" t="0" r="r" b="b"/>
            <a:pathLst>
              <a:path w="34925" h="34925" fill="none">
                <a:moveTo>
                  <a:pt x="0" y="34925"/>
                </a:moveTo>
                <a:lnTo>
                  <a:pt x="34925" y="0"/>
                </a:lnTo>
              </a:path>
            </a:pathLst>
          </a:custGeom>
          <a:noFill/>
          <a:ln w="13970" cap="rnd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4" name="svg path"/>
          <p:cNvSpPr/>
          <p:nvPr/>
        </p:nvSpPr>
        <p:spPr>
          <a:xfrm>
            <a:off x="4196821" y="4455716"/>
            <a:ext cx="34925" cy="34925"/>
          </a:xfrm>
          <a:custGeom>
            <a:avLst/>
            <a:gdLst/>
            <a:ahLst/>
            <a:cxnLst/>
            <a:rect l="0" t="0" r="r" b="b"/>
            <a:pathLst>
              <a:path w="34925" h="34925" fill="none">
                <a:moveTo>
                  <a:pt x="0" y="0"/>
                </a:moveTo>
                <a:lnTo>
                  <a:pt x="34925" y="34925"/>
                </a:lnTo>
              </a:path>
            </a:pathLst>
          </a:custGeom>
          <a:noFill/>
          <a:ln w="13970" cap="rnd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5" name="p2-pe"/>
          <p:cNvSpPr/>
          <p:nvPr/>
        </p:nvSpPr>
        <p:spPr>
          <a:xfrm>
            <a:off x="7950200" y="4027091"/>
            <a:ext cx="482600" cy="1270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45B9EC"/>
              </a:gs>
              <a:gs pos="100000">
                <a:srgbClr val="2A78DD"/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6" name="p2-mop p2-plus"/>
          <p:cNvSpPr/>
          <p:nvPr/>
        </p:nvSpPr>
        <p:spPr>
          <a:xfrm>
            <a:off x="7651750" y="3887391"/>
            <a:ext cx="292100" cy="2921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3CEDD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7" name="svg path"/>
          <p:cNvSpPr/>
          <p:nvPr/>
        </p:nvSpPr>
        <p:spPr>
          <a:xfrm>
            <a:off x="7747000" y="3982641"/>
            <a:ext cx="101600" cy="101600"/>
          </a:xfrm>
          <a:custGeom>
            <a:avLst/>
            <a:gdLst/>
            <a:ahLst/>
            <a:cxnLst/>
            <a:rect l="0" t="0" r="r" b="b"/>
            <a:pathLst>
              <a:path w="101600" h="101600">
                <a:moveTo>
                  <a:pt x="50800" y="0"/>
                </a:moveTo>
                <a:lnTo>
                  <a:pt x="50800" y="101600"/>
                </a:lnTo>
                <a:moveTo>
                  <a:pt x="0" y="50800"/>
                </a:moveTo>
                <a:lnTo>
                  <a:pt x="101600" y="50800"/>
                </a:lnTo>
              </a:path>
            </a:pathLst>
          </a:custGeom>
          <a:solidFill>
            <a:srgbClr val="000000"/>
          </a:solidFill>
          <a:ln w="15875" cap="rnd">
            <a:solidFill>
              <a:srgbClr val="0B2147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8" name="p2-mop p2-eq"/>
          <p:cNvSpPr/>
          <p:nvPr/>
        </p:nvSpPr>
        <p:spPr>
          <a:xfrm>
            <a:off x="8426450" y="3900091"/>
            <a:ext cx="266700" cy="2667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2A78DD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9" name="svg path"/>
          <p:cNvSpPr/>
          <p:nvPr/>
        </p:nvSpPr>
        <p:spPr>
          <a:xfrm>
            <a:off x="8515350" y="4014391"/>
            <a:ext cx="88900" cy="38100"/>
          </a:xfrm>
          <a:custGeom>
            <a:avLst/>
            <a:gdLst/>
            <a:ahLst/>
            <a:cxnLst/>
            <a:rect l="0" t="0" r="r" b="b"/>
            <a:pathLst>
              <a:path w="88900" h="38100">
                <a:moveTo>
                  <a:pt x="0" y="0"/>
                </a:moveTo>
                <a:lnTo>
                  <a:pt x="88900" y="0"/>
                </a:lnTo>
                <a:moveTo>
                  <a:pt x="0" y="38100"/>
                </a:moveTo>
                <a:lnTo>
                  <a:pt x="88900" y="38100"/>
                </a:lnTo>
              </a:path>
            </a:pathLst>
          </a:custGeom>
          <a:solidFill>
            <a:srgbClr val="000000"/>
          </a:solidFill>
          <a:ln w="15875" cap="rnd">
            <a:solidFill>
              <a:srgbClr val="0B2147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00" name="02"/>
          <p:cNvSpPr txBox="1"/>
          <p:nvPr/>
        </p:nvSpPr>
        <p:spPr>
          <a:xfrm>
            <a:off x="952500" y="292100"/>
            <a:ext cx="2209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20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02</a:t>
            </a:r>
            <a:endParaRPr lang="en-US" sz="1000" dirty="0"/>
          </a:p>
        </p:txBody>
      </p:sp>
      <p:sp>
        <p:nvSpPr>
          <p:cNvPr id="101" name="PT 주제 2. 가치관과 핵심키워드의 연결점 &amp; 입사 후 실천"/>
          <p:cNvSpPr txBox="1"/>
          <p:nvPr/>
        </p:nvSpPr>
        <p:spPr>
          <a:xfrm>
            <a:off x="1281410" y="292100"/>
            <a:ext cx="293713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10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PT 주제 2. 가치관과 핵심키워드의 연결점 &amp; 입사 후 실천</a:t>
            </a:r>
            <a:endParaRPr lang="en-US" sz="1000" dirty="0"/>
          </a:p>
        </p:txBody>
      </p:sp>
      <p:sp>
        <p:nvSpPr>
          <p:cNvPr id="102" name="제가 중요하게 생각하는 ‘협업’의 가치는"/>
          <p:cNvSpPr txBox="1"/>
          <p:nvPr/>
        </p:nvSpPr>
        <p:spPr>
          <a:xfrm>
            <a:off x="508000" y="571500"/>
            <a:ext cx="2796099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28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제가 중요하게 생각하는 ‘협업’의 가치는</a:t>
            </a:r>
            <a:endParaRPr lang="en-US" sz="1400" dirty="0"/>
          </a:p>
        </p:txBody>
      </p:sp>
      <p:sp>
        <p:nvSpPr>
          <p:cNvPr id="103" name="현대엔지니어링의 ‘우리의 기술’과 맞닿아 있습니다."/>
          <p:cNvSpPr txBox="1"/>
          <p:nvPr/>
        </p:nvSpPr>
        <p:spPr>
          <a:xfrm>
            <a:off x="508000" y="821630"/>
            <a:ext cx="682271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700" spc="-10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현대엔지니어링의 ‘</a:t>
            </a:r>
            <a:pPr algn="l" indent="0" marL="0">
              <a:buNone/>
            </a:pPr>
            <a:r>
              <a:rPr lang="ko-KR" altLang="en-US" sz="2700" spc="-10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2700" spc="-10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’과 맞닿아 있습니다.</a:t>
            </a:r>
            <a:endParaRPr lang="en-US" sz="2700" dirty="0"/>
          </a:p>
        </p:txBody>
      </p:sp>
      <p:sp>
        <p:nvSpPr>
          <p:cNvPr id="104" name="MY VALUES"/>
          <p:cNvSpPr txBox="1"/>
          <p:nvPr/>
        </p:nvSpPr>
        <p:spPr>
          <a:xfrm>
            <a:off x="508000" y="1448991"/>
            <a:ext cx="784721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72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MY VALUES</a:t>
            </a:r>
            <a:endParaRPr lang="en-US" sz="900" dirty="0"/>
          </a:p>
        </p:txBody>
      </p:sp>
      <p:sp>
        <p:nvSpPr>
          <p:cNvPr id="105" name="나의 가치관 · 공동의 목표를 공유하는 협업"/>
          <p:cNvSpPr txBox="1"/>
          <p:nvPr/>
        </p:nvSpPr>
        <p:spPr>
          <a:xfrm>
            <a:off x="1400671" y="1442641"/>
            <a:ext cx="213982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나의 가치관</a:t>
            </a:r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 · 공동의 목표를 공유하는 협업</a:t>
            </a:r>
            <a:endParaRPr lang="en-US" sz="1000" dirty="0"/>
          </a:p>
        </p:txBody>
      </p:sp>
      <p:sp>
        <p:nvSpPr>
          <p:cNvPr id="106" name="현대엔지니어링"/>
          <p:cNvSpPr txBox="1"/>
          <p:nvPr/>
        </p:nvSpPr>
        <p:spPr>
          <a:xfrm>
            <a:off x="4267200" y="1442641"/>
            <a:ext cx="80139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현대엔지니어링</a:t>
            </a:r>
            <a:endParaRPr lang="en-US" sz="1000" dirty="0"/>
          </a:p>
        </p:txBody>
      </p:sp>
      <p:sp>
        <p:nvSpPr>
          <p:cNvPr id="107" name="저는 ‘우리의 기술’을 이렇게 이해했습니다"/>
          <p:cNvSpPr txBox="1"/>
          <p:nvPr/>
        </p:nvSpPr>
        <p:spPr>
          <a:xfrm>
            <a:off x="5176540" y="1442641"/>
            <a:ext cx="21090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저는 ‘</a:t>
            </a:r>
            <a:pPr algn="l" indent="0" marL="0">
              <a:buNone/>
            </a:pPr>
            <a:r>
              <a:rPr lang="ko-KR" altLang="en-US" sz="1000" spc="-20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우리의 기술</a:t>
            </a:r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’을 이렇게 이해했습니다</a:t>
            </a:r>
            <a:endParaRPr lang="en-US" sz="1000" dirty="0"/>
          </a:p>
        </p:txBody>
      </p:sp>
      <p:sp>
        <p:nvSpPr>
          <p:cNvPr id="108" name="01"/>
          <p:cNvSpPr txBox="1"/>
          <p:nvPr/>
        </p:nvSpPr>
        <p:spPr>
          <a:xfrm>
            <a:off x="774402" y="2017316"/>
            <a:ext cx="178296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9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01</a:t>
            </a:r>
            <a:endParaRPr lang="en-US" sz="850" dirty="0"/>
          </a:p>
        </p:txBody>
      </p:sp>
      <p:sp>
        <p:nvSpPr>
          <p:cNvPr id="109" name="사람의 연결"/>
          <p:cNvSpPr txBox="1"/>
          <p:nvPr/>
        </p:nvSpPr>
        <p:spPr>
          <a:xfrm>
            <a:off x="1054100" y="1970980"/>
            <a:ext cx="82163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9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사람의 연결</a:t>
            </a:r>
            <a:endParaRPr lang="en-US" sz="1400" dirty="0"/>
          </a:p>
        </p:txBody>
      </p:sp>
      <p:sp>
        <p:nvSpPr>
          <p:cNvPr id="110" name="참신성"/>
          <p:cNvSpPr txBox="1"/>
          <p:nvPr/>
        </p:nvSpPr>
        <p:spPr>
          <a:xfrm>
            <a:off x="1442244" y="2556867"/>
            <a:ext cx="40471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참신성</a:t>
            </a:r>
            <a:endParaRPr lang="en-US" sz="1100" dirty="0"/>
          </a:p>
        </p:txBody>
      </p:sp>
      <p:sp>
        <p:nvSpPr>
          <p:cNvPr id="111" name="VS"/>
          <p:cNvSpPr txBox="1"/>
          <p:nvPr/>
        </p:nvSpPr>
        <p:spPr>
          <a:xfrm>
            <a:off x="2234704" y="2578795"/>
            <a:ext cx="204093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17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VS</a:t>
            </a:r>
            <a:endParaRPr lang="en-US" sz="850" dirty="0"/>
          </a:p>
        </p:txBody>
      </p:sp>
      <p:sp>
        <p:nvSpPr>
          <p:cNvPr id="112" name="구현 가능성"/>
          <p:cNvSpPr txBox="1"/>
          <p:nvPr/>
        </p:nvSpPr>
        <p:spPr>
          <a:xfrm>
            <a:off x="2808288" y="2556867"/>
            <a:ext cx="6699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구현 가능성</a:t>
            </a:r>
            <a:endParaRPr lang="en-US" sz="1100" dirty="0"/>
          </a:p>
        </p:txBody>
      </p:sp>
      <p:sp>
        <p:nvSpPr>
          <p:cNvPr id="113" name="서로 다른 의견"/>
          <p:cNvSpPr txBox="1"/>
          <p:nvPr/>
        </p:nvSpPr>
        <p:spPr>
          <a:xfrm>
            <a:off x="1962150" y="2842320"/>
            <a:ext cx="74939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서로 다른 의견</a:t>
            </a:r>
            <a:endParaRPr lang="en-US" sz="1000" dirty="0"/>
          </a:p>
        </p:txBody>
      </p:sp>
      <p:sp>
        <p:nvSpPr>
          <p:cNvPr id="114" name="공동의 기준으로 조율해 하나의 목표로"/>
          <p:cNvSpPr txBox="1"/>
          <p:nvPr/>
        </p:nvSpPr>
        <p:spPr>
          <a:xfrm>
            <a:off x="1155700" y="3431778"/>
            <a:ext cx="2268768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spc="-4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공동의 기준으로 조율해 </a:t>
            </a:r>
            <a:pPr algn="l" indent="0" marL="0">
              <a:buNone/>
            </a:pPr>
            <a:r>
              <a:rPr lang="ko-KR" altLang="en-US" sz="1200" spc="-42" kern="0" dirty="0">
                <a:solidFill>
                  <a:srgbClr val="00A94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200" b="1" spc="-4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로</a:t>
            </a:r>
            <a:endParaRPr lang="en-US" sz="1200" dirty="0"/>
          </a:p>
        </p:txBody>
      </p:sp>
      <p:sp>
        <p:nvSpPr>
          <p:cNvPr id="115" name="02"/>
          <p:cNvSpPr txBox="1"/>
          <p:nvPr/>
        </p:nvSpPr>
        <p:spPr>
          <a:xfrm>
            <a:off x="766961" y="4423073"/>
            <a:ext cx="193278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9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02</a:t>
            </a:r>
            <a:endParaRPr lang="en-US" sz="850" dirty="0"/>
          </a:p>
        </p:txBody>
      </p:sp>
      <p:sp>
        <p:nvSpPr>
          <p:cNvPr id="116" name="강점의 연결"/>
          <p:cNvSpPr txBox="1"/>
          <p:nvPr/>
        </p:nvSpPr>
        <p:spPr>
          <a:xfrm>
            <a:off x="1054100" y="4376738"/>
            <a:ext cx="82163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9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강점의 연결</a:t>
            </a:r>
            <a:endParaRPr lang="en-US" sz="1400" dirty="0"/>
          </a:p>
        </p:txBody>
      </p:sp>
      <p:sp>
        <p:nvSpPr>
          <p:cNvPr id="117" name="Dynamo 자동화"/>
          <p:cNvSpPr txBox="1"/>
          <p:nvPr/>
        </p:nvSpPr>
        <p:spPr>
          <a:xfrm>
            <a:off x="958850" y="4892774"/>
            <a:ext cx="96421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Dynamo 자동화</a:t>
            </a:r>
            <a:endParaRPr lang="en-US" sz="1100" dirty="0"/>
          </a:p>
        </p:txBody>
      </p:sp>
      <p:sp>
        <p:nvSpPr>
          <p:cNvPr id="118" name="모듈러 설계"/>
          <p:cNvSpPr txBox="1"/>
          <p:nvPr/>
        </p:nvSpPr>
        <p:spPr>
          <a:xfrm>
            <a:off x="2597150" y="4892774"/>
            <a:ext cx="6699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모듈러 설계</a:t>
            </a:r>
            <a:endParaRPr lang="en-US" sz="1100" dirty="0"/>
          </a:p>
        </p:txBody>
      </p:sp>
      <p:sp>
        <p:nvSpPr>
          <p:cNvPr id="119" name="BIM 모델링"/>
          <p:cNvSpPr txBox="1"/>
          <p:nvPr/>
        </p:nvSpPr>
        <p:spPr>
          <a:xfrm>
            <a:off x="958850" y="5248374"/>
            <a:ext cx="67508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BIM 모델링</a:t>
            </a:r>
            <a:endParaRPr lang="en-US" sz="1100" dirty="0"/>
          </a:p>
        </p:txBody>
      </p:sp>
      <p:sp>
        <p:nvSpPr>
          <p:cNvPr id="120" name="시나리오 구성"/>
          <p:cNvSpPr txBox="1"/>
          <p:nvPr/>
        </p:nvSpPr>
        <p:spPr>
          <a:xfrm>
            <a:off x="2597150" y="5248374"/>
            <a:ext cx="78789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시나리오 구성</a:t>
            </a:r>
            <a:endParaRPr lang="en-US" sz="1100" dirty="0"/>
          </a:p>
        </p:txBody>
      </p:sp>
      <p:sp>
        <p:nvSpPr>
          <p:cNvPr id="121" name="각자의 강점을 모아 하나의 성과로"/>
          <p:cNvSpPr txBox="1"/>
          <p:nvPr/>
        </p:nvSpPr>
        <p:spPr>
          <a:xfrm>
            <a:off x="1155700" y="5837535"/>
            <a:ext cx="2000790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200" b="1" spc="-4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각자의 강점을 모아 </a:t>
            </a:r>
            <a:pPr algn="l" indent="0" marL="0">
              <a:buNone/>
            </a:pPr>
            <a:r>
              <a:rPr lang="ko-KR" altLang="en-US" sz="1200" spc="-42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하나의 성과</a:t>
            </a:r>
            <a:pPr algn="l" indent="0" marL="0">
              <a:buNone/>
            </a:pPr>
            <a:r>
              <a:rPr lang="ko-KR" altLang="en-US" sz="1200" b="1" spc="-42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로</a:t>
            </a:r>
            <a:endParaRPr lang="en-US" sz="1200" dirty="0"/>
          </a:p>
        </p:txBody>
      </p:sp>
      <p:sp>
        <p:nvSpPr>
          <p:cNvPr id="122" name="우리"/>
          <p:cNvSpPr txBox="1"/>
          <p:nvPr/>
        </p:nvSpPr>
        <p:spPr>
          <a:xfrm>
            <a:off x="4470400" y="1912541"/>
            <a:ext cx="511473" cy="336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200" spc="-88" kern="0" dirty="0">
                <a:solidFill>
                  <a:srgbClr val="00A94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우리</a:t>
            </a:r>
            <a:endParaRPr lang="en-US" sz="2200" dirty="0"/>
          </a:p>
        </p:txBody>
      </p:sp>
      <p:sp>
        <p:nvSpPr>
          <p:cNvPr id="123" name="OUR"/>
          <p:cNvSpPr txBox="1"/>
          <p:nvPr/>
        </p:nvSpPr>
        <p:spPr>
          <a:xfrm>
            <a:off x="5197773" y="1913830"/>
            <a:ext cx="323354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119" kern="0" dirty="0">
                <a:solidFill>
                  <a:srgbClr val="00A94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OUR</a:t>
            </a:r>
            <a:endParaRPr lang="en-US" sz="850" dirty="0"/>
          </a:p>
        </p:txBody>
      </p:sp>
      <p:sp>
        <p:nvSpPr>
          <p:cNvPr id="124" name="사람과 전문성의 연결"/>
          <p:cNvSpPr txBox="1"/>
          <p:nvPr/>
        </p:nvSpPr>
        <p:spPr>
          <a:xfrm>
            <a:off x="5197773" y="2056011"/>
            <a:ext cx="1372177" cy="196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46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사람과 전문성의 연결</a:t>
            </a:r>
            <a:endParaRPr lang="en-US" sz="1300" dirty="0"/>
          </a:p>
        </p:txBody>
      </p:sp>
      <p:sp>
        <p:nvSpPr>
          <p:cNvPr id="125" name="설계"/>
          <p:cNvSpPr txBox="1"/>
          <p:nvPr/>
        </p:nvSpPr>
        <p:spPr>
          <a:xfrm>
            <a:off x="4686300" y="2411016"/>
            <a:ext cx="26531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설계</a:t>
            </a:r>
            <a:endParaRPr lang="en-US" sz="1000" dirty="0"/>
          </a:p>
        </p:txBody>
      </p:sp>
      <p:sp>
        <p:nvSpPr>
          <p:cNvPr id="126" name="시공"/>
          <p:cNvSpPr txBox="1"/>
          <p:nvPr/>
        </p:nvSpPr>
        <p:spPr>
          <a:xfrm>
            <a:off x="4686300" y="2690416"/>
            <a:ext cx="26531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시공</a:t>
            </a:r>
            <a:endParaRPr lang="en-US" sz="1000" dirty="0"/>
          </a:p>
        </p:txBody>
      </p:sp>
      <p:sp>
        <p:nvSpPr>
          <p:cNvPr id="127" name="협력업체"/>
          <p:cNvSpPr txBox="1"/>
          <p:nvPr/>
        </p:nvSpPr>
        <p:spPr>
          <a:xfrm>
            <a:off x="4686300" y="2969816"/>
            <a:ext cx="47972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협력업체</a:t>
            </a:r>
            <a:endParaRPr lang="en-US" sz="1000" dirty="0"/>
          </a:p>
        </p:txBody>
      </p:sp>
      <p:sp>
        <p:nvSpPr>
          <p:cNvPr id="128" name="발주처"/>
          <p:cNvSpPr txBox="1"/>
          <p:nvPr/>
        </p:nvSpPr>
        <p:spPr>
          <a:xfrm>
            <a:off x="4686300" y="3249216"/>
            <a:ext cx="37246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발주처</a:t>
            </a:r>
            <a:endParaRPr lang="en-US" sz="1000" dirty="0"/>
          </a:p>
        </p:txBody>
      </p:sp>
      <p:sp>
        <p:nvSpPr>
          <p:cNvPr id="129" name="유관부서"/>
          <p:cNvSpPr txBox="1"/>
          <p:nvPr/>
        </p:nvSpPr>
        <p:spPr>
          <a:xfrm>
            <a:off x="4686300" y="3528616"/>
            <a:ext cx="479723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B214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유관부서</a:t>
            </a:r>
            <a:endParaRPr lang="en-US" sz="1000" dirty="0"/>
          </a:p>
        </p:txBody>
      </p:sp>
      <p:sp>
        <p:nvSpPr>
          <p:cNvPr id="130" name="하나의 목표"/>
          <p:cNvSpPr txBox="1"/>
          <p:nvPr/>
        </p:nvSpPr>
        <p:spPr>
          <a:xfrm>
            <a:off x="7505005" y="2775148"/>
            <a:ext cx="585589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spc="-19" kern="0" dirty="0">
                <a:solidFill>
                  <a:srgbClr val="00A94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하나의 목표</a:t>
            </a:r>
            <a:endParaRPr lang="en-US" sz="950" dirty="0"/>
          </a:p>
        </p:txBody>
      </p:sp>
      <p:sp>
        <p:nvSpPr>
          <p:cNvPr id="131" name="프로젝트"/>
          <p:cNvSpPr txBox="1"/>
          <p:nvPr/>
        </p:nvSpPr>
        <p:spPr>
          <a:xfrm>
            <a:off x="7510661" y="2945309"/>
            <a:ext cx="57427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50" spc="-50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프로젝트</a:t>
            </a:r>
            <a:endParaRPr lang="en-US" sz="1250" dirty="0"/>
          </a:p>
        </p:txBody>
      </p:sp>
      <p:sp>
        <p:nvSpPr>
          <p:cNvPr id="132" name="완수"/>
          <p:cNvSpPr txBox="1"/>
          <p:nvPr/>
        </p:nvSpPr>
        <p:spPr>
          <a:xfrm>
            <a:off x="7641530" y="3127871"/>
            <a:ext cx="3125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50" spc="-50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완수</a:t>
            </a:r>
            <a:endParaRPr lang="en-US" sz="1250" dirty="0"/>
          </a:p>
        </p:txBody>
      </p:sp>
      <p:sp>
        <p:nvSpPr>
          <p:cNvPr id="133" name="기술"/>
          <p:cNvSpPr txBox="1"/>
          <p:nvPr/>
        </p:nvSpPr>
        <p:spPr>
          <a:xfrm>
            <a:off x="4470400" y="4318298"/>
            <a:ext cx="511473" cy="3365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200" spc="-8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기술</a:t>
            </a:r>
            <a:endParaRPr lang="en-US" sz="2200" dirty="0"/>
          </a:p>
        </p:txBody>
      </p:sp>
      <p:sp>
        <p:nvSpPr>
          <p:cNvPr id="134" name="TECHNOLOGY"/>
          <p:cNvSpPr txBox="1"/>
          <p:nvPr/>
        </p:nvSpPr>
        <p:spPr>
          <a:xfrm>
            <a:off x="5197773" y="4319588"/>
            <a:ext cx="948335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119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TECHNOLOGY</a:t>
            </a:r>
            <a:endParaRPr lang="en-US" sz="850" dirty="0"/>
          </a:p>
        </p:txBody>
      </p:sp>
      <p:sp>
        <p:nvSpPr>
          <p:cNvPr id="135" name="미래 가치를 만드는 원동력"/>
          <p:cNvSpPr txBox="1"/>
          <p:nvPr/>
        </p:nvSpPr>
        <p:spPr>
          <a:xfrm>
            <a:off x="5197773" y="4461768"/>
            <a:ext cx="1695476" cy="1968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300" spc="-46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미래 가치를 만드는 원동력</a:t>
            </a:r>
            <a:endParaRPr lang="en-US" sz="1300" dirty="0"/>
          </a:p>
        </p:txBody>
      </p:sp>
      <p:sp>
        <p:nvSpPr>
          <p:cNvPr id="136" name="에너지 원천기술"/>
          <p:cNvSpPr txBox="1"/>
          <p:nvPr/>
        </p:nvSpPr>
        <p:spPr>
          <a:xfrm>
            <a:off x="4686300" y="4956473"/>
            <a:ext cx="8280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에너지 원천기술</a:t>
            </a:r>
            <a:endParaRPr lang="en-US" sz="1000" dirty="0"/>
          </a:p>
        </p:txBody>
      </p:sp>
      <p:sp>
        <p:nvSpPr>
          <p:cNvPr id="137" name="글로벌 EPC 역량"/>
          <p:cNvSpPr txBox="1"/>
          <p:nvPr/>
        </p:nvSpPr>
        <p:spPr>
          <a:xfrm>
            <a:off x="4686300" y="5235873"/>
            <a:ext cx="87858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글로벌 EPC 역량</a:t>
            </a:r>
            <a:endParaRPr lang="en-US" sz="1000" dirty="0"/>
          </a:p>
        </p:txBody>
      </p:sp>
      <p:sp>
        <p:nvSpPr>
          <p:cNvPr id="138" name="첨단 산업건축 기술"/>
          <p:cNvSpPr txBox="1"/>
          <p:nvPr/>
        </p:nvSpPr>
        <p:spPr>
          <a:xfrm>
            <a:off x="4686300" y="5515273"/>
            <a:ext cx="96600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첨단 산업건축 기술</a:t>
            </a:r>
            <a:endParaRPr lang="en-US" sz="1000" dirty="0"/>
          </a:p>
        </p:txBody>
      </p:sp>
      <p:sp>
        <p:nvSpPr>
          <p:cNvPr id="139" name="스마트건설 기술"/>
          <p:cNvSpPr txBox="1"/>
          <p:nvPr/>
        </p:nvSpPr>
        <p:spPr>
          <a:xfrm>
            <a:off x="4686300" y="5794673"/>
            <a:ext cx="82808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b="1" spc="-20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스마트건설 기술</a:t>
            </a:r>
            <a:endParaRPr lang="en-US" sz="1000" dirty="0"/>
          </a:p>
        </p:txBody>
      </p:sp>
      <p:sp>
        <p:nvSpPr>
          <p:cNvPr id="140" name="기술의 연결"/>
          <p:cNvSpPr txBox="1"/>
          <p:nvPr/>
        </p:nvSpPr>
        <p:spPr>
          <a:xfrm>
            <a:off x="7505005" y="5180905"/>
            <a:ext cx="585589" cy="146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950" b="1" spc="-19" kern="0" dirty="0">
                <a:solidFill>
                  <a:srgbClr val="004B8D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기술의 연결</a:t>
            </a:r>
            <a:endParaRPr lang="en-US" sz="950" dirty="0"/>
          </a:p>
        </p:txBody>
      </p:sp>
      <p:sp>
        <p:nvSpPr>
          <p:cNvPr id="141" name="미래 가치"/>
          <p:cNvSpPr txBox="1"/>
          <p:nvPr/>
        </p:nvSpPr>
        <p:spPr>
          <a:xfrm>
            <a:off x="7496076" y="5351066"/>
            <a:ext cx="60344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50" spc="-50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미래 가치</a:t>
            </a:r>
            <a:endParaRPr lang="en-US" sz="1250" dirty="0"/>
          </a:p>
        </p:txBody>
      </p:sp>
      <p:sp>
        <p:nvSpPr>
          <p:cNvPr id="142" name="창출"/>
          <p:cNvSpPr txBox="1"/>
          <p:nvPr/>
        </p:nvSpPr>
        <p:spPr>
          <a:xfrm>
            <a:off x="7641530" y="5533628"/>
            <a:ext cx="3125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50" spc="-50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창출</a:t>
            </a:r>
            <a:endParaRPr lang="en-US" sz="1250" dirty="0"/>
          </a:p>
        </p:txBody>
      </p:sp>
      <p:sp>
        <p:nvSpPr>
          <p:cNvPr id="143" name="선정 이유"/>
          <p:cNvSpPr txBox="1"/>
          <p:nvPr/>
        </p:nvSpPr>
        <p:spPr>
          <a:xfrm>
            <a:off x="9309100" y="3943449"/>
            <a:ext cx="5939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44" kern="0" dirty="0">
                <a:solidFill>
                  <a:srgbClr val="8FD3F5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선정 이유</a:t>
            </a:r>
            <a:endParaRPr lang="en-US" sz="1100" dirty="0"/>
          </a:p>
        </p:txBody>
      </p:sp>
      <p:sp>
        <p:nvSpPr>
          <p:cNvPr id="144" name="서로 다른 사람과 전문성이"/>
          <p:cNvSpPr txBox="1"/>
          <p:nvPr/>
        </p:nvSpPr>
        <p:spPr>
          <a:xfrm>
            <a:off x="8864600" y="4292005"/>
            <a:ext cx="2352485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800" b="1" spc="-63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서로 다른 사람과 전문성이</a:t>
            </a:r>
            <a:endParaRPr lang="en-US" sz="1800" dirty="0"/>
          </a:p>
        </p:txBody>
      </p:sp>
      <p:sp>
        <p:nvSpPr>
          <p:cNvPr id="145" name="하나의 목표로 연결될 때,"/>
          <p:cNvSpPr txBox="1"/>
          <p:nvPr/>
        </p:nvSpPr>
        <p:spPr>
          <a:xfrm>
            <a:off x="8864600" y="4634905"/>
            <a:ext cx="2212711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800" b="1" spc="-63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하나의 목표</a:t>
            </a:r>
            <a:pPr algn="l" indent="0" marL="0">
              <a:buNone/>
            </a:pPr>
            <a:r>
              <a:rPr lang="ko-KR" altLang="en-US" sz="1800" b="1" spc="-63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로 연결될 때,</a:t>
            </a:r>
            <a:endParaRPr lang="en-US" sz="1800" dirty="0"/>
          </a:p>
        </p:txBody>
      </p:sp>
      <p:sp>
        <p:nvSpPr>
          <p:cNvPr id="146" name="기술은 더 큰 가능성을"/>
          <p:cNvSpPr txBox="1"/>
          <p:nvPr/>
        </p:nvSpPr>
        <p:spPr>
          <a:xfrm>
            <a:off x="8864600" y="4977805"/>
            <a:ext cx="1950623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800" b="1" spc="-63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기술은 더 큰 가능성을</a:t>
            </a:r>
            <a:endParaRPr lang="en-US" sz="1800" dirty="0"/>
          </a:p>
        </p:txBody>
      </p:sp>
      <p:sp>
        <p:nvSpPr>
          <p:cNvPr id="147" name="발휘하고 새로운 미래 가치를"/>
          <p:cNvSpPr txBox="1"/>
          <p:nvPr/>
        </p:nvSpPr>
        <p:spPr>
          <a:xfrm>
            <a:off x="8864600" y="5320705"/>
            <a:ext cx="2553468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800" b="1" spc="-63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발휘하고 </a:t>
            </a:r>
            <a:pPr algn="l" indent="0" marL="0">
              <a:buNone/>
            </a:pPr>
            <a:r>
              <a:rPr lang="ko-KR" altLang="en-US" sz="1800" b="1" spc="-63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새로운 미래 가치</a:t>
            </a:r>
            <a:pPr algn="l" indent="0" marL="0">
              <a:buNone/>
            </a:pPr>
            <a:r>
              <a:rPr lang="ko-KR" altLang="en-US" sz="1800" b="1" spc="-63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를</a:t>
            </a:r>
            <a:endParaRPr lang="en-US" sz="1800" dirty="0"/>
          </a:p>
        </p:txBody>
      </p:sp>
      <p:sp>
        <p:nvSpPr>
          <p:cNvPr id="148" name="만들어간다고 믿습니다."/>
          <p:cNvSpPr txBox="1"/>
          <p:nvPr/>
        </p:nvSpPr>
        <p:spPr>
          <a:xfrm>
            <a:off x="8864600" y="5663605"/>
            <a:ext cx="2116794" cy="2730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800" b="1" spc="-63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만들어간다고 믿습니다.</a:t>
            </a:r>
            <a:endParaRPr lang="en-US" sz="1800" dirty="0"/>
          </a:p>
        </p:txBody>
      </p:sp>
      <p:sp>
        <p:nvSpPr>
          <p:cNvPr id="149" name="2026년 하반기 신입사원 공개채용 | 공사관리 건축 직무 지원자 이현준"/>
          <p:cNvSpPr txBox="1"/>
          <p:nvPr/>
        </p:nvSpPr>
        <p:spPr>
          <a:xfrm>
            <a:off x="508000" y="6527205"/>
            <a:ext cx="327368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6A748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2026년 하반기 신입사원 공개채용 | 공사관리 건축 직무 지원자 이현준</a:t>
            </a:r>
            <a:endParaRPr lang="en-US" sz="900" dirty="0"/>
          </a:p>
        </p:txBody>
      </p:sp>
      <p:sp>
        <p:nvSpPr>
          <p:cNvPr id="150" name="02 / 03"/>
          <p:cNvSpPr txBox="1"/>
          <p:nvPr/>
        </p:nvSpPr>
        <p:spPr>
          <a:xfrm>
            <a:off x="11243766" y="6527205"/>
            <a:ext cx="491034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02</a:t>
            </a:r>
            <a:pPr algn="l" indent="0" marL="0">
              <a:buNone/>
            </a:pPr>
            <a:r>
              <a:rPr lang="ko-KR" altLang="en-US" sz="900" b="1" spc="54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"/>
          <p:cNvSpPr/>
          <p:nvPr/>
        </p:nvSpPr>
        <p:spPr>
          <a:xfrm>
            <a:off x="508000" y="339725"/>
            <a:ext cx="63500" cy="6350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" name="b"/>
          <p:cNvSpPr/>
          <p:nvPr/>
        </p:nvSpPr>
        <p:spPr>
          <a:xfrm>
            <a:off x="571500" y="365125"/>
            <a:ext cx="88900" cy="12700"/>
          </a:xfrm>
          <a:prstGeom prst="rect">
            <a:avLst/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" name="i"/>
          <p:cNvSpPr/>
          <p:nvPr/>
        </p:nvSpPr>
        <p:spPr>
          <a:xfrm>
            <a:off x="660400" y="339725"/>
            <a:ext cx="63500" cy="6350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" name="b"/>
          <p:cNvSpPr/>
          <p:nvPr/>
        </p:nvSpPr>
        <p:spPr>
          <a:xfrm>
            <a:off x="723900" y="365125"/>
            <a:ext cx="88900" cy="12700"/>
          </a:xfrm>
          <a:prstGeom prst="rect">
            <a:avLst/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" name="i"/>
          <p:cNvSpPr/>
          <p:nvPr/>
        </p:nvSpPr>
        <p:spPr>
          <a:xfrm>
            <a:off x="812800" y="339725"/>
            <a:ext cx="63500" cy="63500"/>
          </a:xfrm>
          <a:prstGeom prst="ellipse">
            <a:avLst/>
          </a:prstGeom>
          <a:solidFill>
            <a:srgbClr val="FDBB30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" name="hd-no::after"/>
          <p:cNvSpPr/>
          <p:nvPr/>
        </p:nvSpPr>
        <p:spPr>
          <a:xfrm>
            <a:off x="1202531" y="317500"/>
            <a:ext cx="6350" cy="101600"/>
          </a:xfrm>
          <a:prstGeom prst="roundRect">
            <a:avLst>
              <a:gd name="adj" fmla="val 0"/>
            </a:avLst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pic>
        <p:nvPicPr>
          <p:cNvPr id="9" name="img" descr="im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55535" y="237662"/>
            <a:ext cx="1526117" cy="268817"/>
          </a:xfrm>
          <a:prstGeom prst="rect">
            <a:avLst/>
          </a:prstGeom>
        </p:spPr>
      </p:pic>
      <p:sp>
        <p:nvSpPr>
          <p:cNvPr id="10" name="p3-tile p3-c1"/>
          <p:cNvSpPr/>
          <p:nvPr/>
        </p:nvSpPr>
        <p:spPr>
          <a:xfrm>
            <a:off x="508000" y="1436291"/>
            <a:ext cx="2762250" cy="4013200"/>
          </a:xfrm>
          <a:prstGeom prst="roundRect">
            <a:avLst>
              <a:gd name="adj" fmla="val 5517"/>
            </a:avLst>
          </a:prstGeom>
          <a:solidFill>
            <a:srgbClr val="F3F6FA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1" name="li::before"/>
          <p:cNvSpPr/>
          <p:nvPr/>
        </p:nvSpPr>
        <p:spPr>
          <a:xfrm>
            <a:off x="711200" y="4716066"/>
            <a:ext cx="88900" cy="12700"/>
          </a:xfrm>
          <a:prstGeom prst="roundRect">
            <a:avLst>
              <a:gd name="adj" fmla="val 50000"/>
            </a:avLst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2" name="p3-tile p3-c2"/>
          <p:cNvSpPr/>
          <p:nvPr/>
        </p:nvSpPr>
        <p:spPr>
          <a:xfrm>
            <a:off x="3721100" y="1436291"/>
            <a:ext cx="3816350" cy="1930400"/>
          </a:xfrm>
          <a:prstGeom prst="roundRect">
            <a:avLst>
              <a:gd name="adj" fmla="val 7895"/>
            </a:avLst>
          </a:prstGeom>
          <a:solidFill>
            <a:srgbClr val="F3F6FA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3" name="li::before"/>
          <p:cNvSpPr/>
          <p:nvPr/>
        </p:nvSpPr>
        <p:spPr>
          <a:xfrm>
            <a:off x="4813300" y="2375396"/>
            <a:ext cx="88900" cy="12700"/>
          </a:xfrm>
          <a:prstGeom prst="roundRect">
            <a:avLst>
              <a:gd name="adj" fmla="val 50000"/>
            </a:avLst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4" name="p3-tile p3-c3"/>
          <p:cNvSpPr/>
          <p:nvPr/>
        </p:nvSpPr>
        <p:spPr>
          <a:xfrm>
            <a:off x="3721100" y="3519091"/>
            <a:ext cx="3816350" cy="1930400"/>
          </a:xfrm>
          <a:prstGeom prst="roundRect">
            <a:avLst>
              <a:gd name="adj" fmla="val 7895"/>
            </a:avLst>
          </a:prstGeom>
          <a:solidFill>
            <a:srgbClr val="F3F6FA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5" name="li::before"/>
          <p:cNvSpPr/>
          <p:nvPr/>
        </p:nvSpPr>
        <p:spPr>
          <a:xfrm>
            <a:off x="4813300" y="4458196"/>
            <a:ext cx="88900" cy="12700"/>
          </a:xfrm>
          <a:prstGeom prst="roundRect">
            <a:avLst>
              <a:gd name="adj" fmla="val 50000"/>
            </a:avLst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6" name="p3-tile p3-c4"/>
          <p:cNvSpPr/>
          <p:nvPr/>
        </p:nvSpPr>
        <p:spPr>
          <a:xfrm>
            <a:off x="7988300" y="1436291"/>
            <a:ext cx="3695700" cy="4013200"/>
          </a:xfrm>
          <a:prstGeom prst="roundRect">
            <a:avLst>
              <a:gd name="adj" fmla="val 4124"/>
            </a:avLst>
          </a:prstGeom>
          <a:gradFill rotWithShape="1">
            <a:gsLst>
              <a:gs pos="0">
                <a:srgbClr val="12305F"/>
              </a:gs>
              <a:gs pos="60000">
                <a:srgbClr val="0B2147"/>
              </a:gs>
            </a:gsLst>
            <a:path path="circle">
              <a:fillToRect l="100000" t="0" r="0" b="100000"/>
            </a:path>
          </a:gra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7" name="p3-a p3-rule"/>
          <p:cNvSpPr/>
          <p:nvPr/>
        </p:nvSpPr>
        <p:spPr>
          <a:xfrm>
            <a:off x="8191500" y="4001691"/>
            <a:ext cx="3289300" cy="6350"/>
          </a:xfrm>
          <a:prstGeom prst="roundRect">
            <a:avLst>
              <a:gd name="adj" fmla="val 0"/>
            </a:avLst>
          </a:prstGeom>
          <a:solidFill>
            <a:srgbClr val="FFFFFF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8" name="svg ln"/>
          <p:cNvSpPr/>
          <p:nvPr/>
        </p:nvSpPr>
        <p:spPr>
          <a:xfrm>
            <a:off x="1574800" y="3036491"/>
            <a:ext cx="482600" cy="1"/>
          </a:xfrm>
          <a:custGeom>
            <a:avLst/>
            <a:gdLst/>
            <a:ahLst/>
            <a:cxnLst/>
            <a:rect l="0" t="0" r="r" b="b"/>
            <a:pathLst>
              <a:path w="482600" h="1" fill="none">
                <a:moveTo>
                  <a:pt x="0" y="0"/>
                </a:moveTo>
                <a:lnTo>
                  <a:pt x="482600" y="0"/>
                </a:lnTo>
              </a:path>
            </a:pathLst>
          </a:custGeom>
          <a:noFill/>
          <a:ln w="15875" cap="rnd">
            <a:gradFill rotWithShape="1">
              <a:gsLst>
                <a:gs pos="2632">
                  <a:srgbClr val="45B9EC"/>
                </a:gs>
                <a:gs pos="100000">
                  <a:srgbClr val="43B5EB"/>
                </a:gs>
              </a:gsLst>
              <a:lin ang="0" scaled="0"/>
            </a:gra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9" name="svg ln"/>
          <p:cNvSpPr/>
          <p:nvPr/>
        </p:nvSpPr>
        <p:spPr>
          <a:xfrm>
            <a:off x="2019300" y="2998391"/>
            <a:ext cx="38100" cy="76200"/>
          </a:xfrm>
          <a:custGeom>
            <a:avLst/>
            <a:gdLst/>
            <a:ahLst/>
            <a:cxnLst/>
            <a:rect l="0" t="0" r="r" b="b"/>
            <a:pathLst>
              <a:path w="38100" h="76200" fill="none">
                <a:moveTo>
                  <a:pt x="0" y="0"/>
                </a:moveTo>
                <a:lnTo>
                  <a:pt x="38100" y="38100"/>
                </a:lnTo>
                <a:lnTo>
                  <a:pt x="0" y="76200"/>
                </a:lnTo>
              </a:path>
            </a:pathLst>
          </a:custGeom>
          <a:noFill/>
          <a:ln w="15875" cap="rnd">
            <a:gradFill rotWithShape="1">
              <a:gsLst>
                <a:gs pos="0">
                  <a:srgbClr val="43B5EB"/>
                </a:gs>
                <a:gs pos="100000">
                  <a:srgbClr val="43B5EB"/>
                </a:gs>
              </a:gsLst>
              <a:lin ang="0" scaled="0"/>
            </a:gra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0" name="svg ln"/>
          <p:cNvSpPr/>
          <p:nvPr/>
        </p:nvSpPr>
        <p:spPr>
          <a:xfrm>
            <a:off x="3067050" y="3036491"/>
            <a:ext cx="425450" cy="1"/>
          </a:xfrm>
          <a:custGeom>
            <a:avLst/>
            <a:gdLst/>
            <a:ahLst/>
            <a:cxnLst/>
            <a:rect l="0" t="0" r="r" b="b"/>
            <a:pathLst>
              <a:path w="425450" h="1" fill="none">
                <a:moveTo>
                  <a:pt x="0" y="0"/>
                </a:moveTo>
                <a:lnTo>
                  <a:pt x="425450" y="0"/>
                </a:lnTo>
              </a:path>
            </a:pathLst>
          </a:custGeom>
          <a:noFill/>
          <a:ln w="15875" cap="rnd">
            <a:gradFill rotWithShape="1">
              <a:gsLst>
                <a:gs pos="0">
                  <a:srgbClr val="40ADE9"/>
                </a:gs>
                <a:gs pos="100000">
                  <a:srgbClr val="3EA9E8"/>
                </a:gs>
              </a:gsLst>
              <a:lin ang="0" scaled="0"/>
            </a:gra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1" name="svg ln"/>
          <p:cNvSpPr/>
          <p:nvPr/>
        </p:nvSpPr>
        <p:spPr>
          <a:xfrm>
            <a:off x="3492500" y="1995091"/>
            <a:ext cx="393700" cy="1041400"/>
          </a:xfrm>
          <a:custGeom>
            <a:avLst/>
            <a:gdLst/>
            <a:ahLst/>
            <a:cxnLst/>
            <a:rect l="0" t="0" r="r" b="b"/>
            <a:pathLst>
              <a:path w="393700" h="1041400" fill="none">
                <a:moveTo>
                  <a:pt x="0" y="1041400"/>
                </a:moveTo>
                <a:lnTo>
                  <a:pt x="0" y="101600"/>
                </a:lnTo>
                <a:quadBezTo>
                  <a:pt x="0" y="0"/>
                  <a:pt x="101600" y="0"/>
                </a:quadBezTo>
                <a:lnTo>
                  <a:pt x="393700" y="0"/>
                </a:lnTo>
              </a:path>
            </a:pathLst>
          </a:custGeom>
          <a:noFill/>
          <a:ln w="15875" cap="rnd">
            <a:solidFill>
              <a:srgbClr val="00A94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2" name="svg ln"/>
          <p:cNvSpPr/>
          <p:nvPr/>
        </p:nvSpPr>
        <p:spPr>
          <a:xfrm>
            <a:off x="3848100" y="1956991"/>
            <a:ext cx="38100" cy="76200"/>
          </a:xfrm>
          <a:custGeom>
            <a:avLst/>
            <a:gdLst/>
            <a:ahLst/>
            <a:cxnLst/>
            <a:rect l="0" t="0" r="r" b="b"/>
            <a:pathLst>
              <a:path w="38100" h="76200" fill="none">
                <a:moveTo>
                  <a:pt x="0" y="0"/>
                </a:moveTo>
                <a:lnTo>
                  <a:pt x="38100" y="38100"/>
                </a:lnTo>
                <a:lnTo>
                  <a:pt x="0" y="76200"/>
                </a:lnTo>
              </a:path>
            </a:pathLst>
          </a:custGeom>
          <a:noFill/>
          <a:ln w="15875" cap="rnd">
            <a:solidFill>
              <a:srgbClr val="00A94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3" name="svg ln"/>
          <p:cNvSpPr/>
          <p:nvPr/>
        </p:nvSpPr>
        <p:spPr>
          <a:xfrm>
            <a:off x="3492500" y="3036491"/>
            <a:ext cx="393700" cy="1041400"/>
          </a:xfrm>
          <a:custGeom>
            <a:avLst/>
            <a:gdLst/>
            <a:ahLst/>
            <a:cxnLst/>
            <a:rect l="0" t="0" r="r" b="b"/>
            <a:pathLst>
              <a:path w="393700" h="1041400" fill="none">
                <a:moveTo>
                  <a:pt x="0" y="0"/>
                </a:moveTo>
                <a:lnTo>
                  <a:pt x="0" y="939800"/>
                </a:lnTo>
                <a:quadBezTo>
                  <a:pt x="0" y="1041400"/>
                  <a:pt x="101600" y="1041400"/>
                </a:quadBezTo>
                <a:lnTo>
                  <a:pt x="393700" y="1041400"/>
                </a:lnTo>
              </a:path>
            </a:pathLst>
          </a:custGeom>
          <a:noFill/>
          <a:ln w="15875" cap="rnd">
            <a:solidFill>
              <a:srgbClr val="004B8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4" name="svg ln"/>
          <p:cNvSpPr/>
          <p:nvPr/>
        </p:nvSpPr>
        <p:spPr>
          <a:xfrm>
            <a:off x="3848100" y="4039791"/>
            <a:ext cx="38100" cy="76200"/>
          </a:xfrm>
          <a:custGeom>
            <a:avLst/>
            <a:gdLst/>
            <a:ahLst/>
            <a:cxnLst/>
            <a:rect l="0" t="0" r="r" b="b"/>
            <a:pathLst>
              <a:path w="38100" h="76200" fill="none">
                <a:moveTo>
                  <a:pt x="0" y="0"/>
                </a:moveTo>
                <a:lnTo>
                  <a:pt x="38100" y="38100"/>
                </a:lnTo>
                <a:lnTo>
                  <a:pt x="0" y="76200"/>
                </a:lnTo>
              </a:path>
            </a:pathLst>
          </a:custGeom>
          <a:noFill/>
          <a:ln w="15875" cap="rnd">
            <a:solidFill>
              <a:srgbClr val="004B8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5" name="svg circle"/>
          <p:cNvSpPr/>
          <p:nvPr/>
        </p:nvSpPr>
        <p:spPr>
          <a:xfrm>
            <a:off x="3454400" y="2998391"/>
            <a:ext cx="76200" cy="76200"/>
          </a:xfrm>
          <a:prstGeom prst="ellipse">
            <a:avLst/>
          </a:prstGeom>
          <a:solidFill>
            <a:srgbClr val="2A78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6" name="svg ln"/>
          <p:cNvSpPr/>
          <p:nvPr/>
        </p:nvSpPr>
        <p:spPr>
          <a:xfrm>
            <a:off x="7537450" y="1995091"/>
            <a:ext cx="222250" cy="1041400"/>
          </a:xfrm>
          <a:custGeom>
            <a:avLst/>
            <a:gdLst/>
            <a:ahLst/>
            <a:cxnLst/>
            <a:rect l="0" t="0" r="r" b="b"/>
            <a:pathLst>
              <a:path w="222250" h="1041400" fill="none">
                <a:moveTo>
                  <a:pt x="0" y="0"/>
                </a:moveTo>
                <a:lnTo>
                  <a:pt x="120650" y="0"/>
                </a:lnTo>
                <a:quadBezTo>
                  <a:pt x="222250" y="0"/>
                  <a:pt x="222250" y="101600"/>
                </a:quadBezTo>
                <a:lnTo>
                  <a:pt x="222250" y="1041400"/>
                </a:lnTo>
              </a:path>
            </a:pathLst>
          </a:custGeom>
          <a:noFill/>
          <a:ln w="15875" cap="rnd">
            <a:solidFill>
              <a:srgbClr val="00A94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7" name="svg ln"/>
          <p:cNvSpPr/>
          <p:nvPr/>
        </p:nvSpPr>
        <p:spPr>
          <a:xfrm>
            <a:off x="7537450" y="3036491"/>
            <a:ext cx="222250" cy="1041400"/>
          </a:xfrm>
          <a:custGeom>
            <a:avLst/>
            <a:gdLst/>
            <a:ahLst/>
            <a:cxnLst/>
            <a:rect l="0" t="0" r="r" b="b"/>
            <a:pathLst>
              <a:path w="222250" h="1041400" fill="none">
                <a:moveTo>
                  <a:pt x="0" y="1041400"/>
                </a:moveTo>
                <a:lnTo>
                  <a:pt x="120650" y="1041400"/>
                </a:lnTo>
                <a:quadBezTo>
                  <a:pt x="222250" y="1041400"/>
                  <a:pt x="222250" y="939800"/>
                </a:quadBezTo>
                <a:lnTo>
                  <a:pt x="222250" y="0"/>
                </a:lnTo>
              </a:path>
            </a:pathLst>
          </a:custGeom>
          <a:noFill/>
          <a:ln w="15875" cap="rnd">
            <a:solidFill>
              <a:srgbClr val="004B8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8" name="svg circle"/>
          <p:cNvSpPr/>
          <p:nvPr/>
        </p:nvSpPr>
        <p:spPr>
          <a:xfrm>
            <a:off x="7505700" y="1963341"/>
            <a:ext cx="63500" cy="6350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29" name="svg circle"/>
          <p:cNvSpPr/>
          <p:nvPr/>
        </p:nvSpPr>
        <p:spPr>
          <a:xfrm>
            <a:off x="7505700" y="4046141"/>
            <a:ext cx="63500" cy="6350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0" name="svg circle"/>
          <p:cNvSpPr/>
          <p:nvPr/>
        </p:nvSpPr>
        <p:spPr>
          <a:xfrm>
            <a:off x="7721600" y="2998391"/>
            <a:ext cx="76200" cy="76200"/>
          </a:xfrm>
          <a:prstGeom prst="ellipse">
            <a:avLst/>
          </a:prstGeom>
          <a:solidFill>
            <a:srgbClr val="2A78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1" name="svg ln"/>
          <p:cNvSpPr/>
          <p:nvPr/>
        </p:nvSpPr>
        <p:spPr>
          <a:xfrm>
            <a:off x="7759700" y="3036491"/>
            <a:ext cx="393700" cy="1"/>
          </a:xfrm>
          <a:custGeom>
            <a:avLst/>
            <a:gdLst/>
            <a:ahLst/>
            <a:cxnLst/>
            <a:rect l="0" t="0" r="r" b="b"/>
            <a:pathLst>
              <a:path w="393700" h="1" fill="none">
                <a:moveTo>
                  <a:pt x="0" y="0"/>
                </a:moveTo>
                <a:lnTo>
                  <a:pt x="393700" y="0"/>
                </a:lnTo>
              </a:path>
            </a:pathLst>
          </a:custGeom>
          <a:noFill/>
          <a:ln w="15875" cap="rnd">
            <a:gradFill rotWithShape="1">
              <a:gsLst>
                <a:gs pos="0">
                  <a:srgbClr val="2F85E0"/>
                </a:gs>
                <a:gs pos="100000">
                  <a:srgbClr val="2E82DF"/>
                </a:gs>
              </a:gsLst>
              <a:lin ang="0" scaled="0"/>
            </a:gra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2" name="svg ln"/>
          <p:cNvSpPr/>
          <p:nvPr/>
        </p:nvSpPr>
        <p:spPr>
          <a:xfrm>
            <a:off x="8115300" y="2998391"/>
            <a:ext cx="38100" cy="76200"/>
          </a:xfrm>
          <a:custGeom>
            <a:avLst/>
            <a:gdLst/>
            <a:ahLst/>
            <a:cxnLst/>
            <a:rect l="0" t="0" r="r" b="b"/>
            <a:pathLst>
              <a:path w="38100" h="76200" fill="none">
                <a:moveTo>
                  <a:pt x="0" y="0"/>
                </a:moveTo>
                <a:lnTo>
                  <a:pt x="38100" y="38100"/>
                </a:lnTo>
                <a:lnTo>
                  <a:pt x="0" y="76200"/>
                </a:lnTo>
              </a:path>
            </a:pathLst>
          </a:custGeom>
          <a:noFill/>
          <a:ln w="15875" cap="rnd">
            <a:gradFill rotWithShape="1">
              <a:gsLst>
                <a:gs pos="0">
                  <a:srgbClr val="2E82DF"/>
                </a:gs>
                <a:gs pos="100000">
                  <a:srgbClr val="2E82DF"/>
                </a:gs>
              </a:gsLst>
              <a:lin ang="0" scaled="0"/>
            </a:gra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3" name="svg ln"/>
          <p:cNvSpPr/>
          <p:nvPr/>
        </p:nvSpPr>
        <p:spPr>
          <a:xfrm>
            <a:off x="9156700" y="3036491"/>
            <a:ext cx="139700" cy="1"/>
          </a:xfrm>
          <a:custGeom>
            <a:avLst/>
            <a:gdLst/>
            <a:ahLst/>
            <a:cxnLst/>
            <a:rect l="0" t="0" r="r" b="b"/>
            <a:pathLst>
              <a:path w="139700" h="1" fill="none">
                <a:moveTo>
                  <a:pt x="0" y="0"/>
                </a:moveTo>
                <a:lnTo>
                  <a:pt x="139700" y="0"/>
                </a:lnTo>
              </a:path>
            </a:pathLst>
          </a:custGeom>
          <a:noFill/>
          <a:ln w="15875" cap="rnd">
            <a:solidFill>
              <a:srgbClr val="8FD3F5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4" name="svg ln"/>
          <p:cNvSpPr/>
          <p:nvPr/>
        </p:nvSpPr>
        <p:spPr>
          <a:xfrm>
            <a:off x="9258300" y="2998391"/>
            <a:ext cx="38100" cy="76200"/>
          </a:xfrm>
          <a:custGeom>
            <a:avLst/>
            <a:gdLst/>
            <a:ahLst/>
            <a:cxnLst/>
            <a:rect l="0" t="0" r="r" b="b"/>
            <a:pathLst>
              <a:path w="38100" h="76200" fill="none">
                <a:moveTo>
                  <a:pt x="0" y="0"/>
                </a:moveTo>
                <a:lnTo>
                  <a:pt x="38100" y="38100"/>
                </a:lnTo>
                <a:lnTo>
                  <a:pt x="0" y="76200"/>
                </a:lnTo>
              </a:path>
            </a:pathLst>
          </a:custGeom>
          <a:noFill/>
          <a:ln w="15875" cap="rnd">
            <a:solidFill>
              <a:srgbClr val="8FD3F5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5" name="svg path"/>
          <p:cNvSpPr/>
          <p:nvPr/>
        </p:nvSpPr>
        <p:spPr>
          <a:xfrm>
            <a:off x="10147300" y="3036491"/>
            <a:ext cx="152400" cy="1"/>
          </a:xfrm>
          <a:custGeom>
            <a:avLst/>
            <a:gdLst/>
            <a:ahLst/>
            <a:cxnLst/>
            <a:rect l="0" t="0" r="r" b="b"/>
            <a:pathLst>
              <a:path w="152400" h="1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5875" cap="rnd">
            <a:solidFill>
              <a:srgbClr val="8FD3F5">
                <a:alpha val="6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6" name="svg path"/>
          <p:cNvSpPr/>
          <p:nvPr/>
        </p:nvSpPr>
        <p:spPr>
          <a:xfrm>
            <a:off x="10299700" y="2617391"/>
            <a:ext cx="1" cy="838200"/>
          </a:xfrm>
          <a:custGeom>
            <a:avLst/>
            <a:gdLst/>
            <a:ahLst/>
            <a:cxnLst/>
            <a:rect l="0" t="0" r="r" b="b"/>
            <a:pathLst>
              <a:path w="1" h="838200" fill="none">
                <a:moveTo>
                  <a:pt x="0" y="0"/>
                </a:moveTo>
                <a:lnTo>
                  <a:pt x="0" y="838200"/>
                </a:lnTo>
              </a:path>
            </a:pathLst>
          </a:custGeom>
          <a:noFill/>
          <a:ln w="15875" cap="rnd">
            <a:solidFill>
              <a:srgbClr val="8FD3F5">
                <a:alpha val="6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7" name="svg path"/>
          <p:cNvSpPr/>
          <p:nvPr/>
        </p:nvSpPr>
        <p:spPr>
          <a:xfrm>
            <a:off x="10299700" y="2541191"/>
            <a:ext cx="88900" cy="76200"/>
          </a:xfrm>
          <a:custGeom>
            <a:avLst/>
            <a:gdLst/>
            <a:ahLst/>
            <a:cxnLst/>
            <a:rect l="0" t="0" r="r" b="b"/>
            <a:pathLst>
              <a:path w="88900" h="76200" fill="none">
                <a:moveTo>
                  <a:pt x="0" y="76200"/>
                </a:moveTo>
                <a:quadBezTo>
                  <a:pt x="0" y="0"/>
                  <a:pt x="76200" y="0"/>
                </a:quadBezTo>
                <a:lnTo>
                  <a:pt x="88900" y="0"/>
                </a:lnTo>
              </a:path>
            </a:pathLst>
          </a:custGeom>
          <a:noFill/>
          <a:ln w="15875" cap="rnd">
            <a:solidFill>
              <a:srgbClr val="8FD3F5">
                <a:alpha val="6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8" name="svg path"/>
          <p:cNvSpPr/>
          <p:nvPr/>
        </p:nvSpPr>
        <p:spPr>
          <a:xfrm>
            <a:off x="10299700" y="2871391"/>
            <a:ext cx="88900" cy="1"/>
          </a:xfrm>
          <a:custGeom>
            <a:avLst/>
            <a:gdLst/>
            <a:ahLst/>
            <a:cxnLst/>
            <a:rect l="0" t="0" r="r" b="b"/>
            <a:pathLst>
              <a:path w="88900" h="1" fill="none">
                <a:moveTo>
                  <a:pt x="0" y="0"/>
                </a:moveTo>
                <a:lnTo>
                  <a:pt x="88900" y="0"/>
                </a:lnTo>
              </a:path>
            </a:pathLst>
          </a:custGeom>
          <a:noFill/>
          <a:ln w="15875" cap="rnd">
            <a:solidFill>
              <a:srgbClr val="8FD3F5">
                <a:alpha val="6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39" name="svg path"/>
          <p:cNvSpPr/>
          <p:nvPr/>
        </p:nvSpPr>
        <p:spPr>
          <a:xfrm>
            <a:off x="10299700" y="3201591"/>
            <a:ext cx="88900" cy="1"/>
          </a:xfrm>
          <a:custGeom>
            <a:avLst/>
            <a:gdLst/>
            <a:ahLst/>
            <a:cxnLst/>
            <a:rect l="0" t="0" r="r" b="b"/>
            <a:pathLst>
              <a:path w="88900" h="1" fill="none">
                <a:moveTo>
                  <a:pt x="0" y="0"/>
                </a:moveTo>
                <a:lnTo>
                  <a:pt x="88900" y="0"/>
                </a:lnTo>
              </a:path>
            </a:pathLst>
          </a:custGeom>
          <a:noFill/>
          <a:ln w="15875" cap="rnd">
            <a:solidFill>
              <a:srgbClr val="8FD3F5">
                <a:alpha val="6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0" name="svg path"/>
          <p:cNvSpPr/>
          <p:nvPr/>
        </p:nvSpPr>
        <p:spPr>
          <a:xfrm>
            <a:off x="10299700" y="3455591"/>
            <a:ext cx="88900" cy="76200"/>
          </a:xfrm>
          <a:custGeom>
            <a:avLst/>
            <a:gdLst/>
            <a:ahLst/>
            <a:cxnLst/>
            <a:rect l="0" t="0" r="r" b="b"/>
            <a:pathLst>
              <a:path w="88900" h="76200" fill="none">
                <a:moveTo>
                  <a:pt x="0" y="0"/>
                </a:moveTo>
                <a:quadBezTo>
                  <a:pt x="0" y="76200"/>
                  <a:pt x="76200" y="76200"/>
                </a:quadBezTo>
                <a:lnTo>
                  <a:pt x="88900" y="76200"/>
                </a:lnTo>
              </a:path>
            </a:pathLst>
          </a:custGeom>
          <a:noFill/>
          <a:ln w="15875" cap="rnd">
            <a:solidFill>
              <a:srgbClr val="8FD3F5">
                <a:alpha val="60000"/>
              </a:srgbClr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1" name="svg path"/>
          <p:cNvSpPr/>
          <p:nvPr/>
        </p:nvSpPr>
        <p:spPr>
          <a:xfrm>
            <a:off x="7175500" y="4462066"/>
            <a:ext cx="965200" cy="1"/>
          </a:xfrm>
          <a:custGeom>
            <a:avLst/>
            <a:gdLst/>
            <a:ahLst/>
            <a:cxnLst/>
            <a:rect l="0" t="0" r="r" b="b"/>
            <a:pathLst>
              <a:path w="965200" h="1" fill="none">
                <a:moveTo>
                  <a:pt x="0" y="0"/>
                </a:moveTo>
                <a:lnTo>
                  <a:pt x="965200" y="0"/>
                </a:lnTo>
              </a:path>
            </a:pathLst>
          </a:custGeom>
          <a:noFill/>
          <a:ln w="15875" cap="rnd">
            <a:solidFill>
              <a:srgbClr val="45B9EC"/>
            </a:solidFill>
            <a:custDash>
              <a:ds d="100000" sp="184000"/>
            </a:custDash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2" name="svg path"/>
          <p:cNvSpPr/>
          <p:nvPr/>
        </p:nvSpPr>
        <p:spPr>
          <a:xfrm>
            <a:off x="7175500" y="4722416"/>
            <a:ext cx="965200" cy="1"/>
          </a:xfrm>
          <a:custGeom>
            <a:avLst/>
            <a:gdLst/>
            <a:ahLst/>
            <a:cxnLst/>
            <a:rect l="0" t="0" r="r" b="b"/>
            <a:pathLst>
              <a:path w="965200" h="1" fill="none">
                <a:moveTo>
                  <a:pt x="0" y="0"/>
                </a:moveTo>
                <a:lnTo>
                  <a:pt x="965200" y="0"/>
                </a:lnTo>
              </a:path>
            </a:pathLst>
          </a:custGeom>
          <a:noFill/>
          <a:ln w="15875" cap="rnd">
            <a:solidFill>
              <a:srgbClr val="45B9EC"/>
            </a:solidFill>
            <a:custDash>
              <a:ds d="100000" sp="184000"/>
            </a:custDash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3" name="p3-st"/>
          <p:cNvSpPr/>
          <p:nvPr/>
        </p:nvSpPr>
        <p:spPr>
          <a:xfrm>
            <a:off x="711200" y="1639491"/>
            <a:ext cx="659309" cy="203200"/>
          </a:xfrm>
          <a:prstGeom prst="roundRect">
            <a:avLst>
              <a:gd name="adj" fmla="val 50000"/>
            </a:avLst>
          </a:prstGeom>
          <a:solidFill>
            <a:srgbClr val="FDBB30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4" name="p3-a p3-node p3-field"/>
          <p:cNvSpPr/>
          <p:nvPr/>
        </p:nvSpPr>
        <p:spPr>
          <a:xfrm>
            <a:off x="720725" y="2614216"/>
            <a:ext cx="844550" cy="844550"/>
          </a:xfrm>
          <a:prstGeom prst="ellipse">
            <a:avLst/>
          </a:prstGeom>
          <a:solidFill>
            <a:srgbClr val="FFFFFF"/>
          </a:solidFill>
          <a:ln w="19050">
            <a:gradFill rotWithShape="1">
              <a:gsLst>
                <a:gs pos="0">
                  <a:srgbClr val="45B9EC"/>
                </a:gs>
                <a:gs pos="100000">
                  <a:srgbClr val="2A78DD"/>
                </a:gs>
              </a:gsLst>
              <a:lin ang="5400000" scaled="0"/>
            </a:gra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5" name="ic path"/>
          <p:cNvSpPr/>
          <p:nvPr/>
        </p:nvSpPr>
        <p:spPr>
          <a:xfrm>
            <a:off x="1037167" y="2984169"/>
            <a:ext cx="211667" cy="1"/>
          </a:xfrm>
          <a:custGeom>
            <a:avLst/>
            <a:gdLst/>
            <a:ahLst/>
            <a:cxnLst/>
            <a:rect l="0" t="0" r="r" b="b"/>
            <a:pathLst>
              <a:path w="211667" h="1" fill="none">
                <a:moveTo>
                  <a:pt x="0" y="0"/>
                </a:moveTo>
                <a:lnTo>
                  <a:pt x="211667" y="0"/>
                </a:lnTo>
              </a:path>
            </a:pathLst>
          </a:custGeom>
          <a:noFill/>
          <a:ln w="20108" cap="rnd">
            <a:solidFill>
              <a:srgbClr val="8A5A00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6" name="ic path"/>
          <p:cNvSpPr/>
          <p:nvPr/>
        </p:nvSpPr>
        <p:spPr>
          <a:xfrm>
            <a:off x="1058333" y="2899503"/>
            <a:ext cx="169333" cy="84667"/>
          </a:xfrm>
          <a:custGeom>
            <a:avLst/>
            <a:gdLst/>
            <a:ahLst/>
            <a:cxnLst/>
            <a:rect l="0" t="0" r="r" b="b"/>
            <a:pathLst>
              <a:path w="169333" h="84667" fill="none">
                <a:moveTo>
                  <a:pt x="0" y="84667"/>
                </a:moveTo>
                <a:cubicBezTo>
                  <a:pt x="0" y="37907"/>
                  <a:pt x="37907" y="0"/>
                  <a:pt x="84667" y="0"/>
                </a:cubicBezTo>
                <a:cubicBezTo>
                  <a:pt x="131427" y="0"/>
                  <a:pt x="169333" y="37907"/>
                  <a:pt x="169333" y="84667"/>
                </a:cubicBezTo>
              </a:path>
            </a:pathLst>
          </a:custGeom>
          <a:noFill/>
          <a:ln w="20108" cap="rnd">
            <a:solidFill>
              <a:srgbClr val="8A5A00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7" name="ic path"/>
          <p:cNvSpPr/>
          <p:nvPr/>
        </p:nvSpPr>
        <p:spPr>
          <a:xfrm>
            <a:off x="1123950" y="2901619"/>
            <a:ext cx="38100" cy="56092"/>
          </a:xfrm>
          <a:custGeom>
            <a:avLst/>
            <a:gdLst/>
            <a:ahLst/>
            <a:cxnLst/>
            <a:rect l="0" t="0" r="r" b="b"/>
            <a:pathLst>
              <a:path w="38100" h="56092" fill="none">
                <a:moveTo>
                  <a:pt x="0" y="0"/>
                </a:moveTo>
                <a:lnTo>
                  <a:pt x="0" y="56092"/>
                </a:lnTo>
                <a:moveTo>
                  <a:pt x="38100" y="0"/>
                </a:moveTo>
                <a:lnTo>
                  <a:pt x="38100" y="56092"/>
                </a:lnTo>
              </a:path>
            </a:pathLst>
          </a:custGeom>
          <a:noFill/>
          <a:ln w="20108" cap="rnd">
            <a:solidFill>
              <a:srgbClr val="8A5A00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8" name="p3-a p3-pill"/>
          <p:cNvSpPr/>
          <p:nvPr/>
        </p:nvSpPr>
        <p:spPr>
          <a:xfrm>
            <a:off x="2101850" y="2884091"/>
            <a:ext cx="965200" cy="3048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114300" dist="38100" dir="5400000" algn="ctr" rotWithShape="0">
              <a:srgbClr val="0B2147">
                <a:alpha val="14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49" name="ic path"/>
          <p:cNvSpPr/>
          <p:nvPr/>
        </p:nvSpPr>
        <p:spPr>
          <a:xfrm>
            <a:off x="2279253" y="2982283"/>
            <a:ext cx="81492" cy="85131"/>
          </a:xfrm>
          <a:custGeom>
            <a:avLst/>
            <a:gdLst/>
            <a:ahLst/>
            <a:cxnLst/>
            <a:rect l="0" t="0" r="r" b="b"/>
            <a:pathLst>
              <a:path w="81492" h="85131" fill="none">
                <a:moveTo>
                  <a:pt x="40746" y="42565"/>
                </a:moveTo>
                <a:moveTo>
                  <a:pt x="0" y="42565"/>
                </a:moveTo>
                <a:cubicBezTo>
                  <a:pt x="0" y="57123"/>
                  <a:pt x="7766" y="70574"/>
                  <a:pt x="20373" y="77852"/>
                </a:cubicBezTo>
                <a:cubicBezTo>
                  <a:pt x="32980" y="85131"/>
                  <a:pt x="48512" y="85131"/>
                  <a:pt x="61119" y="77852"/>
                </a:cubicBezTo>
                <a:cubicBezTo>
                  <a:pt x="73726" y="70574"/>
                  <a:pt x="81492" y="57123"/>
                  <a:pt x="81492" y="42565"/>
                </a:cubicBezTo>
                <a:cubicBezTo>
                  <a:pt x="81492" y="28008"/>
                  <a:pt x="73726" y="14557"/>
                  <a:pt x="61119" y="7279"/>
                </a:cubicBezTo>
                <a:cubicBezTo>
                  <a:pt x="48512" y="0"/>
                  <a:pt x="32980" y="0"/>
                  <a:pt x="20373" y="7279"/>
                </a:cubicBezTo>
                <a:cubicBezTo>
                  <a:pt x="7766" y="14557"/>
                  <a:pt x="0" y="28008"/>
                  <a:pt x="0" y="42565"/>
                </a:cubicBezTo>
              </a:path>
            </a:pathLst>
          </a:custGeom>
          <a:noFill/>
          <a:ln w="12806" cap="rnd">
            <a:solidFill>
              <a:srgbClr val="004B8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0" name="ic path"/>
          <p:cNvSpPr/>
          <p:nvPr/>
        </p:nvSpPr>
        <p:spPr>
          <a:xfrm>
            <a:off x="2349103" y="3053953"/>
            <a:ext cx="34925" cy="34925"/>
          </a:xfrm>
          <a:custGeom>
            <a:avLst/>
            <a:gdLst/>
            <a:ahLst/>
            <a:cxnLst/>
            <a:rect l="0" t="0" r="r" b="b"/>
            <a:pathLst>
              <a:path w="34925" h="34925" fill="none">
                <a:moveTo>
                  <a:pt x="34925" y="34925"/>
                </a:moveTo>
                <a:lnTo>
                  <a:pt x="0" y="0"/>
                </a:lnTo>
              </a:path>
            </a:pathLst>
          </a:custGeom>
          <a:noFill/>
          <a:ln w="12806" cap="rnd">
            <a:solidFill>
              <a:srgbClr val="004B8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1" name="li::before"/>
          <p:cNvSpPr/>
          <p:nvPr/>
        </p:nvSpPr>
        <p:spPr>
          <a:xfrm>
            <a:off x="711200" y="4455716"/>
            <a:ext cx="88900" cy="12700"/>
          </a:xfrm>
          <a:prstGeom prst="roundRect">
            <a:avLst>
              <a:gd name="adj" fmla="val 50000"/>
            </a:avLst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2" name="li::before"/>
          <p:cNvSpPr/>
          <p:nvPr/>
        </p:nvSpPr>
        <p:spPr>
          <a:xfrm>
            <a:off x="711200" y="4976416"/>
            <a:ext cx="88900" cy="12700"/>
          </a:xfrm>
          <a:prstGeom prst="roundRect">
            <a:avLst>
              <a:gd name="adj" fmla="val 50000"/>
            </a:avLst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3" name="p3-a p3-node p3-pp"/>
          <p:cNvSpPr/>
          <p:nvPr/>
        </p:nvSpPr>
        <p:spPr>
          <a:xfrm>
            <a:off x="3933825" y="1649016"/>
            <a:ext cx="692150" cy="6921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A94F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4" name="ic path"/>
          <p:cNvSpPr/>
          <p:nvPr/>
        </p:nvSpPr>
        <p:spPr>
          <a:xfrm>
            <a:off x="4224338" y="1827113"/>
            <a:ext cx="63500" cy="63500"/>
          </a:xfrm>
          <a:custGeom>
            <a:avLst/>
            <a:gdLst/>
            <a:ahLst/>
            <a:cxnLst/>
            <a:rect l="0" t="0" r="r" b="b"/>
            <a:pathLst>
              <a:path w="63500" h="63500" fill="none">
                <a:moveTo>
                  <a:pt x="31750" y="31750"/>
                </a:moveTo>
                <a:moveTo>
                  <a:pt x="0" y="31750"/>
                </a:moveTo>
                <a:cubicBezTo>
                  <a:pt x="0" y="49285"/>
                  <a:pt x="14215" y="63500"/>
                  <a:pt x="31750" y="63500"/>
                </a:cubicBezTo>
                <a:cubicBezTo>
                  <a:pt x="49285" y="63500"/>
                  <a:pt x="63500" y="49285"/>
                  <a:pt x="63500" y="31750"/>
                </a:cubicBezTo>
                <a:cubicBezTo>
                  <a:pt x="63500" y="14215"/>
                  <a:pt x="49285" y="0"/>
                  <a:pt x="31750" y="0"/>
                </a:cubicBezTo>
                <a:cubicBezTo>
                  <a:pt x="14215" y="0"/>
                  <a:pt x="0" y="14215"/>
                  <a:pt x="0" y="31750"/>
                </a:cubicBezTo>
              </a:path>
            </a:pathLst>
          </a:custGeom>
          <a:noFill/>
          <a:ln w="15875" cap="rnd">
            <a:solidFill>
              <a:srgbClr val="00A94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5" name="ic path"/>
          <p:cNvSpPr/>
          <p:nvPr/>
        </p:nvSpPr>
        <p:spPr>
          <a:xfrm>
            <a:off x="4208463" y="1922363"/>
            <a:ext cx="95250" cy="47625"/>
          </a:xfrm>
          <a:custGeom>
            <a:avLst/>
            <a:gdLst/>
            <a:ahLst/>
            <a:cxnLst/>
            <a:rect l="0" t="0" r="r" b="b"/>
            <a:pathLst>
              <a:path w="95250" h="47625" fill="none">
                <a:moveTo>
                  <a:pt x="0" y="47625"/>
                </a:moveTo>
                <a:lnTo>
                  <a:pt x="0" y="31750"/>
                </a:lnTo>
                <a:cubicBezTo>
                  <a:pt x="0" y="14215"/>
                  <a:pt x="14215" y="0"/>
                  <a:pt x="31750" y="0"/>
                </a:cubicBezTo>
                <a:lnTo>
                  <a:pt x="63500" y="0"/>
                </a:lnTo>
                <a:cubicBezTo>
                  <a:pt x="81035" y="0"/>
                  <a:pt x="95250" y="14215"/>
                  <a:pt x="95250" y="31750"/>
                </a:cubicBezTo>
                <a:lnTo>
                  <a:pt x="95250" y="47625"/>
                </a:lnTo>
              </a:path>
            </a:pathLst>
          </a:custGeom>
          <a:noFill/>
          <a:ln w="15875" cap="rnd">
            <a:solidFill>
              <a:srgbClr val="00A94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6" name="ic path"/>
          <p:cNvSpPr/>
          <p:nvPr/>
        </p:nvSpPr>
        <p:spPr>
          <a:xfrm>
            <a:off x="4311650" y="1828145"/>
            <a:ext cx="23875" cy="61516"/>
          </a:xfrm>
          <a:custGeom>
            <a:avLst/>
            <a:gdLst/>
            <a:ahLst/>
            <a:cxnLst/>
            <a:rect l="0" t="0" r="r" b="b"/>
            <a:pathLst>
              <a:path w="23875" h="61516" fill="none">
                <a:moveTo>
                  <a:pt x="0" y="0"/>
                </a:moveTo>
                <a:cubicBezTo>
                  <a:pt x="14049" y="3597"/>
                  <a:pt x="23875" y="16256"/>
                  <a:pt x="23875" y="30758"/>
                </a:cubicBezTo>
                <a:cubicBezTo>
                  <a:pt x="23875" y="45260"/>
                  <a:pt x="14049" y="57919"/>
                  <a:pt x="0" y="61516"/>
                </a:cubicBezTo>
              </a:path>
            </a:pathLst>
          </a:custGeom>
          <a:noFill/>
          <a:ln w="15875" cap="rnd">
            <a:solidFill>
              <a:srgbClr val="00A94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7" name="ic path"/>
          <p:cNvSpPr/>
          <p:nvPr/>
        </p:nvSpPr>
        <p:spPr>
          <a:xfrm>
            <a:off x="4327525" y="1923554"/>
            <a:ext cx="23812" cy="46434"/>
          </a:xfrm>
          <a:custGeom>
            <a:avLst/>
            <a:gdLst/>
            <a:ahLst/>
            <a:cxnLst/>
            <a:rect l="0" t="0" r="r" b="b"/>
            <a:pathLst>
              <a:path w="23812" h="46434" fill="none">
                <a:moveTo>
                  <a:pt x="23812" y="46434"/>
                </a:moveTo>
                <a:lnTo>
                  <a:pt x="23812" y="30559"/>
                </a:lnTo>
                <a:cubicBezTo>
                  <a:pt x="23730" y="16149"/>
                  <a:pt x="13953" y="3602"/>
                  <a:pt x="0" y="0"/>
                </a:cubicBezTo>
              </a:path>
            </a:pathLst>
          </a:custGeom>
          <a:noFill/>
          <a:ln w="15875" cap="rnd">
            <a:solidFill>
              <a:srgbClr val="00A94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8" name="p3-st"/>
          <p:cNvSpPr/>
          <p:nvPr/>
        </p:nvSpPr>
        <p:spPr>
          <a:xfrm>
            <a:off x="4813300" y="1639491"/>
            <a:ext cx="674390" cy="203200"/>
          </a:xfrm>
          <a:prstGeom prst="roundRect">
            <a:avLst>
              <a:gd name="adj" fmla="val 50000"/>
            </a:avLst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59" name="li::before"/>
          <p:cNvSpPr/>
          <p:nvPr/>
        </p:nvSpPr>
        <p:spPr>
          <a:xfrm>
            <a:off x="4813300" y="2635746"/>
            <a:ext cx="88900" cy="12700"/>
          </a:xfrm>
          <a:prstGeom prst="roundRect">
            <a:avLst>
              <a:gd name="adj" fmla="val 50000"/>
            </a:avLst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0" name="p3-a p3-node p3-tc"/>
          <p:cNvSpPr/>
          <p:nvPr/>
        </p:nvSpPr>
        <p:spPr>
          <a:xfrm>
            <a:off x="3933825" y="3731816"/>
            <a:ext cx="692150" cy="69215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4B8D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1" name="ic path"/>
          <p:cNvSpPr/>
          <p:nvPr/>
        </p:nvSpPr>
        <p:spPr>
          <a:xfrm>
            <a:off x="4216400" y="3909913"/>
            <a:ext cx="127000" cy="142875"/>
          </a:xfrm>
          <a:custGeom>
            <a:avLst/>
            <a:gdLst/>
            <a:ahLst/>
            <a:cxnLst/>
            <a:rect l="0" t="0" r="r" b="b"/>
            <a:pathLst>
              <a:path w="127000" h="142875" fill="none">
                <a:moveTo>
                  <a:pt x="63500" y="0"/>
                </a:moveTo>
                <a:lnTo>
                  <a:pt x="127000" y="35719"/>
                </a:lnTo>
                <a:lnTo>
                  <a:pt x="127000" y="107156"/>
                </a:lnTo>
                <a:lnTo>
                  <a:pt x="63500" y="142875"/>
                </a:lnTo>
                <a:lnTo>
                  <a:pt x="0" y="107156"/>
                </a:lnTo>
                <a:lnTo>
                  <a:pt x="0" y="35719"/>
                </a:lnTo>
                <a:lnTo>
                  <a:pt x="63500" y="0"/>
                </a:lnTo>
              </a:path>
            </a:pathLst>
          </a:custGeom>
          <a:noFill/>
          <a:ln w="15875" cap="rnd">
            <a:solidFill>
              <a:srgbClr val="004B8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2" name="ic path"/>
          <p:cNvSpPr/>
          <p:nvPr/>
        </p:nvSpPr>
        <p:spPr>
          <a:xfrm>
            <a:off x="4279900" y="3945632"/>
            <a:ext cx="63500" cy="35719"/>
          </a:xfrm>
          <a:custGeom>
            <a:avLst/>
            <a:gdLst/>
            <a:ahLst/>
            <a:cxnLst/>
            <a:rect l="0" t="0" r="r" b="b"/>
            <a:pathLst>
              <a:path w="63500" h="35719" fill="none">
                <a:moveTo>
                  <a:pt x="0" y="35719"/>
                </a:moveTo>
                <a:lnTo>
                  <a:pt x="63500" y="0"/>
                </a:lnTo>
              </a:path>
            </a:pathLst>
          </a:custGeom>
          <a:noFill/>
          <a:ln w="15875" cap="rnd">
            <a:solidFill>
              <a:srgbClr val="004B8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3" name="ic path"/>
          <p:cNvSpPr/>
          <p:nvPr/>
        </p:nvSpPr>
        <p:spPr>
          <a:xfrm>
            <a:off x="4279900" y="3981351"/>
            <a:ext cx="1" cy="71438"/>
          </a:xfrm>
          <a:custGeom>
            <a:avLst/>
            <a:gdLst/>
            <a:ahLst/>
            <a:cxnLst/>
            <a:rect l="0" t="0" r="r" b="b"/>
            <a:pathLst>
              <a:path w="1" h="71438" fill="none">
                <a:moveTo>
                  <a:pt x="0" y="0"/>
                </a:moveTo>
                <a:lnTo>
                  <a:pt x="0" y="71438"/>
                </a:lnTo>
              </a:path>
            </a:pathLst>
          </a:custGeom>
          <a:noFill/>
          <a:ln w="15875" cap="rnd">
            <a:solidFill>
              <a:srgbClr val="004B8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4" name="ic path"/>
          <p:cNvSpPr/>
          <p:nvPr/>
        </p:nvSpPr>
        <p:spPr>
          <a:xfrm>
            <a:off x="4216400" y="3945632"/>
            <a:ext cx="63500" cy="35719"/>
          </a:xfrm>
          <a:custGeom>
            <a:avLst/>
            <a:gdLst/>
            <a:ahLst/>
            <a:cxnLst/>
            <a:rect l="0" t="0" r="r" b="b"/>
            <a:pathLst>
              <a:path w="63500" h="35719" fill="none">
                <a:moveTo>
                  <a:pt x="63500" y="35719"/>
                </a:moveTo>
                <a:lnTo>
                  <a:pt x="0" y="0"/>
                </a:lnTo>
              </a:path>
            </a:pathLst>
          </a:custGeom>
          <a:noFill/>
          <a:ln w="15875" cap="rnd">
            <a:solidFill>
              <a:srgbClr val="004B8D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5" name="p3-st"/>
          <p:cNvSpPr/>
          <p:nvPr/>
        </p:nvSpPr>
        <p:spPr>
          <a:xfrm>
            <a:off x="4813300" y="3722291"/>
            <a:ext cx="677466" cy="203200"/>
          </a:xfrm>
          <a:prstGeom prst="roundRect">
            <a:avLst>
              <a:gd name="adj" fmla="val 50000"/>
            </a:avLst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6" name="li::before"/>
          <p:cNvSpPr/>
          <p:nvPr/>
        </p:nvSpPr>
        <p:spPr>
          <a:xfrm>
            <a:off x="4813300" y="4718546"/>
            <a:ext cx="88900" cy="12700"/>
          </a:xfrm>
          <a:prstGeom prst="roundRect">
            <a:avLst>
              <a:gd name="adj" fmla="val 50000"/>
            </a:avLst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7" name="p3-st"/>
          <p:cNvSpPr/>
          <p:nvPr/>
        </p:nvSpPr>
        <p:spPr>
          <a:xfrm>
            <a:off x="8191500" y="1639491"/>
            <a:ext cx="679847" cy="203200"/>
          </a:xfrm>
          <a:prstGeom prst="roundRect">
            <a:avLst>
              <a:gd name="adj" fmla="val 50000"/>
            </a:avLst>
          </a:prstGeom>
          <a:solidFill>
            <a:srgbClr val="FDBB30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8" name="p3-a p3-pill"/>
          <p:cNvSpPr/>
          <p:nvPr/>
        </p:nvSpPr>
        <p:spPr>
          <a:xfrm>
            <a:off x="8194675" y="2887266"/>
            <a:ext cx="958850" cy="298450"/>
          </a:xfrm>
          <a:prstGeom prst="roundRect">
            <a:avLst>
              <a:gd name="adj" fmla="val 50000"/>
            </a:avLst>
          </a:prstGeom>
          <a:solidFill>
            <a:srgbClr val="FFFFFF">
              <a:alpha val="8000"/>
            </a:srgbClr>
          </a:solidFill>
          <a:ln w="6350">
            <a:solidFill>
              <a:srgbClr val="FFFFFF">
                <a:alpha val="24000"/>
              </a:srgbClr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69" name="ic path"/>
          <p:cNvSpPr/>
          <p:nvPr/>
        </p:nvSpPr>
        <p:spPr>
          <a:xfrm>
            <a:off x="8380545" y="3007386"/>
            <a:ext cx="87313" cy="58208"/>
          </a:xfrm>
          <a:custGeom>
            <a:avLst/>
            <a:gdLst/>
            <a:ahLst/>
            <a:cxnLst/>
            <a:rect l="0" t="0" r="r" b="b"/>
            <a:pathLst>
              <a:path w="87313" h="58208" fill="none">
                <a:moveTo>
                  <a:pt x="0" y="29104"/>
                </a:moveTo>
                <a:lnTo>
                  <a:pt x="29104" y="58208"/>
                </a:lnTo>
                <a:lnTo>
                  <a:pt x="87313" y="0"/>
                </a:lnTo>
              </a:path>
            </a:pathLst>
          </a:custGeom>
          <a:noFill/>
          <a:ln w="12806" cap="rnd">
            <a:solidFill>
              <a:srgbClr val="8FD3F5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0" name="p3-a p3-node p3-chg 고리"/>
          <p:cNvSpPr/>
          <p:nvPr/>
        </p:nvSpPr>
        <p:spPr>
          <a:xfrm>
            <a:off x="9283700" y="2579291"/>
            <a:ext cx="914400" cy="914400"/>
          </a:xfrm>
          <a:prstGeom prst="ellipse">
            <a:avLst/>
          </a:prstGeom>
          <a:solidFill>
            <a:srgbClr val="FFFFFF">
              <a:alpha val="6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1" name="p3-a p3-node p3-chg"/>
          <p:cNvSpPr/>
          <p:nvPr/>
        </p:nvSpPr>
        <p:spPr>
          <a:xfrm>
            <a:off x="9334500" y="2630091"/>
            <a:ext cx="812800" cy="812800"/>
          </a:xfrm>
          <a:prstGeom prst="ellipse">
            <a:avLst/>
          </a:prstGeom>
          <a:gradFill rotWithShape="1">
            <a:gsLst>
              <a:gs pos="0">
                <a:srgbClr val="2A78DD"/>
              </a:gs>
              <a:gs pos="62000">
                <a:srgbClr val="004B8D"/>
              </a:gs>
              <a:gs pos="100000">
                <a:srgbClr val="0A3A73"/>
              </a:gs>
            </a:gsLst>
            <a:lin ang="3900000" scaled="0"/>
          </a:gradFill>
          <a:ln>
            <a:noFill/>
          </a:ln>
          <a:effectLst>
            <a:outerShdw blurRad="203200" dist="88900" dir="5400000" algn="ctr" rotWithShape="0">
              <a:srgbClr val="000000">
                <a:alpha val="28000"/>
              </a:srgbClr>
            </a:outerShdw>
          </a:effectLst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2" name="ic path"/>
          <p:cNvSpPr/>
          <p:nvPr/>
        </p:nvSpPr>
        <p:spPr>
          <a:xfrm>
            <a:off x="9664700" y="2869737"/>
            <a:ext cx="152400" cy="84667"/>
          </a:xfrm>
          <a:custGeom>
            <a:avLst/>
            <a:gdLst/>
            <a:ahLst/>
            <a:cxnLst/>
            <a:rect l="0" t="0" r="r" b="b"/>
            <a:pathLst>
              <a:path w="152400" h="84667" fill="none">
                <a:moveTo>
                  <a:pt x="0" y="84667"/>
                </a:moveTo>
                <a:lnTo>
                  <a:pt x="50800" y="33867"/>
                </a:lnTo>
                <a:lnTo>
                  <a:pt x="84667" y="67733"/>
                </a:lnTo>
                <a:lnTo>
                  <a:pt x="152400" y="0"/>
                </a:lnTo>
              </a:path>
            </a:pathLst>
          </a:custGeom>
          <a:noFill/>
          <a:ln w="18627" cap="rnd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3" name="ic path"/>
          <p:cNvSpPr/>
          <p:nvPr/>
        </p:nvSpPr>
        <p:spPr>
          <a:xfrm>
            <a:off x="9757833" y="2869737"/>
            <a:ext cx="59267" cy="59267"/>
          </a:xfrm>
          <a:custGeom>
            <a:avLst/>
            <a:gdLst/>
            <a:ahLst/>
            <a:cxnLst/>
            <a:rect l="0" t="0" r="r" b="b"/>
            <a:pathLst>
              <a:path w="59267" h="59267" fill="none">
                <a:moveTo>
                  <a:pt x="0" y="0"/>
                </a:moveTo>
                <a:lnTo>
                  <a:pt x="59267" y="0"/>
                </a:lnTo>
                <a:lnTo>
                  <a:pt x="59267" y="59267"/>
                </a:lnTo>
              </a:path>
            </a:pathLst>
          </a:custGeom>
          <a:noFill/>
          <a:ln w="18627" cap="rnd">
            <a:solidFill>
              <a:srgbClr val="FFFFFF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4" name="i"/>
          <p:cNvSpPr/>
          <p:nvPr/>
        </p:nvSpPr>
        <p:spPr>
          <a:xfrm>
            <a:off x="10407650" y="2420541"/>
            <a:ext cx="241300" cy="241300"/>
          </a:xfrm>
          <a:prstGeom prst="ellipse">
            <a:avLst/>
          </a:prstGeom>
          <a:solidFill>
            <a:srgbClr val="FDBB30">
              <a:alpha val="10000"/>
            </a:srgbClr>
          </a:solidFill>
          <a:ln w="12700">
            <a:solidFill>
              <a:srgbClr val="FDBB30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5" name="ic path"/>
          <p:cNvSpPr/>
          <p:nvPr/>
        </p:nvSpPr>
        <p:spPr>
          <a:xfrm>
            <a:off x="10475913" y="2500445"/>
            <a:ext cx="93133" cy="93133"/>
          </a:xfrm>
          <a:custGeom>
            <a:avLst/>
            <a:gdLst/>
            <a:ahLst/>
            <a:cxnLst/>
            <a:rect l="0" t="0" r="r" b="b"/>
            <a:pathLst>
              <a:path w="93133" h="93133" fill="none">
                <a:moveTo>
                  <a:pt x="51194" y="93133"/>
                </a:moveTo>
                <a:lnTo>
                  <a:pt x="11642" y="93133"/>
                </a:lnTo>
                <a:cubicBezTo>
                  <a:pt x="5212" y="93133"/>
                  <a:pt x="0" y="87921"/>
                  <a:pt x="0" y="81492"/>
                </a:cubicBezTo>
                <a:lnTo>
                  <a:pt x="0" y="11642"/>
                </a:lnTo>
                <a:cubicBezTo>
                  <a:pt x="0" y="5212"/>
                  <a:pt x="5212" y="0"/>
                  <a:pt x="11642" y="0"/>
                </a:cubicBezTo>
                <a:lnTo>
                  <a:pt x="81492" y="0"/>
                </a:lnTo>
                <a:cubicBezTo>
                  <a:pt x="84579" y="0"/>
                  <a:pt x="87540" y="1227"/>
                  <a:pt x="89724" y="3410"/>
                </a:cubicBezTo>
                <a:cubicBezTo>
                  <a:pt x="91907" y="5593"/>
                  <a:pt x="93133" y="8554"/>
                  <a:pt x="93133" y="11642"/>
                </a:cubicBezTo>
                <a:lnTo>
                  <a:pt x="93133" y="34925"/>
                </a:lnTo>
              </a:path>
            </a:pathLst>
          </a:custGeom>
          <a:noFill/>
          <a:ln w="11642" cap="rnd">
            <a:solidFill>
              <a:srgbClr val="FDBB30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6" name="ic path"/>
          <p:cNvSpPr/>
          <p:nvPr/>
        </p:nvSpPr>
        <p:spPr>
          <a:xfrm>
            <a:off x="10539942" y="2552832"/>
            <a:ext cx="46567" cy="46567"/>
          </a:xfrm>
          <a:custGeom>
            <a:avLst/>
            <a:gdLst/>
            <a:ahLst/>
            <a:cxnLst/>
            <a:rect l="0" t="0" r="r" b="b"/>
            <a:pathLst>
              <a:path w="46567" h="46567" fill="none">
                <a:moveTo>
                  <a:pt x="23283" y="23283"/>
                </a:moveTo>
                <a:moveTo>
                  <a:pt x="0" y="23283"/>
                </a:moveTo>
                <a:cubicBezTo>
                  <a:pt x="0" y="36142"/>
                  <a:pt x="10424" y="46567"/>
                  <a:pt x="23283" y="46567"/>
                </a:cubicBezTo>
                <a:cubicBezTo>
                  <a:pt x="36142" y="46567"/>
                  <a:pt x="46567" y="36142"/>
                  <a:pt x="46567" y="23283"/>
                </a:cubicBezTo>
                <a:cubicBezTo>
                  <a:pt x="46567" y="10424"/>
                  <a:pt x="36142" y="0"/>
                  <a:pt x="23283" y="0"/>
                </a:cubicBezTo>
                <a:cubicBezTo>
                  <a:pt x="10424" y="0"/>
                  <a:pt x="0" y="10424"/>
                  <a:pt x="0" y="23283"/>
                </a:cubicBezTo>
              </a:path>
            </a:pathLst>
          </a:custGeom>
          <a:noFill/>
          <a:ln w="11642" cap="rnd">
            <a:solidFill>
              <a:srgbClr val="FDBB30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7" name="ic path"/>
          <p:cNvSpPr/>
          <p:nvPr/>
        </p:nvSpPr>
        <p:spPr>
          <a:xfrm>
            <a:off x="10545763" y="2488803"/>
            <a:ext cx="1" cy="23283"/>
          </a:xfrm>
          <a:custGeom>
            <a:avLst/>
            <a:gdLst/>
            <a:ahLst/>
            <a:cxnLst/>
            <a:rect l="0" t="0" r="r" b="b"/>
            <a:pathLst>
              <a:path w="1" h="23283" fill="none">
                <a:moveTo>
                  <a:pt x="0" y="0"/>
                </a:moveTo>
                <a:lnTo>
                  <a:pt x="0" y="23283"/>
                </a:lnTo>
              </a:path>
            </a:pathLst>
          </a:custGeom>
          <a:noFill/>
          <a:ln w="11642" cap="rnd">
            <a:solidFill>
              <a:srgbClr val="FDBB30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8" name="ic path"/>
          <p:cNvSpPr/>
          <p:nvPr/>
        </p:nvSpPr>
        <p:spPr>
          <a:xfrm>
            <a:off x="10499196" y="2488803"/>
            <a:ext cx="1" cy="23283"/>
          </a:xfrm>
          <a:custGeom>
            <a:avLst/>
            <a:gdLst/>
            <a:ahLst/>
            <a:cxnLst/>
            <a:rect l="0" t="0" r="r" b="b"/>
            <a:pathLst>
              <a:path w="1" h="23283" fill="none">
                <a:moveTo>
                  <a:pt x="0" y="0"/>
                </a:moveTo>
                <a:lnTo>
                  <a:pt x="0" y="23283"/>
                </a:lnTo>
              </a:path>
            </a:pathLst>
          </a:custGeom>
          <a:noFill/>
          <a:ln w="11642" cap="rnd">
            <a:solidFill>
              <a:srgbClr val="FDBB30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79" name="ic path"/>
          <p:cNvSpPr/>
          <p:nvPr/>
        </p:nvSpPr>
        <p:spPr>
          <a:xfrm>
            <a:off x="10475913" y="2535370"/>
            <a:ext cx="93133" cy="1"/>
          </a:xfrm>
          <a:custGeom>
            <a:avLst/>
            <a:gdLst/>
            <a:ahLst/>
            <a:cxnLst/>
            <a:rect l="0" t="0" r="r" b="b"/>
            <a:pathLst>
              <a:path w="93133" h="1" fill="none">
                <a:moveTo>
                  <a:pt x="0" y="0"/>
                </a:moveTo>
                <a:lnTo>
                  <a:pt x="93133" y="0"/>
                </a:lnTo>
              </a:path>
            </a:pathLst>
          </a:custGeom>
          <a:noFill/>
          <a:ln w="11642" cap="rnd">
            <a:solidFill>
              <a:srgbClr val="FDBB30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0" name="ic path"/>
          <p:cNvSpPr/>
          <p:nvPr/>
        </p:nvSpPr>
        <p:spPr>
          <a:xfrm>
            <a:off x="10563225" y="2567361"/>
            <a:ext cx="5821" cy="14575"/>
          </a:xfrm>
          <a:custGeom>
            <a:avLst/>
            <a:gdLst/>
            <a:ahLst/>
            <a:cxnLst/>
            <a:rect l="0" t="0" r="r" b="b"/>
            <a:pathLst>
              <a:path w="5821" h="14575" fill="none">
                <a:moveTo>
                  <a:pt x="0" y="0"/>
                </a:moveTo>
                <a:lnTo>
                  <a:pt x="0" y="8755"/>
                </a:lnTo>
                <a:lnTo>
                  <a:pt x="5821" y="14575"/>
                </a:lnTo>
              </a:path>
            </a:pathLst>
          </a:custGeom>
          <a:noFill/>
          <a:ln w="11642" cap="rnd">
            <a:solidFill>
              <a:srgbClr val="FDBB30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1" name="i"/>
          <p:cNvSpPr/>
          <p:nvPr/>
        </p:nvSpPr>
        <p:spPr>
          <a:xfrm>
            <a:off x="10407650" y="2750741"/>
            <a:ext cx="241300" cy="241300"/>
          </a:xfrm>
          <a:prstGeom prst="ellipse">
            <a:avLst/>
          </a:prstGeom>
          <a:solidFill>
            <a:srgbClr val="FDBB30">
              <a:alpha val="10000"/>
            </a:srgbClr>
          </a:solidFill>
          <a:ln w="12700">
            <a:solidFill>
              <a:srgbClr val="FDBB30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2" name="ic path"/>
          <p:cNvSpPr/>
          <p:nvPr/>
        </p:nvSpPr>
        <p:spPr>
          <a:xfrm>
            <a:off x="10487554" y="2830645"/>
            <a:ext cx="81492" cy="93133"/>
          </a:xfrm>
          <a:custGeom>
            <a:avLst/>
            <a:gdLst/>
            <a:ahLst/>
            <a:cxnLst/>
            <a:rect l="0" t="0" r="r" b="b"/>
            <a:pathLst>
              <a:path w="81492" h="93133" fill="none">
                <a:moveTo>
                  <a:pt x="23283" y="0"/>
                </a:moveTo>
                <a:lnTo>
                  <a:pt x="11642" y="0"/>
                </a:lnTo>
                <a:cubicBezTo>
                  <a:pt x="8554" y="0"/>
                  <a:pt x="5593" y="1227"/>
                  <a:pt x="3410" y="3410"/>
                </a:cubicBezTo>
                <a:cubicBezTo>
                  <a:pt x="1227" y="5593"/>
                  <a:pt x="0" y="8554"/>
                  <a:pt x="0" y="11642"/>
                </a:cubicBezTo>
                <a:lnTo>
                  <a:pt x="0" y="81492"/>
                </a:lnTo>
                <a:cubicBezTo>
                  <a:pt x="0" y="84579"/>
                  <a:pt x="1227" y="87540"/>
                  <a:pt x="3410" y="89724"/>
                </a:cubicBezTo>
                <a:cubicBezTo>
                  <a:pt x="5593" y="91907"/>
                  <a:pt x="8554" y="93133"/>
                  <a:pt x="11642" y="93133"/>
                </a:cubicBezTo>
                <a:lnTo>
                  <a:pt x="69850" y="93133"/>
                </a:lnTo>
                <a:cubicBezTo>
                  <a:pt x="72938" y="93133"/>
                  <a:pt x="75899" y="91907"/>
                  <a:pt x="78082" y="89724"/>
                </a:cubicBezTo>
                <a:cubicBezTo>
                  <a:pt x="80265" y="87540"/>
                  <a:pt x="81492" y="84579"/>
                  <a:pt x="81492" y="81492"/>
                </a:cubicBezTo>
                <a:lnTo>
                  <a:pt x="81492" y="11642"/>
                </a:lnTo>
                <a:cubicBezTo>
                  <a:pt x="81492" y="8554"/>
                  <a:pt x="80265" y="5593"/>
                  <a:pt x="78082" y="3410"/>
                </a:cubicBezTo>
                <a:cubicBezTo>
                  <a:pt x="75899" y="1227"/>
                  <a:pt x="72938" y="0"/>
                  <a:pt x="69850" y="0"/>
                </a:cubicBezTo>
                <a:lnTo>
                  <a:pt x="58208" y="0"/>
                </a:lnTo>
              </a:path>
            </a:pathLst>
          </a:custGeom>
          <a:noFill/>
          <a:ln w="11642" cap="rnd">
            <a:solidFill>
              <a:srgbClr val="FDBB30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3" name="ic path"/>
          <p:cNvSpPr/>
          <p:nvPr/>
        </p:nvSpPr>
        <p:spPr>
          <a:xfrm>
            <a:off x="10510838" y="2819003"/>
            <a:ext cx="34925" cy="23283"/>
          </a:xfrm>
          <a:custGeom>
            <a:avLst/>
            <a:gdLst/>
            <a:ahLst/>
            <a:cxnLst/>
            <a:rect l="0" t="0" r="r" b="b"/>
            <a:pathLst>
              <a:path w="34925" h="23283" fill="none">
                <a:moveTo>
                  <a:pt x="0" y="0"/>
                </a:moveTo>
                <a:moveTo>
                  <a:pt x="0" y="11642"/>
                </a:moveTo>
                <a:cubicBezTo>
                  <a:pt x="0" y="5212"/>
                  <a:pt x="5212" y="0"/>
                  <a:pt x="11642" y="0"/>
                </a:cubicBezTo>
                <a:lnTo>
                  <a:pt x="23283" y="0"/>
                </a:lnTo>
                <a:cubicBezTo>
                  <a:pt x="29713" y="0"/>
                  <a:pt x="34925" y="5212"/>
                  <a:pt x="34925" y="11642"/>
                </a:cubicBezTo>
                <a:lnTo>
                  <a:pt x="34925" y="11642"/>
                </a:lnTo>
                <a:cubicBezTo>
                  <a:pt x="34925" y="18071"/>
                  <a:pt x="29713" y="23283"/>
                  <a:pt x="23283" y="23283"/>
                </a:cubicBezTo>
                <a:lnTo>
                  <a:pt x="11642" y="23283"/>
                </a:lnTo>
                <a:cubicBezTo>
                  <a:pt x="5212" y="23283"/>
                  <a:pt x="0" y="18071"/>
                  <a:pt x="0" y="11642"/>
                </a:cubicBezTo>
                <a:close/>
              </a:path>
            </a:pathLst>
          </a:custGeom>
          <a:noFill/>
          <a:ln w="11642" cap="rnd">
            <a:solidFill>
              <a:srgbClr val="FDBB30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4" name="ic path"/>
          <p:cNvSpPr/>
          <p:nvPr/>
        </p:nvSpPr>
        <p:spPr>
          <a:xfrm>
            <a:off x="10510838" y="2871391"/>
            <a:ext cx="34925" cy="23283"/>
          </a:xfrm>
          <a:custGeom>
            <a:avLst/>
            <a:gdLst/>
            <a:ahLst/>
            <a:cxnLst/>
            <a:rect l="0" t="0" r="r" b="b"/>
            <a:pathLst>
              <a:path w="34925" h="23283" fill="none">
                <a:moveTo>
                  <a:pt x="0" y="11642"/>
                </a:moveTo>
                <a:lnTo>
                  <a:pt x="11642" y="23283"/>
                </a:lnTo>
                <a:lnTo>
                  <a:pt x="34925" y="0"/>
                </a:lnTo>
              </a:path>
            </a:pathLst>
          </a:custGeom>
          <a:noFill/>
          <a:ln w="11642" cap="rnd">
            <a:solidFill>
              <a:srgbClr val="FDBB30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5" name="i"/>
          <p:cNvSpPr/>
          <p:nvPr/>
        </p:nvSpPr>
        <p:spPr>
          <a:xfrm>
            <a:off x="10407650" y="3080941"/>
            <a:ext cx="241300" cy="241300"/>
          </a:xfrm>
          <a:prstGeom prst="ellipse">
            <a:avLst/>
          </a:prstGeom>
          <a:solidFill>
            <a:srgbClr val="FDBB30">
              <a:alpha val="10000"/>
            </a:srgbClr>
          </a:solidFill>
          <a:ln w="12700">
            <a:solidFill>
              <a:srgbClr val="FDBB30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6" name="ic path"/>
          <p:cNvSpPr/>
          <p:nvPr/>
        </p:nvSpPr>
        <p:spPr>
          <a:xfrm>
            <a:off x="10468057" y="3149203"/>
            <a:ext cx="113671" cy="103879"/>
          </a:xfrm>
          <a:custGeom>
            <a:avLst/>
            <a:gdLst/>
            <a:ahLst/>
            <a:cxnLst/>
            <a:rect l="0" t="0" r="r" b="b"/>
            <a:pathLst>
              <a:path w="113671" h="103879" fill="none">
                <a:moveTo>
                  <a:pt x="57100" y="103879"/>
                </a:moveTo>
                <a:cubicBezTo>
                  <a:pt x="20635" y="92575"/>
                  <a:pt x="0" y="54090"/>
                  <a:pt x="10766" y="17463"/>
                </a:cubicBezTo>
                <a:cubicBezTo>
                  <a:pt x="28901" y="18292"/>
                  <a:pt x="46647" y="12029"/>
                  <a:pt x="60243" y="0"/>
                </a:cubicBezTo>
                <a:cubicBezTo>
                  <a:pt x="73839" y="12029"/>
                  <a:pt x="91585" y="18292"/>
                  <a:pt x="109720" y="17463"/>
                </a:cubicBezTo>
                <a:cubicBezTo>
                  <a:pt x="113671" y="30903"/>
                  <a:pt x="113488" y="45222"/>
                  <a:pt x="109196" y="58558"/>
                </a:cubicBezTo>
              </a:path>
            </a:pathLst>
          </a:custGeom>
          <a:noFill/>
          <a:ln w="11642" cap="rnd">
            <a:solidFill>
              <a:srgbClr val="FDBB30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7" name="ic path"/>
          <p:cNvSpPr/>
          <p:nvPr/>
        </p:nvSpPr>
        <p:spPr>
          <a:xfrm>
            <a:off x="10545763" y="3230695"/>
            <a:ext cx="34925" cy="23283"/>
          </a:xfrm>
          <a:custGeom>
            <a:avLst/>
            <a:gdLst/>
            <a:ahLst/>
            <a:cxnLst/>
            <a:rect l="0" t="0" r="r" b="b"/>
            <a:pathLst>
              <a:path w="34925" h="23283" fill="none">
                <a:moveTo>
                  <a:pt x="0" y="11642"/>
                </a:moveTo>
                <a:lnTo>
                  <a:pt x="11642" y="23283"/>
                </a:lnTo>
                <a:lnTo>
                  <a:pt x="34925" y="0"/>
                </a:lnTo>
              </a:path>
            </a:pathLst>
          </a:custGeom>
          <a:noFill/>
          <a:ln w="11642" cap="rnd">
            <a:solidFill>
              <a:srgbClr val="FDBB30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8" name="i"/>
          <p:cNvSpPr/>
          <p:nvPr/>
        </p:nvSpPr>
        <p:spPr>
          <a:xfrm>
            <a:off x="10407650" y="3411141"/>
            <a:ext cx="241300" cy="241300"/>
          </a:xfrm>
          <a:prstGeom prst="ellipse">
            <a:avLst/>
          </a:prstGeom>
          <a:solidFill>
            <a:srgbClr val="FDBB30">
              <a:alpha val="10000"/>
            </a:srgbClr>
          </a:solidFill>
          <a:ln w="12700">
            <a:solidFill>
              <a:srgbClr val="FDBB30"/>
            </a:solidFill>
            <a:miter lim="800000"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89" name="ic path"/>
          <p:cNvSpPr/>
          <p:nvPr/>
        </p:nvSpPr>
        <p:spPr>
          <a:xfrm>
            <a:off x="10493375" y="3584178"/>
            <a:ext cx="34925" cy="1"/>
          </a:xfrm>
          <a:custGeom>
            <a:avLst/>
            <a:gdLst/>
            <a:ahLst/>
            <a:cxnLst/>
            <a:rect l="0" t="0" r="r" b="b"/>
            <a:pathLst>
              <a:path w="34925" h="1" fill="none">
                <a:moveTo>
                  <a:pt x="0" y="0"/>
                </a:moveTo>
                <a:lnTo>
                  <a:pt x="34925" y="0"/>
                </a:lnTo>
              </a:path>
            </a:pathLst>
          </a:custGeom>
          <a:noFill/>
          <a:ln w="11642" cap="rnd">
            <a:solidFill>
              <a:srgbClr val="FDBB30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0" name="ic path"/>
          <p:cNvSpPr/>
          <p:nvPr/>
        </p:nvSpPr>
        <p:spPr>
          <a:xfrm>
            <a:off x="10475913" y="3479403"/>
            <a:ext cx="104775" cy="104775"/>
          </a:xfrm>
          <a:custGeom>
            <a:avLst/>
            <a:gdLst/>
            <a:ahLst/>
            <a:cxnLst/>
            <a:rect l="0" t="0" r="r" b="b"/>
            <a:pathLst>
              <a:path w="104775" h="104775" fill="none">
                <a:moveTo>
                  <a:pt x="34925" y="104775"/>
                </a:moveTo>
                <a:lnTo>
                  <a:pt x="34925" y="0"/>
                </a:lnTo>
                <a:lnTo>
                  <a:pt x="0" y="34925"/>
                </a:lnTo>
                <a:lnTo>
                  <a:pt x="104775" y="34925"/>
                </a:lnTo>
              </a:path>
            </a:pathLst>
          </a:custGeom>
          <a:noFill/>
          <a:ln w="11642" cap="rnd">
            <a:solidFill>
              <a:srgbClr val="FDBB30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1" name="ic path"/>
          <p:cNvSpPr/>
          <p:nvPr/>
        </p:nvSpPr>
        <p:spPr>
          <a:xfrm>
            <a:off x="10510838" y="3479403"/>
            <a:ext cx="58208" cy="34925"/>
          </a:xfrm>
          <a:custGeom>
            <a:avLst/>
            <a:gdLst/>
            <a:ahLst/>
            <a:cxnLst/>
            <a:rect l="0" t="0" r="r" b="b"/>
            <a:pathLst>
              <a:path w="58208" h="34925" fill="none">
                <a:moveTo>
                  <a:pt x="0" y="0"/>
                </a:moveTo>
                <a:lnTo>
                  <a:pt x="58208" y="34925"/>
                </a:lnTo>
              </a:path>
            </a:pathLst>
          </a:custGeom>
          <a:noFill/>
          <a:ln w="11642" cap="rnd">
            <a:solidFill>
              <a:srgbClr val="FDBB30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2" name="ic path"/>
          <p:cNvSpPr/>
          <p:nvPr/>
        </p:nvSpPr>
        <p:spPr>
          <a:xfrm>
            <a:off x="10545763" y="3514328"/>
            <a:ext cx="24199" cy="47482"/>
          </a:xfrm>
          <a:custGeom>
            <a:avLst/>
            <a:gdLst/>
            <a:ahLst/>
            <a:cxnLst/>
            <a:rect l="0" t="0" r="r" b="b"/>
            <a:pathLst>
              <a:path w="24199" h="47482" fill="none">
                <a:moveTo>
                  <a:pt x="11642" y="0"/>
                </a:moveTo>
                <a:lnTo>
                  <a:pt x="11642" y="23283"/>
                </a:lnTo>
                <a:cubicBezTo>
                  <a:pt x="16350" y="23283"/>
                  <a:pt x="20595" y="26120"/>
                  <a:pt x="22397" y="30470"/>
                </a:cubicBezTo>
                <a:cubicBezTo>
                  <a:pt x="24199" y="34820"/>
                  <a:pt x="23203" y="39827"/>
                  <a:pt x="19874" y="43157"/>
                </a:cubicBezTo>
                <a:cubicBezTo>
                  <a:pt x="16544" y="46486"/>
                  <a:pt x="11537" y="47482"/>
                  <a:pt x="7187" y="45680"/>
                </a:cubicBezTo>
                <a:cubicBezTo>
                  <a:pt x="2836" y="43879"/>
                  <a:pt x="0" y="39634"/>
                  <a:pt x="0" y="34925"/>
                </a:cubicBezTo>
              </a:path>
            </a:pathLst>
          </a:custGeom>
          <a:noFill/>
          <a:ln w="11642" cap="rnd">
            <a:solidFill>
              <a:srgbClr val="FDBB30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3" name="svg path"/>
          <p:cNvSpPr/>
          <p:nvPr/>
        </p:nvSpPr>
        <p:spPr>
          <a:xfrm>
            <a:off x="8204200" y="4430316"/>
            <a:ext cx="38100" cy="63500"/>
          </a:xfrm>
          <a:custGeom>
            <a:avLst/>
            <a:gdLst/>
            <a:ahLst/>
            <a:cxnLst/>
            <a:rect l="0" t="0" r="r" b="b"/>
            <a:pathLst>
              <a:path w="38100" h="63500" fill="none">
                <a:moveTo>
                  <a:pt x="0" y="0"/>
                </a:moveTo>
                <a:lnTo>
                  <a:pt x="38100" y="31750"/>
                </a:lnTo>
                <a:lnTo>
                  <a:pt x="0" y="63500"/>
                </a:lnTo>
              </a:path>
            </a:pathLst>
          </a:custGeom>
          <a:noFill/>
          <a:ln w="12700" cap="rnd">
            <a:solidFill>
              <a:srgbClr val="8FD3F5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4" name="svg path"/>
          <p:cNvSpPr/>
          <p:nvPr/>
        </p:nvSpPr>
        <p:spPr>
          <a:xfrm>
            <a:off x="8204200" y="4690666"/>
            <a:ext cx="38100" cy="63500"/>
          </a:xfrm>
          <a:custGeom>
            <a:avLst/>
            <a:gdLst/>
            <a:ahLst/>
            <a:cxnLst/>
            <a:rect l="0" t="0" r="r" b="b"/>
            <a:pathLst>
              <a:path w="38100" h="63500" fill="none">
                <a:moveTo>
                  <a:pt x="0" y="0"/>
                </a:moveTo>
                <a:lnTo>
                  <a:pt x="38100" y="31750"/>
                </a:lnTo>
                <a:lnTo>
                  <a:pt x="0" y="63500"/>
                </a:lnTo>
              </a:path>
            </a:pathLst>
          </a:custGeom>
          <a:noFill/>
          <a:ln w="12700" cap="rnd">
            <a:solidFill>
              <a:srgbClr val="8FD3F5"/>
            </a:solidFill>
            <a:round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5" name="key p3-key"/>
          <p:cNvSpPr/>
          <p:nvPr/>
        </p:nvSpPr>
        <p:spPr>
          <a:xfrm>
            <a:off x="508000" y="5601891"/>
            <a:ext cx="11176000" cy="762000"/>
          </a:xfrm>
          <a:prstGeom prst="roundRect">
            <a:avLst>
              <a:gd name="adj" fmla="val 20000"/>
            </a:avLst>
          </a:prstGeom>
          <a:solidFill>
            <a:srgbClr val="0B2147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6" name="i"/>
          <p:cNvSpPr/>
          <p:nvPr/>
        </p:nvSpPr>
        <p:spPr>
          <a:xfrm>
            <a:off x="711200" y="5951141"/>
            <a:ext cx="63500" cy="63500"/>
          </a:xfrm>
          <a:prstGeom prst="ellipse">
            <a:avLst/>
          </a:prstGeom>
          <a:solidFill>
            <a:srgbClr val="00A94F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7" name="b"/>
          <p:cNvSpPr/>
          <p:nvPr/>
        </p:nvSpPr>
        <p:spPr>
          <a:xfrm>
            <a:off x="774700" y="5976541"/>
            <a:ext cx="88900" cy="12700"/>
          </a:xfrm>
          <a:prstGeom prst="rect">
            <a:avLst/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8" name="i"/>
          <p:cNvSpPr/>
          <p:nvPr/>
        </p:nvSpPr>
        <p:spPr>
          <a:xfrm>
            <a:off x="863600" y="5951141"/>
            <a:ext cx="63500" cy="63500"/>
          </a:xfrm>
          <a:prstGeom prst="ellipse">
            <a:avLst/>
          </a:prstGeom>
          <a:solidFill>
            <a:srgbClr val="004B8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99" name="b"/>
          <p:cNvSpPr/>
          <p:nvPr/>
        </p:nvSpPr>
        <p:spPr>
          <a:xfrm>
            <a:off x="927100" y="5976541"/>
            <a:ext cx="88900" cy="12700"/>
          </a:xfrm>
          <a:prstGeom prst="rect">
            <a:avLst/>
          </a:prstGeom>
          <a:solidFill>
            <a:srgbClr val="C3CEDD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00" name="i"/>
          <p:cNvSpPr/>
          <p:nvPr/>
        </p:nvSpPr>
        <p:spPr>
          <a:xfrm>
            <a:off x="1016000" y="5951141"/>
            <a:ext cx="63500" cy="63500"/>
          </a:xfrm>
          <a:prstGeom prst="ellipse">
            <a:avLst/>
          </a:prstGeom>
          <a:solidFill>
            <a:srgbClr val="FDBB30"/>
          </a:solidFill>
          <a:ln>
            <a:noFill/>
          </a:ln>
        </p:spPr>
        <p:txBody>
          <a:bodyPr rtlCol="0" anchor="ctr"/>
          <a:lstStyle/>
          <a:p>
            <a:pPr algn="ctr"/>
            <a:endParaRPr lang="ko-KR" dirty="0"/>
          </a:p>
        </p:txBody>
      </p:sp>
      <p:sp>
        <p:nvSpPr>
          <p:cNvPr id="101" name="03"/>
          <p:cNvSpPr txBox="1"/>
          <p:nvPr/>
        </p:nvSpPr>
        <p:spPr>
          <a:xfrm>
            <a:off x="952500" y="292100"/>
            <a:ext cx="224631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20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03</a:t>
            </a:r>
            <a:endParaRPr lang="en-US" sz="1000" dirty="0"/>
          </a:p>
        </p:txBody>
      </p:sp>
      <p:sp>
        <p:nvSpPr>
          <p:cNvPr id="102" name="PT 주제 2. 가치관과 핵심키워드의 연결점 &amp; 입사 후 실천"/>
          <p:cNvSpPr txBox="1"/>
          <p:nvPr/>
        </p:nvSpPr>
        <p:spPr>
          <a:xfrm>
            <a:off x="1285081" y="292100"/>
            <a:ext cx="293713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10" kern="0" dirty="0">
                <a:solidFill>
                  <a:srgbClr val="6A748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PT 주제 2. 가치관과 핵심키워드의 연결점 &amp; 입사 후 실천</a:t>
            </a:r>
            <a:endParaRPr lang="en-US" sz="1000" dirty="0"/>
          </a:p>
        </p:txBody>
      </p:sp>
      <p:sp>
        <p:nvSpPr>
          <p:cNvPr id="103" name="입사 후"/>
          <p:cNvSpPr txBox="1"/>
          <p:nvPr/>
        </p:nvSpPr>
        <p:spPr>
          <a:xfrm>
            <a:off x="508000" y="571500"/>
            <a:ext cx="539849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28" kern="0" dirty="0">
                <a:solidFill>
                  <a:srgbClr val="3D4757"/>
                </a:solidFill>
                <a:latin typeface="Pretendard SemiBold" pitchFamily="34" charset="0"/>
                <a:ea typeface="Pretendard SemiBold" pitchFamily="34" charset="-127"/>
                <a:cs typeface="Pretendard SemiBold" pitchFamily="34" charset="-120"/>
              </a:rPr>
              <a:t>입사 후</a:t>
            </a:r>
            <a:endParaRPr lang="en-US" sz="1400" dirty="0"/>
          </a:p>
        </p:txBody>
      </p:sp>
      <p:sp>
        <p:nvSpPr>
          <p:cNvPr id="104" name="사람과 기술을 연결해 현장의 변화를 만들겠습니다."/>
          <p:cNvSpPr txBox="1"/>
          <p:nvPr/>
        </p:nvSpPr>
        <p:spPr>
          <a:xfrm>
            <a:off x="508000" y="821630"/>
            <a:ext cx="6717117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2700" spc="-10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사람</a:t>
            </a:r>
            <a:pPr algn="l" indent="0" marL="0">
              <a:buNone/>
            </a:pPr>
            <a:r>
              <a:rPr lang="ko-KR" altLang="en-US" sz="2700" spc="-10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과 </a:t>
            </a:r>
            <a:pPr algn="l" indent="0" marL="0">
              <a:buNone/>
            </a:pPr>
            <a:r>
              <a:rPr lang="ko-KR" altLang="en-US" sz="2700" spc="-10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기술</a:t>
            </a:r>
            <a:pPr algn="l" indent="0" marL="0">
              <a:buNone/>
            </a:pPr>
            <a:r>
              <a:rPr lang="ko-KR" altLang="en-US" sz="2700" spc="-10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을 연결해 </a:t>
            </a:r>
            <a:pPr algn="l" indent="0" marL="0">
              <a:buNone/>
            </a:pPr>
            <a:r>
              <a:rPr lang="ko-KR" altLang="en-US" sz="2700" spc="-108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2700" spc="-10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를 만들겠습니다.</a:t>
            </a:r>
            <a:endParaRPr lang="en-US" sz="2700" dirty="0"/>
          </a:p>
        </p:txBody>
      </p:sp>
      <p:sp>
        <p:nvSpPr>
          <p:cNvPr id="105" name="STEP 01"/>
          <p:cNvSpPr txBox="1"/>
          <p:nvPr/>
        </p:nvSpPr>
        <p:spPr>
          <a:xfrm>
            <a:off x="800100" y="1674416"/>
            <a:ext cx="532309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6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STEP 01</a:t>
            </a:r>
            <a:endParaRPr lang="en-US" sz="850" dirty="0"/>
          </a:p>
        </p:txBody>
      </p:sp>
      <p:sp>
        <p:nvSpPr>
          <p:cNvPr id="106" name="FIELD"/>
          <p:cNvSpPr txBox="1"/>
          <p:nvPr/>
        </p:nvSpPr>
        <p:spPr>
          <a:xfrm>
            <a:off x="1446709" y="1674416"/>
            <a:ext cx="416818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119" kern="0" dirty="0">
                <a:solidFill>
                  <a:srgbClr val="8A5A00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FIELD</a:t>
            </a:r>
            <a:endParaRPr lang="en-US" sz="850" dirty="0"/>
          </a:p>
        </p:txBody>
      </p:sp>
      <p:sp>
        <p:nvSpPr>
          <p:cNvPr id="107" name="현장을 이해하겠습니다."/>
          <p:cNvSpPr txBox="1"/>
          <p:nvPr/>
        </p:nvSpPr>
        <p:spPr>
          <a:xfrm>
            <a:off x="711200" y="1925241"/>
            <a:ext cx="1646886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9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현장을 이해하겠습니다.</a:t>
            </a:r>
            <a:endParaRPr lang="en-US" sz="1400" dirty="0"/>
          </a:p>
        </p:txBody>
      </p:sp>
      <p:sp>
        <p:nvSpPr>
          <p:cNvPr id="108" name="현장"/>
          <p:cNvSpPr txBox="1"/>
          <p:nvPr/>
        </p:nvSpPr>
        <p:spPr>
          <a:xfrm>
            <a:off x="969268" y="3065661"/>
            <a:ext cx="347464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400" spc="-42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현장</a:t>
            </a:r>
            <a:endParaRPr lang="en-US" sz="1400" dirty="0"/>
          </a:p>
        </p:txBody>
      </p:sp>
      <p:sp>
        <p:nvSpPr>
          <p:cNvPr id="109" name="문제 발견"/>
          <p:cNvSpPr txBox="1"/>
          <p:nvPr/>
        </p:nvSpPr>
        <p:spPr>
          <a:xfrm>
            <a:off x="2452291" y="2960291"/>
            <a:ext cx="50561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문제 발견</a:t>
            </a:r>
            <a:endParaRPr lang="en-US" sz="1000" dirty="0"/>
          </a:p>
        </p:txBody>
      </p:sp>
      <p:sp>
        <p:nvSpPr>
          <p:cNvPr id="110" name="도면, 시방서, 시공계획서 검토"/>
          <p:cNvSpPr txBox="1"/>
          <p:nvPr/>
        </p:nvSpPr>
        <p:spPr>
          <a:xfrm>
            <a:off x="876300" y="4376341"/>
            <a:ext cx="164467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33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도면, 시방서, 시공계획서 검토</a:t>
            </a:r>
            <a:endParaRPr lang="en-US" sz="1100" dirty="0"/>
          </a:p>
        </p:txBody>
      </p:sp>
      <p:sp>
        <p:nvSpPr>
          <p:cNvPr id="111" name="공종별 시공방법과 선후행 관계 이해"/>
          <p:cNvSpPr txBox="1"/>
          <p:nvPr/>
        </p:nvSpPr>
        <p:spPr>
          <a:xfrm>
            <a:off x="876300" y="4636691"/>
            <a:ext cx="197996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33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공종별 시공방법과 선후행 관계 이해</a:t>
            </a:r>
            <a:endParaRPr lang="en-US" sz="1100" dirty="0"/>
          </a:p>
        </p:txBody>
      </p:sp>
      <p:sp>
        <p:nvSpPr>
          <p:cNvPr id="112" name="작업일보를 통한 일일 작업 현황 파악"/>
          <p:cNvSpPr txBox="1"/>
          <p:nvPr/>
        </p:nvSpPr>
        <p:spPr>
          <a:xfrm>
            <a:off x="876300" y="4897041"/>
            <a:ext cx="2011728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33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작업일보를 통한 일일 작업 현황 파악</a:t>
            </a:r>
            <a:endParaRPr lang="en-US" sz="1100" dirty="0"/>
          </a:p>
        </p:txBody>
      </p:sp>
      <p:sp>
        <p:nvSpPr>
          <p:cNvPr id="113" name="사람"/>
          <p:cNvSpPr txBox="1"/>
          <p:nvPr/>
        </p:nvSpPr>
        <p:spPr>
          <a:xfrm>
            <a:off x="4127302" y="2006501"/>
            <a:ext cx="305098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6" kern="0" dirty="0">
                <a:solidFill>
                  <a:srgbClr val="0B6B33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사람</a:t>
            </a:r>
            <a:endParaRPr lang="en-US" sz="1200" dirty="0"/>
          </a:p>
        </p:txBody>
      </p:sp>
      <p:sp>
        <p:nvSpPr>
          <p:cNvPr id="114" name="STEP 02"/>
          <p:cNvSpPr txBox="1"/>
          <p:nvPr/>
        </p:nvSpPr>
        <p:spPr>
          <a:xfrm>
            <a:off x="4902200" y="1674416"/>
            <a:ext cx="54739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68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STEP 02</a:t>
            </a:r>
            <a:endParaRPr lang="en-US" sz="850" dirty="0"/>
          </a:p>
        </p:txBody>
      </p:sp>
      <p:sp>
        <p:nvSpPr>
          <p:cNvPr id="115" name="PEOPLE"/>
          <p:cNvSpPr txBox="1"/>
          <p:nvPr/>
        </p:nvSpPr>
        <p:spPr>
          <a:xfrm>
            <a:off x="5563890" y="1674416"/>
            <a:ext cx="547687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119" kern="0" dirty="0">
                <a:solidFill>
                  <a:srgbClr val="0B6B33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PEOPLE</a:t>
            </a:r>
            <a:endParaRPr lang="en-US" sz="850" dirty="0"/>
          </a:p>
        </p:txBody>
      </p:sp>
      <p:sp>
        <p:nvSpPr>
          <p:cNvPr id="116" name="사람을 연결하겠습니다."/>
          <p:cNvSpPr txBox="1"/>
          <p:nvPr/>
        </p:nvSpPr>
        <p:spPr>
          <a:xfrm>
            <a:off x="4813300" y="1925241"/>
            <a:ext cx="1646886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9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사람을 연결하겠습니다.</a:t>
            </a:r>
            <a:endParaRPr lang="en-US" sz="1400" dirty="0"/>
          </a:p>
        </p:txBody>
      </p:sp>
      <p:sp>
        <p:nvSpPr>
          <p:cNvPr id="117" name="유관부서 및 협력업체와 공정별 일정 공유"/>
          <p:cNvSpPr txBox="1"/>
          <p:nvPr/>
        </p:nvSpPr>
        <p:spPr>
          <a:xfrm>
            <a:off x="4978400" y="2296021"/>
            <a:ext cx="225877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33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유관부서 및 협력업체와 공정별 일정 공유</a:t>
            </a:r>
            <a:endParaRPr lang="en-US" sz="1100" dirty="0"/>
          </a:p>
        </p:txBody>
      </p:sp>
      <p:sp>
        <p:nvSpPr>
          <p:cNvPr id="118" name="선후행 공정 간 작업 조건 확인 및 조율"/>
          <p:cNvSpPr txBox="1"/>
          <p:nvPr/>
        </p:nvSpPr>
        <p:spPr>
          <a:xfrm>
            <a:off x="4978400" y="2556371"/>
            <a:ext cx="20751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33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선후행 공정 간 작업 조건 확인 및 조율</a:t>
            </a:r>
            <a:endParaRPr lang="en-US" sz="1100" dirty="0"/>
          </a:p>
        </p:txBody>
      </p:sp>
      <p:sp>
        <p:nvSpPr>
          <p:cNvPr id="119" name="기술"/>
          <p:cNvSpPr txBox="1"/>
          <p:nvPr/>
        </p:nvSpPr>
        <p:spPr>
          <a:xfrm>
            <a:off x="4127302" y="4089301"/>
            <a:ext cx="305098" cy="1841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200" spc="-36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기술</a:t>
            </a:r>
            <a:endParaRPr lang="en-US" sz="1200" dirty="0"/>
          </a:p>
        </p:txBody>
      </p:sp>
      <p:sp>
        <p:nvSpPr>
          <p:cNvPr id="120" name="STEP 03"/>
          <p:cNvSpPr txBox="1"/>
          <p:nvPr/>
        </p:nvSpPr>
        <p:spPr>
          <a:xfrm>
            <a:off x="4902200" y="3757216"/>
            <a:ext cx="550466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68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STEP 03</a:t>
            </a:r>
            <a:endParaRPr lang="en-US" sz="850" dirty="0"/>
          </a:p>
        </p:txBody>
      </p:sp>
      <p:sp>
        <p:nvSpPr>
          <p:cNvPr id="121" name="TECH"/>
          <p:cNvSpPr txBox="1"/>
          <p:nvPr/>
        </p:nvSpPr>
        <p:spPr>
          <a:xfrm>
            <a:off x="5566966" y="3757216"/>
            <a:ext cx="403523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119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TECH</a:t>
            </a:r>
            <a:endParaRPr lang="en-US" sz="850" dirty="0"/>
          </a:p>
        </p:txBody>
      </p:sp>
      <p:sp>
        <p:nvSpPr>
          <p:cNvPr id="122" name="기술을 연결하겠습니다."/>
          <p:cNvSpPr txBox="1"/>
          <p:nvPr/>
        </p:nvSpPr>
        <p:spPr>
          <a:xfrm>
            <a:off x="4813300" y="4008041"/>
            <a:ext cx="1646886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spc="-49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기술을 연결하겠습니다.</a:t>
            </a:r>
            <a:endParaRPr lang="en-US" sz="1400" dirty="0"/>
          </a:p>
        </p:txBody>
      </p:sp>
      <p:sp>
        <p:nvSpPr>
          <p:cNvPr id="123" name="BIM 기반 간섭 · 시공성 검토 지원"/>
          <p:cNvSpPr txBox="1"/>
          <p:nvPr/>
        </p:nvSpPr>
        <p:spPr>
          <a:xfrm>
            <a:off x="4978400" y="4378821"/>
            <a:ext cx="1827887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33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BIM 기반 간섭 · 시공성 검토 지원</a:t>
            </a:r>
            <a:endParaRPr lang="en-US" sz="1100" dirty="0"/>
          </a:p>
        </p:txBody>
      </p:sp>
      <p:sp>
        <p:nvSpPr>
          <p:cNvPr id="124" name="AI 기반 반복 업무 자동화 방안 발굴"/>
          <p:cNvSpPr txBox="1"/>
          <p:nvPr/>
        </p:nvSpPr>
        <p:spPr>
          <a:xfrm>
            <a:off x="4978400" y="4639171"/>
            <a:ext cx="1923699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33" kern="0" dirty="0">
                <a:solidFill>
                  <a:srgbClr val="3D475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AI 기반 반복 업무 자동화 방안 발굴</a:t>
            </a:r>
            <a:endParaRPr lang="en-US" sz="1100" dirty="0"/>
          </a:p>
        </p:txBody>
      </p:sp>
      <p:sp>
        <p:nvSpPr>
          <p:cNvPr id="125" name="STEP 04"/>
          <p:cNvSpPr txBox="1"/>
          <p:nvPr/>
        </p:nvSpPr>
        <p:spPr>
          <a:xfrm>
            <a:off x="8280400" y="1674416"/>
            <a:ext cx="552847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68" kern="0" dirty="0">
                <a:solidFill>
                  <a:srgbClr val="0B2147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STEP 04</a:t>
            </a:r>
            <a:endParaRPr lang="en-US" sz="850" dirty="0"/>
          </a:p>
        </p:txBody>
      </p:sp>
      <p:sp>
        <p:nvSpPr>
          <p:cNvPr id="126" name="IMPROVE"/>
          <p:cNvSpPr txBox="1"/>
          <p:nvPr/>
        </p:nvSpPr>
        <p:spPr>
          <a:xfrm>
            <a:off x="8947547" y="1674416"/>
            <a:ext cx="641747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850" spc="119" kern="0" dirty="0">
                <a:solidFill>
                  <a:srgbClr val="FDBB30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IMPROVE</a:t>
            </a:r>
            <a:endParaRPr lang="en-US" sz="850" dirty="0"/>
          </a:p>
        </p:txBody>
      </p:sp>
      <p:sp>
        <p:nvSpPr>
          <p:cNvPr id="127" name="작은 개선부터 변화를 만들겠습니다."/>
          <p:cNvSpPr txBox="1"/>
          <p:nvPr/>
        </p:nvSpPr>
        <p:spPr>
          <a:xfrm>
            <a:off x="8191500" y="1925241"/>
            <a:ext cx="2677991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500" spc="-53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작은 개선부터 변화를 만들겠습니다.</a:t>
            </a:r>
            <a:endParaRPr lang="en-US" sz="1500" dirty="0"/>
          </a:p>
        </p:txBody>
      </p:sp>
      <p:sp>
        <p:nvSpPr>
          <p:cNvPr id="128" name="문제 해결"/>
          <p:cNvSpPr txBox="1"/>
          <p:nvPr/>
        </p:nvSpPr>
        <p:spPr>
          <a:xfrm>
            <a:off x="8541941" y="2960291"/>
            <a:ext cx="505619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000" spc="-20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문제 해결</a:t>
            </a:r>
            <a:endParaRPr lang="en-US" sz="1000" dirty="0"/>
          </a:p>
        </p:txBody>
      </p:sp>
      <p:sp>
        <p:nvSpPr>
          <p:cNvPr id="129" name="변화"/>
          <p:cNvSpPr txBox="1"/>
          <p:nvPr/>
        </p:nvSpPr>
        <p:spPr>
          <a:xfrm>
            <a:off x="9545935" y="3026370"/>
            <a:ext cx="38993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ko-KR" altLang="en-US" sz="1600" spc="-48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변화</a:t>
            </a:r>
            <a:endParaRPr lang="en-US" sz="1600" dirty="0"/>
          </a:p>
        </p:txBody>
      </p:sp>
      <p:sp>
        <p:nvSpPr>
          <p:cNvPr id="130" name="공정 개선"/>
          <p:cNvSpPr txBox="1"/>
          <p:nvPr/>
        </p:nvSpPr>
        <p:spPr>
          <a:xfrm>
            <a:off x="10731500" y="2452588"/>
            <a:ext cx="55205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공정 개선</a:t>
            </a:r>
            <a:endParaRPr lang="en-US" sz="1100" dirty="0"/>
          </a:p>
        </p:txBody>
      </p:sp>
      <p:sp>
        <p:nvSpPr>
          <p:cNvPr id="131" name="품질 개선"/>
          <p:cNvSpPr txBox="1"/>
          <p:nvPr/>
        </p:nvSpPr>
        <p:spPr>
          <a:xfrm>
            <a:off x="10731500" y="2782788"/>
            <a:ext cx="55205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품질 개선</a:t>
            </a:r>
            <a:endParaRPr lang="en-US" sz="1100" dirty="0"/>
          </a:p>
        </p:txBody>
      </p:sp>
      <p:sp>
        <p:nvSpPr>
          <p:cNvPr id="132" name="안전 개선"/>
          <p:cNvSpPr txBox="1"/>
          <p:nvPr/>
        </p:nvSpPr>
        <p:spPr>
          <a:xfrm>
            <a:off x="10731500" y="3112988"/>
            <a:ext cx="55205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안전 개선</a:t>
            </a:r>
            <a:endParaRPr lang="en-US" sz="1100" dirty="0"/>
          </a:p>
        </p:txBody>
      </p:sp>
      <p:sp>
        <p:nvSpPr>
          <p:cNvPr id="133" name="생산성 개선"/>
          <p:cNvSpPr txBox="1"/>
          <p:nvPr/>
        </p:nvSpPr>
        <p:spPr>
          <a:xfrm>
            <a:off x="10731500" y="3443188"/>
            <a:ext cx="6699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b="1" spc="-22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생산성 개선</a:t>
            </a:r>
            <a:endParaRPr lang="en-US" sz="1100" dirty="0"/>
          </a:p>
        </p:txBody>
      </p:sp>
      <p:sp>
        <p:nvSpPr>
          <p:cNvPr id="134" name="공정 간 간섭 사전 발견 → 재작업 감소"/>
          <p:cNvSpPr txBox="1"/>
          <p:nvPr/>
        </p:nvSpPr>
        <p:spPr>
          <a:xfrm>
            <a:off x="8331200" y="4376341"/>
            <a:ext cx="2080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33" kern="0" dirty="0">
                <a:solidFill>
                  <a:srgbClr val="FFFFFF">
                    <a:alpha val="86000"/>
                  </a:srgbClr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공정 간 간섭 사전 발견 </a:t>
            </a:r>
            <a:pPr algn="l" indent="0" marL="0">
              <a:buNone/>
            </a:pPr>
            <a:r>
              <a:rPr lang="ko-KR" altLang="en-US" sz="1100" b="1" spc="-33" kern="0" dirty="0">
                <a:solidFill>
                  <a:srgbClr val="8FD3F5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→</a:t>
            </a:r>
            <a:pPr algn="l" indent="0" marL="0">
              <a:buNone/>
            </a:pPr>
            <a:r>
              <a:rPr lang="ko-KR" altLang="en-US" sz="1100" spc="-33" kern="0" dirty="0">
                <a:solidFill>
                  <a:srgbClr val="FFFFFF">
                    <a:alpha val="86000"/>
                  </a:srgbClr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 </a:t>
            </a:r>
            <a:pPr algn="l" indent="0" marL="0">
              <a:buNone/>
            </a:pPr>
            <a:r>
              <a:rPr lang="ko-KR" altLang="en-US" sz="1100" spc="-33" kern="0" dirty="0">
                <a:solidFill>
                  <a:srgbClr val="FDBB30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재작업 감소</a:t>
            </a:r>
            <a:endParaRPr lang="en-US" sz="1100" dirty="0"/>
          </a:p>
        </p:txBody>
      </p:sp>
      <p:sp>
        <p:nvSpPr>
          <p:cNvPr id="135" name="반복 업무 효율화 → 본연의 업무에 집중"/>
          <p:cNvSpPr txBox="1"/>
          <p:nvPr/>
        </p:nvSpPr>
        <p:spPr>
          <a:xfrm>
            <a:off x="8331200" y="4636691"/>
            <a:ext cx="216948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100" spc="-33" kern="0" dirty="0">
                <a:solidFill>
                  <a:srgbClr val="FFFFFF">
                    <a:alpha val="86000"/>
                  </a:srgbClr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반복 업무 효율화 </a:t>
            </a:r>
            <a:pPr algn="l" indent="0" marL="0">
              <a:buNone/>
            </a:pPr>
            <a:r>
              <a:rPr lang="ko-KR" altLang="en-US" sz="1100" b="1" spc="-33" kern="0" dirty="0">
                <a:solidFill>
                  <a:srgbClr val="8FD3F5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→</a:t>
            </a:r>
            <a:pPr algn="l" indent="0" marL="0">
              <a:buNone/>
            </a:pPr>
            <a:r>
              <a:rPr lang="ko-KR" altLang="en-US" sz="1100" spc="-33" kern="0" dirty="0">
                <a:solidFill>
                  <a:srgbClr val="FFFFFF">
                    <a:alpha val="86000"/>
                  </a:srgbClr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 </a:t>
            </a:r>
            <a:pPr algn="l" indent="0" marL="0">
              <a:buNone/>
            </a:pPr>
            <a:r>
              <a:rPr lang="ko-KR" altLang="en-US" sz="1100" spc="-33" kern="0" dirty="0">
                <a:solidFill>
                  <a:srgbClr val="FDBB30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본연의 업무에 집중</a:t>
            </a:r>
            <a:endParaRPr lang="en-US" sz="1100" dirty="0"/>
          </a:p>
        </p:txBody>
      </p:sp>
      <p:sp>
        <p:nvSpPr>
          <p:cNvPr id="136" name="사람과 기술을 연결해 현장의 변화를 만들어가며, 현대엔지니어링의 Mean"/>
          <p:cNvSpPr txBox="1"/>
          <p:nvPr/>
        </p:nvSpPr>
        <p:spPr>
          <a:xfrm>
            <a:off x="1257300" y="5869384"/>
            <a:ext cx="7656618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1400" b="1" spc="-49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사람과 기술을 연결해 </a:t>
            </a:r>
            <a:pPr algn="l" indent="0" marL="0">
              <a:buNone/>
            </a:pPr>
            <a:r>
              <a:rPr lang="ko-KR" altLang="en-US" sz="1400" b="1" spc="-49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현장의 변화</a:t>
            </a:r>
            <a:pPr algn="l" indent="0" marL="0">
              <a:buNone/>
            </a:pPr>
            <a:r>
              <a:rPr lang="ko-KR" altLang="en-US" sz="1400" b="1" spc="-49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를 만들어가며, 현대엔지니어링의 </a:t>
            </a:r>
            <a:pPr algn="l" indent="0" marL="0">
              <a:buNone/>
            </a:pPr>
            <a:r>
              <a:rPr lang="ko-KR" altLang="en-US" sz="1400" b="1" spc="-49" kern="0" dirty="0">
                <a:solidFill>
                  <a:srgbClr val="FDBB30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Meaningful Journey</a:t>
            </a:r>
            <a:pPr algn="l" indent="0" marL="0">
              <a:buNone/>
            </a:pPr>
            <a:r>
              <a:rPr lang="ko-KR" altLang="en-US" sz="1400" b="1" spc="-49" kern="0" dirty="0">
                <a:solidFill>
                  <a:srgbClr val="FFFFFF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에 함께하겠습니다.</a:t>
            </a:r>
            <a:endParaRPr lang="en-US" sz="1400" dirty="0"/>
          </a:p>
        </p:txBody>
      </p:sp>
      <p:sp>
        <p:nvSpPr>
          <p:cNvPr id="137" name="2026년 하반기 신입사원 공개채용 | 공사관리 건축 직무 지원자 이현준"/>
          <p:cNvSpPr txBox="1"/>
          <p:nvPr/>
        </p:nvSpPr>
        <p:spPr>
          <a:xfrm>
            <a:off x="508000" y="6527205"/>
            <a:ext cx="327368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-9" kern="0" dirty="0">
                <a:solidFill>
                  <a:srgbClr val="6A7487"/>
                </a:solidFill>
                <a:latin typeface="Pretendard Medium" pitchFamily="34" charset="0"/>
                <a:ea typeface="Pretendard Medium" pitchFamily="34" charset="-127"/>
                <a:cs typeface="Pretendard Medium" pitchFamily="34" charset="-120"/>
              </a:rPr>
              <a:t>2026년 하반기 신입사원 공개채용 | 공사관리 건축 직무 지원자 이현준</a:t>
            </a:r>
            <a:endParaRPr lang="en-US" sz="900" dirty="0"/>
          </a:p>
        </p:txBody>
      </p:sp>
      <p:sp>
        <p:nvSpPr>
          <p:cNvPr id="138" name="03 / 03"/>
          <p:cNvSpPr txBox="1"/>
          <p:nvPr/>
        </p:nvSpPr>
        <p:spPr>
          <a:xfrm>
            <a:off x="11240492" y="6527205"/>
            <a:ext cx="494308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ko-KR" altLang="en-US" sz="900" spc="54" kern="0" dirty="0">
                <a:solidFill>
                  <a:srgbClr val="004B8D"/>
                </a:solidFill>
                <a:latin typeface="Pretendard ExtraBold" pitchFamily="34" charset="0"/>
                <a:ea typeface="Pretendard ExtraBold" pitchFamily="34" charset="-127"/>
                <a:cs typeface="Pretendard ExtraBold" pitchFamily="34" charset="-120"/>
              </a:rPr>
              <a:t>03</a:t>
            </a:r>
            <a:pPr algn="l" indent="0" marL="0">
              <a:buNone/>
            </a:pPr>
            <a:r>
              <a:rPr lang="ko-KR" altLang="en-US" sz="900" b="1" spc="54" kern="0" dirty="0">
                <a:solidFill>
                  <a:srgbClr val="3D4757"/>
                </a:solidFill>
                <a:latin typeface="Pretendard" pitchFamily="34" charset="0"/>
                <a:ea typeface="Pretendard" pitchFamily="34" charset="-127"/>
                <a:cs typeface="Pretendard" pitchFamily="34" charset="-120"/>
              </a:rPr>
              <a:t> / 03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 ExtraBold"/>
        <a:ea typeface="Pretendard Medium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 Medium"/>
        <a:ea typeface="Pretendard Medium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현대엔지니어링 PT · 가로형</dc:title>
  <dc:subject>PptxGenJS Presentation</dc:subject>
  <dc:creator>PptxGenJS</dc:creator>
  <cp:lastModifiedBy>PptxGenJS</cp:lastModifiedBy>
  <cp:revision>1</cp:revision>
  <dcterms:created xsi:type="dcterms:W3CDTF">2026-10-11T12:43:53Z</dcterms:created>
  <dcterms:modified xsi:type="dcterms:W3CDTF">2026-10-11T12:43:53Z</dcterms:modified>
</cp:coreProperties>
</file>