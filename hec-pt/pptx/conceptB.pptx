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학부 시절 여러 팀 프로젝트를 수행하며 처음에는 각자 맡은 역할만 잘 수행하는 것이 협업이라고 생각했습니다.
그러나 프로젝트를 거듭하며 개인의 역할 수행만큼 팀이 같은 목표와 방향을 공유하는 것이 중요함을 깨달았습니다.
학생 BIM 경진대회에서 이를 실천했습니다.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‘우리’는 다양한 사람과 전문성의 연결, ‘기술’은 새로운 가치를 만들어 미래 사업으로 연결하는 원동력입니다.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제가 만들고 싶은 현장의 변화는 거창한 기술 혁신만을 의미하지 않습니다. 공정 간 간섭을 사전에 발견해 재작업을 줄이고, 반복 업무를 효율화해 현장 구성원들이 본연의 업무에 집중할 수 있도록 만드는 작은 개선부터 시작하겠습니다.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"/>
          <p:cNvSpPr/>
          <p:nvPr/>
        </p:nvSpPr>
        <p:spPr>
          <a:xfrm>
            <a:off x="508000" y="339725"/>
            <a:ext cx="63500" cy="6350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4" name="b"/>
          <p:cNvSpPr/>
          <p:nvPr/>
        </p:nvSpPr>
        <p:spPr>
          <a:xfrm>
            <a:off x="571500" y="365125"/>
            <a:ext cx="88900" cy="12700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5" name="i"/>
          <p:cNvSpPr/>
          <p:nvPr/>
        </p:nvSpPr>
        <p:spPr>
          <a:xfrm>
            <a:off x="660400" y="339725"/>
            <a:ext cx="63500" cy="6350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6" name="b"/>
          <p:cNvSpPr/>
          <p:nvPr/>
        </p:nvSpPr>
        <p:spPr>
          <a:xfrm>
            <a:off x="723900" y="365125"/>
            <a:ext cx="88900" cy="12700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7" name="i"/>
          <p:cNvSpPr/>
          <p:nvPr/>
        </p:nvSpPr>
        <p:spPr>
          <a:xfrm>
            <a:off x="812800" y="339725"/>
            <a:ext cx="63500" cy="63500"/>
          </a:xfrm>
          <a:prstGeom prst="ellipse">
            <a:avLst/>
          </a:prstGeom>
          <a:solidFill>
            <a:srgbClr val="FDBB30"/>
          </a:solidFill>
          <a:ln/>
        </p:spPr>
      </p:sp>
      <p:pic>
        <p:nvPicPr>
          <p:cNvPr id="8" name="hd-no" descr="hd-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100" y="317500"/>
            <a:ext cx="6350" cy="101600"/>
          </a:xfrm>
          <a:prstGeom prst="rect">
            <a:avLst/>
          </a:prstGeom>
        </p:spPr>
      </p:pic>
      <p:pic>
        <p:nvPicPr>
          <p:cNvPr id="9" name="img" descr="im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5535" y="237662"/>
            <a:ext cx="1526117" cy="268817"/>
          </a:xfrm>
          <a:prstGeom prst="rect">
            <a:avLst/>
          </a:prstGeom>
        </p:spPr>
      </p:pic>
      <p:sp>
        <p:nvSpPr>
          <p:cNvPr id="10" name="p1-tile p1-val"/>
          <p:cNvSpPr/>
          <p:nvPr/>
        </p:nvSpPr>
        <p:spPr>
          <a:xfrm>
            <a:off x="508000" y="1436291"/>
            <a:ext cx="11176000" cy="558800"/>
          </a:xfrm>
          <a:prstGeom prst="roundRect">
            <a:avLst>
              <a:gd name="adj" fmla="val 27273"/>
            </a:avLst>
          </a:prstGeom>
          <a:solidFill>
            <a:srgbClr val="F3F6FA"/>
          </a:solidFill>
          <a:ln/>
        </p:spPr>
      </p:sp>
      <p:pic>
        <p:nvPicPr>
          <p:cNvPr id="11" name="p1-val-lab" descr="p1-val-la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400" y="1548474"/>
            <a:ext cx="6350" cy="330200"/>
          </a:xfrm>
          <a:prstGeom prst="rect">
            <a:avLst/>
          </a:prstGeom>
        </p:spPr>
      </p:pic>
      <p:sp>
        <p:nvSpPr>
          <p:cNvPr id="12" name="p1-ba"/>
          <p:cNvSpPr/>
          <p:nvPr/>
        </p:nvSpPr>
        <p:spPr>
          <a:xfrm>
            <a:off x="1986161" y="1614091"/>
            <a:ext cx="639862" cy="203200"/>
          </a:xfrm>
          <a:prstGeom prst="roundRect">
            <a:avLst>
              <a:gd name="adj" fmla="val 50000"/>
            </a:avLst>
          </a:prstGeom>
          <a:solidFill>
            <a:srgbClr val="6A7487"/>
          </a:solidFill>
          <a:ln/>
        </p:spPr>
      </p:sp>
      <p:sp>
        <p:nvSpPr>
          <p:cNvPr id="13" name="i"/>
          <p:cNvSpPr/>
          <p:nvPr/>
        </p:nvSpPr>
        <p:spPr>
          <a:xfrm>
            <a:off x="4606330" y="1709341"/>
            <a:ext cx="1279624" cy="12700"/>
          </a:xfrm>
          <a:prstGeom prst="roundRect">
            <a:avLst>
              <a:gd name="adj" fmla="val 50000"/>
            </a:avLst>
          </a:prstGeom>
          <a:solidFill>
            <a:srgbClr val="C3CEDD"/>
          </a:solidFill>
          <a:ln/>
        </p:spPr>
      </p:sp>
      <p:pic>
        <p:nvPicPr>
          <p:cNvPr id="14" name="svg" descr="sv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9021" y="1671241"/>
            <a:ext cx="50800" cy="84667"/>
          </a:xfrm>
          <a:prstGeom prst="rect">
            <a:avLst/>
          </a:prstGeom>
        </p:spPr>
      </p:pic>
      <p:pic>
        <p:nvPicPr>
          <p:cNvPr id="15" name="ring" descr="r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254" y="1586574"/>
            <a:ext cx="254000" cy="254000"/>
          </a:xfrm>
          <a:prstGeom prst="rect">
            <a:avLst/>
          </a:prstGeom>
        </p:spPr>
      </p:pic>
      <p:pic>
        <p:nvPicPr>
          <p:cNvPr id="16" name="svg" descr="sv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7987" y="1654307"/>
            <a:ext cx="118533" cy="118533"/>
          </a:xfrm>
          <a:prstGeom prst="rect">
            <a:avLst/>
          </a:prstGeom>
        </p:spPr>
      </p:pic>
      <p:pic>
        <p:nvPicPr>
          <p:cNvPr id="17" name="i" descr="i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139" y="1707224"/>
            <a:ext cx="1276350" cy="12700"/>
          </a:xfrm>
          <a:prstGeom prst="rect">
            <a:avLst/>
          </a:prstGeom>
        </p:spPr>
      </p:pic>
      <p:pic>
        <p:nvPicPr>
          <p:cNvPr id="18" name="svg" descr="sv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0714" y="1671241"/>
            <a:ext cx="50800" cy="84667"/>
          </a:xfrm>
          <a:prstGeom prst="rect">
            <a:avLst/>
          </a:prstGeom>
        </p:spPr>
      </p:pic>
      <p:pic>
        <p:nvPicPr>
          <p:cNvPr id="19" name="p1-st after" descr="p1-st afte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1048" y="1455341"/>
            <a:ext cx="3136900" cy="539750"/>
          </a:xfrm>
          <a:prstGeom prst="rect">
            <a:avLst/>
          </a:prstGeom>
        </p:spPr>
      </p:pic>
      <p:sp>
        <p:nvSpPr>
          <p:cNvPr id="20" name="p1-ba"/>
          <p:cNvSpPr/>
          <p:nvPr/>
        </p:nvSpPr>
        <p:spPr>
          <a:xfrm>
            <a:off x="8718848" y="1614091"/>
            <a:ext cx="566043" cy="203200"/>
          </a:xfrm>
          <a:prstGeom prst="roundRect">
            <a:avLst>
              <a:gd name="adj" fmla="val 50000"/>
            </a:avLst>
          </a:prstGeom>
          <a:solidFill>
            <a:srgbClr val="0B2147"/>
          </a:solidFill>
          <a:ln/>
        </p:spPr>
      </p:sp>
      <p:sp>
        <p:nvSpPr>
          <p:cNvPr id="21" name="i"/>
          <p:cNvSpPr/>
          <p:nvPr/>
        </p:nvSpPr>
        <p:spPr>
          <a:xfrm>
            <a:off x="1039019" y="2179241"/>
            <a:ext cx="6350" cy="101600"/>
          </a:xfrm>
          <a:prstGeom prst="roundRect">
            <a:avLst/>
          </a:prstGeom>
          <a:solidFill>
            <a:srgbClr val="C3CEDD"/>
          </a:solidFill>
          <a:ln/>
        </p:spPr>
      </p:sp>
      <p:sp>
        <p:nvSpPr>
          <p:cNvPr id="22" name="p1-tile p1-c1"/>
          <p:cNvSpPr/>
          <p:nvPr/>
        </p:nvSpPr>
        <p:spPr>
          <a:xfrm>
            <a:off x="508000" y="2414191"/>
            <a:ext cx="3556000" cy="3947914"/>
          </a:xfrm>
          <a:prstGeom prst="roundRect">
            <a:avLst>
              <a:gd name="adj" fmla="val 4286"/>
            </a:avLst>
          </a:prstGeom>
          <a:solidFill>
            <a:srgbClr val="F3F6FA"/>
          </a:solidFill>
          <a:ln/>
        </p:spPr>
      </p:sp>
      <p:pic>
        <p:nvPicPr>
          <p:cNvPr id="23" name="p1-no" descr="p1-no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200" y="2615274"/>
            <a:ext cx="254000" cy="254000"/>
          </a:xfrm>
          <a:prstGeom prst="rect">
            <a:avLst/>
          </a:prstGeom>
        </p:spPr>
      </p:pic>
      <p:pic>
        <p:nvPicPr>
          <p:cNvPr id="24" name="svg" descr="sv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533" y="3438657"/>
            <a:ext cx="3064933" cy="1341967"/>
          </a:xfrm>
          <a:prstGeom prst="rect">
            <a:avLst/>
          </a:prstGeom>
        </p:spPr>
      </p:pic>
      <p:sp>
        <p:nvSpPr>
          <p:cNvPr id="25" name="p1-at p1-tag"/>
          <p:cNvSpPr/>
          <p:nvPr/>
        </p:nvSpPr>
        <p:spPr>
          <a:xfrm>
            <a:off x="1413024" y="3023791"/>
            <a:ext cx="1745952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26" name="svg" descr="sv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10390" y="3083057"/>
            <a:ext cx="107950" cy="105833"/>
          </a:xfrm>
          <a:prstGeom prst="rect">
            <a:avLst/>
          </a:prstGeom>
        </p:spPr>
      </p:pic>
      <p:sp>
        <p:nvSpPr>
          <p:cNvPr id="27" name="p1-op"/>
          <p:cNvSpPr/>
          <p:nvPr/>
        </p:nvSpPr>
        <p:spPr>
          <a:xfrm>
            <a:off x="841375" y="3357166"/>
            <a:ext cx="1060450" cy="298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3CEDD"/>
            </a:solidFill>
            <a:prstDash val="solid"/>
          </a:ln>
        </p:spPr>
      </p:sp>
      <p:sp>
        <p:nvSpPr>
          <p:cNvPr id="28" name="i"/>
          <p:cNvSpPr/>
          <p:nvPr/>
        </p:nvSpPr>
        <p:spPr>
          <a:xfrm>
            <a:off x="1121370" y="3474641"/>
            <a:ext cx="63500" cy="6350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29" name="p1-op"/>
          <p:cNvSpPr/>
          <p:nvPr/>
        </p:nvSpPr>
        <p:spPr>
          <a:xfrm>
            <a:off x="2670175" y="3357166"/>
            <a:ext cx="1060450" cy="298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3CEDD"/>
            </a:solidFill>
            <a:prstDash val="solid"/>
          </a:ln>
        </p:spPr>
      </p:sp>
      <p:sp>
        <p:nvSpPr>
          <p:cNvPr id="30" name="i"/>
          <p:cNvSpPr/>
          <p:nvPr/>
        </p:nvSpPr>
        <p:spPr>
          <a:xfrm>
            <a:off x="2805509" y="3474641"/>
            <a:ext cx="63500" cy="6350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31" name="p1-vs"/>
          <p:cNvSpPr/>
          <p:nvPr/>
        </p:nvSpPr>
        <p:spPr>
          <a:xfrm>
            <a:off x="2133600" y="3353991"/>
            <a:ext cx="304800" cy="304800"/>
          </a:xfrm>
          <a:prstGeom prst="ellipse">
            <a:avLst/>
          </a:prstGeom>
          <a:solidFill>
            <a:srgbClr val="0B2147"/>
          </a:solidFill>
          <a:ln/>
        </p:spPr>
      </p:sp>
      <p:sp>
        <p:nvSpPr>
          <p:cNvPr id="32" name="p1-at p1-crit-t"/>
          <p:cNvSpPr/>
          <p:nvPr/>
        </p:nvSpPr>
        <p:spPr>
          <a:xfrm>
            <a:off x="1824137" y="3925491"/>
            <a:ext cx="923727" cy="215900"/>
          </a:xfrm>
          <a:prstGeom prst="roundRect">
            <a:avLst>
              <a:gd name="adj" fmla="val 50000"/>
            </a:avLst>
          </a:prstGeom>
          <a:solidFill>
            <a:srgbClr val="004B8D"/>
          </a:solidFill>
          <a:ln/>
        </p:spPr>
      </p:sp>
      <p:sp>
        <p:nvSpPr>
          <p:cNvPr id="33" name="b"/>
          <p:cNvSpPr/>
          <p:nvPr/>
        </p:nvSpPr>
        <p:spPr>
          <a:xfrm>
            <a:off x="878483" y="4217591"/>
            <a:ext cx="165100" cy="16510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34" name="b"/>
          <p:cNvSpPr/>
          <p:nvPr/>
        </p:nvSpPr>
        <p:spPr>
          <a:xfrm>
            <a:off x="2693293" y="4217591"/>
            <a:ext cx="165100" cy="165100"/>
          </a:xfrm>
          <a:prstGeom prst="ellipse">
            <a:avLst/>
          </a:prstGeom>
          <a:solidFill>
            <a:srgbClr val="004B8D"/>
          </a:solidFill>
          <a:ln/>
        </p:spPr>
      </p:sp>
      <p:pic>
        <p:nvPicPr>
          <p:cNvPr id="35" name="p1-topic" descr="p1-topic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000" y="4884341"/>
            <a:ext cx="3302000" cy="1346200"/>
          </a:xfrm>
          <a:prstGeom prst="rect">
            <a:avLst/>
          </a:prstGeom>
        </p:spPr>
      </p:pic>
      <p:pic>
        <p:nvPicPr>
          <p:cNvPr id="36" name="p" descr="p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9000" y="5594185"/>
            <a:ext cx="2794000" cy="6350"/>
          </a:xfrm>
          <a:prstGeom prst="rect">
            <a:avLst/>
          </a:prstGeom>
        </p:spPr>
      </p:pic>
      <p:sp>
        <p:nvSpPr>
          <p:cNvPr id="37" name="p1-tile p1-c2"/>
          <p:cNvSpPr/>
          <p:nvPr/>
        </p:nvSpPr>
        <p:spPr>
          <a:xfrm>
            <a:off x="4216400" y="2414191"/>
            <a:ext cx="4216400" cy="3033514"/>
          </a:xfrm>
          <a:prstGeom prst="roundRect">
            <a:avLst>
              <a:gd name="adj" fmla="val 5024"/>
            </a:avLst>
          </a:prstGeom>
          <a:solidFill>
            <a:srgbClr val="F3F6FA"/>
          </a:solidFill>
          <a:ln/>
        </p:spPr>
      </p:sp>
      <p:pic>
        <p:nvPicPr>
          <p:cNvPr id="38" name="p1-no" descr="p1-no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19600" y="2615274"/>
            <a:ext cx="254000" cy="254000"/>
          </a:xfrm>
          <a:prstGeom prst="rect">
            <a:avLst/>
          </a:prstGeom>
        </p:spPr>
      </p:pic>
      <p:pic>
        <p:nvPicPr>
          <p:cNvPr id="39" name="svg" descr="sv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79433" y="3140207"/>
            <a:ext cx="3090333" cy="1667933"/>
          </a:xfrm>
          <a:prstGeom prst="rect">
            <a:avLst/>
          </a:prstGeom>
        </p:spPr>
      </p:pic>
      <p:pic>
        <p:nvPicPr>
          <p:cNvPr id="40" name="p1-card" descr="p1-card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43400" y="2977224"/>
            <a:ext cx="1600200" cy="986367"/>
          </a:xfrm>
          <a:prstGeom prst="rect">
            <a:avLst/>
          </a:prstGeom>
        </p:spPr>
      </p:pic>
      <p:sp>
        <p:nvSpPr>
          <p:cNvPr id="41" name="p1-av"/>
          <p:cNvSpPr/>
          <p:nvPr/>
        </p:nvSpPr>
        <p:spPr>
          <a:xfrm>
            <a:off x="4533900" y="3177381"/>
            <a:ext cx="63500" cy="6350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42" name="p1-me"/>
          <p:cNvSpPr/>
          <p:nvPr/>
        </p:nvSpPr>
        <p:spPr>
          <a:xfrm>
            <a:off x="4934942" y="3132931"/>
            <a:ext cx="152400" cy="152400"/>
          </a:xfrm>
          <a:prstGeom prst="ellipse">
            <a:avLst/>
          </a:prstGeom>
          <a:solidFill>
            <a:srgbClr val="0B2147"/>
          </a:solidFill>
          <a:ln/>
        </p:spPr>
      </p:sp>
      <p:pic>
        <p:nvPicPr>
          <p:cNvPr id="43" name="p1-card" descr="p1-card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05600" y="2977224"/>
            <a:ext cx="1600200" cy="986367"/>
          </a:xfrm>
          <a:prstGeom prst="rect">
            <a:avLst/>
          </a:prstGeom>
        </p:spPr>
      </p:pic>
      <p:sp>
        <p:nvSpPr>
          <p:cNvPr id="44" name="p1-av"/>
          <p:cNvSpPr/>
          <p:nvPr/>
        </p:nvSpPr>
        <p:spPr>
          <a:xfrm>
            <a:off x="6896100" y="3177381"/>
            <a:ext cx="63500" cy="63500"/>
          </a:xfrm>
          <a:prstGeom prst="ellipse">
            <a:avLst/>
          </a:prstGeom>
          <a:solidFill>
            <a:srgbClr val="00A94F"/>
          </a:solidFill>
          <a:ln/>
        </p:spPr>
      </p:sp>
      <p:pic>
        <p:nvPicPr>
          <p:cNvPr id="45" name="p1-card" descr="p1-card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43400" y="4018624"/>
            <a:ext cx="1600200" cy="986367"/>
          </a:xfrm>
          <a:prstGeom prst="rect">
            <a:avLst/>
          </a:prstGeom>
        </p:spPr>
      </p:pic>
      <p:sp>
        <p:nvSpPr>
          <p:cNvPr id="46" name="p1-av"/>
          <p:cNvSpPr/>
          <p:nvPr/>
        </p:nvSpPr>
        <p:spPr>
          <a:xfrm>
            <a:off x="4533900" y="4218781"/>
            <a:ext cx="63500" cy="63500"/>
          </a:xfrm>
          <a:prstGeom prst="ellipse">
            <a:avLst/>
          </a:prstGeom>
          <a:solidFill>
            <a:srgbClr val="00A94F"/>
          </a:solidFill>
          <a:ln/>
        </p:spPr>
      </p:sp>
      <p:pic>
        <p:nvPicPr>
          <p:cNvPr id="47" name="p1-card" descr="p1-card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05600" y="4018624"/>
            <a:ext cx="1600200" cy="986367"/>
          </a:xfrm>
          <a:prstGeom prst="rect">
            <a:avLst/>
          </a:prstGeom>
        </p:spPr>
      </p:pic>
      <p:sp>
        <p:nvSpPr>
          <p:cNvPr id="48" name="p1-av"/>
          <p:cNvSpPr/>
          <p:nvPr/>
        </p:nvSpPr>
        <p:spPr>
          <a:xfrm>
            <a:off x="6896100" y="4218781"/>
            <a:ext cx="63500" cy="63500"/>
          </a:xfrm>
          <a:prstGeom prst="ellipse">
            <a:avLst/>
          </a:prstGeom>
          <a:solidFill>
            <a:srgbClr val="00A94F"/>
          </a:solidFill>
          <a:ln/>
        </p:spPr>
      </p:sp>
      <p:pic>
        <p:nvPicPr>
          <p:cNvPr id="49" name="svg" descr="sv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72873" y="5104805"/>
            <a:ext cx="116417" cy="114300"/>
          </a:xfrm>
          <a:prstGeom prst="rect">
            <a:avLst/>
          </a:prstGeom>
        </p:spPr>
      </p:pic>
      <p:pic>
        <p:nvPicPr>
          <p:cNvPr id="50" name="p1-tile p1-c3" descr="p1-tile p1-c3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585200" y="2412074"/>
            <a:ext cx="3098800" cy="3035300"/>
          </a:xfrm>
          <a:prstGeom prst="rect">
            <a:avLst/>
          </a:prstGeom>
        </p:spPr>
      </p:pic>
      <p:pic>
        <p:nvPicPr>
          <p:cNvPr id="51" name="p1-no" descr="p1-no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788400" y="2615274"/>
            <a:ext cx="254000" cy="254000"/>
          </a:xfrm>
          <a:prstGeom prst="rect">
            <a:avLst/>
          </a:prstGeom>
        </p:spPr>
      </p:pic>
      <p:sp>
        <p:nvSpPr>
          <p:cNvPr id="52" name="p1-video"/>
          <p:cNvSpPr/>
          <p:nvPr/>
        </p:nvSpPr>
        <p:spPr>
          <a:xfrm>
            <a:off x="8788400" y="3023791"/>
            <a:ext cx="2692400" cy="1422400"/>
          </a:xfrm>
          <a:prstGeom prst="roundRect">
            <a:avLst>
              <a:gd name="adj" fmla="val 6250"/>
            </a:avLst>
          </a:prstGeom>
          <a:solidFill>
            <a:srgbClr val="23324D"/>
          </a:solidFill>
          <a:ln/>
        </p:spPr>
      </p:sp>
      <p:pic>
        <p:nvPicPr>
          <p:cNvPr id="53" name="img" descr="im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788400" y="3021674"/>
            <a:ext cx="2692400" cy="1422400"/>
          </a:xfrm>
          <a:prstGeom prst="rect">
            <a:avLst/>
          </a:prstGeom>
        </p:spPr>
      </p:pic>
      <p:sp>
        <p:nvSpPr>
          <p:cNvPr id="54" name="p1-play"/>
          <p:cNvSpPr/>
          <p:nvPr/>
        </p:nvSpPr>
        <p:spPr>
          <a:xfrm>
            <a:off x="9944100" y="3544491"/>
            <a:ext cx="381000" cy="381000"/>
          </a:xfrm>
          <a:prstGeom prst="ellipse">
            <a:avLst/>
          </a:prstGeom>
          <a:solidFill>
            <a:srgbClr val="0B2147">
              <a:alpha val="72000"/>
            </a:srgbClr>
          </a:solidFill>
          <a:ln/>
        </p:spPr>
      </p:sp>
      <p:pic>
        <p:nvPicPr>
          <p:cNvPr id="55" name="svg" descr="sv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115550" y="3682074"/>
            <a:ext cx="82550" cy="101600"/>
          </a:xfrm>
          <a:prstGeom prst="rect">
            <a:avLst/>
          </a:prstGeom>
        </p:spPr>
      </p:pic>
      <p:pic>
        <p:nvPicPr>
          <p:cNvPr id="56" name="svg" descr="sv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15917" y="4552024"/>
            <a:ext cx="74083" cy="88900"/>
          </a:xfrm>
          <a:prstGeom prst="rect">
            <a:avLst/>
          </a:prstGeom>
        </p:spPr>
      </p:pic>
      <p:pic>
        <p:nvPicPr>
          <p:cNvPr id="57" name="p1-win" descr="p1-win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88400" y="4692055"/>
            <a:ext cx="2692400" cy="6350"/>
          </a:xfrm>
          <a:prstGeom prst="rect">
            <a:avLst/>
          </a:prstGeom>
        </p:spPr>
      </p:pic>
      <p:pic>
        <p:nvPicPr>
          <p:cNvPr id="58" name="svg" descr="sv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798983" y="4789421"/>
            <a:ext cx="334433" cy="440267"/>
          </a:xfrm>
          <a:prstGeom prst="rect">
            <a:avLst/>
          </a:prstGeom>
        </p:spPr>
      </p:pic>
      <p:sp>
        <p:nvSpPr>
          <p:cNvPr id="59" name="key p1-key"/>
          <p:cNvSpPr/>
          <p:nvPr/>
        </p:nvSpPr>
        <p:spPr>
          <a:xfrm>
            <a:off x="4216400" y="5600105"/>
            <a:ext cx="7467600" cy="762000"/>
          </a:xfrm>
          <a:prstGeom prst="roundRect">
            <a:avLst>
              <a:gd name="adj" fmla="val 20000"/>
            </a:avLst>
          </a:prstGeom>
          <a:solidFill>
            <a:srgbClr val="0B2147"/>
          </a:solidFill>
          <a:ln/>
        </p:spPr>
      </p:sp>
      <p:sp>
        <p:nvSpPr>
          <p:cNvPr id="60" name="i"/>
          <p:cNvSpPr/>
          <p:nvPr/>
        </p:nvSpPr>
        <p:spPr>
          <a:xfrm>
            <a:off x="4419600" y="5949355"/>
            <a:ext cx="63500" cy="6350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61" name="b"/>
          <p:cNvSpPr/>
          <p:nvPr/>
        </p:nvSpPr>
        <p:spPr>
          <a:xfrm>
            <a:off x="4483100" y="5974755"/>
            <a:ext cx="88900" cy="12700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62" name="i"/>
          <p:cNvSpPr/>
          <p:nvPr/>
        </p:nvSpPr>
        <p:spPr>
          <a:xfrm>
            <a:off x="4572000" y="5949355"/>
            <a:ext cx="63500" cy="6350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63" name="b"/>
          <p:cNvSpPr/>
          <p:nvPr/>
        </p:nvSpPr>
        <p:spPr>
          <a:xfrm>
            <a:off x="4635500" y="5974755"/>
            <a:ext cx="88900" cy="12700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64" name="i"/>
          <p:cNvSpPr/>
          <p:nvPr/>
        </p:nvSpPr>
        <p:spPr>
          <a:xfrm>
            <a:off x="4724400" y="5949355"/>
            <a:ext cx="63500" cy="63500"/>
          </a:xfrm>
          <a:prstGeom prst="ellipse">
            <a:avLst/>
          </a:prstGeom>
          <a:solidFill>
            <a:srgbClr val="FDBB30"/>
          </a:solidFill>
          <a:ln/>
        </p:spPr>
      </p:sp>
      <p:sp>
        <p:nvSpPr>
          <p:cNvPr id="65" name="01"/>
          <p:cNvSpPr txBox="1"/>
          <p:nvPr/>
        </p:nvSpPr>
        <p:spPr>
          <a:xfrm>
            <a:off x="952500" y="292100"/>
            <a:ext cx="20329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20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01</a:t>
            </a:r>
            <a:endParaRPr lang="en-US" sz="1000" dirty="0"/>
          </a:p>
        </p:txBody>
      </p:sp>
      <p:sp>
        <p:nvSpPr>
          <p:cNvPr id="66" name="PT 주제 1. 가장 중요하게 생각하는 가치와 실천 경험"/>
          <p:cNvSpPr txBox="1"/>
          <p:nvPr/>
        </p:nvSpPr>
        <p:spPr>
          <a:xfrm>
            <a:off x="1263749" y="292100"/>
            <a:ext cx="268293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10" kern="0" dirty="0">
                <a:solidFill>
                  <a:srgbClr val="6A7487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PT 주제 1. 가장 중요하게 생각하는 가치와 실천 경험</a:t>
            </a:r>
            <a:endParaRPr lang="en-US" sz="1000" dirty="0"/>
          </a:p>
        </p:txBody>
      </p:sp>
      <p:sp>
        <p:nvSpPr>
          <p:cNvPr id="67" name="제가 가장 중요하게 생각하는 가치는"/>
          <p:cNvSpPr txBox="1"/>
          <p:nvPr/>
        </p:nvSpPr>
        <p:spPr>
          <a:xfrm>
            <a:off x="508000" y="571500"/>
            <a:ext cx="255062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400" spc="-28" kern="0" dirty="0">
                <a:solidFill>
                  <a:srgbClr val="3D4757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제가 가장 중요하게 생각하는 가치는</a:t>
            </a:r>
            <a:endParaRPr lang="en-US" sz="1400" dirty="0"/>
          </a:p>
        </p:txBody>
      </p:sp>
      <p:sp>
        <p:nvSpPr>
          <p:cNvPr id="68" name="공동의 목표를 공유하며 함께 성과를 만드는 협업입니다."/>
          <p:cNvSpPr txBox="1"/>
          <p:nvPr/>
        </p:nvSpPr>
        <p:spPr>
          <a:xfrm>
            <a:off x="508000" y="821630"/>
            <a:ext cx="738296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2700" spc="-108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공동의 목표</a:t>
            </a:r>
            <a:pPr algn="l" indent="0" marL="0">
              <a:buNone/>
            </a:pPr>
            <a:r>
              <a:rPr lang="ko-KR" altLang="en-US" sz="2700" spc="-108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를 공유하며 함께 성과를 만드는 </a:t>
            </a:r>
            <a:pPr algn="l" indent="0" marL="0">
              <a:buNone/>
            </a:pPr>
            <a:r>
              <a:rPr lang="ko-KR" altLang="en-US" sz="2700" spc="-108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협업</a:t>
            </a:r>
            <a:pPr algn="l" indent="0" marL="0">
              <a:buNone/>
            </a:pPr>
            <a:r>
              <a:rPr lang="ko-KR" altLang="en-US" sz="2700" spc="-108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입니다.</a:t>
            </a:r>
            <a:endParaRPr lang="en-US" sz="2700" dirty="0"/>
          </a:p>
        </p:txBody>
      </p:sp>
      <p:sp>
        <p:nvSpPr>
          <p:cNvPr id="69" name="가치관 형성 배경"/>
          <p:cNvSpPr txBox="1"/>
          <p:nvPr/>
        </p:nvSpPr>
        <p:spPr>
          <a:xfrm>
            <a:off x="711200" y="1550591"/>
            <a:ext cx="85308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20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가치관 형성 배경</a:t>
            </a:r>
            <a:endParaRPr lang="en-US" sz="1000" dirty="0"/>
          </a:p>
        </p:txBody>
      </p:sp>
      <p:sp>
        <p:nvSpPr>
          <p:cNvPr id="70" name="협업을 대하는 태도"/>
          <p:cNvSpPr txBox="1"/>
          <p:nvPr/>
        </p:nvSpPr>
        <p:spPr>
          <a:xfrm>
            <a:off x="711200" y="1722041"/>
            <a:ext cx="96779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20" kern="0" dirty="0">
                <a:solidFill>
                  <a:srgbClr val="6A7487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협업을 대하는 태도</a:t>
            </a:r>
            <a:endParaRPr lang="en-US" sz="1000" dirty="0"/>
          </a:p>
        </p:txBody>
      </p:sp>
      <p:sp>
        <p:nvSpPr>
          <p:cNvPr id="71" name="BEFORE"/>
          <p:cNvSpPr txBox="1"/>
          <p:nvPr/>
        </p:nvSpPr>
        <p:spPr>
          <a:xfrm>
            <a:off x="2075061" y="1649016"/>
            <a:ext cx="512862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spc="68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BEFORE</a:t>
            </a:r>
            <a:endParaRPr lang="en-US" sz="850" dirty="0"/>
          </a:p>
        </p:txBody>
      </p:sp>
      <p:sp>
        <p:nvSpPr>
          <p:cNvPr id="72" name="각자 맡은 역할만 잘하면 된다"/>
          <p:cNvSpPr txBox="1"/>
          <p:nvPr/>
        </p:nvSpPr>
        <p:spPr>
          <a:xfrm>
            <a:off x="2714923" y="1616670"/>
            <a:ext cx="1897195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300" spc="-39" kern="0" dirty="0">
                <a:solidFill>
                  <a:srgbClr val="6A7487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각자 맡은 역할만 잘하면 된다</a:t>
            </a:r>
            <a:endParaRPr lang="en-US" sz="1300" dirty="0"/>
          </a:p>
        </p:txBody>
      </p:sp>
      <p:sp>
        <p:nvSpPr>
          <p:cNvPr id="73" name="학부 팀 프로젝트"/>
          <p:cNvSpPr txBox="1"/>
          <p:nvPr/>
        </p:nvSpPr>
        <p:spPr>
          <a:xfrm>
            <a:off x="6317754" y="1639491"/>
            <a:ext cx="85486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spc="-20" kern="0" dirty="0">
                <a:solidFill>
                  <a:srgbClr val="004B8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학부 팀 프로젝트</a:t>
            </a:r>
            <a:endParaRPr lang="en-US" sz="1000" dirty="0"/>
          </a:p>
        </p:txBody>
      </p:sp>
      <p:sp>
        <p:nvSpPr>
          <p:cNvPr id="74" name="AFTER"/>
          <p:cNvSpPr txBox="1"/>
          <p:nvPr/>
        </p:nvSpPr>
        <p:spPr>
          <a:xfrm>
            <a:off x="8807748" y="1649016"/>
            <a:ext cx="439043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spc="68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AFTER</a:t>
            </a:r>
            <a:endParaRPr lang="en-US" sz="850" dirty="0"/>
          </a:p>
        </p:txBody>
      </p:sp>
      <p:sp>
        <p:nvSpPr>
          <p:cNvPr id="75" name="같은 목표와 방향을 공유해야 한다"/>
          <p:cNvSpPr txBox="1"/>
          <p:nvPr/>
        </p:nvSpPr>
        <p:spPr>
          <a:xfrm>
            <a:off x="9373791" y="1616670"/>
            <a:ext cx="2179582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300" spc="-39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같은 목표와 방향을 공유해야 한다</a:t>
            </a:r>
            <a:endParaRPr lang="en-US" sz="1300" dirty="0"/>
          </a:p>
        </p:txBody>
      </p:sp>
      <p:sp>
        <p:nvSpPr>
          <p:cNvPr id="76" name="실천 경험"/>
          <p:cNvSpPr txBox="1"/>
          <p:nvPr/>
        </p:nvSpPr>
        <p:spPr>
          <a:xfrm>
            <a:off x="508000" y="2153841"/>
            <a:ext cx="5056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20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실천 경험</a:t>
            </a:r>
            <a:endParaRPr lang="en-US" sz="1000" dirty="0"/>
          </a:p>
        </p:txBody>
      </p:sp>
      <p:sp>
        <p:nvSpPr>
          <p:cNvPr id="77" name="학생 BIM 경진대회"/>
          <p:cNvSpPr txBox="1"/>
          <p:nvPr/>
        </p:nvSpPr>
        <p:spPr>
          <a:xfrm>
            <a:off x="1121569" y="2153841"/>
            <a:ext cx="9695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20" kern="0" dirty="0">
                <a:solidFill>
                  <a:srgbClr val="3D4757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학생 BIM 경진대회</a:t>
            </a:r>
            <a:endParaRPr lang="en-US" sz="1000" dirty="0"/>
          </a:p>
        </p:txBody>
      </p:sp>
      <p:sp>
        <p:nvSpPr>
          <p:cNvPr id="78" name="01"/>
          <p:cNvSpPr txBox="1"/>
          <p:nvPr/>
        </p:nvSpPr>
        <p:spPr>
          <a:xfrm>
            <a:off x="774402" y="2677716"/>
            <a:ext cx="178296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spc="9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01</a:t>
            </a:r>
            <a:endParaRPr lang="en-US" sz="850" dirty="0"/>
          </a:p>
        </p:txBody>
      </p:sp>
      <p:sp>
        <p:nvSpPr>
          <p:cNvPr id="79" name="충돌을 조율해 주제를 확정하다"/>
          <p:cNvSpPr txBox="1"/>
          <p:nvPr/>
        </p:nvSpPr>
        <p:spPr>
          <a:xfrm>
            <a:off x="1054100" y="2631380"/>
            <a:ext cx="213846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400" spc="-49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충돌을 조율해 주제를 확정하다</a:t>
            </a:r>
            <a:endParaRPr lang="en-US" sz="1400" dirty="0"/>
          </a:p>
        </p:txBody>
      </p:sp>
      <p:sp>
        <p:nvSpPr>
          <p:cNvPr id="80" name="마감 3주 전까지 주제 미확정"/>
          <p:cNvSpPr txBox="1"/>
          <p:nvPr/>
        </p:nvSpPr>
        <p:spPr>
          <a:xfrm>
            <a:off x="1679724" y="3058716"/>
            <a:ext cx="144684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spc="-20" kern="0" dirty="0">
                <a:solidFill>
                  <a:srgbClr val="1C25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마감 3주 전까지 주제 미확정</a:t>
            </a:r>
            <a:endParaRPr lang="en-US" sz="1000" dirty="0"/>
          </a:p>
        </p:txBody>
      </p:sp>
      <p:sp>
        <p:nvSpPr>
          <p:cNvPr id="81" name="참신성"/>
          <p:cNvSpPr txBox="1"/>
          <p:nvPr/>
        </p:nvSpPr>
        <p:spPr>
          <a:xfrm>
            <a:off x="1235670" y="3408561"/>
            <a:ext cx="436860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spc="-24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참신성</a:t>
            </a:r>
            <a:endParaRPr lang="en-US" sz="1200" dirty="0"/>
          </a:p>
        </p:txBody>
      </p:sp>
      <p:sp>
        <p:nvSpPr>
          <p:cNvPr id="82" name="구현 가능성"/>
          <p:cNvSpPr txBox="1"/>
          <p:nvPr/>
        </p:nvSpPr>
        <p:spPr>
          <a:xfrm>
            <a:off x="2919809" y="3408561"/>
            <a:ext cx="72628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spc="-24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구현 가능성</a:t>
            </a:r>
            <a:endParaRPr lang="en-US" sz="1200" dirty="0"/>
          </a:p>
        </p:txBody>
      </p:sp>
      <p:sp>
        <p:nvSpPr>
          <p:cNvPr id="83" name="VS"/>
          <p:cNvSpPr txBox="1"/>
          <p:nvPr/>
        </p:nvSpPr>
        <p:spPr>
          <a:xfrm>
            <a:off x="2204839" y="3436541"/>
            <a:ext cx="21312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00" spc="18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VS</a:t>
            </a:r>
            <a:endParaRPr lang="en-US" sz="900" dirty="0"/>
          </a:p>
        </p:txBody>
      </p:sp>
      <p:sp>
        <p:nvSpPr>
          <p:cNvPr id="84" name="경청 · 수상작 분석 · 교수님 조언"/>
          <p:cNvSpPr txBox="1"/>
          <p:nvPr/>
        </p:nvSpPr>
        <p:spPr>
          <a:xfrm>
            <a:off x="1540470" y="3722291"/>
            <a:ext cx="158052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30" kern="0" dirty="0">
                <a:solidFill>
                  <a:srgbClr val="3D4757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경청 · 수상작 분석 · 교수님 조언</a:t>
            </a:r>
            <a:endParaRPr lang="en-US" sz="1000" dirty="0"/>
          </a:p>
        </p:txBody>
      </p:sp>
      <p:sp>
        <p:nvSpPr>
          <p:cNvPr id="85" name="판단 기준 마련"/>
          <p:cNvSpPr txBox="1"/>
          <p:nvPr/>
        </p:nvSpPr>
        <p:spPr>
          <a:xfrm>
            <a:off x="1938437" y="3957241"/>
            <a:ext cx="74592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2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판단 기준 마련</a:t>
            </a:r>
            <a:endParaRPr lang="en-US" sz="1000" dirty="0"/>
          </a:p>
        </p:txBody>
      </p:sp>
      <p:sp>
        <p:nvSpPr>
          <p:cNvPr id="86" name="1"/>
          <p:cNvSpPr txBox="1"/>
          <p:nvPr/>
        </p:nvSpPr>
        <p:spPr>
          <a:xfrm>
            <a:off x="937220" y="4233466"/>
            <a:ext cx="98326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spc="-33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1</a:t>
            </a:r>
            <a:endParaRPr lang="en-US" sz="850" dirty="0"/>
          </a:p>
        </p:txBody>
      </p:sp>
      <p:sp>
        <p:nvSpPr>
          <p:cNvPr id="87" name="기존 수상작과"/>
          <p:cNvSpPr txBox="1"/>
          <p:nvPr/>
        </p:nvSpPr>
        <p:spPr>
          <a:xfrm>
            <a:off x="1094383" y="4211241"/>
            <a:ext cx="778173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spc="-33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기존 수상작과</a:t>
            </a:r>
            <a:endParaRPr lang="en-US" sz="1100" dirty="0"/>
          </a:p>
        </p:txBody>
      </p:sp>
      <p:sp>
        <p:nvSpPr>
          <p:cNvPr id="88" name="차별화되는가?"/>
          <p:cNvSpPr txBox="1"/>
          <p:nvPr/>
        </p:nvSpPr>
        <p:spPr>
          <a:xfrm>
            <a:off x="1094383" y="4392811"/>
            <a:ext cx="82113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spc="-33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차별화되는가?</a:t>
            </a:r>
            <a:endParaRPr lang="en-US" sz="1100" dirty="0"/>
          </a:p>
        </p:txBody>
      </p:sp>
      <p:sp>
        <p:nvSpPr>
          <p:cNvPr id="89" name="2"/>
          <p:cNvSpPr txBox="1"/>
          <p:nvPr/>
        </p:nvSpPr>
        <p:spPr>
          <a:xfrm>
            <a:off x="2744490" y="4233466"/>
            <a:ext cx="113407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spc="-33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2</a:t>
            </a:r>
            <a:endParaRPr lang="en-US" sz="850" dirty="0"/>
          </a:p>
        </p:txBody>
      </p:sp>
      <p:sp>
        <p:nvSpPr>
          <p:cNvPr id="90" name="남은 3주 안에"/>
          <p:cNvSpPr txBox="1"/>
          <p:nvPr/>
        </p:nvSpPr>
        <p:spPr>
          <a:xfrm>
            <a:off x="2909193" y="4211241"/>
            <a:ext cx="77460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spc="-33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남은 3주 안에</a:t>
            </a:r>
            <a:endParaRPr lang="en-US" sz="1100" dirty="0"/>
          </a:p>
        </p:txBody>
      </p:sp>
      <p:sp>
        <p:nvSpPr>
          <p:cNvPr id="91" name="완성 가능한가?"/>
          <p:cNvSpPr txBox="1"/>
          <p:nvPr/>
        </p:nvSpPr>
        <p:spPr>
          <a:xfrm>
            <a:off x="2909193" y="4392811"/>
            <a:ext cx="84911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spc="-33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완성 가능한가?</a:t>
            </a:r>
            <a:endParaRPr lang="en-US" sz="1100" dirty="0"/>
          </a:p>
        </p:txBody>
      </p:sp>
      <p:sp>
        <p:nvSpPr>
          <p:cNvPr id="92" name="‘유닛 모듈러 기반 사용자 맞춤형"/>
          <p:cNvSpPr txBox="1"/>
          <p:nvPr/>
        </p:nvSpPr>
        <p:spPr>
          <a:xfrm>
            <a:off x="889000" y="5089227"/>
            <a:ext cx="212405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350" spc="-54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‘유닛 모듈러 기반 사용자 맞춤형</a:t>
            </a:r>
            <a:endParaRPr lang="en-US" sz="1350" dirty="0"/>
          </a:p>
        </p:txBody>
      </p:sp>
      <p:sp>
        <p:nvSpPr>
          <p:cNvPr id="93" name="리모델링 방법’ 선정"/>
          <p:cNvSpPr txBox="1"/>
          <p:nvPr/>
        </p:nvSpPr>
        <p:spPr>
          <a:xfrm>
            <a:off x="889000" y="5312073"/>
            <a:ext cx="13083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350" spc="-54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리모델링 방법’ </a:t>
            </a:r>
            <a:pPr algn="l" indent="0" marL="0">
              <a:buNone/>
            </a:pPr>
            <a:r>
              <a:rPr lang="ko-KR" altLang="en-US" sz="1350" spc="-54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선정</a:t>
            </a:r>
            <a:endParaRPr lang="en-US" sz="1350" dirty="0"/>
          </a:p>
        </p:txBody>
      </p:sp>
      <p:sp>
        <p:nvSpPr>
          <p:cNvPr id="94" name="리모델링 규모에 따라 유닛 모듈러를 배치하고,"/>
          <p:cNvSpPr txBox="1"/>
          <p:nvPr/>
        </p:nvSpPr>
        <p:spPr>
          <a:xfrm>
            <a:off x="889000" y="5674618"/>
            <a:ext cx="230999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30" kern="0" dirty="0">
                <a:solidFill>
                  <a:srgbClr val="3D4757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리모델링 규모에 따라 유닛 모듈러를 배치하고,</a:t>
            </a:r>
            <a:endParaRPr lang="en-US" sz="1000" dirty="0"/>
          </a:p>
        </p:txBody>
      </p:sp>
      <p:sp>
        <p:nvSpPr>
          <p:cNvPr id="95" name="모듈 수 · 자재 물량 자동 산출"/>
          <p:cNvSpPr txBox="1"/>
          <p:nvPr/>
        </p:nvSpPr>
        <p:spPr>
          <a:xfrm>
            <a:off x="889000" y="5858768"/>
            <a:ext cx="143990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30" kern="0" dirty="0">
                <a:solidFill>
                  <a:srgbClr val="3D4757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모듈 수 · 자재 물량 자동 산출</a:t>
            </a:r>
            <a:endParaRPr lang="en-US" sz="1000" dirty="0"/>
          </a:p>
        </p:txBody>
      </p:sp>
      <p:sp>
        <p:nvSpPr>
          <p:cNvPr id="96" name="02"/>
          <p:cNvSpPr txBox="1"/>
          <p:nvPr/>
        </p:nvSpPr>
        <p:spPr>
          <a:xfrm>
            <a:off x="4475361" y="2677716"/>
            <a:ext cx="193278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spc="9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02</a:t>
            </a:r>
            <a:endParaRPr lang="en-US" sz="850" dirty="0"/>
          </a:p>
        </p:txBody>
      </p:sp>
      <p:sp>
        <p:nvSpPr>
          <p:cNvPr id="97" name="강점에 맞게 역할을 나누다"/>
          <p:cNvSpPr txBox="1"/>
          <p:nvPr/>
        </p:nvSpPr>
        <p:spPr>
          <a:xfrm>
            <a:off x="4762500" y="2631380"/>
            <a:ext cx="182588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400" spc="-49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강점에 맞게 역할을 나누다</a:t>
            </a:r>
            <a:endParaRPr lang="en-US" sz="1400" dirty="0"/>
          </a:p>
        </p:txBody>
      </p:sp>
      <p:sp>
        <p:nvSpPr>
          <p:cNvPr id="98" name="공동 목표"/>
          <p:cNvSpPr txBox="1"/>
          <p:nvPr/>
        </p:nvSpPr>
        <p:spPr>
          <a:xfrm>
            <a:off x="6063754" y="3821410"/>
            <a:ext cx="521692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spc="-32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공동 목표</a:t>
            </a:r>
            <a:endParaRPr lang="en-US" sz="1050" dirty="0"/>
          </a:p>
        </p:txBody>
      </p:sp>
      <p:sp>
        <p:nvSpPr>
          <p:cNvPr id="99" name="프로젝트 완수"/>
          <p:cNvSpPr txBox="1"/>
          <p:nvPr/>
        </p:nvSpPr>
        <p:spPr>
          <a:xfrm>
            <a:off x="6001643" y="3994051"/>
            <a:ext cx="64591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00" b="1" spc="-27" kern="0" dirty="0">
                <a:solidFill>
                  <a:srgbClr val="3D475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프로젝트 완수</a:t>
            </a:r>
            <a:endParaRPr lang="en-US" sz="900" dirty="0"/>
          </a:p>
        </p:txBody>
      </p:sp>
      <p:sp>
        <p:nvSpPr>
          <p:cNvPr id="100" name="팀장"/>
          <p:cNvSpPr txBox="1"/>
          <p:nvPr/>
        </p:nvSpPr>
        <p:spPr>
          <a:xfrm>
            <a:off x="4648200" y="3125391"/>
            <a:ext cx="28674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spc="-22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팀장</a:t>
            </a:r>
            <a:endParaRPr lang="en-US" sz="1100" dirty="0"/>
          </a:p>
        </p:txBody>
      </p:sp>
      <p:sp>
        <p:nvSpPr>
          <p:cNvPr id="101" name="나"/>
          <p:cNvSpPr txBox="1"/>
          <p:nvPr/>
        </p:nvSpPr>
        <p:spPr>
          <a:xfrm>
            <a:off x="4971355" y="3148806"/>
            <a:ext cx="13037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750" spc="-22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나</a:t>
            </a:r>
            <a:endParaRPr lang="en-US" sz="750" dirty="0"/>
          </a:p>
        </p:txBody>
      </p:sp>
      <p:sp>
        <p:nvSpPr>
          <p:cNvPr id="102" name="프로젝트 일정 총괄 ·"/>
          <p:cNvSpPr txBox="1"/>
          <p:nvPr/>
        </p:nvSpPr>
        <p:spPr>
          <a:xfrm>
            <a:off x="4533900" y="3337421"/>
            <a:ext cx="101648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30" kern="0" dirty="0">
                <a:solidFill>
                  <a:srgbClr val="3D4757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프로젝트 일정 총괄 ·</a:t>
            </a:r>
            <a:endParaRPr lang="en-US" sz="1000" dirty="0"/>
          </a:p>
        </p:txBody>
      </p:sp>
      <p:sp>
        <p:nvSpPr>
          <p:cNvPr id="103" name="Dynamo 기반"/>
          <p:cNvSpPr txBox="1"/>
          <p:nvPr/>
        </p:nvSpPr>
        <p:spPr>
          <a:xfrm>
            <a:off x="4533900" y="3502521"/>
            <a:ext cx="74543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30" kern="0" dirty="0">
                <a:solidFill>
                  <a:srgbClr val="3D4757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Dynamo 기반</a:t>
            </a:r>
            <a:endParaRPr lang="en-US" sz="1000" dirty="0"/>
          </a:p>
        </p:txBody>
      </p:sp>
      <p:sp>
        <p:nvSpPr>
          <p:cNvPr id="104" name="자동화 알고리즘 개발"/>
          <p:cNvSpPr txBox="1"/>
          <p:nvPr/>
        </p:nvSpPr>
        <p:spPr>
          <a:xfrm>
            <a:off x="4533900" y="3667621"/>
            <a:ext cx="106844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30" kern="0" dirty="0">
                <a:solidFill>
                  <a:srgbClr val="3D4757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자동화 알고리즘 개발</a:t>
            </a:r>
            <a:endParaRPr lang="en-US" sz="1000" dirty="0"/>
          </a:p>
        </p:txBody>
      </p:sp>
      <p:sp>
        <p:nvSpPr>
          <p:cNvPr id="105" name="팀원 A"/>
          <p:cNvSpPr txBox="1"/>
          <p:nvPr/>
        </p:nvSpPr>
        <p:spPr>
          <a:xfrm>
            <a:off x="7010400" y="3125391"/>
            <a:ext cx="41602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spc="-22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팀원 A</a:t>
            </a:r>
            <a:endParaRPr lang="en-US" sz="1100" dirty="0"/>
          </a:p>
        </p:txBody>
      </p:sp>
      <p:sp>
        <p:nvSpPr>
          <p:cNvPr id="106" name="유닛 모듈러 설계 ·"/>
          <p:cNvSpPr txBox="1"/>
          <p:nvPr/>
        </p:nvSpPr>
        <p:spPr>
          <a:xfrm>
            <a:off x="6896100" y="3337421"/>
            <a:ext cx="90416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30" kern="0" dirty="0">
                <a:solidFill>
                  <a:srgbClr val="3D4757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유닛 모듈러 설계 ·</a:t>
            </a:r>
            <a:endParaRPr lang="en-US" sz="1000" dirty="0"/>
          </a:p>
        </p:txBody>
      </p:sp>
      <p:sp>
        <p:nvSpPr>
          <p:cNvPr id="107" name="배치 계획"/>
          <p:cNvSpPr txBox="1"/>
          <p:nvPr/>
        </p:nvSpPr>
        <p:spPr>
          <a:xfrm>
            <a:off x="6896100" y="3502521"/>
            <a:ext cx="50184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30" kern="0" dirty="0">
                <a:solidFill>
                  <a:srgbClr val="3D4757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배치 계획</a:t>
            </a:r>
            <a:endParaRPr lang="en-US" sz="1000" dirty="0"/>
          </a:p>
        </p:txBody>
      </p:sp>
      <p:sp>
        <p:nvSpPr>
          <p:cNvPr id="108" name="팀원 B"/>
          <p:cNvSpPr txBox="1"/>
          <p:nvPr/>
        </p:nvSpPr>
        <p:spPr>
          <a:xfrm>
            <a:off x="4648200" y="4166791"/>
            <a:ext cx="40203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spc="-22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팀원 B</a:t>
            </a:r>
            <a:endParaRPr lang="en-US" sz="1100" dirty="0"/>
          </a:p>
        </p:txBody>
      </p:sp>
      <p:sp>
        <p:nvSpPr>
          <p:cNvPr id="109" name="Revit 기반"/>
          <p:cNvSpPr txBox="1"/>
          <p:nvPr/>
        </p:nvSpPr>
        <p:spPr>
          <a:xfrm>
            <a:off x="4533900" y="4378821"/>
            <a:ext cx="55989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30" kern="0" dirty="0">
                <a:solidFill>
                  <a:srgbClr val="3D4757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Revit 기반</a:t>
            </a:r>
            <a:endParaRPr lang="en-US" sz="1000" dirty="0"/>
          </a:p>
        </p:txBody>
      </p:sp>
      <p:sp>
        <p:nvSpPr>
          <p:cNvPr id="110" name="BIM 모델링 ·"/>
          <p:cNvSpPr txBox="1"/>
          <p:nvPr/>
        </p:nvSpPr>
        <p:spPr>
          <a:xfrm>
            <a:off x="4533900" y="4543921"/>
            <a:ext cx="6620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30" kern="0" dirty="0">
                <a:solidFill>
                  <a:srgbClr val="3D4757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BIM 모델링 ·</a:t>
            </a:r>
            <a:endParaRPr lang="en-US" sz="1000" dirty="0"/>
          </a:p>
        </p:txBody>
      </p:sp>
      <p:sp>
        <p:nvSpPr>
          <p:cNvPr id="111" name="모듈러 라이브러리 구축"/>
          <p:cNvSpPr txBox="1"/>
          <p:nvPr/>
        </p:nvSpPr>
        <p:spPr>
          <a:xfrm>
            <a:off x="4533900" y="4709021"/>
            <a:ext cx="118076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30" kern="0" dirty="0">
                <a:solidFill>
                  <a:srgbClr val="3D4757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모듈러 라이브러리 구축</a:t>
            </a:r>
            <a:endParaRPr lang="en-US" sz="1000" dirty="0"/>
          </a:p>
        </p:txBody>
      </p:sp>
      <p:sp>
        <p:nvSpPr>
          <p:cNvPr id="112" name="팀원 C"/>
          <p:cNvSpPr txBox="1"/>
          <p:nvPr/>
        </p:nvSpPr>
        <p:spPr>
          <a:xfrm>
            <a:off x="7010400" y="4166791"/>
            <a:ext cx="414933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spc="-22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팀원 C</a:t>
            </a:r>
            <a:endParaRPr lang="en-US" sz="1100" dirty="0"/>
          </a:p>
        </p:txBody>
      </p:sp>
      <p:sp>
        <p:nvSpPr>
          <p:cNvPr id="113" name="리모델링 적용"/>
          <p:cNvSpPr txBox="1"/>
          <p:nvPr/>
        </p:nvSpPr>
        <p:spPr>
          <a:xfrm>
            <a:off x="6896100" y="4378821"/>
            <a:ext cx="7137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30" kern="0" dirty="0">
                <a:solidFill>
                  <a:srgbClr val="3D4757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리모델링 적용</a:t>
            </a:r>
            <a:endParaRPr lang="en-US" sz="1000" dirty="0"/>
          </a:p>
        </p:txBody>
      </p:sp>
      <p:sp>
        <p:nvSpPr>
          <p:cNvPr id="114" name="시나리오 구성 ·"/>
          <p:cNvSpPr txBox="1"/>
          <p:nvPr/>
        </p:nvSpPr>
        <p:spPr>
          <a:xfrm>
            <a:off x="6896100" y="4543921"/>
            <a:ext cx="77063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30" kern="0" dirty="0">
                <a:solidFill>
                  <a:srgbClr val="3D4757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시나리오 구성 ·</a:t>
            </a:r>
            <a:endParaRPr lang="en-US" sz="1000" dirty="0"/>
          </a:p>
        </p:txBody>
      </p:sp>
      <p:sp>
        <p:nvSpPr>
          <p:cNvPr id="115" name="시연 영상 제작"/>
          <p:cNvSpPr txBox="1"/>
          <p:nvPr/>
        </p:nvSpPr>
        <p:spPr>
          <a:xfrm>
            <a:off x="6896100" y="4709021"/>
            <a:ext cx="74096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30" kern="0" dirty="0">
                <a:solidFill>
                  <a:srgbClr val="3D4757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시연 영상 제작</a:t>
            </a:r>
            <a:endParaRPr lang="en-US" sz="1000" dirty="0"/>
          </a:p>
        </p:txBody>
      </p:sp>
      <p:sp>
        <p:nvSpPr>
          <p:cNvPr id="116" name="이틀마다 진행상황 공유 · 피드백"/>
          <p:cNvSpPr txBox="1"/>
          <p:nvPr/>
        </p:nvSpPr>
        <p:spPr>
          <a:xfrm>
            <a:off x="5659140" y="5085755"/>
            <a:ext cx="162616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spc="-20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이틀마다 진행상황 공유 · 피드백</a:t>
            </a:r>
            <a:endParaRPr lang="en-US" sz="1000" dirty="0"/>
          </a:p>
        </p:txBody>
      </p:sp>
      <p:sp>
        <p:nvSpPr>
          <p:cNvPr id="117" name="03"/>
          <p:cNvSpPr txBox="1"/>
          <p:nvPr/>
        </p:nvSpPr>
        <p:spPr>
          <a:xfrm>
            <a:off x="8842573" y="2677716"/>
            <a:ext cx="196354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spc="9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03</a:t>
            </a:r>
            <a:endParaRPr lang="en-US" sz="850" dirty="0"/>
          </a:p>
        </p:txBody>
      </p:sp>
      <p:sp>
        <p:nvSpPr>
          <p:cNvPr id="118" name="3주 만에 완성, 장려상 수상"/>
          <p:cNvSpPr txBox="1"/>
          <p:nvPr/>
        </p:nvSpPr>
        <p:spPr>
          <a:xfrm>
            <a:off x="9131300" y="2631380"/>
            <a:ext cx="186185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400" spc="-49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3주 만에 완성, 장려상 수상</a:t>
            </a:r>
            <a:endParaRPr lang="en-US" sz="1400" dirty="0"/>
          </a:p>
        </p:txBody>
      </p:sp>
      <p:sp>
        <p:nvSpPr>
          <p:cNvPr id="119" name="리모델링 앱 개발 아이디어 시연 영상"/>
          <p:cNvSpPr txBox="1"/>
          <p:nvPr/>
        </p:nvSpPr>
        <p:spPr>
          <a:xfrm>
            <a:off x="8953500" y="4522391"/>
            <a:ext cx="185113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20" kern="0" dirty="0">
                <a:solidFill>
                  <a:srgbClr val="FFFFFF">
                    <a:alpha val="82000"/>
                  </a:srgbClr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리모델링 앱 개발 아이디어 시연 영상</a:t>
            </a:r>
            <a:endParaRPr lang="en-US" sz="1000" dirty="0"/>
          </a:p>
        </p:txBody>
      </p:sp>
      <p:sp>
        <p:nvSpPr>
          <p:cNvPr id="120" name="학생 BIM 경진대회"/>
          <p:cNvSpPr txBox="1"/>
          <p:nvPr/>
        </p:nvSpPr>
        <p:spPr>
          <a:xfrm>
            <a:off x="9258300" y="4790480"/>
            <a:ext cx="9695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20" kern="0" dirty="0">
                <a:solidFill>
                  <a:srgbClr val="FFFFFF">
                    <a:alpha val="78000"/>
                  </a:srgbClr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학생 BIM 경진대회</a:t>
            </a:r>
            <a:endParaRPr lang="en-US" sz="1000" dirty="0"/>
          </a:p>
        </p:txBody>
      </p:sp>
      <p:sp>
        <p:nvSpPr>
          <p:cNvPr id="121" name="장려상"/>
          <p:cNvSpPr txBox="1"/>
          <p:nvPr/>
        </p:nvSpPr>
        <p:spPr>
          <a:xfrm>
            <a:off x="9258300" y="4949230"/>
            <a:ext cx="68659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2000" spc="-60" kern="0" dirty="0">
                <a:solidFill>
                  <a:srgbClr val="FDBB30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장려상</a:t>
            </a:r>
            <a:endParaRPr lang="en-US" sz="2000" dirty="0"/>
          </a:p>
        </p:txBody>
      </p:sp>
      <p:sp>
        <p:nvSpPr>
          <p:cNvPr id="122" name="의견 차이로 출발조차 하지 못했던 팀이,"/>
          <p:cNvSpPr txBox="1"/>
          <p:nvPr/>
        </p:nvSpPr>
        <p:spPr>
          <a:xfrm>
            <a:off x="4965700" y="5741392"/>
            <a:ext cx="273236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400" b="1" spc="-49" kern="0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의견 차이로 출발조차 하지 못했던 팀이,</a:t>
            </a:r>
            <a:endParaRPr lang="en-US" sz="1400" dirty="0"/>
          </a:p>
        </p:txBody>
      </p:sp>
      <p:sp>
        <p:nvSpPr>
          <p:cNvPr id="123" name="서로 다른 의견을 조율하며 하나의 공동 목표를 향해 함께 결과를 만들었습"/>
          <p:cNvSpPr txBox="1"/>
          <p:nvPr/>
        </p:nvSpPr>
        <p:spPr>
          <a:xfrm>
            <a:off x="4965700" y="5993805"/>
            <a:ext cx="541635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400" b="1" spc="-49" kern="0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서로 다른 의견을 조율하며 </a:t>
            </a:r>
            <a:pPr algn="l" indent="0" marL="0">
              <a:buNone/>
            </a:pPr>
            <a:r>
              <a:rPr lang="ko-KR" altLang="en-US" sz="1400" b="1" spc="-49" kern="0" dirty="0">
                <a:solidFill>
                  <a:srgbClr val="FDBB30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하나의 공동 목표</a:t>
            </a:r>
            <a:pPr algn="l" indent="0" marL="0">
              <a:buNone/>
            </a:pPr>
            <a:r>
              <a:rPr lang="ko-KR" altLang="en-US" sz="1400" b="1" spc="-49" kern="0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를 향해 함께 결과를 만들었습니다.</a:t>
            </a:r>
            <a:endParaRPr lang="en-US" sz="1400" dirty="0"/>
          </a:p>
        </p:txBody>
      </p:sp>
      <p:sp>
        <p:nvSpPr>
          <p:cNvPr id="124" name="2026년 하반기 신입사원 공개채용 | 공사관리 건축 직무 지원자 이현준"/>
          <p:cNvSpPr txBox="1"/>
          <p:nvPr/>
        </p:nvSpPr>
        <p:spPr>
          <a:xfrm>
            <a:off x="508000" y="6527205"/>
            <a:ext cx="32736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00" spc="-9" kern="0" dirty="0">
                <a:solidFill>
                  <a:srgbClr val="6A7487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2026년 하반기 신입사원 공개채용 | 공사관리 건축 직무 지원자 이현준</a:t>
            </a:r>
            <a:endParaRPr lang="en-US" sz="900" dirty="0"/>
          </a:p>
        </p:txBody>
      </p:sp>
      <p:sp>
        <p:nvSpPr>
          <p:cNvPr id="125" name="01 / 03"/>
          <p:cNvSpPr txBox="1"/>
          <p:nvPr/>
        </p:nvSpPr>
        <p:spPr>
          <a:xfrm>
            <a:off x="11259741" y="6527205"/>
            <a:ext cx="4750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00" spc="54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01</a:t>
            </a:r>
            <a:pPr algn="l" indent="0" marL="0">
              <a:buNone/>
            </a:pPr>
            <a:r>
              <a:rPr lang="ko-KR" altLang="en-US" sz="900" b="1" spc="54" kern="0" dirty="0">
                <a:solidFill>
                  <a:srgbClr val="3D475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 / 03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"/>
          <p:cNvSpPr/>
          <p:nvPr/>
        </p:nvSpPr>
        <p:spPr>
          <a:xfrm>
            <a:off x="508000" y="339725"/>
            <a:ext cx="63500" cy="6350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4" name="b"/>
          <p:cNvSpPr/>
          <p:nvPr/>
        </p:nvSpPr>
        <p:spPr>
          <a:xfrm>
            <a:off x="571500" y="365125"/>
            <a:ext cx="88900" cy="12700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5" name="i"/>
          <p:cNvSpPr/>
          <p:nvPr/>
        </p:nvSpPr>
        <p:spPr>
          <a:xfrm>
            <a:off x="660400" y="339725"/>
            <a:ext cx="63500" cy="6350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6" name="b"/>
          <p:cNvSpPr/>
          <p:nvPr/>
        </p:nvSpPr>
        <p:spPr>
          <a:xfrm>
            <a:off x="723900" y="365125"/>
            <a:ext cx="88900" cy="12700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7" name="i"/>
          <p:cNvSpPr/>
          <p:nvPr/>
        </p:nvSpPr>
        <p:spPr>
          <a:xfrm>
            <a:off x="812800" y="339725"/>
            <a:ext cx="63500" cy="63500"/>
          </a:xfrm>
          <a:prstGeom prst="ellipse">
            <a:avLst/>
          </a:prstGeom>
          <a:solidFill>
            <a:srgbClr val="FDBB30"/>
          </a:solidFill>
          <a:ln/>
        </p:spPr>
      </p:sp>
      <p:pic>
        <p:nvPicPr>
          <p:cNvPr id="8" name="hd-no" descr="hd-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150" y="317500"/>
            <a:ext cx="6350" cy="101600"/>
          </a:xfrm>
          <a:prstGeom prst="rect">
            <a:avLst/>
          </a:prstGeom>
        </p:spPr>
      </p:pic>
      <p:pic>
        <p:nvPicPr>
          <p:cNvPr id="9" name="img" descr="im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5535" y="237662"/>
            <a:ext cx="1526117" cy="268817"/>
          </a:xfrm>
          <a:prstGeom prst="rect">
            <a:avLst/>
          </a:prstGeom>
        </p:spPr>
      </p:pic>
      <p:sp>
        <p:nvSpPr>
          <p:cNvPr id="10" name="i"/>
          <p:cNvSpPr/>
          <p:nvPr/>
        </p:nvSpPr>
        <p:spPr>
          <a:xfrm>
            <a:off x="1318121" y="1468041"/>
            <a:ext cx="6350" cy="101600"/>
          </a:xfrm>
          <a:prstGeom prst="roundRect">
            <a:avLst/>
          </a:prstGeom>
          <a:solidFill>
            <a:srgbClr val="C3CEDD"/>
          </a:solidFill>
          <a:ln/>
        </p:spPr>
      </p:sp>
      <p:sp>
        <p:nvSpPr>
          <p:cNvPr id="11" name="i"/>
          <p:cNvSpPr/>
          <p:nvPr/>
        </p:nvSpPr>
        <p:spPr>
          <a:xfrm>
            <a:off x="5093990" y="1468041"/>
            <a:ext cx="6350" cy="101600"/>
          </a:xfrm>
          <a:prstGeom prst="roundRect">
            <a:avLst/>
          </a:prstGeom>
          <a:solidFill>
            <a:srgbClr val="C3CEDD"/>
          </a:solidFill>
          <a:ln/>
        </p:spPr>
      </p:sp>
      <p:sp>
        <p:nvSpPr>
          <p:cNvPr id="12" name="p2-tile p2-v1 g"/>
          <p:cNvSpPr/>
          <p:nvPr/>
        </p:nvSpPr>
        <p:spPr>
          <a:xfrm>
            <a:off x="508000" y="1702991"/>
            <a:ext cx="3606800" cy="2253357"/>
          </a:xfrm>
          <a:prstGeom prst="roundRect">
            <a:avLst>
              <a:gd name="adj" fmla="val 6763"/>
            </a:avLst>
          </a:prstGeom>
          <a:solidFill>
            <a:srgbClr val="F3F6FA"/>
          </a:solidFill>
          <a:ln/>
        </p:spPr>
      </p:sp>
      <p:pic>
        <p:nvPicPr>
          <p:cNvPr id="13" name="p2-no" descr="p2-n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1954874"/>
            <a:ext cx="254000" cy="254000"/>
          </a:xfrm>
          <a:prstGeom prst="rect">
            <a:avLst/>
          </a:prstGeom>
        </p:spPr>
      </p:pic>
      <p:sp>
        <p:nvSpPr>
          <p:cNvPr id="14" name="p2-op"/>
          <p:cNvSpPr/>
          <p:nvPr/>
        </p:nvSpPr>
        <p:spPr>
          <a:xfrm>
            <a:off x="1031875" y="2508945"/>
            <a:ext cx="1060450" cy="273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3CEDD"/>
            </a:solidFill>
            <a:prstDash val="solid"/>
          </a:ln>
        </p:spPr>
      </p:sp>
      <p:sp>
        <p:nvSpPr>
          <p:cNvPr id="15" name="i"/>
          <p:cNvSpPr/>
          <p:nvPr/>
        </p:nvSpPr>
        <p:spPr>
          <a:xfrm>
            <a:off x="1327944" y="2613720"/>
            <a:ext cx="63500" cy="6350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16" name="p2-vs"/>
          <p:cNvSpPr/>
          <p:nvPr/>
        </p:nvSpPr>
        <p:spPr>
          <a:xfrm>
            <a:off x="2171700" y="2505770"/>
            <a:ext cx="279400" cy="279400"/>
          </a:xfrm>
          <a:prstGeom prst="ellipse">
            <a:avLst/>
          </a:prstGeom>
          <a:solidFill>
            <a:srgbClr val="0B2147"/>
          </a:solidFill>
          <a:ln/>
        </p:spPr>
      </p:sp>
      <p:sp>
        <p:nvSpPr>
          <p:cNvPr id="17" name="p2-op"/>
          <p:cNvSpPr/>
          <p:nvPr/>
        </p:nvSpPr>
        <p:spPr>
          <a:xfrm>
            <a:off x="2530475" y="2508945"/>
            <a:ext cx="1060450" cy="273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3CEDD"/>
            </a:solidFill>
            <a:prstDash val="solid"/>
          </a:ln>
        </p:spPr>
      </p:sp>
      <p:sp>
        <p:nvSpPr>
          <p:cNvPr id="18" name="i"/>
          <p:cNvSpPr/>
          <p:nvPr/>
        </p:nvSpPr>
        <p:spPr>
          <a:xfrm>
            <a:off x="2693988" y="2613720"/>
            <a:ext cx="63500" cy="63500"/>
          </a:xfrm>
          <a:prstGeom prst="ellipse">
            <a:avLst/>
          </a:prstGeom>
          <a:solidFill>
            <a:srgbClr val="00A94F"/>
          </a:solidFill>
          <a:ln/>
        </p:spPr>
      </p:sp>
      <p:pic>
        <p:nvPicPr>
          <p:cNvPr id="19" name="p2-brk" descr="p2-br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5750" y="2780936"/>
            <a:ext cx="1511300" cy="139700"/>
          </a:xfrm>
          <a:prstGeom prst="rect">
            <a:avLst/>
          </a:prstGeom>
        </p:spPr>
      </p:pic>
      <p:pic>
        <p:nvPicPr>
          <p:cNvPr id="20" name="p2-res" descr="p2-r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3228115"/>
            <a:ext cx="3352800" cy="601133"/>
          </a:xfrm>
          <a:prstGeom prst="rect">
            <a:avLst/>
          </a:prstGeom>
        </p:spPr>
      </p:pic>
      <p:sp>
        <p:nvSpPr>
          <p:cNvPr id="21" name="p2-ic"/>
          <p:cNvSpPr/>
          <p:nvPr/>
        </p:nvSpPr>
        <p:spPr>
          <a:xfrm>
            <a:off x="863600" y="3422848"/>
            <a:ext cx="203200" cy="203200"/>
          </a:xfrm>
          <a:prstGeom prst="ellipse">
            <a:avLst/>
          </a:prstGeom>
          <a:solidFill>
            <a:srgbClr val="00A94F"/>
          </a:solidFill>
          <a:ln/>
        </p:spPr>
      </p:sp>
      <p:pic>
        <p:nvPicPr>
          <p:cNvPr id="22" name="svg" descr="sv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983" y="3488465"/>
            <a:ext cx="80433" cy="71967"/>
          </a:xfrm>
          <a:prstGeom prst="rect">
            <a:avLst/>
          </a:prstGeom>
        </p:spPr>
      </p:pic>
      <p:sp>
        <p:nvSpPr>
          <p:cNvPr id="23" name="p2-tile p2-v2 b"/>
          <p:cNvSpPr/>
          <p:nvPr/>
        </p:nvSpPr>
        <p:spPr>
          <a:xfrm>
            <a:off x="508000" y="4108748"/>
            <a:ext cx="3606800" cy="2253357"/>
          </a:xfrm>
          <a:prstGeom prst="roundRect">
            <a:avLst>
              <a:gd name="adj" fmla="val 6763"/>
            </a:avLst>
          </a:prstGeom>
          <a:solidFill>
            <a:srgbClr val="F3F6FA"/>
          </a:solidFill>
          <a:ln/>
        </p:spPr>
      </p:sp>
      <p:pic>
        <p:nvPicPr>
          <p:cNvPr id="24" name="p2-no" descr="p2-n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200" y="4362748"/>
            <a:ext cx="254000" cy="254000"/>
          </a:xfrm>
          <a:prstGeom prst="rect">
            <a:avLst/>
          </a:prstGeom>
        </p:spPr>
      </p:pic>
      <p:sp>
        <p:nvSpPr>
          <p:cNvPr id="25" name="p2-sk"/>
          <p:cNvSpPr/>
          <p:nvPr/>
        </p:nvSpPr>
        <p:spPr>
          <a:xfrm>
            <a:off x="714375" y="4844852"/>
            <a:ext cx="1555750" cy="273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3CEDD"/>
            </a:solidFill>
            <a:prstDash val="solid"/>
          </a:ln>
        </p:spPr>
      </p:sp>
      <p:sp>
        <p:nvSpPr>
          <p:cNvPr id="26" name="i"/>
          <p:cNvSpPr/>
          <p:nvPr/>
        </p:nvSpPr>
        <p:spPr>
          <a:xfrm>
            <a:off x="831850" y="4949627"/>
            <a:ext cx="63500" cy="6350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27" name="p2-sk"/>
          <p:cNvSpPr/>
          <p:nvPr/>
        </p:nvSpPr>
        <p:spPr>
          <a:xfrm>
            <a:off x="2352675" y="4844852"/>
            <a:ext cx="1555750" cy="273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3CEDD"/>
            </a:solidFill>
            <a:prstDash val="solid"/>
          </a:ln>
        </p:spPr>
      </p:sp>
      <p:sp>
        <p:nvSpPr>
          <p:cNvPr id="28" name="i"/>
          <p:cNvSpPr/>
          <p:nvPr/>
        </p:nvSpPr>
        <p:spPr>
          <a:xfrm>
            <a:off x="2470150" y="4949627"/>
            <a:ext cx="63500" cy="6350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29" name="p2-sk"/>
          <p:cNvSpPr/>
          <p:nvPr/>
        </p:nvSpPr>
        <p:spPr>
          <a:xfrm>
            <a:off x="714375" y="5200452"/>
            <a:ext cx="1555750" cy="273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3CEDD"/>
            </a:solidFill>
            <a:prstDash val="solid"/>
          </a:ln>
        </p:spPr>
      </p:sp>
      <p:sp>
        <p:nvSpPr>
          <p:cNvPr id="30" name="i"/>
          <p:cNvSpPr/>
          <p:nvPr/>
        </p:nvSpPr>
        <p:spPr>
          <a:xfrm>
            <a:off x="831850" y="5305227"/>
            <a:ext cx="63500" cy="6350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31" name="p2-sk"/>
          <p:cNvSpPr/>
          <p:nvPr/>
        </p:nvSpPr>
        <p:spPr>
          <a:xfrm>
            <a:off x="2352675" y="5200452"/>
            <a:ext cx="1555750" cy="273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3CEDD"/>
            </a:solidFill>
            <a:prstDash val="solid"/>
          </a:ln>
        </p:spPr>
      </p:sp>
      <p:sp>
        <p:nvSpPr>
          <p:cNvPr id="32" name="i"/>
          <p:cNvSpPr/>
          <p:nvPr/>
        </p:nvSpPr>
        <p:spPr>
          <a:xfrm>
            <a:off x="2470150" y="5305227"/>
            <a:ext cx="63500" cy="63500"/>
          </a:xfrm>
          <a:prstGeom prst="ellipse">
            <a:avLst/>
          </a:prstGeom>
          <a:solidFill>
            <a:srgbClr val="004B8D"/>
          </a:solidFill>
          <a:ln/>
        </p:spPr>
      </p:sp>
      <p:pic>
        <p:nvPicPr>
          <p:cNvPr id="33" name="p2-res" descr="p2-r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000" y="5633872"/>
            <a:ext cx="3352800" cy="601133"/>
          </a:xfrm>
          <a:prstGeom prst="rect">
            <a:avLst/>
          </a:prstGeom>
        </p:spPr>
      </p:pic>
      <p:sp>
        <p:nvSpPr>
          <p:cNvPr id="34" name="p2-ic"/>
          <p:cNvSpPr/>
          <p:nvPr/>
        </p:nvSpPr>
        <p:spPr>
          <a:xfrm>
            <a:off x="863600" y="5828605"/>
            <a:ext cx="203200" cy="203200"/>
          </a:xfrm>
          <a:prstGeom prst="ellipse">
            <a:avLst/>
          </a:prstGeom>
          <a:solidFill>
            <a:srgbClr val="004B8D"/>
          </a:solidFill>
          <a:ln/>
        </p:spPr>
      </p:sp>
      <p:pic>
        <p:nvPicPr>
          <p:cNvPr id="35" name="svg" descr="sv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983" y="5894222"/>
            <a:ext cx="80433" cy="71967"/>
          </a:xfrm>
          <a:prstGeom prst="rect">
            <a:avLst/>
          </a:prstGeom>
        </p:spPr>
      </p:pic>
      <p:sp>
        <p:nvSpPr>
          <p:cNvPr id="36" name="p2-tile p2-k1 g"/>
          <p:cNvSpPr/>
          <p:nvPr/>
        </p:nvSpPr>
        <p:spPr>
          <a:xfrm>
            <a:off x="4267200" y="1702991"/>
            <a:ext cx="4216400" cy="2253357"/>
          </a:xfrm>
          <a:prstGeom prst="roundRect">
            <a:avLst>
              <a:gd name="adj" fmla="val 6763"/>
            </a:avLst>
          </a:prstGeom>
          <a:solidFill>
            <a:srgbClr val="F3F6FA"/>
          </a:solidFill>
          <a:ln/>
        </p:spPr>
      </p:sp>
      <p:pic>
        <p:nvPicPr>
          <p:cNvPr id="37" name="p2-def" descr="p2-def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60189" y="1911714"/>
            <a:ext cx="12700" cy="342900"/>
          </a:xfrm>
          <a:prstGeom prst="rect">
            <a:avLst/>
          </a:prstGeom>
        </p:spPr>
      </p:pic>
      <p:pic>
        <p:nvPicPr>
          <p:cNvPr id="38" name="svg" descr="sv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62650" y="2481924"/>
            <a:ext cx="1397000" cy="1130300"/>
          </a:xfrm>
          <a:prstGeom prst="rect">
            <a:avLst/>
          </a:prstGeom>
        </p:spPr>
      </p:pic>
      <p:pic>
        <p:nvPicPr>
          <p:cNvPr id="39" name="p2-chip" descr="p2-chip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21717" y="2346457"/>
            <a:ext cx="1595967" cy="334433"/>
          </a:xfrm>
          <a:prstGeom prst="rect">
            <a:avLst/>
          </a:prstGeom>
        </p:spPr>
      </p:pic>
      <p:sp>
        <p:nvSpPr>
          <p:cNvPr id="40" name="i"/>
          <p:cNvSpPr/>
          <p:nvPr/>
        </p:nvSpPr>
        <p:spPr>
          <a:xfrm>
            <a:off x="4572000" y="2461816"/>
            <a:ext cx="57150" cy="57150"/>
          </a:xfrm>
          <a:prstGeom prst="ellipse">
            <a:avLst/>
          </a:prstGeom>
          <a:solidFill>
            <a:srgbClr val="00A94F"/>
          </a:solidFill>
          <a:ln/>
        </p:spPr>
      </p:sp>
      <p:pic>
        <p:nvPicPr>
          <p:cNvPr id="41" name="p2-chip" descr="p2-chip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21717" y="2625857"/>
            <a:ext cx="1595967" cy="334433"/>
          </a:xfrm>
          <a:prstGeom prst="rect">
            <a:avLst/>
          </a:prstGeom>
        </p:spPr>
      </p:pic>
      <p:sp>
        <p:nvSpPr>
          <p:cNvPr id="42" name="i"/>
          <p:cNvSpPr/>
          <p:nvPr/>
        </p:nvSpPr>
        <p:spPr>
          <a:xfrm>
            <a:off x="4572000" y="2741216"/>
            <a:ext cx="57150" cy="57150"/>
          </a:xfrm>
          <a:prstGeom prst="ellipse">
            <a:avLst/>
          </a:prstGeom>
          <a:solidFill>
            <a:srgbClr val="00A94F"/>
          </a:solidFill>
          <a:ln/>
        </p:spPr>
      </p:sp>
      <p:pic>
        <p:nvPicPr>
          <p:cNvPr id="43" name="p2-chip" descr="p2-chip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21717" y="2905257"/>
            <a:ext cx="1595967" cy="334433"/>
          </a:xfrm>
          <a:prstGeom prst="rect">
            <a:avLst/>
          </a:prstGeom>
        </p:spPr>
      </p:pic>
      <p:sp>
        <p:nvSpPr>
          <p:cNvPr id="44" name="i"/>
          <p:cNvSpPr/>
          <p:nvPr/>
        </p:nvSpPr>
        <p:spPr>
          <a:xfrm>
            <a:off x="4572000" y="3020616"/>
            <a:ext cx="57150" cy="57150"/>
          </a:xfrm>
          <a:prstGeom prst="ellipse">
            <a:avLst/>
          </a:prstGeom>
          <a:solidFill>
            <a:srgbClr val="00A94F"/>
          </a:solidFill>
          <a:ln/>
        </p:spPr>
      </p:sp>
      <p:pic>
        <p:nvPicPr>
          <p:cNvPr id="45" name="p2-chip" descr="p2-chip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21717" y="3184657"/>
            <a:ext cx="1595967" cy="334433"/>
          </a:xfrm>
          <a:prstGeom prst="rect">
            <a:avLst/>
          </a:prstGeom>
        </p:spPr>
      </p:pic>
      <p:sp>
        <p:nvSpPr>
          <p:cNvPr id="46" name="i"/>
          <p:cNvSpPr/>
          <p:nvPr/>
        </p:nvSpPr>
        <p:spPr>
          <a:xfrm>
            <a:off x="4572000" y="3300016"/>
            <a:ext cx="57150" cy="57150"/>
          </a:xfrm>
          <a:prstGeom prst="ellipse">
            <a:avLst/>
          </a:prstGeom>
          <a:solidFill>
            <a:srgbClr val="00A94F"/>
          </a:solidFill>
          <a:ln/>
        </p:spPr>
      </p:sp>
      <p:pic>
        <p:nvPicPr>
          <p:cNvPr id="47" name="p2-chip" descr="p2-chip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21717" y="3464057"/>
            <a:ext cx="1595967" cy="334433"/>
          </a:xfrm>
          <a:prstGeom prst="rect">
            <a:avLst/>
          </a:prstGeom>
        </p:spPr>
      </p:pic>
      <p:sp>
        <p:nvSpPr>
          <p:cNvPr id="48" name="i"/>
          <p:cNvSpPr/>
          <p:nvPr/>
        </p:nvSpPr>
        <p:spPr>
          <a:xfrm>
            <a:off x="4572000" y="3579416"/>
            <a:ext cx="57150" cy="57150"/>
          </a:xfrm>
          <a:prstGeom prst="ellipse">
            <a:avLst/>
          </a:prstGeom>
          <a:solidFill>
            <a:srgbClr val="00A94F"/>
          </a:solidFill>
          <a:ln/>
        </p:spPr>
      </p:sp>
      <p:pic>
        <p:nvPicPr>
          <p:cNvPr id="49" name="ring p2-core" descr="ring p2-core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39000" y="2505207"/>
            <a:ext cx="1117600" cy="1102783"/>
          </a:xfrm>
          <a:prstGeom prst="rect">
            <a:avLst/>
          </a:prstGeom>
        </p:spPr>
      </p:pic>
      <p:sp>
        <p:nvSpPr>
          <p:cNvPr id="50" name="p2-tile p2-k2 b"/>
          <p:cNvSpPr/>
          <p:nvPr/>
        </p:nvSpPr>
        <p:spPr>
          <a:xfrm>
            <a:off x="4267200" y="4108748"/>
            <a:ext cx="4216400" cy="2253357"/>
          </a:xfrm>
          <a:prstGeom prst="roundRect">
            <a:avLst>
              <a:gd name="adj" fmla="val 6763"/>
            </a:avLst>
          </a:prstGeom>
          <a:solidFill>
            <a:srgbClr val="F3F6FA"/>
          </a:solidFill>
          <a:ln/>
        </p:spPr>
      </p:sp>
      <p:pic>
        <p:nvPicPr>
          <p:cNvPr id="51" name="p2-def" descr="p2-def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60189" y="4317471"/>
            <a:ext cx="12700" cy="342900"/>
          </a:xfrm>
          <a:prstGeom prst="rect">
            <a:avLst/>
          </a:prstGeom>
        </p:spPr>
      </p:pic>
      <p:pic>
        <p:nvPicPr>
          <p:cNvPr id="52" name="svg" descr="sv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62650" y="5029498"/>
            <a:ext cx="1397000" cy="850900"/>
          </a:xfrm>
          <a:prstGeom prst="rect">
            <a:avLst/>
          </a:prstGeom>
        </p:spPr>
      </p:pic>
      <p:pic>
        <p:nvPicPr>
          <p:cNvPr id="53" name="p2-chip" descr="p2-chip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21717" y="4894031"/>
            <a:ext cx="1595967" cy="332317"/>
          </a:xfrm>
          <a:prstGeom prst="rect">
            <a:avLst/>
          </a:prstGeom>
        </p:spPr>
      </p:pic>
      <p:sp>
        <p:nvSpPr>
          <p:cNvPr id="54" name="i"/>
          <p:cNvSpPr/>
          <p:nvPr/>
        </p:nvSpPr>
        <p:spPr>
          <a:xfrm>
            <a:off x="4572000" y="5007273"/>
            <a:ext cx="57150" cy="57150"/>
          </a:xfrm>
          <a:prstGeom prst="ellipse">
            <a:avLst/>
          </a:prstGeom>
          <a:solidFill>
            <a:srgbClr val="004B8D"/>
          </a:solidFill>
          <a:ln/>
        </p:spPr>
      </p:sp>
      <p:pic>
        <p:nvPicPr>
          <p:cNvPr id="55" name="p2-chip" descr="p2-chip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21717" y="5173431"/>
            <a:ext cx="1595967" cy="332317"/>
          </a:xfrm>
          <a:prstGeom prst="rect">
            <a:avLst/>
          </a:prstGeom>
        </p:spPr>
      </p:pic>
      <p:sp>
        <p:nvSpPr>
          <p:cNvPr id="56" name="i"/>
          <p:cNvSpPr/>
          <p:nvPr/>
        </p:nvSpPr>
        <p:spPr>
          <a:xfrm>
            <a:off x="4572000" y="5286673"/>
            <a:ext cx="57150" cy="57150"/>
          </a:xfrm>
          <a:prstGeom prst="ellipse">
            <a:avLst/>
          </a:prstGeom>
          <a:solidFill>
            <a:srgbClr val="004B8D"/>
          </a:solidFill>
          <a:ln/>
        </p:spPr>
      </p:sp>
      <p:pic>
        <p:nvPicPr>
          <p:cNvPr id="57" name="p2-chip" descr="p2-chip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21717" y="5452831"/>
            <a:ext cx="1595967" cy="332317"/>
          </a:xfrm>
          <a:prstGeom prst="rect">
            <a:avLst/>
          </a:prstGeom>
        </p:spPr>
      </p:pic>
      <p:sp>
        <p:nvSpPr>
          <p:cNvPr id="58" name="i"/>
          <p:cNvSpPr/>
          <p:nvPr/>
        </p:nvSpPr>
        <p:spPr>
          <a:xfrm>
            <a:off x="4572000" y="5566073"/>
            <a:ext cx="57150" cy="57150"/>
          </a:xfrm>
          <a:prstGeom prst="ellipse">
            <a:avLst/>
          </a:prstGeom>
          <a:solidFill>
            <a:srgbClr val="004B8D"/>
          </a:solidFill>
          <a:ln/>
        </p:spPr>
      </p:sp>
      <p:pic>
        <p:nvPicPr>
          <p:cNvPr id="59" name="p2-chip" descr="p2-chip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21717" y="5732231"/>
            <a:ext cx="1595967" cy="332317"/>
          </a:xfrm>
          <a:prstGeom prst="rect">
            <a:avLst/>
          </a:prstGeom>
        </p:spPr>
      </p:pic>
      <p:sp>
        <p:nvSpPr>
          <p:cNvPr id="60" name="i"/>
          <p:cNvSpPr/>
          <p:nvPr/>
        </p:nvSpPr>
        <p:spPr>
          <a:xfrm>
            <a:off x="4572000" y="5845473"/>
            <a:ext cx="57150" cy="57150"/>
          </a:xfrm>
          <a:prstGeom prst="ellipse">
            <a:avLst/>
          </a:prstGeom>
          <a:solidFill>
            <a:srgbClr val="004B8D"/>
          </a:solidFill>
          <a:ln/>
        </p:spPr>
      </p:sp>
      <p:pic>
        <p:nvPicPr>
          <p:cNvPr id="61" name="ring p2-core" descr="ring p2-core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39000" y="4913081"/>
            <a:ext cx="1117600" cy="1100667"/>
          </a:xfrm>
          <a:prstGeom prst="rect">
            <a:avLst/>
          </a:prstGeom>
        </p:spPr>
      </p:pic>
      <p:pic>
        <p:nvPicPr>
          <p:cNvPr id="62" name="key p2-hero" descr="key p2-hero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636000" y="1434174"/>
            <a:ext cx="3048000" cy="4927600"/>
          </a:xfrm>
          <a:prstGeom prst="rect">
            <a:avLst/>
          </a:prstGeom>
        </p:spPr>
      </p:pic>
      <p:pic>
        <p:nvPicPr>
          <p:cNvPr id="63" name="p2-emb" descr="p2-emb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81533" y="1921007"/>
            <a:ext cx="1490133" cy="931333"/>
          </a:xfrm>
          <a:prstGeom prst="rect">
            <a:avLst/>
          </a:prstGeom>
        </p:spPr>
      </p:pic>
      <p:sp>
        <p:nvSpPr>
          <p:cNvPr id="64" name="i"/>
          <p:cNvSpPr/>
          <p:nvPr/>
        </p:nvSpPr>
        <p:spPr>
          <a:xfrm>
            <a:off x="8864600" y="4000202"/>
            <a:ext cx="63500" cy="6350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65" name="b"/>
          <p:cNvSpPr/>
          <p:nvPr/>
        </p:nvSpPr>
        <p:spPr>
          <a:xfrm>
            <a:off x="8928100" y="4025602"/>
            <a:ext cx="88900" cy="12700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66" name="i"/>
          <p:cNvSpPr/>
          <p:nvPr/>
        </p:nvSpPr>
        <p:spPr>
          <a:xfrm>
            <a:off x="9017000" y="4000202"/>
            <a:ext cx="63500" cy="6350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67" name="b"/>
          <p:cNvSpPr/>
          <p:nvPr/>
        </p:nvSpPr>
        <p:spPr>
          <a:xfrm>
            <a:off x="9080500" y="4025602"/>
            <a:ext cx="88900" cy="12700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68" name="i"/>
          <p:cNvSpPr/>
          <p:nvPr/>
        </p:nvSpPr>
        <p:spPr>
          <a:xfrm>
            <a:off x="9169400" y="4000202"/>
            <a:ext cx="63500" cy="63500"/>
          </a:xfrm>
          <a:prstGeom prst="ellipse">
            <a:avLst/>
          </a:prstGeom>
          <a:solidFill>
            <a:srgbClr val="FDBB30"/>
          </a:solidFill>
          <a:ln/>
        </p:spPr>
      </p:sp>
      <p:pic>
        <p:nvPicPr>
          <p:cNvPr id="69" name="p2-go g" descr="p2-go 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019550" y="1910424"/>
            <a:ext cx="342900" cy="342900"/>
          </a:xfrm>
          <a:prstGeom prst="rect">
            <a:avLst/>
          </a:prstGeom>
        </p:spPr>
      </p:pic>
      <p:pic>
        <p:nvPicPr>
          <p:cNvPr id="70" name="svg" descr="sv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142317" y="2039541"/>
            <a:ext cx="97367" cy="84667"/>
          </a:xfrm>
          <a:prstGeom prst="rect">
            <a:avLst/>
          </a:prstGeom>
        </p:spPr>
      </p:pic>
      <p:pic>
        <p:nvPicPr>
          <p:cNvPr id="71" name="p2-go b" descr="p2-go b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19550" y="4317074"/>
            <a:ext cx="342900" cy="342900"/>
          </a:xfrm>
          <a:prstGeom prst="rect">
            <a:avLst/>
          </a:prstGeom>
        </p:spPr>
      </p:pic>
      <p:pic>
        <p:nvPicPr>
          <p:cNvPr id="72" name="svg" descr="sv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142317" y="4446191"/>
            <a:ext cx="97367" cy="84667"/>
          </a:xfrm>
          <a:prstGeom prst="rect">
            <a:avLst/>
          </a:prstGeom>
        </p:spPr>
      </p:pic>
      <p:pic>
        <p:nvPicPr>
          <p:cNvPr id="73" name="p2-pe" descr="p2-pe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950200" y="4024974"/>
            <a:ext cx="482600" cy="12700"/>
          </a:xfrm>
          <a:prstGeom prst="rect">
            <a:avLst/>
          </a:prstGeom>
        </p:spPr>
      </p:pic>
      <p:sp>
        <p:nvSpPr>
          <p:cNvPr id="74" name="p2-mop p2-plus"/>
          <p:cNvSpPr/>
          <p:nvPr/>
        </p:nvSpPr>
        <p:spPr>
          <a:xfrm>
            <a:off x="7651750" y="3887391"/>
            <a:ext cx="292100" cy="292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EDD"/>
            </a:solidFill>
            <a:prstDash val="solid"/>
          </a:ln>
        </p:spPr>
      </p:sp>
      <p:pic>
        <p:nvPicPr>
          <p:cNvPr id="75" name="svg" descr="sv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738533" y="3972057"/>
            <a:ext cx="118533" cy="118533"/>
          </a:xfrm>
          <a:prstGeom prst="rect">
            <a:avLst/>
          </a:prstGeom>
        </p:spPr>
      </p:pic>
      <p:sp>
        <p:nvSpPr>
          <p:cNvPr id="76" name="p2-mop p2-eq"/>
          <p:cNvSpPr/>
          <p:nvPr/>
        </p:nvSpPr>
        <p:spPr>
          <a:xfrm>
            <a:off x="8426450" y="3900091"/>
            <a:ext cx="266700" cy="2667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8DD"/>
            </a:solidFill>
            <a:prstDash val="solid"/>
          </a:ln>
        </p:spPr>
      </p:sp>
      <p:pic>
        <p:nvPicPr>
          <p:cNvPr id="77" name="svg" descr="sv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506883" y="4003807"/>
            <a:ext cx="105833" cy="55033"/>
          </a:xfrm>
          <a:prstGeom prst="rect">
            <a:avLst/>
          </a:prstGeom>
        </p:spPr>
      </p:pic>
      <p:sp>
        <p:nvSpPr>
          <p:cNvPr id="78" name="02"/>
          <p:cNvSpPr txBox="1"/>
          <p:nvPr/>
        </p:nvSpPr>
        <p:spPr>
          <a:xfrm>
            <a:off x="952500" y="292100"/>
            <a:ext cx="22096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20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02</a:t>
            </a:r>
            <a:endParaRPr lang="en-US" sz="1000" dirty="0"/>
          </a:p>
        </p:txBody>
      </p:sp>
      <p:sp>
        <p:nvSpPr>
          <p:cNvPr id="79" name="PT 주제 2. 가치관과 핵심키워드의 연결점 &amp; 입사 후 실천"/>
          <p:cNvSpPr txBox="1"/>
          <p:nvPr/>
        </p:nvSpPr>
        <p:spPr>
          <a:xfrm>
            <a:off x="1281410" y="292100"/>
            <a:ext cx="293713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10" kern="0" dirty="0">
                <a:solidFill>
                  <a:srgbClr val="6A7487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PT 주제 2. 가치관과 핵심키워드의 연결점 &amp; 입사 후 실천</a:t>
            </a:r>
            <a:endParaRPr lang="en-US" sz="1000" dirty="0"/>
          </a:p>
        </p:txBody>
      </p:sp>
      <p:sp>
        <p:nvSpPr>
          <p:cNvPr id="80" name="제가 중요하게 생각하는 ‘협업’의 가치는"/>
          <p:cNvSpPr txBox="1"/>
          <p:nvPr/>
        </p:nvSpPr>
        <p:spPr>
          <a:xfrm>
            <a:off x="508000" y="571500"/>
            <a:ext cx="279609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400" spc="-28" kern="0" dirty="0">
                <a:solidFill>
                  <a:srgbClr val="3D4757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제가 중요하게 생각하는 ‘협업’의 가치는</a:t>
            </a:r>
            <a:endParaRPr lang="en-US" sz="1400" dirty="0"/>
          </a:p>
        </p:txBody>
      </p:sp>
      <p:sp>
        <p:nvSpPr>
          <p:cNvPr id="81" name="현대엔지니어링의 ‘우리의 기술’과 맞닿아 있습니다."/>
          <p:cNvSpPr txBox="1"/>
          <p:nvPr/>
        </p:nvSpPr>
        <p:spPr>
          <a:xfrm>
            <a:off x="508000" y="821630"/>
            <a:ext cx="682271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2700" spc="-108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현대엔지니어링의 ‘</a:t>
            </a:r>
            <a:pPr algn="l" indent="0" marL="0">
              <a:buNone/>
            </a:pPr>
            <a:r>
              <a:rPr lang="ko-KR" altLang="en-US" sz="2700" spc="-108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우리의 기술</a:t>
            </a:r>
            <a:pPr algn="l" indent="0" marL="0">
              <a:buNone/>
            </a:pPr>
            <a:r>
              <a:rPr lang="ko-KR" altLang="en-US" sz="2700" spc="-108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’과 맞닿아 있습니다.</a:t>
            </a:r>
            <a:endParaRPr lang="en-US" sz="2700" dirty="0"/>
          </a:p>
        </p:txBody>
      </p:sp>
      <p:sp>
        <p:nvSpPr>
          <p:cNvPr id="82" name="MY VALUES"/>
          <p:cNvSpPr txBox="1"/>
          <p:nvPr/>
        </p:nvSpPr>
        <p:spPr>
          <a:xfrm>
            <a:off x="508000" y="1448991"/>
            <a:ext cx="78472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00" spc="72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MY VALUES</a:t>
            </a:r>
            <a:endParaRPr lang="en-US" sz="900" dirty="0"/>
          </a:p>
        </p:txBody>
      </p:sp>
      <p:sp>
        <p:nvSpPr>
          <p:cNvPr id="83" name="나의 가치관 · 공동의 목표를 공유하는 협업"/>
          <p:cNvSpPr txBox="1"/>
          <p:nvPr/>
        </p:nvSpPr>
        <p:spPr>
          <a:xfrm>
            <a:off x="1400671" y="1442641"/>
            <a:ext cx="213982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20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나의 가치관</a:t>
            </a:r>
            <a:pPr algn="l" indent="0" marL="0">
              <a:buNone/>
            </a:pPr>
            <a:r>
              <a:rPr lang="ko-KR" altLang="en-US" sz="1000" spc="-20" kern="0" dirty="0">
                <a:solidFill>
                  <a:srgbClr val="3D4757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 · 공동의 목표를 공유하는 협업</a:t>
            </a:r>
            <a:endParaRPr lang="en-US" sz="1000" dirty="0"/>
          </a:p>
        </p:txBody>
      </p:sp>
      <p:sp>
        <p:nvSpPr>
          <p:cNvPr id="84" name="현대엔지니어링"/>
          <p:cNvSpPr txBox="1"/>
          <p:nvPr/>
        </p:nvSpPr>
        <p:spPr>
          <a:xfrm>
            <a:off x="4267200" y="1442641"/>
            <a:ext cx="80139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20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현대엔지니어링</a:t>
            </a:r>
            <a:endParaRPr lang="en-US" sz="1000" dirty="0"/>
          </a:p>
        </p:txBody>
      </p:sp>
      <p:sp>
        <p:nvSpPr>
          <p:cNvPr id="85" name="저는 ‘우리의 기술’을 이렇게 이해했습니다"/>
          <p:cNvSpPr txBox="1"/>
          <p:nvPr/>
        </p:nvSpPr>
        <p:spPr>
          <a:xfrm>
            <a:off x="5176540" y="1442641"/>
            <a:ext cx="21090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20" kern="0" dirty="0">
                <a:solidFill>
                  <a:srgbClr val="3D4757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저는 ‘</a:t>
            </a:r>
            <a:pPr algn="l" indent="0" marL="0">
              <a:buNone/>
            </a:pPr>
            <a:r>
              <a:rPr lang="ko-KR" altLang="en-US" sz="1000" spc="-20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우리의 기술</a:t>
            </a:r>
            <a:pPr algn="l" indent="0" marL="0">
              <a:buNone/>
            </a:pPr>
            <a:r>
              <a:rPr lang="ko-KR" altLang="en-US" sz="1000" spc="-20" kern="0" dirty="0">
                <a:solidFill>
                  <a:srgbClr val="3D4757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’을 이렇게 이해했습니다</a:t>
            </a:r>
            <a:endParaRPr lang="en-US" sz="1000" dirty="0"/>
          </a:p>
        </p:txBody>
      </p:sp>
      <p:sp>
        <p:nvSpPr>
          <p:cNvPr id="86" name="01"/>
          <p:cNvSpPr txBox="1"/>
          <p:nvPr/>
        </p:nvSpPr>
        <p:spPr>
          <a:xfrm>
            <a:off x="774402" y="2017316"/>
            <a:ext cx="178296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spc="9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01</a:t>
            </a:r>
            <a:endParaRPr lang="en-US" sz="850" dirty="0"/>
          </a:p>
        </p:txBody>
      </p:sp>
      <p:sp>
        <p:nvSpPr>
          <p:cNvPr id="87" name="사람의 연결"/>
          <p:cNvSpPr txBox="1"/>
          <p:nvPr/>
        </p:nvSpPr>
        <p:spPr>
          <a:xfrm>
            <a:off x="1054100" y="1970980"/>
            <a:ext cx="82163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400" spc="-49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사람의 연결</a:t>
            </a:r>
            <a:endParaRPr lang="en-US" sz="1400" dirty="0"/>
          </a:p>
        </p:txBody>
      </p:sp>
      <p:sp>
        <p:nvSpPr>
          <p:cNvPr id="88" name="참신성"/>
          <p:cNvSpPr txBox="1"/>
          <p:nvPr/>
        </p:nvSpPr>
        <p:spPr>
          <a:xfrm>
            <a:off x="1442244" y="2556867"/>
            <a:ext cx="404713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spc="-22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참신성</a:t>
            </a:r>
            <a:endParaRPr lang="en-US" sz="1100" dirty="0"/>
          </a:p>
        </p:txBody>
      </p:sp>
      <p:sp>
        <p:nvSpPr>
          <p:cNvPr id="89" name="VS"/>
          <p:cNvSpPr txBox="1"/>
          <p:nvPr/>
        </p:nvSpPr>
        <p:spPr>
          <a:xfrm>
            <a:off x="2234704" y="2578795"/>
            <a:ext cx="204093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spc="17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VS</a:t>
            </a:r>
            <a:endParaRPr lang="en-US" sz="850" dirty="0"/>
          </a:p>
        </p:txBody>
      </p:sp>
      <p:sp>
        <p:nvSpPr>
          <p:cNvPr id="90" name="구현 가능성"/>
          <p:cNvSpPr txBox="1"/>
          <p:nvPr/>
        </p:nvSpPr>
        <p:spPr>
          <a:xfrm>
            <a:off x="2808288" y="2556867"/>
            <a:ext cx="66992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spc="-22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구현 가능성</a:t>
            </a:r>
            <a:endParaRPr lang="en-US" sz="1100" dirty="0"/>
          </a:p>
        </p:txBody>
      </p:sp>
      <p:sp>
        <p:nvSpPr>
          <p:cNvPr id="91" name="서로 다른 의견"/>
          <p:cNvSpPr txBox="1"/>
          <p:nvPr/>
        </p:nvSpPr>
        <p:spPr>
          <a:xfrm>
            <a:off x="1962150" y="2842320"/>
            <a:ext cx="74939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20" kern="0" dirty="0">
                <a:solidFill>
                  <a:srgbClr val="3D4757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서로 다른 의견</a:t>
            </a:r>
            <a:endParaRPr lang="en-US" sz="1000" dirty="0"/>
          </a:p>
        </p:txBody>
      </p:sp>
      <p:sp>
        <p:nvSpPr>
          <p:cNvPr id="92" name="공동의 기준으로 조율해 하나의 목표로"/>
          <p:cNvSpPr txBox="1"/>
          <p:nvPr/>
        </p:nvSpPr>
        <p:spPr>
          <a:xfrm>
            <a:off x="1155700" y="3431778"/>
            <a:ext cx="226876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spc="-42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공동의 기준으로 조율해 </a:t>
            </a:r>
            <a:pPr algn="l" indent="0" marL="0">
              <a:buNone/>
            </a:pPr>
            <a:r>
              <a:rPr lang="ko-KR" altLang="en-US" sz="1200" spc="-42" kern="0" dirty="0">
                <a:solidFill>
                  <a:srgbClr val="00A94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하나의 목표</a:t>
            </a:r>
            <a:pPr algn="l" indent="0" marL="0">
              <a:buNone/>
            </a:pPr>
            <a:r>
              <a:rPr lang="ko-KR" altLang="en-US" sz="1200" b="1" spc="-42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로</a:t>
            </a:r>
            <a:endParaRPr lang="en-US" sz="1200" dirty="0"/>
          </a:p>
        </p:txBody>
      </p:sp>
      <p:sp>
        <p:nvSpPr>
          <p:cNvPr id="93" name="02"/>
          <p:cNvSpPr txBox="1"/>
          <p:nvPr/>
        </p:nvSpPr>
        <p:spPr>
          <a:xfrm>
            <a:off x="766961" y="4423073"/>
            <a:ext cx="193278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spc="9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02</a:t>
            </a:r>
            <a:endParaRPr lang="en-US" sz="850" dirty="0"/>
          </a:p>
        </p:txBody>
      </p:sp>
      <p:sp>
        <p:nvSpPr>
          <p:cNvPr id="94" name="강점의 연결"/>
          <p:cNvSpPr txBox="1"/>
          <p:nvPr/>
        </p:nvSpPr>
        <p:spPr>
          <a:xfrm>
            <a:off x="1054100" y="4376738"/>
            <a:ext cx="82163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400" spc="-49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강점의 연결</a:t>
            </a:r>
            <a:endParaRPr lang="en-US" sz="1400" dirty="0"/>
          </a:p>
        </p:txBody>
      </p:sp>
      <p:sp>
        <p:nvSpPr>
          <p:cNvPr id="95" name="Dynamo 자동화"/>
          <p:cNvSpPr txBox="1"/>
          <p:nvPr/>
        </p:nvSpPr>
        <p:spPr>
          <a:xfrm>
            <a:off x="958850" y="4892774"/>
            <a:ext cx="964216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spc="-22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Dynamo 자동화</a:t>
            </a:r>
            <a:endParaRPr lang="en-US" sz="1100" dirty="0"/>
          </a:p>
        </p:txBody>
      </p:sp>
      <p:sp>
        <p:nvSpPr>
          <p:cNvPr id="96" name="모듈러 설계"/>
          <p:cNvSpPr txBox="1"/>
          <p:nvPr/>
        </p:nvSpPr>
        <p:spPr>
          <a:xfrm>
            <a:off x="2597150" y="4892774"/>
            <a:ext cx="66992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spc="-22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모듈러 설계</a:t>
            </a:r>
            <a:endParaRPr lang="en-US" sz="1100" dirty="0"/>
          </a:p>
        </p:txBody>
      </p:sp>
      <p:sp>
        <p:nvSpPr>
          <p:cNvPr id="97" name="BIM 모델링"/>
          <p:cNvSpPr txBox="1"/>
          <p:nvPr/>
        </p:nvSpPr>
        <p:spPr>
          <a:xfrm>
            <a:off x="958850" y="5248374"/>
            <a:ext cx="67508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spc="-22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BIM 모델링</a:t>
            </a:r>
            <a:endParaRPr lang="en-US" sz="1100" dirty="0"/>
          </a:p>
        </p:txBody>
      </p:sp>
      <p:sp>
        <p:nvSpPr>
          <p:cNvPr id="98" name="시나리오 구성"/>
          <p:cNvSpPr txBox="1"/>
          <p:nvPr/>
        </p:nvSpPr>
        <p:spPr>
          <a:xfrm>
            <a:off x="2597150" y="5248374"/>
            <a:ext cx="787896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spc="-22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시나리오 구성</a:t>
            </a:r>
            <a:endParaRPr lang="en-US" sz="1100" dirty="0"/>
          </a:p>
        </p:txBody>
      </p:sp>
      <p:sp>
        <p:nvSpPr>
          <p:cNvPr id="99" name="각자의 강점을 모아 하나의 성과로"/>
          <p:cNvSpPr txBox="1"/>
          <p:nvPr/>
        </p:nvSpPr>
        <p:spPr>
          <a:xfrm>
            <a:off x="1155700" y="5837535"/>
            <a:ext cx="2000790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spc="-42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각자의 강점을 모아 </a:t>
            </a:r>
            <a:pPr algn="l" indent="0" marL="0">
              <a:buNone/>
            </a:pPr>
            <a:r>
              <a:rPr lang="ko-KR" altLang="en-US" sz="1200" spc="-42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하나의 성과</a:t>
            </a:r>
            <a:pPr algn="l" indent="0" marL="0">
              <a:buNone/>
            </a:pPr>
            <a:r>
              <a:rPr lang="ko-KR" altLang="en-US" sz="1200" b="1" spc="-42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로</a:t>
            </a:r>
            <a:endParaRPr lang="en-US" sz="1200" dirty="0"/>
          </a:p>
        </p:txBody>
      </p:sp>
      <p:sp>
        <p:nvSpPr>
          <p:cNvPr id="100" name="우리"/>
          <p:cNvSpPr txBox="1"/>
          <p:nvPr/>
        </p:nvSpPr>
        <p:spPr>
          <a:xfrm>
            <a:off x="4470400" y="1912541"/>
            <a:ext cx="511473" cy="336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2200" spc="-88" kern="0" dirty="0">
                <a:solidFill>
                  <a:srgbClr val="00A94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우리</a:t>
            </a:r>
            <a:endParaRPr lang="en-US" sz="2200" dirty="0"/>
          </a:p>
        </p:txBody>
      </p:sp>
      <p:sp>
        <p:nvSpPr>
          <p:cNvPr id="101" name="OUR"/>
          <p:cNvSpPr txBox="1"/>
          <p:nvPr/>
        </p:nvSpPr>
        <p:spPr>
          <a:xfrm>
            <a:off x="5197773" y="1913830"/>
            <a:ext cx="323354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spc="119" kern="0" dirty="0">
                <a:solidFill>
                  <a:srgbClr val="00A94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OUR</a:t>
            </a:r>
            <a:endParaRPr lang="en-US" sz="850" dirty="0"/>
          </a:p>
        </p:txBody>
      </p:sp>
      <p:sp>
        <p:nvSpPr>
          <p:cNvPr id="102" name="사람과 전문성의 연결"/>
          <p:cNvSpPr txBox="1"/>
          <p:nvPr/>
        </p:nvSpPr>
        <p:spPr>
          <a:xfrm>
            <a:off x="5197773" y="2056011"/>
            <a:ext cx="1372177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300" spc="-46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사람과 전문성의 연결</a:t>
            </a:r>
            <a:endParaRPr lang="en-US" sz="1300" dirty="0"/>
          </a:p>
        </p:txBody>
      </p:sp>
      <p:sp>
        <p:nvSpPr>
          <p:cNvPr id="103" name="설계"/>
          <p:cNvSpPr txBox="1"/>
          <p:nvPr/>
        </p:nvSpPr>
        <p:spPr>
          <a:xfrm>
            <a:off x="4686300" y="2411016"/>
            <a:ext cx="26531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spc="-20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설계</a:t>
            </a:r>
            <a:endParaRPr lang="en-US" sz="1000" dirty="0"/>
          </a:p>
        </p:txBody>
      </p:sp>
      <p:sp>
        <p:nvSpPr>
          <p:cNvPr id="104" name="시공"/>
          <p:cNvSpPr txBox="1"/>
          <p:nvPr/>
        </p:nvSpPr>
        <p:spPr>
          <a:xfrm>
            <a:off x="4686300" y="2690416"/>
            <a:ext cx="26531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spc="-20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시공</a:t>
            </a:r>
            <a:endParaRPr lang="en-US" sz="1000" dirty="0"/>
          </a:p>
        </p:txBody>
      </p:sp>
      <p:sp>
        <p:nvSpPr>
          <p:cNvPr id="105" name="협력업체"/>
          <p:cNvSpPr txBox="1"/>
          <p:nvPr/>
        </p:nvSpPr>
        <p:spPr>
          <a:xfrm>
            <a:off x="4686300" y="2969816"/>
            <a:ext cx="47972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spc="-20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협력업체</a:t>
            </a:r>
            <a:endParaRPr lang="en-US" sz="1000" dirty="0"/>
          </a:p>
        </p:txBody>
      </p:sp>
      <p:sp>
        <p:nvSpPr>
          <p:cNvPr id="106" name="발주처"/>
          <p:cNvSpPr txBox="1"/>
          <p:nvPr/>
        </p:nvSpPr>
        <p:spPr>
          <a:xfrm>
            <a:off x="4686300" y="3249216"/>
            <a:ext cx="37246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spc="-20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발주처</a:t>
            </a:r>
            <a:endParaRPr lang="en-US" sz="1000" dirty="0"/>
          </a:p>
        </p:txBody>
      </p:sp>
      <p:sp>
        <p:nvSpPr>
          <p:cNvPr id="107" name="유관부서"/>
          <p:cNvSpPr txBox="1"/>
          <p:nvPr/>
        </p:nvSpPr>
        <p:spPr>
          <a:xfrm>
            <a:off x="4686300" y="3528616"/>
            <a:ext cx="47972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spc="-20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유관부서</a:t>
            </a:r>
            <a:endParaRPr lang="en-US" sz="1000" dirty="0"/>
          </a:p>
        </p:txBody>
      </p:sp>
      <p:sp>
        <p:nvSpPr>
          <p:cNvPr id="108" name="하나의 목표"/>
          <p:cNvSpPr txBox="1"/>
          <p:nvPr/>
        </p:nvSpPr>
        <p:spPr>
          <a:xfrm>
            <a:off x="7505005" y="2775148"/>
            <a:ext cx="585589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spc="-19" kern="0" dirty="0">
                <a:solidFill>
                  <a:srgbClr val="00A94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하나의 목표</a:t>
            </a:r>
            <a:endParaRPr lang="en-US" sz="950" dirty="0"/>
          </a:p>
        </p:txBody>
      </p:sp>
      <p:sp>
        <p:nvSpPr>
          <p:cNvPr id="109" name="프로젝트"/>
          <p:cNvSpPr txBox="1"/>
          <p:nvPr/>
        </p:nvSpPr>
        <p:spPr>
          <a:xfrm>
            <a:off x="7510661" y="2945309"/>
            <a:ext cx="57427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spc="-50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프로젝트</a:t>
            </a:r>
            <a:endParaRPr lang="en-US" sz="1250" dirty="0"/>
          </a:p>
        </p:txBody>
      </p:sp>
      <p:sp>
        <p:nvSpPr>
          <p:cNvPr id="110" name="완수"/>
          <p:cNvSpPr txBox="1"/>
          <p:nvPr/>
        </p:nvSpPr>
        <p:spPr>
          <a:xfrm>
            <a:off x="7641530" y="3127871"/>
            <a:ext cx="3125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spc="-50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완수</a:t>
            </a:r>
            <a:endParaRPr lang="en-US" sz="1250" dirty="0"/>
          </a:p>
        </p:txBody>
      </p:sp>
      <p:sp>
        <p:nvSpPr>
          <p:cNvPr id="111" name="기술"/>
          <p:cNvSpPr txBox="1"/>
          <p:nvPr/>
        </p:nvSpPr>
        <p:spPr>
          <a:xfrm>
            <a:off x="4470400" y="4318298"/>
            <a:ext cx="511473" cy="336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2200" spc="-88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기술</a:t>
            </a:r>
            <a:endParaRPr lang="en-US" sz="2200" dirty="0"/>
          </a:p>
        </p:txBody>
      </p:sp>
      <p:sp>
        <p:nvSpPr>
          <p:cNvPr id="112" name="TECHNOLOGY"/>
          <p:cNvSpPr txBox="1"/>
          <p:nvPr/>
        </p:nvSpPr>
        <p:spPr>
          <a:xfrm>
            <a:off x="5197773" y="4319588"/>
            <a:ext cx="948335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spc="119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TECHNOLOGY</a:t>
            </a:r>
            <a:endParaRPr lang="en-US" sz="850" dirty="0"/>
          </a:p>
        </p:txBody>
      </p:sp>
      <p:sp>
        <p:nvSpPr>
          <p:cNvPr id="113" name="미래 가치를 만드는 원동력"/>
          <p:cNvSpPr txBox="1"/>
          <p:nvPr/>
        </p:nvSpPr>
        <p:spPr>
          <a:xfrm>
            <a:off x="5197773" y="4461768"/>
            <a:ext cx="1695476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300" spc="-46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미래 가치를 만드는 원동력</a:t>
            </a:r>
            <a:endParaRPr lang="en-US" sz="1300" dirty="0"/>
          </a:p>
        </p:txBody>
      </p:sp>
      <p:sp>
        <p:nvSpPr>
          <p:cNvPr id="114" name="에너지 원천기술"/>
          <p:cNvSpPr txBox="1"/>
          <p:nvPr/>
        </p:nvSpPr>
        <p:spPr>
          <a:xfrm>
            <a:off x="4686300" y="4956473"/>
            <a:ext cx="8280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spc="-20" kern="0" dirty="0">
                <a:solidFill>
                  <a:srgbClr val="004B8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에너지 원천기술</a:t>
            </a:r>
            <a:endParaRPr lang="en-US" sz="1000" dirty="0"/>
          </a:p>
        </p:txBody>
      </p:sp>
      <p:sp>
        <p:nvSpPr>
          <p:cNvPr id="115" name="글로벌 EPC 역량"/>
          <p:cNvSpPr txBox="1"/>
          <p:nvPr/>
        </p:nvSpPr>
        <p:spPr>
          <a:xfrm>
            <a:off x="4686300" y="5235873"/>
            <a:ext cx="87858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spc="-20" kern="0" dirty="0">
                <a:solidFill>
                  <a:srgbClr val="004B8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글로벌 EPC 역량</a:t>
            </a:r>
            <a:endParaRPr lang="en-US" sz="1000" dirty="0"/>
          </a:p>
        </p:txBody>
      </p:sp>
      <p:sp>
        <p:nvSpPr>
          <p:cNvPr id="116" name="첨단 산업건축 기술"/>
          <p:cNvSpPr txBox="1"/>
          <p:nvPr/>
        </p:nvSpPr>
        <p:spPr>
          <a:xfrm>
            <a:off x="4686300" y="5515273"/>
            <a:ext cx="96600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spc="-20" kern="0" dirty="0">
                <a:solidFill>
                  <a:srgbClr val="004B8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첨단 산업건축 기술</a:t>
            </a:r>
            <a:endParaRPr lang="en-US" sz="1000" dirty="0"/>
          </a:p>
        </p:txBody>
      </p:sp>
      <p:sp>
        <p:nvSpPr>
          <p:cNvPr id="117" name="스마트건설 기술"/>
          <p:cNvSpPr txBox="1"/>
          <p:nvPr/>
        </p:nvSpPr>
        <p:spPr>
          <a:xfrm>
            <a:off x="4686300" y="5794673"/>
            <a:ext cx="8280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spc="-20" kern="0" dirty="0">
                <a:solidFill>
                  <a:srgbClr val="004B8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스마트건설 기술</a:t>
            </a:r>
            <a:endParaRPr lang="en-US" sz="1000" dirty="0"/>
          </a:p>
        </p:txBody>
      </p:sp>
      <p:sp>
        <p:nvSpPr>
          <p:cNvPr id="118" name="기술의 연결"/>
          <p:cNvSpPr txBox="1"/>
          <p:nvPr/>
        </p:nvSpPr>
        <p:spPr>
          <a:xfrm>
            <a:off x="7505005" y="5180905"/>
            <a:ext cx="585589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spc="-19" kern="0" dirty="0">
                <a:solidFill>
                  <a:srgbClr val="004B8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기술의 연결</a:t>
            </a:r>
            <a:endParaRPr lang="en-US" sz="950" dirty="0"/>
          </a:p>
        </p:txBody>
      </p:sp>
      <p:sp>
        <p:nvSpPr>
          <p:cNvPr id="119" name="미래 가치"/>
          <p:cNvSpPr txBox="1"/>
          <p:nvPr/>
        </p:nvSpPr>
        <p:spPr>
          <a:xfrm>
            <a:off x="7496076" y="5351066"/>
            <a:ext cx="6034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spc="-50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미래 가치</a:t>
            </a:r>
            <a:endParaRPr lang="en-US" sz="1250" dirty="0"/>
          </a:p>
        </p:txBody>
      </p:sp>
      <p:sp>
        <p:nvSpPr>
          <p:cNvPr id="120" name="창출"/>
          <p:cNvSpPr txBox="1"/>
          <p:nvPr/>
        </p:nvSpPr>
        <p:spPr>
          <a:xfrm>
            <a:off x="7641530" y="5533628"/>
            <a:ext cx="3125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spc="-50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창출</a:t>
            </a:r>
            <a:endParaRPr lang="en-US" sz="1250" dirty="0"/>
          </a:p>
        </p:txBody>
      </p:sp>
      <p:sp>
        <p:nvSpPr>
          <p:cNvPr id="121" name="선정 이유"/>
          <p:cNvSpPr txBox="1"/>
          <p:nvPr/>
        </p:nvSpPr>
        <p:spPr>
          <a:xfrm>
            <a:off x="9309100" y="3943449"/>
            <a:ext cx="593923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spc="44" kern="0" dirty="0">
                <a:solidFill>
                  <a:srgbClr val="8FD3F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선정 이유</a:t>
            </a:r>
            <a:endParaRPr lang="en-US" sz="1100" dirty="0"/>
          </a:p>
        </p:txBody>
      </p:sp>
      <p:sp>
        <p:nvSpPr>
          <p:cNvPr id="122" name="서로 다른 사람과 전문성이"/>
          <p:cNvSpPr txBox="1"/>
          <p:nvPr/>
        </p:nvSpPr>
        <p:spPr>
          <a:xfrm>
            <a:off x="8864600" y="4292005"/>
            <a:ext cx="2352485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800" b="1" spc="-63" kern="0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서로 다른 사람과 전문성이</a:t>
            </a:r>
            <a:endParaRPr lang="en-US" sz="1800" dirty="0"/>
          </a:p>
        </p:txBody>
      </p:sp>
      <p:sp>
        <p:nvSpPr>
          <p:cNvPr id="123" name="하나의 목표로 연결될 때,"/>
          <p:cNvSpPr txBox="1"/>
          <p:nvPr/>
        </p:nvSpPr>
        <p:spPr>
          <a:xfrm>
            <a:off x="8864600" y="4634905"/>
            <a:ext cx="2212711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800" b="1" spc="-63" kern="0" dirty="0">
                <a:solidFill>
                  <a:srgbClr val="FDBB30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하나의 목표</a:t>
            </a:r>
            <a:pPr algn="l" indent="0" marL="0">
              <a:buNone/>
            </a:pPr>
            <a:r>
              <a:rPr lang="ko-KR" altLang="en-US" sz="1800" b="1" spc="-63" kern="0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로 연결될 때,</a:t>
            </a:r>
            <a:endParaRPr lang="en-US" sz="1800" dirty="0"/>
          </a:p>
        </p:txBody>
      </p:sp>
      <p:sp>
        <p:nvSpPr>
          <p:cNvPr id="124" name="기술은 더 큰 가능성을"/>
          <p:cNvSpPr txBox="1"/>
          <p:nvPr/>
        </p:nvSpPr>
        <p:spPr>
          <a:xfrm>
            <a:off x="8864600" y="4977805"/>
            <a:ext cx="1950623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800" b="1" spc="-63" kern="0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기술은 더 큰 가능성을</a:t>
            </a:r>
            <a:endParaRPr lang="en-US" sz="1800" dirty="0"/>
          </a:p>
        </p:txBody>
      </p:sp>
      <p:sp>
        <p:nvSpPr>
          <p:cNvPr id="125" name="발휘하고 새로운 미래 가치를"/>
          <p:cNvSpPr txBox="1"/>
          <p:nvPr/>
        </p:nvSpPr>
        <p:spPr>
          <a:xfrm>
            <a:off x="8864600" y="5320705"/>
            <a:ext cx="2553468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800" b="1" spc="-63" kern="0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발휘하고 </a:t>
            </a:r>
            <a:pPr algn="l" indent="0" marL="0">
              <a:buNone/>
            </a:pPr>
            <a:r>
              <a:rPr lang="ko-KR" altLang="en-US" sz="1800" b="1" spc="-63" kern="0" dirty="0">
                <a:solidFill>
                  <a:srgbClr val="FDBB30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새로운 미래 가치</a:t>
            </a:r>
            <a:pPr algn="l" indent="0" marL="0">
              <a:buNone/>
            </a:pPr>
            <a:r>
              <a:rPr lang="ko-KR" altLang="en-US" sz="1800" b="1" spc="-63" kern="0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를</a:t>
            </a:r>
            <a:endParaRPr lang="en-US" sz="1800" dirty="0"/>
          </a:p>
        </p:txBody>
      </p:sp>
      <p:sp>
        <p:nvSpPr>
          <p:cNvPr id="126" name="만들어간다고 믿습니다."/>
          <p:cNvSpPr txBox="1"/>
          <p:nvPr/>
        </p:nvSpPr>
        <p:spPr>
          <a:xfrm>
            <a:off x="8864600" y="5663605"/>
            <a:ext cx="2116794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800" b="1" spc="-63" kern="0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만들어간다고 믿습니다.</a:t>
            </a:r>
            <a:endParaRPr lang="en-US" sz="1800" dirty="0"/>
          </a:p>
        </p:txBody>
      </p:sp>
      <p:sp>
        <p:nvSpPr>
          <p:cNvPr id="127" name="2026년 하반기 신입사원 공개채용 | 공사관리 건축 직무 지원자 이현준"/>
          <p:cNvSpPr txBox="1"/>
          <p:nvPr/>
        </p:nvSpPr>
        <p:spPr>
          <a:xfrm>
            <a:off x="508000" y="6527205"/>
            <a:ext cx="32736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00" spc="-9" kern="0" dirty="0">
                <a:solidFill>
                  <a:srgbClr val="6A7487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2026년 하반기 신입사원 공개채용 | 공사관리 건축 직무 지원자 이현준</a:t>
            </a:r>
            <a:endParaRPr lang="en-US" sz="900" dirty="0"/>
          </a:p>
        </p:txBody>
      </p:sp>
      <p:sp>
        <p:nvSpPr>
          <p:cNvPr id="128" name="02 / 03"/>
          <p:cNvSpPr txBox="1"/>
          <p:nvPr/>
        </p:nvSpPr>
        <p:spPr>
          <a:xfrm>
            <a:off x="11243766" y="6527205"/>
            <a:ext cx="49103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00" spc="54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02</a:t>
            </a:r>
            <a:pPr algn="l" indent="0" marL="0">
              <a:buNone/>
            </a:pPr>
            <a:r>
              <a:rPr lang="ko-KR" altLang="en-US" sz="900" b="1" spc="54" kern="0" dirty="0">
                <a:solidFill>
                  <a:srgbClr val="3D475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 / 03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"/>
          <p:cNvSpPr/>
          <p:nvPr/>
        </p:nvSpPr>
        <p:spPr>
          <a:xfrm>
            <a:off x="508000" y="339725"/>
            <a:ext cx="63500" cy="6350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4" name="b"/>
          <p:cNvSpPr/>
          <p:nvPr/>
        </p:nvSpPr>
        <p:spPr>
          <a:xfrm>
            <a:off x="571500" y="365125"/>
            <a:ext cx="88900" cy="12700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5" name="i"/>
          <p:cNvSpPr/>
          <p:nvPr/>
        </p:nvSpPr>
        <p:spPr>
          <a:xfrm>
            <a:off x="660400" y="339725"/>
            <a:ext cx="63500" cy="6350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6" name="b"/>
          <p:cNvSpPr/>
          <p:nvPr/>
        </p:nvSpPr>
        <p:spPr>
          <a:xfrm>
            <a:off x="723900" y="365125"/>
            <a:ext cx="88900" cy="12700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7" name="i"/>
          <p:cNvSpPr/>
          <p:nvPr/>
        </p:nvSpPr>
        <p:spPr>
          <a:xfrm>
            <a:off x="812800" y="339725"/>
            <a:ext cx="63500" cy="63500"/>
          </a:xfrm>
          <a:prstGeom prst="ellipse">
            <a:avLst/>
          </a:prstGeom>
          <a:solidFill>
            <a:srgbClr val="FDBB30"/>
          </a:solidFill>
          <a:ln/>
        </p:spPr>
      </p:sp>
      <p:pic>
        <p:nvPicPr>
          <p:cNvPr id="8" name="hd-no" descr="hd-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150" y="317500"/>
            <a:ext cx="6350" cy="101600"/>
          </a:xfrm>
          <a:prstGeom prst="rect">
            <a:avLst/>
          </a:prstGeom>
        </p:spPr>
      </p:pic>
      <p:pic>
        <p:nvPicPr>
          <p:cNvPr id="9" name="img" descr="im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5535" y="237662"/>
            <a:ext cx="1526117" cy="268817"/>
          </a:xfrm>
          <a:prstGeom prst="rect">
            <a:avLst/>
          </a:prstGeom>
        </p:spPr>
      </p:pic>
      <p:sp>
        <p:nvSpPr>
          <p:cNvPr id="10" name="p3-tile p3-c1"/>
          <p:cNvSpPr/>
          <p:nvPr/>
        </p:nvSpPr>
        <p:spPr>
          <a:xfrm>
            <a:off x="508000" y="1436291"/>
            <a:ext cx="2762250" cy="4013200"/>
          </a:xfrm>
          <a:prstGeom prst="roundRect">
            <a:avLst>
              <a:gd name="adj" fmla="val 5517"/>
            </a:avLst>
          </a:prstGeom>
          <a:solidFill>
            <a:srgbClr val="F3F6FA"/>
          </a:solidFill>
          <a:ln/>
        </p:spPr>
      </p:sp>
      <p:sp>
        <p:nvSpPr>
          <p:cNvPr id="11" name="p3-tile p3-c2"/>
          <p:cNvSpPr/>
          <p:nvPr/>
        </p:nvSpPr>
        <p:spPr>
          <a:xfrm>
            <a:off x="3721100" y="1436291"/>
            <a:ext cx="3816350" cy="1930400"/>
          </a:xfrm>
          <a:prstGeom prst="roundRect">
            <a:avLst>
              <a:gd name="adj" fmla="val 7895"/>
            </a:avLst>
          </a:prstGeom>
          <a:solidFill>
            <a:srgbClr val="F3F6FA"/>
          </a:solidFill>
          <a:ln/>
        </p:spPr>
      </p:sp>
      <p:sp>
        <p:nvSpPr>
          <p:cNvPr id="12" name="p3-tile p3-c3"/>
          <p:cNvSpPr/>
          <p:nvPr/>
        </p:nvSpPr>
        <p:spPr>
          <a:xfrm>
            <a:off x="3721100" y="3519091"/>
            <a:ext cx="3816350" cy="1930400"/>
          </a:xfrm>
          <a:prstGeom prst="roundRect">
            <a:avLst>
              <a:gd name="adj" fmla="val 7895"/>
            </a:avLst>
          </a:prstGeom>
          <a:solidFill>
            <a:srgbClr val="F3F6FA"/>
          </a:solidFill>
          <a:ln/>
        </p:spPr>
      </p:sp>
      <p:pic>
        <p:nvPicPr>
          <p:cNvPr id="13" name="p3-tile p3-c4" descr="p3-tile p3-c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300" y="1434174"/>
            <a:ext cx="3695700" cy="4013200"/>
          </a:xfrm>
          <a:prstGeom prst="rect">
            <a:avLst/>
          </a:prstGeom>
        </p:spPr>
      </p:pic>
      <p:sp>
        <p:nvSpPr>
          <p:cNvPr id="14" name="p3-a p3-rule"/>
          <p:cNvSpPr/>
          <p:nvPr/>
        </p:nvSpPr>
        <p:spPr>
          <a:xfrm>
            <a:off x="8191500" y="4001691"/>
            <a:ext cx="3289300" cy="6350"/>
          </a:xfrm>
          <a:prstGeom prst="roundRect">
            <a:avLst/>
          </a:prstGeom>
          <a:solidFill>
            <a:srgbClr val="FFFFFF">
              <a:alpha val="14000"/>
            </a:srgbClr>
          </a:solidFill>
          <a:ln/>
        </p:spPr>
      </p:sp>
      <p:pic>
        <p:nvPicPr>
          <p:cNvPr id="15" name="svg" descr="sv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333" y="1946407"/>
            <a:ext cx="8830733" cy="2783417"/>
          </a:xfrm>
          <a:prstGeom prst="rect">
            <a:avLst/>
          </a:prstGeom>
        </p:spPr>
      </p:pic>
      <p:sp>
        <p:nvSpPr>
          <p:cNvPr id="16" name="p3-st"/>
          <p:cNvSpPr/>
          <p:nvPr/>
        </p:nvSpPr>
        <p:spPr>
          <a:xfrm>
            <a:off x="711200" y="1639491"/>
            <a:ext cx="659309" cy="203200"/>
          </a:xfrm>
          <a:prstGeom prst="roundRect">
            <a:avLst>
              <a:gd name="adj" fmla="val 50000"/>
            </a:avLst>
          </a:prstGeom>
          <a:solidFill>
            <a:srgbClr val="FDBB30"/>
          </a:solidFill>
          <a:ln/>
        </p:spPr>
      </p:sp>
      <p:pic>
        <p:nvPicPr>
          <p:cNvPr id="17" name="p3-a p3-node p3-field" descr="p3-a p3-node p3-fiel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602574"/>
            <a:ext cx="863600" cy="863600"/>
          </a:xfrm>
          <a:prstGeom prst="rect">
            <a:avLst/>
          </a:prstGeom>
        </p:spPr>
      </p:pic>
      <p:pic>
        <p:nvPicPr>
          <p:cNvPr id="18" name="ic" descr="ic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583" y="2889978"/>
            <a:ext cx="232833" cy="107950"/>
          </a:xfrm>
          <a:prstGeom prst="rect">
            <a:avLst/>
          </a:prstGeom>
        </p:spPr>
      </p:pic>
      <p:pic>
        <p:nvPicPr>
          <p:cNvPr id="19" name="p3-a p3-pill" descr="p3-a p3-pil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5650" y="2826941"/>
            <a:ext cx="1117600" cy="438150"/>
          </a:xfrm>
          <a:prstGeom prst="rect">
            <a:avLst/>
          </a:prstGeom>
        </p:spPr>
      </p:pic>
      <p:pic>
        <p:nvPicPr>
          <p:cNvPr id="20" name="ic" descr="ic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0257" y="2975107"/>
            <a:ext cx="118533" cy="118533"/>
          </a:xfrm>
          <a:prstGeom prst="rect">
            <a:avLst/>
          </a:prstGeom>
        </p:spPr>
      </p:pic>
      <p:pic>
        <p:nvPicPr>
          <p:cNvPr id="21" name="li" descr="li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200" y="4456774"/>
            <a:ext cx="88900" cy="12700"/>
          </a:xfrm>
          <a:prstGeom prst="rect">
            <a:avLst/>
          </a:prstGeom>
        </p:spPr>
      </p:pic>
      <p:pic>
        <p:nvPicPr>
          <p:cNvPr id="22" name="li" descr="li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200" y="4717124"/>
            <a:ext cx="88900" cy="12700"/>
          </a:xfrm>
          <a:prstGeom prst="rect">
            <a:avLst/>
          </a:prstGeom>
        </p:spPr>
      </p:pic>
      <p:pic>
        <p:nvPicPr>
          <p:cNvPr id="23" name="li" descr="li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200" y="4977474"/>
            <a:ext cx="88900" cy="12700"/>
          </a:xfrm>
          <a:prstGeom prst="rect">
            <a:avLst/>
          </a:prstGeom>
        </p:spPr>
      </p:pic>
      <p:sp>
        <p:nvSpPr>
          <p:cNvPr id="24" name="p3-a p3-node p3-pp"/>
          <p:cNvSpPr/>
          <p:nvPr/>
        </p:nvSpPr>
        <p:spPr>
          <a:xfrm>
            <a:off x="3933825" y="1649016"/>
            <a:ext cx="692150" cy="692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94F"/>
            </a:solidFill>
            <a:prstDash val="solid"/>
          </a:ln>
        </p:spPr>
      </p:sp>
      <p:pic>
        <p:nvPicPr>
          <p:cNvPr id="25" name="ic" descr="ic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9467" y="1818117"/>
            <a:ext cx="160867" cy="160867"/>
          </a:xfrm>
          <a:prstGeom prst="rect">
            <a:avLst/>
          </a:prstGeom>
        </p:spPr>
      </p:pic>
      <p:sp>
        <p:nvSpPr>
          <p:cNvPr id="26" name="p3-st"/>
          <p:cNvSpPr/>
          <p:nvPr/>
        </p:nvSpPr>
        <p:spPr>
          <a:xfrm>
            <a:off x="4813300" y="1639491"/>
            <a:ext cx="674390" cy="203200"/>
          </a:xfrm>
          <a:prstGeom prst="roundRect">
            <a:avLst>
              <a:gd name="adj" fmla="val 50000"/>
            </a:avLst>
          </a:prstGeom>
          <a:solidFill>
            <a:srgbClr val="00A94F"/>
          </a:solidFill>
          <a:ln/>
        </p:spPr>
      </p:sp>
      <p:pic>
        <p:nvPicPr>
          <p:cNvPr id="27" name="li" descr="li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13300" y="2374338"/>
            <a:ext cx="88900" cy="12700"/>
          </a:xfrm>
          <a:prstGeom prst="rect">
            <a:avLst/>
          </a:prstGeom>
        </p:spPr>
      </p:pic>
      <p:pic>
        <p:nvPicPr>
          <p:cNvPr id="28" name="li" descr="li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13300" y="2634688"/>
            <a:ext cx="88900" cy="12700"/>
          </a:xfrm>
          <a:prstGeom prst="rect">
            <a:avLst/>
          </a:prstGeom>
        </p:spPr>
      </p:pic>
      <p:sp>
        <p:nvSpPr>
          <p:cNvPr id="29" name="p3-a p3-node p3-tc"/>
          <p:cNvSpPr/>
          <p:nvPr/>
        </p:nvSpPr>
        <p:spPr>
          <a:xfrm>
            <a:off x="3933825" y="3731816"/>
            <a:ext cx="692150" cy="692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4B8D"/>
            </a:solidFill>
            <a:prstDash val="solid"/>
          </a:ln>
        </p:spPr>
      </p:sp>
      <p:pic>
        <p:nvPicPr>
          <p:cNvPr id="30" name="ic" descr="ic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07933" y="3900917"/>
            <a:ext cx="143933" cy="160867"/>
          </a:xfrm>
          <a:prstGeom prst="rect">
            <a:avLst/>
          </a:prstGeom>
        </p:spPr>
      </p:pic>
      <p:sp>
        <p:nvSpPr>
          <p:cNvPr id="31" name="p3-st"/>
          <p:cNvSpPr/>
          <p:nvPr/>
        </p:nvSpPr>
        <p:spPr>
          <a:xfrm>
            <a:off x="4813300" y="3722291"/>
            <a:ext cx="677466" cy="203200"/>
          </a:xfrm>
          <a:prstGeom prst="roundRect">
            <a:avLst>
              <a:gd name="adj" fmla="val 50000"/>
            </a:avLst>
          </a:prstGeom>
          <a:solidFill>
            <a:srgbClr val="004B8D"/>
          </a:solidFill>
          <a:ln/>
        </p:spPr>
      </p:sp>
      <p:pic>
        <p:nvPicPr>
          <p:cNvPr id="32" name="li" descr="li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13300" y="4457138"/>
            <a:ext cx="88900" cy="12700"/>
          </a:xfrm>
          <a:prstGeom prst="rect">
            <a:avLst/>
          </a:prstGeom>
        </p:spPr>
      </p:pic>
      <p:pic>
        <p:nvPicPr>
          <p:cNvPr id="33" name="li" descr="li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13300" y="4717488"/>
            <a:ext cx="88900" cy="12700"/>
          </a:xfrm>
          <a:prstGeom prst="rect">
            <a:avLst/>
          </a:prstGeom>
        </p:spPr>
      </p:pic>
      <p:sp>
        <p:nvSpPr>
          <p:cNvPr id="34" name="p3-st"/>
          <p:cNvSpPr/>
          <p:nvPr/>
        </p:nvSpPr>
        <p:spPr>
          <a:xfrm>
            <a:off x="8191500" y="1639491"/>
            <a:ext cx="679847" cy="203200"/>
          </a:xfrm>
          <a:prstGeom prst="roundRect">
            <a:avLst>
              <a:gd name="adj" fmla="val 50000"/>
            </a:avLst>
          </a:prstGeom>
          <a:solidFill>
            <a:srgbClr val="FDBB30"/>
          </a:solidFill>
          <a:ln/>
        </p:spPr>
      </p:sp>
      <p:sp>
        <p:nvSpPr>
          <p:cNvPr id="35" name="p3-a p3-pill"/>
          <p:cNvSpPr/>
          <p:nvPr/>
        </p:nvSpPr>
        <p:spPr>
          <a:xfrm>
            <a:off x="8194675" y="2887266"/>
            <a:ext cx="958850" cy="29845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36" name="ic" descr="ic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70491" y="2998391"/>
            <a:ext cx="103717" cy="71967"/>
          </a:xfrm>
          <a:prstGeom prst="rect">
            <a:avLst/>
          </a:prstGeom>
        </p:spPr>
      </p:pic>
      <p:pic>
        <p:nvPicPr>
          <p:cNvPr id="37" name="p3-a p3-node p3-chg" descr="p3-a p3-node p3-ch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58300" y="2553891"/>
            <a:ext cx="965200" cy="965200"/>
          </a:xfrm>
          <a:prstGeom prst="rect">
            <a:avLst/>
          </a:prstGeom>
        </p:spPr>
      </p:pic>
      <p:pic>
        <p:nvPicPr>
          <p:cNvPr id="38" name="ic" descr="ic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54117" y="2861270"/>
            <a:ext cx="173567" cy="105833"/>
          </a:xfrm>
          <a:prstGeom prst="rect">
            <a:avLst/>
          </a:prstGeom>
        </p:spPr>
      </p:pic>
      <p:sp>
        <p:nvSpPr>
          <p:cNvPr id="39" name="i"/>
          <p:cNvSpPr/>
          <p:nvPr/>
        </p:nvSpPr>
        <p:spPr>
          <a:xfrm>
            <a:off x="10407650" y="2420541"/>
            <a:ext cx="241300" cy="241300"/>
          </a:xfrm>
          <a:prstGeom prst="ellipse">
            <a:avLst/>
          </a:prstGeom>
          <a:solidFill>
            <a:srgbClr val="FDBB30">
              <a:alpha val="10000"/>
            </a:srgbClr>
          </a:solidFill>
          <a:ln w="12700">
            <a:solidFill>
              <a:srgbClr val="FDBB30"/>
            </a:solidFill>
            <a:prstDash val="solid"/>
          </a:ln>
        </p:spPr>
      </p:sp>
      <p:pic>
        <p:nvPicPr>
          <p:cNvPr id="40" name="ic" descr="ic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69033" y="2479807"/>
            <a:ext cx="124883" cy="124883"/>
          </a:xfrm>
          <a:prstGeom prst="rect">
            <a:avLst/>
          </a:prstGeom>
        </p:spPr>
      </p:pic>
      <p:sp>
        <p:nvSpPr>
          <p:cNvPr id="41" name="i"/>
          <p:cNvSpPr/>
          <p:nvPr/>
        </p:nvSpPr>
        <p:spPr>
          <a:xfrm>
            <a:off x="10407650" y="2750741"/>
            <a:ext cx="241300" cy="241300"/>
          </a:xfrm>
          <a:prstGeom prst="ellipse">
            <a:avLst/>
          </a:prstGeom>
          <a:solidFill>
            <a:srgbClr val="FDBB30">
              <a:alpha val="10000"/>
            </a:srgbClr>
          </a:solidFill>
          <a:ln w="12700">
            <a:solidFill>
              <a:srgbClr val="FDBB30"/>
            </a:solidFill>
            <a:prstDash val="solid"/>
          </a:ln>
        </p:spPr>
      </p:sp>
      <p:pic>
        <p:nvPicPr>
          <p:cNvPr id="42" name="ic" descr="ic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81733" y="2810007"/>
            <a:ext cx="93133" cy="118533"/>
          </a:xfrm>
          <a:prstGeom prst="rect">
            <a:avLst/>
          </a:prstGeom>
        </p:spPr>
      </p:pic>
      <p:sp>
        <p:nvSpPr>
          <p:cNvPr id="43" name="i"/>
          <p:cNvSpPr/>
          <p:nvPr/>
        </p:nvSpPr>
        <p:spPr>
          <a:xfrm>
            <a:off x="10407650" y="3080941"/>
            <a:ext cx="241300" cy="241300"/>
          </a:xfrm>
          <a:prstGeom prst="ellipse">
            <a:avLst/>
          </a:prstGeom>
          <a:solidFill>
            <a:srgbClr val="FDBB30">
              <a:alpha val="10000"/>
            </a:srgbClr>
          </a:solidFill>
          <a:ln w="12700">
            <a:solidFill>
              <a:srgbClr val="FDBB30"/>
            </a:solidFill>
            <a:prstDash val="solid"/>
          </a:ln>
        </p:spPr>
      </p:sp>
      <p:pic>
        <p:nvPicPr>
          <p:cNvPr id="44" name="ic" descr="ic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469033" y="3140207"/>
            <a:ext cx="118533" cy="118533"/>
          </a:xfrm>
          <a:prstGeom prst="rect">
            <a:avLst/>
          </a:prstGeom>
        </p:spPr>
      </p:pic>
      <p:sp>
        <p:nvSpPr>
          <p:cNvPr id="45" name="i"/>
          <p:cNvSpPr/>
          <p:nvPr/>
        </p:nvSpPr>
        <p:spPr>
          <a:xfrm>
            <a:off x="10407650" y="3411141"/>
            <a:ext cx="241300" cy="241300"/>
          </a:xfrm>
          <a:prstGeom prst="ellipse">
            <a:avLst/>
          </a:prstGeom>
          <a:solidFill>
            <a:srgbClr val="FDBB30">
              <a:alpha val="10000"/>
            </a:srgbClr>
          </a:solidFill>
          <a:ln w="12700">
            <a:solidFill>
              <a:srgbClr val="FDBB30"/>
            </a:solidFill>
            <a:prstDash val="solid"/>
          </a:ln>
        </p:spPr>
      </p:sp>
      <p:pic>
        <p:nvPicPr>
          <p:cNvPr id="46" name="ic" descr="ic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469033" y="3470407"/>
            <a:ext cx="118533" cy="118533"/>
          </a:xfrm>
          <a:prstGeom prst="rect">
            <a:avLst/>
          </a:prstGeom>
        </p:spPr>
      </p:pic>
      <p:pic>
        <p:nvPicPr>
          <p:cNvPr id="47" name="svg" descr="sv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195733" y="4423966"/>
            <a:ext cx="55033" cy="80433"/>
          </a:xfrm>
          <a:prstGeom prst="rect">
            <a:avLst/>
          </a:prstGeom>
        </p:spPr>
      </p:pic>
      <p:pic>
        <p:nvPicPr>
          <p:cNvPr id="48" name="svg" descr="sv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95733" y="4684316"/>
            <a:ext cx="55033" cy="80433"/>
          </a:xfrm>
          <a:prstGeom prst="rect">
            <a:avLst/>
          </a:prstGeom>
        </p:spPr>
      </p:pic>
      <p:sp>
        <p:nvSpPr>
          <p:cNvPr id="49" name="key p3-key"/>
          <p:cNvSpPr/>
          <p:nvPr/>
        </p:nvSpPr>
        <p:spPr>
          <a:xfrm>
            <a:off x="508000" y="5601891"/>
            <a:ext cx="11176000" cy="762000"/>
          </a:xfrm>
          <a:prstGeom prst="roundRect">
            <a:avLst>
              <a:gd name="adj" fmla="val 20000"/>
            </a:avLst>
          </a:prstGeom>
          <a:solidFill>
            <a:srgbClr val="0B2147"/>
          </a:solidFill>
          <a:ln/>
        </p:spPr>
      </p:sp>
      <p:sp>
        <p:nvSpPr>
          <p:cNvPr id="50" name="i"/>
          <p:cNvSpPr/>
          <p:nvPr/>
        </p:nvSpPr>
        <p:spPr>
          <a:xfrm>
            <a:off x="711200" y="5951141"/>
            <a:ext cx="63500" cy="6350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51" name="b"/>
          <p:cNvSpPr/>
          <p:nvPr/>
        </p:nvSpPr>
        <p:spPr>
          <a:xfrm>
            <a:off x="774700" y="5976541"/>
            <a:ext cx="88900" cy="12700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52" name="i"/>
          <p:cNvSpPr/>
          <p:nvPr/>
        </p:nvSpPr>
        <p:spPr>
          <a:xfrm>
            <a:off x="863600" y="5951141"/>
            <a:ext cx="63500" cy="6350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53" name="b"/>
          <p:cNvSpPr/>
          <p:nvPr/>
        </p:nvSpPr>
        <p:spPr>
          <a:xfrm>
            <a:off x="927100" y="5976541"/>
            <a:ext cx="88900" cy="12700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54" name="i"/>
          <p:cNvSpPr/>
          <p:nvPr/>
        </p:nvSpPr>
        <p:spPr>
          <a:xfrm>
            <a:off x="1016000" y="5951141"/>
            <a:ext cx="63500" cy="63500"/>
          </a:xfrm>
          <a:prstGeom prst="ellipse">
            <a:avLst/>
          </a:prstGeom>
          <a:solidFill>
            <a:srgbClr val="FDBB30"/>
          </a:solidFill>
          <a:ln/>
        </p:spPr>
      </p:sp>
      <p:sp>
        <p:nvSpPr>
          <p:cNvPr id="55" name="03"/>
          <p:cNvSpPr txBox="1"/>
          <p:nvPr/>
        </p:nvSpPr>
        <p:spPr>
          <a:xfrm>
            <a:off x="952500" y="292100"/>
            <a:ext cx="22463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20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03</a:t>
            </a:r>
            <a:endParaRPr lang="en-US" sz="1000" dirty="0"/>
          </a:p>
        </p:txBody>
      </p:sp>
      <p:sp>
        <p:nvSpPr>
          <p:cNvPr id="56" name="PT 주제 2. 가치관과 핵심키워드의 연결점 &amp; 입사 후 실천"/>
          <p:cNvSpPr txBox="1"/>
          <p:nvPr/>
        </p:nvSpPr>
        <p:spPr>
          <a:xfrm>
            <a:off x="1285081" y="292100"/>
            <a:ext cx="293713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10" kern="0" dirty="0">
                <a:solidFill>
                  <a:srgbClr val="6A7487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PT 주제 2. 가치관과 핵심키워드의 연결점 &amp; 입사 후 실천</a:t>
            </a:r>
            <a:endParaRPr lang="en-US" sz="1000" dirty="0"/>
          </a:p>
        </p:txBody>
      </p:sp>
      <p:sp>
        <p:nvSpPr>
          <p:cNvPr id="57" name="입사 후"/>
          <p:cNvSpPr txBox="1"/>
          <p:nvPr/>
        </p:nvSpPr>
        <p:spPr>
          <a:xfrm>
            <a:off x="508000" y="571500"/>
            <a:ext cx="53984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400" spc="-28" kern="0" dirty="0">
                <a:solidFill>
                  <a:srgbClr val="3D4757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입사 후</a:t>
            </a:r>
            <a:endParaRPr lang="en-US" sz="1400" dirty="0"/>
          </a:p>
        </p:txBody>
      </p:sp>
      <p:sp>
        <p:nvSpPr>
          <p:cNvPr id="58" name="사람과 기술을 연결해 현장의 변화를 만들겠습니다."/>
          <p:cNvSpPr txBox="1"/>
          <p:nvPr/>
        </p:nvSpPr>
        <p:spPr>
          <a:xfrm>
            <a:off x="508000" y="821630"/>
            <a:ext cx="6717117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2700" spc="-108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사람</a:t>
            </a:r>
            <a:pPr algn="l" indent="0" marL="0">
              <a:buNone/>
            </a:pPr>
            <a:r>
              <a:rPr lang="ko-KR" altLang="en-US" sz="2700" spc="-108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과 </a:t>
            </a:r>
            <a:pPr algn="l" indent="0" marL="0">
              <a:buNone/>
            </a:pPr>
            <a:r>
              <a:rPr lang="ko-KR" altLang="en-US" sz="2700" spc="-108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기술</a:t>
            </a:r>
            <a:pPr algn="l" indent="0" marL="0">
              <a:buNone/>
            </a:pPr>
            <a:r>
              <a:rPr lang="ko-KR" altLang="en-US" sz="2700" spc="-108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을 연결해 </a:t>
            </a:r>
            <a:pPr algn="l" indent="0" marL="0">
              <a:buNone/>
            </a:pPr>
            <a:r>
              <a:rPr lang="ko-KR" altLang="en-US" sz="2700" spc="-108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현장의 변화</a:t>
            </a:r>
            <a:pPr algn="l" indent="0" marL="0">
              <a:buNone/>
            </a:pPr>
            <a:r>
              <a:rPr lang="ko-KR" altLang="en-US" sz="2700" spc="-108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를 만들겠습니다.</a:t>
            </a:r>
            <a:endParaRPr lang="en-US" sz="2700" dirty="0"/>
          </a:p>
        </p:txBody>
      </p:sp>
      <p:sp>
        <p:nvSpPr>
          <p:cNvPr id="59" name="STEP 01"/>
          <p:cNvSpPr txBox="1"/>
          <p:nvPr/>
        </p:nvSpPr>
        <p:spPr>
          <a:xfrm>
            <a:off x="800100" y="1674416"/>
            <a:ext cx="532309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spc="68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STEP 01</a:t>
            </a:r>
            <a:endParaRPr lang="en-US" sz="850" dirty="0"/>
          </a:p>
        </p:txBody>
      </p:sp>
      <p:sp>
        <p:nvSpPr>
          <p:cNvPr id="60" name="FIELD"/>
          <p:cNvSpPr txBox="1"/>
          <p:nvPr/>
        </p:nvSpPr>
        <p:spPr>
          <a:xfrm>
            <a:off x="1446709" y="1674416"/>
            <a:ext cx="416818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spc="119" kern="0" dirty="0">
                <a:solidFill>
                  <a:srgbClr val="8A5A00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FIELD</a:t>
            </a:r>
            <a:endParaRPr lang="en-US" sz="850" dirty="0"/>
          </a:p>
        </p:txBody>
      </p:sp>
      <p:sp>
        <p:nvSpPr>
          <p:cNvPr id="61" name="현장을 이해하겠습니다."/>
          <p:cNvSpPr txBox="1"/>
          <p:nvPr/>
        </p:nvSpPr>
        <p:spPr>
          <a:xfrm>
            <a:off x="711200" y="1925241"/>
            <a:ext cx="164688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400" spc="-49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현장을 이해하겠습니다.</a:t>
            </a:r>
            <a:endParaRPr lang="en-US" sz="1400" dirty="0"/>
          </a:p>
        </p:txBody>
      </p:sp>
      <p:sp>
        <p:nvSpPr>
          <p:cNvPr id="62" name="현장"/>
          <p:cNvSpPr txBox="1"/>
          <p:nvPr/>
        </p:nvSpPr>
        <p:spPr>
          <a:xfrm>
            <a:off x="969268" y="3065661"/>
            <a:ext cx="34746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spc="-42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현장</a:t>
            </a:r>
            <a:endParaRPr lang="en-US" sz="1400" dirty="0"/>
          </a:p>
        </p:txBody>
      </p:sp>
      <p:sp>
        <p:nvSpPr>
          <p:cNvPr id="63" name="문제 발견"/>
          <p:cNvSpPr txBox="1"/>
          <p:nvPr/>
        </p:nvSpPr>
        <p:spPr>
          <a:xfrm>
            <a:off x="2452291" y="2960291"/>
            <a:ext cx="5056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20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문제 발견</a:t>
            </a:r>
            <a:endParaRPr lang="en-US" sz="1000" dirty="0"/>
          </a:p>
        </p:txBody>
      </p:sp>
      <p:sp>
        <p:nvSpPr>
          <p:cNvPr id="64" name="도면, 시방서, 시공계획서 검토"/>
          <p:cNvSpPr txBox="1"/>
          <p:nvPr/>
        </p:nvSpPr>
        <p:spPr>
          <a:xfrm>
            <a:off x="876300" y="4376341"/>
            <a:ext cx="164467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spc="-33" kern="0" dirty="0">
                <a:solidFill>
                  <a:srgbClr val="3D4757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도면, 시방서, 시공계획서 검토</a:t>
            </a:r>
            <a:endParaRPr lang="en-US" sz="1100" dirty="0"/>
          </a:p>
        </p:txBody>
      </p:sp>
      <p:sp>
        <p:nvSpPr>
          <p:cNvPr id="65" name="공종별 시공방법과 선후행 관계 이해"/>
          <p:cNvSpPr txBox="1"/>
          <p:nvPr/>
        </p:nvSpPr>
        <p:spPr>
          <a:xfrm>
            <a:off x="876300" y="4636691"/>
            <a:ext cx="1979966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spc="-33" kern="0" dirty="0">
                <a:solidFill>
                  <a:srgbClr val="3D4757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공종별 시공방법과 선후행 관계 이해</a:t>
            </a:r>
            <a:endParaRPr lang="en-US" sz="1100" dirty="0"/>
          </a:p>
        </p:txBody>
      </p:sp>
      <p:sp>
        <p:nvSpPr>
          <p:cNvPr id="66" name="작업일보를 통한 일일 작업 현황 파악"/>
          <p:cNvSpPr txBox="1"/>
          <p:nvPr/>
        </p:nvSpPr>
        <p:spPr>
          <a:xfrm>
            <a:off x="876300" y="4897041"/>
            <a:ext cx="201172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spc="-33" kern="0" dirty="0">
                <a:solidFill>
                  <a:srgbClr val="3D4757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작업일보를 통한 일일 작업 현황 파악</a:t>
            </a:r>
            <a:endParaRPr lang="en-US" sz="1100" dirty="0"/>
          </a:p>
        </p:txBody>
      </p:sp>
      <p:sp>
        <p:nvSpPr>
          <p:cNvPr id="67" name="사람"/>
          <p:cNvSpPr txBox="1"/>
          <p:nvPr/>
        </p:nvSpPr>
        <p:spPr>
          <a:xfrm>
            <a:off x="4127302" y="2006501"/>
            <a:ext cx="30509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spc="-36" kern="0" dirty="0">
                <a:solidFill>
                  <a:srgbClr val="0B6B33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사람</a:t>
            </a:r>
            <a:endParaRPr lang="en-US" sz="1200" dirty="0"/>
          </a:p>
        </p:txBody>
      </p:sp>
      <p:sp>
        <p:nvSpPr>
          <p:cNvPr id="68" name="STEP 02"/>
          <p:cNvSpPr txBox="1"/>
          <p:nvPr/>
        </p:nvSpPr>
        <p:spPr>
          <a:xfrm>
            <a:off x="4902200" y="1674416"/>
            <a:ext cx="547390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spc="68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STEP 02</a:t>
            </a:r>
            <a:endParaRPr lang="en-US" sz="850" dirty="0"/>
          </a:p>
        </p:txBody>
      </p:sp>
      <p:sp>
        <p:nvSpPr>
          <p:cNvPr id="69" name="PEOPLE"/>
          <p:cNvSpPr txBox="1"/>
          <p:nvPr/>
        </p:nvSpPr>
        <p:spPr>
          <a:xfrm>
            <a:off x="5563890" y="1674416"/>
            <a:ext cx="547687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spc="119" kern="0" dirty="0">
                <a:solidFill>
                  <a:srgbClr val="0B6B33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PEOPLE</a:t>
            </a:r>
            <a:endParaRPr lang="en-US" sz="850" dirty="0"/>
          </a:p>
        </p:txBody>
      </p:sp>
      <p:sp>
        <p:nvSpPr>
          <p:cNvPr id="70" name="사람을 연결하겠습니다."/>
          <p:cNvSpPr txBox="1"/>
          <p:nvPr/>
        </p:nvSpPr>
        <p:spPr>
          <a:xfrm>
            <a:off x="4813300" y="1925241"/>
            <a:ext cx="164688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400" spc="-49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사람을 연결하겠습니다.</a:t>
            </a:r>
            <a:endParaRPr lang="en-US" sz="1400" dirty="0"/>
          </a:p>
        </p:txBody>
      </p:sp>
      <p:sp>
        <p:nvSpPr>
          <p:cNvPr id="71" name="유관부서 및 협력업체와 공정별 일정 공유"/>
          <p:cNvSpPr txBox="1"/>
          <p:nvPr/>
        </p:nvSpPr>
        <p:spPr>
          <a:xfrm>
            <a:off x="4978400" y="2296021"/>
            <a:ext cx="2258776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spc="-33" kern="0" dirty="0">
                <a:solidFill>
                  <a:srgbClr val="3D4757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유관부서 및 협력업체와 공정별 일정 공유</a:t>
            </a:r>
            <a:endParaRPr lang="en-US" sz="1100" dirty="0"/>
          </a:p>
        </p:txBody>
      </p:sp>
      <p:sp>
        <p:nvSpPr>
          <p:cNvPr id="72" name="선후행 공정 간 작업 조건 확인 및 조율"/>
          <p:cNvSpPr txBox="1"/>
          <p:nvPr/>
        </p:nvSpPr>
        <p:spPr>
          <a:xfrm>
            <a:off x="4978400" y="2556371"/>
            <a:ext cx="2075146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spc="-33" kern="0" dirty="0">
                <a:solidFill>
                  <a:srgbClr val="3D4757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선후행 공정 간 작업 조건 확인 및 조율</a:t>
            </a:r>
            <a:endParaRPr lang="en-US" sz="1100" dirty="0"/>
          </a:p>
        </p:txBody>
      </p:sp>
      <p:sp>
        <p:nvSpPr>
          <p:cNvPr id="73" name="기술"/>
          <p:cNvSpPr txBox="1"/>
          <p:nvPr/>
        </p:nvSpPr>
        <p:spPr>
          <a:xfrm>
            <a:off x="4127302" y="4089301"/>
            <a:ext cx="30509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spc="-36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기술</a:t>
            </a:r>
            <a:endParaRPr lang="en-US" sz="1200" dirty="0"/>
          </a:p>
        </p:txBody>
      </p:sp>
      <p:sp>
        <p:nvSpPr>
          <p:cNvPr id="74" name="STEP 03"/>
          <p:cNvSpPr txBox="1"/>
          <p:nvPr/>
        </p:nvSpPr>
        <p:spPr>
          <a:xfrm>
            <a:off x="4902200" y="3757216"/>
            <a:ext cx="550466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spc="68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STEP 03</a:t>
            </a:r>
            <a:endParaRPr lang="en-US" sz="850" dirty="0"/>
          </a:p>
        </p:txBody>
      </p:sp>
      <p:sp>
        <p:nvSpPr>
          <p:cNvPr id="75" name="TECH"/>
          <p:cNvSpPr txBox="1"/>
          <p:nvPr/>
        </p:nvSpPr>
        <p:spPr>
          <a:xfrm>
            <a:off x="5566966" y="3757216"/>
            <a:ext cx="403523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spc="119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TECH</a:t>
            </a:r>
            <a:endParaRPr lang="en-US" sz="850" dirty="0"/>
          </a:p>
        </p:txBody>
      </p:sp>
      <p:sp>
        <p:nvSpPr>
          <p:cNvPr id="76" name="기술을 연결하겠습니다."/>
          <p:cNvSpPr txBox="1"/>
          <p:nvPr/>
        </p:nvSpPr>
        <p:spPr>
          <a:xfrm>
            <a:off x="4813300" y="4008041"/>
            <a:ext cx="164688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400" spc="-49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기술을 연결하겠습니다.</a:t>
            </a:r>
            <a:endParaRPr lang="en-US" sz="1400" dirty="0"/>
          </a:p>
        </p:txBody>
      </p:sp>
      <p:sp>
        <p:nvSpPr>
          <p:cNvPr id="77" name="BIM 기반 간섭 · 시공성 검토 지원"/>
          <p:cNvSpPr txBox="1"/>
          <p:nvPr/>
        </p:nvSpPr>
        <p:spPr>
          <a:xfrm>
            <a:off x="4978400" y="4378821"/>
            <a:ext cx="182788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spc="-33" kern="0" dirty="0">
                <a:solidFill>
                  <a:srgbClr val="3D4757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BIM 기반 간섭 · 시공성 검토 지원</a:t>
            </a:r>
            <a:endParaRPr lang="en-US" sz="1100" dirty="0"/>
          </a:p>
        </p:txBody>
      </p:sp>
      <p:sp>
        <p:nvSpPr>
          <p:cNvPr id="78" name="AI 기반 반복 업무 자동화 방안 발굴"/>
          <p:cNvSpPr txBox="1"/>
          <p:nvPr/>
        </p:nvSpPr>
        <p:spPr>
          <a:xfrm>
            <a:off x="4978400" y="4639171"/>
            <a:ext cx="192369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spc="-33" kern="0" dirty="0">
                <a:solidFill>
                  <a:srgbClr val="3D4757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AI 기반 반복 업무 자동화 방안 발굴</a:t>
            </a:r>
            <a:endParaRPr lang="en-US" sz="1100" dirty="0"/>
          </a:p>
        </p:txBody>
      </p:sp>
      <p:sp>
        <p:nvSpPr>
          <p:cNvPr id="79" name="STEP 04"/>
          <p:cNvSpPr txBox="1"/>
          <p:nvPr/>
        </p:nvSpPr>
        <p:spPr>
          <a:xfrm>
            <a:off x="8280400" y="1674416"/>
            <a:ext cx="552847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spc="68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STEP 04</a:t>
            </a:r>
            <a:endParaRPr lang="en-US" sz="850" dirty="0"/>
          </a:p>
        </p:txBody>
      </p:sp>
      <p:sp>
        <p:nvSpPr>
          <p:cNvPr id="80" name="IMPROVE"/>
          <p:cNvSpPr txBox="1"/>
          <p:nvPr/>
        </p:nvSpPr>
        <p:spPr>
          <a:xfrm>
            <a:off x="8947547" y="1674416"/>
            <a:ext cx="641747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spc="119" kern="0" dirty="0">
                <a:solidFill>
                  <a:srgbClr val="FDBB30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IMPROVE</a:t>
            </a:r>
            <a:endParaRPr lang="en-US" sz="850" dirty="0"/>
          </a:p>
        </p:txBody>
      </p:sp>
      <p:sp>
        <p:nvSpPr>
          <p:cNvPr id="81" name="작은 개선부터 변화를 만들겠습니다."/>
          <p:cNvSpPr txBox="1"/>
          <p:nvPr/>
        </p:nvSpPr>
        <p:spPr>
          <a:xfrm>
            <a:off x="8191500" y="1925241"/>
            <a:ext cx="267799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500" spc="-53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작은 개선부터 변화를 만들겠습니다.</a:t>
            </a:r>
            <a:endParaRPr lang="en-US" sz="1500" dirty="0"/>
          </a:p>
        </p:txBody>
      </p:sp>
      <p:sp>
        <p:nvSpPr>
          <p:cNvPr id="82" name="문제 해결"/>
          <p:cNvSpPr txBox="1"/>
          <p:nvPr/>
        </p:nvSpPr>
        <p:spPr>
          <a:xfrm>
            <a:off x="8541941" y="2960291"/>
            <a:ext cx="5056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2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문제 해결</a:t>
            </a:r>
            <a:endParaRPr lang="en-US" sz="1000" dirty="0"/>
          </a:p>
        </p:txBody>
      </p:sp>
      <p:sp>
        <p:nvSpPr>
          <p:cNvPr id="83" name="변화"/>
          <p:cNvSpPr txBox="1"/>
          <p:nvPr/>
        </p:nvSpPr>
        <p:spPr>
          <a:xfrm>
            <a:off x="9545935" y="3026370"/>
            <a:ext cx="38993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spc="-48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변화</a:t>
            </a:r>
            <a:endParaRPr lang="en-US" sz="1600" dirty="0"/>
          </a:p>
        </p:txBody>
      </p:sp>
      <p:sp>
        <p:nvSpPr>
          <p:cNvPr id="84" name="공정 개선"/>
          <p:cNvSpPr txBox="1"/>
          <p:nvPr/>
        </p:nvSpPr>
        <p:spPr>
          <a:xfrm>
            <a:off x="10731500" y="2452588"/>
            <a:ext cx="552053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spc="-22" kern="0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공정 개선</a:t>
            </a:r>
            <a:endParaRPr lang="en-US" sz="1100" dirty="0"/>
          </a:p>
        </p:txBody>
      </p:sp>
      <p:sp>
        <p:nvSpPr>
          <p:cNvPr id="85" name="품질 개선"/>
          <p:cNvSpPr txBox="1"/>
          <p:nvPr/>
        </p:nvSpPr>
        <p:spPr>
          <a:xfrm>
            <a:off x="10731500" y="2782788"/>
            <a:ext cx="552053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spc="-22" kern="0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품질 개선</a:t>
            </a:r>
            <a:endParaRPr lang="en-US" sz="1100" dirty="0"/>
          </a:p>
        </p:txBody>
      </p:sp>
      <p:sp>
        <p:nvSpPr>
          <p:cNvPr id="86" name="안전 개선"/>
          <p:cNvSpPr txBox="1"/>
          <p:nvPr/>
        </p:nvSpPr>
        <p:spPr>
          <a:xfrm>
            <a:off x="10731500" y="3112988"/>
            <a:ext cx="552053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spc="-22" kern="0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안전 개선</a:t>
            </a:r>
            <a:endParaRPr lang="en-US" sz="1100" dirty="0"/>
          </a:p>
        </p:txBody>
      </p:sp>
      <p:sp>
        <p:nvSpPr>
          <p:cNvPr id="87" name="생산성 개선"/>
          <p:cNvSpPr txBox="1"/>
          <p:nvPr/>
        </p:nvSpPr>
        <p:spPr>
          <a:xfrm>
            <a:off x="10731500" y="3443188"/>
            <a:ext cx="66992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spc="-22" kern="0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생산성 개선</a:t>
            </a:r>
            <a:endParaRPr lang="en-US" sz="1100" dirty="0"/>
          </a:p>
        </p:txBody>
      </p:sp>
      <p:sp>
        <p:nvSpPr>
          <p:cNvPr id="88" name="공정 간 간섭 사전 발견 → 재작업 감소"/>
          <p:cNvSpPr txBox="1"/>
          <p:nvPr/>
        </p:nvSpPr>
        <p:spPr>
          <a:xfrm>
            <a:off x="8331200" y="4376341"/>
            <a:ext cx="208072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spc="-33" kern="0" dirty="0">
                <a:solidFill>
                  <a:srgbClr val="FFFFFF">
                    <a:alpha val="86000"/>
                  </a:srgbClr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공정 간 간섭 사전 발견 </a:t>
            </a:r>
            <a:pPr algn="l" indent="0" marL="0">
              <a:buNone/>
            </a:pPr>
            <a:r>
              <a:rPr lang="ko-KR" altLang="en-US" sz="1100" b="1" spc="-33" kern="0" dirty="0">
                <a:solidFill>
                  <a:srgbClr val="8FD3F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→</a:t>
            </a:r>
            <a:pPr algn="l" indent="0" marL="0">
              <a:buNone/>
            </a:pPr>
            <a:r>
              <a:rPr lang="ko-KR" altLang="en-US" sz="1100" spc="-33" kern="0" dirty="0">
                <a:solidFill>
                  <a:srgbClr val="FFFFFF">
                    <a:alpha val="86000"/>
                  </a:srgbClr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 </a:t>
            </a:r>
            <a:pPr algn="l" indent="0" marL="0">
              <a:buNone/>
            </a:pPr>
            <a:r>
              <a:rPr lang="ko-KR" altLang="en-US" sz="1100" spc="-33" kern="0" dirty="0">
                <a:solidFill>
                  <a:srgbClr val="FDBB30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재작업 감소</a:t>
            </a:r>
            <a:endParaRPr lang="en-US" sz="1100" dirty="0"/>
          </a:p>
        </p:txBody>
      </p:sp>
      <p:sp>
        <p:nvSpPr>
          <p:cNvPr id="89" name="반복 업무 효율화 → 본연의 업무에 집중"/>
          <p:cNvSpPr txBox="1"/>
          <p:nvPr/>
        </p:nvSpPr>
        <p:spPr>
          <a:xfrm>
            <a:off x="8331200" y="4636691"/>
            <a:ext cx="216948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spc="-33" kern="0" dirty="0">
                <a:solidFill>
                  <a:srgbClr val="FFFFFF">
                    <a:alpha val="86000"/>
                  </a:srgbClr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반복 업무 효율화 </a:t>
            </a:r>
            <a:pPr algn="l" indent="0" marL="0">
              <a:buNone/>
            </a:pPr>
            <a:r>
              <a:rPr lang="ko-KR" altLang="en-US" sz="1100" b="1" spc="-33" kern="0" dirty="0">
                <a:solidFill>
                  <a:srgbClr val="8FD3F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→</a:t>
            </a:r>
            <a:pPr algn="l" indent="0" marL="0">
              <a:buNone/>
            </a:pPr>
            <a:r>
              <a:rPr lang="ko-KR" altLang="en-US" sz="1100" spc="-33" kern="0" dirty="0">
                <a:solidFill>
                  <a:srgbClr val="FFFFFF">
                    <a:alpha val="86000"/>
                  </a:srgbClr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 </a:t>
            </a:r>
            <a:pPr algn="l" indent="0" marL="0">
              <a:buNone/>
            </a:pPr>
            <a:r>
              <a:rPr lang="ko-KR" altLang="en-US" sz="1100" spc="-33" kern="0" dirty="0">
                <a:solidFill>
                  <a:srgbClr val="FDBB30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본연의 업무에 집중</a:t>
            </a:r>
            <a:endParaRPr lang="en-US" sz="1100" dirty="0"/>
          </a:p>
        </p:txBody>
      </p:sp>
      <p:sp>
        <p:nvSpPr>
          <p:cNvPr id="90" name="사람과 기술을 연결해 현장의 변화를 만들어가며, 현대엔지니어링의 Mean"/>
          <p:cNvSpPr txBox="1"/>
          <p:nvPr/>
        </p:nvSpPr>
        <p:spPr>
          <a:xfrm>
            <a:off x="1257300" y="5869384"/>
            <a:ext cx="765661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400" b="1" spc="-49" kern="0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사람과 기술을 연결해 </a:t>
            </a:r>
            <a:pPr algn="l" indent="0" marL="0">
              <a:buNone/>
            </a:pPr>
            <a:r>
              <a:rPr lang="ko-KR" altLang="en-US" sz="1400" b="1" spc="-49" kern="0" dirty="0">
                <a:solidFill>
                  <a:srgbClr val="FDBB30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현장의 변화</a:t>
            </a:r>
            <a:pPr algn="l" indent="0" marL="0">
              <a:buNone/>
            </a:pPr>
            <a:r>
              <a:rPr lang="ko-KR" altLang="en-US" sz="1400" b="1" spc="-49" kern="0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를 만들어가며, 현대엔지니어링의 </a:t>
            </a:r>
            <a:pPr algn="l" indent="0" marL="0">
              <a:buNone/>
            </a:pPr>
            <a:r>
              <a:rPr lang="ko-KR" altLang="en-US" sz="1400" b="1" spc="-49" kern="0" dirty="0">
                <a:solidFill>
                  <a:srgbClr val="FDBB30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Meaningful Journey</a:t>
            </a:r>
            <a:pPr algn="l" indent="0" marL="0">
              <a:buNone/>
            </a:pPr>
            <a:r>
              <a:rPr lang="ko-KR" altLang="en-US" sz="1400" b="1" spc="-49" kern="0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에 함께하겠습니다.</a:t>
            </a:r>
            <a:endParaRPr lang="en-US" sz="1400" dirty="0"/>
          </a:p>
        </p:txBody>
      </p:sp>
      <p:sp>
        <p:nvSpPr>
          <p:cNvPr id="91" name="2026년 하반기 신입사원 공개채용 | 공사관리 건축 직무 지원자 이현준"/>
          <p:cNvSpPr txBox="1"/>
          <p:nvPr/>
        </p:nvSpPr>
        <p:spPr>
          <a:xfrm>
            <a:off x="508000" y="6527205"/>
            <a:ext cx="32736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00" spc="-9" kern="0" dirty="0">
                <a:solidFill>
                  <a:srgbClr val="6A7487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2026년 하반기 신입사원 공개채용 | 공사관리 건축 직무 지원자 이현준</a:t>
            </a:r>
            <a:endParaRPr lang="en-US" sz="900" dirty="0"/>
          </a:p>
        </p:txBody>
      </p:sp>
      <p:sp>
        <p:nvSpPr>
          <p:cNvPr id="92" name="03 / 03"/>
          <p:cNvSpPr txBox="1"/>
          <p:nvPr/>
        </p:nvSpPr>
        <p:spPr>
          <a:xfrm>
            <a:off x="11240492" y="6527205"/>
            <a:ext cx="49430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00" spc="54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03</a:t>
            </a:r>
            <a:pPr algn="l" indent="0" marL="0">
              <a:buNone/>
            </a:pPr>
            <a:r>
              <a:rPr lang="ko-KR" altLang="en-US" sz="900" b="1" spc="54" kern="0" dirty="0">
                <a:solidFill>
                  <a:srgbClr val="3D475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 /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ExtraBold"/>
        <a:ea typeface="Pretendard Medium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Medium"/>
        <a:ea typeface="Pretendard Medium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현대엔지니어링 PT · 가로형</dc:title>
  <dc:subject>PptxGenJS Presentation</dc:subject>
  <dc:creator>PptxGenJS</dc:creator>
  <cp:lastModifiedBy>PptxGenJS</cp:lastModifiedBy>
  <cp:revision>1</cp:revision>
  <dcterms:created xsi:type="dcterms:W3CDTF">2026-10-11T12:27:22Z</dcterms:created>
  <dcterms:modified xsi:type="dcterms:W3CDTF">2026-10-11T12:27:22Z</dcterms:modified>
</cp:coreProperties>
</file>