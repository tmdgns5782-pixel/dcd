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711c4faa-a0a9-9131-ca13-dbd08abdbf88}">
          <p14:sldIdLst>
            <p14:sldId id="256"/>
          </p14:sldIdLst>
        </p14:section>
        <p14:section name="문제 정의" id="{21c624e8-729e-c64c-26eb-04830a50c624}">
          <p14:sldIdLst>
            <p14:sldId id="257"/>
            <p14:sldId id="258"/>
            <p14:sldId id="259"/>
          </p14:sldIdLst>
        </p14:section>
        <p14:section name="아이디어 발굴·평가" id="{4e94160a-41a7-89ff-184d-81e4f5630060}">
          <p14:sldIdLst>
            <p14:sldId id="260"/>
            <p14:sldId id="261"/>
          </p14:sldIdLst>
        </p14:section>
        <p14:section name="콘셉트·상품 구성" id="{bf7153b9-c67f-04fc-6569-41c7218762bf}">
          <p14:sldIdLst>
            <p14:sldId id="262"/>
            <p14:sldId id="263"/>
            <p14:sldId id="264"/>
          </p14:sldIdLst>
        </p14:section>
        <p14:section name="마무리" id="{8efd7f4b-1531-68e6-eb07-58545a3fe87f}">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강원대학교 관광경영학과 이세진입니다. 제가 기획한 관광상품은 「춘천, 쉼표 하나」입니다. 바쁜 일상 속에서 잠시 쉼표를 찍듯, 춘천의 호수와 자연 속에서 하루 동안 온전히 쉬어 가는 감성 힐링 당일 여행입니다.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여행은 일상에서 벗어나기 위한 시간이지만, 빽빽한 일정과 잦은 이동 때문에 다녀온 뒤 오히려 피곤함을 느낄 수 있습니다. 그래서 많이 보는 여행이 아니라, 자연 속에 머무르며 쉬는 휴식 중심의 상품을 기획했습니다. 다만 이 고객 문제는 아직 조사 전 가설이고, 마지막 장에서 어떻게 검증할지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지역은 춘천으로 정했습니다. 춘천에는 의암호와 공지천 같은 수변 자원, 로컬 카페, 지역 음식처럼 휴식형 상품에 바로 활용할 수 있는 자원이 모여 있습니다. 각 자원 아래에는 실제 프로그램의 어느 시간에 쓰이는지 연결해 두었습니다.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타깃은 짧은 여행으로 휴식과 재충전을 원하는 20~30대 직장인입니다. 이들의 문제를 세 가지 가설로 정리했습니다. 여행 계획이 복잡하고, 이동과 일정으로 지치고, 정작 쉴 시간과 공간이 부족하다는 것입니다. 여기서 편리한 일정, 자연 속 휴식, 감성적인 공간이라는 욕구를 도출했고, 아래에는 확인된 사실과 해석, 가설을 나눠 적었습니다.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아이디어는 브레인스토밍, SCAMPER, 관광 후기 분석 세 가지 방법으로 발굴했습니다. 초기 단계에서는 성급하게 탈락시키지 않고 10개를 모두 남겼고, 아이디어마다 해결하려는 고객 문제와 확인해야 할 위험을 함께 적었습니다. 이 중 초록색으로 표시한 세 개를 평가 후보로 올렸습니다.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후보 세 개는 과제에서 제시된 6가지 기준으로 비교했습니다. 항목마다 1점에서 5점으로 평가한 뒤 배점에 맞춰 환산했습니다. 그 결과 '나만의 춘천 쉼표 여행'이 82점으로 가장 높았습니다. 이 점수는 기획 단계의 예시이고, 안전·법규·환경 검토는 점수와 별도로 기록했습니다.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최종 상품은 「춘천, 쉼표 하나」입니다. 한 문장으로 정리하면, 짧은 휴식을 원하는 20~30대 여행객에게 춘천의 호수 산책과 로컬 카페, 선택형 휴식 체험을 제공하는 감성 힐링 당일 관광상품입니다. 선정 이유는 춘천의 자연자원 활용, 휴식 중심의 차별성, 취향에 따른 선택형 일정 세 가지입니다. 실행 가능성이 가장 높았던 카페 패스는 예비안으로, 디지털 디톡스는 참여 의향 검증이 필요해 보류안으로 두었습니다.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하루 일정은 11시 집결부터 17시 종료까지 약 6시간입니다. 의암호 산책, 로컬 식사, 감성 카페, 자유시간 순서로, 이동은 줄이고 머무는 시간은 늘렸습니다. 운영은 소규모 사전 예약형을 가정했고, 가격과 인원, 이동 방식은 추후 검증할 예정입니다. 비가 오면 산책을 실내 휴식 프로그램으로 대체합니다.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고객 여정은 발견, 탐색, 예약, 체험, 만족, 공유의 6단계로 정리했습니다. 단계마다 고객이 하는 행동과 기획자가 확인해야 할 질문을 함께 적었습니다. 특히 상품의 핵심인 체험 단계에서는 안내한 내용과 실제 경험이 일치하는지가 가장 중요하다고 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상품을 통해 관광객에게는 휴식 중심의 여행 경험을, 춘천에는 자연자원과 로컬 상권을 잇는 상품을 기대합니다. 다만 이 효과들은 아직 가설이기 때문에 설문과 인터뷰, 유사 상품 가격 비교, 협력업체와 동선 확인, 안전·우천 대안 검토로 검증하겠습니다. 춘천에서의 하루가 일상에 작은 쉼표가 되기를 바라며 발표를 마치겠습니다.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1E6"/>
        </a:solidFill>
      </p:bgPr>
    </p:bg>
    <p:spTree>
      <p:nvGrpSpPr>
        <p:cNvPr id="1" name=""/>
        <p:cNvGrpSpPr/>
        <p:nvPr/>
      </p:nvGrpSpPr>
      <p:grpSpPr>
        <a:xfrm>
          <a:off x="0" y="0"/>
          <a:ext cx="0" cy="0"/>
          <a:chOff x="0" y="0"/>
          <a:chExt cx="0" cy="0"/>
        </a:xfrm>
      </p:grpSpPr>
      <p:sp>
        <p:nvSpPr>
          <p:cNvPr id="2" name="선 1"/>
          <p:cNvSpPr/>
          <p:nvPr/>
        </p:nvSpPr>
        <p:spPr>
          <a:xfrm>
            <a:off x="711220" y="709574"/>
            <a:ext cx="254020" cy="0"/>
          </a:xfrm>
          <a:prstGeom prst="line">
            <a:avLst/>
          </a:prstGeom>
          <a:noFill/>
          <a:ln w="12700">
            <a:solidFill>
              <a:srgbClr val="737F4A"/>
            </a:solidFill>
            <a:prstDash val="solid"/>
          </a:ln>
        </p:spPr>
      </p:sp>
      <p:sp>
        <p:nvSpPr>
          <p:cNvPr id="3" name="선 2"/>
          <p:cNvSpPr/>
          <p:nvPr/>
        </p:nvSpPr>
        <p:spPr>
          <a:xfrm>
            <a:off x="711220" y="5953110"/>
            <a:ext cx="10769620" cy="0"/>
          </a:xfrm>
          <a:prstGeom prst="line">
            <a:avLst/>
          </a:prstGeom>
          <a:noFill/>
          <a:ln w="6350">
            <a:solidFill>
              <a:srgbClr val="D5CEB8"/>
            </a:solidFill>
            <a:prstDash val="solid"/>
          </a:ln>
        </p:spPr>
      </p:sp>
      <p:sp>
        <p:nvSpPr>
          <p:cNvPr id="4" name="선 3"/>
          <p:cNvSpPr/>
          <p:nvPr/>
        </p:nvSpPr>
        <p:spPr>
          <a:xfrm>
            <a:off x="1831269" y="6121359"/>
            <a:ext cx="0" cy="228600"/>
          </a:xfrm>
          <a:prstGeom prst="line">
            <a:avLst/>
          </a:prstGeom>
          <a:noFill/>
          <a:ln w="6350">
            <a:solidFill>
              <a:srgbClr val="D5CEB8"/>
            </a:solidFill>
            <a:prstDash val="solid"/>
          </a:ln>
        </p:spPr>
      </p:sp>
      <p:sp>
        <p:nvSpPr>
          <p:cNvPr id="5" name="선 4"/>
          <p:cNvSpPr/>
          <p:nvPr/>
        </p:nvSpPr>
        <p:spPr>
          <a:xfrm>
            <a:off x="3706155" y="6121359"/>
            <a:ext cx="0" cy="228600"/>
          </a:xfrm>
          <a:prstGeom prst="line">
            <a:avLst/>
          </a:prstGeom>
          <a:noFill/>
          <a:ln w="6350">
            <a:solidFill>
              <a:srgbClr val="D5CEB8"/>
            </a:solidFill>
            <a:prstDash val="solid"/>
          </a:ln>
        </p:spPr>
      </p:sp>
      <p:sp>
        <p:nvSpPr>
          <p:cNvPr id="6" name="선 5"/>
          <p:cNvSpPr/>
          <p:nvPr/>
        </p:nvSpPr>
        <p:spPr>
          <a:xfrm>
            <a:off x="4991892" y="6121359"/>
            <a:ext cx="0" cy="228600"/>
          </a:xfrm>
          <a:prstGeom prst="line">
            <a:avLst/>
          </a:prstGeom>
          <a:noFill/>
          <a:ln w="6350">
            <a:solidFill>
              <a:srgbClr val="D5CEB8"/>
            </a:solidFill>
            <a:prstDash val="solid"/>
          </a:ln>
        </p:spPr>
      </p:sp>
      <p:sp>
        <p:nvSpPr>
          <p:cNvPr id="7" name="글상자 6"/>
          <p:cNvSpPr txBox="1"/>
          <p:nvPr/>
        </p:nvSpPr>
        <p:spPr>
          <a:xfrm>
            <a:off x="1493581" y="5288432"/>
            <a:ext cx="232898" cy="173370"/>
          </a:xfrm>
          <a:prstGeom prst="rect">
            <a:avLst/>
          </a:prstGeom>
          <a:noFill/>
          <a:ln/>
        </p:spPr>
        <p:txBody>
          <a:bodyPr wrap="none" lIns="0" tIns="0" rIns="0" bIns="0" rtlCol="0" anchor="ctr"/>
          <a:lstStyle/>
          <a:p>
            <a:pPr algn="l" indent="0" marL="0">
              <a:buNone/>
            </a:pPr>
            <a:r>
              <a:rPr lang="ko-KR" altLang="en-US" sz="1050" spc="84" kern="0" dirty="0">
                <a:solidFill>
                  <a:srgbClr val="737F4A"/>
                </a:solidFill>
                <a:latin typeface="Paperlogy 6 SemiBold" pitchFamily="34" charset="0"/>
                <a:ea typeface="Paperlogy 6 SemiBold" pitchFamily="34" charset="-122"/>
                <a:cs typeface="Paperlogy 6 SemiBold" pitchFamily="34" charset="-120"/>
              </a:rPr>
              <a:t>·</a:t>
            </a:r>
            <a:endParaRPr lang="en-US" sz="1050" dirty="0"/>
          </a:p>
        </p:txBody>
      </p:sp>
      <p:sp>
        <p:nvSpPr>
          <p:cNvPr id="8" name="글상자 7"/>
          <p:cNvSpPr txBox="1"/>
          <p:nvPr/>
        </p:nvSpPr>
        <p:spPr>
          <a:xfrm>
            <a:off x="2775478" y="5288432"/>
            <a:ext cx="232898" cy="173370"/>
          </a:xfrm>
          <a:prstGeom prst="rect">
            <a:avLst/>
          </a:prstGeom>
          <a:noFill/>
          <a:ln/>
        </p:spPr>
        <p:txBody>
          <a:bodyPr wrap="none" lIns="0" tIns="0" rIns="0" bIns="0" rtlCol="0" anchor="ctr"/>
          <a:lstStyle/>
          <a:p>
            <a:pPr algn="l" indent="0" marL="0">
              <a:buNone/>
            </a:pPr>
            <a:r>
              <a:rPr lang="ko-KR" altLang="en-US" sz="1050" spc="84" kern="0" dirty="0">
                <a:solidFill>
                  <a:srgbClr val="737F4A"/>
                </a:solidFill>
                <a:latin typeface="Paperlogy 6 SemiBold" pitchFamily="34" charset="0"/>
                <a:ea typeface="Paperlogy 6 SemiBold" pitchFamily="34" charset="-122"/>
                <a:cs typeface="Paperlogy 6 SemiBold" pitchFamily="34" charset="-120"/>
              </a:rPr>
              <a:t>·</a:t>
            </a:r>
            <a:endParaRPr lang="en-US" sz="1050" dirty="0"/>
          </a:p>
        </p:txBody>
      </p:sp>
      <p:sp>
        <p:nvSpPr>
          <p:cNvPr id="9" name="글상자 8"/>
          <p:cNvSpPr txBox="1"/>
          <p:nvPr/>
        </p:nvSpPr>
        <p:spPr>
          <a:xfrm>
            <a:off x="3389315" y="5288432"/>
            <a:ext cx="232898" cy="173370"/>
          </a:xfrm>
          <a:prstGeom prst="rect">
            <a:avLst/>
          </a:prstGeom>
          <a:noFill/>
          <a:ln/>
        </p:spPr>
        <p:txBody>
          <a:bodyPr wrap="none" lIns="0" tIns="0" rIns="0" bIns="0" rtlCol="0" anchor="ctr"/>
          <a:lstStyle/>
          <a:p>
            <a:pPr algn="l" indent="0" marL="0">
              <a:buNone/>
            </a:pPr>
            <a:r>
              <a:rPr lang="ko-KR" altLang="en-US" sz="1050" spc="84" kern="0" dirty="0">
                <a:solidFill>
                  <a:srgbClr val="737F4A"/>
                </a:solidFill>
                <a:latin typeface="Paperlogy 6 SemiBold" pitchFamily="34" charset="0"/>
                <a:ea typeface="Paperlogy 6 SemiBold" pitchFamily="34" charset="-122"/>
                <a:cs typeface="Paperlogy 6 SemiBold" pitchFamily="34" charset="-120"/>
              </a:rPr>
              <a:t>·</a:t>
            </a:r>
            <a:endParaRPr lang="en-US" sz="1050" dirty="0"/>
          </a:p>
        </p:txBody>
      </p:sp>
      <p:sp>
        <p:nvSpPr>
          <p:cNvPr id="10" name="글상자 9"/>
          <p:cNvSpPr txBox="1"/>
          <p:nvPr/>
        </p:nvSpPr>
        <p:spPr>
          <a:xfrm>
            <a:off x="4003060" y="5288432"/>
            <a:ext cx="232898" cy="173370"/>
          </a:xfrm>
          <a:prstGeom prst="rect">
            <a:avLst/>
          </a:prstGeom>
          <a:noFill/>
          <a:ln/>
        </p:spPr>
        <p:txBody>
          <a:bodyPr wrap="none" lIns="0" tIns="0" rIns="0" bIns="0" rtlCol="0" anchor="ctr"/>
          <a:lstStyle/>
          <a:p>
            <a:pPr algn="l" indent="0" marL="0">
              <a:buNone/>
            </a:pPr>
            <a:r>
              <a:rPr lang="ko-KR" altLang="en-US" sz="1050" spc="84" kern="0" dirty="0">
                <a:solidFill>
                  <a:srgbClr val="737F4A"/>
                </a:solidFill>
                <a:latin typeface="Paperlogy 6 SemiBold" pitchFamily="34" charset="0"/>
                <a:ea typeface="Paperlogy 6 SemiBold" pitchFamily="34" charset="-122"/>
                <a:cs typeface="Paperlogy 6 SemiBold" pitchFamily="34" charset="-120"/>
              </a:rPr>
              <a:t>·</a:t>
            </a:r>
            <a:endParaRPr lang="en-US" sz="1050" dirty="0"/>
          </a:p>
        </p:txBody>
      </p:sp>
      <p:sp>
        <p:nvSpPr>
          <p:cNvPr id="11" name="글상자 10"/>
          <p:cNvSpPr txBox="1"/>
          <p:nvPr/>
        </p:nvSpPr>
        <p:spPr>
          <a:xfrm>
            <a:off x="9237726" y="-3917930"/>
            <a:ext cx="2442820" cy="9740920"/>
          </a:xfrm>
          <a:prstGeom prst="rect">
            <a:avLst/>
          </a:prstGeom>
          <a:noFill/>
          <a:ln/>
        </p:spPr>
        <p:txBody>
          <a:bodyPr wrap="none" lIns="0" tIns="0" rIns="0" bIns="0" rtlCol="0" anchor="ctr"/>
          <a:lstStyle/>
          <a:p>
            <a:pPr algn="l" indent="0" marL="0">
              <a:buNone/>
            </a:pPr>
            <a:r>
              <a:rPr lang="ko-KR" altLang="en-US" sz="59000" spc="-14" kern="0" dirty="0">
                <a:solidFill>
                  <a:srgbClr val="DDE3C7"/>
                </a:solidFill>
                <a:latin typeface="Paperlogy 8 ExtraBold" pitchFamily="34" charset="0"/>
                <a:ea typeface="Paperlogy 8 ExtraBold" pitchFamily="34" charset="-122"/>
                <a:cs typeface="Paperlogy 8 ExtraBold" pitchFamily="34" charset="-120"/>
              </a:rPr>
              <a:t>,</a:t>
            </a:r>
            <a:endParaRPr lang="en-US" sz="59000" dirty="0"/>
          </a:p>
        </p:txBody>
      </p:sp>
      <p:sp>
        <p:nvSpPr>
          <p:cNvPr id="12" name="글상자 11"/>
          <p:cNvSpPr txBox="1"/>
          <p:nvPr/>
        </p:nvSpPr>
        <p:spPr>
          <a:xfrm>
            <a:off x="1054120" y="607985"/>
            <a:ext cx="3669213" cy="200071"/>
          </a:xfrm>
          <a:prstGeom prst="rect">
            <a:avLst/>
          </a:prstGeom>
          <a:noFill/>
          <a:ln/>
        </p:spPr>
        <p:txBody>
          <a:bodyPr wrap="none" lIns="0" tIns="0" rIns="0" bIns="0" rtlCol="0" anchor="ctr"/>
          <a:lstStyle/>
          <a:p>
            <a:pPr algn="l" indent="0" marL="0">
              <a:buNone/>
            </a:pPr>
            <a:r>
              <a:rPr lang="ko-KR" altLang="en-US" sz="1050" spc="231" kern="0" dirty="0">
                <a:solidFill>
                  <a:srgbClr val="646D40"/>
                </a:solidFill>
                <a:latin typeface="Paperlogy 6 SemiBold" pitchFamily="34" charset="0"/>
                <a:ea typeface="Paperlogy 6 SemiBold" pitchFamily="34" charset="-122"/>
                <a:cs typeface="Paperlogy 6 SemiBold" pitchFamily="34" charset="-120"/>
              </a:rPr>
              <a:t>CHUNCHEON, A MOMENT TO PAUSE</a:t>
            </a:r>
            <a:endParaRPr lang="en-US" sz="1050" dirty="0"/>
          </a:p>
        </p:txBody>
      </p:sp>
      <p:sp>
        <p:nvSpPr>
          <p:cNvPr id="13" name="글상자 12"/>
          <p:cNvSpPr txBox="1"/>
          <p:nvPr/>
        </p:nvSpPr>
        <p:spPr>
          <a:xfrm>
            <a:off x="9769175" y="607985"/>
            <a:ext cx="1923715" cy="200071"/>
          </a:xfrm>
          <a:prstGeom prst="rect">
            <a:avLst/>
          </a:prstGeom>
          <a:noFill/>
          <a:ln/>
        </p:spPr>
        <p:txBody>
          <a:bodyPr wrap="none" lIns="0" tIns="0" rIns="0" bIns="0" rtlCol="0" anchor="ctr"/>
          <a:lstStyle/>
          <a:p>
            <a:pPr algn="l" indent="0" marL="0">
              <a:buNone/>
            </a:pPr>
            <a:r>
              <a:rPr lang="ko-KR" altLang="en-US" sz="1050" spc="42" kern="0" dirty="0">
                <a:solidFill>
                  <a:srgbClr val="646D40"/>
                </a:solidFill>
                <a:latin typeface="Paperlogy 4 Regular" pitchFamily="34" charset="0"/>
                <a:ea typeface="Paperlogy 4 Regular" pitchFamily="34" charset="-122"/>
                <a:cs typeface="Paperlogy 4 Regular" pitchFamily="34" charset="-120"/>
              </a:rPr>
              <a:t>관광레저상품 기획 사전 제안서</a:t>
            </a:r>
            <a:endParaRPr lang="en-US" sz="1050" dirty="0"/>
          </a:p>
        </p:txBody>
      </p:sp>
      <p:sp>
        <p:nvSpPr>
          <p:cNvPr id="14" name="글상자 13"/>
          <p:cNvSpPr txBox="1"/>
          <p:nvPr/>
        </p:nvSpPr>
        <p:spPr>
          <a:xfrm>
            <a:off x="698510" y="1278240"/>
            <a:ext cx="5067239" cy="2799984"/>
          </a:xfrm>
          <a:prstGeom prst="rect">
            <a:avLst/>
          </a:prstGeom>
          <a:noFill/>
          <a:ln/>
        </p:spPr>
        <p:txBody>
          <a:bodyPr wrap="none" lIns="0" tIns="0" rIns="0" bIns="0" rtlCol="0" anchor="ctr"/>
          <a:lstStyle/>
          <a:p>
            <a:pPr algn="l" indent="0" marL="0">
              <a:lnSpc>
                <a:spcPts val="11023"/>
              </a:lnSpc>
              <a:buNone/>
            </a:pPr>
            <a:r>
              <a:rPr lang="ko-KR" altLang="en-US" sz="10400" spc="-520" kern="0" dirty="0">
                <a:solidFill>
                  <a:srgbClr val="2E3A1B"/>
                </a:solidFill>
                <a:latin typeface="Paperlogy 8 ExtraBold" pitchFamily="34" charset="0"/>
                <a:ea typeface="Paperlogy 8 ExtraBold" pitchFamily="34" charset="-122"/>
                <a:cs typeface="Paperlogy 8 ExtraBold" pitchFamily="34" charset="-120"/>
              </a:rPr>
              <a:t>춘천</a:t>
            </a:r>
            <a:pPr algn="l" indent="0" marL="0">
              <a:lnSpc>
                <a:spcPts val="11023"/>
              </a:lnSpc>
              <a:buNone/>
            </a:pPr>
            <a:r>
              <a:rPr lang="ko-KR" altLang="en-US" sz="10400" spc="-520" kern="0" dirty="0">
                <a:solidFill>
                  <a:srgbClr val="737F4A"/>
                </a:solidFill>
                <a:latin typeface="Paperlogy 8 ExtraBold" pitchFamily="34" charset="0"/>
                <a:ea typeface="Paperlogy 8 ExtraBold" pitchFamily="34" charset="-122"/>
                <a:cs typeface="Paperlogy 8 ExtraBold" pitchFamily="34" charset="-120"/>
              </a:rPr>
              <a:t>,</a:t>
            </a:r>
            <a:endParaRPr lang="en-US" sz="10400" dirty="0"/>
          </a:p>
          <a:p>
            <a:pPr algn="l" indent="0" marL="0">
              <a:lnSpc>
                <a:spcPts val="11023"/>
              </a:lnSpc>
              <a:buNone/>
            </a:pPr>
            <a:r>
              <a:rPr lang="ko-KR" altLang="en-US" sz="10400" spc="-520" kern="0" dirty="0">
                <a:solidFill>
                  <a:srgbClr val="2E3A1B"/>
                </a:solidFill>
                <a:latin typeface="Paperlogy 8 ExtraBold" pitchFamily="34" charset="0"/>
                <a:ea typeface="Paperlogy 8 ExtraBold" pitchFamily="34" charset="-122"/>
                <a:cs typeface="Paperlogy 8 ExtraBold" pitchFamily="34" charset="-120"/>
              </a:rPr>
              <a:t>쉼표 하나</a:t>
            </a:r>
            <a:endParaRPr lang="en-US" sz="10400" dirty="0"/>
          </a:p>
        </p:txBody>
      </p:sp>
      <p:sp>
        <p:nvSpPr>
          <p:cNvPr id="15" name="글상자 14"/>
          <p:cNvSpPr txBox="1"/>
          <p:nvPr/>
        </p:nvSpPr>
        <p:spPr>
          <a:xfrm>
            <a:off x="698510" y="4299783"/>
            <a:ext cx="3139410" cy="761970"/>
          </a:xfrm>
          <a:prstGeom prst="rect">
            <a:avLst/>
          </a:prstGeom>
          <a:noFill/>
          <a:ln/>
        </p:spPr>
        <p:txBody>
          <a:bodyPr wrap="none" lIns="0" tIns="0" rIns="0" bIns="0" rtlCol="0" anchor="ctr"/>
          <a:lstStyle/>
          <a:p>
            <a:pPr algn="l" indent="0" marL="0">
              <a:lnSpc>
                <a:spcPts val="3000"/>
              </a:lnSpc>
              <a:buNone/>
            </a:pPr>
            <a:r>
              <a:rPr lang="ko-KR" altLang="en-US" sz="2000" spc="-40" kern="0" dirty="0">
                <a:solidFill>
                  <a:srgbClr val="45512A"/>
                </a:solidFill>
                <a:latin typeface="Paperlogy 4 Regular" pitchFamily="34" charset="0"/>
                <a:ea typeface="Paperlogy 4 Regular" pitchFamily="34" charset="-122"/>
                <a:cs typeface="Paperlogy 4 Regular" pitchFamily="34" charset="-120"/>
              </a:rPr>
              <a:t>바쁜 일상에 잠시 쉼표를 찍는</a:t>
            </a:r>
            <a:endParaRPr lang="en-US" sz="2000" dirty="0"/>
          </a:p>
          <a:p>
            <a:pPr algn="l" indent="0" marL="0">
              <a:lnSpc>
                <a:spcPts val="3000"/>
              </a:lnSpc>
              <a:buNone/>
            </a:pPr>
            <a:r>
              <a:rPr lang="ko-KR" altLang="en-US" sz="2000" spc="-40" kern="0" dirty="0">
                <a:solidFill>
                  <a:srgbClr val="45512A"/>
                </a:solidFill>
                <a:latin typeface="Paperlogy 4 Regular" pitchFamily="34" charset="0"/>
                <a:ea typeface="Paperlogy 4 Regular" pitchFamily="34" charset="-122"/>
                <a:cs typeface="Paperlogy 4 Regular" pitchFamily="34" charset="-120"/>
              </a:rPr>
              <a:t>춘천 감성 힐링 당일 여행</a:t>
            </a:r>
            <a:endParaRPr lang="en-US" sz="2000" dirty="0"/>
          </a:p>
        </p:txBody>
      </p:sp>
      <p:sp>
        <p:nvSpPr>
          <p:cNvPr id="16" name="글상자 15"/>
          <p:cNvSpPr txBox="1"/>
          <p:nvPr/>
        </p:nvSpPr>
        <p:spPr>
          <a:xfrm>
            <a:off x="698510" y="5275082"/>
            <a:ext cx="846003" cy="200071"/>
          </a:xfrm>
          <a:prstGeom prst="rect">
            <a:avLst/>
          </a:prstGeom>
          <a:noFill/>
          <a:ln/>
        </p:spPr>
        <p:txBody>
          <a:bodyPr wrap="none" lIns="0" tIns="0" rIns="0" bIns="0" rtlCol="0" anchor="ctr"/>
          <a:lstStyle/>
          <a:p>
            <a:pPr algn="l" indent="0" marL="0">
              <a:buNone/>
            </a:pPr>
            <a:r>
              <a:rPr lang="ko-KR" altLang="en-US" sz="1050" spc="84" kern="0" dirty="0">
                <a:solidFill>
                  <a:srgbClr val="646D40"/>
                </a:solidFill>
                <a:latin typeface="Paperlogy 6 SemiBold" pitchFamily="34" charset="0"/>
                <a:ea typeface="Paperlogy 6 SemiBold" pitchFamily="34" charset="-122"/>
                <a:cs typeface="Paperlogy 6 SemiBold" pitchFamily="34" charset="-120"/>
              </a:rPr>
              <a:t>ONE DAY</a:t>
            </a:r>
            <a:endParaRPr lang="en-US" sz="1050" dirty="0"/>
          </a:p>
        </p:txBody>
      </p:sp>
      <p:sp>
        <p:nvSpPr>
          <p:cNvPr id="17" name="글상자 16"/>
          <p:cNvSpPr txBox="1"/>
          <p:nvPr/>
        </p:nvSpPr>
        <p:spPr>
          <a:xfrm>
            <a:off x="1629186" y="5275082"/>
            <a:ext cx="1225296" cy="200071"/>
          </a:xfrm>
          <a:prstGeom prst="rect">
            <a:avLst/>
          </a:prstGeom>
          <a:noFill/>
          <a:ln/>
        </p:spPr>
        <p:txBody>
          <a:bodyPr wrap="none" lIns="0" tIns="0" rIns="0" bIns="0" rtlCol="0" anchor="ctr"/>
          <a:lstStyle/>
          <a:p>
            <a:pPr algn="l" indent="0" marL="0">
              <a:buNone/>
            </a:pPr>
            <a:r>
              <a:rPr lang="ko-KR" altLang="en-US" sz="1050" spc="84" kern="0" dirty="0">
                <a:solidFill>
                  <a:srgbClr val="646D40"/>
                </a:solidFill>
                <a:latin typeface="Paperlogy 6 SemiBold" pitchFamily="34" charset="0"/>
                <a:ea typeface="Paperlogy 6 SemiBold" pitchFamily="34" charset="-122"/>
                <a:cs typeface="Paperlogy 6 SemiBold" pitchFamily="34" charset="-120"/>
              </a:rPr>
              <a:t>11:00 – 17:00</a:t>
            </a:r>
            <a:endParaRPr lang="en-US" sz="1050" dirty="0"/>
          </a:p>
        </p:txBody>
      </p:sp>
      <p:sp>
        <p:nvSpPr>
          <p:cNvPr id="18" name="글상자 17"/>
          <p:cNvSpPr txBox="1"/>
          <p:nvPr/>
        </p:nvSpPr>
        <p:spPr>
          <a:xfrm>
            <a:off x="2911084" y="5275082"/>
            <a:ext cx="503743" cy="200071"/>
          </a:xfrm>
          <a:prstGeom prst="rect">
            <a:avLst/>
          </a:prstGeom>
          <a:noFill/>
          <a:ln/>
        </p:spPr>
        <p:txBody>
          <a:bodyPr wrap="none" lIns="0" tIns="0" rIns="0" bIns="0" rtlCol="0" anchor="ctr"/>
          <a:lstStyle/>
          <a:p>
            <a:pPr algn="l" indent="0" marL="0">
              <a:buNone/>
            </a:pPr>
            <a:r>
              <a:rPr lang="ko-KR" altLang="en-US" sz="1050" spc="84" kern="0" dirty="0">
                <a:solidFill>
                  <a:srgbClr val="646D40"/>
                </a:solidFill>
                <a:latin typeface="Paperlogy 6 SemiBold" pitchFamily="34" charset="0"/>
                <a:ea typeface="Paperlogy 6 SemiBold" pitchFamily="34" charset="-122"/>
                <a:cs typeface="Paperlogy 6 SemiBold" pitchFamily="34" charset="-120"/>
              </a:rPr>
              <a:t>의암호</a:t>
            </a:r>
            <a:endParaRPr lang="en-US" sz="1050" dirty="0"/>
          </a:p>
        </p:txBody>
      </p:sp>
      <p:sp>
        <p:nvSpPr>
          <p:cNvPr id="19" name="글상자 18"/>
          <p:cNvSpPr txBox="1"/>
          <p:nvPr/>
        </p:nvSpPr>
        <p:spPr>
          <a:xfrm>
            <a:off x="3524829" y="5275082"/>
            <a:ext cx="503743" cy="200071"/>
          </a:xfrm>
          <a:prstGeom prst="rect">
            <a:avLst/>
          </a:prstGeom>
          <a:noFill/>
          <a:ln/>
        </p:spPr>
        <p:txBody>
          <a:bodyPr wrap="none" lIns="0" tIns="0" rIns="0" bIns="0" rtlCol="0" anchor="ctr"/>
          <a:lstStyle/>
          <a:p>
            <a:pPr algn="l" indent="0" marL="0">
              <a:buNone/>
            </a:pPr>
            <a:r>
              <a:rPr lang="ko-KR" altLang="en-US" sz="1050" spc="84" kern="0" dirty="0">
                <a:solidFill>
                  <a:srgbClr val="646D40"/>
                </a:solidFill>
                <a:latin typeface="Paperlogy 6 SemiBold" pitchFamily="34" charset="0"/>
                <a:ea typeface="Paperlogy 6 SemiBold" pitchFamily="34" charset="-122"/>
                <a:cs typeface="Paperlogy 6 SemiBold" pitchFamily="34" charset="-120"/>
              </a:rPr>
              <a:t>공지천</a:t>
            </a:r>
            <a:endParaRPr lang="en-US" sz="1050" dirty="0"/>
          </a:p>
        </p:txBody>
      </p:sp>
      <p:sp>
        <p:nvSpPr>
          <p:cNvPr id="20" name="글상자 19"/>
          <p:cNvSpPr txBox="1"/>
          <p:nvPr/>
        </p:nvSpPr>
        <p:spPr>
          <a:xfrm>
            <a:off x="4138574" y="5275082"/>
            <a:ext cx="685251" cy="200071"/>
          </a:xfrm>
          <a:prstGeom prst="rect">
            <a:avLst/>
          </a:prstGeom>
          <a:noFill/>
          <a:ln/>
        </p:spPr>
        <p:txBody>
          <a:bodyPr wrap="none" lIns="0" tIns="0" rIns="0" bIns="0" rtlCol="0" anchor="ctr"/>
          <a:lstStyle/>
          <a:p>
            <a:pPr algn="l" indent="0" marL="0">
              <a:buNone/>
            </a:pPr>
            <a:r>
              <a:rPr lang="ko-KR" altLang="en-US" sz="1050" spc="84" kern="0" dirty="0">
                <a:solidFill>
                  <a:srgbClr val="646D40"/>
                </a:solidFill>
                <a:latin typeface="Paperlogy 6 SemiBold" pitchFamily="34" charset="0"/>
                <a:ea typeface="Paperlogy 6 SemiBold" pitchFamily="34" charset="-122"/>
                <a:cs typeface="Paperlogy 6 SemiBold" pitchFamily="34" charset="-120"/>
              </a:rPr>
              <a:t>로컬 카페</a:t>
            </a:r>
            <a:endParaRPr lang="en-US" sz="1050" dirty="0"/>
          </a:p>
        </p:txBody>
      </p:sp>
      <p:sp>
        <p:nvSpPr>
          <p:cNvPr id="21" name="글상자 20"/>
          <p:cNvSpPr txBox="1"/>
          <p:nvPr/>
        </p:nvSpPr>
        <p:spPr>
          <a:xfrm>
            <a:off x="698510" y="6121359"/>
            <a:ext cx="1089416" cy="228600"/>
          </a:xfrm>
          <a:prstGeom prst="rect">
            <a:avLst/>
          </a:prstGeom>
          <a:noFill/>
          <a:ln/>
        </p:spPr>
        <p:txBody>
          <a:bodyPr wrap="none" lIns="0" tIns="0" rIns="0" bIns="0" rtlCol="0" anchor="ctr"/>
          <a:lstStyle/>
          <a:p>
            <a:pPr algn="l" indent="0" marL="0">
              <a:buNone/>
            </a:pPr>
            <a:r>
              <a:rPr lang="ko-KR" altLang="en-US" sz="1200" spc="-14" kern="0" dirty="0">
                <a:solidFill>
                  <a:srgbClr val="45512A"/>
                </a:solidFill>
                <a:latin typeface="Paperlogy 4 Regular" pitchFamily="34" charset="0"/>
                <a:ea typeface="Paperlogy 4 Regular" pitchFamily="34" charset="-122"/>
                <a:cs typeface="Paperlogy 4 Regular" pitchFamily="34" charset="-120"/>
              </a:rPr>
              <a:t>관광레저상품론</a:t>
            </a:r>
            <a:endParaRPr lang="en-US" sz="1200" dirty="0"/>
          </a:p>
        </p:txBody>
      </p:sp>
      <p:sp>
        <p:nvSpPr>
          <p:cNvPr id="22" name="글상자 21"/>
          <p:cNvSpPr txBox="1"/>
          <p:nvPr/>
        </p:nvSpPr>
        <p:spPr>
          <a:xfrm>
            <a:off x="2012229" y="6121359"/>
            <a:ext cx="1695389" cy="228600"/>
          </a:xfrm>
          <a:prstGeom prst="rect">
            <a:avLst/>
          </a:prstGeom>
          <a:noFill/>
          <a:ln/>
        </p:spPr>
        <p:txBody>
          <a:bodyPr wrap="none" lIns="0" tIns="0" rIns="0" bIns="0" rtlCol="0" anchor="ctr"/>
          <a:lstStyle/>
          <a:p>
            <a:pPr algn="l" indent="0" marL="0">
              <a:buNone/>
            </a:pPr>
            <a:r>
              <a:rPr lang="ko-KR" altLang="en-US" sz="1200" spc="-14" kern="0" dirty="0">
                <a:solidFill>
                  <a:srgbClr val="45512A"/>
                </a:solidFill>
                <a:latin typeface="Paperlogy 4 Regular" pitchFamily="34" charset="0"/>
                <a:ea typeface="Paperlogy 4 Regular" pitchFamily="34" charset="-122"/>
                <a:cs typeface="Paperlogy 4 Regular" pitchFamily="34" charset="-120"/>
              </a:rPr>
              <a:t>강원대학교 관광경영학과</a:t>
            </a:r>
            <a:endParaRPr lang="en-US" sz="1200" dirty="0"/>
          </a:p>
        </p:txBody>
      </p:sp>
      <p:sp>
        <p:nvSpPr>
          <p:cNvPr id="23" name="글상자 22"/>
          <p:cNvSpPr txBox="1"/>
          <p:nvPr/>
        </p:nvSpPr>
        <p:spPr>
          <a:xfrm>
            <a:off x="3887114" y="6121359"/>
            <a:ext cx="1059241" cy="228600"/>
          </a:xfrm>
          <a:prstGeom prst="rect">
            <a:avLst/>
          </a:prstGeom>
          <a:noFill/>
          <a:ln/>
        </p:spPr>
        <p:txBody>
          <a:bodyPr wrap="none" lIns="0" tIns="0" rIns="0" bIns="0" rtlCol="0" anchor="ctr"/>
          <a:lstStyle/>
          <a:p>
            <a:pPr algn="l" indent="0" marL="0">
              <a:buNone/>
            </a:pPr>
            <a:r>
              <a:rPr lang="ko-KR" altLang="en-US" sz="1200" spc="-14" kern="0" dirty="0">
                <a:solidFill>
                  <a:srgbClr val="45512A"/>
                </a:solidFill>
                <a:latin typeface="Paperlogy 4 Regular" pitchFamily="34" charset="0"/>
                <a:ea typeface="Paperlogy 4 Regular" pitchFamily="34" charset="-122"/>
                <a:cs typeface="Paperlogy 4 Regular" pitchFamily="34" charset="-120"/>
              </a:rPr>
              <a:t>202313296</a:t>
            </a:r>
            <a:endParaRPr lang="en-US" sz="1200" dirty="0"/>
          </a:p>
        </p:txBody>
      </p:sp>
      <p:sp>
        <p:nvSpPr>
          <p:cNvPr id="24" name="글상자 23"/>
          <p:cNvSpPr txBox="1"/>
          <p:nvPr/>
        </p:nvSpPr>
        <p:spPr>
          <a:xfrm>
            <a:off x="5172852" y="6121359"/>
            <a:ext cx="517733" cy="228600"/>
          </a:xfrm>
          <a:prstGeom prst="rect">
            <a:avLst/>
          </a:prstGeom>
          <a:noFill/>
          <a:ln/>
        </p:spPr>
        <p:txBody>
          <a:bodyPr wrap="none" lIns="0" tIns="0" rIns="0" bIns="0" rtlCol="0" anchor="ctr"/>
          <a:lstStyle/>
          <a:p>
            <a:pPr algn="l" indent="0" marL="0">
              <a:buNone/>
            </a:pPr>
            <a:r>
              <a:rPr lang="ko-KR" altLang="en-US" sz="1200" spc="-14" kern="0" dirty="0">
                <a:solidFill>
                  <a:srgbClr val="45512A"/>
                </a:solidFill>
                <a:latin typeface="Paperlogy 4 Regular" pitchFamily="34" charset="0"/>
                <a:ea typeface="Paperlogy 4 Regular" pitchFamily="34" charset="-122"/>
                <a:cs typeface="Paperlogy 4 Regular" pitchFamily="34" charset="-120"/>
              </a:rPr>
              <a:t>이세진</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6"/>
        </a:solidFill>
      </p:bgPr>
    </p:bg>
    <p:spTree>
      <p:nvGrpSpPr>
        <p:cNvPr id="1" name=""/>
        <p:cNvGrpSpPr/>
        <p:nvPr/>
      </p:nvGrpSpPr>
      <p:grpSpPr>
        <a:xfrm>
          <a:off x="0" y="0"/>
          <a:ext cx="0" cy="0"/>
          <a:chOff x="0" y="0"/>
          <a:chExt cx="0" cy="0"/>
        </a:xfrm>
      </p:grpSpPr>
      <p:sp>
        <p:nvSpPr>
          <p:cNvPr id="2" name="선 1"/>
          <p:cNvSpPr/>
          <p:nvPr/>
        </p:nvSpPr>
        <p:spPr>
          <a:xfrm>
            <a:off x="711220" y="658825"/>
            <a:ext cx="254020" cy="0"/>
          </a:xfrm>
          <a:prstGeom prst="line">
            <a:avLst/>
          </a:prstGeom>
          <a:noFill/>
          <a:ln w="12700">
            <a:solidFill>
              <a:srgbClr val="737F4A"/>
            </a:solidFill>
            <a:prstDash val="solid"/>
          </a:ln>
        </p:spPr>
      </p:sp>
      <p:sp>
        <p:nvSpPr>
          <p:cNvPr id="3" name="상자 2"/>
          <p:cNvSpPr/>
          <p:nvPr/>
        </p:nvSpPr>
        <p:spPr>
          <a:xfrm>
            <a:off x="714421" y="2408164"/>
            <a:ext cx="2762220" cy="1019190"/>
          </a:xfrm>
          <a:prstGeom prst="roundRect">
            <a:avLst>
              <a:gd name="adj" fmla="val 8416"/>
            </a:avLst>
          </a:prstGeom>
          <a:noFill/>
          <a:ln w="6350">
            <a:solidFill>
              <a:srgbClr val="D5CEB8"/>
            </a:solidFill>
            <a:prstDash val="dash"/>
          </a:ln>
        </p:spPr>
      </p:sp>
      <p:sp>
        <p:nvSpPr>
          <p:cNvPr id="4" name="상자 3"/>
          <p:cNvSpPr/>
          <p:nvPr/>
        </p:nvSpPr>
        <p:spPr>
          <a:xfrm>
            <a:off x="3886200" y="2404963"/>
            <a:ext cx="2768620" cy="1025500"/>
          </a:xfrm>
          <a:prstGeom prst="roundRect">
            <a:avLst>
              <a:gd name="adj" fmla="val 8667"/>
            </a:avLst>
          </a:prstGeom>
          <a:solidFill>
            <a:srgbClr val="DDE3C7"/>
          </a:solidFill>
          <a:ln/>
        </p:spPr>
      </p:sp>
      <p:sp>
        <p:nvSpPr>
          <p:cNvPr id="5" name="상자 4"/>
          <p:cNvSpPr/>
          <p:nvPr/>
        </p:nvSpPr>
        <p:spPr>
          <a:xfrm>
            <a:off x="714421" y="4417924"/>
            <a:ext cx="5937291" cy="1212860"/>
          </a:xfrm>
          <a:prstGeom prst="roundRect">
            <a:avLst>
              <a:gd name="adj" fmla="val 7072"/>
            </a:avLst>
          </a:prstGeom>
          <a:solidFill>
            <a:srgbClr val="FBF9F3"/>
          </a:solidFill>
          <a:ln w="6350">
            <a:solidFill>
              <a:srgbClr val="D5CEB8"/>
            </a:solidFill>
            <a:prstDash val="solid"/>
          </a:ln>
        </p:spPr>
      </p:sp>
      <p:sp>
        <p:nvSpPr>
          <p:cNvPr id="6" name="상자 5"/>
          <p:cNvSpPr/>
          <p:nvPr/>
        </p:nvSpPr>
        <p:spPr>
          <a:xfrm>
            <a:off x="911200" y="4640123"/>
            <a:ext cx="724205" cy="203180"/>
          </a:xfrm>
          <a:prstGeom prst="roundRect">
            <a:avLst>
              <a:gd name="adj" fmla="val 50000"/>
            </a:avLst>
          </a:prstGeom>
          <a:noFill/>
          <a:ln w="6350">
            <a:solidFill>
              <a:srgbClr val="646D40"/>
            </a:solidFill>
            <a:prstDash val="dash"/>
          </a:ln>
        </p:spPr>
      </p:sp>
      <p:sp>
        <p:nvSpPr>
          <p:cNvPr id="7" name="선 6"/>
          <p:cNvSpPr/>
          <p:nvPr/>
        </p:nvSpPr>
        <p:spPr>
          <a:xfrm>
            <a:off x="711220" y="6203930"/>
            <a:ext cx="5943600" cy="0"/>
          </a:xfrm>
          <a:prstGeom prst="line">
            <a:avLst/>
          </a:prstGeom>
          <a:noFill/>
          <a:ln w="6350">
            <a:solidFill>
              <a:srgbClr val="D5CEB8"/>
            </a:solidFill>
            <a:prstDash val="solid"/>
          </a:ln>
        </p:spPr>
      </p:sp>
      <p:pic>
        <p:nvPicPr>
          <p:cNvPr id="8" name="사진 7" descr="AI 생성 이미지">    </p:cNvPr>
          <p:cNvPicPr>
            <a:picLocks noChangeAspect="1"/>
          </p:cNvPicPr>
          <p:nvPr/>
        </p:nvPicPr>
        <p:blipFill>
          <a:blip r:embed="rId1"/>
          <a:stretch>
            <a:fillRect/>
          </a:stretch>
        </p:blipFill>
        <p:spPr>
          <a:xfrm>
            <a:off x="7366041" y="0"/>
            <a:ext cx="4826020" cy="6858000"/>
          </a:xfrm>
          <a:prstGeom prst="rect">
            <a:avLst/>
          </a:prstGeom>
        </p:spPr>
      </p:pic>
      <p:sp>
        <p:nvSpPr>
          <p:cNvPr id="9" name="글상자 8"/>
          <p:cNvSpPr txBox="1"/>
          <p:nvPr/>
        </p:nvSpPr>
        <p:spPr>
          <a:xfrm>
            <a:off x="11137392" y="84491"/>
            <a:ext cx="952988" cy="115580"/>
          </a:xfrm>
          <a:prstGeom prst="rect">
            <a:avLst/>
          </a:prstGeom>
          <a:noFill/>
          <a:ln/>
        </p:spPr>
        <p:txBody>
          <a:bodyPr wrap="none" lIns="0" tIns="0" rIns="0" bIns="0" rtlCol="0" anchor="ctr"/>
          <a:lstStyle/>
          <a:p>
            <a:pPr algn="r" indent="0" marL="0">
              <a:buNone/>
            </a:pPr>
            <a:r>
              <a:rPr lang="ko-KR" altLang="en-US" sz="700" spc="28" kern="0" dirty="0">
                <a:solidFill>
                  <a:srgbClr val="FBF9F3"/>
                </a:solidFill>
                <a:effectLst>
                  <a:glow rad="50800">
                    <a:srgbClr val="1C2210">
                      <a:alpha val="45000"/>
                    </a:srgbClr>
                  </a:glow>
                </a:effectLst>
                <a:latin typeface="Paperlogy 5 Medium" pitchFamily="34" charset="0"/>
                <a:ea typeface="Paperlogy 5 Medium" pitchFamily="34" charset="-122"/>
                <a:cs typeface="Paperlogy 5 Medium" pitchFamily="34" charset="-120"/>
              </a:rPr>
              <a:t>AI 생성 이미지</a:t>
            </a:r>
            <a:endParaRPr lang="en-US" sz="700" dirty="0"/>
          </a:p>
        </p:txBody>
      </p:sp>
      <p:sp>
        <p:nvSpPr>
          <p:cNvPr id="10" name="글상자 9"/>
          <p:cNvSpPr txBox="1"/>
          <p:nvPr/>
        </p:nvSpPr>
        <p:spPr>
          <a:xfrm>
            <a:off x="1054120" y="557235"/>
            <a:ext cx="2642890" cy="200071"/>
          </a:xfrm>
          <a:prstGeom prst="rect">
            <a:avLst/>
          </a:prstGeom>
          <a:noFill/>
          <a:ln/>
        </p:spPr>
        <p:txBody>
          <a:bodyPr wrap="none" lIns="0" tIns="0" rIns="0" bIns="0" rtlCol="0" anchor="ctr"/>
          <a:lstStyle/>
          <a:p>
            <a:pPr algn="l" indent="0" marL="0">
              <a:buNone/>
            </a:pPr>
            <a:r>
              <a:rPr lang="ko-KR" altLang="en-US" sz="1050" spc="231" kern="0" dirty="0">
                <a:solidFill>
                  <a:srgbClr val="646D40"/>
                </a:solidFill>
                <a:latin typeface="Paperlogy 6 SemiBold" pitchFamily="34" charset="0"/>
                <a:ea typeface="Paperlogy 6 SemiBold" pitchFamily="34" charset="-122"/>
                <a:cs typeface="Paperlogy 6 SemiBold" pitchFamily="34" charset="-120"/>
              </a:rPr>
              <a:t>PLANNING BACKGROUND</a:t>
            </a:r>
            <a:endParaRPr lang="en-US" sz="1050" dirty="0"/>
          </a:p>
        </p:txBody>
      </p:sp>
      <p:sp>
        <p:nvSpPr>
          <p:cNvPr id="11" name="글상자 10"/>
          <p:cNvSpPr txBox="1"/>
          <p:nvPr/>
        </p:nvSpPr>
        <p:spPr>
          <a:xfrm>
            <a:off x="698510" y="833750"/>
            <a:ext cx="4857567" cy="561350"/>
          </a:xfrm>
          <a:prstGeom prst="rect">
            <a:avLst/>
          </a:prstGeom>
          <a:noFill/>
          <a:ln/>
        </p:spPr>
        <p:txBody>
          <a:bodyPr wrap="none" lIns="0" tIns="0" rIns="0" bIns="0" rtlCol="0" anchor="ctr"/>
          <a:lstStyle/>
          <a:p>
            <a:pPr algn="l" indent="0" marL="0">
              <a:buNone/>
            </a:pPr>
            <a:r>
              <a:rPr lang="ko-KR" altLang="en-US" sz="3400" spc="-102" kern="0" dirty="0">
                <a:solidFill>
                  <a:srgbClr val="2E3A1B"/>
                </a:solidFill>
                <a:latin typeface="Paperlogy 7 Bold" pitchFamily="34" charset="0"/>
                <a:ea typeface="Paperlogy 7 Bold" pitchFamily="34" charset="-122"/>
                <a:cs typeface="Paperlogy 7 Bold" pitchFamily="34" charset="-120"/>
              </a:rPr>
              <a:t>여행에도, 쉼표가 필요하다.</a:t>
            </a:r>
            <a:endParaRPr lang="en-US" sz="3400" dirty="0"/>
          </a:p>
        </p:txBody>
      </p:sp>
      <p:sp>
        <p:nvSpPr>
          <p:cNvPr id="12" name="글상자 11"/>
          <p:cNvSpPr txBox="1"/>
          <p:nvPr/>
        </p:nvSpPr>
        <p:spPr>
          <a:xfrm>
            <a:off x="698510" y="1559601"/>
            <a:ext cx="6258245" cy="628650"/>
          </a:xfrm>
          <a:prstGeom prst="rect">
            <a:avLst/>
          </a:prstGeom>
          <a:noFill/>
          <a:ln/>
        </p:spPr>
        <p:txBody>
          <a:bodyPr wrap="none" lIns="0" tIns="0" rIns="0" bIns="0" rtlCol="0" anchor="ctr"/>
          <a:lstStyle/>
          <a:p>
            <a:pPr algn="l" indent="0" marL="0">
              <a:lnSpc>
                <a:spcPts val="2475"/>
              </a:lnSpc>
              <a:buNone/>
            </a:pPr>
            <a:r>
              <a:rPr lang="ko-KR" altLang="en-US" sz="1500" spc="-14" kern="0" dirty="0">
                <a:solidFill>
                  <a:srgbClr val="45512A"/>
                </a:solidFill>
                <a:latin typeface="Paperlogy 4 Regular" pitchFamily="34" charset="0"/>
                <a:ea typeface="Paperlogy 4 Regular" pitchFamily="34" charset="-122"/>
                <a:cs typeface="Paperlogy 4 Regular" pitchFamily="34" charset="-120"/>
              </a:rPr>
              <a:t>여행은 일상에서 벗어나기 위한 시간이지만, 빽빽한 관광 일정과 잦은 이동으로</a:t>
            </a:r>
            <a:endParaRPr lang="en-US" sz="1500" dirty="0"/>
          </a:p>
          <a:p>
            <a:pPr algn="l" indent="0" marL="0">
              <a:lnSpc>
                <a:spcPts val="2475"/>
              </a:lnSpc>
              <a:buNone/>
            </a:pPr>
            <a:r>
              <a:rPr lang="ko-KR" altLang="en-US" sz="1500" spc="-14" kern="0" dirty="0">
                <a:solidFill>
                  <a:srgbClr val="45512A"/>
                </a:solidFill>
                <a:latin typeface="Paperlogy 4 Regular" pitchFamily="34" charset="0"/>
                <a:ea typeface="Paperlogy 4 Regular" pitchFamily="34" charset="-122"/>
                <a:cs typeface="Paperlogy 4 Regular" pitchFamily="34" charset="-120"/>
              </a:rPr>
              <a:t>오히려 피로를 느낄 수 있다.</a:t>
            </a:r>
            <a:endParaRPr lang="en-US" sz="1500" dirty="0"/>
          </a:p>
        </p:txBody>
      </p:sp>
      <p:sp>
        <p:nvSpPr>
          <p:cNvPr id="13" name="글상자 12"/>
          <p:cNvSpPr txBox="1"/>
          <p:nvPr/>
        </p:nvSpPr>
        <p:spPr>
          <a:xfrm>
            <a:off x="869960" y="2546238"/>
            <a:ext cx="800374" cy="180960"/>
          </a:xfrm>
          <a:prstGeom prst="rect">
            <a:avLst/>
          </a:prstGeom>
          <a:noFill/>
          <a:ln/>
        </p:spPr>
        <p:txBody>
          <a:bodyPr wrap="none" lIns="0" tIns="0" rIns="0" bIns="0" rtlCol="0" anchor="ctr"/>
          <a:lstStyle/>
          <a:p>
            <a:pPr algn="l" indent="0" marL="0">
              <a:buNone/>
            </a:pPr>
            <a:r>
              <a:rPr lang="ko-KR" altLang="en-US" sz="950" spc="133" kern="0" dirty="0">
                <a:solidFill>
                  <a:srgbClr val="646D40"/>
                </a:solidFill>
                <a:latin typeface="Paperlogy 7 Bold" pitchFamily="34" charset="0"/>
                <a:ea typeface="Paperlogy 7 Bold" pitchFamily="34" charset="-122"/>
                <a:cs typeface="Paperlogy 7 Bold" pitchFamily="34" charset="-120"/>
              </a:rPr>
              <a:t>지금의 여행</a:t>
            </a:r>
            <a:endParaRPr lang="en-US" sz="950" dirty="0"/>
          </a:p>
        </p:txBody>
      </p:sp>
      <p:sp>
        <p:nvSpPr>
          <p:cNvPr id="14" name="글상자 13"/>
          <p:cNvSpPr txBox="1"/>
          <p:nvPr/>
        </p:nvSpPr>
        <p:spPr>
          <a:xfrm>
            <a:off x="869960" y="2765328"/>
            <a:ext cx="1384310" cy="276240"/>
          </a:xfrm>
          <a:prstGeom prst="rect">
            <a:avLst/>
          </a:prstGeom>
          <a:noFill/>
          <a:ln/>
        </p:spPr>
        <p:txBody>
          <a:bodyPr wrap="none" lIns="0" tIns="0" rIns="0" bIns="0" rtlCol="0" anchor="ctr"/>
          <a:lstStyle/>
          <a:p>
            <a:pPr algn="l" indent="0" marL="0">
              <a:buNone/>
            </a:pPr>
            <a:r>
              <a:rPr lang="ko-KR" altLang="en-US" sz="1450" spc="-14" kern="0" dirty="0">
                <a:solidFill>
                  <a:srgbClr val="45512A"/>
                </a:solidFill>
                <a:latin typeface="Paperlogy 7 Bold" pitchFamily="34" charset="0"/>
                <a:ea typeface="Paperlogy 7 Bold" pitchFamily="34" charset="-122"/>
                <a:cs typeface="Paperlogy 7 Bold" pitchFamily="34" charset="-120"/>
              </a:rPr>
              <a:t>관광지 방문 중심</a:t>
            </a:r>
            <a:endParaRPr lang="en-US" sz="1450" dirty="0"/>
          </a:p>
        </p:txBody>
      </p:sp>
      <p:sp>
        <p:nvSpPr>
          <p:cNvPr id="15" name="글상자 14"/>
          <p:cNvSpPr txBox="1"/>
          <p:nvPr/>
        </p:nvSpPr>
        <p:spPr>
          <a:xfrm>
            <a:off x="869960" y="3082808"/>
            <a:ext cx="1370046" cy="200071"/>
          </a:xfrm>
          <a:prstGeom prst="rect">
            <a:avLst/>
          </a:prstGeom>
          <a:noFill/>
          <a:ln/>
        </p:spPr>
        <p:txBody>
          <a:bodyPr wrap="none" lIns="0" tIns="0" rIns="0" bIns="0" rtlCol="0" anchor="ctr"/>
          <a:lstStyle/>
          <a:p>
            <a:pPr algn="l" indent="0" marL="0">
              <a:buNone/>
            </a:pPr>
            <a:r>
              <a:rPr lang="ko-KR" altLang="en-US" sz="1050" spc="-14" kern="0" dirty="0">
                <a:solidFill>
                  <a:srgbClr val="45512A"/>
                </a:solidFill>
                <a:latin typeface="Paperlogy 4 Regular" pitchFamily="34" charset="0"/>
                <a:ea typeface="Paperlogy 4 Regular" pitchFamily="34" charset="-122"/>
                <a:cs typeface="Paperlogy 4 Regular" pitchFamily="34" charset="-120"/>
              </a:rPr>
              <a:t>빽빽한 일정 · 잦은 이동</a:t>
            </a:r>
            <a:endParaRPr lang="en-US" sz="1050" dirty="0"/>
          </a:p>
        </p:txBody>
      </p:sp>
      <p:sp>
        <p:nvSpPr>
          <p:cNvPr id="16" name="글상자 15"/>
          <p:cNvSpPr txBox="1"/>
          <p:nvPr/>
        </p:nvSpPr>
        <p:spPr>
          <a:xfrm>
            <a:off x="3593775" y="2724089"/>
            <a:ext cx="269931" cy="381030"/>
          </a:xfrm>
          <a:prstGeom prst="rect">
            <a:avLst/>
          </a:prstGeom>
          <a:noFill/>
          <a:ln/>
        </p:spPr>
        <p:txBody>
          <a:bodyPr wrap="none" lIns="0" tIns="0" rIns="0" bIns="0" rtlCol="0" anchor="ctr"/>
          <a:lstStyle/>
          <a:p>
            <a:pPr algn="ctr" indent="0" marL="0">
              <a:buNone/>
            </a:pPr>
            <a:r>
              <a:rPr lang="ko-KR" altLang="en-US" sz="2000" spc="-14" kern="0" dirty="0">
                <a:solidFill>
                  <a:srgbClr val="737F4A"/>
                </a:solidFill>
                <a:latin typeface="Paperlogy 4 Regular" pitchFamily="34" charset="0"/>
                <a:ea typeface="Paperlogy 4 Regular" pitchFamily="34" charset="-122"/>
                <a:cs typeface="Paperlogy 4 Regular" pitchFamily="34" charset="-120"/>
              </a:rPr>
              <a:t>→</a:t>
            </a:r>
            <a:endParaRPr lang="en-US" sz="2000" dirty="0"/>
          </a:p>
        </p:txBody>
      </p:sp>
      <p:sp>
        <p:nvSpPr>
          <p:cNvPr id="17" name="글상자 16"/>
          <p:cNvSpPr txBox="1"/>
          <p:nvPr/>
        </p:nvSpPr>
        <p:spPr>
          <a:xfrm>
            <a:off x="4038630" y="2539929"/>
            <a:ext cx="667512" cy="180960"/>
          </a:xfrm>
          <a:prstGeom prst="rect">
            <a:avLst/>
          </a:prstGeom>
          <a:noFill/>
          <a:ln/>
        </p:spPr>
        <p:txBody>
          <a:bodyPr wrap="none" lIns="0" tIns="0" rIns="0" bIns="0" rtlCol="0" anchor="ctr"/>
          <a:lstStyle/>
          <a:p>
            <a:pPr algn="l" indent="0" marL="0">
              <a:buNone/>
            </a:pPr>
            <a:r>
              <a:rPr lang="ko-KR" altLang="en-US" sz="950" spc="133" kern="0" dirty="0">
                <a:solidFill>
                  <a:srgbClr val="646D40"/>
                </a:solidFill>
                <a:latin typeface="Paperlogy 7 Bold" pitchFamily="34" charset="0"/>
                <a:ea typeface="Paperlogy 7 Bold" pitchFamily="34" charset="-122"/>
                <a:cs typeface="Paperlogy 7 Bold" pitchFamily="34" charset="-120"/>
              </a:rPr>
              <a:t>기획 방향</a:t>
            </a:r>
            <a:endParaRPr lang="en-US" sz="950" dirty="0"/>
          </a:p>
        </p:txBody>
      </p:sp>
      <p:sp>
        <p:nvSpPr>
          <p:cNvPr id="18" name="글상자 17"/>
          <p:cNvSpPr txBox="1"/>
          <p:nvPr/>
        </p:nvSpPr>
        <p:spPr>
          <a:xfrm>
            <a:off x="4038630" y="2759019"/>
            <a:ext cx="1426098" cy="276240"/>
          </a:xfrm>
          <a:prstGeom prst="rect">
            <a:avLst/>
          </a:prstGeom>
          <a:noFill/>
          <a:ln/>
        </p:spPr>
        <p:txBody>
          <a:bodyPr wrap="none" lIns="0" tIns="0" rIns="0" bIns="0" rtlCol="0" anchor="ctr"/>
          <a:lstStyle/>
          <a:p>
            <a:pPr algn="l" indent="0" marL="0">
              <a:buNone/>
            </a:pPr>
            <a:r>
              <a:rPr lang="ko-KR" altLang="en-US" sz="1450" spc="-14" kern="0" dirty="0">
                <a:solidFill>
                  <a:srgbClr val="2E3A1B"/>
                </a:solidFill>
                <a:latin typeface="Paperlogy 7 Bold" pitchFamily="34" charset="0"/>
                <a:ea typeface="Paperlogy 7 Bold" pitchFamily="34" charset="-122"/>
                <a:cs typeface="Paperlogy 7 Bold" pitchFamily="34" charset="-120"/>
              </a:rPr>
              <a:t>자연 속 휴식 중심</a:t>
            </a:r>
            <a:endParaRPr lang="en-US" sz="1450" dirty="0"/>
          </a:p>
        </p:txBody>
      </p:sp>
      <p:sp>
        <p:nvSpPr>
          <p:cNvPr id="19" name="글상자 18"/>
          <p:cNvSpPr txBox="1"/>
          <p:nvPr/>
        </p:nvSpPr>
        <p:spPr>
          <a:xfrm>
            <a:off x="4038630" y="3076499"/>
            <a:ext cx="1117305" cy="200071"/>
          </a:xfrm>
          <a:prstGeom prst="rect">
            <a:avLst/>
          </a:prstGeom>
          <a:noFill/>
          <a:ln/>
        </p:spPr>
        <p:txBody>
          <a:bodyPr wrap="none" lIns="0" tIns="0" rIns="0" bIns="0" rtlCol="0" anchor="ctr"/>
          <a:lstStyle/>
          <a:p>
            <a:pPr algn="l" indent="0" marL="0">
              <a:buNone/>
            </a:pPr>
            <a:r>
              <a:rPr lang="ko-KR" altLang="en-US" sz="1050" spc="-14" kern="0" dirty="0">
                <a:solidFill>
                  <a:srgbClr val="45512A"/>
                </a:solidFill>
                <a:latin typeface="Paperlogy 4 Regular" pitchFamily="34" charset="0"/>
                <a:ea typeface="Paperlogy 4 Regular" pitchFamily="34" charset="-122"/>
                <a:cs typeface="Paperlogy 4 Regular" pitchFamily="34" charset="-120"/>
              </a:rPr>
              <a:t>여유롭게 머무르기</a:t>
            </a:r>
            <a:endParaRPr lang="en-US" sz="1050" dirty="0"/>
          </a:p>
        </p:txBody>
      </p:sp>
      <p:sp>
        <p:nvSpPr>
          <p:cNvPr id="20" name="글상자 19"/>
          <p:cNvSpPr txBox="1"/>
          <p:nvPr/>
        </p:nvSpPr>
        <p:spPr>
          <a:xfrm>
            <a:off x="698510" y="3569452"/>
            <a:ext cx="6301588" cy="628650"/>
          </a:xfrm>
          <a:prstGeom prst="rect">
            <a:avLst/>
          </a:prstGeom>
          <a:noFill/>
          <a:ln/>
        </p:spPr>
        <p:txBody>
          <a:bodyPr wrap="none" lIns="0" tIns="0" rIns="0" bIns="0" rtlCol="0" anchor="ctr"/>
          <a:lstStyle/>
          <a:p>
            <a:pPr algn="l" indent="0" marL="0">
              <a:lnSpc>
                <a:spcPts val="2475"/>
              </a:lnSpc>
              <a:buNone/>
            </a:pPr>
            <a:r>
              <a:rPr lang="ko-KR" altLang="en-US" sz="1500" spc="-14" kern="0" dirty="0">
                <a:solidFill>
                  <a:srgbClr val="45512A"/>
                </a:solidFill>
                <a:latin typeface="Paperlogy 4 Regular" pitchFamily="34" charset="0"/>
                <a:ea typeface="Paperlogy 4 Regular" pitchFamily="34" charset="-122"/>
                <a:cs typeface="Paperlogy 4 Regular" pitchFamily="34" charset="-120"/>
              </a:rPr>
              <a:t>이에 관광지 방문 중심의 여행에서 벗어나, 자연 속에서 여유롭게 머무르는 휴식</a:t>
            </a:r>
            <a:endParaRPr lang="en-US" sz="1500" dirty="0"/>
          </a:p>
          <a:p>
            <a:pPr algn="l" indent="0" marL="0">
              <a:lnSpc>
                <a:spcPts val="2475"/>
              </a:lnSpc>
              <a:buNone/>
            </a:pPr>
            <a:r>
              <a:rPr lang="ko-KR" altLang="en-US" sz="1500" spc="-14" kern="0" dirty="0">
                <a:solidFill>
                  <a:srgbClr val="45512A"/>
                </a:solidFill>
                <a:latin typeface="Paperlogy 4 Regular" pitchFamily="34" charset="0"/>
                <a:ea typeface="Paperlogy 4 Regular" pitchFamily="34" charset="-122"/>
                <a:cs typeface="Paperlogy 4 Regular" pitchFamily="34" charset="-120"/>
              </a:rPr>
              <a:t>중심의 관광상품을 기획하고자 한다.</a:t>
            </a:r>
            <a:endParaRPr lang="en-US" sz="1500" dirty="0"/>
          </a:p>
        </p:txBody>
      </p:sp>
      <p:sp>
        <p:nvSpPr>
          <p:cNvPr id="21" name="글상자 20"/>
          <p:cNvSpPr txBox="1"/>
          <p:nvPr/>
        </p:nvSpPr>
        <p:spPr>
          <a:xfrm>
            <a:off x="984260" y="4668378"/>
            <a:ext cx="685891" cy="140360"/>
          </a:xfrm>
          <a:prstGeom prst="rect">
            <a:avLst/>
          </a:prstGeom>
          <a:noFill/>
          <a:ln/>
        </p:spPr>
        <p:txBody>
          <a:bodyPr wrap="none" lIns="0" tIns="0" rIns="0" bIns="0" rtlCol="0" anchor="ctr"/>
          <a:lstStyle/>
          <a:p>
            <a:pPr algn="l" indent="0" marL="0">
              <a:buNone/>
            </a:pPr>
            <a:r>
              <a:rPr lang="ko-KR" altLang="en-US" sz="850" spc="34" kern="0" dirty="0">
                <a:solidFill>
                  <a:srgbClr val="45512A"/>
                </a:solidFill>
                <a:latin typeface="Paperlogy 7 Bold" pitchFamily="34" charset="0"/>
                <a:ea typeface="Paperlogy 7 Bold" pitchFamily="34" charset="-122"/>
                <a:cs typeface="Paperlogy 7 Bold" pitchFamily="34" charset="-120"/>
              </a:rPr>
              <a:t>조사 전 가설</a:t>
            </a:r>
            <a:endParaRPr lang="en-US" sz="850" dirty="0"/>
          </a:p>
        </p:txBody>
      </p:sp>
      <p:sp>
        <p:nvSpPr>
          <p:cNvPr id="22" name="글상자 21"/>
          <p:cNvSpPr txBox="1"/>
          <p:nvPr/>
        </p:nvSpPr>
        <p:spPr>
          <a:xfrm>
            <a:off x="895380" y="4925873"/>
            <a:ext cx="5552877" cy="266730"/>
          </a:xfrm>
          <a:prstGeom prst="rect">
            <a:avLst/>
          </a:prstGeom>
          <a:noFill/>
          <a:ln/>
        </p:spPr>
        <p:txBody>
          <a:bodyPr wrap="none" lIns="0" tIns="0" rIns="0" bIns="0" rtlCol="0" anchor="ctr"/>
          <a:lstStyle/>
          <a:p>
            <a:pPr algn="l" indent="0" marL="0">
              <a:buNone/>
            </a:pPr>
            <a:r>
              <a:rPr lang="ko-KR" altLang="en-US" sz="1400" spc="-14" kern="0" dirty="0">
                <a:solidFill>
                  <a:srgbClr val="2E3A1B"/>
                </a:solidFill>
                <a:latin typeface="Paperlogy 6 SemiBold" pitchFamily="34" charset="0"/>
                <a:ea typeface="Paperlogy 6 SemiBold" pitchFamily="34" charset="-122"/>
                <a:cs typeface="Paperlogy 6 SemiBold" pitchFamily="34" charset="-120"/>
              </a:rPr>
              <a:t>여행자는 빽빽한 일정과 잦은 이동 때문에 여행 중에도 충분히 쉬지 못한다.</a:t>
            </a:r>
            <a:endParaRPr lang="en-US" sz="1400" dirty="0"/>
          </a:p>
        </p:txBody>
      </p:sp>
      <p:sp>
        <p:nvSpPr>
          <p:cNvPr id="23" name="글상자 22"/>
          <p:cNvSpPr txBox="1"/>
          <p:nvPr/>
        </p:nvSpPr>
        <p:spPr>
          <a:xfrm>
            <a:off x="895380" y="5271973"/>
            <a:ext cx="2879811" cy="190470"/>
          </a:xfrm>
          <a:prstGeom prst="rect">
            <a:avLst/>
          </a:prstGeom>
          <a:noFill/>
          <a:ln/>
        </p:spPr>
        <p:txBody>
          <a:bodyPr wrap="none" lIns="0" tIns="0" rIns="0" bIns="0" rtlCol="0" anchor="ctr"/>
          <a:lstStyle/>
          <a:p>
            <a:pPr algn="l" indent="0" marL="0">
              <a:buNone/>
            </a:pPr>
            <a:r>
              <a:rPr lang="ko-KR" altLang="en-US" sz="1000" spc="-14" kern="0" dirty="0">
                <a:solidFill>
                  <a:srgbClr val="646D40"/>
                </a:solidFill>
                <a:latin typeface="Paperlogy 4 Regular" pitchFamily="34" charset="0"/>
                <a:ea typeface="Paperlogy 4 Regular" pitchFamily="34" charset="-122"/>
                <a:cs typeface="Paperlogy 4 Regular" pitchFamily="34" charset="-120"/>
              </a:rPr>
              <a:t>p.4 고객 분석에서 구체화 · p.10에서 검증 계획 제시</a:t>
            </a:r>
            <a:endParaRPr lang="en-US" sz="1000" dirty="0"/>
          </a:p>
        </p:txBody>
      </p:sp>
      <p:sp>
        <p:nvSpPr>
          <p:cNvPr id="24" name="글상자 23"/>
          <p:cNvSpPr txBox="1"/>
          <p:nvPr/>
        </p:nvSpPr>
        <p:spPr>
          <a:xfrm>
            <a:off x="698510" y="6316675"/>
            <a:ext cx="2364273" cy="180960"/>
          </a:xfrm>
          <a:prstGeom prst="rect">
            <a:avLst/>
          </a:prstGeom>
          <a:noFill/>
          <a:ln/>
        </p:spPr>
        <p:txBody>
          <a:bodyPr wrap="none" lIns="0" tIns="0" rIns="0" bIns="0" rtlCol="0" anchor="ctr"/>
          <a:lstStyle/>
          <a:p>
            <a:pPr algn="l" indent="0" marL="0">
              <a:buNone/>
            </a:pPr>
            <a:r>
              <a:rPr lang="ko-KR" altLang="en-US" sz="950" spc="10" kern="0" dirty="0">
                <a:solidFill>
                  <a:srgbClr val="646D40"/>
                </a:solidFill>
                <a:latin typeface="Paperlogy 4 Regular" pitchFamily="34" charset="0"/>
                <a:ea typeface="Paperlogy 4 Regular" pitchFamily="34" charset="-122"/>
                <a:cs typeface="Paperlogy 4 Regular" pitchFamily="34" charset="-120"/>
              </a:rPr>
              <a:t>관광레저상품론 · 관광상품 기획 사전 제안서</a:t>
            </a:r>
            <a:endParaRPr lang="en-US" sz="950" dirty="0"/>
          </a:p>
        </p:txBody>
      </p:sp>
      <p:sp>
        <p:nvSpPr>
          <p:cNvPr id="25" name="글상자 24"/>
          <p:cNvSpPr txBox="1"/>
          <p:nvPr/>
        </p:nvSpPr>
        <p:spPr>
          <a:xfrm>
            <a:off x="6170828" y="6316675"/>
            <a:ext cx="597926" cy="180960"/>
          </a:xfrm>
          <a:prstGeom prst="rect">
            <a:avLst/>
          </a:prstGeom>
          <a:noFill/>
          <a:ln/>
        </p:spPr>
        <p:txBody>
          <a:bodyPr wrap="none" lIns="0" tIns="0" rIns="0" bIns="0" rtlCol="0" anchor="ctr"/>
          <a:lstStyle/>
          <a:p>
            <a:pPr algn="l" indent="0" marL="0">
              <a:buNone/>
            </a:pPr>
            <a:r>
              <a:rPr lang="ko-KR" altLang="en-US" sz="950" spc="57" kern="0" dirty="0">
                <a:solidFill>
                  <a:srgbClr val="2E3A1B"/>
                </a:solidFill>
                <a:latin typeface="Paperlogy 7 Bold" pitchFamily="34" charset="0"/>
                <a:ea typeface="Paperlogy 7 Bold" pitchFamily="34" charset="-122"/>
                <a:cs typeface="Paperlogy 7 Bold" pitchFamily="34" charset="-120"/>
              </a:rPr>
              <a:t>02 / 10</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6"/>
        </a:solidFill>
      </p:bgPr>
    </p:bg>
    <p:spTree>
      <p:nvGrpSpPr>
        <p:cNvPr id="1" name=""/>
        <p:cNvGrpSpPr/>
        <p:nvPr/>
      </p:nvGrpSpPr>
      <p:grpSpPr>
        <a:xfrm>
          <a:off x="0" y="0"/>
          <a:ext cx="0" cy="0"/>
          <a:chOff x="0" y="0"/>
          <a:chExt cx="0" cy="0"/>
        </a:xfrm>
      </p:grpSpPr>
      <p:sp>
        <p:nvSpPr>
          <p:cNvPr id="2" name="선 1"/>
          <p:cNvSpPr/>
          <p:nvPr/>
        </p:nvSpPr>
        <p:spPr>
          <a:xfrm>
            <a:off x="711220" y="658825"/>
            <a:ext cx="254020" cy="0"/>
          </a:xfrm>
          <a:prstGeom prst="line">
            <a:avLst/>
          </a:prstGeom>
          <a:noFill/>
          <a:ln w="12700">
            <a:solidFill>
              <a:srgbClr val="737F4A"/>
            </a:solidFill>
            <a:prstDash val="solid"/>
          </a:ln>
        </p:spPr>
      </p:sp>
      <p:pic>
        <p:nvPicPr>
          <p:cNvPr id="3" name="사진 2" descr="AI 생성 이미지">    </p:cNvPr>
          <p:cNvPicPr>
            <a:picLocks noChangeAspect="1"/>
          </p:cNvPicPr>
          <p:nvPr/>
        </p:nvPicPr>
        <p:blipFill>
          <a:blip r:embed="rId1"/>
          <a:stretch>
            <a:fillRect/>
          </a:stretch>
        </p:blipFill>
        <p:spPr>
          <a:xfrm>
            <a:off x="711220" y="2090593"/>
            <a:ext cx="2540020" cy="1777959"/>
          </a:xfrm>
          <a:prstGeom prst="rect">
            <a:avLst/>
          </a:prstGeom>
        </p:spPr>
      </p:pic>
      <p:sp>
        <p:nvSpPr>
          <p:cNvPr id="4" name="선 3"/>
          <p:cNvSpPr/>
          <p:nvPr/>
        </p:nvSpPr>
        <p:spPr>
          <a:xfrm>
            <a:off x="711220" y="4789353"/>
            <a:ext cx="2540020" cy="0"/>
          </a:xfrm>
          <a:prstGeom prst="line">
            <a:avLst/>
          </a:prstGeom>
          <a:noFill/>
          <a:ln w="6350">
            <a:solidFill>
              <a:srgbClr val="D5CEB8"/>
            </a:solidFill>
            <a:prstDash val="solid"/>
          </a:ln>
        </p:spPr>
      </p:sp>
      <p:pic>
        <p:nvPicPr>
          <p:cNvPr id="5" name="사진 4" descr="AI 생성 이미지">    </p:cNvPr>
          <p:cNvPicPr>
            <a:picLocks noChangeAspect="1"/>
          </p:cNvPicPr>
          <p:nvPr/>
        </p:nvPicPr>
        <p:blipFill>
          <a:blip r:embed="rId2"/>
          <a:stretch>
            <a:fillRect/>
          </a:stretch>
        </p:blipFill>
        <p:spPr>
          <a:xfrm>
            <a:off x="3454420" y="2090593"/>
            <a:ext cx="2540020" cy="1777959"/>
          </a:xfrm>
          <a:prstGeom prst="rect">
            <a:avLst/>
          </a:prstGeom>
        </p:spPr>
      </p:pic>
      <p:sp>
        <p:nvSpPr>
          <p:cNvPr id="6" name="선 5"/>
          <p:cNvSpPr/>
          <p:nvPr/>
        </p:nvSpPr>
        <p:spPr>
          <a:xfrm>
            <a:off x="3454420" y="4789353"/>
            <a:ext cx="2540020" cy="0"/>
          </a:xfrm>
          <a:prstGeom prst="line">
            <a:avLst/>
          </a:prstGeom>
          <a:noFill/>
          <a:ln w="6350">
            <a:solidFill>
              <a:srgbClr val="D5CEB8"/>
            </a:solidFill>
            <a:prstDash val="solid"/>
          </a:ln>
        </p:spPr>
      </p:sp>
      <p:pic>
        <p:nvPicPr>
          <p:cNvPr id="7" name="사진 6" descr="AI 생성 이미지">    </p:cNvPr>
          <p:cNvPicPr>
            <a:picLocks noChangeAspect="1"/>
          </p:cNvPicPr>
          <p:nvPr/>
        </p:nvPicPr>
        <p:blipFill>
          <a:blip r:embed="rId3"/>
          <a:stretch>
            <a:fillRect/>
          </a:stretch>
        </p:blipFill>
        <p:spPr>
          <a:xfrm>
            <a:off x="6197620" y="2090593"/>
            <a:ext cx="2540020" cy="1777959"/>
          </a:xfrm>
          <a:prstGeom prst="rect">
            <a:avLst/>
          </a:prstGeom>
        </p:spPr>
      </p:pic>
      <p:sp>
        <p:nvSpPr>
          <p:cNvPr id="8" name="선 7"/>
          <p:cNvSpPr/>
          <p:nvPr/>
        </p:nvSpPr>
        <p:spPr>
          <a:xfrm>
            <a:off x="6197620" y="4789353"/>
            <a:ext cx="2540020" cy="0"/>
          </a:xfrm>
          <a:prstGeom prst="line">
            <a:avLst/>
          </a:prstGeom>
          <a:noFill/>
          <a:ln w="6350">
            <a:solidFill>
              <a:srgbClr val="D5CEB8"/>
            </a:solidFill>
            <a:prstDash val="solid"/>
          </a:ln>
        </p:spPr>
      </p:sp>
      <p:pic>
        <p:nvPicPr>
          <p:cNvPr id="9" name="사진 8" descr="AI 생성 이미지">    </p:cNvPr>
          <p:cNvPicPr>
            <a:picLocks noChangeAspect="1"/>
          </p:cNvPicPr>
          <p:nvPr/>
        </p:nvPicPr>
        <p:blipFill>
          <a:blip r:embed="rId4"/>
          <a:stretch>
            <a:fillRect/>
          </a:stretch>
        </p:blipFill>
        <p:spPr>
          <a:xfrm>
            <a:off x="8940820" y="2090593"/>
            <a:ext cx="2540020" cy="1777959"/>
          </a:xfrm>
          <a:prstGeom prst="rect">
            <a:avLst/>
          </a:prstGeom>
        </p:spPr>
      </p:pic>
      <p:sp>
        <p:nvSpPr>
          <p:cNvPr id="10" name="선 9"/>
          <p:cNvSpPr/>
          <p:nvPr/>
        </p:nvSpPr>
        <p:spPr>
          <a:xfrm>
            <a:off x="8940820" y="4789353"/>
            <a:ext cx="2540020" cy="0"/>
          </a:xfrm>
          <a:prstGeom prst="line">
            <a:avLst/>
          </a:prstGeom>
          <a:noFill/>
          <a:ln w="6350">
            <a:solidFill>
              <a:srgbClr val="D5CEB8"/>
            </a:solidFill>
            <a:prstDash val="solid"/>
          </a:ln>
        </p:spPr>
      </p:sp>
      <p:sp>
        <p:nvSpPr>
          <p:cNvPr id="11" name="선 10"/>
          <p:cNvSpPr/>
          <p:nvPr/>
        </p:nvSpPr>
        <p:spPr>
          <a:xfrm>
            <a:off x="711220" y="6203930"/>
            <a:ext cx="10769620" cy="0"/>
          </a:xfrm>
          <a:prstGeom prst="line">
            <a:avLst/>
          </a:prstGeom>
          <a:noFill/>
          <a:ln w="6350">
            <a:solidFill>
              <a:srgbClr val="D5CEB8"/>
            </a:solidFill>
            <a:prstDash val="solid"/>
          </a:ln>
        </p:spPr>
      </p:sp>
      <p:sp>
        <p:nvSpPr>
          <p:cNvPr id="12" name="글상자 11"/>
          <p:cNvSpPr txBox="1"/>
          <p:nvPr/>
        </p:nvSpPr>
        <p:spPr>
          <a:xfrm>
            <a:off x="2196572" y="2175083"/>
            <a:ext cx="952988" cy="115580"/>
          </a:xfrm>
          <a:prstGeom prst="rect">
            <a:avLst/>
          </a:prstGeom>
          <a:noFill/>
          <a:ln/>
        </p:spPr>
        <p:txBody>
          <a:bodyPr wrap="none" lIns="0" tIns="0" rIns="0" bIns="0" rtlCol="0" anchor="ctr"/>
          <a:lstStyle/>
          <a:p>
            <a:pPr algn="r" indent="0" marL="0">
              <a:buNone/>
            </a:pPr>
            <a:r>
              <a:rPr lang="ko-KR" altLang="en-US" sz="700" spc="28" kern="0" dirty="0">
                <a:solidFill>
                  <a:srgbClr val="FBF9F3"/>
                </a:solidFill>
                <a:effectLst>
                  <a:glow rad="50800">
                    <a:srgbClr val="1C2210">
                      <a:alpha val="45000"/>
                    </a:srgbClr>
                  </a:glow>
                </a:effectLst>
                <a:latin typeface="Paperlogy 5 Medium" pitchFamily="34" charset="0"/>
                <a:ea typeface="Paperlogy 5 Medium" pitchFamily="34" charset="-122"/>
                <a:cs typeface="Paperlogy 5 Medium" pitchFamily="34" charset="-120"/>
              </a:rPr>
              <a:t>AI 생성 이미지</a:t>
            </a:r>
            <a:endParaRPr lang="en-US" sz="700" dirty="0"/>
          </a:p>
        </p:txBody>
      </p:sp>
      <p:sp>
        <p:nvSpPr>
          <p:cNvPr id="13" name="글상자 12"/>
          <p:cNvSpPr txBox="1"/>
          <p:nvPr/>
        </p:nvSpPr>
        <p:spPr>
          <a:xfrm>
            <a:off x="4939772" y="2175083"/>
            <a:ext cx="952988" cy="115580"/>
          </a:xfrm>
          <a:prstGeom prst="rect">
            <a:avLst/>
          </a:prstGeom>
          <a:noFill/>
          <a:ln/>
        </p:spPr>
        <p:txBody>
          <a:bodyPr wrap="none" lIns="0" tIns="0" rIns="0" bIns="0" rtlCol="0" anchor="ctr"/>
          <a:lstStyle/>
          <a:p>
            <a:pPr algn="r" indent="0" marL="0">
              <a:buNone/>
            </a:pPr>
            <a:r>
              <a:rPr lang="ko-KR" altLang="en-US" sz="700" spc="28" kern="0" dirty="0">
                <a:solidFill>
                  <a:srgbClr val="FBF9F3"/>
                </a:solidFill>
                <a:effectLst>
                  <a:glow rad="50800">
                    <a:srgbClr val="1C2210">
                      <a:alpha val="45000"/>
                    </a:srgbClr>
                  </a:glow>
                </a:effectLst>
                <a:latin typeface="Paperlogy 5 Medium" pitchFamily="34" charset="0"/>
                <a:ea typeface="Paperlogy 5 Medium" pitchFamily="34" charset="-122"/>
                <a:cs typeface="Paperlogy 5 Medium" pitchFamily="34" charset="-120"/>
              </a:rPr>
              <a:t>AI 생성 이미지</a:t>
            </a:r>
            <a:endParaRPr lang="en-US" sz="700" dirty="0"/>
          </a:p>
        </p:txBody>
      </p:sp>
      <p:sp>
        <p:nvSpPr>
          <p:cNvPr id="14" name="글상자 13"/>
          <p:cNvSpPr txBox="1"/>
          <p:nvPr/>
        </p:nvSpPr>
        <p:spPr>
          <a:xfrm>
            <a:off x="7682972" y="2175083"/>
            <a:ext cx="952988" cy="115580"/>
          </a:xfrm>
          <a:prstGeom prst="rect">
            <a:avLst/>
          </a:prstGeom>
          <a:noFill/>
          <a:ln/>
        </p:spPr>
        <p:txBody>
          <a:bodyPr wrap="none" lIns="0" tIns="0" rIns="0" bIns="0" rtlCol="0" anchor="ctr"/>
          <a:lstStyle/>
          <a:p>
            <a:pPr algn="r" indent="0" marL="0">
              <a:buNone/>
            </a:pPr>
            <a:r>
              <a:rPr lang="ko-KR" altLang="en-US" sz="700" spc="28" kern="0" dirty="0">
                <a:solidFill>
                  <a:srgbClr val="FBF9F3"/>
                </a:solidFill>
                <a:effectLst>
                  <a:glow rad="50800">
                    <a:srgbClr val="1C2210">
                      <a:alpha val="45000"/>
                    </a:srgbClr>
                  </a:glow>
                </a:effectLst>
                <a:latin typeface="Paperlogy 5 Medium" pitchFamily="34" charset="0"/>
                <a:ea typeface="Paperlogy 5 Medium" pitchFamily="34" charset="-122"/>
                <a:cs typeface="Paperlogy 5 Medium" pitchFamily="34" charset="-120"/>
              </a:rPr>
              <a:t>AI 생성 이미지</a:t>
            </a:r>
            <a:endParaRPr lang="en-US" sz="700" dirty="0"/>
          </a:p>
        </p:txBody>
      </p:sp>
      <p:sp>
        <p:nvSpPr>
          <p:cNvPr id="15" name="글상자 14"/>
          <p:cNvSpPr txBox="1"/>
          <p:nvPr/>
        </p:nvSpPr>
        <p:spPr>
          <a:xfrm>
            <a:off x="10426172" y="2175083"/>
            <a:ext cx="952988" cy="115580"/>
          </a:xfrm>
          <a:prstGeom prst="rect">
            <a:avLst/>
          </a:prstGeom>
          <a:noFill/>
          <a:ln/>
        </p:spPr>
        <p:txBody>
          <a:bodyPr wrap="none" lIns="0" tIns="0" rIns="0" bIns="0" rtlCol="0" anchor="ctr"/>
          <a:lstStyle/>
          <a:p>
            <a:pPr algn="r" indent="0" marL="0">
              <a:buNone/>
            </a:pPr>
            <a:r>
              <a:rPr lang="ko-KR" altLang="en-US" sz="700" spc="28" kern="0" dirty="0">
                <a:solidFill>
                  <a:srgbClr val="FBF9F3"/>
                </a:solidFill>
                <a:effectLst>
                  <a:glow rad="50800">
                    <a:srgbClr val="1C2210">
                      <a:alpha val="45000"/>
                    </a:srgbClr>
                  </a:glow>
                </a:effectLst>
                <a:latin typeface="Paperlogy 5 Medium" pitchFamily="34" charset="0"/>
                <a:ea typeface="Paperlogy 5 Medium" pitchFamily="34" charset="-122"/>
                <a:cs typeface="Paperlogy 5 Medium" pitchFamily="34" charset="-120"/>
              </a:rPr>
              <a:t>AI 생성 이미지</a:t>
            </a:r>
            <a:endParaRPr lang="en-US" sz="700" dirty="0"/>
          </a:p>
        </p:txBody>
      </p:sp>
      <p:sp>
        <p:nvSpPr>
          <p:cNvPr id="16" name="글상자 15"/>
          <p:cNvSpPr txBox="1"/>
          <p:nvPr/>
        </p:nvSpPr>
        <p:spPr>
          <a:xfrm>
            <a:off x="1054120" y="557235"/>
            <a:ext cx="2050633" cy="200071"/>
          </a:xfrm>
          <a:prstGeom prst="rect">
            <a:avLst/>
          </a:prstGeom>
          <a:noFill/>
          <a:ln/>
        </p:spPr>
        <p:txBody>
          <a:bodyPr wrap="none" lIns="0" tIns="0" rIns="0" bIns="0" rtlCol="0" anchor="ctr"/>
          <a:lstStyle/>
          <a:p>
            <a:pPr algn="l" indent="0" marL="0">
              <a:buNone/>
            </a:pPr>
            <a:r>
              <a:rPr lang="ko-KR" altLang="en-US" sz="1050" spc="231" kern="0" dirty="0">
                <a:solidFill>
                  <a:srgbClr val="646D40"/>
                </a:solidFill>
                <a:latin typeface="Paperlogy 6 SemiBold" pitchFamily="34" charset="0"/>
                <a:ea typeface="Paperlogy 6 SemiBold" pitchFamily="34" charset="-122"/>
                <a:cs typeface="Paperlogy 6 SemiBold" pitchFamily="34" charset="-120"/>
              </a:rPr>
              <a:t>WHY CHUNCHEON?</a:t>
            </a:r>
            <a:endParaRPr lang="en-US" sz="1050" dirty="0"/>
          </a:p>
        </p:txBody>
      </p:sp>
      <p:sp>
        <p:nvSpPr>
          <p:cNvPr id="17" name="글상자 16"/>
          <p:cNvSpPr txBox="1"/>
          <p:nvPr/>
        </p:nvSpPr>
        <p:spPr>
          <a:xfrm>
            <a:off x="698510" y="833750"/>
            <a:ext cx="2448123" cy="561350"/>
          </a:xfrm>
          <a:prstGeom prst="rect">
            <a:avLst/>
          </a:prstGeom>
          <a:noFill/>
          <a:ln/>
        </p:spPr>
        <p:txBody>
          <a:bodyPr wrap="none" lIns="0" tIns="0" rIns="0" bIns="0" rtlCol="0" anchor="ctr"/>
          <a:lstStyle/>
          <a:p>
            <a:pPr algn="l" indent="0" marL="0">
              <a:buNone/>
            </a:pPr>
            <a:r>
              <a:rPr lang="ko-KR" altLang="en-US" sz="3400" spc="-102" kern="0" dirty="0">
                <a:solidFill>
                  <a:srgbClr val="2E3A1B"/>
                </a:solidFill>
                <a:latin typeface="Paperlogy 7 Bold" pitchFamily="34" charset="0"/>
                <a:ea typeface="Paperlogy 7 Bold" pitchFamily="34" charset="-122"/>
                <a:cs typeface="Paperlogy 7 Bold" pitchFamily="34" charset="-120"/>
              </a:rPr>
              <a:t>왜 춘천인가?</a:t>
            </a:r>
            <a:endParaRPr lang="en-US" sz="3400" dirty="0"/>
          </a:p>
        </p:txBody>
      </p:sp>
      <p:sp>
        <p:nvSpPr>
          <p:cNvPr id="18" name="글상자 17"/>
          <p:cNvSpPr txBox="1"/>
          <p:nvPr/>
        </p:nvSpPr>
        <p:spPr>
          <a:xfrm>
            <a:off x="698510" y="1596908"/>
            <a:ext cx="8399953" cy="314371"/>
          </a:xfrm>
          <a:prstGeom prst="rect">
            <a:avLst/>
          </a:prstGeom>
          <a:noFill/>
          <a:ln/>
        </p:spPr>
        <p:txBody>
          <a:bodyPr wrap="none" lIns="0" tIns="0" rIns="0" bIns="0" rtlCol="0" anchor="ctr"/>
          <a:lstStyle/>
          <a:p>
            <a:pPr algn="l" indent="0" marL="0">
              <a:buNone/>
            </a:pPr>
            <a:r>
              <a:rPr lang="ko-KR" altLang="en-US" sz="1500" spc="-14" kern="0" dirty="0">
                <a:solidFill>
                  <a:srgbClr val="45512A"/>
                </a:solidFill>
                <a:latin typeface="Paperlogy 4 Regular" pitchFamily="34" charset="0"/>
                <a:ea typeface="Paperlogy 4 Regular" pitchFamily="34" charset="-122"/>
                <a:cs typeface="Paperlogy 4 Regular" pitchFamily="34" charset="-120"/>
              </a:rPr>
              <a:t>춘천은 호수와 자연경관, 지역 카페 및 로컬 음식 등 휴식형 관광상품에 활용할 수 있는 자원을 갖추고 있다.</a:t>
            </a:r>
            <a:endParaRPr lang="en-US" sz="1500" dirty="0"/>
          </a:p>
        </p:txBody>
      </p:sp>
      <p:sp>
        <p:nvSpPr>
          <p:cNvPr id="19" name="글상자 18"/>
          <p:cNvSpPr txBox="1"/>
          <p:nvPr/>
        </p:nvSpPr>
        <p:spPr>
          <a:xfrm>
            <a:off x="698510" y="4008364"/>
            <a:ext cx="753466" cy="361920"/>
          </a:xfrm>
          <a:prstGeom prst="rect">
            <a:avLst/>
          </a:prstGeom>
          <a:noFill/>
          <a:ln/>
        </p:spPr>
        <p:txBody>
          <a:bodyPr wrap="none" lIns="0" tIns="0" rIns="0" bIns="0" rtlCol="0" anchor="ctr"/>
          <a:lstStyle/>
          <a:p>
            <a:pPr algn="l" indent="0" marL="0">
              <a:buNone/>
            </a:pPr>
            <a:r>
              <a:rPr lang="ko-KR" altLang="en-US" sz="1900" spc="-57" kern="0" dirty="0">
                <a:solidFill>
                  <a:srgbClr val="2E3A1B"/>
                </a:solidFill>
                <a:latin typeface="Paperlogy 8 ExtraBold" pitchFamily="34" charset="0"/>
                <a:ea typeface="Paperlogy 8 ExtraBold" pitchFamily="34" charset="-122"/>
                <a:cs typeface="Paperlogy 8 ExtraBold" pitchFamily="34" charset="-120"/>
              </a:rPr>
              <a:t>의암호</a:t>
            </a:r>
            <a:endParaRPr lang="en-US" sz="1900" dirty="0"/>
          </a:p>
        </p:txBody>
      </p:sp>
      <p:sp>
        <p:nvSpPr>
          <p:cNvPr id="20" name="글상자 19"/>
          <p:cNvSpPr txBox="1"/>
          <p:nvPr/>
        </p:nvSpPr>
        <p:spPr>
          <a:xfrm>
            <a:off x="698510" y="4419478"/>
            <a:ext cx="1203259" cy="238110"/>
          </a:xfrm>
          <a:prstGeom prst="rect">
            <a:avLst/>
          </a:prstGeom>
          <a:noFill/>
          <a:ln/>
        </p:spPr>
        <p:txBody>
          <a:bodyPr wrap="none" lIns="0" tIns="0" rIns="0" bIns="0" rtlCol="0" anchor="ctr"/>
          <a:lstStyle/>
          <a:p>
            <a:pPr algn="l" indent="0" marL="0">
              <a:buNone/>
            </a:pPr>
            <a:r>
              <a:rPr lang="ko-KR" altLang="en-US" sz="1250" spc="-14" kern="0" dirty="0">
                <a:solidFill>
                  <a:srgbClr val="45512A"/>
                </a:solidFill>
                <a:latin typeface="Paperlogy 4 Regular" pitchFamily="34" charset="0"/>
                <a:ea typeface="Paperlogy 4 Regular" pitchFamily="34" charset="-122"/>
                <a:cs typeface="Paperlogy 4 Regular" pitchFamily="34" charset="-120"/>
              </a:rPr>
              <a:t>호수 경관과 산책</a:t>
            </a:r>
            <a:endParaRPr lang="en-US" sz="1250" dirty="0"/>
          </a:p>
        </p:txBody>
      </p:sp>
      <p:sp>
        <p:nvSpPr>
          <p:cNvPr id="21" name="글상자 20"/>
          <p:cNvSpPr txBox="1"/>
          <p:nvPr/>
        </p:nvSpPr>
        <p:spPr>
          <a:xfrm>
            <a:off x="698510" y="4876678"/>
            <a:ext cx="933328" cy="180960"/>
          </a:xfrm>
          <a:prstGeom prst="rect">
            <a:avLst/>
          </a:prstGeom>
          <a:noFill/>
          <a:ln/>
        </p:spPr>
        <p:txBody>
          <a:bodyPr wrap="none" lIns="0" tIns="0" rIns="0" bIns="0" rtlCol="0" anchor="ctr"/>
          <a:lstStyle/>
          <a:p>
            <a:pPr algn="l" indent="0" marL="0">
              <a:buNone/>
            </a:pPr>
            <a:r>
              <a:rPr lang="ko-KR" altLang="en-US" sz="950" spc="133" kern="0" dirty="0">
                <a:solidFill>
                  <a:srgbClr val="646D40"/>
                </a:solidFill>
                <a:latin typeface="Paperlogy 7 Bold" pitchFamily="34" charset="0"/>
                <a:ea typeface="Paperlogy 7 Bold" pitchFamily="34" charset="-122"/>
                <a:cs typeface="Paperlogy 7 Bold" pitchFamily="34" charset="-120"/>
              </a:rPr>
              <a:t>프로그램 연결</a:t>
            </a:r>
            <a:endParaRPr lang="en-US" sz="950" dirty="0"/>
          </a:p>
        </p:txBody>
      </p:sp>
      <p:sp>
        <p:nvSpPr>
          <p:cNvPr id="22" name="글상자 21"/>
          <p:cNvSpPr txBox="1"/>
          <p:nvPr/>
        </p:nvSpPr>
        <p:spPr>
          <a:xfrm>
            <a:off x="698510" y="5095768"/>
            <a:ext cx="1315913" cy="219090"/>
          </a:xfrm>
          <a:prstGeom prst="rect">
            <a:avLst/>
          </a:prstGeom>
          <a:noFill/>
          <a:ln/>
        </p:spPr>
        <p:txBody>
          <a:bodyPr wrap="none" lIns="0" tIns="0" rIns="0" bIns="0" rtlCol="0" anchor="ctr"/>
          <a:lstStyle/>
          <a:p>
            <a:pPr algn="l" indent="0" marL="0">
              <a:buNone/>
            </a:pPr>
            <a:r>
              <a:rPr lang="ko-KR" altLang="en-US" sz="1150" spc="-14" kern="0" dirty="0">
                <a:solidFill>
                  <a:srgbClr val="2E3A1B"/>
                </a:solidFill>
                <a:latin typeface="Paperlogy 7 Bold" pitchFamily="34" charset="0"/>
                <a:ea typeface="Paperlogy 7 Bold" pitchFamily="34" charset="-122"/>
                <a:cs typeface="Paperlogy 7 Bold" pitchFamily="34" charset="-120"/>
              </a:rPr>
              <a:t>11:30 </a:t>
            </a:r>
            <a:pPr algn="l" indent="0" marL="0">
              <a:buNone/>
            </a:pPr>
            <a:r>
              <a:rPr lang="ko-KR" altLang="en-US" sz="1150" spc="-14" kern="0" dirty="0">
                <a:solidFill>
                  <a:srgbClr val="45512A"/>
                </a:solidFill>
                <a:latin typeface="Paperlogy 4 Regular" pitchFamily="34" charset="0"/>
                <a:ea typeface="Paperlogy 4 Regular" pitchFamily="34" charset="-122"/>
                <a:cs typeface="Paperlogy 4 Regular" pitchFamily="34" charset="-120"/>
              </a:rPr>
              <a:t>의암호 산책</a:t>
            </a:r>
            <a:endParaRPr lang="en-US" sz="1150" dirty="0"/>
          </a:p>
        </p:txBody>
      </p:sp>
      <p:sp>
        <p:nvSpPr>
          <p:cNvPr id="23" name="글상자 22"/>
          <p:cNvSpPr txBox="1"/>
          <p:nvPr/>
        </p:nvSpPr>
        <p:spPr>
          <a:xfrm>
            <a:off x="3441710" y="4008364"/>
            <a:ext cx="753466" cy="361920"/>
          </a:xfrm>
          <a:prstGeom prst="rect">
            <a:avLst/>
          </a:prstGeom>
          <a:noFill/>
          <a:ln/>
        </p:spPr>
        <p:txBody>
          <a:bodyPr wrap="none" lIns="0" tIns="0" rIns="0" bIns="0" rtlCol="0" anchor="ctr"/>
          <a:lstStyle/>
          <a:p>
            <a:pPr algn="l" indent="0" marL="0">
              <a:buNone/>
            </a:pPr>
            <a:r>
              <a:rPr lang="ko-KR" altLang="en-US" sz="1900" spc="-57" kern="0" dirty="0">
                <a:solidFill>
                  <a:srgbClr val="2E3A1B"/>
                </a:solidFill>
                <a:latin typeface="Paperlogy 8 ExtraBold" pitchFamily="34" charset="0"/>
                <a:ea typeface="Paperlogy 8 ExtraBold" pitchFamily="34" charset="-122"/>
                <a:cs typeface="Paperlogy 8 ExtraBold" pitchFamily="34" charset="-120"/>
              </a:rPr>
              <a:t>공지천</a:t>
            </a:r>
            <a:endParaRPr lang="en-US" sz="1900" dirty="0"/>
          </a:p>
        </p:txBody>
      </p:sp>
      <p:sp>
        <p:nvSpPr>
          <p:cNvPr id="24" name="글상자 23"/>
          <p:cNvSpPr txBox="1"/>
          <p:nvPr/>
        </p:nvSpPr>
        <p:spPr>
          <a:xfrm>
            <a:off x="3441710" y="4419478"/>
            <a:ext cx="1054303" cy="238110"/>
          </a:xfrm>
          <a:prstGeom prst="rect">
            <a:avLst/>
          </a:prstGeom>
          <a:noFill/>
          <a:ln/>
        </p:spPr>
        <p:txBody>
          <a:bodyPr wrap="none" lIns="0" tIns="0" rIns="0" bIns="0" rtlCol="0" anchor="ctr"/>
          <a:lstStyle/>
          <a:p>
            <a:pPr algn="l" indent="0" marL="0">
              <a:buNone/>
            </a:pPr>
            <a:r>
              <a:rPr lang="ko-KR" altLang="en-US" sz="1250" spc="-14" kern="0" dirty="0">
                <a:solidFill>
                  <a:srgbClr val="45512A"/>
                </a:solidFill>
                <a:latin typeface="Paperlogy 4 Regular" pitchFamily="34" charset="0"/>
                <a:ea typeface="Paperlogy 4 Regular" pitchFamily="34" charset="-122"/>
                <a:cs typeface="Paperlogy 4 Regular" pitchFamily="34" charset="-120"/>
              </a:rPr>
              <a:t>수변 휴식 공간</a:t>
            </a:r>
            <a:endParaRPr lang="en-US" sz="1250" dirty="0"/>
          </a:p>
        </p:txBody>
      </p:sp>
      <p:sp>
        <p:nvSpPr>
          <p:cNvPr id="25" name="글상자 24"/>
          <p:cNvSpPr txBox="1"/>
          <p:nvPr/>
        </p:nvSpPr>
        <p:spPr>
          <a:xfrm>
            <a:off x="3441710" y="4876678"/>
            <a:ext cx="933328" cy="180960"/>
          </a:xfrm>
          <a:prstGeom prst="rect">
            <a:avLst/>
          </a:prstGeom>
          <a:noFill/>
          <a:ln/>
        </p:spPr>
        <p:txBody>
          <a:bodyPr wrap="none" lIns="0" tIns="0" rIns="0" bIns="0" rtlCol="0" anchor="ctr"/>
          <a:lstStyle/>
          <a:p>
            <a:pPr algn="l" indent="0" marL="0">
              <a:buNone/>
            </a:pPr>
            <a:r>
              <a:rPr lang="ko-KR" altLang="en-US" sz="950" spc="133" kern="0" dirty="0">
                <a:solidFill>
                  <a:srgbClr val="646D40"/>
                </a:solidFill>
                <a:latin typeface="Paperlogy 7 Bold" pitchFamily="34" charset="0"/>
                <a:ea typeface="Paperlogy 7 Bold" pitchFamily="34" charset="-122"/>
                <a:cs typeface="Paperlogy 7 Bold" pitchFamily="34" charset="-120"/>
              </a:rPr>
              <a:t>프로그램 연결</a:t>
            </a:r>
            <a:endParaRPr lang="en-US" sz="950" dirty="0"/>
          </a:p>
        </p:txBody>
      </p:sp>
      <p:sp>
        <p:nvSpPr>
          <p:cNvPr id="26" name="글상자 25"/>
          <p:cNvSpPr txBox="1"/>
          <p:nvPr/>
        </p:nvSpPr>
        <p:spPr>
          <a:xfrm>
            <a:off x="3441710" y="5095768"/>
            <a:ext cx="1834652" cy="219090"/>
          </a:xfrm>
          <a:prstGeom prst="rect">
            <a:avLst/>
          </a:prstGeom>
          <a:noFill/>
          <a:ln/>
        </p:spPr>
        <p:txBody>
          <a:bodyPr wrap="none" lIns="0" tIns="0" rIns="0" bIns="0" rtlCol="0" anchor="ctr"/>
          <a:lstStyle/>
          <a:p>
            <a:pPr algn="l" indent="0" marL="0">
              <a:buNone/>
            </a:pPr>
            <a:r>
              <a:rPr lang="ko-KR" altLang="en-US" sz="1150" spc="-14" kern="0" dirty="0">
                <a:solidFill>
                  <a:srgbClr val="2E3A1B"/>
                </a:solidFill>
                <a:latin typeface="Paperlogy 7 Bold" pitchFamily="34" charset="0"/>
                <a:ea typeface="Paperlogy 7 Bold" pitchFamily="34" charset="-122"/>
                <a:cs typeface="Paperlogy 7 Bold" pitchFamily="34" charset="-120"/>
              </a:rPr>
              <a:t>15:30 </a:t>
            </a:r>
            <a:pPr algn="l" indent="0" marL="0">
              <a:buNone/>
            </a:pPr>
            <a:r>
              <a:rPr lang="ko-KR" altLang="en-US" sz="1150" spc="-14" kern="0" dirty="0">
                <a:solidFill>
                  <a:srgbClr val="45512A"/>
                </a:solidFill>
                <a:latin typeface="Paperlogy 4 Regular" pitchFamily="34" charset="0"/>
                <a:ea typeface="Paperlogy 4 Regular" pitchFamily="34" charset="-122"/>
                <a:cs typeface="Paperlogy 4 Regular" pitchFamily="34" charset="-120"/>
              </a:rPr>
              <a:t>자유시간 · 수변 휴식</a:t>
            </a:r>
            <a:endParaRPr lang="en-US" sz="1150" dirty="0"/>
          </a:p>
        </p:txBody>
      </p:sp>
      <p:sp>
        <p:nvSpPr>
          <p:cNvPr id="27" name="글상자 26"/>
          <p:cNvSpPr txBox="1"/>
          <p:nvPr/>
        </p:nvSpPr>
        <p:spPr>
          <a:xfrm>
            <a:off x="6184910" y="4008364"/>
            <a:ext cx="1024494" cy="361920"/>
          </a:xfrm>
          <a:prstGeom prst="rect">
            <a:avLst/>
          </a:prstGeom>
          <a:noFill/>
          <a:ln/>
        </p:spPr>
        <p:txBody>
          <a:bodyPr wrap="none" lIns="0" tIns="0" rIns="0" bIns="0" rtlCol="0" anchor="ctr"/>
          <a:lstStyle/>
          <a:p>
            <a:pPr algn="l" indent="0" marL="0">
              <a:buNone/>
            </a:pPr>
            <a:r>
              <a:rPr lang="ko-KR" altLang="en-US" sz="1900" spc="-57" kern="0" dirty="0">
                <a:solidFill>
                  <a:srgbClr val="2E3A1B"/>
                </a:solidFill>
                <a:latin typeface="Paperlogy 8 ExtraBold" pitchFamily="34" charset="0"/>
                <a:ea typeface="Paperlogy 8 ExtraBold" pitchFamily="34" charset="-122"/>
                <a:cs typeface="Paperlogy 8 ExtraBold" pitchFamily="34" charset="-120"/>
              </a:rPr>
              <a:t>로컬 카페</a:t>
            </a:r>
            <a:endParaRPr lang="en-US" sz="1900" dirty="0"/>
          </a:p>
        </p:txBody>
      </p:sp>
      <p:sp>
        <p:nvSpPr>
          <p:cNvPr id="28" name="글상자 27"/>
          <p:cNvSpPr txBox="1"/>
          <p:nvPr/>
        </p:nvSpPr>
        <p:spPr>
          <a:xfrm>
            <a:off x="6184910" y="4419478"/>
            <a:ext cx="1018459" cy="238110"/>
          </a:xfrm>
          <a:prstGeom prst="rect">
            <a:avLst/>
          </a:prstGeom>
          <a:noFill/>
          <a:ln/>
        </p:spPr>
        <p:txBody>
          <a:bodyPr wrap="none" lIns="0" tIns="0" rIns="0" bIns="0" rtlCol="0" anchor="ctr"/>
          <a:lstStyle/>
          <a:p>
            <a:pPr algn="l" indent="0" marL="0">
              <a:buNone/>
            </a:pPr>
            <a:r>
              <a:rPr lang="ko-KR" altLang="en-US" sz="1250" spc="-14" kern="0" dirty="0">
                <a:solidFill>
                  <a:srgbClr val="45512A"/>
                </a:solidFill>
                <a:latin typeface="Paperlogy 4 Regular" pitchFamily="34" charset="0"/>
                <a:ea typeface="Paperlogy 4 Regular" pitchFamily="34" charset="-122"/>
                <a:cs typeface="Paperlogy 4 Regular" pitchFamily="34" charset="-120"/>
              </a:rPr>
              <a:t>감성적인 휴식</a:t>
            </a:r>
            <a:endParaRPr lang="en-US" sz="1250" dirty="0"/>
          </a:p>
        </p:txBody>
      </p:sp>
      <p:sp>
        <p:nvSpPr>
          <p:cNvPr id="29" name="글상자 28"/>
          <p:cNvSpPr txBox="1"/>
          <p:nvPr/>
        </p:nvSpPr>
        <p:spPr>
          <a:xfrm>
            <a:off x="6184910" y="4876678"/>
            <a:ext cx="933328" cy="180960"/>
          </a:xfrm>
          <a:prstGeom prst="rect">
            <a:avLst/>
          </a:prstGeom>
          <a:noFill/>
          <a:ln/>
        </p:spPr>
        <p:txBody>
          <a:bodyPr wrap="none" lIns="0" tIns="0" rIns="0" bIns="0" rtlCol="0" anchor="ctr"/>
          <a:lstStyle/>
          <a:p>
            <a:pPr algn="l" indent="0" marL="0">
              <a:buNone/>
            </a:pPr>
            <a:r>
              <a:rPr lang="ko-KR" altLang="en-US" sz="950" spc="133" kern="0" dirty="0">
                <a:solidFill>
                  <a:srgbClr val="646D40"/>
                </a:solidFill>
                <a:latin typeface="Paperlogy 7 Bold" pitchFamily="34" charset="0"/>
                <a:ea typeface="Paperlogy 7 Bold" pitchFamily="34" charset="-122"/>
                <a:cs typeface="Paperlogy 7 Bold" pitchFamily="34" charset="-120"/>
              </a:rPr>
              <a:t>프로그램 연결</a:t>
            </a:r>
            <a:endParaRPr lang="en-US" sz="950" dirty="0"/>
          </a:p>
        </p:txBody>
      </p:sp>
      <p:sp>
        <p:nvSpPr>
          <p:cNvPr id="30" name="글상자 29"/>
          <p:cNvSpPr txBox="1"/>
          <p:nvPr/>
        </p:nvSpPr>
        <p:spPr>
          <a:xfrm>
            <a:off x="6184910" y="5095768"/>
            <a:ext cx="1622420" cy="219090"/>
          </a:xfrm>
          <a:prstGeom prst="rect">
            <a:avLst/>
          </a:prstGeom>
          <a:noFill/>
          <a:ln/>
        </p:spPr>
        <p:txBody>
          <a:bodyPr wrap="none" lIns="0" tIns="0" rIns="0" bIns="0" rtlCol="0" anchor="ctr"/>
          <a:lstStyle/>
          <a:p>
            <a:pPr algn="l" indent="0" marL="0">
              <a:buNone/>
            </a:pPr>
            <a:r>
              <a:rPr lang="ko-KR" altLang="en-US" sz="1150" spc="-14" kern="0" dirty="0">
                <a:solidFill>
                  <a:srgbClr val="2E3A1B"/>
                </a:solidFill>
                <a:latin typeface="Paperlogy 7 Bold" pitchFamily="34" charset="0"/>
                <a:ea typeface="Paperlogy 7 Bold" pitchFamily="34" charset="-122"/>
                <a:cs typeface="Paperlogy 7 Bold" pitchFamily="34" charset="-120"/>
              </a:rPr>
              <a:t>14:00 </a:t>
            </a:r>
            <a:pPr algn="l" indent="0" marL="0">
              <a:buNone/>
            </a:pPr>
            <a:r>
              <a:rPr lang="ko-KR" altLang="en-US" sz="1150" spc="-14" kern="0" dirty="0">
                <a:solidFill>
                  <a:srgbClr val="45512A"/>
                </a:solidFill>
                <a:latin typeface="Paperlogy 4 Regular" pitchFamily="34" charset="0"/>
                <a:ea typeface="Paperlogy 4 Regular" pitchFamily="34" charset="-122"/>
                <a:cs typeface="Paperlogy 4 Regular" pitchFamily="34" charset="-120"/>
              </a:rPr>
              <a:t>감성 카페 티타임</a:t>
            </a:r>
            <a:endParaRPr lang="en-US" sz="1150" dirty="0"/>
          </a:p>
        </p:txBody>
      </p:sp>
      <p:sp>
        <p:nvSpPr>
          <p:cNvPr id="31" name="글상자 30"/>
          <p:cNvSpPr txBox="1"/>
          <p:nvPr/>
        </p:nvSpPr>
        <p:spPr>
          <a:xfrm>
            <a:off x="8928110" y="4008364"/>
            <a:ext cx="1024494" cy="361920"/>
          </a:xfrm>
          <a:prstGeom prst="rect">
            <a:avLst/>
          </a:prstGeom>
          <a:noFill/>
          <a:ln/>
        </p:spPr>
        <p:txBody>
          <a:bodyPr wrap="none" lIns="0" tIns="0" rIns="0" bIns="0" rtlCol="0" anchor="ctr"/>
          <a:lstStyle/>
          <a:p>
            <a:pPr algn="l" indent="0" marL="0">
              <a:buNone/>
            </a:pPr>
            <a:r>
              <a:rPr lang="ko-KR" altLang="en-US" sz="1900" spc="-57" kern="0" dirty="0">
                <a:solidFill>
                  <a:srgbClr val="2E3A1B"/>
                </a:solidFill>
                <a:latin typeface="Paperlogy 8 ExtraBold" pitchFamily="34" charset="0"/>
                <a:ea typeface="Paperlogy 8 ExtraBold" pitchFamily="34" charset="-122"/>
                <a:cs typeface="Paperlogy 8 ExtraBold" pitchFamily="34" charset="-120"/>
              </a:rPr>
              <a:t>지역 음식</a:t>
            </a:r>
            <a:endParaRPr lang="en-US" sz="1900" dirty="0"/>
          </a:p>
        </p:txBody>
      </p:sp>
      <p:sp>
        <p:nvSpPr>
          <p:cNvPr id="32" name="글상자 31"/>
          <p:cNvSpPr txBox="1"/>
          <p:nvPr/>
        </p:nvSpPr>
        <p:spPr>
          <a:xfrm>
            <a:off x="8928110" y="4419478"/>
            <a:ext cx="1352123" cy="238110"/>
          </a:xfrm>
          <a:prstGeom prst="rect">
            <a:avLst/>
          </a:prstGeom>
          <a:noFill/>
          <a:ln/>
        </p:spPr>
        <p:txBody>
          <a:bodyPr wrap="none" lIns="0" tIns="0" rIns="0" bIns="0" rtlCol="0" anchor="ctr"/>
          <a:lstStyle/>
          <a:p>
            <a:pPr algn="l" indent="0" marL="0">
              <a:buNone/>
            </a:pPr>
            <a:r>
              <a:rPr lang="ko-KR" altLang="en-US" sz="1250" spc="-14" kern="0" dirty="0">
                <a:solidFill>
                  <a:srgbClr val="45512A"/>
                </a:solidFill>
                <a:latin typeface="Paperlogy 4 Regular" pitchFamily="34" charset="0"/>
                <a:ea typeface="Paperlogy 4 Regular" pitchFamily="34" charset="-122"/>
                <a:cs typeface="Paperlogy 4 Regular" pitchFamily="34" charset="-120"/>
              </a:rPr>
              <a:t>춘천만의 미식 경험</a:t>
            </a:r>
            <a:endParaRPr lang="en-US" sz="1250" dirty="0"/>
          </a:p>
        </p:txBody>
      </p:sp>
      <p:sp>
        <p:nvSpPr>
          <p:cNvPr id="33" name="글상자 32"/>
          <p:cNvSpPr txBox="1"/>
          <p:nvPr/>
        </p:nvSpPr>
        <p:spPr>
          <a:xfrm>
            <a:off x="8928110" y="4876678"/>
            <a:ext cx="933328" cy="180960"/>
          </a:xfrm>
          <a:prstGeom prst="rect">
            <a:avLst/>
          </a:prstGeom>
          <a:noFill/>
          <a:ln/>
        </p:spPr>
        <p:txBody>
          <a:bodyPr wrap="none" lIns="0" tIns="0" rIns="0" bIns="0" rtlCol="0" anchor="ctr"/>
          <a:lstStyle/>
          <a:p>
            <a:pPr algn="l" indent="0" marL="0">
              <a:buNone/>
            </a:pPr>
            <a:r>
              <a:rPr lang="ko-KR" altLang="en-US" sz="950" spc="133" kern="0" dirty="0">
                <a:solidFill>
                  <a:srgbClr val="646D40"/>
                </a:solidFill>
                <a:latin typeface="Paperlogy 7 Bold" pitchFamily="34" charset="0"/>
                <a:ea typeface="Paperlogy 7 Bold" pitchFamily="34" charset="-122"/>
                <a:cs typeface="Paperlogy 7 Bold" pitchFamily="34" charset="-120"/>
              </a:rPr>
              <a:t>프로그램 연결</a:t>
            </a:r>
            <a:endParaRPr lang="en-US" sz="950" dirty="0"/>
          </a:p>
        </p:txBody>
      </p:sp>
      <p:sp>
        <p:nvSpPr>
          <p:cNvPr id="34" name="글상자 33"/>
          <p:cNvSpPr txBox="1"/>
          <p:nvPr/>
        </p:nvSpPr>
        <p:spPr>
          <a:xfrm>
            <a:off x="8928110" y="5095768"/>
            <a:ext cx="1179027" cy="219090"/>
          </a:xfrm>
          <a:prstGeom prst="rect">
            <a:avLst/>
          </a:prstGeom>
          <a:noFill/>
          <a:ln/>
        </p:spPr>
        <p:txBody>
          <a:bodyPr wrap="none" lIns="0" tIns="0" rIns="0" bIns="0" rtlCol="0" anchor="ctr"/>
          <a:lstStyle/>
          <a:p>
            <a:pPr algn="l" indent="0" marL="0">
              <a:buNone/>
            </a:pPr>
            <a:r>
              <a:rPr lang="ko-KR" altLang="en-US" sz="1150" spc="-14" kern="0" dirty="0">
                <a:solidFill>
                  <a:srgbClr val="2E3A1B"/>
                </a:solidFill>
                <a:latin typeface="Paperlogy 7 Bold" pitchFamily="34" charset="0"/>
                <a:ea typeface="Paperlogy 7 Bold" pitchFamily="34" charset="-122"/>
                <a:cs typeface="Paperlogy 7 Bold" pitchFamily="34" charset="-120"/>
              </a:rPr>
              <a:t>12:30 </a:t>
            </a:r>
            <a:pPr algn="l" indent="0" marL="0">
              <a:buNone/>
            </a:pPr>
            <a:r>
              <a:rPr lang="ko-KR" altLang="en-US" sz="1150" spc="-14" kern="0" dirty="0">
                <a:solidFill>
                  <a:srgbClr val="45512A"/>
                </a:solidFill>
                <a:latin typeface="Paperlogy 4 Regular" pitchFamily="34" charset="0"/>
                <a:ea typeface="Paperlogy 4 Regular" pitchFamily="34" charset="-122"/>
                <a:cs typeface="Paperlogy 4 Regular" pitchFamily="34" charset="-120"/>
              </a:rPr>
              <a:t>로컬 식사</a:t>
            </a:r>
            <a:endParaRPr lang="en-US" sz="1150" dirty="0"/>
          </a:p>
        </p:txBody>
      </p:sp>
      <p:sp>
        <p:nvSpPr>
          <p:cNvPr id="35" name="글상자 34"/>
          <p:cNvSpPr txBox="1"/>
          <p:nvPr/>
        </p:nvSpPr>
        <p:spPr>
          <a:xfrm>
            <a:off x="698510" y="6316675"/>
            <a:ext cx="6239957" cy="180960"/>
          </a:xfrm>
          <a:prstGeom prst="rect">
            <a:avLst/>
          </a:prstGeom>
          <a:noFill/>
          <a:ln/>
        </p:spPr>
        <p:txBody>
          <a:bodyPr wrap="none" lIns="0" tIns="0" rIns="0" bIns="0" rtlCol="0" anchor="ctr"/>
          <a:lstStyle/>
          <a:p>
            <a:pPr algn="l" indent="0" marL="0">
              <a:buNone/>
            </a:pPr>
            <a:r>
              <a:rPr lang="ko-KR" altLang="en-US" sz="950" spc="10" kern="0" dirty="0">
                <a:solidFill>
                  <a:srgbClr val="646D40"/>
                </a:solidFill>
                <a:latin typeface="Paperlogy 4 Regular" pitchFamily="34" charset="0"/>
                <a:ea typeface="Paperlogy 4 Regular" pitchFamily="34" charset="-122"/>
                <a:cs typeface="Paperlogy 4 Regular" pitchFamily="34" charset="-120"/>
              </a:rPr>
              <a:t>출처 서울신문(2025.03.07) · 한국교육신문 · ktriptips.com · 헤럴드경제(2026.09.13) · 조사일 2026.10.19</a:t>
            </a:r>
            <a:endParaRPr lang="en-US" sz="950" dirty="0"/>
          </a:p>
        </p:txBody>
      </p:sp>
      <p:sp>
        <p:nvSpPr>
          <p:cNvPr id="36" name="글상자 35"/>
          <p:cNvSpPr txBox="1"/>
          <p:nvPr/>
        </p:nvSpPr>
        <p:spPr>
          <a:xfrm>
            <a:off x="10996849" y="6316675"/>
            <a:ext cx="597926" cy="180960"/>
          </a:xfrm>
          <a:prstGeom prst="rect">
            <a:avLst/>
          </a:prstGeom>
          <a:noFill/>
          <a:ln/>
        </p:spPr>
        <p:txBody>
          <a:bodyPr wrap="none" lIns="0" tIns="0" rIns="0" bIns="0" rtlCol="0" anchor="ctr"/>
          <a:lstStyle/>
          <a:p>
            <a:pPr algn="l" indent="0" marL="0">
              <a:buNone/>
            </a:pPr>
            <a:r>
              <a:rPr lang="ko-KR" altLang="en-US" sz="950" spc="57" kern="0" dirty="0">
                <a:solidFill>
                  <a:srgbClr val="2E3A1B"/>
                </a:solidFill>
                <a:latin typeface="Paperlogy 7 Bold" pitchFamily="34" charset="0"/>
                <a:ea typeface="Paperlogy 7 Bold" pitchFamily="34" charset="-122"/>
                <a:cs typeface="Paperlogy 7 Bold" pitchFamily="34" charset="-120"/>
              </a:rPr>
              <a:t>03 / 10</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6"/>
        </a:solidFill>
      </p:bgPr>
    </p:bg>
    <p:spTree>
      <p:nvGrpSpPr>
        <p:cNvPr id="1" name=""/>
        <p:cNvGrpSpPr/>
        <p:nvPr/>
      </p:nvGrpSpPr>
      <p:grpSpPr>
        <a:xfrm>
          <a:off x="0" y="0"/>
          <a:ext cx="0" cy="0"/>
          <a:chOff x="0" y="0"/>
          <a:chExt cx="0" cy="0"/>
        </a:xfrm>
      </p:grpSpPr>
      <p:pic>
        <p:nvPicPr>
          <p:cNvPr id="2" name="사진 1" descr="AI 생성 이미지">    </p:cNvPr>
          <p:cNvPicPr>
            <a:picLocks noChangeAspect="1"/>
          </p:cNvPicPr>
          <p:nvPr/>
        </p:nvPicPr>
        <p:blipFill>
          <a:blip r:embed="rId1"/>
          <a:stretch>
            <a:fillRect/>
          </a:stretch>
        </p:blipFill>
        <p:spPr>
          <a:xfrm>
            <a:off x="0" y="0"/>
            <a:ext cx="3810030" cy="6858000"/>
          </a:xfrm>
          <a:prstGeom prst="rect">
            <a:avLst/>
          </a:prstGeom>
        </p:spPr>
      </p:pic>
      <p:sp>
        <p:nvSpPr>
          <p:cNvPr id="3" name="선 2"/>
          <p:cNvSpPr/>
          <p:nvPr/>
        </p:nvSpPr>
        <p:spPr>
          <a:xfrm>
            <a:off x="4521159" y="658825"/>
            <a:ext cx="254020" cy="0"/>
          </a:xfrm>
          <a:prstGeom prst="line">
            <a:avLst/>
          </a:prstGeom>
          <a:noFill/>
          <a:ln w="12700">
            <a:solidFill>
              <a:srgbClr val="737F4A"/>
            </a:solidFill>
            <a:prstDash val="solid"/>
          </a:ln>
        </p:spPr>
      </p:sp>
      <p:sp>
        <p:nvSpPr>
          <p:cNvPr id="4" name="상자 3"/>
          <p:cNvSpPr/>
          <p:nvPr/>
        </p:nvSpPr>
        <p:spPr>
          <a:xfrm>
            <a:off x="7891821" y="2112904"/>
            <a:ext cx="1459565" cy="88880"/>
          </a:xfrm>
          <a:prstGeom prst="rect">
            <a:avLst/>
          </a:prstGeom>
          <a:solidFill>
            <a:srgbClr val="DDE3C7"/>
          </a:solidFill>
          <a:ln/>
        </p:spPr>
      </p:sp>
      <p:sp>
        <p:nvSpPr>
          <p:cNvPr id="5" name="상자 4"/>
          <p:cNvSpPr/>
          <p:nvPr/>
        </p:nvSpPr>
        <p:spPr>
          <a:xfrm>
            <a:off x="5149078" y="2413467"/>
            <a:ext cx="724205" cy="203180"/>
          </a:xfrm>
          <a:prstGeom prst="roundRect">
            <a:avLst>
              <a:gd name="adj" fmla="val 50000"/>
            </a:avLst>
          </a:prstGeom>
          <a:noFill/>
          <a:ln w="6350">
            <a:solidFill>
              <a:srgbClr val="646D40"/>
            </a:solidFill>
            <a:prstDash val="dash"/>
          </a:ln>
        </p:spPr>
      </p:sp>
      <p:sp>
        <p:nvSpPr>
          <p:cNvPr id="6" name="상자 5"/>
          <p:cNvSpPr/>
          <p:nvPr/>
        </p:nvSpPr>
        <p:spPr>
          <a:xfrm>
            <a:off x="4524360" y="2711928"/>
            <a:ext cx="2228850" cy="997976"/>
          </a:xfrm>
          <a:prstGeom prst="roundRect">
            <a:avLst>
              <a:gd name="adj" fmla="val 8594"/>
            </a:avLst>
          </a:prstGeom>
          <a:solidFill>
            <a:srgbClr val="FBF9F3"/>
          </a:solidFill>
          <a:ln w="6350">
            <a:solidFill>
              <a:srgbClr val="D5CEB8"/>
            </a:solidFill>
            <a:prstDash val="solid"/>
          </a:ln>
        </p:spPr>
      </p:sp>
      <p:sp>
        <p:nvSpPr>
          <p:cNvPr id="7" name="상자 6"/>
          <p:cNvSpPr/>
          <p:nvPr/>
        </p:nvSpPr>
        <p:spPr>
          <a:xfrm>
            <a:off x="6886621" y="2711928"/>
            <a:ext cx="2228850" cy="997976"/>
          </a:xfrm>
          <a:prstGeom prst="roundRect">
            <a:avLst>
              <a:gd name="adj" fmla="val 8594"/>
            </a:avLst>
          </a:prstGeom>
          <a:solidFill>
            <a:srgbClr val="FBF9F3"/>
          </a:solidFill>
          <a:ln w="6350">
            <a:solidFill>
              <a:srgbClr val="D5CEB8"/>
            </a:solidFill>
            <a:prstDash val="solid"/>
          </a:ln>
        </p:spPr>
      </p:sp>
      <p:sp>
        <p:nvSpPr>
          <p:cNvPr id="8" name="상자 7"/>
          <p:cNvSpPr/>
          <p:nvPr/>
        </p:nvSpPr>
        <p:spPr>
          <a:xfrm>
            <a:off x="9248790" y="2711928"/>
            <a:ext cx="2228850" cy="997976"/>
          </a:xfrm>
          <a:prstGeom prst="roundRect">
            <a:avLst>
              <a:gd name="adj" fmla="val 8594"/>
            </a:avLst>
          </a:prstGeom>
          <a:solidFill>
            <a:srgbClr val="FBF9F3"/>
          </a:solidFill>
          <a:ln w="6350">
            <a:solidFill>
              <a:srgbClr val="D5CEB8"/>
            </a:solidFill>
            <a:prstDash val="solid"/>
          </a:ln>
        </p:spPr>
      </p:sp>
      <p:sp>
        <p:nvSpPr>
          <p:cNvPr id="9" name="상자 8"/>
          <p:cNvSpPr/>
          <p:nvPr/>
        </p:nvSpPr>
        <p:spPr>
          <a:xfrm>
            <a:off x="5184008" y="3890863"/>
            <a:ext cx="1002182" cy="365120"/>
          </a:xfrm>
          <a:prstGeom prst="roundRect">
            <a:avLst>
              <a:gd name="adj" fmla="val 50013"/>
            </a:avLst>
          </a:prstGeom>
          <a:solidFill>
            <a:srgbClr val="DDE3C7"/>
          </a:solidFill>
          <a:ln/>
        </p:spPr>
      </p:sp>
      <p:sp>
        <p:nvSpPr>
          <p:cNvPr id="10" name="상자 9"/>
          <p:cNvSpPr/>
          <p:nvPr/>
        </p:nvSpPr>
        <p:spPr>
          <a:xfrm>
            <a:off x="6275070" y="3890863"/>
            <a:ext cx="1035375" cy="365120"/>
          </a:xfrm>
          <a:prstGeom prst="roundRect">
            <a:avLst>
              <a:gd name="adj" fmla="val 50013"/>
            </a:avLst>
          </a:prstGeom>
          <a:solidFill>
            <a:srgbClr val="DDE3C7"/>
          </a:solidFill>
          <a:ln/>
        </p:spPr>
      </p:sp>
      <p:sp>
        <p:nvSpPr>
          <p:cNvPr id="11" name="상자 10"/>
          <p:cNvSpPr/>
          <p:nvPr/>
        </p:nvSpPr>
        <p:spPr>
          <a:xfrm>
            <a:off x="7399325" y="3890863"/>
            <a:ext cx="1140165" cy="365120"/>
          </a:xfrm>
          <a:prstGeom prst="roundRect">
            <a:avLst>
              <a:gd name="adj" fmla="val 50013"/>
            </a:avLst>
          </a:prstGeom>
          <a:solidFill>
            <a:srgbClr val="DDE3C7"/>
          </a:solidFill>
          <a:ln/>
        </p:spPr>
      </p:sp>
      <p:sp>
        <p:nvSpPr>
          <p:cNvPr id="12" name="상자 11"/>
          <p:cNvSpPr/>
          <p:nvPr/>
        </p:nvSpPr>
        <p:spPr>
          <a:xfrm>
            <a:off x="4524360" y="4436943"/>
            <a:ext cx="6953280" cy="1076340"/>
          </a:xfrm>
          <a:prstGeom prst="roundRect">
            <a:avLst>
              <a:gd name="adj" fmla="val 7969"/>
            </a:avLst>
          </a:prstGeom>
          <a:noFill/>
          <a:ln w="6350">
            <a:solidFill>
              <a:srgbClr val="D5CEB8"/>
            </a:solidFill>
            <a:prstDash val="solid"/>
          </a:ln>
        </p:spPr>
      </p:sp>
      <p:sp>
        <p:nvSpPr>
          <p:cNvPr id="13" name="선 12"/>
          <p:cNvSpPr/>
          <p:nvPr/>
        </p:nvSpPr>
        <p:spPr>
          <a:xfrm>
            <a:off x="6846296" y="4440144"/>
            <a:ext cx="0" cy="1069939"/>
          </a:xfrm>
          <a:prstGeom prst="line">
            <a:avLst/>
          </a:prstGeom>
          <a:noFill/>
          <a:ln w="6350">
            <a:solidFill>
              <a:srgbClr val="D5CEB8"/>
            </a:solidFill>
            <a:prstDash val="solid"/>
          </a:ln>
        </p:spPr>
      </p:sp>
      <p:sp>
        <p:nvSpPr>
          <p:cNvPr id="14" name="선 13"/>
          <p:cNvSpPr/>
          <p:nvPr/>
        </p:nvSpPr>
        <p:spPr>
          <a:xfrm>
            <a:off x="9161922" y="4440144"/>
            <a:ext cx="0" cy="1069939"/>
          </a:xfrm>
          <a:prstGeom prst="line">
            <a:avLst/>
          </a:prstGeom>
          <a:noFill/>
          <a:ln w="6350">
            <a:solidFill>
              <a:srgbClr val="D5CEB8"/>
            </a:solidFill>
            <a:prstDash val="solid"/>
          </a:ln>
        </p:spPr>
      </p:sp>
      <p:sp>
        <p:nvSpPr>
          <p:cNvPr id="15" name="선 14"/>
          <p:cNvSpPr/>
          <p:nvPr/>
        </p:nvSpPr>
        <p:spPr>
          <a:xfrm>
            <a:off x="4521159" y="6203930"/>
            <a:ext cx="6959590" cy="0"/>
          </a:xfrm>
          <a:prstGeom prst="line">
            <a:avLst/>
          </a:prstGeom>
          <a:noFill/>
          <a:ln w="6350">
            <a:solidFill>
              <a:srgbClr val="D5CEB8"/>
            </a:solidFill>
            <a:prstDash val="solid"/>
          </a:ln>
        </p:spPr>
      </p:sp>
      <p:sp>
        <p:nvSpPr>
          <p:cNvPr id="16" name="글상자 15"/>
          <p:cNvSpPr txBox="1"/>
          <p:nvPr/>
        </p:nvSpPr>
        <p:spPr>
          <a:xfrm>
            <a:off x="2755362" y="84491"/>
            <a:ext cx="952988" cy="115580"/>
          </a:xfrm>
          <a:prstGeom prst="rect">
            <a:avLst/>
          </a:prstGeom>
          <a:noFill/>
          <a:ln/>
        </p:spPr>
        <p:txBody>
          <a:bodyPr wrap="none" lIns="0" tIns="0" rIns="0" bIns="0" rtlCol="0" anchor="ctr"/>
          <a:lstStyle/>
          <a:p>
            <a:pPr algn="r" indent="0" marL="0">
              <a:buNone/>
            </a:pPr>
            <a:r>
              <a:rPr lang="ko-KR" altLang="en-US" sz="700" spc="28" kern="0" dirty="0">
                <a:solidFill>
                  <a:srgbClr val="FBF9F3"/>
                </a:solidFill>
                <a:effectLst>
                  <a:glow rad="50800">
                    <a:srgbClr val="1C2210">
                      <a:alpha val="45000"/>
                    </a:srgbClr>
                  </a:glow>
                </a:effectLst>
                <a:latin typeface="Paperlogy 5 Medium" pitchFamily="34" charset="0"/>
                <a:ea typeface="Paperlogy 5 Medium" pitchFamily="34" charset="-122"/>
                <a:cs typeface="Paperlogy 5 Medium" pitchFamily="34" charset="-120"/>
              </a:rPr>
              <a:t>AI 생성 이미지</a:t>
            </a:r>
            <a:endParaRPr lang="en-US" sz="700" dirty="0"/>
          </a:p>
        </p:txBody>
      </p:sp>
      <p:sp>
        <p:nvSpPr>
          <p:cNvPr id="17" name="글상자 16"/>
          <p:cNvSpPr txBox="1"/>
          <p:nvPr/>
        </p:nvSpPr>
        <p:spPr>
          <a:xfrm>
            <a:off x="4864059" y="557235"/>
            <a:ext cx="2986979" cy="200071"/>
          </a:xfrm>
          <a:prstGeom prst="rect">
            <a:avLst/>
          </a:prstGeom>
          <a:noFill/>
          <a:ln/>
        </p:spPr>
        <p:txBody>
          <a:bodyPr wrap="none" lIns="0" tIns="0" rIns="0" bIns="0" rtlCol="0" anchor="ctr"/>
          <a:lstStyle/>
          <a:p>
            <a:pPr algn="l" indent="0" marL="0">
              <a:buNone/>
            </a:pPr>
            <a:r>
              <a:rPr lang="ko-KR" altLang="en-US" sz="1050" spc="231" kern="0" dirty="0">
                <a:solidFill>
                  <a:srgbClr val="646D40"/>
                </a:solidFill>
                <a:latin typeface="Paperlogy 6 SemiBold" pitchFamily="34" charset="0"/>
                <a:ea typeface="Paperlogy 6 SemiBold" pitchFamily="34" charset="-122"/>
                <a:cs typeface="Paperlogy 6 SemiBold" pitchFamily="34" charset="-120"/>
              </a:rPr>
              <a:t>TARGET &amp; CUSTOMER NEEDS</a:t>
            </a:r>
            <a:endParaRPr lang="en-US" sz="1050" dirty="0"/>
          </a:p>
        </p:txBody>
      </p:sp>
      <p:sp>
        <p:nvSpPr>
          <p:cNvPr id="18" name="글상자 17"/>
          <p:cNvSpPr txBox="1"/>
          <p:nvPr/>
        </p:nvSpPr>
        <p:spPr>
          <a:xfrm>
            <a:off x="4508541" y="833750"/>
            <a:ext cx="4915083" cy="561350"/>
          </a:xfrm>
          <a:prstGeom prst="rect">
            <a:avLst/>
          </a:prstGeom>
          <a:noFill/>
          <a:ln/>
        </p:spPr>
        <p:txBody>
          <a:bodyPr wrap="none" lIns="0" tIns="0" rIns="0" bIns="0" rtlCol="0" anchor="ctr"/>
          <a:lstStyle/>
          <a:p>
            <a:pPr algn="l" indent="0" marL="0">
              <a:buNone/>
            </a:pPr>
            <a:r>
              <a:rPr lang="ko-KR" altLang="en-US" sz="3400" spc="-102" kern="0" dirty="0">
                <a:solidFill>
                  <a:srgbClr val="2E3A1B"/>
                </a:solidFill>
                <a:latin typeface="Paperlogy 7 Bold" pitchFamily="34" charset="0"/>
                <a:ea typeface="Paperlogy 7 Bold" pitchFamily="34" charset="-122"/>
                <a:cs typeface="Paperlogy 7 Bold" pitchFamily="34" charset="-120"/>
              </a:rPr>
              <a:t>누구에게 쉼표가 필요할까?</a:t>
            </a:r>
            <a:endParaRPr lang="en-US" sz="3400" dirty="0"/>
          </a:p>
        </p:txBody>
      </p:sp>
      <p:sp>
        <p:nvSpPr>
          <p:cNvPr id="19" name="글상자 18"/>
          <p:cNvSpPr txBox="1"/>
          <p:nvPr/>
        </p:nvSpPr>
        <p:spPr>
          <a:xfrm>
            <a:off x="4508541" y="1614373"/>
            <a:ext cx="667512" cy="266730"/>
          </a:xfrm>
          <a:prstGeom prst="rect">
            <a:avLst/>
          </a:prstGeom>
          <a:noFill/>
          <a:ln/>
        </p:spPr>
        <p:txBody>
          <a:bodyPr wrap="none" lIns="0" tIns="0" rIns="0" bIns="0" rtlCol="0" anchor="ctr"/>
          <a:lstStyle/>
          <a:p>
            <a:pPr algn="l" indent="0" marL="0">
              <a:buNone/>
            </a:pPr>
            <a:r>
              <a:rPr lang="ko-KR" altLang="en-US" sz="950" spc="133" kern="0" dirty="0">
                <a:solidFill>
                  <a:srgbClr val="646D40"/>
                </a:solidFill>
                <a:latin typeface="Paperlogy 7 Bold" pitchFamily="34" charset="0"/>
                <a:ea typeface="Paperlogy 7 Bold" pitchFamily="34" charset="-122"/>
                <a:cs typeface="Paperlogy 7 Bold" pitchFamily="34" charset="-120"/>
              </a:rPr>
              <a:t>핵심 타깃</a:t>
            </a:r>
            <a:endParaRPr lang="en-US" sz="950" dirty="0"/>
          </a:p>
        </p:txBody>
      </p:sp>
      <p:sp>
        <p:nvSpPr>
          <p:cNvPr id="20" name="글상자 19"/>
          <p:cNvSpPr txBox="1"/>
          <p:nvPr/>
        </p:nvSpPr>
        <p:spPr>
          <a:xfrm>
            <a:off x="4508541" y="1926001"/>
            <a:ext cx="5305623" cy="303855"/>
          </a:xfrm>
          <a:prstGeom prst="rect">
            <a:avLst/>
          </a:prstGeom>
          <a:noFill/>
          <a:ln/>
        </p:spPr>
        <p:txBody>
          <a:bodyPr wrap="none" lIns="0" tIns="0" rIns="0" bIns="0" rtlCol="0" anchor="ctr"/>
          <a:lstStyle/>
          <a:p>
            <a:pPr algn="l" indent="0" marL="0">
              <a:buNone/>
            </a:pPr>
            <a:r>
              <a:rPr lang="ko-KR" altLang="en-US" sz="1650" spc="-14" kern="0" dirty="0">
                <a:solidFill>
                  <a:srgbClr val="2E3A1B"/>
                </a:solidFill>
                <a:latin typeface="Paperlogy 5 Medium" pitchFamily="34" charset="0"/>
                <a:ea typeface="Paperlogy 5 Medium" pitchFamily="34" charset="-122"/>
                <a:cs typeface="Paperlogy 5 Medium" pitchFamily="34" charset="-120"/>
              </a:rPr>
              <a:t>짧은 여행을 통해 휴식과 재충전을 원하는 </a:t>
            </a:r>
            <a:pPr algn="l" indent="0" marL="0">
              <a:buNone/>
            </a:pPr>
            <a:r>
              <a:rPr lang="ko-KR" altLang="en-US" sz="1650" spc="-14" kern="0" dirty="0">
                <a:solidFill>
                  <a:srgbClr val="2E3A1B"/>
                </a:solidFill>
                <a:latin typeface="Paperlogy 8 ExtraBold" pitchFamily="34" charset="0"/>
                <a:ea typeface="Paperlogy 8 ExtraBold" pitchFamily="34" charset="-122"/>
                <a:cs typeface="Paperlogy 8 ExtraBold" pitchFamily="34" charset="-120"/>
              </a:rPr>
              <a:t>20~30대 직장인</a:t>
            </a:r>
            <a:endParaRPr lang="en-US" sz="1650" dirty="0"/>
          </a:p>
        </p:txBody>
      </p:sp>
      <p:sp>
        <p:nvSpPr>
          <p:cNvPr id="21" name="글상자 20"/>
          <p:cNvSpPr txBox="1"/>
          <p:nvPr/>
        </p:nvSpPr>
        <p:spPr>
          <a:xfrm>
            <a:off x="4508541" y="2419868"/>
            <a:ext cx="667512" cy="180960"/>
          </a:xfrm>
          <a:prstGeom prst="rect">
            <a:avLst/>
          </a:prstGeom>
          <a:noFill/>
          <a:ln/>
        </p:spPr>
        <p:txBody>
          <a:bodyPr wrap="none" lIns="0" tIns="0" rIns="0" bIns="0" rtlCol="0" anchor="ctr"/>
          <a:lstStyle/>
          <a:p>
            <a:pPr algn="l" indent="0" marL="0">
              <a:buNone/>
            </a:pPr>
            <a:r>
              <a:rPr lang="ko-KR" altLang="en-US" sz="950" spc="133" kern="0" dirty="0">
                <a:solidFill>
                  <a:srgbClr val="646D40"/>
                </a:solidFill>
                <a:latin typeface="Paperlogy 7 Bold" pitchFamily="34" charset="0"/>
                <a:ea typeface="Paperlogy 7 Bold" pitchFamily="34" charset="-122"/>
                <a:cs typeface="Paperlogy 7 Bold" pitchFamily="34" charset="-120"/>
              </a:rPr>
              <a:t>고객 문제</a:t>
            </a:r>
            <a:endParaRPr lang="en-US" sz="950" dirty="0"/>
          </a:p>
        </p:txBody>
      </p:sp>
      <p:sp>
        <p:nvSpPr>
          <p:cNvPr id="22" name="글상자 21"/>
          <p:cNvSpPr txBox="1"/>
          <p:nvPr/>
        </p:nvSpPr>
        <p:spPr>
          <a:xfrm>
            <a:off x="5222047" y="2441722"/>
            <a:ext cx="685891" cy="140360"/>
          </a:xfrm>
          <a:prstGeom prst="rect">
            <a:avLst/>
          </a:prstGeom>
          <a:noFill/>
          <a:ln/>
        </p:spPr>
        <p:txBody>
          <a:bodyPr wrap="none" lIns="0" tIns="0" rIns="0" bIns="0" rtlCol="0" anchor="ctr"/>
          <a:lstStyle/>
          <a:p>
            <a:pPr algn="l" indent="0" marL="0">
              <a:buNone/>
            </a:pPr>
            <a:r>
              <a:rPr lang="ko-KR" altLang="en-US" sz="850" spc="34" kern="0" dirty="0">
                <a:solidFill>
                  <a:srgbClr val="45512A"/>
                </a:solidFill>
                <a:latin typeface="Paperlogy 7 Bold" pitchFamily="34" charset="0"/>
                <a:ea typeface="Paperlogy 7 Bold" pitchFamily="34" charset="-122"/>
                <a:cs typeface="Paperlogy 7 Bold" pitchFamily="34" charset="-120"/>
              </a:rPr>
              <a:t>조사 전 가설</a:t>
            </a:r>
            <a:endParaRPr lang="en-US" sz="850" dirty="0"/>
          </a:p>
        </p:txBody>
      </p:sp>
      <p:sp>
        <p:nvSpPr>
          <p:cNvPr id="23" name="글상자 22"/>
          <p:cNvSpPr txBox="1"/>
          <p:nvPr/>
        </p:nvSpPr>
        <p:spPr>
          <a:xfrm>
            <a:off x="4667280" y="2850093"/>
            <a:ext cx="453451" cy="161940"/>
          </a:xfrm>
          <a:prstGeom prst="rect">
            <a:avLst/>
          </a:prstGeom>
          <a:noFill/>
          <a:ln/>
        </p:spPr>
        <p:txBody>
          <a:bodyPr wrap="none" lIns="0" tIns="0" rIns="0" bIns="0" rtlCol="0" anchor="ctr"/>
          <a:lstStyle/>
          <a:p>
            <a:pPr algn="l" indent="0" marL="0">
              <a:buNone/>
            </a:pPr>
            <a:r>
              <a:rPr lang="ko-KR" altLang="en-US" sz="850" spc="102" kern="0" dirty="0">
                <a:solidFill>
                  <a:srgbClr val="737F4A"/>
                </a:solidFill>
                <a:latin typeface="Paperlogy 8 ExtraBold" pitchFamily="34" charset="0"/>
                <a:ea typeface="Paperlogy 8 ExtraBold" pitchFamily="34" charset="-122"/>
                <a:cs typeface="Paperlogy 8 ExtraBold" pitchFamily="34" charset="-120"/>
              </a:rPr>
              <a:t>가설 1</a:t>
            </a:r>
            <a:endParaRPr lang="en-US" sz="850" dirty="0"/>
          </a:p>
        </p:txBody>
      </p:sp>
      <p:sp>
        <p:nvSpPr>
          <p:cNvPr id="24" name="글상자 23"/>
          <p:cNvSpPr txBox="1"/>
          <p:nvPr/>
        </p:nvSpPr>
        <p:spPr>
          <a:xfrm>
            <a:off x="4667280" y="3058851"/>
            <a:ext cx="1815633" cy="486735"/>
          </a:xfrm>
          <a:prstGeom prst="rect">
            <a:avLst/>
          </a:prstGeom>
          <a:noFill/>
          <a:ln/>
        </p:spPr>
        <p:txBody>
          <a:bodyPr wrap="none" lIns="0" tIns="0" rIns="0" bIns="0" rtlCol="0" anchor="ctr"/>
          <a:lstStyle/>
          <a:p>
            <a:pPr algn="l" indent="0" marL="0">
              <a:lnSpc>
                <a:spcPts val="1916"/>
              </a:lnSpc>
              <a:buNone/>
            </a:pPr>
            <a:r>
              <a:rPr lang="ko-KR" altLang="en-US" sz="1350" spc="-14" kern="0" dirty="0">
                <a:solidFill>
                  <a:srgbClr val="2E3A1B"/>
                </a:solidFill>
                <a:latin typeface="Paperlogy 6 SemiBold" pitchFamily="34" charset="0"/>
                <a:ea typeface="Paperlogy 6 SemiBold" pitchFamily="34" charset="-122"/>
                <a:cs typeface="Paperlogy 6 SemiBold" pitchFamily="34" charset="-120"/>
              </a:rPr>
              <a:t>복잡한 여행 계획에 대한</a:t>
            </a:r>
            <a:endParaRPr lang="en-US" sz="1350" dirty="0"/>
          </a:p>
          <a:p>
            <a:pPr algn="l" indent="0" marL="0">
              <a:lnSpc>
                <a:spcPts val="1916"/>
              </a:lnSpc>
              <a:buNone/>
            </a:pPr>
            <a:r>
              <a:rPr lang="ko-KR" altLang="en-US" sz="1350" spc="-14" kern="0" dirty="0">
                <a:solidFill>
                  <a:srgbClr val="2E3A1B"/>
                </a:solidFill>
                <a:latin typeface="Paperlogy 6 SemiBold" pitchFamily="34" charset="0"/>
                <a:ea typeface="Paperlogy 6 SemiBold" pitchFamily="34" charset="-122"/>
                <a:cs typeface="Paperlogy 6 SemiBold" pitchFamily="34" charset="-120"/>
              </a:rPr>
              <a:t>부담</a:t>
            </a:r>
            <a:endParaRPr lang="en-US" sz="1350" dirty="0"/>
          </a:p>
        </p:txBody>
      </p:sp>
      <p:sp>
        <p:nvSpPr>
          <p:cNvPr id="25" name="글상자 24"/>
          <p:cNvSpPr txBox="1"/>
          <p:nvPr/>
        </p:nvSpPr>
        <p:spPr>
          <a:xfrm>
            <a:off x="7029450" y="2850093"/>
            <a:ext cx="453451" cy="161940"/>
          </a:xfrm>
          <a:prstGeom prst="rect">
            <a:avLst/>
          </a:prstGeom>
          <a:noFill/>
          <a:ln/>
        </p:spPr>
        <p:txBody>
          <a:bodyPr wrap="none" lIns="0" tIns="0" rIns="0" bIns="0" rtlCol="0" anchor="ctr"/>
          <a:lstStyle/>
          <a:p>
            <a:pPr algn="l" indent="0" marL="0">
              <a:buNone/>
            </a:pPr>
            <a:r>
              <a:rPr lang="ko-KR" altLang="en-US" sz="850" spc="102" kern="0" dirty="0">
                <a:solidFill>
                  <a:srgbClr val="737F4A"/>
                </a:solidFill>
                <a:latin typeface="Paperlogy 8 ExtraBold" pitchFamily="34" charset="0"/>
                <a:ea typeface="Paperlogy 8 ExtraBold" pitchFamily="34" charset="-122"/>
                <a:cs typeface="Paperlogy 8 ExtraBold" pitchFamily="34" charset="-120"/>
              </a:rPr>
              <a:t>가설 2</a:t>
            </a:r>
            <a:endParaRPr lang="en-US" sz="850" dirty="0"/>
          </a:p>
        </p:txBody>
      </p:sp>
      <p:sp>
        <p:nvSpPr>
          <p:cNvPr id="26" name="글상자 25"/>
          <p:cNvSpPr txBox="1"/>
          <p:nvPr/>
        </p:nvSpPr>
        <p:spPr>
          <a:xfrm>
            <a:off x="7029450" y="3058851"/>
            <a:ext cx="1976658" cy="486735"/>
          </a:xfrm>
          <a:prstGeom prst="rect">
            <a:avLst/>
          </a:prstGeom>
          <a:noFill/>
          <a:ln/>
        </p:spPr>
        <p:txBody>
          <a:bodyPr wrap="none" lIns="0" tIns="0" rIns="0" bIns="0" rtlCol="0" anchor="ctr"/>
          <a:lstStyle/>
          <a:p>
            <a:pPr algn="l" indent="0" marL="0">
              <a:lnSpc>
                <a:spcPts val="1916"/>
              </a:lnSpc>
              <a:buNone/>
            </a:pPr>
            <a:r>
              <a:rPr lang="ko-KR" altLang="en-US" sz="1350" spc="-14" kern="0" dirty="0">
                <a:solidFill>
                  <a:srgbClr val="2E3A1B"/>
                </a:solidFill>
                <a:latin typeface="Paperlogy 6 SemiBold" pitchFamily="34" charset="0"/>
                <a:ea typeface="Paperlogy 6 SemiBold" pitchFamily="34" charset="-122"/>
                <a:cs typeface="Paperlogy 6 SemiBold" pitchFamily="34" charset="-120"/>
              </a:rPr>
              <a:t>이동과 관광 일정으로 인한</a:t>
            </a:r>
            <a:endParaRPr lang="en-US" sz="1350" dirty="0"/>
          </a:p>
          <a:p>
            <a:pPr algn="l" indent="0" marL="0">
              <a:lnSpc>
                <a:spcPts val="1916"/>
              </a:lnSpc>
              <a:buNone/>
            </a:pPr>
            <a:r>
              <a:rPr lang="ko-KR" altLang="en-US" sz="1350" spc="-14" kern="0" dirty="0">
                <a:solidFill>
                  <a:srgbClr val="2E3A1B"/>
                </a:solidFill>
                <a:latin typeface="Paperlogy 6 SemiBold" pitchFamily="34" charset="0"/>
                <a:ea typeface="Paperlogy 6 SemiBold" pitchFamily="34" charset="-122"/>
                <a:cs typeface="Paperlogy 6 SemiBold" pitchFamily="34" charset="-120"/>
              </a:rPr>
              <a:t>피로</a:t>
            </a:r>
            <a:endParaRPr lang="en-US" sz="1350" dirty="0"/>
          </a:p>
        </p:txBody>
      </p:sp>
      <p:sp>
        <p:nvSpPr>
          <p:cNvPr id="27" name="글상자 26"/>
          <p:cNvSpPr txBox="1"/>
          <p:nvPr/>
        </p:nvSpPr>
        <p:spPr>
          <a:xfrm>
            <a:off x="9391620" y="2850093"/>
            <a:ext cx="453451" cy="161940"/>
          </a:xfrm>
          <a:prstGeom prst="rect">
            <a:avLst/>
          </a:prstGeom>
          <a:noFill/>
          <a:ln/>
        </p:spPr>
        <p:txBody>
          <a:bodyPr wrap="none" lIns="0" tIns="0" rIns="0" bIns="0" rtlCol="0" anchor="ctr"/>
          <a:lstStyle/>
          <a:p>
            <a:pPr algn="l" indent="0" marL="0">
              <a:buNone/>
            </a:pPr>
            <a:r>
              <a:rPr lang="ko-KR" altLang="en-US" sz="850" spc="102" kern="0" dirty="0">
                <a:solidFill>
                  <a:srgbClr val="737F4A"/>
                </a:solidFill>
                <a:latin typeface="Paperlogy 8 ExtraBold" pitchFamily="34" charset="0"/>
                <a:ea typeface="Paperlogy 8 ExtraBold" pitchFamily="34" charset="-122"/>
                <a:cs typeface="Paperlogy 8 ExtraBold" pitchFamily="34" charset="-120"/>
              </a:rPr>
              <a:t>가설 3</a:t>
            </a:r>
            <a:endParaRPr lang="en-US" sz="850" dirty="0"/>
          </a:p>
        </p:txBody>
      </p:sp>
      <p:sp>
        <p:nvSpPr>
          <p:cNvPr id="28" name="글상자 27"/>
          <p:cNvSpPr txBox="1"/>
          <p:nvPr/>
        </p:nvSpPr>
        <p:spPr>
          <a:xfrm>
            <a:off x="9391620" y="3058851"/>
            <a:ext cx="2137684" cy="486735"/>
          </a:xfrm>
          <a:prstGeom prst="rect">
            <a:avLst/>
          </a:prstGeom>
          <a:noFill/>
          <a:ln/>
        </p:spPr>
        <p:txBody>
          <a:bodyPr wrap="none" lIns="0" tIns="0" rIns="0" bIns="0" rtlCol="0" anchor="ctr"/>
          <a:lstStyle/>
          <a:p>
            <a:pPr algn="l" indent="0" marL="0">
              <a:lnSpc>
                <a:spcPts val="1916"/>
              </a:lnSpc>
              <a:buNone/>
            </a:pPr>
            <a:r>
              <a:rPr lang="ko-KR" altLang="en-US" sz="1350" spc="-14" kern="0" dirty="0">
                <a:solidFill>
                  <a:srgbClr val="2E3A1B"/>
                </a:solidFill>
                <a:latin typeface="Paperlogy 6 SemiBold" pitchFamily="34" charset="0"/>
                <a:ea typeface="Paperlogy 6 SemiBold" pitchFamily="34" charset="-122"/>
                <a:cs typeface="Paperlogy 6 SemiBold" pitchFamily="34" charset="-120"/>
              </a:rPr>
              <a:t>충분한 자유시간과 휴식 공간</a:t>
            </a:r>
            <a:endParaRPr lang="en-US" sz="1350" dirty="0"/>
          </a:p>
          <a:p>
            <a:pPr algn="l" indent="0" marL="0">
              <a:lnSpc>
                <a:spcPts val="1916"/>
              </a:lnSpc>
              <a:buNone/>
            </a:pPr>
            <a:r>
              <a:rPr lang="ko-KR" altLang="en-US" sz="1350" spc="-14" kern="0" dirty="0">
                <a:solidFill>
                  <a:srgbClr val="2E3A1B"/>
                </a:solidFill>
                <a:latin typeface="Paperlogy 6 SemiBold" pitchFamily="34" charset="0"/>
                <a:ea typeface="Paperlogy 6 SemiBold" pitchFamily="34" charset="-122"/>
                <a:cs typeface="Paperlogy 6 SemiBold" pitchFamily="34" charset="-120"/>
              </a:rPr>
              <a:t>부족</a:t>
            </a:r>
            <a:endParaRPr lang="en-US" sz="1350" dirty="0"/>
          </a:p>
        </p:txBody>
      </p:sp>
      <p:sp>
        <p:nvSpPr>
          <p:cNvPr id="29" name="글상자 28"/>
          <p:cNvSpPr txBox="1"/>
          <p:nvPr/>
        </p:nvSpPr>
        <p:spPr>
          <a:xfrm>
            <a:off x="4508541" y="3978189"/>
            <a:ext cx="667512" cy="180960"/>
          </a:xfrm>
          <a:prstGeom prst="rect">
            <a:avLst/>
          </a:prstGeom>
          <a:noFill/>
          <a:ln/>
        </p:spPr>
        <p:txBody>
          <a:bodyPr wrap="none" lIns="0" tIns="0" rIns="0" bIns="0" rtlCol="0" anchor="ctr"/>
          <a:lstStyle/>
          <a:p>
            <a:pPr algn="l" indent="0" marL="0">
              <a:buNone/>
            </a:pPr>
            <a:r>
              <a:rPr lang="ko-KR" altLang="en-US" sz="950" spc="133" kern="0" dirty="0">
                <a:solidFill>
                  <a:srgbClr val="646D40"/>
                </a:solidFill>
                <a:latin typeface="Paperlogy 7 Bold" pitchFamily="34" charset="0"/>
                <a:ea typeface="Paperlogy 7 Bold" pitchFamily="34" charset="-122"/>
                <a:cs typeface="Paperlogy 7 Bold" pitchFamily="34" charset="-120"/>
              </a:rPr>
              <a:t>고객 욕구</a:t>
            </a:r>
            <a:endParaRPr lang="en-US" sz="950" dirty="0"/>
          </a:p>
        </p:txBody>
      </p:sp>
      <p:sp>
        <p:nvSpPr>
          <p:cNvPr id="30" name="글상자 29"/>
          <p:cNvSpPr txBox="1"/>
          <p:nvPr/>
        </p:nvSpPr>
        <p:spPr>
          <a:xfrm>
            <a:off x="5311018" y="3952768"/>
            <a:ext cx="869503" cy="238110"/>
          </a:xfrm>
          <a:prstGeom prst="rect">
            <a:avLst/>
          </a:prstGeom>
          <a:noFill/>
          <a:ln/>
        </p:spPr>
        <p:txBody>
          <a:bodyPr wrap="none" lIns="0" tIns="0" rIns="0" bIns="0" rtlCol="0" anchor="ctr"/>
          <a:lstStyle/>
          <a:p>
            <a:pPr algn="l" indent="0" marL="0">
              <a:buNone/>
            </a:pPr>
            <a:r>
              <a:rPr lang="ko-KR" altLang="en-US" sz="1250" spc="-14" kern="0" dirty="0">
                <a:solidFill>
                  <a:srgbClr val="2E3A1B"/>
                </a:solidFill>
                <a:latin typeface="Paperlogy 6 SemiBold" pitchFamily="34" charset="0"/>
                <a:ea typeface="Paperlogy 6 SemiBold" pitchFamily="34" charset="-122"/>
                <a:cs typeface="Paperlogy 6 SemiBold" pitchFamily="34" charset="-120"/>
              </a:rPr>
              <a:t>편리한 일정</a:t>
            </a:r>
            <a:endParaRPr lang="en-US" sz="1250" dirty="0"/>
          </a:p>
        </p:txBody>
      </p:sp>
      <p:sp>
        <p:nvSpPr>
          <p:cNvPr id="31" name="글상자 30"/>
          <p:cNvSpPr txBox="1"/>
          <p:nvPr/>
        </p:nvSpPr>
        <p:spPr>
          <a:xfrm>
            <a:off x="6402080" y="3952768"/>
            <a:ext cx="905347" cy="238110"/>
          </a:xfrm>
          <a:prstGeom prst="rect">
            <a:avLst/>
          </a:prstGeom>
          <a:noFill/>
          <a:ln/>
        </p:spPr>
        <p:txBody>
          <a:bodyPr wrap="none" lIns="0" tIns="0" rIns="0" bIns="0" rtlCol="0" anchor="ctr"/>
          <a:lstStyle/>
          <a:p>
            <a:pPr algn="l" indent="0" marL="0">
              <a:buNone/>
            </a:pPr>
            <a:r>
              <a:rPr lang="ko-KR" altLang="en-US" sz="1250" spc="-14" kern="0" dirty="0">
                <a:solidFill>
                  <a:srgbClr val="2E3A1B"/>
                </a:solidFill>
                <a:latin typeface="Paperlogy 6 SemiBold" pitchFamily="34" charset="0"/>
                <a:ea typeface="Paperlogy 6 SemiBold" pitchFamily="34" charset="-122"/>
                <a:cs typeface="Paperlogy 6 SemiBold" pitchFamily="34" charset="-120"/>
              </a:rPr>
              <a:t>자연 속 휴식</a:t>
            </a:r>
            <a:endParaRPr lang="en-US" sz="1250" dirty="0"/>
          </a:p>
        </p:txBody>
      </p:sp>
      <p:sp>
        <p:nvSpPr>
          <p:cNvPr id="32" name="글상자 31"/>
          <p:cNvSpPr txBox="1"/>
          <p:nvPr/>
        </p:nvSpPr>
        <p:spPr>
          <a:xfrm>
            <a:off x="7526335" y="3952768"/>
            <a:ext cx="1018459" cy="238110"/>
          </a:xfrm>
          <a:prstGeom prst="rect">
            <a:avLst/>
          </a:prstGeom>
          <a:noFill/>
          <a:ln/>
        </p:spPr>
        <p:txBody>
          <a:bodyPr wrap="none" lIns="0" tIns="0" rIns="0" bIns="0" rtlCol="0" anchor="ctr"/>
          <a:lstStyle/>
          <a:p>
            <a:pPr algn="l" indent="0" marL="0">
              <a:buNone/>
            </a:pPr>
            <a:r>
              <a:rPr lang="ko-KR" altLang="en-US" sz="1250" spc="-14" kern="0" dirty="0">
                <a:solidFill>
                  <a:srgbClr val="2E3A1B"/>
                </a:solidFill>
                <a:latin typeface="Paperlogy 6 SemiBold" pitchFamily="34" charset="0"/>
                <a:ea typeface="Paperlogy 6 SemiBold" pitchFamily="34" charset="-122"/>
                <a:cs typeface="Paperlogy 6 SemiBold" pitchFamily="34" charset="-120"/>
              </a:rPr>
              <a:t>감성적인 공간</a:t>
            </a:r>
            <a:endParaRPr lang="en-US" sz="1250" dirty="0"/>
          </a:p>
        </p:txBody>
      </p:sp>
      <p:sp>
        <p:nvSpPr>
          <p:cNvPr id="33" name="글상자 32"/>
          <p:cNvSpPr txBox="1"/>
          <p:nvPr/>
        </p:nvSpPr>
        <p:spPr>
          <a:xfrm>
            <a:off x="4654570" y="4549689"/>
            <a:ext cx="697504" cy="161940"/>
          </a:xfrm>
          <a:prstGeom prst="rect">
            <a:avLst/>
          </a:prstGeom>
          <a:noFill/>
          <a:ln/>
        </p:spPr>
        <p:txBody>
          <a:bodyPr wrap="none" lIns="0" tIns="0" rIns="0" bIns="0" rtlCol="0" anchor="ctr"/>
          <a:lstStyle/>
          <a:p>
            <a:pPr algn="l" indent="0" marL="0">
              <a:buNone/>
            </a:pPr>
            <a:r>
              <a:rPr lang="ko-KR" altLang="en-US" sz="850" spc="85" kern="0" dirty="0">
                <a:solidFill>
                  <a:srgbClr val="646D40"/>
                </a:solidFill>
                <a:latin typeface="Paperlogy 8 ExtraBold" pitchFamily="34" charset="0"/>
                <a:ea typeface="Paperlogy 8 ExtraBold" pitchFamily="34" charset="-122"/>
                <a:cs typeface="Paperlogy 8 ExtraBold" pitchFamily="34" charset="-120"/>
              </a:rPr>
              <a:t>확인된 사실</a:t>
            </a:r>
            <a:endParaRPr lang="en-US" sz="850" dirty="0"/>
          </a:p>
        </p:txBody>
      </p:sp>
      <p:sp>
        <p:nvSpPr>
          <p:cNvPr id="34" name="글상자 33"/>
          <p:cNvSpPr txBox="1"/>
          <p:nvPr/>
        </p:nvSpPr>
        <p:spPr>
          <a:xfrm>
            <a:off x="4654570" y="4745370"/>
            <a:ext cx="2094982" cy="628650"/>
          </a:xfrm>
          <a:prstGeom prst="rect">
            <a:avLst/>
          </a:prstGeom>
          <a:noFill/>
          <a:ln/>
        </p:spPr>
        <p:txBody>
          <a:bodyPr wrap="none" lIns="0" tIns="0" rIns="0" bIns="0" rtlCol="0" anchor="ctr"/>
          <a:lstStyle/>
          <a:p>
            <a:pPr algn="l" indent="0" marL="0">
              <a:lnSpc>
                <a:spcPts val="1650"/>
              </a:lnSpc>
              <a:buNone/>
            </a:pPr>
            <a:r>
              <a:rPr lang="ko-KR" altLang="en-US" sz="1100" spc="-14" kern="0" dirty="0">
                <a:solidFill>
                  <a:srgbClr val="45512A"/>
                </a:solidFill>
                <a:latin typeface="Paperlogy 4 Regular" pitchFamily="34" charset="0"/>
                <a:ea typeface="Paperlogy 4 Regular" pitchFamily="34" charset="-122"/>
                <a:cs typeface="Paperlogy 4 Regular" pitchFamily="34" charset="-120"/>
              </a:rPr>
              <a:t>국내여행 1인당 연 6.5회·10.2일,</a:t>
            </a:r>
            <a:endParaRPr lang="en-US" sz="1100" dirty="0"/>
          </a:p>
          <a:p>
            <a:pPr algn="l" indent="0" marL="0">
              <a:lnSpc>
                <a:spcPts val="1650"/>
              </a:lnSpc>
              <a:buNone/>
            </a:pPr>
            <a:r>
              <a:rPr lang="ko-KR" altLang="en-US" sz="1100" spc="-14" kern="0" dirty="0">
                <a:solidFill>
                  <a:srgbClr val="45512A"/>
                </a:solidFill>
                <a:latin typeface="Paperlogy 4 Regular" pitchFamily="34" charset="0"/>
                <a:ea typeface="Paperlogy 4 Regular" pitchFamily="34" charset="-122"/>
                <a:cs typeface="Paperlogy 4 Regular" pitchFamily="34" charset="-120"/>
              </a:rPr>
              <a:t>전체 패키지 구매 비율 76.0% →</a:t>
            </a:r>
            <a:endParaRPr lang="en-US" sz="1100" dirty="0"/>
          </a:p>
          <a:p>
            <a:pPr algn="l" indent="0" marL="0">
              <a:lnSpc>
                <a:spcPts val="1650"/>
              </a:lnSpc>
              <a:buNone/>
            </a:pPr>
            <a:r>
              <a:rPr lang="ko-KR" altLang="en-US" sz="1100" spc="-14" kern="0" dirty="0">
                <a:solidFill>
                  <a:srgbClr val="45512A"/>
                </a:solidFill>
                <a:latin typeface="Paperlogy 4 Regular" pitchFamily="34" charset="0"/>
                <a:ea typeface="Paperlogy 4 Regular" pitchFamily="34" charset="-122"/>
                <a:cs typeface="Paperlogy 4 Regular" pitchFamily="34" charset="-120"/>
              </a:rPr>
              <a:t>79.5%</a:t>
            </a:r>
            <a:endParaRPr lang="en-US" sz="1100" dirty="0"/>
          </a:p>
        </p:txBody>
      </p:sp>
      <p:sp>
        <p:nvSpPr>
          <p:cNvPr id="35" name="글상자 34"/>
          <p:cNvSpPr txBox="1"/>
          <p:nvPr/>
        </p:nvSpPr>
        <p:spPr>
          <a:xfrm>
            <a:off x="6976506" y="4549689"/>
            <a:ext cx="317480" cy="161940"/>
          </a:xfrm>
          <a:prstGeom prst="rect">
            <a:avLst/>
          </a:prstGeom>
          <a:noFill/>
          <a:ln/>
        </p:spPr>
        <p:txBody>
          <a:bodyPr wrap="none" lIns="0" tIns="0" rIns="0" bIns="0" rtlCol="0" anchor="ctr"/>
          <a:lstStyle/>
          <a:p>
            <a:pPr algn="l" indent="0" marL="0">
              <a:buNone/>
            </a:pPr>
            <a:r>
              <a:rPr lang="ko-KR" altLang="en-US" sz="850" spc="85" kern="0" dirty="0">
                <a:solidFill>
                  <a:srgbClr val="646D40"/>
                </a:solidFill>
                <a:latin typeface="Paperlogy 8 ExtraBold" pitchFamily="34" charset="0"/>
                <a:ea typeface="Paperlogy 8 ExtraBold" pitchFamily="34" charset="-122"/>
                <a:cs typeface="Paperlogy 8 ExtraBold" pitchFamily="34" charset="-120"/>
              </a:rPr>
              <a:t>해석</a:t>
            </a:r>
            <a:endParaRPr lang="en-US" sz="850" dirty="0"/>
          </a:p>
        </p:txBody>
      </p:sp>
      <p:sp>
        <p:nvSpPr>
          <p:cNvPr id="36" name="글상자 35"/>
          <p:cNvSpPr txBox="1"/>
          <p:nvPr/>
        </p:nvSpPr>
        <p:spPr>
          <a:xfrm>
            <a:off x="6976506" y="4745370"/>
            <a:ext cx="2242017" cy="419070"/>
          </a:xfrm>
          <a:prstGeom prst="rect">
            <a:avLst/>
          </a:prstGeom>
          <a:noFill/>
          <a:ln/>
        </p:spPr>
        <p:txBody>
          <a:bodyPr wrap="none" lIns="0" tIns="0" rIns="0" bIns="0" rtlCol="0" anchor="ctr"/>
          <a:lstStyle/>
          <a:p>
            <a:pPr algn="l" indent="0" marL="0">
              <a:lnSpc>
                <a:spcPts val="1650"/>
              </a:lnSpc>
              <a:buNone/>
            </a:pPr>
            <a:r>
              <a:rPr lang="ko-KR" altLang="en-US" sz="1100" spc="-14" kern="0" dirty="0">
                <a:solidFill>
                  <a:srgbClr val="45512A"/>
                </a:solidFill>
                <a:latin typeface="Paperlogy 4 Regular" pitchFamily="34" charset="0"/>
                <a:ea typeface="Paperlogy 4 Regular" pitchFamily="34" charset="-122"/>
                <a:cs typeface="Paperlogy 4 Regular" pitchFamily="34" charset="-120"/>
              </a:rPr>
              <a:t>짧은 여행을 자주 떠나고, 일정이 짜인</a:t>
            </a:r>
            <a:endParaRPr lang="en-US" sz="1100" dirty="0"/>
          </a:p>
          <a:p>
            <a:pPr algn="l" indent="0" marL="0">
              <a:lnSpc>
                <a:spcPts val="1650"/>
              </a:lnSpc>
              <a:buNone/>
            </a:pPr>
            <a:r>
              <a:rPr lang="ko-KR" altLang="en-US" sz="1100" spc="-14" kern="0" dirty="0">
                <a:solidFill>
                  <a:srgbClr val="45512A"/>
                </a:solidFill>
                <a:latin typeface="Paperlogy 4 Regular" pitchFamily="34" charset="0"/>
                <a:ea typeface="Paperlogy 4 Regular" pitchFamily="34" charset="-122"/>
                <a:cs typeface="Paperlogy 4 Regular" pitchFamily="34" charset="-120"/>
              </a:rPr>
              <a:t>상품을 고르는 경향이 커지고 있다.</a:t>
            </a:r>
            <a:endParaRPr lang="en-US" sz="1100" dirty="0"/>
          </a:p>
        </p:txBody>
      </p:sp>
      <p:sp>
        <p:nvSpPr>
          <p:cNvPr id="37" name="글상자 36"/>
          <p:cNvSpPr txBox="1"/>
          <p:nvPr/>
        </p:nvSpPr>
        <p:spPr>
          <a:xfrm>
            <a:off x="9292133" y="4549689"/>
            <a:ext cx="317480" cy="161940"/>
          </a:xfrm>
          <a:prstGeom prst="rect">
            <a:avLst/>
          </a:prstGeom>
          <a:noFill/>
          <a:ln/>
        </p:spPr>
        <p:txBody>
          <a:bodyPr wrap="none" lIns="0" tIns="0" rIns="0" bIns="0" rtlCol="0" anchor="ctr"/>
          <a:lstStyle/>
          <a:p>
            <a:pPr algn="l" indent="0" marL="0">
              <a:buNone/>
            </a:pPr>
            <a:r>
              <a:rPr lang="ko-KR" altLang="en-US" sz="850" spc="85" kern="0" dirty="0">
                <a:solidFill>
                  <a:srgbClr val="646D40"/>
                </a:solidFill>
                <a:latin typeface="Paperlogy 8 ExtraBold" pitchFamily="34" charset="0"/>
                <a:ea typeface="Paperlogy 8 ExtraBold" pitchFamily="34" charset="-122"/>
                <a:cs typeface="Paperlogy 8 ExtraBold" pitchFamily="34" charset="-120"/>
              </a:rPr>
              <a:t>가설</a:t>
            </a:r>
            <a:endParaRPr lang="en-US" sz="850" dirty="0"/>
          </a:p>
        </p:txBody>
      </p:sp>
      <p:sp>
        <p:nvSpPr>
          <p:cNvPr id="38" name="글상자 37"/>
          <p:cNvSpPr txBox="1"/>
          <p:nvPr/>
        </p:nvSpPr>
        <p:spPr>
          <a:xfrm>
            <a:off x="9292133" y="4745370"/>
            <a:ext cx="2108058" cy="419070"/>
          </a:xfrm>
          <a:prstGeom prst="rect">
            <a:avLst/>
          </a:prstGeom>
          <a:noFill/>
          <a:ln/>
        </p:spPr>
        <p:txBody>
          <a:bodyPr wrap="none" lIns="0" tIns="0" rIns="0" bIns="0" rtlCol="0" anchor="ctr"/>
          <a:lstStyle/>
          <a:p>
            <a:pPr algn="l" indent="0" marL="0">
              <a:lnSpc>
                <a:spcPts val="1650"/>
              </a:lnSpc>
              <a:buNone/>
            </a:pPr>
            <a:r>
              <a:rPr lang="ko-KR" altLang="en-US" sz="1100" spc="-14" kern="0" dirty="0">
                <a:solidFill>
                  <a:srgbClr val="45512A"/>
                </a:solidFill>
                <a:latin typeface="Paperlogy 4 Regular" pitchFamily="34" charset="0"/>
                <a:ea typeface="Paperlogy 4 Regular" pitchFamily="34" charset="-122"/>
                <a:cs typeface="Paperlogy 4 Regular" pitchFamily="34" charset="-120"/>
              </a:rPr>
              <a:t>20~30대 직장인은 짧고 여유로운</a:t>
            </a:r>
            <a:endParaRPr lang="en-US" sz="1100" dirty="0"/>
          </a:p>
          <a:p>
            <a:pPr algn="l" indent="0" marL="0">
              <a:lnSpc>
                <a:spcPts val="1650"/>
              </a:lnSpc>
              <a:buNone/>
            </a:pPr>
            <a:r>
              <a:rPr lang="ko-KR" altLang="en-US" sz="1100" spc="-14" kern="0" dirty="0">
                <a:solidFill>
                  <a:srgbClr val="45512A"/>
                </a:solidFill>
                <a:latin typeface="Paperlogy 4 Regular" pitchFamily="34" charset="0"/>
                <a:ea typeface="Paperlogy 4 Regular" pitchFamily="34" charset="-122"/>
                <a:cs typeface="Paperlogy 4 Regular" pitchFamily="34" charset="-120"/>
              </a:rPr>
              <a:t>당일 휴식형 여행을 원할 수 있다.</a:t>
            </a:r>
            <a:endParaRPr lang="en-US" sz="1100" dirty="0"/>
          </a:p>
        </p:txBody>
      </p:sp>
      <p:sp>
        <p:nvSpPr>
          <p:cNvPr id="39" name="글상자 38"/>
          <p:cNvSpPr txBox="1"/>
          <p:nvPr/>
        </p:nvSpPr>
        <p:spPr>
          <a:xfrm>
            <a:off x="4508541" y="6316675"/>
            <a:ext cx="5936285" cy="180960"/>
          </a:xfrm>
          <a:prstGeom prst="rect">
            <a:avLst/>
          </a:prstGeom>
          <a:noFill/>
          <a:ln/>
        </p:spPr>
        <p:txBody>
          <a:bodyPr wrap="none" lIns="0" tIns="0" rIns="0" bIns="0" rtlCol="0" anchor="ctr"/>
          <a:lstStyle/>
          <a:p>
            <a:pPr algn="l" indent="0" marL="0">
              <a:buNone/>
            </a:pPr>
            <a:r>
              <a:rPr lang="ko-KR" altLang="en-US" sz="950" spc="10" kern="0" dirty="0">
                <a:solidFill>
                  <a:srgbClr val="646D40"/>
                </a:solidFill>
                <a:latin typeface="Paperlogy 4 Regular" pitchFamily="34" charset="0"/>
                <a:ea typeface="Paperlogy 4 Regular" pitchFamily="34" charset="-122"/>
                <a:cs typeface="Paperlogy 4 Regular" pitchFamily="34" charset="-120"/>
              </a:rPr>
              <a:t>출처 문화체육관광부·한국문화관광연구원 「2025년 국민여행조사」(2026.06.30 발표) · 조사일 2026.10.19</a:t>
            </a:r>
            <a:endParaRPr lang="en-US" sz="950" dirty="0"/>
          </a:p>
        </p:txBody>
      </p:sp>
      <p:sp>
        <p:nvSpPr>
          <p:cNvPr id="40" name="글상자 39"/>
          <p:cNvSpPr txBox="1"/>
          <p:nvPr/>
        </p:nvSpPr>
        <p:spPr>
          <a:xfrm>
            <a:off x="10996849" y="6316675"/>
            <a:ext cx="597926" cy="180960"/>
          </a:xfrm>
          <a:prstGeom prst="rect">
            <a:avLst/>
          </a:prstGeom>
          <a:noFill/>
          <a:ln/>
        </p:spPr>
        <p:txBody>
          <a:bodyPr wrap="none" lIns="0" tIns="0" rIns="0" bIns="0" rtlCol="0" anchor="ctr"/>
          <a:lstStyle/>
          <a:p>
            <a:pPr algn="l" indent="0" marL="0">
              <a:buNone/>
            </a:pPr>
            <a:r>
              <a:rPr lang="ko-KR" altLang="en-US" sz="950" spc="57" kern="0" dirty="0">
                <a:solidFill>
                  <a:srgbClr val="2E3A1B"/>
                </a:solidFill>
                <a:latin typeface="Paperlogy 7 Bold" pitchFamily="34" charset="0"/>
                <a:ea typeface="Paperlogy 7 Bold" pitchFamily="34" charset="-122"/>
                <a:cs typeface="Paperlogy 7 Bold" pitchFamily="34" charset="-120"/>
              </a:rPr>
              <a:t>04 / 10</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6"/>
        </a:solidFill>
      </p:bgPr>
    </p:bg>
    <p:spTree>
      <p:nvGrpSpPr>
        <p:cNvPr id="1" name=""/>
        <p:cNvGrpSpPr/>
        <p:nvPr/>
      </p:nvGrpSpPr>
      <p:grpSpPr>
        <a:xfrm>
          <a:off x="0" y="0"/>
          <a:ext cx="0" cy="0"/>
          <a:chOff x="0" y="0"/>
          <a:chExt cx="0" cy="0"/>
        </a:xfrm>
      </p:grpSpPr>
      <p:sp>
        <p:nvSpPr>
          <p:cNvPr id="2" name="선 1"/>
          <p:cNvSpPr/>
          <p:nvPr/>
        </p:nvSpPr>
        <p:spPr>
          <a:xfrm>
            <a:off x="711220" y="658825"/>
            <a:ext cx="254020" cy="0"/>
          </a:xfrm>
          <a:prstGeom prst="line">
            <a:avLst/>
          </a:prstGeom>
          <a:noFill/>
          <a:ln w="12700">
            <a:solidFill>
              <a:srgbClr val="737F4A"/>
            </a:solidFill>
            <a:prstDash val="solid"/>
          </a:ln>
        </p:spPr>
      </p:sp>
      <p:sp>
        <p:nvSpPr>
          <p:cNvPr id="3" name="상자 2"/>
          <p:cNvSpPr/>
          <p:nvPr/>
        </p:nvSpPr>
        <p:spPr>
          <a:xfrm>
            <a:off x="1402598" y="1601663"/>
            <a:ext cx="3286354" cy="673090"/>
          </a:xfrm>
          <a:prstGeom prst="roundRect">
            <a:avLst>
              <a:gd name="adj" fmla="val 10855"/>
            </a:avLst>
          </a:prstGeom>
          <a:solidFill>
            <a:srgbClr val="FBF9F3"/>
          </a:solidFill>
          <a:ln w="6350">
            <a:solidFill>
              <a:srgbClr val="D5CEB8"/>
            </a:solidFill>
            <a:prstDash val="solid"/>
          </a:ln>
        </p:spPr>
      </p:sp>
      <p:sp>
        <p:nvSpPr>
          <p:cNvPr id="4" name="상자 3"/>
          <p:cNvSpPr/>
          <p:nvPr/>
        </p:nvSpPr>
        <p:spPr>
          <a:xfrm>
            <a:off x="4796851" y="1601663"/>
            <a:ext cx="3286445" cy="673090"/>
          </a:xfrm>
          <a:prstGeom prst="roundRect">
            <a:avLst>
              <a:gd name="adj" fmla="val 10855"/>
            </a:avLst>
          </a:prstGeom>
          <a:solidFill>
            <a:srgbClr val="FBF9F3"/>
          </a:solidFill>
          <a:ln w="6350">
            <a:solidFill>
              <a:srgbClr val="D5CEB8"/>
            </a:solidFill>
            <a:prstDash val="solid"/>
          </a:ln>
        </p:spPr>
      </p:sp>
      <p:sp>
        <p:nvSpPr>
          <p:cNvPr id="5" name="상자 4"/>
          <p:cNvSpPr/>
          <p:nvPr/>
        </p:nvSpPr>
        <p:spPr>
          <a:xfrm>
            <a:off x="8191195" y="1601663"/>
            <a:ext cx="3286445" cy="673090"/>
          </a:xfrm>
          <a:prstGeom prst="roundRect">
            <a:avLst>
              <a:gd name="adj" fmla="val 10855"/>
            </a:avLst>
          </a:prstGeom>
          <a:solidFill>
            <a:srgbClr val="FBF9F3"/>
          </a:solidFill>
          <a:ln w="6350">
            <a:solidFill>
              <a:srgbClr val="D5CEB8"/>
            </a:solidFill>
            <a:prstDash val="solid"/>
          </a:ln>
        </p:spPr>
      </p:sp>
      <p:sp>
        <p:nvSpPr>
          <p:cNvPr id="6" name="선 5"/>
          <p:cNvSpPr/>
          <p:nvPr/>
        </p:nvSpPr>
        <p:spPr>
          <a:xfrm>
            <a:off x="711220" y="2458913"/>
            <a:ext cx="5257800" cy="0"/>
          </a:xfrm>
          <a:prstGeom prst="line">
            <a:avLst/>
          </a:prstGeom>
          <a:noFill/>
          <a:ln w="6350">
            <a:solidFill>
              <a:srgbClr val="D5CEB8"/>
            </a:solidFill>
            <a:prstDash val="solid"/>
          </a:ln>
        </p:spPr>
      </p:sp>
      <p:sp>
        <p:nvSpPr>
          <p:cNvPr id="7" name="선 6"/>
          <p:cNvSpPr/>
          <p:nvPr/>
        </p:nvSpPr>
        <p:spPr>
          <a:xfrm>
            <a:off x="711220" y="3123682"/>
            <a:ext cx="5257800" cy="0"/>
          </a:xfrm>
          <a:prstGeom prst="line">
            <a:avLst/>
          </a:prstGeom>
          <a:noFill/>
          <a:ln w="6350">
            <a:solidFill>
              <a:srgbClr val="D5CEB8"/>
            </a:solidFill>
            <a:prstDash val="solid"/>
          </a:ln>
        </p:spPr>
      </p:sp>
      <p:sp>
        <p:nvSpPr>
          <p:cNvPr id="8" name="선 7"/>
          <p:cNvSpPr/>
          <p:nvPr/>
        </p:nvSpPr>
        <p:spPr>
          <a:xfrm>
            <a:off x="711220" y="3788451"/>
            <a:ext cx="5257800" cy="0"/>
          </a:xfrm>
          <a:prstGeom prst="line">
            <a:avLst/>
          </a:prstGeom>
          <a:noFill/>
          <a:ln w="6350">
            <a:solidFill>
              <a:srgbClr val="D5CEB8"/>
            </a:solidFill>
            <a:prstDash val="solid"/>
          </a:ln>
        </p:spPr>
      </p:sp>
      <p:sp>
        <p:nvSpPr>
          <p:cNvPr id="9" name="선 8"/>
          <p:cNvSpPr/>
          <p:nvPr/>
        </p:nvSpPr>
        <p:spPr>
          <a:xfrm>
            <a:off x="711220" y="4453219"/>
            <a:ext cx="5257800" cy="0"/>
          </a:xfrm>
          <a:prstGeom prst="line">
            <a:avLst/>
          </a:prstGeom>
          <a:noFill/>
          <a:ln w="6350">
            <a:solidFill>
              <a:srgbClr val="D5CEB8"/>
            </a:solidFill>
            <a:prstDash val="solid"/>
          </a:ln>
        </p:spPr>
      </p:sp>
      <p:sp>
        <p:nvSpPr>
          <p:cNvPr id="10" name="상자 9"/>
          <p:cNvSpPr/>
          <p:nvPr/>
        </p:nvSpPr>
        <p:spPr>
          <a:xfrm>
            <a:off x="711220" y="5114788"/>
            <a:ext cx="5257800" cy="671078"/>
          </a:xfrm>
          <a:prstGeom prst="rect">
            <a:avLst/>
          </a:prstGeom>
          <a:solidFill>
            <a:srgbClr val="DDE3C7"/>
          </a:solidFill>
          <a:ln/>
        </p:spPr>
      </p:sp>
      <p:sp>
        <p:nvSpPr>
          <p:cNvPr id="11" name="선 10"/>
          <p:cNvSpPr/>
          <p:nvPr/>
        </p:nvSpPr>
        <p:spPr>
          <a:xfrm>
            <a:off x="711220" y="5117988"/>
            <a:ext cx="5257800" cy="0"/>
          </a:xfrm>
          <a:prstGeom prst="line">
            <a:avLst/>
          </a:prstGeom>
          <a:noFill/>
          <a:ln w="6350">
            <a:solidFill>
              <a:srgbClr val="D5CEB8"/>
            </a:solidFill>
            <a:prstDash val="solid"/>
          </a:ln>
        </p:spPr>
      </p:sp>
      <p:sp>
        <p:nvSpPr>
          <p:cNvPr id="12" name="선 11"/>
          <p:cNvSpPr/>
          <p:nvPr/>
        </p:nvSpPr>
        <p:spPr>
          <a:xfrm>
            <a:off x="711220" y="5782757"/>
            <a:ext cx="5257800" cy="0"/>
          </a:xfrm>
          <a:prstGeom prst="line">
            <a:avLst/>
          </a:prstGeom>
          <a:noFill/>
          <a:ln w="6350">
            <a:solidFill>
              <a:srgbClr val="D5CEB8"/>
            </a:solidFill>
            <a:prstDash val="solid"/>
          </a:ln>
        </p:spPr>
      </p:sp>
      <p:sp>
        <p:nvSpPr>
          <p:cNvPr id="13" name="상자 12"/>
          <p:cNvSpPr/>
          <p:nvPr/>
        </p:nvSpPr>
        <p:spPr>
          <a:xfrm>
            <a:off x="5241981" y="5348783"/>
            <a:ext cx="596829" cy="203180"/>
          </a:xfrm>
          <a:prstGeom prst="roundRect">
            <a:avLst>
              <a:gd name="adj" fmla="val 50000"/>
            </a:avLst>
          </a:prstGeom>
          <a:solidFill>
            <a:srgbClr val="DDE3C7"/>
          </a:solidFill>
          <a:ln w="6350">
            <a:solidFill>
              <a:srgbClr val="B5C092"/>
            </a:solidFill>
            <a:prstDash val="solid"/>
          </a:ln>
        </p:spPr>
      </p:sp>
      <p:sp>
        <p:nvSpPr>
          <p:cNvPr id="14" name="상자 13"/>
          <p:cNvSpPr/>
          <p:nvPr/>
        </p:nvSpPr>
        <p:spPr>
          <a:xfrm>
            <a:off x="6223041" y="2455804"/>
            <a:ext cx="5257800" cy="664769"/>
          </a:xfrm>
          <a:prstGeom prst="rect">
            <a:avLst/>
          </a:prstGeom>
          <a:solidFill>
            <a:srgbClr val="DDE3C7"/>
          </a:solidFill>
          <a:ln/>
        </p:spPr>
      </p:sp>
      <p:sp>
        <p:nvSpPr>
          <p:cNvPr id="15" name="선 14"/>
          <p:cNvSpPr/>
          <p:nvPr/>
        </p:nvSpPr>
        <p:spPr>
          <a:xfrm>
            <a:off x="6223041" y="2458913"/>
            <a:ext cx="5257800" cy="0"/>
          </a:xfrm>
          <a:prstGeom prst="line">
            <a:avLst/>
          </a:prstGeom>
          <a:noFill/>
          <a:ln w="6350">
            <a:solidFill>
              <a:srgbClr val="D5CEB8"/>
            </a:solidFill>
            <a:prstDash val="solid"/>
          </a:ln>
        </p:spPr>
      </p:sp>
      <p:sp>
        <p:nvSpPr>
          <p:cNvPr id="16" name="상자 15"/>
          <p:cNvSpPr/>
          <p:nvPr/>
        </p:nvSpPr>
        <p:spPr>
          <a:xfrm>
            <a:off x="10753801" y="2689708"/>
            <a:ext cx="596829" cy="203180"/>
          </a:xfrm>
          <a:prstGeom prst="roundRect">
            <a:avLst>
              <a:gd name="adj" fmla="val 50000"/>
            </a:avLst>
          </a:prstGeom>
          <a:solidFill>
            <a:srgbClr val="DDE3C7"/>
          </a:solidFill>
          <a:ln w="6350">
            <a:solidFill>
              <a:srgbClr val="B5C092"/>
            </a:solidFill>
            <a:prstDash val="solid"/>
          </a:ln>
        </p:spPr>
      </p:sp>
      <p:sp>
        <p:nvSpPr>
          <p:cNvPr id="17" name="선 16"/>
          <p:cNvSpPr/>
          <p:nvPr/>
        </p:nvSpPr>
        <p:spPr>
          <a:xfrm>
            <a:off x="6223041" y="3123682"/>
            <a:ext cx="5257800" cy="0"/>
          </a:xfrm>
          <a:prstGeom prst="line">
            <a:avLst/>
          </a:prstGeom>
          <a:noFill/>
          <a:ln w="6350">
            <a:solidFill>
              <a:srgbClr val="D5CEB8"/>
            </a:solidFill>
            <a:prstDash val="solid"/>
          </a:ln>
        </p:spPr>
      </p:sp>
      <p:sp>
        <p:nvSpPr>
          <p:cNvPr id="18" name="선 17"/>
          <p:cNvSpPr/>
          <p:nvPr/>
        </p:nvSpPr>
        <p:spPr>
          <a:xfrm>
            <a:off x="6223041" y="3788451"/>
            <a:ext cx="5257800" cy="0"/>
          </a:xfrm>
          <a:prstGeom prst="line">
            <a:avLst/>
          </a:prstGeom>
          <a:noFill/>
          <a:ln w="6350">
            <a:solidFill>
              <a:srgbClr val="D5CEB8"/>
            </a:solidFill>
            <a:prstDash val="solid"/>
          </a:ln>
        </p:spPr>
      </p:sp>
      <p:sp>
        <p:nvSpPr>
          <p:cNvPr id="19" name="선 18"/>
          <p:cNvSpPr/>
          <p:nvPr/>
        </p:nvSpPr>
        <p:spPr>
          <a:xfrm>
            <a:off x="6223041" y="4453219"/>
            <a:ext cx="5257800" cy="0"/>
          </a:xfrm>
          <a:prstGeom prst="line">
            <a:avLst/>
          </a:prstGeom>
          <a:noFill/>
          <a:ln w="6350">
            <a:solidFill>
              <a:srgbClr val="D5CEB8"/>
            </a:solidFill>
            <a:prstDash val="solid"/>
          </a:ln>
        </p:spPr>
      </p:sp>
      <p:sp>
        <p:nvSpPr>
          <p:cNvPr id="20" name="상자 19"/>
          <p:cNvSpPr/>
          <p:nvPr/>
        </p:nvSpPr>
        <p:spPr>
          <a:xfrm>
            <a:off x="6223041" y="5114788"/>
            <a:ext cx="5257800" cy="671078"/>
          </a:xfrm>
          <a:prstGeom prst="rect">
            <a:avLst/>
          </a:prstGeom>
          <a:solidFill>
            <a:srgbClr val="DDE3C7"/>
          </a:solidFill>
          <a:ln/>
        </p:spPr>
      </p:sp>
      <p:sp>
        <p:nvSpPr>
          <p:cNvPr id="21" name="선 20"/>
          <p:cNvSpPr/>
          <p:nvPr/>
        </p:nvSpPr>
        <p:spPr>
          <a:xfrm>
            <a:off x="6223041" y="5117988"/>
            <a:ext cx="5257800" cy="0"/>
          </a:xfrm>
          <a:prstGeom prst="line">
            <a:avLst/>
          </a:prstGeom>
          <a:noFill/>
          <a:ln w="6350">
            <a:solidFill>
              <a:srgbClr val="D5CEB8"/>
            </a:solidFill>
            <a:prstDash val="solid"/>
          </a:ln>
        </p:spPr>
      </p:sp>
      <p:sp>
        <p:nvSpPr>
          <p:cNvPr id="22" name="선 21"/>
          <p:cNvSpPr/>
          <p:nvPr/>
        </p:nvSpPr>
        <p:spPr>
          <a:xfrm>
            <a:off x="6223041" y="5782757"/>
            <a:ext cx="5257800" cy="0"/>
          </a:xfrm>
          <a:prstGeom prst="line">
            <a:avLst/>
          </a:prstGeom>
          <a:noFill/>
          <a:ln w="6350">
            <a:solidFill>
              <a:srgbClr val="D5CEB8"/>
            </a:solidFill>
            <a:prstDash val="solid"/>
          </a:ln>
        </p:spPr>
      </p:sp>
      <p:sp>
        <p:nvSpPr>
          <p:cNvPr id="23" name="상자 22"/>
          <p:cNvSpPr/>
          <p:nvPr/>
        </p:nvSpPr>
        <p:spPr>
          <a:xfrm>
            <a:off x="10753801" y="5348783"/>
            <a:ext cx="596829" cy="203180"/>
          </a:xfrm>
          <a:prstGeom prst="roundRect">
            <a:avLst>
              <a:gd name="adj" fmla="val 50000"/>
            </a:avLst>
          </a:prstGeom>
          <a:solidFill>
            <a:srgbClr val="DDE3C7"/>
          </a:solidFill>
          <a:ln w="6350">
            <a:solidFill>
              <a:srgbClr val="B5C092"/>
            </a:solidFill>
            <a:prstDash val="solid"/>
          </a:ln>
        </p:spPr>
      </p:sp>
      <p:sp>
        <p:nvSpPr>
          <p:cNvPr id="24" name="선 23"/>
          <p:cNvSpPr/>
          <p:nvPr/>
        </p:nvSpPr>
        <p:spPr>
          <a:xfrm>
            <a:off x="711220" y="6203930"/>
            <a:ext cx="10769620" cy="0"/>
          </a:xfrm>
          <a:prstGeom prst="line">
            <a:avLst/>
          </a:prstGeom>
          <a:noFill/>
          <a:ln w="6350">
            <a:solidFill>
              <a:srgbClr val="D5CEB8"/>
            </a:solidFill>
            <a:prstDash val="solid"/>
          </a:ln>
        </p:spPr>
      </p:sp>
      <p:sp>
        <p:nvSpPr>
          <p:cNvPr id="25" name="글상자 24"/>
          <p:cNvSpPr txBox="1"/>
          <p:nvPr/>
        </p:nvSpPr>
        <p:spPr>
          <a:xfrm>
            <a:off x="1054120" y="557235"/>
            <a:ext cx="1961388" cy="200071"/>
          </a:xfrm>
          <a:prstGeom prst="rect">
            <a:avLst/>
          </a:prstGeom>
          <a:noFill/>
          <a:ln/>
        </p:spPr>
        <p:txBody>
          <a:bodyPr wrap="none" lIns="0" tIns="0" rIns="0" bIns="0" rtlCol="0" anchor="ctr"/>
          <a:lstStyle/>
          <a:p>
            <a:pPr algn="l" indent="0" marL="0">
              <a:buNone/>
            </a:pPr>
            <a:r>
              <a:rPr lang="ko-KR" altLang="en-US" sz="1050" spc="231" kern="0" dirty="0">
                <a:solidFill>
                  <a:srgbClr val="646D40"/>
                </a:solidFill>
                <a:latin typeface="Paperlogy 6 SemiBold" pitchFamily="34" charset="0"/>
                <a:ea typeface="Paperlogy 6 SemiBold" pitchFamily="34" charset="-122"/>
                <a:cs typeface="Paperlogy 6 SemiBold" pitchFamily="34" charset="-120"/>
              </a:rPr>
              <a:t>IDEA GENERATION</a:t>
            </a:r>
            <a:endParaRPr lang="en-US" sz="1050" dirty="0"/>
          </a:p>
        </p:txBody>
      </p:sp>
      <p:sp>
        <p:nvSpPr>
          <p:cNvPr id="26" name="글상자 25"/>
          <p:cNvSpPr txBox="1"/>
          <p:nvPr/>
        </p:nvSpPr>
        <p:spPr>
          <a:xfrm>
            <a:off x="698510" y="833750"/>
            <a:ext cx="7071604" cy="561350"/>
          </a:xfrm>
          <a:prstGeom prst="rect">
            <a:avLst/>
          </a:prstGeom>
          <a:noFill/>
          <a:ln/>
        </p:spPr>
        <p:txBody>
          <a:bodyPr wrap="none" lIns="0" tIns="0" rIns="0" bIns="0" rtlCol="0" anchor="ctr"/>
          <a:lstStyle/>
          <a:p>
            <a:pPr algn="l" indent="0" marL="0">
              <a:buNone/>
            </a:pPr>
            <a:r>
              <a:rPr lang="ko-KR" altLang="en-US" sz="3400" spc="-102" kern="0" dirty="0">
                <a:solidFill>
                  <a:srgbClr val="2E3A1B"/>
                </a:solidFill>
                <a:latin typeface="Paperlogy 7 Bold" pitchFamily="34" charset="0"/>
                <a:ea typeface="Paperlogy 7 Bold" pitchFamily="34" charset="-122"/>
                <a:cs typeface="Paperlogy 7 Bold" pitchFamily="34" charset="-120"/>
              </a:rPr>
              <a:t>하나의 쉼표를 만들기 위한 10가지 생각</a:t>
            </a:r>
            <a:endParaRPr lang="en-US" sz="3400" dirty="0"/>
          </a:p>
        </p:txBody>
      </p:sp>
      <p:sp>
        <p:nvSpPr>
          <p:cNvPr id="27" name="글상자 26"/>
          <p:cNvSpPr txBox="1"/>
          <p:nvPr/>
        </p:nvSpPr>
        <p:spPr>
          <a:xfrm>
            <a:off x="698510" y="1842973"/>
            <a:ext cx="667512" cy="180960"/>
          </a:xfrm>
          <a:prstGeom prst="rect">
            <a:avLst/>
          </a:prstGeom>
          <a:noFill/>
          <a:ln/>
        </p:spPr>
        <p:txBody>
          <a:bodyPr wrap="none" lIns="0" tIns="0" rIns="0" bIns="0" rtlCol="0" anchor="ctr"/>
          <a:lstStyle/>
          <a:p>
            <a:pPr algn="l" indent="0" marL="0">
              <a:buNone/>
            </a:pPr>
            <a:r>
              <a:rPr lang="ko-KR" altLang="en-US" sz="950" spc="133" kern="0" dirty="0">
                <a:solidFill>
                  <a:srgbClr val="646D40"/>
                </a:solidFill>
                <a:latin typeface="Paperlogy 7 Bold" pitchFamily="34" charset="0"/>
                <a:ea typeface="Paperlogy 7 Bold" pitchFamily="34" charset="-122"/>
                <a:cs typeface="Paperlogy 7 Bold" pitchFamily="34" charset="-120"/>
              </a:rPr>
              <a:t>발굴 방법</a:t>
            </a:r>
            <a:endParaRPr lang="en-US" sz="950" dirty="0"/>
          </a:p>
        </p:txBody>
      </p:sp>
      <p:sp>
        <p:nvSpPr>
          <p:cNvPr id="28" name="글상자 27"/>
          <p:cNvSpPr txBox="1"/>
          <p:nvPr/>
        </p:nvSpPr>
        <p:spPr>
          <a:xfrm>
            <a:off x="1532717" y="1703253"/>
            <a:ext cx="1018916" cy="247620"/>
          </a:xfrm>
          <a:prstGeom prst="rect">
            <a:avLst/>
          </a:prstGeom>
          <a:noFill/>
          <a:ln/>
        </p:spPr>
        <p:txBody>
          <a:bodyPr wrap="none" lIns="0" tIns="0" rIns="0" bIns="0" rtlCol="0" anchor="ctr"/>
          <a:lstStyle/>
          <a:p>
            <a:pPr algn="l" indent="0" marL="0">
              <a:buNone/>
            </a:pPr>
            <a:r>
              <a:rPr lang="ko-KR" altLang="en-US" sz="1300" spc="-14" kern="0" dirty="0">
                <a:solidFill>
                  <a:srgbClr val="2E3A1B"/>
                </a:solidFill>
                <a:latin typeface="Paperlogy 7 Bold" pitchFamily="34" charset="0"/>
                <a:ea typeface="Paperlogy 7 Bold" pitchFamily="34" charset="-122"/>
                <a:cs typeface="Paperlogy 7 Bold" pitchFamily="34" charset="-120"/>
              </a:rPr>
              <a:t>브레인스토밍</a:t>
            </a:r>
            <a:endParaRPr lang="en-US" sz="1300" dirty="0"/>
          </a:p>
        </p:txBody>
      </p:sp>
      <p:sp>
        <p:nvSpPr>
          <p:cNvPr id="29" name="글상자 28"/>
          <p:cNvSpPr txBox="1"/>
          <p:nvPr/>
        </p:nvSpPr>
        <p:spPr>
          <a:xfrm>
            <a:off x="1532717" y="1979493"/>
            <a:ext cx="2011954" cy="190470"/>
          </a:xfrm>
          <a:prstGeom prst="rect">
            <a:avLst/>
          </a:prstGeom>
          <a:noFill/>
          <a:ln/>
        </p:spPr>
        <p:txBody>
          <a:bodyPr wrap="none" lIns="0" tIns="0" rIns="0" bIns="0" rtlCol="0" anchor="ctr"/>
          <a:lstStyle/>
          <a:p>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고객 문제의 해결책을 제한 없이 나열</a:t>
            </a:r>
            <a:endParaRPr lang="en-US" sz="1000" dirty="0"/>
          </a:p>
        </p:txBody>
      </p:sp>
      <p:sp>
        <p:nvSpPr>
          <p:cNvPr id="30" name="글상자 29"/>
          <p:cNvSpPr txBox="1"/>
          <p:nvPr/>
        </p:nvSpPr>
        <p:spPr>
          <a:xfrm>
            <a:off x="4926970" y="1703253"/>
            <a:ext cx="1010229" cy="247620"/>
          </a:xfrm>
          <a:prstGeom prst="rect">
            <a:avLst/>
          </a:prstGeom>
          <a:noFill/>
          <a:ln/>
        </p:spPr>
        <p:txBody>
          <a:bodyPr wrap="none" lIns="0" tIns="0" rIns="0" bIns="0" rtlCol="0" anchor="ctr"/>
          <a:lstStyle/>
          <a:p>
            <a:pPr algn="l" indent="0" marL="0">
              <a:buNone/>
            </a:pPr>
            <a:r>
              <a:rPr lang="ko-KR" altLang="en-US" sz="1300" spc="-14" kern="0" dirty="0">
                <a:solidFill>
                  <a:srgbClr val="2E3A1B"/>
                </a:solidFill>
                <a:latin typeface="Paperlogy 7 Bold" pitchFamily="34" charset="0"/>
                <a:ea typeface="Paperlogy 7 Bold" pitchFamily="34" charset="-122"/>
                <a:cs typeface="Paperlogy 7 Bold" pitchFamily="34" charset="-120"/>
              </a:rPr>
              <a:t>SCAMPER</a:t>
            </a:r>
            <a:endParaRPr lang="en-US" sz="1300" dirty="0"/>
          </a:p>
        </p:txBody>
      </p:sp>
      <p:sp>
        <p:nvSpPr>
          <p:cNvPr id="31" name="글상자 30"/>
          <p:cNvSpPr txBox="1"/>
          <p:nvPr/>
        </p:nvSpPr>
        <p:spPr>
          <a:xfrm>
            <a:off x="4926970" y="1979493"/>
            <a:ext cx="1910273" cy="190470"/>
          </a:xfrm>
          <a:prstGeom prst="rect">
            <a:avLst/>
          </a:prstGeom>
          <a:noFill/>
          <a:ln/>
        </p:spPr>
        <p:txBody>
          <a:bodyPr wrap="none" lIns="0" tIns="0" rIns="0" bIns="0" rtlCol="0" anchor="ctr"/>
          <a:lstStyle/>
          <a:p>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기존 여행을 결합·제거·변형해 보기</a:t>
            </a:r>
            <a:endParaRPr lang="en-US" sz="1000" dirty="0"/>
          </a:p>
        </p:txBody>
      </p:sp>
      <p:sp>
        <p:nvSpPr>
          <p:cNvPr id="32" name="글상자 31"/>
          <p:cNvSpPr txBox="1"/>
          <p:nvPr/>
        </p:nvSpPr>
        <p:spPr>
          <a:xfrm>
            <a:off x="8321406" y="1703253"/>
            <a:ext cx="1093531" cy="247620"/>
          </a:xfrm>
          <a:prstGeom prst="rect">
            <a:avLst/>
          </a:prstGeom>
          <a:noFill/>
          <a:ln/>
        </p:spPr>
        <p:txBody>
          <a:bodyPr wrap="none" lIns="0" tIns="0" rIns="0" bIns="0" rtlCol="0" anchor="ctr"/>
          <a:lstStyle/>
          <a:p>
            <a:pPr algn="l" indent="0" marL="0">
              <a:buNone/>
            </a:pPr>
            <a:r>
              <a:rPr lang="ko-KR" altLang="en-US" sz="1300" spc="-14" kern="0" dirty="0">
                <a:solidFill>
                  <a:srgbClr val="2E3A1B"/>
                </a:solidFill>
                <a:latin typeface="Paperlogy 7 Bold" pitchFamily="34" charset="0"/>
                <a:ea typeface="Paperlogy 7 Bold" pitchFamily="34" charset="-122"/>
                <a:cs typeface="Paperlogy 7 Bold" pitchFamily="34" charset="-120"/>
              </a:rPr>
              <a:t>관광 후기 분석</a:t>
            </a:r>
            <a:endParaRPr lang="en-US" sz="1300" dirty="0"/>
          </a:p>
        </p:txBody>
      </p:sp>
      <p:sp>
        <p:nvSpPr>
          <p:cNvPr id="33" name="글상자 32"/>
          <p:cNvSpPr txBox="1"/>
          <p:nvPr/>
        </p:nvSpPr>
        <p:spPr>
          <a:xfrm>
            <a:off x="8321406" y="1979493"/>
            <a:ext cx="1746138" cy="190470"/>
          </a:xfrm>
          <a:prstGeom prst="rect">
            <a:avLst/>
          </a:prstGeom>
          <a:noFill/>
          <a:ln/>
        </p:spPr>
        <p:txBody>
          <a:bodyPr wrap="none" lIns="0" tIns="0" rIns="0" bIns="0" rtlCol="0" anchor="ctr"/>
          <a:lstStyle/>
          <a:p>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반복되는 불편과 만족 요인 찾기</a:t>
            </a:r>
            <a:endParaRPr lang="en-US" sz="1000" dirty="0"/>
          </a:p>
        </p:txBody>
      </p:sp>
      <p:sp>
        <p:nvSpPr>
          <p:cNvPr id="34" name="글상자 33"/>
          <p:cNvSpPr txBox="1"/>
          <p:nvPr/>
        </p:nvSpPr>
        <p:spPr>
          <a:xfrm>
            <a:off x="825520" y="2648468"/>
            <a:ext cx="355062" cy="285750"/>
          </a:xfrm>
          <a:prstGeom prst="rect">
            <a:avLst/>
          </a:prstGeom>
          <a:noFill/>
          <a:ln/>
        </p:spPr>
        <p:txBody>
          <a:bodyPr wrap="none" lIns="0" tIns="0" rIns="0" bIns="0" rtlCol="0" anchor="ctr"/>
          <a:lstStyle/>
          <a:p>
            <a:pPr algn="l" indent="0" marL="0">
              <a:buNone/>
            </a:pPr>
            <a:r>
              <a:rPr lang="ko-KR" altLang="en-US" sz="1500" spc="-30" kern="0" dirty="0">
                <a:solidFill>
                  <a:srgbClr val="737F4A"/>
                </a:solidFill>
                <a:latin typeface="Paperlogy 8 ExtraBold" pitchFamily="34" charset="0"/>
                <a:ea typeface="Paperlogy 8 ExtraBold" pitchFamily="34" charset="-122"/>
                <a:cs typeface="Paperlogy 8 ExtraBold" pitchFamily="34" charset="-120"/>
              </a:rPr>
              <a:t>01</a:t>
            </a:r>
            <a:endParaRPr lang="en-US" sz="1500" dirty="0"/>
          </a:p>
        </p:txBody>
      </p:sp>
      <p:sp>
        <p:nvSpPr>
          <p:cNvPr id="35" name="글상자 34"/>
          <p:cNvSpPr txBox="1"/>
          <p:nvPr/>
        </p:nvSpPr>
        <p:spPr>
          <a:xfrm>
            <a:off x="1333470" y="2558308"/>
            <a:ext cx="1365748" cy="239390"/>
          </a:xfrm>
          <a:prstGeom prst="rect">
            <a:avLst/>
          </a:prstGeom>
          <a:noFill/>
          <a:ln/>
        </p:spPr>
        <p:txBody>
          <a:bodyPr wrap="none" lIns="0" tIns="0" rIns="0" bIns="0" rtlCol="0" anchor="ctr"/>
          <a:lstStyle/>
          <a:p>
            <a:pPr algn="l" indent="0" marL="0">
              <a:buNone/>
            </a:pPr>
            <a:r>
              <a:rPr lang="ko-KR" altLang="en-US" sz="1450" spc="-29" kern="0" dirty="0">
                <a:solidFill>
                  <a:srgbClr val="2E3A1B"/>
                </a:solidFill>
                <a:latin typeface="Paperlogy 7 Bold" pitchFamily="34" charset="0"/>
                <a:ea typeface="Paperlogy 7 Bold" pitchFamily="34" charset="-122"/>
                <a:cs typeface="Paperlogy 7 Bold" pitchFamily="34" charset="-120"/>
              </a:rPr>
              <a:t>의암호 느린 산책</a:t>
            </a:r>
            <a:endParaRPr lang="en-US" sz="1450" dirty="0"/>
          </a:p>
        </p:txBody>
      </p:sp>
      <p:sp>
        <p:nvSpPr>
          <p:cNvPr id="36" name="글상자 35"/>
          <p:cNvSpPr txBox="1"/>
          <p:nvPr/>
        </p:nvSpPr>
        <p:spPr>
          <a:xfrm>
            <a:off x="1333470" y="2841132"/>
            <a:ext cx="1352306" cy="177759"/>
          </a:xfrm>
          <a:prstGeom prst="rect">
            <a:avLst/>
          </a:prstGeom>
          <a:noFill/>
          <a:ln/>
        </p:spPr>
        <p:txBody>
          <a:bodyPr wrap="none" lIns="0" tIns="0" rIns="0" bIns="0" rtlCol="0" anchor="ctr"/>
          <a:lstStyle/>
          <a:p>
            <a:pPr algn="l" indent="0" marL="0">
              <a:buNone/>
            </a:pPr>
            <a:r>
              <a:rPr lang="ko-KR" altLang="en-US" sz="750" spc="75" kern="0" dirty="0">
                <a:solidFill>
                  <a:srgbClr val="646D40"/>
                </a:solidFill>
                <a:latin typeface="Paperlogy 8 ExtraBold" pitchFamily="34" charset="0"/>
                <a:ea typeface="Paperlogy 8 ExtraBold" pitchFamily="34" charset="-122"/>
                <a:cs typeface="Paperlogy 8 ExtraBold" pitchFamily="34" charset="-120"/>
              </a:rPr>
              <a:t>문제  </a:t>
            </a:r>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빽빽한 일정의 피로</a:t>
            </a:r>
            <a:endParaRPr lang="en-US" sz="750" dirty="0"/>
          </a:p>
        </p:txBody>
      </p:sp>
      <p:sp>
        <p:nvSpPr>
          <p:cNvPr id="37" name="글상자 36"/>
          <p:cNvSpPr txBox="1"/>
          <p:nvPr/>
        </p:nvSpPr>
        <p:spPr>
          <a:xfrm>
            <a:off x="2655692" y="2841132"/>
            <a:ext cx="1123158" cy="177759"/>
          </a:xfrm>
          <a:prstGeom prst="rect">
            <a:avLst/>
          </a:prstGeom>
          <a:noFill/>
          <a:ln/>
        </p:spPr>
        <p:txBody>
          <a:bodyPr wrap="none" lIns="0" tIns="0" rIns="0" bIns="0" rtlCol="0" anchor="ctr"/>
          <a:lstStyle/>
          <a:p>
            <a:pPr algn="l" indent="0" marL="0">
              <a:buNone/>
            </a:pPr>
            <a:r>
              <a:rPr lang="ko-KR" altLang="en-US" sz="750" spc="75" kern="0" dirty="0">
                <a:solidFill>
                  <a:srgbClr val="646D40"/>
                </a:solidFill>
                <a:latin typeface="Paperlogy 8 ExtraBold" pitchFamily="34" charset="0"/>
                <a:ea typeface="Paperlogy 8 ExtraBold" pitchFamily="34" charset="-122"/>
                <a:cs typeface="Paperlogy 8 ExtraBold" pitchFamily="34" charset="-120"/>
              </a:rPr>
              <a:t>위험  </a:t>
            </a:r>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날씨·계절 영향</a:t>
            </a:r>
            <a:endParaRPr lang="en-US" sz="750" dirty="0"/>
          </a:p>
        </p:txBody>
      </p:sp>
      <p:sp>
        <p:nvSpPr>
          <p:cNvPr id="38" name="글상자 37"/>
          <p:cNvSpPr txBox="1"/>
          <p:nvPr/>
        </p:nvSpPr>
        <p:spPr>
          <a:xfrm>
            <a:off x="825520" y="3313237"/>
            <a:ext cx="355062" cy="285750"/>
          </a:xfrm>
          <a:prstGeom prst="rect">
            <a:avLst/>
          </a:prstGeom>
          <a:noFill/>
          <a:ln/>
        </p:spPr>
        <p:txBody>
          <a:bodyPr wrap="none" lIns="0" tIns="0" rIns="0" bIns="0" rtlCol="0" anchor="ctr"/>
          <a:lstStyle/>
          <a:p>
            <a:pPr algn="l" indent="0" marL="0">
              <a:buNone/>
            </a:pPr>
            <a:r>
              <a:rPr lang="ko-KR" altLang="en-US" sz="1500" spc="-30" kern="0" dirty="0">
                <a:solidFill>
                  <a:srgbClr val="737F4A"/>
                </a:solidFill>
                <a:latin typeface="Paperlogy 8 ExtraBold" pitchFamily="34" charset="0"/>
                <a:ea typeface="Paperlogy 8 ExtraBold" pitchFamily="34" charset="-122"/>
                <a:cs typeface="Paperlogy 8 ExtraBold" pitchFamily="34" charset="-120"/>
              </a:rPr>
              <a:t>02</a:t>
            </a:r>
            <a:endParaRPr lang="en-US" sz="1500" dirty="0"/>
          </a:p>
        </p:txBody>
      </p:sp>
      <p:sp>
        <p:nvSpPr>
          <p:cNvPr id="39" name="글상자 38"/>
          <p:cNvSpPr txBox="1"/>
          <p:nvPr/>
        </p:nvSpPr>
        <p:spPr>
          <a:xfrm>
            <a:off x="1333470" y="3223077"/>
            <a:ext cx="1194755" cy="239390"/>
          </a:xfrm>
          <a:prstGeom prst="rect">
            <a:avLst/>
          </a:prstGeom>
          <a:noFill/>
          <a:ln/>
        </p:spPr>
        <p:txBody>
          <a:bodyPr wrap="none" lIns="0" tIns="0" rIns="0" bIns="0" rtlCol="0" anchor="ctr"/>
          <a:lstStyle/>
          <a:p>
            <a:pPr algn="l" indent="0" marL="0">
              <a:buNone/>
            </a:pPr>
            <a:r>
              <a:rPr lang="ko-KR" altLang="en-US" sz="1450" spc="-29" kern="0" dirty="0">
                <a:solidFill>
                  <a:srgbClr val="2E3A1B"/>
                </a:solidFill>
                <a:latin typeface="Paperlogy 7 Bold" pitchFamily="34" charset="0"/>
                <a:ea typeface="Paperlogy 7 Bold" pitchFamily="34" charset="-122"/>
                <a:cs typeface="Paperlogy 7 Bold" pitchFamily="34" charset="-120"/>
              </a:rPr>
              <a:t>호수 뷰 티타임</a:t>
            </a:r>
            <a:endParaRPr lang="en-US" sz="1450" dirty="0"/>
          </a:p>
        </p:txBody>
      </p:sp>
      <p:sp>
        <p:nvSpPr>
          <p:cNvPr id="40" name="글상자 39"/>
          <p:cNvSpPr txBox="1"/>
          <p:nvPr/>
        </p:nvSpPr>
        <p:spPr>
          <a:xfrm>
            <a:off x="1333470" y="3505901"/>
            <a:ext cx="995873" cy="177759"/>
          </a:xfrm>
          <a:prstGeom prst="rect">
            <a:avLst/>
          </a:prstGeom>
          <a:noFill/>
          <a:ln/>
        </p:spPr>
        <p:txBody>
          <a:bodyPr wrap="none" lIns="0" tIns="0" rIns="0" bIns="0" rtlCol="0" anchor="ctr"/>
          <a:lstStyle/>
          <a:p>
            <a:pPr algn="l" indent="0" marL="0">
              <a:buNone/>
            </a:pPr>
            <a:r>
              <a:rPr lang="ko-KR" altLang="en-US" sz="750" spc="75" kern="0" dirty="0">
                <a:solidFill>
                  <a:srgbClr val="646D40"/>
                </a:solidFill>
                <a:latin typeface="Paperlogy 8 ExtraBold" pitchFamily="34" charset="0"/>
                <a:ea typeface="Paperlogy 8 ExtraBold" pitchFamily="34" charset="-122"/>
                <a:cs typeface="Paperlogy 8 ExtraBold" pitchFamily="34" charset="-120"/>
              </a:rPr>
              <a:t>문제  </a:t>
            </a:r>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쉴 공간 부족</a:t>
            </a:r>
            <a:endParaRPr lang="en-US" sz="750" dirty="0"/>
          </a:p>
        </p:txBody>
      </p:sp>
      <p:sp>
        <p:nvSpPr>
          <p:cNvPr id="41" name="글상자 40"/>
          <p:cNvSpPr txBox="1"/>
          <p:nvPr/>
        </p:nvSpPr>
        <p:spPr>
          <a:xfrm>
            <a:off x="2325685" y="3505901"/>
            <a:ext cx="1114745" cy="177759"/>
          </a:xfrm>
          <a:prstGeom prst="rect">
            <a:avLst/>
          </a:prstGeom>
          <a:noFill/>
          <a:ln/>
        </p:spPr>
        <p:txBody>
          <a:bodyPr wrap="none" lIns="0" tIns="0" rIns="0" bIns="0" rtlCol="0" anchor="ctr"/>
          <a:lstStyle/>
          <a:p>
            <a:pPr algn="l" indent="0" marL="0">
              <a:buNone/>
            </a:pPr>
            <a:r>
              <a:rPr lang="ko-KR" altLang="en-US" sz="750" spc="75" kern="0" dirty="0">
                <a:solidFill>
                  <a:srgbClr val="646D40"/>
                </a:solidFill>
                <a:latin typeface="Paperlogy 8 ExtraBold" pitchFamily="34" charset="0"/>
                <a:ea typeface="Paperlogy 8 ExtraBold" pitchFamily="34" charset="-122"/>
                <a:cs typeface="Paperlogy 8 ExtraBold" pitchFamily="34" charset="-120"/>
              </a:rPr>
              <a:t>위험  </a:t>
            </a:r>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카페 좌석 확보</a:t>
            </a:r>
            <a:endParaRPr lang="en-US" sz="750" dirty="0"/>
          </a:p>
        </p:txBody>
      </p:sp>
      <p:sp>
        <p:nvSpPr>
          <p:cNvPr id="42" name="글상자 41"/>
          <p:cNvSpPr txBox="1"/>
          <p:nvPr/>
        </p:nvSpPr>
        <p:spPr>
          <a:xfrm>
            <a:off x="825520" y="3978006"/>
            <a:ext cx="355062" cy="285750"/>
          </a:xfrm>
          <a:prstGeom prst="rect">
            <a:avLst/>
          </a:prstGeom>
          <a:noFill/>
          <a:ln/>
        </p:spPr>
        <p:txBody>
          <a:bodyPr wrap="none" lIns="0" tIns="0" rIns="0" bIns="0" rtlCol="0" anchor="ctr"/>
          <a:lstStyle/>
          <a:p>
            <a:pPr algn="l" indent="0" marL="0">
              <a:buNone/>
            </a:pPr>
            <a:r>
              <a:rPr lang="ko-KR" altLang="en-US" sz="1500" spc="-30" kern="0" dirty="0">
                <a:solidFill>
                  <a:srgbClr val="737F4A"/>
                </a:solidFill>
                <a:latin typeface="Paperlogy 8 ExtraBold" pitchFamily="34" charset="0"/>
                <a:ea typeface="Paperlogy 8 ExtraBold" pitchFamily="34" charset="-122"/>
                <a:cs typeface="Paperlogy 8 ExtraBold" pitchFamily="34" charset="-120"/>
              </a:rPr>
              <a:t>03</a:t>
            </a:r>
            <a:endParaRPr lang="en-US" sz="1500" dirty="0"/>
          </a:p>
        </p:txBody>
      </p:sp>
      <p:sp>
        <p:nvSpPr>
          <p:cNvPr id="43" name="글상자 42"/>
          <p:cNvSpPr txBox="1"/>
          <p:nvPr/>
        </p:nvSpPr>
        <p:spPr>
          <a:xfrm>
            <a:off x="1333470" y="3887846"/>
            <a:ext cx="1576517" cy="239390"/>
          </a:xfrm>
          <a:prstGeom prst="rect">
            <a:avLst/>
          </a:prstGeom>
          <a:noFill/>
          <a:ln/>
        </p:spPr>
        <p:txBody>
          <a:bodyPr wrap="none" lIns="0" tIns="0" rIns="0" bIns="0" rtlCol="0" anchor="ctr"/>
          <a:lstStyle/>
          <a:p>
            <a:pPr algn="l" indent="0" marL="0">
              <a:buNone/>
            </a:pPr>
            <a:r>
              <a:rPr lang="ko-KR" altLang="en-US" sz="1450" spc="-29" kern="0" dirty="0">
                <a:solidFill>
                  <a:srgbClr val="2E3A1B"/>
                </a:solidFill>
                <a:latin typeface="Paperlogy 7 Bold" pitchFamily="34" charset="0"/>
                <a:ea typeface="Paperlogy 7 Bold" pitchFamily="34" charset="-122"/>
                <a:cs typeface="Paperlogy 7 Bold" pitchFamily="34" charset="-120"/>
              </a:rPr>
              <a:t>춘천 감성 사진 기록</a:t>
            </a:r>
            <a:endParaRPr lang="en-US" sz="1450" dirty="0"/>
          </a:p>
        </p:txBody>
      </p:sp>
      <p:sp>
        <p:nvSpPr>
          <p:cNvPr id="44" name="글상자 43"/>
          <p:cNvSpPr txBox="1"/>
          <p:nvPr/>
        </p:nvSpPr>
        <p:spPr>
          <a:xfrm>
            <a:off x="1333470" y="4170670"/>
            <a:ext cx="1736811" cy="177759"/>
          </a:xfrm>
          <a:prstGeom prst="rect">
            <a:avLst/>
          </a:prstGeom>
          <a:noFill/>
          <a:ln/>
        </p:spPr>
        <p:txBody>
          <a:bodyPr wrap="none" lIns="0" tIns="0" rIns="0" bIns="0" rtlCol="0" anchor="ctr"/>
          <a:lstStyle/>
          <a:p>
            <a:pPr algn="l" indent="0" marL="0">
              <a:buNone/>
            </a:pPr>
            <a:r>
              <a:rPr lang="ko-KR" altLang="en-US" sz="750" spc="75" kern="0" dirty="0">
                <a:solidFill>
                  <a:srgbClr val="646D40"/>
                </a:solidFill>
                <a:latin typeface="Paperlogy 8 ExtraBold" pitchFamily="34" charset="0"/>
                <a:ea typeface="Paperlogy 8 ExtraBold" pitchFamily="34" charset="-122"/>
                <a:cs typeface="Paperlogy 8 ExtraBold" pitchFamily="34" charset="-120"/>
              </a:rPr>
              <a:t>문제  </a:t>
            </a:r>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여행의 기억을 남기고 싶음</a:t>
            </a:r>
            <a:endParaRPr lang="en-US" sz="750" dirty="0"/>
          </a:p>
        </p:txBody>
      </p:sp>
      <p:sp>
        <p:nvSpPr>
          <p:cNvPr id="45" name="글상자 44"/>
          <p:cNvSpPr txBox="1"/>
          <p:nvPr/>
        </p:nvSpPr>
        <p:spPr>
          <a:xfrm>
            <a:off x="3011759" y="4170670"/>
            <a:ext cx="848838" cy="177759"/>
          </a:xfrm>
          <a:prstGeom prst="rect">
            <a:avLst/>
          </a:prstGeom>
          <a:noFill/>
          <a:ln/>
        </p:spPr>
        <p:txBody>
          <a:bodyPr wrap="none" lIns="0" tIns="0" rIns="0" bIns="0" rtlCol="0" anchor="ctr"/>
          <a:lstStyle/>
          <a:p>
            <a:pPr algn="l" indent="0" marL="0">
              <a:buNone/>
            </a:pPr>
            <a:r>
              <a:rPr lang="ko-KR" altLang="en-US" sz="750" spc="75" kern="0" dirty="0">
                <a:solidFill>
                  <a:srgbClr val="646D40"/>
                </a:solidFill>
                <a:latin typeface="Paperlogy 8 ExtraBold" pitchFamily="34" charset="0"/>
                <a:ea typeface="Paperlogy 8 ExtraBold" pitchFamily="34" charset="-122"/>
                <a:cs typeface="Paperlogy 8 ExtraBold" pitchFamily="34" charset="-120"/>
              </a:rPr>
              <a:t>위험  </a:t>
            </a:r>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흔한 체험</a:t>
            </a:r>
            <a:endParaRPr lang="en-US" sz="750" dirty="0"/>
          </a:p>
        </p:txBody>
      </p:sp>
      <p:sp>
        <p:nvSpPr>
          <p:cNvPr id="46" name="글상자 45"/>
          <p:cNvSpPr txBox="1"/>
          <p:nvPr/>
        </p:nvSpPr>
        <p:spPr>
          <a:xfrm>
            <a:off x="825520" y="4642775"/>
            <a:ext cx="355062" cy="285750"/>
          </a:xfrm>
          <a:prstGeom prst="rect">
            <a:avLst/>
          </a:prstGeom>
          <a:noFill/>
          <a:ln/>
        </p:spPr>
        <p:txBody>
          <a:bodyPr wrap="none" lIns="0" tIns="0" rIns="0" bIns="0" rtlCol="0" anchor="ctr"/>
          <a:lstStyle/>
          <a:p>
            <a:pPr algn="l" indent="0" marL="0">
              <a:buNone/>
            </a:pPr>
            <a:r>
              <a:rPr lang="ko-KR" altLang="en-US" sz="1500" spc="-30" kern="0" dirty="0">
                <a:solidFill>
                  <a:srgbClr val="737F4A"/>
                </a:solidFill>
                <a:latin typeface="Paperlogy 8 ExtraBold" pitchFamily="34" charset="0"/>
                <a:ea typeface="Paperlogy 8 ExtraBold" pitchFamily="34" charset="-122"/>
                <a:cs typeface="Paperlogy 8 ExtraBold" pitchFamily="34" charset="-120"/>
              </a:rPr>
              <a:t>04</a:t>
            </a:r>
            <a:endParaRPr lang="en-US" sz="1500" dirty="0"/>
          </a:p>
        </p:txBody>
      </p:sp>
      <p:sp>
        <p:nvSpPr>
          <p:cNvPr id="47" name="글상자 46"/>
          <p:cNvSpPr txBox="1"/>
          <p:nvPr/>
        </p:nvSpPr>
        <p:spPr>
          <a:xfrm>
            <a:off x="1333470" y="4552615"/>
            <a:ext cx="1576517" cy="239390"/>
          </a:xfrm>
          <a:prstGeom prst="rect">
            <a:avLst/>
          </a:prstGeom>
          <a:noFill/>
          <a:ln/>
        </p:spPr>
        <p:txBody>
          <a:bodyPr wrap="none" lIns="0" tIns="0" rIns="0" bIns="0" rtlCol="0" anchor="ctr"/>
          <a:lstStyle/>
          <a:p>
            <a:pPr algn="l" indent="0" marL="0">
              <a:buNone/>
            </a:pPr>
            <a:r>
              <a:rPr lang="ko-KR" altLang="en-US" sz="1450" spc="-29" kern="0" dirty="0">
                <a:solidFill>
                  <a:srgbClr val="2E3A1B"/>
                </a:solidFill>
                <a:latin typeface="Paperlogy 7 Bold" pitchFamily="34" charset="0"/>
                <a:ea typeface="Paperlogy 7 Bold" pitchFamily="34" charset="-122"/>
                <a:cs typeface="Paperlogy 7 Bold" pitchFamily="34" charset="-120"/>
              </a:rPr>
              <a:t>자연 속 독서 피크닉</a:t>
            </a:r>
            <a:endParaRPr lang="en-US" sz="1450" dirty="0"/>
          </a:p>
        </p:txBody>
      </p:sp>
      <p:sp>
        <p:nvSpPr>
          <p:cNvPr id="48" name="글상자 47"/>
          <p:cNvSpPr txBox="1"/>
          <p:nvPr/>
        </p:nvSpPr>
        <p:spPr>
          <a:xfrm>
            <a:off x="1333470" y="4835439"/>
            <a:ext cx="1233434" cy="177759"/>
          </a:xfrm>
          <a:prstGeom prst="rect">
            <a:avLst/>
          </a:prstGeom>
          <a:noFill/>
          <a:ln/>
        </p:spPr>
        <p:txBody>
          <a:bodyPr wrap="none" lIns="0" tIns="0" rIns="0" bIns="0" rtlCol="0" anchor="ctr"/>
          <a:lstStyle/>
          <a:p>
            <a:pPr algn="l" indent="0" marL="0">
              <a:buNone/>
            </a:pPr>
            <a:r>
              <a:rPr lang="ko-KR" altLang="en-US" sz="750" spc="75" kern="0" dirty="0">
                <a:solidFill>
                  <a:srgbClr val="646D40"/>
                </a:solidFill>
                <a:latin typeface="Paperlogy 8 ExtraBold" pitchFamily="34" charset="0"/>
                <a:ea typeface="Paperlogy 8 ExtraBold" pitchFamily="34" charset="-122"/>
                <a:cs typeface="Paperlogy 8 ExtraBold" pitchFamily="34" charset="-120"/>
              </a:rPr>
              <a:t>문제  </a:t>
            </a:r>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조용히 쉬고 싶음</a:t>
            </a:r>
            <a:endParaRPr lang="en-US" sz="750" dirty="0"/>
          </a:p>
        </p:txBody>
      </p:sp>
      <p:sp>
        <p:nvSpPr>
          <p:cNvPr id="49" name="글상자 48"/>
          <p:cNvSpPr txBox="1"/>
          <p:nvPr/>
        </p:nvSpPr>
        <p:spPr>
          <a:xfrm>
            <a:off x="2545690" y="4835439"/>
            <a:ext cx="1261689" cy="177759"/>
          </a:xfrm>
          <a:prstGeom prst="rect">
            <a:avLst/>
          </a:prstGeom>
          <a:noFill/>
          <a:ln/>
        </p:spPr>
        <p:txBody>
          <a:bodyPr wrap="none" lIns="0" tIns="0" rIns="0" bIns="0" rtlCol="0" anchor="ctr"/>
          <a:lstStyle/>
          <a:p>
            <a:pPr algn="l" indent="0" marL="0">
              <a:buNone/>
            </a:pPr>
            <a:r>
              <a:rPr lang="ko-KR" altLang="en-US" sz="750" spc="75" kern="0" dirty="0">
                <a:solidFill>
                  <a:srgbClr val="646D40"/>
                </a:solidFill>
                <a:latin typeface="Paperlogy 8 ExtraBold" pitchFamily="34" charset="0"/>
                <a:ea typeface="Paperlogy 8 ExtraBold" pitchFamily="34" charset="-122"/>
                <a:cs typeface="Paperlogy 8 ExtraBold" pitchFamily="34" charset="-120"/>
              </a:rPr>
              <a:t>위험  </a:t>
            </a:r>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우천 시 대체 장소</a:t>
            </a:r>
            <a:endParaRPr lang="en-US" sz="750" dirty="0"/>
          </a:p>
        </p:txBody>
      </p:sp>
      <p:sp>
        <p:nvSpPr>
          <p:cNvPr id="50" name="글상자 49"/>
          <p:cNvSpPr txBox="1"/>
          <p:nvPr/>
        </p:nvSpPr>
        <p:spPr>
          <a:xfrm>
            <a:off x="825520" y="5307543"/>
            <a:ext cx="355062" cy="285750"/>
          </a:xfrm>
          <a:prstGeom prst="rect">
            <a:avLst/>
          </a:prstGeom>
          <a:noFill/>
          <a:ln/>
        </p:spPr>
        <p:txBody>
          <a:bodyPr wrap="none" lIns="0" tIns="0" rIns="0" bIns="0" rtlCol="0" anchor="ctr"/>
          <a:lstStyle/>
          <a:p>
            <a:pPr algn="l" indent="0" marL="0">
              <a:buNone/>
            </a:pPr>
            <a:r>
              <a:rPr lang="ko-KR" altLang="en-US" sz="1500" spc="-30" kern="0" dirty="0">
                <a:solidFill>
                  <a:srgbClr val="737F4A"/>
                </a:solidFill>
                <a:latin typeface="Paperlogy 8 ExtraBold" pitchFamily="34" charset="0"/>
                <a:ea typeface="Paperlogy 8 ExtraBold" pitchFamily="34" charset="-122"/>
                <a:cs typeface="Paperlogy 8 ExtraBold" pitchFamily="34" charset="-120"/>
              </a:rPr>
              <a:t>05</a:t>
            </a:r>
            <a:endParaRPr lang="en-US" sz="1500" dirty="0"/>
          </a:p>
        </p:txBody>
      </p:sp>
      <p:sp>
        <p:nvSpPr>
          <p:cNvPr id="51" name="글상자 50"/>
          <p:cNvSpPr txBox="1"/>
          <p:nvPr/>
        </p:nvSpPr>
        <p:spPr>
          <a:xfrm>
            <a:off x="1333470" y="5217384"/>
            <a:ext cx="1536832" cy="239390"/>
          </a:xfrm>
          <a:prstGeom prst="rect">
            <a:avLst/>
          </a:prstGeom>
          <a:noFill/>
          <a:ln/>
        </p:spPr>
        <p:txBody>
          <a:bodyPr wrap="none" lIns="0" tIns="0" rIns="0" bIns="0" rtlCol="0" anchor="ctr"/>
          <a:lstStyle/>
          <a:p>
            <a:pPr algn="l" indent="0" marL="0">
              <a:buNone/>
            </a:pPr>
            <a:r>
              <a:rPr lang="ko-KR" altLang="en-US" sz="1450" spc="-29" kern="0" dirty="0">
                <a:solidFill>
                  <a:srgbClr val="2E3A1B"/>
                </a:solidFill>
                <a:latin typeface="Paperlogy 7 Bold" pitchFamily="34" charset="0"/>
                <a:ea typeface="Paperlogy 7 Bold" pitchFamily="34" charset="-122"/>
                <a:cs typeface="Paperlogy 7 Bold" pitchFamily="34" charset="-120"/>
              </a:rPr>
              <a:t>디지털 디톡스 여행</a:t>
            </a:r>
            <a:endParaRPr lang="en-US" sz="1450" dirty="0"/>
          </a:p>
        </p:txBody>
      </p:sp>
      <p:sp>
        <p:nvSpPr>
          <p:cNvPr id="52" name="글상자 51"/>
          <p:cNvSpPr txBox="1"/>
          <p:nvPr/>
        </p:nvSpPr>
        <p:spPr>
          <a:xfrm>
            <a:off x="1333470" y="5500207"/>
            <a:ext cx="1389065" cy="177759"/>
          </a:xfrm>
          <a:prstGeom prst="rect">
            <a:avLst/>
          </a:prstGeom>
          <a:noFill/>
          <a:ln/>
        </p:spPr>
        <p:txBody>
          <a:bodyPr wrap="none" lIns="0" tIns="0" rIns="0" bIns="0" rtlCol="0" anchor="ctr"/>
          <a:lstStyle/>
          <a:p>
            <a:pPr algn="l" indent="0" marL="0">
              <a:buNone/>
            </a:pPr>
            <a:r>
              <a:rPr lang="ko-KR" altLang="en-US" sz="750" spc="75" kern="0" dirty="0">
                <a:solidFill>
                  <a:srgbClr val="646D40"/>
                </a:solidFill>
                <a:latin typeface="Paperlogy 8 ExtraBold" pitchFamily="34" charset="0"/>
                <a:ea typeface="Paperlogy 8 ExtraBold" pitchFamily="34" charset="-122"/>
                <a:cs typeface="Paperlogy 8 ExtraBold" pitchFamily="34" charset="-120"/>
              </a:rPr>
              <a:t>문제  </a:t>
            </a:r>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일상 알림·업무 피로</a:t>
            </a:r>
            <a:endParaRPr lang="en-US" sz="750" dirty="0"/>
          </a:p>
        </p:txBody>
      </p:sp>
      <p:sp>
        <p:nvSpPr>
          <p:cNvPr id="53" name="글상자 52"/>
          <p:cNvSpPr txBox="1"/>
          <p:nvPr/>
        </p:nvSpPr>
        <p:spPr>
          <a:xfrm>
            <a:off x="2689708" y="5500207"/>
            <a:ext cx="1233434" cy="177759"/>
          </a:xfrm>
          <a:prstGeom prst="rect">
            <a:avLst/>
          </a:prstGeom>
          <a:noFill/>
          <a:ln/>
        </p:spPr>
        <p:txBody>
          <a:bodyPr wrap="none" lIns="0" tIns="0" rIns="0" bIns="0" rtlCol="0" anchor="ctr"/>
          <a:lstStyle/>
          <a:p>
            <a:pPr algn="l" indent="0" marL="0">
              <a:buNone/>
            </a:pPr>
            <a:r>
              <a:rPr lang="ko-KR" altLang="en-US" sz="750" spc="75" kern="0" dirty="0">
                <a:solidFill>
                  <a:srgbClr val="646D40"/>
                </a:solidFill>
                <a:latin typeface="Paperlogy 8 ExtraBold" pitchFamily="34" charset="0"/>
                <a:ea typeface="Paperlogy 8 ExtraBold" pitchFamily="34" charset="-122"/>
                <a:cs typeface="Paperlogy 8 ExtraBold" pitchFamily="34" charset="-120"/>
              </a:rPr>
              <a:t>위험  </a:t>
            </a:r>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참여 의향 불확실</a:t>
            </a:r>
            <a:endParaRPr lang="en-US" sz="750" dirty="0"/>
          </a:p>
        </p:txBody>
      </p:sp>
      <p:sp>
        <p:nvSpPr>
          <p:cNvPr id="54" name="글상자 53"/>
          <p:cNvSpPr txBox="1"/>
          <p:nvPr/>
        </p:nvSpPr>
        <p:spPr>
          <a:xfrm>
            <a:off x="5315041" y="5377038"/>
            <a:ext cx="548274" cy="140360"/>
          </a:xfrm>
          <a:prstGeom prst="rect">
            <a:avLst/>
          </a:prstGeom>
          <a:noFill/>
          <a:ln/>
        </p:spPr>
        <p:txBody>
          <a:bodyPr wrap="none" lIns="0" tIns="0" rIns="0" bIns="0" rtlCol="0" anchor="ctr"/>
          <a:lstStyle/>
          <a:p>
            <a:pPr algn="l" indent="0" marL="0">
              <a:buNone/>
            </a:pPr>
            <a:r>
              <a:rPr lang="ko-KR" altLang="en-US" sz="850" spc="34" kern="0" dirty="0">
                <a:solidFill>
                  <a:srgbClr val="2E3A1B"/>
                </a:solidFill>
                <a:latin typeface="Paperlogy 7 Bold" pitchFamily="34" charset="0"/>
                <a:ea typeface="Paperlogy 7 Bold" pitchFamily="34" charset="-122"/>
                <a:cs typeface="Paperlogy 7 Bold" pitchFamily="34" charset="-120"/>
              </a:rPr>
              <a:t>평가 후보</a:t>
            </a:r>
            <a:endParaRPr lang="en-US" sz="850" dirty="0"/>
          </a:p>
        </p:txBody>
      </p:sp>
      <p:sp>
        <p:nvSpPr>
          <p:cNvPr id="55" name="글상자 54"/>
          <p:cNvSpPr txBox="1"/>
          <p:nvPr/>
        </p:nvSpPr>
        <p:spPr>
          <a:xfrm>
            <a:off x="6337341" y="2648468"/>
            <a:ext cx="355062" cy="285750"/>
          </a:xfrm>
          <a:prstGeom prst="rect">
            <a:avLst/>
          </a:prstGeom>
          <a:noFill/>
          <a:ln/>
        </p:spPr>
        <p:txBody>
          <a:bodyPr wrap="none" lIns="0" tIns="0" rIns="0" bIns="0" rtlCol="0" anchor="ctr"/>
          <a:lstStyle/>
          <a:p>
            <a:pPr algn="l" indent="0" marL="0">
              <a:buNone/>
            </a:pPr>
            <a:r>
              <a:rPr lang="ko-KR" altLang="en-US" sz="1500" spc="-30" kern="0" dirty="0">
                <a:solidFill>
                  <a:srgbClr val="737F4A"/>
                </a:solidFill>
                <a:latin typeface="Paperlogy 8 ExtraBold" pitchFamily="34" charset="0"/>
                <a:ea typeface="Paperlogy 8 ExtraBold" pitchFamily="34" charset="-122"/>
                <a:cs typeface="Paperlogy 8 ExtraBold" pitchFamily="34" charset="-120"/>
              </a:rPr>
              <a:t>06</a:t>
            </a:r>
            <a:endParaRPr lang="en-US" sz="1500" dirty="0"/>
          </a:p>
        </p:txBody>
      </p:sp>
      <p:sp>
        <p:nvSpPr>
          <p:cNvPr id="56" name="글상자 55"/>
          <p:cNvSpPr txBox="1"/>
          <p:nvPr/>
        </p:nvSpPr>
        <p:spPr>
          <a:xfrm>
            <a:off x="6845290" y="2558308"/>
            <a:ext cx="1576517" cy="239390"/>
          </a:xfrm>
          <a:prstGeom prst="rect">
            <a:avLst/>
          </a:prstGeom>
          <a:noFill/>
          <a:ln/>
        </p:spPr>
        <p:txBody>
          <a:bodyPr wrap="none" lIns="0" tIns="0" rIns="0" bIns="0" rtlCol="0" anchor="ctr"/>
          <a:lstStyle/>
          <a:p>
            <a:pPr algn="l" indent="0" marL="0">
              <a:buNone/>
            </a:pPr>
            <a:r>
              <a:rPr lang="ko-KR" altLang="en-US" sz="1450" spc="-29" kern="0" dirty="0">
                <a:solidFill>
                  <a:srgbClr val="2E3A1B"/>
                </a:solidFill>
                <a:latin typeface="Paperlogy 7 Bold" pitchFamily="34" charset="0"/>
                <a:ea typeface="Paperlogy 7 Bold" pitchFamily="34" charset="-122"/>
                <a:cs typeface="Paperlogy 7 Bold" pitchFamily="34" charset="-120"/>
              </a:rPr>
              <a:t>로컬 카페 휴식 패스</a:t>
            </a:r>
            <a:endParaRPr lang="en-US" sz="1450" dirty="0"/>
          </a:p>
        </p:txBody>
      </p:sp>
      <p:sp>
        <p:nvSpPr>
          <p:cNvPr id="57" name="글상자 56"/>
          <p:cNvSpPr txBox="1"/>
          <p:nvPr/>
        </p:nvSpPr>
        <p:spPr>
          <a:xfrm>
            <a:off x="6845290" y="2841132"/>
            <a:ext cx="1380470" cy="177759"/>
          </a:xfrm>
          <a:prstGeom prst="rect">
            <a:avLst/>
          </a:prstGeom>
          <a:noFill/>
          <a:ln/>
        </p:spPr>
        <p:txBody>
          <a:bodyPr wrap="none" lIns="0" tIns="0" rIns="0" bIns="0" rtlCol="0" anchor="ctr"/>
          <a:lstStyle/>
          <a:p>
            <a:pPr algn="l" indent="0" marL="0">
              <a:buNone/>
            </a:pPr>
            <a:r>
              <a:rPr lang="ko-KR" altLang="en-US" sz="750" spc="75" kern="0" dirty="0">
                <a:solidFill>
                  <a:srgbClr val="646D40"/>
                </a:solidFill>
                <a:latin typeface="Paperlogy 8 ExtraBold" pitchFamily="34" charset="0"/>
                <a:ea typeface="Paperlogy 8 ExtraBold" pitchFamily="34" charset="-122"/>
                <a:cs typeface="Paperlogy 8 ExtraBold" pitchFamily="34" charset="-120"/>
              </a:rPr>
              <a:t>문제  </a:t>
            </a:r>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쉴 곳 찾기 번거로움</a:t>
            </a:r>
            <a:endParaRPr lang="en-US" sz="750" dirty="0"/>
          </a:p>
        </p:txBody>
      </p:sp>
      <p:sp>
        <p:nvSpPr>
          <p:cNvPr id="58" name="글상자 57"/>
          <p:cNvSpPr txBox="1"/>
          <p:nvPr/>
        </p:nvSpPr>
        <p:spPr>
          <a:xfrm>
            <a:off x="8193573" y="2841132"/>
            <a:ext cx="1114745" cy="177759"/>
          </a:xfrm>
          <a:prstGeom prst="rect">
            <a:avLst/>
          </a:prstGeom>
          <a:noFill/>
          <a:ln/>
        </p:spPr>
        <p:txBody>
          <a:bodyPr wrap="none" lIns="0" tIns="0" rIns="0" bIns="0" rtlCol="0" anchor="ctr"/>
          <a:lstStyle/>
          <a:p>
            <a:pPr algn="l" indent="0" marL="0">
              <a:buNone/>
            </a:pPr>
            <a:r>
              <a:rPr lang="ko-KR" altLang="en-US" sz="750" spc="75" kern="0" dirty="0">
                <a:solidFill>
                  <a:srgbClr val="646D40"/>
                </a:solidFill>
                <a:latin typeface="Paperlogy 8 ExtraBold" pitchFamily="34" charset="0"/>
                <a:ea typeface="Paperlogy 8 ExtraBold" pitchFamily="34" charset="-122"/>
                <a:cs typeface="Paperlogy 8 ExtraBold" pitchFamily="34" charset="-120"/>
              </a:rPr>
              <a:t>위험  </a:t>
            </a:r>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제휴 카페 확보</a:t>
            </a:r>
            <a:endParaRPr lang="en-US" sz="750" dirty="0"/>
          </a:p>
        </p:txBody>
      </p:sp>
      <p:sp>
        <p:nvSpPr>
          <p:cNvPr id="59" name="글상자 58"/>
          <p:cNvSpPr txBox="1"/>
          <p:nvPr/>
        </p:nvSpPr>
        <p:spPr>
          <a:xfrm>
            <a:off x="10826862" y="2717963"/>
            <a:ext cx="548274" cy="140360"/>
          </a:xfrm>
          <a:prstGeom prst="rect">
            <a:avLst/>
          </a:prstGeom>
          <a:noFill/>
          <a:ln/>
        </p:spPr>
        <p:txBody>
          <a:bodyPr wrap="none" lIns="0" tIns="0" rIns="0" bIns="0" rtlCol="0" anchor="ctr"/>
          <a:lstStyle/>
          <a:p>
            <a:pPr algn="l" indent="0" marL="0">
              <a:buNone/>
            </a:pPr>
            <a:r>
              <a:rPr lang="ko-KR" altLang="en-US" sz="850" spc="34" kern="0" dirty="0">
                <a:solidFill>
                  <a:srgbClr val="2E3A1B"/>
                </a:solidFill>
                <a:latin typeface="Paperlogy 7 Bold" pitchFamily="34" charset="0"/>
                <a:ea typeface="Paperlogy 7 Bold" pitchFamily="34" charset="-122"/>
                <a:cs typeface="Paperlogy 7 Bold" pitchFamily="34" charset="-120"/>
              </a:rPr>
              <a:t>평가 후보</a:t>
            </a:r>
            <a:endParaRPr lang="en-US" sz="850" dirty="0"/>
          </a:p>
        </p:txBody>
      </p:sp>
      <p:sp>
        <p:nvSpPr>
          <p:cNvPr id="60" name="글상자 59"/>
          <p:cNvSpPr txBox="1"/>
          <p:nvPr/>
        </p:nvSpPr>
        <p:spPr>
          <a:xfrm>
            <a:off x="6337341" y="3313237"/>
            <a:ext cx="355062" cy="285750"/>
          </a:xfrm>
          <a:prstGeom prst="rect">
            <a:avLst/>
          </a:prstGeom>
          <a:noFill/>
          <a:ln/>
        </p:spPr>
        <p:txBody>
          <a:bodyPr wrap="none" lIns="0" tIns="0" rIns="0" bIns="0" rtlCol="0" anchor="ctr"/>
          <a:lstStyle/>
          <a:p>
            <a:pPr algn="l" indent="0" marL="0">
              <a:buNone/>
            </a:pPr>
            <a:r>
              <a:rPr lang="ko-KR" altLang="en-US" sz="1500" spc="-30" kern="0" dirty="0">
                <a:solidFill>
                  <a:srgbClr val="737F4A"/>
                </a:solidFill>
                <a:latin typeface="Paperlogy 8 ExtraBold" pitchFamily="34" charset="0"/>
                <a:ea typeface="Paperlogy 8 ExtraBold" pitchFamily="34" charset="-122"/>
                <a:cs typeface="Paperlogy 8 ExtraBold" pitchFamily="34" charset="-120"/>
              </a:rPr>
              <a:t>07</a:t>
            </a:r>
            <a:endParaRPr lang="en-US" sz="1500" dirty="0"/>
          </a:p>
        </p:txBody>
      </p:sp>
      <p:sp>
        <p:nvSpPr>
          <p:cNvPr id="61" name="글상자 60"/>
          <p:cNvSpPr txBox="1"/>
          <p:nvPr/>
        </p:nvSpPr>
        <p:spPr>
          <a:xfrm>
            <a:off x="6845290" y="3223077"/>
            <a:ext cx="1747693" cy="239390"/>
          </a:xfrm>
          <a:prstGeom prst="rect">
            <a:avLst/>
          </a:prstGeom>
          <a:noFill/>
          <a:ln/>
        </p:spPr>
        <p:txBody>
          <a:bodyPr wrap="none" lIns="0" tIns="0" rIns="0" bIns="0" rtlCol="0" anchor="ctr"/>
          <a:lstStyle/>
          <a:p>
            <a:pPr algn="l" indent="0" marL="0">
              <a:buNone/>
            </a:pPr>
            <a:r>
              <a:rPr lang="ko-KR" altLang="en-US" sz="1450" spc="-29" kern="0" dirty="0">
                <a:solidFill>
                  <a:srgbClr val="2E3A1B"/>
                </a:solidFill>
                <a:latin typeface="Paperlogy 7 Bold" pitchFamily="34" charset="0"/>
                <a:ea typeface="Paperlogy 7 Bold" pitchFamily="34" charset="-122"/>
                <a:cs typeface="Paperlogy 7 Bold" pitchFamily="34" charset="-120"/>
              </a:rPr>
              <a:t>선택형 호수 산책 코스</a:t>
            </a:r>
            <a:endParaRPr lang="en-US" sz="1450" dirty="0"/>
          </a:p>
        </p:txBody>
      </p:sp>
      <p:sp>
        <p:nvSpPr>
          <p:cNvPr id="62" name="글상자 61"/>
          <p:cNvSpPr txBox="1"/>
          <p:nvPr/>
        </p:nvSpPr>
        <p:spPr>
          <a:xfrm>
            <a:off x="6845290" y="3505901"/>
            <a:ext cx="1123158" cy="177759"/>
          </a:xfrm>
          <a:prstGeom prst="rect">
            <a:avLst/>
          </a:prstGeom>
          <a:noFill/>
          <a:ln/>
        </p:spPr>
        <p:txBody>
          <a:bodyPr wrap="none" lIns="0" tIns="0" rIns="0" bIns="0" rtlCol="0" anchor="ctr"/>
          <a:lstStyle/>
          <a:p>
            <a:pPr algn="l" indent="0" marL="0">
              <a:buNone/>
            </a:pPr>
            <a:r>
              <a:rPr lang="ko-KR" altLang="en-US" sz="750" spc="75" kern="0" dirty="0">
                <a:solidFill>
                  <a:srgbClr val="646D40"/>
                </a:solidFill>
                <a:latin typeface="Paperlogy 8 ExtraBold" pitchFamily="34" charset="0"/>
                <a:ea typeface="Paperlogy 8 ExtraBold" pitchFamily="34" charset="-122"/>
                <a:cs typeface="Paperlogy 8 ExtraBold" pitchFamily="34" charset="-120"/>
              </a:rPr>
              <a:t>문제  </a:t>
            </a:r>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체력·취향 차이</a:t>
            </a:r>
            <a:endParaRPr lang="en-US" sz="750" dirty="0"/>
          </a:p>
        </p:txBody>
      </p:sp>
      <p:sp>
        <p:nvSpPr>
          <p:cNvPr id="63" name="글상자 62"/>
          <p:cNvSpPr txBox="1"/>
          <p:nvPr/>
        </p:nvSpPr>
        <p:spPr>
          <a:xfrm>
            <a:off x="7955371" y="3505901"/>
            <a:ext cx="1233434" cy="177759"/>
          </a:xfrm>
          <a:prstGeom prst="rect">
            <a:avLst/>
          </a:prstGeom>
          <a:noFill/>
          <a:ln/>
        </p:spPr>
        <p:txBody>
          <a:bodyPr wrap="none" lIns="0" tIns="0" rIns="0" bIns="0" rtlCol="0" anchor="ctr"/>
          <a:lstStyle/>
          <a:p>
            <a:pPr algn="l" indent="0" marL="0">
              <a:buNone/>
            </a:pPr>
            <a:r>
              <a:rPr lang="ko-KR" altLang="en-US" sz="750" spc="75" kern="0" dirty="0">
                <a:solidFill>
                  <a:srgbClr val="646D40"/>
                </a:solidFill>
                <a:latin typeface="Paperlogy 8 ExtraBold" pitchFamily="34" charset="0"/>
                <a:ea typeface="Paperlogy 8 ExtraBold" pitchFamily="34" charset="-122"/>
                <a:cs typeface="Paperlogy 8 ExtraBold" pitchFamily="34" charset="-120"/>
              </a:rPr>
              <a:t>위험  </a:t>
            </a:r>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코스별 안전 안내</a:t>
            </a:r>
            <a:endParaRPr lang="en-US" sz="750" dirty="0"/>
          </a:p>
        </p:txBody>
      </p:sp>
      <p:sp>
        <p:nvSpPr>
          <p:cNvPr id="64" name="글상자 63"/>
          <p:cNvSpPr txBox="1"/>
          <p:nvPr/>
        </p:nvSpPr>
        <p:spPr>
          <a:xfrm>
            <a:off x="6337341" y="3978006"/>
            <a:ext cx="355062" cy="285750"/>
          </a:xfrm>
          <a:prstGeom prst="rect">
            <a:avLst/>
          </a:prstGeom>
          <a:noFill/>
          <a:ln/>
        </p:spPr>
        <p:txBody>
          <a:bodyPr wrap="none" lIns="0" tIns="0" rIns="0" bIns="0" rtlCol="0" anchor="ctr"/>
          <a:lstStyle/>
          <a:p>
            <a:pPr algn="l" indent="0" marL="0">
              <a:buNone/>
            </a:pPr>
            <a:r>
              <a:rPr lang="ko-KR" altLang="en-US" sz="1500" spc="-30" kern="0" dirty="0">
                <a:solidFill>
                  <a:srgbClr val="737F4A"/>
                </a:solidFill>
                <a:latin typeface="Paperlogy 8 ExtraBold" pitchFamily="34" charset="0"/>
                <a:ea typeface="Paperlogy 8 ExtraBold" pitchFamily="34" charset="-122"/>
                <a:cs typeface="Paperlogy 8 ExtraBold" pitchFamily="34" charset="-120"/>
              </a:rPr>
              <a:t>08</a:t>
            </a:r>
            <a:endParaRPr lang="en-US" sz="1500" dirty="0"/>
          </a:p>
        </p:txBody>
      </p:sp>
      <p:sp>
        <p:nvSpPr>
          <p:cNvPr id="65" name="글상자 64"/>
          <p:cNvSpPr txBox="1"/>
          <p:nvPr/>
        </p:nvSpPr>
        <p:spPr>
          <a:xfrm>
            <a:off x="6845290" y="3887846"/>
            <a:ext cx="1365748" cy="239390"/>
          </a:xfrm>
          <a:prstGeom prst="rect">
            <a:avLst/>
          </a:prstGeom>
          <a:noFill/>
          <a:ln/>
        </p:spPr>
        <p:txBody>
          <a:bodyPr wrap="none" lIns="0" tIns="0" rIns="0" bIns="0" rtlCol="0" anchor="ctr"/>
          <a:lstStyle/>
          <a:p>
            <a:pPr algn="l" indent="0" marL="0">
              <a:buNone/>
            </a:pPr>
            <a:r>
              <a:rPr lang="ko-KR" altLang="en-US" sz="1450" spc="-29" kern="0" dirty="0">
                <a:solidFill>
                  <a:srgbClr val="2E3A1B"/>
                </a:solidFill>
                <a:latin typeface="Paperlogy 7 Bold" pitchFamily="34" charset="0"/>
                <a:ea typeface="Paperlogy 7 Bold" pitchFamily="34" charset="-122"/>
                <a:cs typeface="Paperlogy 7 Bold" pitchFamily="34" charset="-120"/>
              </a:rPr>
              <a:t>소규모 일몰 감상</a:t>
            </a:r>
            <a:endParaRPr lang="en-US" sz="1450" dirty="0"/>
          </a:p>
        </p:txBody>
      </p:sp>
      <p:sp>
        <p:nvSpPr>
          <p:cNvPr id="66" name="글상자 65"/>
          <p:cNvSpPr txBox="1"/>
          <p:nvPr/>
        </p:nvSpPr>
        <p:spPr>
          <a:xfrm>
            <a:off x="6845290" y="4170670"/>
            <a:ext cx="1499250" cy="177759"/>
          </a:xfrm>
          <a:prstGeom prst="rect">
            <a:avLst/>
          </a:prstGeom>
          <a:noFill/>
          <a:ln/>
        </p:spPr>
        <p:txBody>
          <a:bodyPr wrap="none" lIns="0" tIns="0" rIns="0" bIns="0" rtlCol="0" anchor="ctr"/>
          <a:lstStyle/>
          <a:p>
            <a:pPr algn="l" indent="0" marL="0">
              <a:buNone/>
            </a:pPr>
            <a:r>
              <a:rPr lang="ko-KR" altLang="en-US" sz="750" spc="75" kern="0" dirty="0">
                <a:solidFill>
                  <a:srgbClr val="646D40"/>
                </a:solidFill>
                <a:latin typeface="Paperlogy 8 ExtraBold" pitchFamily="34" charset="0"/>
                <a:ea typeface="Paperlogy 8 ExtraBold" pitchFamily="34" charset="-122"/>
                <a:cs typeface="Paperlogy 8 ExtraBold" pitchFamily="34" charset="-120"/>
              </a:rPr>
              <a:t>문제  </a:t>
            </a:r>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조용한 저녁 경험 부족</a:t>
            </a:r>
            <a:endParaRPr lang="en-US" sz="750" dirty="0"/>
          </a:p>
        </p:txBody>
      </p:sp>
      <p:sp>
        <p:nvSpPr>
          <p:cNvPr id="67" name="글상자 66"/>
          <p:cNvSpPr txBox="1"/>
          <p:nvPr/>
        </p:nvSpPr>
        <p:spPr>
          <a:xfrm>
            <a:off x="8303575" y="4170670"/>
            <a:ext cx="1123158" cy="177759"/>
          </a:xfrm>
          <a:prstGeom prst="rect">
            <a:avLst/>
          </a:prstGeom>
          <a:noFill/>
          <a:ln/>
        </p:spPr>
        <p:txBody>
          <a:bodyPr wrap="none" lIns="0" tIns="0" rIns="0" bIns="0" rtlCol="0" anchor="ctr"/>
          <a:lstStyle/>
          <a:p>
            <a:pPr algn="l" indent="0" marL="0">
              <a:buNone/>
            </a:pPr>
            <a:r>
              <a:rPr lang="ko-KR" altLang="en-US" sz="750" spc="75" kern="0" dirty="0">
                <a:solidFill>
                  <a:srgbClr val="646D40"/>
                </a:solidFill>
                <a:latin typeface="Paperlogy 8 ExtraBold" pitchFamily="34" charset="0"/>
                <a:ea typeface="Paperlogy 8 ExtraBold" pitchFamily="34" charset="-122"/>
                <a:cs typeface="Paperlogy 8 ExtraBold" pitchFamily="34" charset="-120"/>
              </a:rPr>
              <a:t>위험  </a:t>
            </a:r>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귀가 시간·교통</a:t>
            </a:r>
            <a:endParaRPr lang="en-US" sz="750" dirty="0"/>
          </a:p>
        </p:txBody>
      </p:sp>
      <p:sp>
        <p:nvSpPr>
          <p:cNvPr id="68" name="글상자 67"/>
          <p:cNvSpPr txBox="1"/>
          <p:nvPr/>
        </p:nvSpPr>
        <p:spPr>
          <a:xfrm>
            <a:off x="6337341" y="4642775"/>
            <a:ext cx="355062" cy="285750"/>
          </a:xfrm>
          <a:prstGeom prst="rect">
            <a:avLst/>
          </a:prstGeom>
          <a:noFill/>
          <a:ln/>
        </p:spPr>
        <p:txBody>
          <a:bodyPr wrap="none" lIns="0" tIns="0" rIns="0" bIns="0" rtlCol="0" anchor="ctr"/>
          <a:lstStyle/>
          <a:p>
            <a:pPr algn="l" indent="0" marL="0">
              <a:buNone/>
            </a:pPr>
            <a:r>
              <a:rPr lang="ko-KR" altLang="en-US" sz="1500" spc="-30" kern="0" dirty="0">
                <a:solidFill>
                  <a:srgbClr val="737F4A"/>
                </a:solidFill>
                <a:latin typeface="Paperlogy 8 ExtraBold" pitchFamily="34" charset="0"/>
                <a:ea typeface="Paperlogy 8 ExtraBold" pitchFamily="34" charset="-122"/>
                <a:cs typeface="Paperlogy 8 ExtraBold" pitchFamily="34" charset="-120"/>
              </a:rPr>
              <a:t>09</a:t>
            </a:r>
            <a:endParaRPr lang="en-US" sz="1500" dirty="0"/>
          </a:p>
        </p:txBody>
      </p:sp>
      <p:sp>
        <p:nvSpPr>
          <p:cNvPr id="69" name="글상자 68"/>
          <p:cNvSpPr txBox="1"/>
          <p:nvPr/>
        </p:nvSpPr>
        <p:spPr>
          <a:xfrm>
            <a:off x="6845290" y="4552615"/>
            <a:ext cx="1918686" cy="239390"/>
          </a:xfrm>
          <a:prstGeom prst="rect">
            <a:avLst/>
          </a:prstGeom>
          <a:noFill/>
          <a:ln/>
        </p:spPr>
        <p:txBody>
          <a:bodyPr wrap="none" lIns="0" tIns="0" rIns="0" bIns="0" rtlCol="0" anchor="ctr"/>
          <a:lstStyle/>
          <a:p>
            <a:pPr algn="l" indent="0" marL="0">
              <a:buNone/>
            </a:pPr>
            <a:r>
              <a:rPr lang="ko-KR" altLang="en-US" sz="1450" spc="-29" kern="0" dirty="0">
                <a:solidFill>
                  <a:srgbClr val="2E3A1B"/>
                </a:solidFill>
                <a:latin typeface="Paperlogy 7 Bold" pitchFamily="34" charset="0"/>
                <a:ea typeface="Paperlogy 7 Bold" pitchFamily="34" charset="-122"/>
                <a:cs typeface="Paperlogy 7 Bold" pitchFamily="34" charset="-120"/>
              </a:rPr>
              <a:t>동선 최소화 힐링 패키지</a:t>
            </a:r>
            <a:endParaRPr lang="en-US" sz="1450" dirty="0"/>
          </a:p>
        </p:txBody>
      </p:sp>
      <p:sp>
        <p:nvSpPr>
          <p:cNvPr id="70" name="글상자 69"/>
          <p:cNvSpPr txBox="1"/>
          <p:nvPr/>
        </p:nvSpPr>
        <p:spPr>
          <a:xfrm>
            <a:off x="6845290" y="4835439"/>
            <a:ext cx="1233434" cy="177759"/>
          </a:xfrm>
          <a:prstGeom prst="rect">
            <a:avLst/>
          </a:prstGeom>
          <a:noFill/>
          <a:ln/>
        </p:spPr>
        <p:txBody>
          <a:bodyPr wrap="none" lIns="0" tIns="0" rIns="0" bIns="0" rtlCol="0" anchor="ctr"/>
          <a:lstStyle/>
          <a:p>
            <a:pPr algn="l" indent="0" marL="0">
              <a:buNone/>
            </a:pPr>
            <a:r>
              <a:rPr lang="ko-KR" altLang="en-US" sz="750" spc="75" kern="0" dirty="0">
                <a:solidFill>
                  <a:srgbClr val="646D40"/>
                </a:solidFill>
                <a:latin typeface="Paperlogy 8 ExtraBold" pitchFamily="34" charset="0"/>
                <a:ea typeface="Paperlogy 8 ExtraBold" pitchFamily="34" charset="-122"/>
                <a:cs typeface="Paperlogy 8 ExtraBold" pitchFamily="34" charset="-120"/>
              </a:rPr>
              <a:t>문제  </a:t>
            </a:r>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잦은 이동의 피로</a:t>
            </a:r>
            <a:endParaRPr lang="en-US" sz="750" dirty="0"/>
          </a:p>
        </p:txBody>
      </p:sp>
      <p:sp>
        <p:nvSpPr>
          <p:cNvPr id="71" name="글상자 70"/>
          <p:cNvSpPr txBox="1"/>
          <p:nvPr/>
        </p:nvSpPr>
        <p:spPr>
          <a:xfrm>
            <a:off x="8057418" y="4835439"/>
            <a:ext cx="1123158" cy="177759"/>
          </a:xfrm>
          <a:prstGeom prst="rect">
            <a:avLst/>
          </a:prstGeom>
          <a:noFill/>
          <a:ln/>
        </p:spPr>
        <p:txBody>
          <a:bodyPr wrap="none" lIns="0" tIns="0" rIns="0" bIns="0" rtlCol="0" anchor="ctr"/>
          <a:lstStyle/>
          <a:p>
            <a:pPr algn="l" indent="0" marL="0">
              <a:buNone/>
            </a:pPr>
            <a:r>
              <a:rPr lang="ko-KR" altLang="en-US" sz="750" spc="75" kern="0" dirty="0">
                <a:solidFill>
                  <a:srgbClr val="646D40"/>
                </a:solidFill>
                <a:latin typeface="Paperlogy 8 ExtraBold" pitchFamily="34" charset="0"/>
                <a:ea typeface="Paperlogy 8 ExtraBold" pitchFamily="34" charset="-122"/>
                <a:cs typeface="Paperlogy 8 ExtraBold" pitchFamily="34" charset="-120"/>
              </a:rPr>
              <a:t>위험  </a:t>
            </a:r>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이동 수단·비용</a:t>
            </a:r>
            <a:endParaRPr lang="en-US" sz="750" dirty="0"/>
          </a:p>
        </p:txBody>
      </p:sp>
      <p:sp>
        <p:nvSpPr>
          <p:cNvPr id="72" name="글상자 71"/>
          <p:cNvSpPr txBox="1"/>
          <p:nvPr/>
        </p:nvSpPr>
        <p:spPr>
          <a:xfrm>
            <a:off x="6337341" y="5307543"/>
            <a:ext cx="355062" cy="285750"/>
          </a:xfrm>
          <a:prstGeom prst="rect">
            <a:avLst/>
          </a:prstGeom>
          <a:noFill/>
          <a:ln/>
        </p:spPr>
        <p:txBody>
          <a:bodyPr wrap="none" lIns="0" tIns="0" rIns="0" bIns="0" rtlCol="0" anchor="ctr"/>
          <a:lstStyle/>
          <a:p>
            <a:pPr algn="l" indent="0" marL="0">
              <a:buNone/>
            </a:pPr>
            <a:r>
              <a:rPr lang="ko-KR" altLang="en-US" sz="1500" spc="-30" kern="0" dirty="0">
                <a:solidFill>
                  <a:srgbClr val="737F4A"/>
                </a:solidFill>
                <a:latin typeface="Paperlogy 8 ExtraBold" pitchFamily="34" charset="0"/>
                <a:ea typeface="Paperlogy 8 ExtraBold" pitchFamily="34" charset="-122"/>
                <a:cs typeface="Paperlogy 8 ExtraBold" pitchFamily="34" charset="-120"/>
              </a:rPr>
              <a:t>10</a:t>
            </a:r>
            <a:endParaRPr lang="en-US" sz="1500" dirty="0"/>
          </a:p>
        </p:txBody>
      </p:sp>
      <p:sp>
        <p:nvSpPr>
          <p:cNvPr id="73" name="글상자 72"/>
          <p:cNvSpPr txBox="1"/>
          <p:nvPr/>
        </p:nvSpPr>
        <p:spPr>
          <a:xfrm>
            <a:off x="6845290" y="5217384"/>
            <a:ext cx="1747693" cy="239390"/>
          </a:xfrm>
          <a:prstGeom prst="rect">
            <a:avLst/>
          </a:prstGeom>
          <a:noFill/>
          <a:ln/>
        </p:spPr>
        <p:txBody>
          <a:bodyPr wrap="none" lIns="0" tIns="0" rIns="0" bIns="0" rtlCol="0" anchor="ctr"/>
          <a:lstStyle/>
          <a:p>
            <a:pPr algn="l" indent="0" marL="0">
              <a:buNone/>
            </a:pPr>
            <a:r>
              <a:rPr lang="ko-KR" altLang="en-US" sz="1450" spc="-29" kern="0" dirty="0">
                <a:solidFill>
                  <a:srgbClr val="2E3A1B"/>
                </a:solidFill>
                <a:latin typeface="Paperlogy 7 Bold" pitchFamily="34" charset="0"/>
                <a:ea typeface="Paperlogy 7 Bold" pitchFamily="34" charset="-122"/>
                <a:cs typeface="Paperlogy 7 Bold" pitchFamily="34" charset="-120"/>
              </a:rPr>
              <a:t>나만의 춘천 쉼표 여행</a:t>
            </a:r>
            <a:endParaRPr lang="en-US" sz="1450" dirty="0"/>
          </a:p>
        </p:txBody>
      </p:sp>
      <p:sp>
        <p:nvSpPr>
          <p:cNvPr id="74" name="글상자 73"/>
          <p:cNvSpPr txBox="1"/>
          <p:nvPr/>
        </p:nvSpPr>
        <p:spPr>
          <a:xfrm>
            <a:off x="6845290" y="5500207"/>
            <a:ext cx="1114745" cy="177759"/>
          </a:xfrm>
          <a:prstGeom prst="rect">
            <a:avLst/>
          </a:prstGeom>
          <a:noFill/>
          <a:ln/>
        </p:spPr>
        <p:txBody>
          <a:bodyPr wrap="none" lIns="0" tIns="0" rIns="0" bIns="0" rtlCol="0" anchor="ctr"/>
          <a:lstStyle/>
          <a:p>
            <a:pPr algn="l" indent="0" marL="0">
              <a:buNone/>
            </a:pPr>
            <a:r>
              <a:rPr lang="ko-KR" altLang="en-US" sz="750" spc="75" kern="0" dirty="0">
                <a:solidFill>
                  <a:srgbClr val="646D40"/>
                </a:solidFill>
                <a:latin typeface="Paperlogy 8 ExtraBold" pitchFamily="34" charset="0"/>
                <a:ea typeface="Paperlogy 8 ExtraBold" pitchFamily="34" charset="-122"/>
                <a:cs typeface="Paperlogy 8 ExtraBold" pitchFamily="34" charset="-120"/>
              </a:rPr>
              <a:t>문제  </a:t>
            </a:r>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여행 계획 부담</a:t>
            </a:r>
            <a:endParaRPr lang="en-US" sz="750" dirty="0"/>
          </a:p>
        </p:txBody>
      </p:sp>
      <p:sp>
        <p:nvSpPr>
          <p:cNvPr id="75" name="글상자 74"/>
          <p:cNvSpPr txBox="1"/>
          <p:nvPr/>
        </p:nvSpPr>
        <p:spPr>
          <a:xfrm>
            <a:off x="7947508" y="5500207"/>
            <a:ext cx="967710" cy="177759"/>
          </a:xfrm>
          <a:prstGeom prst="rect">
            <a:avLst/>
          </a:prstGeom>
          <a:noFill/>
          <a:ln/>
        </p:spPr>
        <p:txBody>
          <a:bodyPr wrap="none" lIns="0" tIns="0" rIns="0" bIns="0" rtlCol="0" anchor="ctr"/>
          <a:lstStyle/>
          <a:p>
            <a:pPr algn="l" indent="0" marL="0">
              <a:buNone/>
            </a:pPr>
            <a:r>
              <a:rPr lang="ko-KR" altLang="en-US" sz="750" spc="75" kern="0" dirty="0">
                <a:solidFill>
                  <a:srgbClr val="646D40"/>
                </a:solidFill>
                <a:latin typeface="Paperlogy 8 ExtraBold" pitchFamily="34" charset="0"/>
                <a:ea typeface="Paperlogy 8 ExtraBold" pitchFamily="34" charset="-122"/>
                <a:cs typeface="Paperlogy 8 ExtraBold" pitchFamily="34" charset="-120"/>
              </a:rPr>
              <a:t>위험  </a:t>
            </a:r>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선택지 과다</a:t>
            </a:r>
            <a:endParaRPr lang="en-US" sz="750" dirty="0"/>
          </a:p>
        </p:txBody>
      </p:sp>
      <p:sp>
        <p:nvSpPr>
          <p:cNvPr id="76" name="글상자 75"/>
          <p:cNvSpPr txBox="1"/>
          <p:nvPr/>
        </p:nvSpPr>
        <p:spPr>
          <a:xfrm>
            <a:off x="10826862" y="5377038"/>
            <a:ext cx="548274" cy="140360"/>
          </a:xfrm>
          <a:prstGeom prst="rect">
            <a:avLst/>
          </a:prstGeom>
          <a:noFill/>
          <a:ln/>
        </p:spPr>
        <p:txBody>
          <a:bodyPr wrap="none" lIns="0" tIns="0" rIns="0" bIns="0" rtlCol="0" anchor="ctr"/>
          <a:lstStyle/>
          <a:p>
            <a:pPr algn="l" indent="0" marL="0">
              <a:buNone/>
            </a:pPr>
            <a:r>
              <a:rPr lang="ko-KR" altLang="en-US" sz="850" spc="34" kern="0" dirty="0">
                <a:solidFill>
                  <a:srgbClr val="2E3A1B"/>
                </a:solidFill>
                <a:latin typeface="Paperlogy 7 Bold" pitchFamily="34" charset="0"/>
                <a:ea typeface="Paperlogy 7 Bold" pitchFamily="34" charset="-122"/>
                <a:cs typeface="Paperlogy 7 Bold" pitchFamily="34" charset="-120"/>
              </a:rPr>
              <a:t>평가 후보</a:t>
            </a:r>
            <a:endParaRPr lang="en-US" sz="850" dirty="0"/>
          </a:p>
        </p:txBody>
      </p:sp>
      <p:sp>
        <p:nvSpPr>
          <p:cNvPr id="77" name="글상자 76"/>
          <p:cNvSpPr txBox="1"/>
          <p:nvPr/>
        </p:nvSpPr>
        <p:spPr>
          <a:xfrm>
            <a:off x="698510" y="6316675"/>
            <a:ext cx="4215567" cy="180960"/>
          </a:xfrm>
          <a:prstGeom prst="rect">
            <a:avLst/>
          </a:prstGeom>
          <a:noFill/>
          <a:ln/>
        </p:spPr>
        <p:txBody>
          <a:bodyPr wrap="none" lIns="0" tIns="0" rIns="0" bIns="0" rtlCol="0" anchor="ctr"/>
          <a:lstStyle/>
          <a:p>
            <a:pPr algn="l" indent="0" marL="0">
              <a:buNone/>
            </a:pPr>
            <a:r>
              <a:rPr lang="ko-KR" altLang="en-US" sz="950" spc="10" kern="0" dirty="0">
                <a:solidFill>
                  <a:srgbClr val="646D40"/>
                </a:solidFill>
                <a:latin typeface="Paperlogy 4 Regular" pitchFamily="34" charset="0"/>
                <a:ea typeface="Paperlogy 4 Regular" pitchFamily="34" charset="-122"/>
                <a:cs typeface="Paperlogy 4 Regular" pitchFamily="34" charset="-120"/>
              </a:rPr>
              <a:t>초기 발산 단계에서는 아이디어를 탈락시키지 않고 고객 문제와 위험을 함께 기록</a:t>
            </a:r>
            <a:endParaRPr lang="en-US" sz="950" dirty="0"/>
          </a:p>
        </p:txBody>
      </p:sp>
      <p:sp>
        <p:nvSpPr>
          <p:cNvPr id="78" name="글상자 77"/>
          <p:cNvSpPr txBox="1"/>
          <p:nvPr/>
        </p:nvSpPr>
        <p:spPr>
          <a:xfrm>
            <a:off x="10996849" y="6316675"/>
            <a:ext cx="597926" cy="180960"/>
          </a:xfrm>
          <a:prstGeom prst="rect">
            <a:avLst/>
          </a:prstGeom>
          <a:noFill/>
          <a:ln/>
        </p:spPr>
        <p:txBody>
          <a:bodyPr wrap="none" lIns="0" tIns="0" rIns="0" bIns="0" rtlCol="0" anchor="ctr"/>
          <a:lstStyle/>
          <a:p>
            <a:pPr algn="l" indent="0" marL="0">
              <a:buNone/>
            </a:pPr>
            <a:r>
              <a:rPr lang="ko-KR" altLang="en-US" sz="950" spc="57" kern="0" dirty="0">
                <a:solidFill>
                  <a:srgbClr val="2E3A1B"/>
                </a:solidFill>
                <a:latin typeface="Paperlogy 7 Bold" pitchFamily="34" charset="0"/>
                <a:ea typeface="Paperlogy 7 Bold" pitchFamily="34" charset="-122"/>
                <a:cs typeface="Paperlogy 7 Bold" pitchFamily="34" charset="-120"/>
              </a:rPr>
              <a:t>05 / 10</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6"/>
        </a:solidFill>
      </p:bgPr>
    </p:bg>
    <p:spTree>
      <p:nvGrpSpPr>
        <p:cNvPr id="1" name=""/>
        <p:cNvGrpSpPr/>
        <p:nvPr/>
      </p:nvGrpSpPr>
      <p:grpSpPr>
        <a:xfrm>
          <a:off x="0" y="0"/>
          <a:ext cx="0" cy="0"/>
          <a:chOff x="0" y="0"/>
          <a:chExt cx="0" cy="0"/>
        </a:xfrm>
      </p:grpSpPr>
      <p:sp>
        <p:nvSpPr>
          <p:cNvPr id="2" name="선 1"/>
          <p:cNvSpPr/>
          <p:nvPr/>
        </p:nvSpPr>
        <p:spPr>
          <a:xfrm>
            <a:off x="711220" y="658825"/>
            <a:ext cx="254020" cy="0"/>
          </a:xfrm>
          <a:prstGeom prst="line">
            <a:avLst/>
          </a:prstGeom>
          <a:noFill/>
          <a:ln w="12700">
            <a:solidFill>
              <a:srgbClr val="737F4A"/>
            </a:solidFill>
            <a:prstDash val="solid"/>
          </a:ln>
        </p:spPr>
      </p:sp>
      <p:sp>
        <p:nvSpPr>
          <p:cNvPr id="3" name="선 2"/>
          <p:cNvSpPr/>
          <p:nvPr/>
        </p:nvSpPr>
        <p:spPr>
          <a:xfrm>
            <a:off x="711220" y="2557394"/>
            <a:ext cx="7035759" cy="0"/>
          </a:xfrm>
          <a:prstGeom prst="line">
            <a:avLst/>
          </a:prstGeom>
          <a:noFill/>
          <a:ln w="6350">
            <a:solidFill>
              <a:srgbClr val="D5CEB8"/>
            </a:solidFill>
            <a:prstDash val="solid"/>
          </a:ln>
        </p:spPr>
      </p:sp>
      <p:sp>
        <p:nvSpPr>
          <p:cNvPr id="4" name="상자 3"/>
          <p:cNvSpPr/>
          <p:nvPr/>
        </p:nvSpPr>
        <p:spPr>
          <a:xfrm>
            <a:off x="3124230" y="1950964"/>
            <a:ext cx="1748241" cy="609630"/>
          </a:xfrm>
          <a:prstGeom prst="roundRect">
            <a:avLst>
              <a:gd name="adj" fmla="val 14579"/>
            </a:avLst>
          </a:prstGeom>
          <a:solidFill>
            <a:srgbClr val="DDE3C7"/>
          </a:solidFill>
          <a:ln/>
        </p:spPr>
      </p:sp>
      <p:sp>
        <p:nvSpPr>
          <p:cNvPr id="5" name="상자 4"/>
          <p:cNvSpPr/>
          <p:nvPr/>
        </p:nvSpPr>
        <p:spPr>
          <a:xfrm>
            <a:off x="4188226" y="2236714"/>
            <a:ext cx="292334" cy="203180"/>
          </a:xfrm>
          <a:prstGeom prst="roundRect">
            <a:avLst>
              <a:gd name="adj" fmla="val 50000"/>
            </a:avLst>
          </a:prstGeom>
          <a:solidFill>
            <a:srgbClr val="2E3A1B"/>
          </a:solidFill>
          <a:ln/>
        </p:spPr>
      </p:sp>
      <p:sp>
        <p:nvSpPr>
          <p:cNvPr id="6" name="선 5"/>
          <p:cNvSpPr/>
          <p:nvPr/>
        </p:nvSpPr>
        <p:spPr>
          <a:xfrm>
            <a:off x="711220" y="2951043"/>
            <a:ext cx="7035759" cy="0"/>
          </a:xfrm>
          <a:prstGeom prst="line">
            <a:avLst/>
          </a:prstGeom>
          <a:noFill/>
          <a:ln w="6350">
            <a:solidFill>
              <a:srgbClr val="D5CEB8"/>
            </a:solidFill>
            <a:prstDash val="solid"/>
          </a:ln>
        </p:spPr>
      </p:sp>
      <p:sp>
        <p:nvSpPr>
          <p:cNvPr id="7" name="상자 6"/>
          <p:cNvSpPr/>
          <p:nvPr/>
        </p:nvSpPr>
        <p:spPr>
          <a:xfrm>
            <a:off x="3124230" y="2560503"/>
            <a:ext cx="1748241" cy="393741"/>
          </a:xfrm>
          <a:prstGeom prst="rect">
            <a:avLst/>
          </a:prstGeom>
          <a:solidFill>
            <a:srgbClr val="DDE3C7"/>
          </a:solidFill>
          <a:ln/>
        </p:spPr>
      </p:sp>
      <p:sp>
        <p:nvSpPr>
          <p:cNvPr id="8" name="선 7"/>
          <p:cNvSpPr/>
          <p:nvPr/>
        </p:nvSpPr>
        <p:spPr>
          <a:xfrm>
            <a:off x="711220" y="3344784"/>
            <a:ext cx="7035759" cy="0"/>
          </a:xfrm>
          <a:prstGeom prst="line">
            <a:avLst/>
          </a:prstGeom>
          <a:noFill/>
          <a:ln w="6350">
            <a:solidFill>
              <a:srgbClr val="D5CEB8"/>
            </a:solidFill>
            <a:prstDash val="solid"/>
          </a:ln>
        </p:spPr>
      </p:sp>
      <p:sp>
        <p:nvSpPr>
          <p:cNvPr id="9" name="상자 8"/>
          <p:cNvSpPr/>
          <p:nvPr/>
        </p:nvSpPr>
        <p:spPr>
          <a:xfrm>
            <a:off x="3124230" y="2954244"/>
            <a:ext cx="1748241" cy="393741"/>
          </a:xfrm>
          <a:prstGeom prst="rect">
            <a:avLst/>
          </a:prstGeom>
          <a:solidFill>
            <a:srgbClr val="DDE3C7"/>
          </a:solidFill>
          <a:ln/>
        </p:spPr>
      </p:sp>
      <p:sp>
        <p:nvSpPr>
          <p:cNvPr id="10" name="선 9"/>
          <p:cNvSpPr/>
          <p:nvPr/>
        </p:nvSpPr>
        <p:spPr>
          <a:xfrm>
            <a:off x="711220" y="3738433"/>
            <a:ext cx="7035759" cy="0"/>
          </a:xfrm>
          <a:prstGeom prst="line">
            <a:avLst/>
          </a:prstGeom>
          <a:noFill/>
          <a:ln w="6350">
            <a:solidFill>
              <a:srgbClr val="D5CEB8"/>
            </a:solidFill>
            <a:prstDash val="solid"/>
          </a:ln>
        </p:spPr>
      </p:sp>
      <p:sp>
        <p:nvSpPr>
          <p:cNvPr id="11" name="상자 10"/>
          <p:cNvSpPr/>
          <p:nvPr/>
        </p:nvSpPr>
        <p:spPr>
          <a:xfrm>
            <a:off x="3124230" y="3347893"/>
            <a:ext cx="1748241" cy="393741"/>
          </a:xfrm>
          <a:prstGeom prst="rect">
            <a:avLst/>
          </a:prstGeom>
          <a:solidFill>
            <a:srgbClr val="DDE3C7"/>
          </a:solidFill>
          <a:ln/>
        </p:spPr>
      </p:sp>
      <p:sp>
        <p:nvSpPr>
          <p:cNvPr id="12" name="선 11"/>
          <p:cNvSpPr/>
          <p:nvPr/>
        </p:nvSpPr>
        <p:spPr>
          <a:xfrm>
            <a:off x="711220" y="4132174"/>
            <a:ext cx="7035759" cy="0"/>
          </a:xfrm>
          <a:prstGeom prst="line">
            <a:avLst/>
          </a:prstGeom>
          <a:noFill/>
          <a:ln w="6350">
            <a:solidFill>
              <a:srgbClr val="D5CEB8"/>
            </a:solidFill>
            <a:prstDash val="solid"/>
          </a:ln>
        </p:spPr>
      </p:sp>
      <p:sp>
        <p:nvSpPr>
          <p:cNvPr id="13" name="상자 12"/>
          <p:cNvSpPr/>
          <p:nvPr/>
        </p:nvSpPr>
        <p:spPr>
          <a:xfrm>
            <a:off x="3124230" y="3741633"/>
            <a:ext cx="1748241" cy="393741"/>
          </a:xfrm>
          <a:prstGeom prst="rect">
            <a:avLst/>
          </a:prstGeom>
          <a:solidFill>
            <a:srgbClr val="DDE3C7"/>
          </a:solidFill>
          <a:ln/>
        </p:spPr>
      </p:sp>
      <p:sp>
        <p:nvSpPr>
          <p:cNvPr id="14" name="선 13"/>
          <p:cNvSpPr/>
          <p:nvPr/>
        </p:nvSpPr>
        <p:spPr>
          <a:xfrm>
            <a:off x="711220" y="4525823"/>
            <a:ext cx="7035759" cy="0"/>
          </a:xfrm>
          <a:prstGeom prst="line">
            <a:avLst/>
          </a:prstGeom>
          <a:noFill/>
          <a:ln w="6350">
            <a:solidFill>
              <a:srgbClr val="D5CEB8"/>
            </a:solidFill>
            <a:prstDash val="solid"/>
          </a:ln>
        </p:spPr>
      </p:sp>
      <p:sp>
        <p:nvSpPr>
          <p:cNvPr id="15" name="상자 14"/>
          <p:cNvSpPr/>
          <p:nvPr/>
        </p:nvSpPr>
        <p:spPr>
          <a:xfrm>
            <a:off x="3124230" y="4135374"/>
            <a:ext cx="1748241" cy="393741"/>
          </a:xfrm>
          <a:prstGeom prst="rect">
            <a:avLst/>
          </a:prstGeom>
          <a:solidFill>
            <a:srgbClr val="DDE3C7"/>
          </a:solidFill>
          <a:ln/>
        </p:spPr>
      </p:sp>
      <p:sp>
        <p:nvSpPr>
          <p:cNvPr id="16" name="선 15"/>
          <p:cNvSpPr/>
          <p:nvPr/>
        </p:nvSpPr>
        <p:spPr>
          <a:xfrm>
            <a:off x="711220" y="4919563"/>
            <a:ext cx="7035759" cy="0"/>
          </a:xfrm>
          <a:prstGeom prst="line">
            <a:avLst/>
          </a:prstGeom>
          <a:noFill/>
          <a:ln w="6350">
            <a:solidFill>
              <a:srgbClr val="D5CEB8"/>
            </a:solidFill>
            <a:prstDash val="solid"/>
          </a:ln>
        </p:spPr>
      </p:sp>
      <p:sp>
        <p:nvSpPr>
          <p:cNvPr id="17" name="상자 16"/>
          <p:cNvSpPr/>
          <p:nvPr/>
        </p:nvSpPr>
        <p:spPr>
          <a:xfrm>
            <a:off x="3124230" y="4529023"/>
            <a:ext cx="1748241" cy="393741"/>
          </a:xfrm>
          <a:prstGeom prst="rect">
            <a:avLst/>
          </a:prstGeom>
          <a:solidFill>
            <a:srgbClr val="DDE3C7"/>
          </a:solidFill>
          <a:ln/>
        </p:spPr>
      </p:sp>
      <p:sp>
        <p:nvSpPr>
          <p:cNvPr id="18" name="상자 17"/>
          <p:cNvSpPr/>
          <p:nvPr/>
        </p:nvSpPr>
        <p:spPr>
          <a:xfrm>
            <a:off x="3124230" y="4922764"/>
            <a:ext cx="1748241" cy="584210"/>
          </a:xfrm>
          <a:prstGeom prst="roundRect">
            <a:avLst>
              <a:gd name="adj" fmla="val 15214"/>
            </a:avLst>
          </a:prstGeom>
          <a:solidFill>
            <a:srgbClr val="DDE3C7"/>
          </a:solidFill>
          <a:ln/>
        </p:spPr>
      </p:sp>
      <p:sp>
        <p:nvSpPr>
          <p:cNvPr id="19" name="상자 18"/>
          <p:cNvSpPr/>
          <p:nvPr/>
        </p:nvSpPr>
        <p:spPr>
          <a:xfrm>
            <a:off x="8054950" y="1601663"/>
            <a:ext cx="3422691" cy="1587490"/>
          </a:xfrm>
          <a:prstGeom prst="roundRect">
            <a:avLst>
              <a:gd name="adj" fmla="val 5403"/>
            </a:avLst>
          </a:prstGeom>
          <a:solidFill>
            <a:srgbClr val="FBF9F3"/>
          </a:solidFill>
          <a:ln w="6350">
            <a:solidFill>
              <a:srgbClr val="D5CEB8"/>
            </a:solidFill>
            <a:prstDash val="solid"/>
          </a:ln>
        </p:spPr>
      </p:sp>
      <p:sp>
        <p:nvSpPr>
          <p:cNvPr id="20" name="상자 19"/>
          <p:cNvSpPr/>
          <p:nvPr/>
        </p:nvSpPr>
        <p:spPr>
          <a:xfrm>
            <a:off x="8054950" y="3335274"/>
            <a:ext cx="3422691" cy="2466960"/>
          </a:xfrm>
          <a:prstGeom prst="roundRect">
            <a:avLst>
              <a:gd name="adj" fmla="val 3477"/>
            </a:avLst>
          </a:prstGeom>
          <a:solidFill>
            <a:srgbClr val="FBF9F3"/>
          </a:solidFill>
          <a:ln w="6350">
            <a:solidFill>
              <a:srgbClr val="D5CEB8"/>
            </a:solidFill>
            <a:prstDash val="solid"/>
          </a:ln>
        </p:spPr>
      </p:sp>
      <p:sp>
        <p:nvSpPr>
          <p:cNvPr id="21" name="상자 20"/>
          <p:cNvSpPr/>
          <p:nvPr/>
        </p:nvSpPr>
        <p:spPr>
          <a:xfrm>
            <a:off x="9467515" y="3494014"/>
            <a:ext cx="696133" cy="203180"/>
          </a:xfrm>
          <a:prstGeom prst="roundRect">
            <a:avLst>
              <a:gd name="adj" fmla="val 50000"/>
            </a:avLst>
          </a:prstGeom>
          <a:noFill/>
          <a:ln w="6350">
            <a:solidFill>
              <a:srgbClr val="646D40"/>
            </a:solidFill>
            <a:prstDash val="dash"/>
          </a:ln>
        </p:spPr>
      </p:sp>
      <p:sp>
        <p:nvSpPr>
          <p:cNvPr id="22" name="선 21"/>
          <p:cNvSpPr/>
          <p:nvPr/>
        </p:nvSpPr>
        <p:spPr>
          <a:xfrm>
            <a:off x="8235909" y="3792474"/>
            <a:ext cx="3060680" cy="0"/>
          </a:xfrm>
          <a:prstGeom prst="line">
            <a:avLst/>
          </a:prstGeom>
          <a:noFill/>
          <a:ln w="6350">
            <a:solidFill>
              <a:srgbClr val="D5CEB8"/>
            </a:solidFill>
            <a:prstDash val="solid"/>
          </a:ln>
        </p:spPr>
      </p:sp>
      <p:sp>
        <p:nvSpPr>
          <p:cNvPr id="23" name="상자 22"/>
          <p:cNvSpPr/>
          <p:nvPr/>
        </p:nvSpPr>
        <p:spPr>
          <a:xfrm>
            <a:off x="10650474" y="3906408"/>
            <a:ext cx="646206" cy="175199"/>
          </a:xfrm>
          <a:prstGeom prst="roundRect">
            <a:avLst>
              <a:gd name="adj" fmla="val 50000"/>
            </a:avLst>
          </a:prstGeom>
          <a:solidFill>
            <a:srgbClr val="F1E5BD"/>
          </a:solidFill>
          <a:ln/>
        </p:spPr>
      </p:sp>
      <p:sp>
        <p:nvSpPr>
          <p:cNvPr id="24" name="선 23"/>
          <p:cNvSpPr/>
          <p:nvPr/>
        </p:nvSpPr>
        <p:spPr>
          <a:xfrm>
            <a:off x="8235909" y="4411523"/>
            <a:ext cx="3060680" cy="0"/>
          </a:xfrm>
          <a:prstGeom prst="line">
            <a:avLst/>
          </a:prstGeom>
          <a:noFill/>
          <a:ln w="6350">
            <a:solidFill>
              <a:srgbClr val="D5CEB8"/>
            </a:solidFill>
            <a:prstDash val="solid"/>
          </a:ln>
        </p:spPr>
      </p:sp>
      <p:sp>
        <p:nvSpPr>
          <p:cNvPr id="25" name="상자 24"/>
          <p:cNvSpPr/>
          <p:nvPr/>
        </p:nvSpPr>
        <p:spPr>
          <a:xfrm>
            <a:off x="10957255" y="4525548"/>
            <a:ext cx="339425" cy="175199"/>
          </a:xfrm>
          <a:prstGeom prst="roundRect">
            <a:avLst>
              <a:gd name="adj" fmla="val 50000"/>
            </a:avLst>
          </a:prstGeom>
          <a:solidFill>
            <a:srgbClr val="DDE3C7"/>
          </a:solidFill>
          <a:ln/>
        </p:spPr>
      </p:sp>
      <p:sp>
        <p:nvSpPr>
          <p:cNvPr id="26" name="선 25"/>
          <p:cNvSpPr/>
          <p:nvPr/>
        </p:nvSpPr>
        <p:spPr>
          <a:xfrm>
            <a:off x="8235909" y="5030663"/>
            <a:ext cx="3060680" cy="0"/>
          </a:xfrm>
          <a:prstGeom prst="line">
            <a:avLst/>
          </a:prstGeom>
          <a:noFill/>
          <a:ln w="6350">
            <a:solidFill>
              <a:srgbClr val="D5CEB8"/>
            </a:solidFill>
            <a:prstDash val="solid"/>
          </a:ln>
        </p:spPr>
      </p:sp>
      <p:sp>
        <p:nvSpPr>
          <p:cNvPr id="27" name="상자 26"/>
          <p:cNvSpPr/>
          <p:nvPr/>
        </p:nvSpPr>
        <p:spPr>
          <a:xfrm>
            <a:off x="10650474" y="5144689"/>
            <a:ext cx="646206" cy="175199"/>
          </a:xfrm>
          <a:prstGeom prst="roundRect">
            <a:avLst>
              <a:gd name="adj" fmla="val 50000"/>
            </a:avLst>
          </a:prstGeom>
          <a:solidFill>
            <a:srgbClr val="F1E5BD"/>
          </a:solidFill>
          <a:ln/>
        </p:spPr>
      </p:sp>
      <p:sp>
        <p:nvSpPr>
          <p:cNvPr id="28" name="선 27"/>
          <p:cNvSpPr/>
          <p:nvPr/>
        </p:nvSpPr>
        <p:spPr>
          <a:xfrm>
            <a:off x="711220" y="6203930"/>
            <a:ext cx="10769620" cy="0"/>
          </a:xfrm>
          <a:prstGeom prst="line">
            <a:avLst/>
          </a:prstGeom>
          <a:noFill/>
          <a:ln w="6350">
            <a:solidFill>
              <a:srgbClr val="D5CEB8"/>
            </a:solidFill>
            <a:prstDash val="solid"/>
          </a:ln>
        </p:spPr>
      </p:sp>
      <p:sp>
        <p:nvSpPr>
          <p:cNvPr id="29" name="글상자 28"/>
          <p:cNvSpPr txBox="1"/>
          <p:nvPr/>
        </p:nvSpPr>
        <p:spPr>
          <a:xfrm>
            <a:off x="1054120" y="557235"/>
            <a:ext cx="1922343" cy="200071"/>
          </a:xfrm>
          <a:prstGeom prst="rect">
            <a:avLst/>
          </a:prstGeom>
          <a:noFill/>
          <a:ln/>
        </p:spPr>
        <p:txBody>
          <a:bodyPr wrap="none" lIns="0" tIns="0" rIns="0" bIns="0" rtlCol="0" anchor="ctr"/>
          <a:lstStyle/>
          <a:p>
            <a:pPr algn="l" indent="0" marL="0">
              <a:buNone/>
            </a:pPr>
            <a:r>
              <a:rPr lang="ko-KR" altLang="en-US" sz="1050" spc="231" kern="0" dirty="0">
                <a:solidFill>
                  <a:srgbClr val="646D40"/>
                </a:solidFill>
                <a:latin typeface="Paperlogy 6 SemiBold" pitchFamily="34" charset="0"/>
                <a:ea typeface="Paperlogy 6 SemiBold" pitchFamily="34" charset="-122"/>
                <a:cs typeface="Paperlogy 6 SemiBold" pitchFamily="34" charset="-120"/>
              </a:rPr>
              <a:t>IDEA EVALUATION</a:t>
            </a:r>
            <a:endParaRPr lang="en-US" sz="1050" dirty="0"/>
          </a:p>
        </p:txBody>
      </p:sp>
      <p:sp>
        <p:nvSpPr>
          <p:cNvPr id="30" name="글상자 29"/>
          <p:cNvSpPr txBox="1"/>
          <p:nvPr/>
        </p:nvSpPr>
        <p:spPr>
          <a:xfrm>
            <a:off x="698510" y="833750"/>
            <a:ext cx="5796473" cy="561350"/>
          </a:xfrm>
          <a:prstGeom prst="rect">
            <a:avLst/>
          </a:prstGeom>
          <a:noFill/>
          <a:ln/>
        </p:spPr>
        <p:txBody>
          <a:bodyPr wrap="none" lIns="0" tIns="0" rIns="0" bIns="0" rtlCol="0" anchor="ctr"/>
          <a:lstStyle/>
          <a:p>
            <a:pPr algn="l" indent="0" marL="0">
              <a:buNone/>
            </a:pPr>
            <a:r>
              <a:rPr lang="ko-KR" altLang="en-US" sz="3400" spc="-102" kern="0" dirty="0">
                <a:solidFill>
                  <a:srgbClr val="2E3A1B"/>
                </a:solidFill>
                <a:latin typeface="Paperlogy 7 Bold" pitchFamily="34" charset="0"/>
                <a:ea typeface="Paperlogy 7 Bold" pitchFamily="34" charset="-122"/>
                <a:cs typeface="Paperlogy 7 Bold" pitchFamily="34" charset="-120"/>
              </a:rPr>
              <a:t>어떤 아이디어가 가장 적합할까?</a:t>
            </a:r>
            <a:endParaRPr lang="en-US" sz="3400" dirty="0"/>
          </a:p>
        </p:txBody>
      </p:sp>
      <p:sp>
        <p:nvSpPr>
          <p:cNvPr id="31" name="글상자 30"/>
          <p:cNvSpPr txBox="1"/>
          <p:nvPr/>
        </p:nvSpPr>
        <p:spPr>
          <a:xfrm>
            <a:off x="698510" y="1596908"/>
            <a:ext cx="3731209" cy="238110"/>
          </a:xfrm>
          <a:prstGeom prst="rect">
            <a:avLst/>
          </a:prstGeom>
          <a:noFill/>
          <a:ln/>
        </p:spPr>
        <p:txBody>
          <a:bodyPr wrap="none" lIns="0" tIns="0" rIns="0" bIns="0" rtlCol="0" anchor="ctr"/>
          <a:lstStyle/>
          <a:p>
            <a:pPr algn="l" indent="0" marL="0">
              <a:buNone/>
            </a:pPr>
            <a:r>
              <a:rPr lang="ko-KR" altLang="en-US" sz="1250" spc="-14" kern="0" dirty="0">
                <a:solidFill>
                  <a:srgbClr val="45512A"/>
                </a:solidFill>
                <a:latin typeface="Paperlogy 4 Regular" pitchFamily="34" charset="0"/>
                <a:ea typeface="Paperlogy 4 Regular" pitchFamily="34" charset="-122"/>
                <a:cs typeface="Paperlogy 4 Regular" pitchFamily="34" charset="-120"/>
              </a:rPr>
              <a:t>제시된 6가지 평가 기준을 적용해 후보 3개를 비교했다.</a:t>
            </a:r>
            <a:endParaRPr lang="en-US" sz="1250" dirty="0"/>
          </a:p>
        </p:txBody>
      </p:sp>
      <p:sp>
        <p:nvSpPr>
          <p:cNvPr id="32" name="글상자 31"/>
          <p:cNvSpPr txBox="1"/>
          <p:nvPr/>
        </p:nvSpPr>
        <p:spPr>
          <a:xfrm>
            <a:off x="723930" y="2125523"/>
            <a:ext cx="1057778" cy="247620"/>
          </a:xfrm>
          <a:prstGeom prst="rect">
            <a:avLst/>
          </a:prstGeom>
          <a:noFill/>
          <a:ln/>
        </p:spPr>
        <p:txBody>
          <a:bodyPr wrap="none" lIns="0" tIns="0" rIns="0" bIns="0" rtlCol="0" anchor="ctr"/>
          <a:lstStyle/>
          <a:p>
            <a:pPr algn="l" indent="0" marL="0">
              <a:buNone/>
            </a:pPr>
            <a:r>
              <a:rPr lang="ko-KR" altLang="en-US" sz="1300" spc="-14" kern="0" dirty="0">
                <a:solidFill>
                  <a:srgbClr val="2E3A1B"/>
                </a:solidFill>
                <a:latin typeface="Paperlogy 8 ExtraBold" pitchFamily="34" charset="0"/>
                <a:ea typeface="Paperlogy 8 ExtraBold" pitchFamily="34" charset="-122"/>
                <a:cs typeface="Paperlogy 8 ExtraBold" pitchFamily="34" charset="-120"/>
              </a:rPr>
              <a:t>평가 항목 </a:t>
            </a:r>
            <a:pPr algn="l" indent="0" marL="0">
              <a:buNone/>
            </a:pPr>
            <a:r>
              <a:rPr lang="ko-KR" altLang="en-US" sz="800" spc="96" kern="0" dirty="0">
                <a:solidFill>
                  <a:srgbClr val="646D40"/>
                </a:solidFill>
                <a:latin typeface="Paperlogy 7 Bold" pitchFamily="34" charset="0"/>
                <a:ea typeface="Paperlogy 7 Bold" pitchFamily="34" charset="-122"/>
                <a:cs typeface="Paperlogy 7 Bold" pitchFamily="34" charset="-120"/>
              </a:rPr>
              <a:t>  배점</a:t>
            </a:r>
            <a:endParaRPr lang="en-US" sz="1300" dirty="0"/>
          </a:p>
        </p:txBody>
      </p:sp>
      <p:sp>
        <p:nvSpPr>
          <p:cNvPr id="33" name="글상자 32"/>
          <p:cNvSpPr txBox="1"/>
          <p:nvPr/>
        </p:nvSpPr>
        <p:spPr>
          <a:xfrm>
            <a:off x="3867455" y="2036643"/>
            <a:ext cx="261610" cy="152430"/>
          </a:xfrm>
          <a:prstGeom prst="rect">
            <a:avLst/>
          </a:prstGeom>
          <a:noFill/>
          <a:ln/>
        </p:spPr>
        <p:txBody>
          <a:bodyPr wrap="none" lIns="0" tIns="0" rIns="0" bIns="0" rtlCol="0" anchor="ctr"/>
          <a:lstStyle/>
          <a:p>
            <a:pPr algn="ctr" indent="0" marL="0">
              <a:buNone/>
            </a:pPr>
            <a:r>
              <a:rPr lang="ko-KR" altLang="en-US" sz="800" spc="96" kern="0" dirty="0">
                <a:solidFill>
                  <a:srgbClr val="45512A"/>
                </a:solidFill>
                <a:latin typeface="Paperlogy 7 Bold" pitchFamily="34" charset="0"/>
                <a:ea typeface="Paperlogy 7 Bold" pitchFamily="34" charset="-122"/>
                <a:cs typeface="Paperlogy 7 Bold" pitchFamily="34" charset="-120"/>
              </a:rPr>
              <a:t>10</a:t>
            </a:r>
            <a:endParaRPr lang="en-US" sz="800" dirty="0"/>
          </a:p>
        </p:txBody>
      </p:sp>
      <p:sp>
        <p:nvSpPr>
          <p:cNvPr id="34" name="글상자 33"/>
          <p:cNvSpPr txBox="1"/>
          <p:nvPr/>
        </p:nvSpPr>
        <p:spPr>
          <a:xfrm>
            <a:off x="3447288" y="2214494"/>
            <a:ext cx="746242" cy="247620"/>
          </a:xfrm>
          <a:prstGeom prst="rect">
            <a:avLst/>
          </a:prstGeom>
          <a:noFill/>
          <a:ln/>
        </p:spPr>
        <p:txBody>
          <a:bodyPr wrap="none" lIns="0" tIns="0" rIns="0" bIns="0" rtlCol="0" anchor="ctr"/>
          <a:lstStyle/>
          <a:p>
            <a:pPr algn="ctr" indent="0" marL="0">
              <a:buNone/>
            </a:pPr>
            <a:r>
              <a:rPr lang="ko-KR" altLang="en-US" sz="1300" spc="-14" kern="0" dirty="0">
                <a:solidFill>
                  <a:srgbClr val="2E3A1B"/>
                </a:solidFill>
                <a:latin typeface="Paperlogy 8 ExtraBold" pitchFamily="34" charset="0"/>
                <a:ea typeface="Paperlogy 8 ExtraBold" pitchFamily="34" charset="-122"/>
                <a:cs typeface="Paperlogy 8 ExtraBold" pitchFamily="34" charset="-120"/>
              </a:rPr>
              <a:t>쉼표 여행</a:t>
            </a:r>
            <a:endParaRPr lang="en-US" sz="1300" dirty="0"/>
          </a:p>
        </p:txBody>
      </p:sp>
      <p:sp>
        <p:nvSpPr>
          <p:cNvPr id="35" name="글상자 34"/>
          <p:cNvSpPr txBox="1"/>
          <p:nvPr/>
        </p:nvSpPr>
        <p:spPr>
          <a:xfrm>
            <a:off x="4200662" y="2258934"/>
            <a:ext cx="267462" cy="152430"/>
          </a:xfrm>
          <a:prstGeom prst="rect">
            <a:avLst/>
          </a:prstGeom>
          <a:noFill/>
          <a:ln/>
        </p:spPr>
        <p:txBody>
          <a:bodyPr wrap="none" lIns="0" tIns="0" rIns="0" bIns="0" rtlCol="0" anchor="ctr"/>
          <a:lstStyle/>
          <a:p>
            <a:pPr algn="ctr" indent="0" marL="0">
              <a:buNone/>
            </a:pPr>
            <a:r>
              <a:rPr lang="ko-KR" altLang="en-US" sz="800" spc="32" kern="0" dirty="0">
                <a:solidFill>
                  <a:srgbClr val="F5F1E6"/>
                </a:solidFill>
                <a:latin typeface="Paperlogy 7 Bold" pitchFamily="34" charset="0"/>
                <a:ea typeface="Paperlogy 7 Bold" pitchFamily="34" charset="-122"/>
                <a:cs typeface="Paperlogy 7 Bold" pitchFamily="34" charset="-120"/>
              </a:rPr>
              <a:t>1위</a:t>
            </a:r>
            <a:endParaRPr lang="en-US" sz="800" dirty="0"/>
          </a:p>
        </p:txBody>
      </p:sp>
      <p:sp>
        <p:nvSpPr>
          <p:cNvPr id="36" name="글상자 35"/>
          <p:cNvSpPr txBox="1"/>
          <p:nvPr/>
        </p:nvSpPr>
        <p:spPr>
          <a:xfrm>
            <a:off x="5355001" y="2036643"/>
            <a:ext cx="261610" cy="152430"/>
          </a:xfrm>
          <a:prstGeom prst="rect">
            <a:avLst/>
          </a:prstGeom>
          <a:noFill/>
          <a:ln/>
        </p:spPr>
        <p:txBody>
          <a:bodyPr wrap="none" lIns="0" tIns="0" rIns="0" bIns="0" rtlCol="0" anchor="ctr"/>
          <a:lstStyle/>
          <a:p>
            <a:pPr algn="ctr" indent="0" marL="0">
              <a:buNone/>
            </a:pPr>
            <a:r>
              <a:rPr lang="ko-KR" altLang="en-US" sz="800" spc="96" kern="0" dirty="0">
                <a:solidFill>
                  <a:srgbClr val="646D40"/>
                </a:solidFill>
                <a:latin typeface="Paperlogy 7 Bold" pitchFamily="34" charset="0"/>
                <a:ea typeface="Paperlogy 7 Bold" pitchFamily="34" charset="-122"/>
                <a:cs typeface="Paperlogy 7 Bold" pitchFamily="34" charset="-120"/>
              </a:rPr>
              <a:t>06</a:t>
            </a:r>
            <a:endParaRPr lang="en-US" sz="800" dirty="0"/>
          </a:p>
        </p:txBody>
      </p:sp>
      <p:sp>
        <p:nvSpPr>
          <p:cNvPr id="37" name="글상자 36"/>
          <p:cNvSpPr txBox="1"/>
          <p:nvPr/>
        </p:nvSpPr>
        <p:spPr>
          <a:xfrm>
            <a:off x="5112685" y="2214494"/>
            <a:ext cx="746242" cy="247620"/>
          </a:xfrm>
          <a:prstGeom prst="rect">
            <a:avLst/>
          </a:prstGeom>
          <a:noFill/>
          <a:ln/>
        </p:spPr>
        <p:txBody>
          <a:bodyPr wrap="none" lIns="0" tIns="0" rIns="0" bIns="0" rtlCol="0" anchor="ctr"/>
          <a:lstStyle/>
          <a:p>
            <a:pPr algn="ctr" indent="0" marL="0">
              <a:buNone/>
            </a:pPr>
            <a:r>
              <a:rPr lang="ko-KR" altLang="en-US" sz="1300" spc="-14" kern="0" dirty="0">
                <a:solidFill>
                  <a:srgbClr val="2E3A1B"/>
                </a:solidFill>
                <a:latin typeface="Paperlogy 8 ExtraBold" pitchFamily="34" charset="0"/>
                <a:ea typeface="Paperlogy 8 ExtraBold" pitchFamily="34" charset="-122"/>
                <a:cs typeface="Paperlogy 8 ExtraBold" pitchFamily="34" charset="-120"/>
              </a:rPr>
              <a:t>카페 패스</a:t>
            </a:r>
            <a:endParaRPr lang="en-US" sz="1300" dirty="0"/>
          </a:p>
        </p:txBody>
      </p:sp>
      <p:sp>
        <p:nvSpPr>
          <p:cNvPr id="38" name="글상자 37"/>
          <p:cNvSpPr txBox="1"/>
          <p:nvPr/>
        </p:nvSpPr>
        <p:spPr>
          <a:xfrm>
            <a:off x="6792255" y="2036643"/>
            <a:ext cx="261610" cy="152430"/>
          </a:xfrm>
          <a:prstGeom prst="rect">
            <a:avLst/>
          </a:prstGeom>
          <a:noFill/>
          <a:ln/>
        </p:spPr>
        <p:txBody>
          <a:bodyPr wrap="none" lIns="0" tIns="0" rIns="0" bIns="0" rtlCol="0" anchor="ctr"/>
          <a:lstStyle/>
          <a:p>
            <a:pPr algn="ctr" indent="0" marL="0">
              <a:buNone/>
            </a:pPr>
            <a:r>
              <a:rPr lang="ko-KR" altLang="en-US" sz="800" spc="96" kern="0" dirty="0">
                <a:solidFill>
                  <a:srgbClr val="646D40"/>
                </a:solidFill>
                <a:latin typeface="Paperlogy 7 Bold" pitchFamily="34" charset="0"/>
                <a:ea typeface="Paperlogy 7 Bold" pitchFamily="34" charset="-122"/>
                <a:cs typeface="Paperlogy 7 Bold" pitchFamily="34" charset="-120"/>
              </a:rPr>
              <a:t>05</a:t>
            </a:r>
            <a:endParaRPr lang="en-US" sz="800" dirty="0"/>
          </a:p>
        </p:txBody>
      </p:sp>
      <p:sp>
        <p:nvSpPr>
          <p:cNvPr id="39" name="글상자 38"/>
          <p:cNvSpPr txBox="1"/>
          <p:nvPr/>
        </p:nvSpPr>
        <p:spPr>
          <a:xfrm>
            <a:off x="6395039" y="2214494"/>
            <a:ext cx="1056223" cy="247620"/>
          </a:xfrm>
          <a:prstGeom prst="rect">
            <a:avLst/>
          </a:prstGeom>
          <a:noFill/>
          <a:ln/>
        </p:spPr>
        <p:txBody>
          <a:bodyPr wrap="none" lIns="0" tIns="0" rIns="0" bIns="0" rtlCol="0" anchor="ctr"/>
          <a:lstStyle/>
          <a:p>
            <a:pPr algn="ctr" indent="0" marL="0">
              <a:buNone/>
            </a:pPr>
            <a:r>
              <a:rPr lang="ko-KR" altLang="en-US" sz="1300" spc="-14" kern="0" dirty="0">
                <a:solidFill>
                  <a:srgbClr val="2E3A1B"/>
                </a:solidFill>
                <a:latin typeface="Paperlogy 8 ExtraBold" pitchFamily="34" charset="0"/>
                <a:ea typeface="Paperlogy 8 ExtraBold" pitchFamily="34" charset="-122"/>
                <a:cs typeface="Paperlogy 8 ExtraBold" pitchFamily="34" charset="-120"/>
              </a:rPr>
              <a:t>디지털 디톡스</a:t>
            </a:r>
            <a:endParaRPr lang="en-US" sz="1300" dirty="0"/>
          </a:p>
        </p:txBody>
      </p:sp>
      <p:sp>
        <p:nvSpPr>
          <p:cNvPr id="40" name="글상자 39"/>
          <p:cNvSpPr txBox="1"/>
          <p:nvPr/>
        </p:nvSpPr>
        <p:spPr>
          <a:xfrm>
            <a:off x="723930" y="2633563"/>
            <a:ext cx="1441734" cy="238110"/>
          </a:xfrm>
          <a:prstGeom prst="rect">
            <a:avLst/>
          </a:prstGeom>
          <a:noFill/>
          <a:ln/>
        </p:spPr>
        <p:txBody>
          <a:bodyPr wrap="none" lIns="0" tIns="0" rIns="0" bIns="0" rtlCol="0" anchor="ctr"/>
          <a:lstStyle/>
          <a:p>
            <a:pPr algn="l" indent="0" marL="0">
              <a:buNone/>
            </a:pPr>
            <a:r>
              <a:rPr lang="ko-KR" altLang="en-US" sz="1250" spc="-14" kern="0" dirty="0">
                <a:solidFill>
                  <a:srgbClr val="45512A"/>
                </a:solidFill>
                <a:latin typeface="Paperlogy 5 Medium" pitchFamily="34" charset="0"/>
                <a:ea typeface="Paperlogy 5 Medium" pitchFamily="34" charset="-122"/>
                <a:cs typeface="Paperlogy 5 Medium" pitchFamily="34" charset="-120"/>
              </a:rPr>
              <a:t>고객 문제 적합성</a:t>
            </a:r>
            <a:pPr algn="l" indent="0" marL="0">
              <a:buNone/>
            </a:pPr>
            <a:r>
              <a:rPr lang="ko-KR" altLang="en-US" sz="950" spc="-14" kern="0" dirty="0">
                <a:solidFill>
                  <a:srgbClr val="646D40"/>
                </a:solidFill>
                <a:latin typeface="Paperlogy 7 Bold" pitchFamily="34" charset="0"/>
                <a:ea typeface="Paperlogy 7 Bold" pitchFamily="34" charset="-122"/>
                <a:cs typeface="Paperlogy 7 Bold" pitchFamily="34" charset="-120"/>
              </a:rPr>
              <a:t>  25</a:t>
            </a:r>
            <a:endParaRPr lang="en-US" sz="1250" dirty="0"/>
          </a:p>
        </p:txBody>
      </p:sp>
      <p:sp>
        <p:nvSpPr>
          <p:cNvPr id="41" name="글상자 40"/>
          <p:cNvSpPr txBox="1"/>
          <p:nvPr/>
        </p:nvSpPr>
        <p:spPr>
          <a:xfrm>
            <a:off x="3760013" y="2611344"/>
            <a:ext cx="476494" cy="285750"/>
          </a:xfrm>
          <a:prstGeom prst="rect">
            <a:avLst/>
          </a:prstGeom>
          <a:noFill/>
          <a:ln/>
        </p:spPr>
        <p:txBody>
          <a:bodyPr wrap="none" lIns="0" tIns="0" rIns="0" bIns="0" rtlCol="0" anchor="ctr"/>
          <a:lstStyle/>
          <a:p>
            <a:pPr algn="ctr" indent="0" marL="0">
              <a:buNone/>
            </a:pPr>
            <a:r>
              <a:rPr lang="ko-KR" altLang="en-US" sz="1500" spc="-14" kern="0" dirty="0">
                <a:solidFill>
                  <a:srgbClr val="2E3A1B"/>
                </a:solidFill>
                <a:latin typeface="Paperlogy 8 ExtraBold" pitchFamily="34" charset="0"/>
                <a:ea typeface="Paperlogy 8 ExtraBold" pitchFamily="34" charset="-122"/>
                <a:cs typeface="Paperlogy 8 ExtraBold" pitchFamily="34" charset="-120"/>
              </a:rPr>
              <a:t>20</a:t>
            </a:r>
            <a:pPr algn="ctr" indent="0" marL="0">
              <a:buNone/>
            </a:pPr>
            <a:r>
              <a:rPr lang="ko-KR" altLang="en-US" sz="850" spc="-14" kern="0" dirty="0">
                <a:solidFill>
                  <a:srgbClr val="45512A"/>
                </a:solidFill>
                <a:latin typeface="Paperlogy 5 Medium" pitchFamily="34" charset="0"/>
                <a:ea typeface="Paperlogy 5 Medium" pitchFamily="34" charset="-122"/>
                <a:cs typeface="Paperlogy 5 Medium" pitchFamily="34" charset="-120"/>
              </a:rPr>
              <a:t> 4</a:t>
            </a:r>
            <a:endParaRPr lang="en-US" sz="1500" dirty="0"/>
          </a:p>
        </p:txBody>
      </p:sp>
      <p:sp>
        <p:nvSpPr>
          <p:cNvPr id="42" name="글상자 41"/>
          <p:cNvSpPr txBox="1"/>
          <p:nvPr/>
        </p:nvSpPr>
        <p:spPr>
          <a:xfrm>
            <a:off x="5247650" y="2611344"/>
            <a:ext cx="476494" cy="285750"/>
          </a:xfrm>
          <a:prstGeom prst="rect">
            <a:avLst/>
          </a:prstGeom>
          <a:noFill/>
          <a:ln/>
        </p:spPr>
        <p:txBody>
          <a:bodyPr wrap="none" lIns="0" tIns="0" rIns="0" bIns="0" rtlCol="0" anchor="ctr"/>
          <a:lstStyle/>
          <a:p>
            <a:pPr algn="ctr" indent="0" marL="0">
              <a:buNone/>
            </a:pPr>
            <a:r>
              <a:rPr lang="ko-KR" altLang="en-US" sz="1500" spc="-14" kern="0" dirty="0">
                <a:solidFill>
                  <a:srgbClr val="45512A"/>
                </a:solidFill>
                <a:latin typeface="Paperlogy 6 SemiBold" pitchFamily="34" charset="0"/>
                <a:ea typeface="Paperlogy 6 SemiBold" pitchFamily="34" charset="-122"/>
                <a:cs typeface="Paperlogy 6 SemiBold" pitchFamily="34" charset="-120"/>
              </a:rPr>
              <a:t>20</a:t>
            </a:r>
            <a:pPr algn="ctr" indent="0" marL="0">
              <a:buNone/>
            </a:pPr>
            <a:r>
              <a:rPr lang="ko-KR" altLang="en-US" sz="850" spc="-14" kern="0" dirty="0">
                <a:solidFill>
                  <a:srgbClr val="646D40"/>
                </a:solidFill>
                <a:latin typeface="Paperlogy 5 Medium" pitchFamily="34" charset="0"/>
                <a:ea typeface="Paperlogy 5 Medium" pitchFamily="34" charset="-122"/>
                <a:cs typeface="Paperlogy 5 Medium" pitchFamily="34" charset="-120"/>
              </a:rPr>
              <a:t> 4</a:t>
            </a:r>
            <a:endParaRPr lang="en-US" sz="1500" dirty="0"/>
          </a:p>
        </p:txBody>
      </p:sp>
      <p:sp>
        <p:nvSpPr>
          <p:cNvPr id="43" name="글상자 42"/>
          <p:cNvSpPr txBox="1"/>
          <p:nvPr/>
        </p:nvSpPr>
        <p:spPr>
          <a:xfrm>
            <a:off x="6684904" y="2611344"/>
            <a:ext cx="476494" cy="285750"/>
          </a:xfrm>
          <a:prstGeom prst="rect">
            <a:avLst/>
          </a:prstGeom>
          <a:noFill/>
          <a:ln/>
        </p:spPr>
        <p:txBody>
          <a:bodyPr wrap="none" lIns="0" tIns="0" rIns="0" bIns="0" rtlCol="0" anchor="ctr"/>
          <a:lstStyle/>
          <a:p>
            <a:pPr algn="ctr" indent="0" marL="0">
              <a:buNone/>
            </a:pPr>
            <a:r>
              <a:rPr lang="ko-KR" altLang="en-US" sz="1500" spc="-14" kern="0" dirty="0">
                <a:solidFill>
                  <a:srgbClr val="45512A"/>
                </a:solidFill>
                <a:latin typeface="Paperlogy 6 SemiBold" pitchFamily="34" charset="0"/>
                <a:ea typeface="Paperlogy 6 SemiBold" pitchFamily="34" charset="-122"/>
                <a:cs typeface="Paperlogy 6 SemiBold" pitchFamily="34" charset="-120"/>
              </a:rPr>
              <a:t>20</a:t>
            </a:r>
            <a:pPr algn="ctr" indent="0" marL="0">
              <a:buNone/>
            </a:pPr>
            <a:r>
              <a:rPr lang="ko-KR" altLang="en-US" sz="850" spc="-14" kern="0" dirty="0">
                <a:solidFill>
                  <a:srgbClr val="646D40"/>
                </a:solidFill>
                <a:latin typeface="Paperlogy 5 Medium" pitchFamily="34" charset="0"/>
                <a:ea typeface="Paperlogy 5 Medium" pitchFamily="34" charset="-122"/>
                <a:cs typeface="Paperlogy 5 Medium" pitchFamily="34" charset="-120"/>
              </a:rPr>
              <a:t> 4</a:t>
            </a:r>
            <a:endParaRPr lang="en-US" sz="1500" dirty="0"/>
          </a:p>
        </p:txBody>
      </p:sp>
      <p:sp>
        <p:nvSpPr>
          <p:cNvPr id="44" name="글상자 43"/>
          <p:cNvSpPr txBox="1"/>
          <p:nvPr/>
        </p:nvSpPr>
        <p:spPr>
          <a:xfrm>
            <a:off x="723930" y="3027304"/>
            <a:ext cx="774405" cy="238110"/>
          </a:xfrm>
          <a:prstGeom prst="rect">
            <a:avLst/>
          </a:prstGeom>
          <a:noFill/>
          <a:ln/>
        </p:spPr>
        <p:txBody>
          <a:bodyPr wrap="none" lIns="0" tIns="0" rIns="0" bIns="0" rtlCol="0" anchor="ctr"/>
          <a:lstStyle/>
          <a:p>
            <a:pPr algn="l" indent="0" marL="0">
              <a:buNone/>
            </a:pPr>
            <a:r>
              <a:rPr lang="ko-KR" altLang="en-US" sz="1250" spc="-14" kern="0" dirty="0">
                <a:solidFill>
                  <a:srgbClr val="45512A"/>
                </a:solidFill>
                <a:latin typeface="Paperlogy 5 Medium" pitchFamily="34" charset="0"/>
                <a:ea typeface="Paperlogy 5 Medium" pitchFamily="34" charset="-122"/>
                <a:cs typeface="Paperlogy 5 Medium" pitchFamily="34" charset="-120"/>
              </a:rPr>
              <a:t>차별성</a:t>
            </a:r>
            <a:pPr algn="l" indent="0" marL="0">
              <a:buNone/>
            </a:pPr>
            <a:r>
              <a:rPr lang="ko-KR" altLang="en-US" sz="950" spc="-14" kern="0" dirty="0">
                <a:solidFill>
                  <a:srgbClr val="646D40"/>
                </a:solidFill>
                <a:latin typeface="Paperlogy 7 Bold" pitchFamily="34" charset="0"/>
                <a:ea typeface="Paperlogy 7 Bold" pitchFamily="34" charset="-122"/>
                <a:cs typeface="Paperlogy 7 Bold" pitchFamily="34" charset="-120"/>
              </a:rPr>
              <a:t>  20</a:t>
            </a:r>
            <a:endParaRPr lang="en-US" sz="1250" dirty="0"/>
          </a:p>
        </p:txBody>
      </p:sp>
      <p:sp>
        <p:nvSpPr>
          <p:cNvPr id="45" name="글상자 44"/>
          <p:cNvSpPr txBox="1"/>
          <p:nvPr/>
        </p:nvSpPr>
        <p:spPr>
          <a:xfrm>
            <a:off x="3760013" y="3004993"/>
            <a:ext cx="476494" cy="285750"/>
          </a:xfrm>
          <a:prstGeom prst="rect">
            <a:avLst/>
          </a:prstGeom>
          <a:noFill/>
          <a:ln/>
        </p:spPr>
        <p:txBody>
          <a:bodyPr wrap="none" lIns="0" tIns="0" rIns="0" bIns="0" rtlCol="0" anchor="ctr"/>
          <a:lstStyle/>
          <a:p>
            <a:pPr algn="ctr" indent="0" marL="0">
              <a:buNone/>
            </a:pPr>
            <a:r>
              <a:rPr lang="ko-KR" altLang="en-US" sz="1500" spc="-14" kern="0" dirty="0">
                <a:solidFill>
                  <a:srgbClr val="2E3A1B"/>
                </a:solidFill>
                <a:latin typeface="Paperlogy 8 ExtraBold" pitchFamily="34" charset="0"/>
                <a:ea typeface="Paperlogy 8 ExtraBold" pitchFamily="34" charset="-122"/>
                <a:cs typeface="Paperlogy 8 ExtraBold" pitchFamily="34" charset="-120"/>
              </a:rPr>
              <a:t>16</a:t>
            </a:r>
            <a:pPr algn="ctr" indent="0" marL="0">
              <a:buNone/>
            </a:pPr>
            <a:r>
              <a:rPr lang="ko-KR" altLang="en-US" sz="850" spc="-14" kern="0" dirty="0">
                <a:solidFill>
                  <a:srgbClr val="45512A"/>
                </a:solidFill>
                <a:latin typeface="Paperlogy 5 Medium" pitchFamily="34" charset="0"/>
                <a:ea typeface="Paperlogy 5 Medium" pitchFamily="34" charset="-122"/>
                <a:cs typeface="Paperlogy 5 Medium" pitchFamily="34" charset="-120"/>
              </a:rPr>
              <a:t> 4</a:t>
            </a:r>
            <a:endParaRPr lang="en-US" sz="1500" dirty="0"/>
          </a:p>
        </p:txBody>
      </p:sp>
      <p:sp>
        <p:nvSpPr>
          <p:cNvPr id="46" name="글상자 45"/>
          <p:cNvSpPr txBox="1"/>
          <p:nvPr/>
        </p:nvSpPr>
        <p:spPr>
          <a:xfrm>
            <a:off x="5247650" y="3004993"/>
            <a:ext cx="476494" cy="285750"/>
          </a:xfrm>
          <a:prstGeom prst="rect">
            <a:avLst/>
          </a:prstGeom>
          <a:noFill/>
          <a:ln/>
        </p:spPr>
        <p:txBody>
          <a:bodyPr wrap="none" lIns="0" tIns="0" rIns="0" bIns="0" rtlCol="0" anchor="ctr"/>
          <a:lstStyle/>
          <a:p>
            <a:pPr algn="ctr" indent="0" marL="0">
              <a:buNone/>
            </a:pPr>
            <a:r>
              <a:rPr lang="ko-KR" altLang="en-US" sz="1500" spc="-14" kern="0" dirty="0">
                <a:solidFill>
                  <a:srgbClr val="45512A"/>
                </a:solidFill>
                <a:latin typeface="Paperlogy 6 SemiBold" pitchFamily="34" charset="0"/>
                <a:ea typeface="Paperlogy 6 SemiBold" pitchFamily="34" charset="-122"/>
                <a:cs typeface="Paperlogy 6 SemiBold" pitchFamily="34" charset="-120"/>
              </a:rPr>
              <a:t>12</a:t>
            </a:r>
            <a:pPr algn="ctr" indent="0" marL="0">
              <a:buNone/>
            </a:pPr>
            <a:r>
              <a:rPr lang="ko-KR" altLang="en-US" sz="850" spc="-14" kern="0" dirty="0">
                <a:solidFill>
                  <a:srgbClr val="646D40"/>
                </a:solidFill>
                <a:latin typeface="Paperlogy 5 Medium" pitchFamily="34" charset="0"/>
                <a:ea typeface="Paperlogy 5 Medium" pitchFamily="34" charset="-122"/>
                <a:cs typeface="Paperlogy 5 Medium" pitchFamily="34" charset="-120"/>
              </a:rPr>
              <a:t> 3</a:t>
            </a:r>
            <a:endParaRPr lang="en-US" sz="1500" dirty="0"/>
          </a:p>
        </p:txBody>
      </p:sp>
      <p:sp>
        <p:nvSpPr>
          <p:cNvPr id="47" name="글상자 46"/>
          <p:cNvSpPr txBox="1"/>
          <p:nvPr/>
        </p:nvSpPr>
        <p:spPr>
          <a:xfrm>
            <a:off x="6684904" y="3004993"/>
            <a:ext cx="476494" cy="285750"/>
          </a:xfrm>
          <a:prstGeom prst="rect">
            <a:avLst/>
          </a:prstGeom>
          <a:noFill/>
          <a:ln/>
        </p:spPr>
        <p:txBody>
          <a:bodyPr wrap="none" lIns="0" tIns="0" rIns="0" bIns="0" rtlCol="0" anchor="ctr"/>
          <a:lstStyle/>
          <a:p>
            <a:pPr algn="ctr" indent="0" marL="0">
              <a:buNone/>
            </a:pPr>
            <a:r>
              <a:rPr lang="ko-KR" altLang="en-US" sz="1500" spc="-14" kern="0" dirty="0">
                <a:solidFill>
                  <a:srgbClr val="45512A"/>
                </a:solidFill>
                <a:latin typeface="Paperlogy 6 SemiBold" pitchFamily="34" charset="0"/>
                <a:ea typeface="Paperlogy 6 SemiBold" pitchFamily="34" charset="-122"/>
                <a:cs typeface="Paperlogy 6 SemiBold" pitchFamily="34" charset="-120"/>
              </a:rPr>
              <a:t>20</a:t>
            </a:r>
            <a:pPr algn="ctr" indent="0" marL="0">
              <a:buNone/>
            </a:pPr>
            <a:r>
              <a:rPr lang="ko-KR" altLang="en-US" sz="850" spc="-14" kern="0" dirty="0">
                <a:solidFill>
                  <a:srgbClr val="646D40"/>
                </a:solidFill>
                <a:latin typeface="Paperlogy 5 Medium" pitchFamily="34" charset="0"/>
                <a:ea typeface="Paperlogy 5 Medium" pitchFamily="34" charset="-122"/>
                <a:cs typeface="Paperlogy 5 Medium" pitchFamily="34" charset="-120"/>
              </a:rPr>
              <a:t> 5</a:t>
            </a:r>
            <a:endParaRPr lang="en-US" sz="1500" dirty="0"/>
          </a:p>
        </p:txBody>
      </p:sp>
      <p:sp>
        <p:nvSpPr>
          <p:cNvPr id="48" name="글상자 47"/>
          <p:cNvSpPr txBox="1"/>
          <p:nvPr/>
        </p:nvSpPr>
        <p:spPr>
          <a:xfrm>
            <a:off x="723930" y="3420953"/>
            <a:ext cx="1108070" cy="238110"/>
          </a:xfrm>
          <a:prstGeom prst="rect">
            <a:avLst/>
          </a:prstGeom>
          <a:noFill/>
          <a:ln/>
        </p:spPr>
        <p:txBody>
          <a:bodyPr wrap="none" lIns="0" tIns="0" rIns="0" bIns="0" rtlCol="0" anchor="ctr"/>
          <a:lstStyle/>
          <a:p>
            <a:pPr algn="l" indent="0" marL="0">
              <a:buNone/>
            </a:pPr>
            <a:r>
              <a:rPr lang="ko-KR" altLang="en-US" sz="1250" spc="-14" kern="0" dirty="0">
                <a:solidFill>
                  <a:srgbClr val="45512A"/>
                </a:solidFill>
                <a:latin typeface="Paperlogy 5 Medium" pitchFamily="34" charset="0"/>
                <a:ea typeface="Paperlogy 5 Medium" pitchFamily="34" charset="-122"/>
                <a:cs typeface="Paperlogy 5 Medium" pitchFamily="34" charset="-120"/>
              </a:rPr>
              <a:t>실행 가능성</a:t>
            </a:r>
            <a:pPr algn="l" indent="0" marL="0">
              <a:buNone/>
            </a:pPr>
            <a:r>
              <a:rPr lang="ko-KR" altLang="en-US" sz="950" spc="-14" kern="0" dirty="0">
                <a:solidFill>
                  <a:srgbClr val="646D40"/>
                </a:solidFill>
                <a:latin typeface="Paperlogy 7 Bold" pitchFamily="34" charset="0"/>
                <a:ea typeface="Paperlogy 7 Bold" pitchFamily="34" charset="-122"/>
                <a:cs typeface="Paperlogy 7 Bold" pitchFamily="34" charset="-120"/>
              </a:rPr>
              <a:t>  20</a:t>
            </a:r>
            <a:endParaRPr lang="en-US" sz="1250" dirty="0"/>
          </a:p>
        </p:txBody>
      </p:sp>
      <p:sp>
        <p:nvSpPr>
          <p:cNvPr id="49" name="글상자 48"/>
          <p:cNvSpPr txBox="1"/>
          <p:nvPr/>
        </p:nvSpPr>
        <p:spPr>
          <a:xfrm>
            <a:off x="3760013" y="3398733"/>
            <a:ext cx="476494" cy="285750"/>
          </a:xfrm>
          <a:prstGeom prst="rect">
            <a:avLst/>
          </a:prstGeom>
          <a:noFill/>
          <a:ln/>
        </p:spPr>
        <p:txBody>
          <a:bodyPr wrap="none" lIns="0" tIns="0" rIns="0" bIns="0" rtlCol="0" anchor="ctr"/>
          <a:lstStyle/>
          <a:p>
            <a:pPr algn="ctr" indent="0" marL="0">
              <a:buNone/>
            </a:pPr>
            <a:r>
              <a:rPr lang="ko-KR" altLang="en-US" sz="1500" spc="-14" kern="0" dirty="0">
                <a:solidFill>
                  <a:srgbClr val="2E3A1B"/>
                </a:solidFill>
                <a:latin typeface="Paperlogy 8 ExtraBold" pitchFamily="34" charset="0"/>
                <a:ea typeface="Paperlogy 8 ExtraBold" pitchFamily="34" charset="-122"/>
                <a:cs typeface="Paperlogy 8 ExtraBold" pitchFamily="34" charset="-120"/>
              </a:rPr>
              <a:t>16</a:t>
            </a:r>
            <a:pPr algn="ctr" indent="0" marL="0">
              <a:buNone/>
            </a:pPr>
            <a:r>
              <a:rPr lang="ko-KR" altLang="en-US" sz="850" spc="-14" kern="0" dirty="0">
                <a:solidFill>
                  <a:srgbClr val="45512A"/>
                </a:solidFill>
                <a:latin typeface="Paperlogy 5 Medium" pitchFamily="34" charset="0"/>
                <a:ea typeface="Paperlogy 5 Medium" pitchFamily="34" charset="-122"/>
                <a:cs typeface="Paperlogy 5 Medium" pitchFamily="34" charset="-120"/>
              </a:rPr>
              <a:t> 4</a:t>
            </a:r>
            <a:endParaRPr lang="en-US" sz="1500" dirty="0"/>
          </a:p>
        </p:txBody>
      </p:sp>
      <p:sp>
        <p:nvSpPr>
          <p:cNvPr id="50" name="글상자 49"/>
          <p:cNvSpPr txBox="1"/>
          <p:nvPr/>
        </p:nvSpPr>
        <p:spPr>
          <a:xfrm>
            <a:off x="5247650" y="3398733"/>
            <a:ext cx="476494" cy="285750"/>
          </a:xfrm>
          <a:prstGeom prst="rect">
            <a:avLst/>
          </a:prstGeom>
          <a:noFill/>
          <a:ln/>
        </p:spPr>
        <p:txBody>
          <a:bodyPr wrap="none" lIns="0" tIns="0" rIns="0" bIns="0" rtlCol="0" anchor="ctr"/>
          <a:lstStyle/>
          <a:p>
            <a:pPr algn="ctr" indent="0" marL="0">
              <a:buNone/>
            </a:pPr>
            <a:r>
              <a:rPr lang="ko-KR" altLang="en-US" sz="1500" spc="-14" kern="0" dirty="0">
                <a:solidFill>
                  <a:srgbClr val="45512A"/>
                </a:solidFill>
                <a:latin typeface="Paperlogy 6 SemiBold" pitchFamily="34" charset="0"/>
                <a:ea typeface="Paperlogy 6 SemiBold" pitchFamily="34" charset="-122"/>
                <a:cs typeface="Paperlogy 6 SemiBold" pitchFamily="34" charset="-120"/>
              </a:rPr>
              <a:t>20</a:t>
            </a:r>
            <a:pPr algn="ctr" indent="0" marL="0">
              <a:buNone/>
            </a:pPr>
            <a:r>
              <a:rPr lang="ko-KR" altLang="en-US" sz="850" spc="-14" kern="0" dirty="0">
                <a:solidFill>
                  <a:srgbClr val="646D40"/>
                </a:solidFill>
                <a:latin typeface="Paperlogy 5 Medium" pitchFamily="34" charset="0"/>
                <a:ea typeface="Paperlogy 5 Medium" pitchFamily="34" charset="-122"/>
                <a:cs typeface="Paperlogy 5 Medium" pitchFamily="34" charset="-120"/>
              </a:rPr>
              <a:t> 5</a:t>
            </a:r>
            <a:endParaRPr lang="en-US" sz="1500" dirty="0"/>
          </a:p>
        </p:txBody>
      </p:sp>
      <p:sp>
        <p:nvSpPr>
          <p:cNvPr id="51" name="글상자 50"/>
          <p:cNvSpPr txBox="1"/>
          <p:nvPr/>
        </p:nvSpPr>
        <p:spPr>
          <a:xfrm>
            <a:off x="6684904" y="3398733"/>
            <a:ext cx="476494" cy="285750"/>
          </a:xfrm>
          <a:prstGeom prst="rect">
            <a:avLst/>
          </a:prstGeom>
          <a:noFill/>
          <a:ln/>
        </p:spPr>
        <p:txBody>
          <a:bodyPr wrap="none" lIns="0" tIns="0" rIns="0" bIns="0" rtlCol="0" anchor="ctr"/>
          <a:lstStyle/>
          <a:p>
            <a:pPr algn="ctr" indent="0" marL="0">
              <a:buNone/>
            </a:pPr>
            <a:r>
              <a:rPr lang="ko-KR" altLang="en-US" sz="1500" spc="-14" kern="0" dirty="0">
                <a:solidFill>
                  <a:srgbClr val="45512A"/>
                </a:solidFill>
                <a:latin typeface="Paperlogy 6 SemiBold" pitchFamily="34" charset="0"/>
                <a:ea typeface="Paperlogy 6 SemiBold" pitchFamily="34" charset="-122"/>
                <a:cs typeface="Paperlogy 6 SemiBold" pitchFamily="34" charset="-120"/>
              </a:rPr>
              <a:t>12</a:t>
            </a:r>
            <a:pPr algn="ctr" indent="0" marL="0">
              <a:buNone/>
            </a:pPr>
            <a:r>
              <a:rPr lang="ko-KR" altLang="en-US" sz="850" spc="-14" kern="0" dirty="0">
                <a:solidFill>
                  <a:srgbClr val="646D40"/>
                </a:solidFill>
                <a:latin typeface="Paperlogy 5 Medium" pitchFamily="34" charset="0"/>
                <a:ea typeface="Paperlogy 5 Medium" pitchFamily="34" charset="-122"/>
                <a:cs typeface="Paperlogy 5 Medium" pitchFamily="34" charset="-120"/>
              </a:rPr>
              <a:t> 3</a:t>
            </a:r>
            <a:endParaRPr lang="en-US" sz="1500" dirty="0"/>
          </a:p>
        </p:txBody>
      </p:sp>
      <p:sp>
        <p:nvSpPr>
          <p:cNvPr id="52" name="글상자 51"/>
          <p:cNvSpPr txBox="1"/>
          <p:nvPr/>
        </p:nvSpPr>
        <p:spPr>
          <a:xfrm>
            <a:off x="723930" y="3814694"/>
            <a:ext cx="1108070" cy="238110"/>
          </a:xfrm>
          <a:prstGeom prst="rect">
            <a:avLst/>
          </a:prstGeom>
          <a:noFill/>
          <a:ln/>
        </p:spPr>
        <p:txBody>
          <a:bodyPr wrap="none" lIns="0" tIns="0" rIns="0" bIns="0" rtlCol="0" anchor="ctr"/>
          <a:lstStyle/>
          <a:p>
            <a:pPr algn="l" indent="0" marL="0">
              <a:buNone/>
            </a:pPr>
            <a:r>
              <a:rPr lang="ko-KR" altLang="en-US" sz="1250" spc="-14" kern="0" dirty="0">
                <a:solidFill>
                  <a:srgbClr val="45512A"/>
                </a:solidFill>
                <a:latin typeface="Paperlogy 5 Medium" pitchFamily="34" charset="0"/>
                <a:ea typeface="Paperlogy 5 Medium" pitchFamily="34" charset="-122"/>
                <a:cs typeface="Paperlogy 5 Medium" pitchFamily="34" charset="-120"/>
              </a:rPr>
              <a:t>수익 가능성</a:t>
            </a:r>
            <a:pPr algn="l" indent="0" marL="0">
              <a:buNone/>
            </a:pPr>
            <a:r>
              <a:rPr lang="ko-KR" altLang="en-US" sz="950" spc="-14" kern="0" dirty="0">
                <a:solidFill>
                  <a:srgbClr val="646D40"/>
                </a:solidFill>
                <a:latin typeface="Paperlogy 7 Bold" pitchFamily="34" charset="0"/>
                <a:ea typeface="Paperlogy 7 Bold" pitchFamily="34" charset="-122"/>
                <a:cs typeface="Paperlogy 7 Bold" pitchFamily="34" charset="-120"/>
              </a:rPr>
              <a:t>  15</a:t>
            </a:r>
            <a:endParaRPr lang="en-US" sz="1250" dirty="0"/>
          </a:p>
        </p:txBody>
      </p:sp>
      <p:sp>
        <p:nvSpPr>
          <p:cNvPr id="53" name="글상자 52"/>
          <p:cNvSpPr txBox="1"/>
          <p:nvPr/>
        </p:nvSpPr>
        <p:spPr>
          <a:xfrm>
            <a:off x="3760013" y="3792474"/>
            <a:ext cx="476494" cy="285750"/>
          </a:xfrm>
          <a:prstGeom prst="rect">
            <a:avLst/>
          </a:prstGeom>
          <a:noFill/>
          <a:ln/>
        </p:spPr>
        <p:txBody>
          <a:bodyPr wrap="none" lIns="0" tIns="0" rIns="0" bIns="0" rtlCol="0" anchor="ctr"/>
          <a:lstStyle/>
          <a:p>
            <a:pPr algn="ctr" indent="0" marL="0">
              <a:buNone/>
            </a:pPr>
            <a:r>
              <a:rPr lang="ko-KR" altLang="en-US" sz="1500" spc="-14" kern="0" dirty="0">
                <a:solidFill>
                  <a:srgbClr val="2E3A1B"/>
                </a:solidFill>
                <a:latin typeface="Paperlogy 8 ExtraBold" pitchFamily="34" charset="0"/>
                <a:ea typeface="Paperlogy 8 ExtraBold" pitchFamily="34" charset="-122"/>
                <a:cs typeface="Paperlogy 8 ExtraBold" pitchFamily="34" charset="-120"/>
              </a:rPr>
              <a:t>12</a:t>
            </a:r>
            <a:pPr algn="ctr" indent="0" marL="0">
              <a:buNone/>
            </a:pPr>
            <a:r>
              <a:rPr lang="ko-KR" altLang="en-US" sz="850" spc="-14" kern="0" dirty="0">
                <a:solidFill>
                  <a:srgbClr val="45512A"/>
                </a:solidFill>
                <a:latin typeface="Paperlogy 5 Medium" pitchFamily="34" charset="0"/>
                <a:ea typeface="Paperlogy 5 Medium" pitchFamily="34" charset="-122"/>
                <a:cs typeface="Paperlogy 5 Medium" pitchFamily="34" charset="-120"/>
              </a:rPr>
              <a:t> 4</a:t>
            </a:r>
            <a:endParaRPr lang="en-US" sz="1500" dirty="0"/>
          </a:p>
        </p:txBody>
      </p:sp>
      <p:sp>
        <p:nvSpPr>
          <p:cNvPr id="54" name="글상자 53"/>
          <p:cNvSpPr txBox="1"/>
          <p:nvPr/>
        </p:nvSpPr>
        <p:spPr>
          <a:xfrm>
            <a:off x="5247650" y="3792474"/>
            <a:ext cx="476494" cy="285750"/>
          </a:xfrm>
          <a:prstGeom prst="rect">
            <a:avLst/>
          </a:prstGeom>
          <a:noFill/>
          <a:ln/>
        </p:spPr>
        <p:txBody>
          <a:bodyPr wrap="none" lIns="0" tIns="0" rIns="0" bIns="0" rtlCol="0" anchor="ctr"/>
          <a:lstStyle/>
          <a:p>
            <a:pPr algn="ctr" indent="0" marL="0">
              <a:buNone/>
            </a:pPr>
            <a:r>
              <a:rPr lang="ko-KR" altLang="en-US" sz="1500" spc="-14" kern="0" dirty="0">
                <a:solidFill>
                  <a:srgbClr val="45512A"/>
                </a:solidFill>
                <a:latin typeface="Paperlogy 6 SemiBold" pitchFamily="34" charset="0"/>
                <a:ea typeface="Paperlogy 6 SemiBold" pitchFamily="34" charset="-122"/>
                <a:cs typeface="Paperlogy 6 SemiBold" pitchFamily="34" charset="-120"/>
              </a:rPr>
              <a:t>12</a:t>
            </a:r>
            <a:pPr algn="ctr" indent="0" marL="0">
              <a:buNone/>
            </a:pPr>
            <a:r>
              <a:rPr lang="ko-KR" altLang="en-US" sz="850" spc="-14" kern="0" dirty="0">
                <a:solidFill>
                  <a:srgbClr val="646D40"/>
                </a:solidFill>
                <a:latin typeface="Paperlogy 5 Medium" pitchFamily="34" charset="0"/>
                <a:ea typeface="Paperlogy 5 Medium" pitchFamily="34" charset="-122"/>
                <a:cs typeface="Paperlogy 5 Medium" pitchFamily="34" charset="-120"/>
              </a:rPr>
              <a:t> 4</a:t>
            </a:r>
            <a:endParaRPr lang="en-US" sz="1500" dirty="0"/>
          </a:p>
        </p:txBody>
      </p:sp>
      <p:sp>
        <p:nvSpPr>
          <p:cNvPr id="55" name="글상자 54"/>
          <p:cNvSpPr txBox="1"/>
          <p:nvPr/>
        </p:nvSpPr>
        <p:spPr>
          <a:xfrm>
            <a:off x="6752478" y="3792474"/>
            <a:ext cx="341254" cy="285750"/>
          </a:xfrm>
          <a:prstGeom prst="rect">
            <a:avLst/>
          </a:prstGeom>
          <a:noFill/>
          <a:ln/>
        </p:spPr>
        <p:txBody>
          <a:bodyPr wrap="none" lIns="0" tIns="0" rIns="0" bIns="0" rtlCol="0" anchor="ctr"/>
          <a:lstStyle/>
          <a:p>
            <a:pPr algn="ctr" indent="0" marL="0">
              <a:buNone/>
            </a:pPr>
            <a:r>
              <a:rPr lang="ko-KR" altLang="en-US" sz="1500" spc="-14" kern="0" dirty="0">
                <a:solidFill>
                  <a:srgbClr val="45512A"/>
                </a:solidFill>
                <a:latin typeface="Paperlogy 6 SemiBold" pitchFamily="34" charset="0"/>
                <a:ea typeface="Paperlogy 6 SemiBold" pitchFamily="34" charset="-122"/>
                <a:cs typeface="Paperlogy 6 SemiBold" pitchFamily="34" charset="-120"/>
              </a:rPr>
              <a:t>9</a:t>
            </a:r>
            <a:pPr algn="ctr" indent="0" marL="0">
              <a:buNone/>
            </a:pPr>
            <a:r>
              <a:rPr lang="ko-KR" altLang="en-US" sz="850" spc="-14" kern="0" dirty="0">
                <a:solidFill>
                  <a:srgbClr val="646D40"/>
                </a:solidFill>
                <a:latin typeface="Paperlogy 5 Medium" pitchFamily="34" charset="0"/>
                <a:ea typeface="Paperlogy 5 Medium" pitchFamily="34" charset="-122"/>
                <a:cs typeface="Paperlogy 5 Medium" pitchFamily="34" charset="-120"/>
              </a:rPr>
              <a:t> 3</a:t>
            </a:r>
            <a:endParaRPr lang="en-US" sz="1500" dirty="0"/>
          </a:p>
        </p:txBody>
      </p:sp>
      <p:sp>
        <p:nvSpPr>
          <p:cNvPr id="56" name="글상자 55"/>
          <p:cNvSpPr txBox="1"/>
          <p:nvPr/>
        </p:nvSpPr>
        <p:spPr>
          <a:xfrm>
            <a:off x="723930" y="4208343"/>
            <a:ext cx="1108070" cy="238110"/>
          </a:xfrm>
          <a:prstGeom prst="rect">
            <a:avLst/>
          </a:prstGeom>
          <a:noFill/>
          <a:ln/>
        </p:spPr>
        <p:txBody>
          <a:bodyPr wrap="none" lIns="0" tIns="0" rIns="0" bIns="0" rtlCol="0" anchor="ctr"/>
          <a:lstStyle/>
          <a:p>
            <a:pPr algn="l" indent="0" marL="0">
              <a:buNone/>
            </a:pPr>
            <a:r>
              <a:rPr lang="ko-KR" altLang="en-US" sz="1250" spc="-14" kern="0" dirty="0">
                <a:solidFill>
                  <a:srgbClr val="45512A"/>
                </a:solidFill>
                <a:latin typeface="Paperlogy 5 Medium" pitchFamily="34" charset="0"/>
                <a:ea typeface="Paperlogy 5 Medium" pitchFamily="34" charset="-122"/>
                <a:cs typeface="Paperlogy 5 Medium" pitchFamily="34" charset="-120"/>
              </a:rPr>
              <a:t>지역 적합성</a:t>
            </a:r>
            <a:pPr algn="l" indent="0" marL="0">
              <a:buNone/>
            </a:pPr>
            <a:r>
              <a:rPr lang="ko-KR" altLang="en-US" sz="950" spc="-14" kern="0" dirty="0">
                <a:solidFill>
                  <a:srgbClr val="646D40"/>
                </a:solidFill>
                <a:latin typeface="Paperlogy 7 Bold" pitchFamily="34" charset="0"/>
                <a:ea typeface="Paperlogy 7 Bold" pitchFamily="34" charset="-122"/>
                <a:cs typeface="Paperlogy 7 Bold" pitchFamily="34" charset="-120"/>
              </a:rPr>
              <a:t>  10</a:t>
            </a:r>
            <a:endParaRPr lang="en-US" sz="1250" dirty="0"/>
          </a:p>
        </p:txBody>
      </p:sp>
      <p:sp>
        <p:nvSpPr>
          <p:cNvPr id="57" name="글상자 56"/>
          <p:cNvSpPr txBox="1"/>
          <p:nvPr/>
        </p:nvSpPr>
        <p:spPr>
          <a:xfrm>
            <a:off x="3760013" y="4186123"/>
            <a:ext cx="476494" cy="285750"/>
          </a:xfrm>
          <a:prstGeom prst="rect">
            <a:avLst/>
          </a:prstGeom>
          <a:noFill/>
          <a:ln/>
        </p:spPr>
        <p:txBody>
          <a:bodyPr wrap="none" lIns="0" tIns="0" rIns="0" bIns="0" rtlCol="0" anchor="ctr"/>
          <a:lstStyle/>
          <a:p>
            <a:pPr algn="ctr" indent="0" marL="0">
              <a:buNone/>
            </a:pPr>
            <a:r>
              <a:rPr lang="ko-KR" altLang="en-US" sz="1500" spc="-14" kern="0" dirty="0">
                <a:solidFill>
                  <a:srgbClr val="2E3A1B"/>
                </a:solidFill>
                <a:latin typeface="Paperlogy 8 ExtraBold" pitchFamily="34" charset="0"/>
                <a:ea typeface="Paperlogy 8 ExtraBold" pitchFamily="34" charset="-122"/>
                <a:cs typeface="Paperlogy 8 ExtraBold" pitchFamily="34" charset="-120"/>
              </a:rPr>
              <a:t>10</a:t>
            </a:r>
            <a:pPr algn="ctr" indent="0" marL="0">
              <a:buNone/>
            </a:pPr>
            <a:r>
              <a:rPr lang="ko-KR" altLang="en-US" sz="850" spc="-14" kern="0" dirty="0">
                <a:solidFill>
                  <a:srgbClr val="45512A"/>
                </a:solidFill>
                <a:latin typeface="Paperlogy 5 Medium" pitchFamily="34" charset="0"/>
                <a:ea typeface="Paperlogy 5 Medium" pitchFamily="34" charset="-122"/>
                <a:cs typeface="Paperlogy 5 Medium" pitchFamily="34" charset="-120"/>
              </a:rPr>
              <a:t> 5</a:t>
            </a:r>
            <a:endParaRPr lang="en-US" sz="1500" dirty="0"/>
          </a:p>
        </p:txBody>
      </p:sp>
      <p:sp>
        <p:nvSpPr>
          <p:cNvPr id="58" name="글상자 57"/>
          <p:cNvSpPr txBox="1"/>
          <p:nvPr/>
        </p:nvSpPr>
        <p:spPr>
          <a:xfrm>
            <a:off x="5315224" y="4186123"/>
            <a:ext cx="341254" cy="285750"/>
          </a:xfrm>
          <a:prstGeom prst="rect">
            <a:avLst/>
          </a:prstGeom>
          <a:noFill/>
          <a:ln/>
        </p:spPr>
        <p:txBody>
          <a:bodyPr wrap="none" lIns="0" tIns="0" rIns="0" bIns="0" rtlCol="0" anchor="ctr"/>
          <a:lstStyle/>
          <a:p>
            <a:pPr algn="ctr" indent="0" marL="0">
              <a:buNone/>
            </a:pPr>
            <a:r>
              <a:rPr lang="ko-KR" altLang="en-US" sz="1500" spc="-14" kern="0" dirty="0">
                <a:solidFill>
                  <a:srgbClr val="45512A"/>
                </a:solidFill>
                <a:latin typeface="Paperlogy 6 SemiBold" pitchFamily="34" charset="0"/>
                <a:ea typeface="Paperlogy 6 SemiBold" pitchFamily="34" charset="-122"/>
                <a:cs typeface="Paperlogy 6 SemiBold" pitchFamily="34" charset="-120"/>
              </a:rPr>
              <a:t>8</a:t>
            </a:r>
            <a:pPr algn="ctr" indent="0" marL="0">
              <a:buNone/>
            </a:pPr>
            <a:r>
              <a:rPr lang="ko-KR" altLang="en-US" sz="850" spc="-14" kern="0" dirty="0">
                <a:solidFill>
                  <a:srgbClr val="646D40"/>
                </a:solidFill>
                <a:latin typeface="Paperlogy 5 Medium" pitchFamily="34" charset="0"/>
                <a:ea typeface="Paperlogy 5 Medium" pitchFamily="34" charset="-122"/>
                <a:cs typeface="Paperlogy 5 Medium" pitchFamily="34" charset="-120"/>
              </a:rPr>
              <a:t> 4</a:t>
            </a:r>
            <a:endParaRPr lang="en-US" sz="1500" dirty="0"/>
          </a:p>
        </p:txBody>
      </p:sp>
      <p:sp>
        <p:nvSpPr>
          <p:cNvPr id="59" name="글상자 58"/>
          <p:cNvSpPr txBox="1"/>
          <p:nvPr/>
        </p:nvSpPr>
        <p:spPr>
          <a:xfrm>
            <a:off x="6752478" y="4186123"/>
            <a:ext cx="341254" cy="285750"/>
          </a:xfrm>
          <a:prstGeom prst="rect">
            <a:avLst/>
          </a:prstGeom>
          <a:noFill/>
          <a:ln/>
        </p:spPr>
        <p:txBody>
          <a:bodyPr wrap="none" lIns="0" tIns="0" rIns="0" bIns="0" rtlCol="0" anchor="ctr"/>
          <a:lstStyle/>
          <a:p>
            <a:pPr algn="ctr" indent="0" marL="0">
              <a:buNone/>
            </a:pPr>
            <a:r>
              <a:rPr lang="ko-KR" altLang="en-US" sz="1500" spc="-14" kern="0" dirty="0">
                <a:solidFill>
                  <a:srgbClr val="45512A"/>
                </a:solidFill>
                <a:latin typeface="Paperlogy 6 SemiBold" pitchFamily="34" charset="0"/>
                <a:ea typeface="Paperlogy 6 SemiBold" pitchFamily="34" charset="-122"/>
                <a:cs typeface="Paperlogy 6 SemiBold" pitchFamily="34" charset="-120"/>
              </a:rPr>
              <a:t>8</a:t>
            </a:r>
            <a:pPr algn="ctr" indent="0" marL="0">
              <a:buNone/>
            </a:pPr>
            <a:r>
              <a:rPr lang="ko-KR" altLang="en-US" sz="850" spc="-14" kern="0" dirty="0">
                <a:solidFill>
                  <a:srgbClr val="646D40"/>
                </a:solidFill>
                <a:latin typeface="Paperlogy 5 Medium" pitchFamily="34" charset="0"/>
                <a:ea typeface="Paperlogy 5 Medium" pitchFamily="34" charset="-122"/>
                <a:cs typeface="Paperlogy 5 Medium" pitchFamily="34" charset="-120"/>
              </a:rPr>
              <a:t> 4</a:t>
            </a:r>
            <a:endParaRPr lang="en-US" sz="1500" dirty="0"/>
          </a:p>
        </p:txBody>
      </p:sp>
      <p:sp>
        <p:nvSpPr>
          <p:cNvPr id="60" name="글상자 59"/>
          <p:cNvSpPr txBox="1"/>
          <p:nvPr/>
        </p:nvSpPr>
        <p:spPr>
          <a:xfrm>
            <a:off x="723930" y="4602084"/>
            <a:ext cx="1567830" cy="238110"/>
          </a:xfrm>
          <a:prstGeom prst="rect">
            <a:avLst/>
          </a:prstGeom>
          <a:noFill/>
          <a:ln/>
        </p:spPr>
        <p:txBody>
          <a:bodyPr wrap="none" lIns="0" tIns="0" rIns="0" bIns="0" rtlCol="0" anchor="ctr"/>
          <a:lstStyle/>
          <a:p>
            <a:pPr algn="l" indent="0" marL="0">
              <a:buNone/>
            </a:pPr>
            <a:r>
              <a:rPr lang="ko-KR" altLang="en-US" sz="1250" spc="-14" kern="0" dirty="0">
                <a:solidFill>
                  <a:srgbClr val="45512A"/>
                </a:solidFill>
                <a:latin typeface="Paperlogy 5 Medium" pitchFamily="34" charset="0"/>
                <a:ea typeface="Paperlogy 5 Medium" pitchFamily="34" charset="-122"/>
                <a:cs typeface="Paperlogy 5 Medium" pitchFamily="34" charset="-120"/>
              </a:rPr>
              <a:t>지속가능성·접근성</a:t>
            </a:r>
            <a:pPr algn="l" indent="0" marL="0">
              <a:buNone/>
            </a:pPr>
            <a:r>
              <a:rPr lang="ko-KR" altLang="en-US" sz="950" spc="-14" kern="0" dirty="0">
                <a:solidFill>
                  <a:srgbClr val="646D40"/>
                </a:solidFill>
                <a:latin typeface="Paperlogy 7 Bold" pitchFamily="34" charset="0"/>
                <a:ea typeface="Paperlogy 7 Bold" pitchFamily="34" charset="-122"/>
                <a:cs typeface="Paperlogy 7 Bold" pitchFamily="34" charset="-120"/>
              </a:rPr>
              <a:t>  10</a:t>
            </a:r>
            <a:endParaRPr lang="en-US" sz="1250" dirty="0"/>
          </a:p>
        </p:txBody>
      </p:sp>
      <p:sp>
        <p:nvSpPr>
          <p:cNvPr id="61" name="글상자 60"/>
          <p:cNvSpPr txBox="1"/>
          <p:nvPr/>
        </p:nvSpPr>
        <p:spPr>
          <a:xfrm>
            <a:off x="3827678" y="4579864"/>
            <a:ext cx="341254" cy="285750"/>
          </a:xfrm>
          <a:prstGeom prst="rect">
            <a:avLst/>
          </a:prstGeom>
          <a:noFill/>
          <a:ln/>
        </p:spPr>
        <p:txBody>
          <a:bodyPr wrap="none" lIns="0" tIns="0" rIns="0" bIns="0" rtlCol="0" anchor="ctr"/>
          <a:lstStyle/>
          <a:p>
            <a:pPr algn="ctr" indent="0" marL="0">
              <a:buNone/>
            </a:pPr>
            <a:r>
              <a:rPr lang="ko-KR" altLang="en-US" sz="1500" spc="-14" kern="0" dirty="0">
                <a:solidFill>
                  <a:srgbClr val="2E3A1B"/>
                </a:solidFill>
                <a:latin typeface="Paperlogy 8 ExtraBold" pitchFamily="34" charset="0"/>
                <a:ea typeface="Paperlogy 8 ExtraBold" pitchFamily="34" charset="-122"/>
                <a:cs typeface="Paperlogy 8 ExtraBold" pitchFamily="34" charset="-120"/>
              </a:rPr>
              <a:t>8</a:t>
            </a:r>
            <a:pPr algn="ctr" indent="0" marL="0">
              <a:buNone/>
            </a:pPr>
            <a:r>
              <a:rPr lang="ko-KR" altLang="en-US" sz="850" spc="-14" kern="0" dirty="0">
                <a:solidFill>
                  <a:srgbClr val="45512A"/>
                </a:solidFill>
                <a:latin typeface="Paperlogy 5 Medium" pitchFamily="34" charset="0"/>
                <a:ea typeface="Paperlogy 5 Medium" pitchFamily="34" charset="-122"/>
                <a:cs typeface="Paperlogy 5 Medium" pitchFamily="34" charset="-120"/>
              </a:rPr>
              <a:t> 4</a:t>
            </a:r>
            <a:endParaRPr lang="en-US" sz="1500" dirty="0"/>
          </a:p>
        </p:txBody>
      </p:sp>
      <p:sp>
        <p:nvSpPr>
          <p:cNvPr id="62" name="글상자 61"/>
          <p:cNvSpPr txBox="1"/>
          <p:nvPr/>
        </p:nvSpPr>
        <p:spPr>
          <a:xfrm>
            <a:off x="5315224" y="4579864"/>
            <a:ext cx="341254" cy="285750"/>
          </a:xfrm>
          <a:prstGeom prst="rect">
            <a:avLst/>
          </a:prstGeom>
          <a:noFill/>
          <a:ln/>
        </p:spPr>
        <p:txBody>
          <a:bodyPr wrap="none" lIns="0" tIns="0" rIns="0" bIns="0" rtlCol="0" anchor="ctr"/>
          <a:lstStyle/>
          <a:p>
            <a:pPr algn="ctr" indent="0" marL="0">
              <a:buNone/>
            </a:pPr>
            <a:r>
              <a:rPr lang="ko-KR" altLang="en-US" sz="1500" spc="-14" kern="0" dirty="0">
                <a:solidFill>
                  <a:srgbClr val="45512A"/>
                </a:solidFill>
                <a:latin typeface="Paperlogy 6 SemiBold" pitchFamily="34" charset="0"/>
                <a:ea typeface="Paperlogy 6 SemiBold" pitchFamily="34" charset="-122"/>
                <a:cs typeface="Paperlogy 6 SemiBold" pitchFamily="34" charset="-120"/>
              </a:rPr>
              <a:t>8</a:t>
            </a:r>
            <a:pPr algn="ctr" indent="0" marL="0">
              <a:buNone/>
            </a:pPr>
            <a:r>
              <a:rPr lang="ko-KR" altLang="en-US" sz="850" spc="-14" kern="0" dirty="0">
                <a:solidFill>
                  <a:srgbClr val="646D40"/>
                </a:solidFill>
                <a:latin typeface="Paperlogy 5 Medium" pitchFamily="34" charset="0"/>
                <a:ea typeface="Paperlogy 5 Medium" pitchFamily="34" charset="-122"/>
                <a:cs typeface="Paperlogy 5 Medium" pitchFamily="34" charset="-120"/>
              </a:rPr>
              <a:t> 4</a:t>
            </a:r>
            <a:endParaRPr lang="en-US" sz="1500" dirty="0"/>
          </a:p>
        </p:txBody>
      </p:sp>
      <p:sp>
        <p:nvSpPr>
          <p:cNvPr id="63" name="글상자 62"/>
          <p:cNvSpPr txBox="1"/>
          <p:nvPr/>
        </p:nvSpPr>
        <p:spPr>
          <a:xfrm>
            <a:off x="6752478" y="4579864"/>
            <a:ext cx="341254" cy="285750"/>
          </a:xfrm>
          <a:prstGeom prst="rect">
            <a:avLst/>
          </a:prstGeom>
          <a:noFill/>
          <a:ln/>
        </p:spPr>
        <p:txBody>
          <a:bodyPr wrap="none" lIns="0" tIns="0" rIns="0" bIns="0" rtlCol="0" anchor="ctr"/>
          <a:lstStyle/>
          <a:p>
            <a:pPr algn="ctr" indent="0" marL="0">
              <a:buNone/>
            </a:pPr>
            <a:r>
              <a:rPr lang="ko-KR" altLang="en-US" sz="1500" spc="-14" kern="0" dirty="0">
                <a:solidFill>
                  <a:srgbClr val="45512A"/>
                </a:solidFill>
                <a:latin typeface="Paperlogy 6 SemiBold" pitchFamily="34" charset="0"/>
                <a:ea typeface="Paperlogy 6 SemiBold" pitchFamily="34" charset="-122"/>
                <a:cs typeface="Paperlogy 6 SemiBold" pitchFamily="34" charset="-120"/>
              </a:rPr>
              <a:t>8</a:t>
            </a:r>
            <a:pPr algn="ctr" indent="0" marL="0">
              <a:buNone/>
            </a:pPr>
            <a:r>
              <a:rPr lang="ko-KR" altLang="en-US" sz="850" spc="-14" kern="0" dirty="0">
                <a:solidFill>
                  <a:srgbClr val="646D40"/>
                </a:solidFill>
                <a:latin typeface="Paperlogy 5 Medium" pitchFamily="34" charset="0"/>
                <a:ea typeface="Paperlogy 5 Medium" pitchFamily="34" charset="-122"/>
                <a:cs typeface="Paperlogy 5 Medium" pitchFamily="34" charset="-120"/>
              </a:rPr>
              <a:t> 4</a:t>
            </a:r>
            <a:endParaRPr lang="en-US" sz="1500" dirty="0"/>
          </a:p>
        </p:txBody>
      </p:sp>
      <p:sp>
        <p:nvSpPr>
          <p:cNvPr id="64" name="글상자 63"/>
          <p:cNvSpPr txBox="1"/>
          <p:nvPr/>
        </p:nvSpPr>
        <p:spPr>
          <a:xfrm>
            <a:off x="723930" y="5087813"/>
            <a:ext cx="722376" cy="247620"/>
          </a:xfrm>
          <a:prstGeom prst="rect">
            <a:avLst/>
          </a:prstGeom>
          <a:noFill/>
          <a:ln/>
        </p:spPr>
        <p:txBody>
          <a:bodyPr wrap="none" lIns="0" tIns="0" rIns="0" bIns="0" rtlCol="0" anchor="ctr"/>
          <a:lstStyle/>
          <a:p>
            <a:pPr algn="l" indent="0" marL="0">
              <a:buNone/>
            </a:pPr>
            <a:r>
              <a:rPr lang="ko-KR" altLang="en-US" sz="1300" spc="-14" kern="0" dirty="0">
                <a:solidFill>
                  <a:srgbClr val="2E3A1B"/>
                </a:solidFill>
                <a:latin typeface="Paperlogy 8 ExtraBold" pitchFamily="34" charset="0"/>
                <a:ea typeface="Paperlogy 8 ExtraBold" pitchFamily="34" charset="-122"/>
                <a:cs typeface="Paperlogy 8 ExtraBold" pitchFamily="34" charset="-120"/>
              </a:rPr>
              <a:t>총점</a:t>
            </a:r>
            <a:pPr algn="l" indent="0" marL="0">
              <a:buNone/>
            </a:pPr>
            <a:r>
              <a:rPr lang="ko-KR" altLang="en-US" sz="950" spc="-14" kern="0" dirty="0">
                <a:solidFill>
                  <a:srgbClr val="646D40"/>
                </a:solidFill>
                <a:latin typeface="Paperlogy 8 ExtraBold" pitchFamily="34" charset="0"/>
                <a:ea typeface="Paperlogy 8 ExtraBold" pitchFamily="34" charset="-122"/>
                <a:cs typeface="Paperlogy 8 ExtraBold" pitchFamily="34" charset="-120"/>
              </a:rPr>
              <a:t>  100</a:t>
            </a:r>
            <a:endParaRPr lang="en-US" sz="1300" dirty="0"/>
          </a:p>
        </p:txBody>
      </p:sp>
      <p:sp>
        <p:nvSpPr>
          <p:cNvPr id="65" name="글상자 64"/>
          <p:cNvSpPr txBox="1"/>
          <p:nvPr/>
        </p:nvSpPr>
        <p:spPr>
          <a:xfrm>
            <a:off x="3745474" y="4992624"/>
            <a:ext cx="505755" cy="438180"/>
          </a:xfrm>
          <a:prstGeom prst="rect">
            <a:avLst/>
          </a:prstGeom>
          <a:noFill/>
          <a:ln/>
        </p:spPr>
        <p:txBody>
          <a:bodyPr wrap="none" lIns="0" tIns="0" rIns="0" bIns="0" rtlCol="0" anchor="ctr"/>
          <a:lstStyle/>
          <a:p>
            <a:pPr algn="ctr" indent="0" marL="0">
              <a:buNone/>
            </a:pPr>
            <a:r>
              <a:rPr lang="ko-KR" altLang="en-US" sz="2300" spc="-14" kern="0" dirty="0">
                <a:solidFill>
                  <a:srgbClr val="2E3A1B"/>
                </a:solidFill>
                <a:latin typeface="Paperlogy 8 ExtraBold" pitchFamily="34" charset="0"/>
                <a:ea typeface="Paperlogy 8 ExtraBold" pitchFamily="34" charset="-122"/>
                <a:cs typeface="Paperlogy 8 ExtraBold" pitchFamily="34" charset="-120"/>
              </a:rPr>
              <a:t>82</a:t>
            </a:r>
            <a:endParaRPr lang="en-US" sz="2300" dirty="0"/>
          </a:p>
        </p:txBody>
      </p:sp>
      <p:sp>
        <p:nvSpPr>
          <p:cNvPr id="66" name="글상자 65"/>
          <p:cNvSpPr txBox="1"/>
          <p:nvPr/>
        </p:nvSpPr>
        <p:spPr>
          <a:xfrm>
            <a:off x="5232928" y="4992624"/>
            <a:ext cx="505755" cy="438180"/>
          </a:xfrm>
          <a:prstGeom prst="rect">
            <a:avLst/>
          </a:prstGeom>
          <a:noFill/>
          <a:ln/>
        </p:spPr>
        <p:txBody>
          <a:bodyPr wrap="none" lIns="0" tIns="0" rIns="0" bIns="0" rtlCol="0" anchor="ctr"/>
          <a:lstStyle/>
          <a:p>
            <a:pPr algn="ctr" indent="0" marL="0">
              <a:buNone/>
            </a:pPr>
            <a:r>
              <a:rPr lang="ko-KR" altLang="en-US" sz="2300" spc="-14" kern="0" dirty="0">
                <a:solidFill>
                  <a:srgbClr val="646D40"/>
                </a:solidFill>
                <a:latin typeface="Paperlogy 8 ExtraBold" pitchFamily="34" charset="0"/>
                <a:ea typeface="Paperlogy 8 ExtraBold" pitchFamily="34" charset="-122"/>
                <a:cs typeface="Paperlogy 8 ExtraBold" pitchFamily="34" charset="-120"/>
              </a:rPr>
              <a:t>80</a:t>
            </a:r>
            <a:endParaRPr lang="en-US" sz="2300" dirty="0"/>
          </a:p>
        </p:txBody>
      </p:sp>
      <p:sp>
        <p:nvSpPr>
          <p:cNvPr id="67" name="글상자 66"/>
          <p:cNvSpPr txBox="1"/>
          <p:nvPr/>
        </p:nvSpPr>
        <p:spPr>
          <a:xfrm>
            <a:off x="6670182" y="4992624"/>
            <a:ext cx="505755" cy="438180"/>
          </a:xfrm>
          <a:prstGeom prst="rect">
            <a:avLst/>
          </a:prstGeom>
          <a:noFill/>
          <a:ln/>
        </p:spPr>
        <p:txBody>
          <a:bodyPr wrap="none" lIns="0" tIns="0" rIns="0" bIns="0" rtlCol="0" anchor="ctr"/>
          <a:lstStyle/>
          <a:p>
            <a:pPr algn="ctr" indent="0" marL="0">
              <a:buNone/>
            </a:pPr>
            <a:r>
              <a:rPr lang="ko-KR" altLang="en-US" sz="2300" spc="-14" kern="0" dirty="0">
                <a:solidFill>
                  <a:srgbClr val="646D40"/>
                </a:solidFill>
                <a:latin typeface="Paperlogy 8 ExtraBold" pitchFamily="34" charset="0"/>
                <a:ea typeface="Paperlogy 8 ExtraBold" pitchFamily="34" charset="-122"/>
                <a:cs typeface="Paperlogy 8 ExtraBold" pitchFamily="34" charset="-120"/>
              </a:rPr>
              <a:t>77</a:t>
            </a:r>
            <a:endParaRPr lang="en-US" sz="2300" dirty="0"/>
          </a:p>
        </p:txBody>
      </p:sp>
      <p:sp>
        <p:nvSpPr>
          <p:cNvPr id="68" name="글상자 67"/>
          <p:cNvSpPr txBox="1"/>
          <p:nvPr/>
        </p:nvSpPr>
        <p:spPr>
          <a:xfrm>
            <a:off x="8223291" y="1752539"/>
            <a:ext cx="667512" cy="180960"/>
          </a:xfrm>
          <a:prstGeom prst="rect">
            <a:avLst/>
          </a:prstGeom>
          <a:noFill/>
          <a:ln/>
        </p:spPr>
        <p:txBody>
          <a:bodyPr wrap="none" lIns="0" tIns="0" rIns="0" bIns="0" rtlCol="0" anchor="ctr"/>
          <a:lstStyle/>
          <a:p>
            <a:pPr algn="l" indent="0" marL="0">
              <a:buNone/>
            </a:pPr>
            <a:r>
              <a:rPr lang="ko-KR" altLang="en-US" sz="950" spc="133" kern="0" dirty="0">
                <a:solidFill>
                  <a:srgbClr val="646D40"/>
                </a:solidFill>
                <a:latin typeface="Paperlogy 7 Bold" pitchFamily="34" charset="0"/>
                <a:ea typeface="Paperlogy 7 Bold" pitchFamily="34" charset="-122"/>
                <a:cs typeface="Paperlogy 7 Bold" pitchFamily="34" charset="-120"/>
              </a:rPr>
              <a:t>평가 방식</a:t>
            </a:r>
            <a:endParaRPr lang="en-US" sz="950" dirty="0"/>
          </a:p>
        </p:txBody>
      </p:sp>
      <p:sp>
        <p:nvSpPr>
          <p:cNvPr id="69" name="글상자 68"/>
          <p:cNvSpPr txBox="1"/>
          <p:nvPr/>
        </p:nvSpPr>
        <p:spPr>
          <a:xfrm>
            <a:off x="8223291" y="1979950"/>
            <a:ext cx="3275747" cy="419070"/>
          </a:xfrm>
          <a:prstGeom prst="rect">
            <a:avLst/>
          </a:prstGeom>
          <a:noFill/>
          <a:ln/>
        </p:spPr>
        <p:txBody>
          <a:bodyPr wrap="none" lIns="0" tIns="0" rIns="0" bIns="0" rtlCol="0" anchor="ctr"/>
          <a:lstStyle/>
          <a:p>
            <a:pPr algn="l" indent="0" marL="0">
              <a:lnSpc>
                <a:spcPts val="1650"/>
              </a:lnSpc>
              <a:buNone/>
            </a:pPr>
            <a:r>
              <a:rPr lang="ko-KR" altLang="en-US" sz="1100" spc="-14" kern="0" dirty="0">
                <a:solidFill>
                  <a:srgbClr val="45512A"/>
                </a:solidFill>
                <a:latin typeface="Paperlogy 4 Regular" pitchFamily="34" charset="0"/>
                <a:ea typeface="Paperlogy 4 Regular" pitchFamily="34" charset="-122"/>
                <a:cs typeface="Paperlogy 4 Regular" pitchFamily="34" charset="-120"/>
              </a:rPr>
              <a:t>항목마다 1~5점(작은 숫자)으로 평가한 뒤 배점에 맞춰</a:t>
            </a:r>
            <a:endParaRPr lang="en-US" sz="1100" dirty="0"/>
          </a:p>
          <a:p>
            <a:pPr algn="l" indent="0" marL="0">
              <a:lnSpc>
                <a:spcPts val="1650"/>
              </a:lnSpc>
              <a:buNone/>
            </a:pPr>
            <a:r>
              <a:rPr lang="ko-KR" altLang="en-US" sz="1100" spc="-14" kern="0" dirty="0">
                <a:solidFill>
                  <a:srgbClr val="45512A"/>
                </a:solidFill>
                <a:latin typeface="Paperlogy 4 Regular" pitchFamily="34" charset="0"/>
                <a:ea typeface="Paperlogy 4 Regular" pitchFamily="34" charset="-122"/>
                <a:cs typeface="Paperlogy 4 Regular" pitchFamily="34" charset="-120"/>
              </a:rPr>
              <a:t>환산</a:t>
            </a:r>
            <a:endParaRPr lang="en-US" sz="1100" dirty="0"/>
          </a:p>
        </p:txBody>
      </p:sp>
      <p:sp>
        <p:nvSpPr>
          <p:cNvPr id="70" name="글상자 69"/>
          <p:cNvSpPr txBox="1"/>
          <p:nvPr/>
        </p:nvSpPr>
        <p:spPr>
          <a:xfrm>
            <a:off x="8223291" y="2482779"/>
            <a:ext cx="1795699" cy="295260"/>
          </a:xfrm>
          <a:prstGeom prst="rect">
            <a:avLst/>
          </a:prstGeom>
          <a:noFill/>
          <a:ln/>
        </p:spPr>
        <p:txBody>
          <a:bodyPr wrap="none" lIns="0" tIns="0" rIns="0" bIns="0" rtlCol="0" anchor="ctr"/>
          <a:lstStyle/>
          <a:p>
            <a:pPr algn="l" indent="0" marL="0">
              <a:buNone/>
            </a:pPr>
            <a:r>
              <a:rPr lang="ko-KR" altLang="en-US" sz="1550" spc="-15" kern="0" dirty="0">
                <a:solidFill>
                  <a:srgbClr val="2E3A1B"/>
                </a:solidFill>
                <a:latin typeface="Paperlogy 8 ExtraBold" pitchFamily="34" charset="0"/>
                <a:ea typeface="Paperlogy 8 ExtraBold" pitchFamily="34" charset="-122"/>
                <a:cs typeface="Paperlogy 8 ExtraBold" pitchFamily="34" charset="-120"/>
              </a:rPr>
              <a:t>배점 × 평가점수 ÷ 5</a:t>
            </a:r>
            <a:endParaRPr lang="en-US" sz="1550" dirty="0"/>
          </a:p>
        </p:txBody>
      </p:sp>
      <p:sp>
        <p:nvSpPr>
          <p:cNvPr id="71" name="글상자 70"/>
          <p:cNvSpPr txBox="1"/>
          <p:nvPr/>
        </p:nvSpPr>
        <p:spPr>
          <a:xfrm>
            <a:off x="8223291" y="2843144"/>
            <a:ext cx="2157344" cy="190470"/>
          </a:xfrm>
          <a:prstGeom prst="rect">
            <a:avLst/>
          </a:prstGeom>
          <a:noFill/>
          <a:ln/>
        </p:spPr>
        <p:txBody>
          <a:bodyPr wrap="none" lIns="0" tIns="0" rIns="0" bIns="0" rtlCol="0" anchor="ctr"/>
          <a:lstStyle/>
          <a:p>
            <a:pPr algn="l" indent="0" marL="0">
              <a:buNone/>
            </a:pPr>
            <a:r>
              <a:rPr lang="ko-KR" altLang="en-US" sz="1000" spc="-14" kern="0" dirty="0">
                <a:solidFill>
                  <a:srgbClr val="646D40"/>
                </a:solidFill>
                <a:latin typeface="Paperlogy 4 Regular" pitchFamily="34" charset="0"/>
                <a:ea typeface="Paperlogy 4 Regular" pitchFamily="34" charset="-122"/>
                <a:cs typeface="Paperlogy 4 Regular" pitchFamily="34" charset="-120"/>
              </a:rPr>
              <a:t>예) 고객 문제 적합성 25 × 4 ÷ 5 = </a:t>
            </a:r>
            <a:pPr algn="l" indent="0" marL="0">
              <a:buNone/>
            </a:pPr>
            <a:r>
              <a:rPr lang="ko-KR" altLang="en-US" sz="1000" spc="-14" kern="0" dirty="0">
                <a:solidFill>
                  <a:srgbClr val="2E3A1B"/>
                </a:solidFill>
                <a:latin typeface="Paperlogy 7 Bold" pitchFamily="34" charset="0"/>
                <a:ea typeface="Paperlogy 7 Bold" pitchFamily="34" charset="-122"/>
                <a:cs typeface="Paperlogy 7 Bold" pitchFamily="34" charset="-120"/>
              </a:rPr>
              <a:t>20</a:t>
            </a:r>
            <a:endParaRPr lang="en-US" sz="1000" dirty="0"/>
          </a:p>
        </p:txBody>
      </p:sp>
      <p:sp>
        <p:nvSpPr>
          <p:cNvPr id="72" name="글상자 71"/>
          <p:cNvSpPr txBox="1"/>
          <p:nvPr/>
        </p:nvSpPr>
        <p:spPr>
          <a:xfrm>
            <a:off x="8223291" y="3500323"/>
            <a:ext cx="1319571" cy="180960"/>
          </a:xfrm>
          <a:prstGeom prst="rect">
            <a:avLst/>
          </a:prstGeom>
          <a:noFill/>
          <a:ln/>
        </p:spPr>
        <p:txBody>
          <a:bodyPr wrap="none" lIns="0" tIns="0" rIns="0" bIns="0" rtlCol="0" anchor="ctr"/>
          <a:lstStyle/>
          <a:p>
            <a:pPr algn="l" indent="0" marL="0">
              <a:buNone/>
            </a:pPr>
            <a:r>
              <a:rPr lang="ko-KR" altLang="en-US" sz="950" spc="133" kern="0" dirty="0">
                <a:solidFill>
                  <a:srgbClr val="646D40"/>
                </a:solidFill>
                <a:latin typeface="Paperlogy 7 Bold" pitchFamily="34" charset="0"/>
                <a:ea typeface="Paperlogy 7 Bold" pitchFamily="34" charset="-122"/>
                <a:cs typeface="Paperlogy 7 Bold" pitchFamily="34" charset="-120"/>
              </a:rPr>
              <a:t>안전·법규·환경 검토</a:t>
            </a:r>
            <a:endParaRPr lang="en-US" sz="950" dirty="0"/>
          </a:p>
        </p:txBody>
      </p:sp>
      <p:sp>
        <p:nvSpPr>
          <p:cNvPr id="73" name="글상자 72"/>
          <p:cNvSpPr txBox="1"/>
          <p:nvPr/>
        </p:nvSpPr>
        <p:spPr>
          <a:xfrm>
            <a:off x="9540575" y="3522269"/>
            <a:ext cx="655533" cy="140360"/>
          </a:xfrm>
          <a:prstGeom prst="rect">
            <a:avLst/>
          </a:prstGeom>
          <a:noFill/>
          <a:ln/>
        </p:spPr>
        <p:txBody>
          <a:bodyPr wrap="none" lIns="0" tIns="0" rIns="0" bIns="0" rtlCol="0" anchor="ctr"/>
          <a:lstStyle/>
          <a:p>
            <a:pPr algn="l" indent="0" marL="0">
              <a:buNone/>
            </a:pPr>
            <a:r>
              <a:rPr lang="ko-KR" altLang="en-US" sz="850" spc="34" kern="0" dirty="0">
                <a:solidFill>
                  <a:srgbClr val="45512A"/>
                </a:solidFill>
                <a:latin typeface="Paperlogy 7 Bold" pitchFamily="34" charset="0"/>
                <a:ea typeface="Paperlogy 7 Bold" pitchFamily="34" charset="-122"/>
                <a:cs typeface="Paperlogy 7 Bold" pitchFamily="34" charset="-120"/>
              </a:rPr>
              <a:t>점수와 별도</a:t>
            </a:r>
            <a:endParaRPr lang="en-US" sz="850" dirty="0"/>
          </a:p>
        </p:txBody>
      </p:sp>
      <p:sp>
        <p:nvSpPr>
          <p:cNvPr id="74" name="글상자 73"/>
          <p:cNvSpPr txBox="1"/>
          <p:nvPr/>
        </p:nvSpPr>
        <p:spPr>
          <a:xfrm>
            <a:off x="8223291" y="3879708"/>
            <a:ext cx="669249" cy="219090"/>
          </a:xfrm>
          <a:prstGeom prst="rect">
            <a:avLst/>
          </a:prstGeom>
          <a:noFill/>
          <a:ln/>
        </p:spPr>
        <p:txBody>
          <a:bodyPr wrap="none" lIns="0" tIns="0" rIns="0" bIns="0" rtlCol="0" anchor="ctr"/>
          <a:lstStyle/>
          <a:p>
            <a:pPr algn="l" indent="0" marL="0">
              <a:buNone/>
            </a:pPr>
            <a:r>
              <a:rPr lang="ko-KR" altLang="en-US" sz="1150" spc="-14" kern="0" dirty="0">
                <a:solidFill>
                  <a:srgbClr val="2E3A1B"/>
                </a:solidFill>
                <a:latin typeface="Paperlogy 7 Bold" pitchFamily="34" charset="0"/>
                <a:ea typeface="Paperlogy 7 Bold" pitchFamily="34" charset="-122"/>
                <a:cs typeface="Paperlogy 7 Bold" pitchFamily="34" charset="-120"/>
              </a:rPr>
              <a:t>쉼표 여행</a:t>
            </a:r>
            <a:endParaRPr lang="en-US" sz="1150" dirty="0"/>
          </a:p>
        </p:txBody>
      </p:sp>
      <p:sp>
        <p:nvSpPr>
          <p:cNvPr id="75" name="글상자 74"/>
          <p:cNvSpPr txBox="1"/>
          <p:nvPr/>
        </p:nvSpPr>
        <p:spPr>
          <a:xfrm>
            <a:off x="10713933" y="3926159"/>
            <a:ext cx="622249" cy="132039"/>
          </a:xfrm>
          <a:prstGeom prst="rect">
            <a:avLst/>
          </a:prstGeom>
          <a:noFill/>
          <a:ln/>
        </p:spPr>
        <p:txBody>
          <a:bodyPr wrap="none" lIns="0" tIns="0" rIns="0" bIns="0" rtlCol="0" anchor="ctr"/>
          <a:lstStyle/>
          <a:p>
            <a:pPr algn="l" indent="0" marL="0">
              <a:buNone/>
            </a:pPr>
            <a:r>
              <a:rPr lang="ko-KR" altLang="en-US" sz="800" spc="32" kern="0" dirty="0">
                <a:solidFill>
                  <a:srgbClr val="2E3A1B"/>
                </a:solidFill>
                <a:latin typeface="Paperlogy 8 ExtraBold" pitchFamily="34" charset="0"/>
                <a:ea typeface="Paperlogy 8 ExtraBold" pitchFamily="34" charset="-122"/>
                <a:cs typeface="Paperlogy 8 ExtraBold" pitchFamily="34" charset="-120"/>
              </a:rPr>
              <a:t>조건부 보완</a:t>
            </a:r>
            <a:endParaRPr lang="en-US" sz="800" dirty="0"/>
          </a:p>
        </p:txBody>
      </p:sp>
      <p:sp>
        <p:nvSpPr>
          <p:cNvPr id="76" name="글상자 75"/>
          <p:cNvSpPr txBox="1"/>
          <p:nvPr/>
        </p:nvSpPr>
        <p:spPr>
          <a:xfrm>
            <a:off x="8223291" y="4128973"/>
            <a:ext cx="2105223" cy="190470"/>
          </a:xfrm>
          <a:prstGeom prst="rect">
            <a:avLst/>
          </a:prstGeom>
          <a:noFill/>
          <a:ln/>
        </p:spPr>
        <p:txBody>
          <a:bodyPr wrap="none" lIns="0" tIns="0" rIns="0" bIns="0" rtlCol="0" anchor="ctr"/>
          <a:lstStyle/>
          <a:p>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수변 산책로 안전 안내 · 우천 대안 필요</a:t>
            </a:r>
            <a:endParaRPr lang="en-US" sz="1000" dirty="0"/>
          </a:p>
        </p:txBody>
      </p:sp>
      <p:sp>
        <p:nvSpPr>
          <p:cNvPr id="77" name="글상자 76"/>
          <p:cNvSpPr txBox="1"/>
          <p:nvPr/>
        </p:nvSpPr>
        <p:spPr>
          <a:xfrm>
            <a:off x="8223291" y="4498848"/>
            <a:ext cx="669249" cy="219090"/>
          </a:xfrm>
          <a:prstGeom prst="rect">
            <a:avLst/>
          </a:prstGeom>
          <a:noFill/>
          <a:ln/>
        </p:spPr>
        <p:txBody>
          <a:bodyPr wrap="none" lIns="0" tIns="0" rIns="0" bIns="0" rtlCol="0" anchor="ctr"/>
          <a:lstStyle/>
          <a:p>
            <a:pPr algn="l" indent="0" marL="0">
              <a:buNone/>
            </a:pPr>
            <a:r>
              <a:rPr lang="ko-KR" altLang="en-US" sz="1150" spc="-14" kern="0" dirty="0">
                <a:solidFill>
                  <a:srgbClr val="2E3A1B"/>
                </a:solidFill>
                <a:latin typeface="Paperlogy 7 Bold" pitchFamily="34" charset="0"/>
                <a:ea typeface="Paperlogy 7 Bold" pitchFamily="34" charset="-122"/>
                <a:cs typeface="Paperlogy 7 Bold" pitchFamily="34" charset="-120"/>
              </a:rPr>
              <a:t>카페 패스</a:t>
            </a:r>
            <a:endParaRPr lang="en-US" sz="1150" dirty="0"/>
          </a:p>
        </p:txBody>
      </p:sp>
      <p:sp>
        <p:nvSpPr>
          <p:cNvPr id="78" name="글상자 77"/>
          <p:cNvSpPr txBox="1"/>
          <p:nvPr/>
        </p:nvSpPr>
        <p:spPr>
          <a:xfrm>
            <a:off x="11020715" y="4545208"/>
            <a:ext cx="290871" cy="132039"/>
          </a:xfrm>
          <a:prstGeom prst="rect">
            <a:avLst/>
          </a:prstGeom>
          <a:noFill/>
          <a:ln/>
        </p:spPr>
        <p:txBody>
          <a:bodyPr wrap="none" lIns="0" tIns="0" rIns="0" bIns="0" rtlCol="0" anchor="ctr"/>
          <a:lstStyle/>
          <a:p>
            <a:pPr algn="l" indent="0" marL="0">
              <a:buNone/>
            </a:pPr>
            <a:r>
              <a:rPr lang="ko-KR" altLang="en-US" sz="800" spc="32" kern="0" dirty="0">
                <a:solidFill>
                  <a:srgbClr val="2E3A1B"/>
                </a:solidFill>
                <a:latin typeface="Paperlogy 8 ExtraBold" pitchFamily="34" charset="0"/>
                <a:ea typeface="Paperlogy 8 ExtraBold" pitchFamily="34" charset="-122"/>
                <a:cs typeface="Paperlogy 8 ExtraBold" pitchFamily="34" charset="-120"/>
              </a:rPr>
              <a:t>통과</a:t>
            </a:r>
            <a:endParaRPr lang="en-US" sz="800" dirty="0"/>
          </a:p>
        </p:txBody>
      </p:sp>
      <p:sp>
        <p:nvSpPr>
          <p:cNvPr id="79" name="글상자 78"/>
          <p:cNvSpPr txBox="1"/>
          <p:nvPr/>
        </p:nvSpPr>
        <p:spPr>
          <a:xfrm>
            <a:off x="8223291" y="4748113"/>
            <a:ext cx="1517081" cy="190470"/>
          </a:xfrm>
          <a:prstGeom prst="rect">
            <a:avLst/>
          </a:prstGeom>
          <a:noFill/>
          <a:ln/>
        </p:spPr>
        <p:txBody>
          <a:bodyPr wrap="none" lIns="0" tIns="0" rIns="0" bIns="0" rtlCol="0" anchor="ctr"/>
          <a:lstStyle/>
          <a:p>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제휴 조건·정산 방식만 확인</a:t>
            </a:r>
            <a:endParaRPr lang="en-US" sz="1000" dirty="0"/>
          </a:p>
        </p:txBody>
      </p:sp>
      <p:sp>
        <p:nvSpPr>
          <p:cNvPr id="80" name="글상자 79"/>
          <p:cNvSpPr txBox="1"/>
          <p:nvPr/>
        </p:nvSpPr>
        <p:spPr>
          <a:xfrm>
            <a:off x="8223291" y="5117988"/>
            <a:ext cx="943021" cy="219090"/>
          </a:xfrm>
          <a:prstGeom prst="rect">
            <a:avLst/>
          </a:prstGeom>
          <a:noFill/>
          <a:ln/>
        </p:spPr>
        <p:txBody>
          <a:bodyPr wrap="none" lIns="0" tIns="0" rIns="0" bIns="0" rtlCol="0" anchor="ctr"/>
          <a:lstStyle/>
          <a:p>
            <a:pPr algn="l" indent="0" marL="0">
              <a:buNone/>
            </a:pPr>
            <a:r>
              <a:rPr lang="ko-KR" altLang="en-US" sz="1150" spc="-14" kern="0" dirty="0">
                <a:solidFill>
                  <a:srgbClr val="2E3A1B"/>
                </a:solidFill>
                <a:latin typeface="Paperlogy 7 Bold" pitchFamily="34" charset="0"/>
                <a:ea typeface="Paperlogy 7 Bold" pitchFamily="34" charset="-122"/>
                <a:cs typeface="Paperlogy 7 Bold" pitchFamily="34" charset="-120"/>
              </a:rPr>
              <a:t>디지털 디톡스</a:t>
            </a:r>
            <a:endParaRPr lang="en-US" sz="1150" dirty="0"/>
          </a:p>
        </p:txBody>
      </p:sp>
      <p:sp>
        <p:nvSpPr>
          <p:cNvPr id="81" name="글상자 80"/>
          <p:cNvSpPr txBox="1"/>
          <p:nvPr/>
        </p:nvSpPr>
        <p:spPr>
          <a:xfrm>
            <a:off x="10713933" y="5164348"/>
            <a:ext cx="622249" cy="132039"/>
          </a:xfrm>
          <a:prstGeom prst="rect">
            <a:avLst/>
          </a:prstGeom>
          <a:noFill/>
          <a:ln/>
        </p:spPr>
        <p:txBody>
          <a:bodyPr wrap="none" lIns="0" tIns="0" rIns="0" bIns="0" rtlCol="0" anchor="ctr"/>
          <a:lstStyle/>
          <a:p>
            <a:pPr algn="l" indent="0" marL="0">
              <a:buNone/>
            </a:pPr>
            <a:r>
              <a:rPr lang="ko-KR" altLang="en-US" sz="800" spc="32" kern="0" dirty="0">
                <a:solidFill>
                  <a:srgbClr val="2E3A1B"/>
                </a:solidFill>
                <a:latin typeface="Paperlogy 8 ExtraBold" pitchFamily="34" charset="0"/>
                <a:ea typeface="Paperlogy 8 ExtraBold" pitchFamily="34" charset="-122"/>
                <a:cs typeface="Paperlogy 8 ExtraBold" pitchFamily="34" charset="-120"/>
              </a:rPr>
              <a:t>조건부 보완</a:t>
            </a:r>
            <a:endParaRPr lang="en-US" sz="800" dirty="0"/>
          </a:p>
        </p:txBody>
      </p:sp>
      <p:sp>
        <p:nvSpPr>
          <p:cNvPr id="82" name="글상자 81"/>
          <p:cNvSpPr txBox="1"/>
          <p:nvPr/>
        </p:nvSpPr>
        <p:spPr>
          <a:xfrm>
            <a:off x="8223291" y="5367254"/>
            <a:ext cx="1802648" cy="190470"/>
          </a:xfrm>
          <a:prstGeom prst="rect">
            <a:avLst/>
          </a:prstGeom>
          <a:noFill/>
          <a:ln/>
        </p:spPr>
        <p:txBody>
          <a:bodyPr wrap="none" lIns="0" tIns="0" rIns="0" bIns="0" rtlCol="0" anchor="ctr"/>
          <a:lstStyle/>
          <a:p>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기기 보관 시 비상 연락 방법 필요</a:t>
            </a:r>
            <a:endParaRPr lang="en-US" sz="1000" dirty="0"/>
          </a:p>
        </p:txBody>
      </p:sp>
      <p:sp>
        <p:nvSpPr>
          <p:cNvPr id="83" name="글상자 82"/>
          <p:cNvSpPr txBox="1"/>
          <p:nvPr/>
        </p:nvSpPr>
        <p:spPr>
          <a:xfrm>
            <a:off x="698510" y="6316675"/>
            <a:ext cx="3204606" cy="180960"/>
          </a:xfrm>
          <a:prstGeom prst="rect">
            <a:avLst/>
          </a:prstGeom>
          <a:noFill/>
          <a:ln/>
        </p:spPr>
        <p:txBody>
          <a:bodyPr wrap="none" lIns="0" tIns="0" rIns="0" bIns="0" rtlCol="0" anchor="ctr"/>
          <a:lstStyle/>
          <a:p>
            <a:pPr algn="l" indent="0" marL="0">
              <a:buNone/>
            </a:pPr>
            <a:r>
              <a:rPr lang="ko-KR" altLang="en-US" sz="950" spc="10" kern="0" dirty="0">
                <a:solidFill>
                  <a:srgbClr val="646D40"/>
                </a:solidFill>
                <a:latin typeface="Paperlogy 4 Regular" pitchFamily="34" charset="0"/>
                <a:ea typeface="Paperlogy 4 Regular" pitchFamily="34" charset="-122"/>
                <a:cs typeface="Paperlogy 4 Regular" pitchFamily="34" charset="-120"/>
              </a:rPr>
              <a:t>※ 점수는 기획 단계의 예시이며 실제 조사·검토 후 수정 필요</a:t>
            </a:r>
            <a:endParaRPr lang="en-US" sz="950" dirty="0"/>
          </a:p>
        </p:txBody>
      </p:sp>
      <p:sp>
        <p:nvSpPr>
          <p:cNvPr id="84" name="글상자 83"/>
          <p:cNvSpPr txBox="1"/>
          <p:nvPr/>
        </p:nvSpPr>
        <p:spPr>
          <a:xfrm>
            <a:off x="10996849" y="6316675"/>
            <a:ext cx="597926" cy="180960"/>
          </a:xfrm>
          <a:prstGeom prst="rect">
            <a:avLst/>
          </a:prstGeom>
          <a:noFill/>
          <a:ln/>
        </p:spPr>
        <p:txBody>
          <a:bodyPr wrap="none" lIns="0" tIns="0" rIns="0" bIns="0" rtlCol="0" anchor="ctr"/>
          <a:lstStyle/>
          <a:p>
            <a:pPr algn="l" indent="0" marL="0">
              <a:buNone/>
            </a:pPr>
            <a:r>
              <a:rPr lang="ko-KR" altLang="en-US" sz="950" spc="57" kern="0" dirty="0">
                <a:solidFill>
                  <a:srgbClr val="2E3A1B"/>
                </a:solidFill>
                <a:latin typeface="Paperlogy 7 Bold" pitchFamily="34" charset="0"/>
                <a:ea typeface="Paperlogy 7 Bold" pitchFamily="34" charset="-122"/>
                <a:cs typeface="Paperlogy 7 Bold" pitchFamily="34" charset="-120"/>
              </a:rPr>
              <a:t>06 / 10</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6"/>
        </a:solidFill>
      </p:bgPr>
    </p:bg>
    <p:spTree>
      <p:nvGrpSpPr>
        <p:cNvPr id="1" name=""/>
        <p:cNvGrpSpPr/>
        <p:nvPr/>
      </p:nvGrpSpPr>
      <p:grpSpPr>
        <a:xfrm>
          <a:off x="0" y="0"/>
          <a:ext cx="0" cy="0"/>
          <a:chOff x="0" y="0"/>
          <a:chExt cx="0" cy="0"/>
        </a:xfrm>
      </p:grpSpPr>
      <p:pic>
        <p:nvPicPr>
          <p:cNvPr id="2" name="사진 1" descr="AI 생성 이미지">    </p:cNvPr>
          <p:cNvPicPr>
            <a:picLocks noChangeAspect="1"/>
          </p:cNvPicPr>
          <p:nvPr/>
        </p:nvPicPr>
        <p:blipFill>
          <a:blip r:embed="rId1"/>
          <a:stretch>
            <a:fillRect/>
          </a:stretch>
        </p:blipFill>
        <p:spPr>
          <a:xfrm>
            <a:off x="0" y="0"/>
            <a:ext cx="4826020" cy="6858000"/>
          </a:xfrm>
          <a:prstGeom prst="rect">
            <a:avLst/>
          </a:prstGeom>
        </p:spPr>
      </p:pic>
      <p:sp>
        <p:nvSpPr>
          <p:cNvPr id="3" name="선 2"/>
          <p:cNvSpPr/>
          <p:nvPr/>
        </p:nvSpPr>
        <p:spPr>
          <a:xfrm>
            <a:off x="5537241" y="658825"/>
            <a:ext cx="254020" cy="0"/>
          </a:xfrm>
          <a:prstGeom prst="line">
            <a:avLst/>
          </a:prstGeom>
          <a:noFill/>
          <a:ln w="12700">
            <a:solidFill>
              <a:srgbClr val="737F4A"/>
            </a:solidFill>
            <a:prstDash val="solid"/>
          </a:ln>
        </p:spPr>
      </p:sp>
      <p:sp>
        <p:nvSpPr>
          <p:cNvPr id="4" name="상자 3"/>
          <p:cNvSpPr/>
          <p:nvPr/>
        </p:nvSpPr>
        <p:spPr>
          <a:xfrm>
            <a:off x="5626669" y="2011040"/>
            <a:ext cx="3129168" cy="94000"/>
          </a:xfrm>
          <a:prstGeom prst="rect">
            <a:avLst/>
          </a:prstGeom>
          <a:solidFill>
            <a:srgbClr val="DDE3C7"/>
          </a:solidFill>
          <a:ln/>
        </p:spPr>
      </p:sp>
      <p:sp>
        <p:nvSpPr>
          <p:cNvPr id="5" name="상자 4"/>
          <p:cNvSpPr/>
          <p:nvPr/>
        </p:nvSpPr>
        <p:spPr>
          <a:xfrm>
            <a:off x="9146103" y="2011040"/>
            <a:ext cx="2090501" cy="94000"/>
          </a:xfrm>
          <a:prstGeom prst="rect">
            <a:avLst/>
          </a:prstGeom>
          <a:solidFill>
            <a:srgbClr val="DDE3C7"/>
          </a:solidFill>
          <a:ln/>
        </p:spPr>
      </p:sp>
      <p:sp>
        <p:nvSpPr>
          <p:cNvPr id="6" name="상자 5"/>
          <p:cNvSpPr/>
          <p:nvPr/>
        </p:nvSpPr>
        <p:spPr>
          <a:xfrm>
            <a:off x="5537241" y="2417399"/>
            <a:ext cx="1741658" cy="94000"/>
          </a:xfrm>
          <a:prstGeom prst="rect">
            <a:avLst/>
          </a:prstGeom>
          <a:solidFill>
            <a:srgbClr val="DDE3C7"/>
          </a:solidFill>
          <a:ln/>
        </p:spPr>
      </p:sp>
      <p:sp>
        <p:nvSpPr>
          <p:cNvPr id="7" name="상자 6"/>
          <p:cNvSpPr/>
          <p:nvPr/>
        </p:nvSpPr>
        <p:spPr>
          <a:xfrm>
            <a:off x="8233989" y="2417399"/>
            <a:ext cx="2090501" cy="94000"/>
          </a:xfrm>
          <a:prstGeom prst="rect">
            <a:avLst/>
          </a:prstGeom>
          <a:solidFill>
            <a:srgbClr val="DDE3C7"/>
          </a:solidFill>
          <a:ln/>
        </p:spPr>
      </p:sp>
      <p:sp>
        <p:nvSpPr>
          <p:cNvPr id="8" name="상자 7"/>
          <p:cNvSpPr/>
          <p:nvPr/>
        </p:nvSpPr>
        <p:spPr>
          <a:xfrm>
            <a:off x="5540350" y="3136941"/>
            <a:ext cx="1907073" cy="927384"/>
          </a:xfrm>
          <a:prstGeom prst="roundRect">
            <a:avLst>
              <a:gd name="adj" fmla="val 9249"/>
            </a:avLst>
          </a:prstGeom>
          <a:solidFill>
            <a:srgbClr val="FBF9F3"/>
          </a:solidFill>
          <a:ln w="6350">
            <a:solidFill>
              <a:srgbClr val="D5CEB8"/>
            </a:solidFill>
            <a:prstDash val="solid"/>
          </a:ln>
        </p:spPr>
      </p:sp>
      <p:sp>
        <p:nvSpPr>
          <p:cNvPr id="9" name="상자 8"/>
          <p:cNvSpPr/>
          <p:nvPr/>
        </p:nvSpPr>
        <p:spPr>
          <a:xfrm>
            <a:off x="7555413" y="3136941"/>
            <a:ext cx="1907073" cy="927384"/>
          </a:xfrm>
          <a:prstGeom prst="roundRect">
            <a:avLst>
              <a:gd name="adj" fmla="val 9249"/>
            </a:avLst>
          </a:prstGeom>
          <a:solidFill>
            <a:srgbClr val="FBF9F3"/>
          </a:solidFill>
          <a:ln w="6350">
            <a:solidFill>
              <a:srgbClr val="D5CEB8"/>
            </a:solidFill>
            <a:prstDash val="solid"/>
          </a:ln>
        </p:spPr>
      </p:sp>
      <p:sp>
        <p:nvSpPr>
          <p:cNvPr id="10" name="상자 9"/>
          <p:cNvSpPr/>
          <p:nvPr/>
        </p:nvSpPr>
        <p:spPr>
          <a:xfrm>
            <a:off x="9570476" y="3136941"/>
            <a:ext cx="1907164" cy="927384"/>
          </a:xfrm>
          <a:prstGeom prst="roundRect">
            <a:avLst>
              <a:gd name="adj" fmla="val 9249"/>
            </a:avLst>
          </a:prstGeom>
          <a:solidFill>
            <a:srgbClr val="FBF9F3"/>
          </a:solidFill>
          <a:ln w="6350">
            <a:solidFill>
              <a:srgbClr val="D5CEB8"/>
            </a:solidFill>
            <a:prstDash val="solid"/>
          </a:ln>
        </p:spPr>
      </p:sp>
      <p:sp>
        <p:nvSpPr>
          <p:cNvPr id="11" name="상자 10"/>
          <p:cNvSpPr/>
          <p:nvPr/>
        </p:nvSpPr>
        <p:spPr>
          <a:xfrm>
            <a:off x="5540350" y="4248485"/>
            <a:ext cx="2914650" cy="885871"/>
          </a:xfrm>
          <a:prstGeom prst="roundRect">
            <a:avLst>
              <a:gd name="adj" fmla="val 9682"/>
            </a:avLst>
          </a:prstGeom>
          <a:noFill/>
          <a:ln w="6350">
            <a:solidFill>
              <a:srgbClr val="D5CEB8"/>
            </a:solidFill>
            <a:prstDash val="dash"/>
          </a:ln>
        </p:spPr>
      </p:sp>
      <p:sp>
        <p:nvSpPr>
          <p:cNvPr id="12" name="상자 11"/>
          <p:cNvSpPr/>
          <p:nvPr/>
        </p:nvSpPr>
        <p:spPr>
          <a:xfrm>
            <a:off x="8562990" y="4248485"/>
            <a:ext cx="2914650" cy="885871"/>
          </a:xfrm>
          <a:prstGeom prst="roundRect">
            <a:avLst>
              <a:gd name="adj" fmla="val 9682"/>
            </a:avLst>
          </a:prstGeom>
          <a:noFill/>
          <a:ln w="6350">
            <a:solidFill>
              <a:srgbClr val="D5CEB8"/>
            </a:solidFill>
            <a:prstDash val="dash"/>
          </a:ln>
        </p:spPr>
      </p:sp>
      <p:sp>
        <p:nvSpPr>
          <p:cNvPr id="13" name="선 12"/>
          <p:cNvSpPr/>
          <p:nvPr/>
        </p:nvSpPr>
        <p:spPr>
          <a:xfrm>
            <a:off x="5537241" y="6203930"/>
            <a:ext cx="5943600" cy="0"/>
          </a:xfrm>
          <a:prstGeom prst="line">
            <a:avLst/>
          </a:prstGeom>
          <a:noFill/>
          <a:ln w="6350">
            <a:solidFill>
              <a:srgbClr val="D5CEB8"/>
            </a:solidFill>
            <a:prstDash val="solid"/>
          </a:ln>
        </p:spPr>
      </p:sp>
      <p:sp>
        <p:nvSpPr>
          <p:cNvPr id="14" name="글상자 13"/>
          <p:cNvSpPr txBox="1"/>
          <p:nvPr/>
        </p:nvSpPr>
        <p:spPr>
          <a:xfrm>
            <a:off x="3771351" y="84491"/>
            <a:ext cx="952988" cy="115580"/>
          </a:xfrm>
          <a:prstGeom prst="rect">
            <a:avLst/>
          </a:prstGeom>
          <a:noFill/>
          <a:ln/>
        </p:spPr>
        <p:txBody>
          <a:bodyPr wrap="none" lIns="0" tIns="0" rIns="0" bIns="0" rtlCol="0" anchor="ctr"/>
          <a:lstStyle/>
          <a:p>
            <a:pPr algn="r" indent="0" marL="0">
              <a:buNone/>
            </a:pPr>
            <a:r>
              <a:rPr lang="ko-KR" altLang="en-US" sz="700" spc="28" kern="0" dirty="0">
                <a:solidFill>
                  <a:srgbClr val="FBF9F3"/>
                </a:solidFill>
                <a:effectLst>
                  <a:glow rad="50800">
                    <a:srgbClr val="1C2210">
                      <a:alpha val="45000"/>
                    </a:srgbClr>
                  </a:glow>
                </a:effectLst>
                <a:latin typeface="Paperlogy 5 Medium" pitchFamily="34" charset="0"/>
                <a:ea typeface="Paperlogy 5 Medium" pitchFamily="34" charset="-122"/>
                <a:cs typeface="Paperlogy 5 Medium" pitchFamily="34" charset="-120"/>
              </a:rPr>
              <a:t>AI 생성 이미지</a:t>
            </a:r>
            <a:endParaRPr lang="en-US" sz="700" dirty="0"/>
          </a:p>
        </p:txBody>
      </p:sp>
      <p:sp>
        <p:nvSpPr>
          <p:cNvPr id="15" name="글상자 14"/>
          <p:cNvSpPr txBox="1"/>
          <p:nvPr/>
        </p:nvSpPr>
        <p:spPr>
          <a:xfrm>
            <a:off x="5880141" y="557235"/>
            <a:ext cx="1712031" cy="200071"/>
          </a:xfrm>
          <a:prstGeom prst="rect">
            <a:avLst/>
          </a:prstGeom>
          <a:noFill/>
          <a:ln/>
        </p:spPr>
        <p:txBody>
          <a:bodyPr wrap="none" lIns="0" tIns="0" rIns="0" bIns="0" rtlCol="0" anchor="ctr"/>
          <a:lstStyle/>
          <a:p>
            <a:pPr algn="l" indent="0" marL="0">
              <a:buNone/>
            </a:pPr>
            <a:r>
              <a:rPr lang="ko-KR" altLang="en-US" sz="1050" spc="231" kern="0" dirty="0">
                <a:solidFill>
                  <a:srgbClr val="646D40"/>
                </a:solidFill>
                <a:latin typeface="Paperlogy 6 SemiBold" pitchFamily="34" charset="0"/>
                <a:ea typeface="Paperlogy 6 SemiBold" pitchFamily="34" charset="-122"/>
                <a:cs typeface="Paperlogy 6 SemiBold" pitchFamily="34" charset="-120"/>
              </a:rPr>
              <a:t>FINAL CONCEPT</a:t>
            </a:r>
            <a:endParaRPr lang="en-US" sz="1050" dirty="0"/>
          </a:p>
        </p:txBody>
      </p:sp>
      <p:sp>
        <p:nvSpPr>
          <p:cNvPr id="16" name="글상자 15"/>
          <p:cNvSpPr txBox="1"/>
          <p:nvPr/>
        </p:nvSpPr>
        <p:spPr>
          <a:xfrm>
            <a:off x="5524530" y="796900"/>
            <a:ext cx="3924422" cy="825520"/>
          </a:xfrm>
          <a:prstGeom prst="rect">
            <a:avLst/>
          </a:prstGeom>
          <a:noFill/>
          <a:ln/>
        </p:spPr>
        <p:txBody>
          <a:bodyPr wrap="none" lIns="0" tIns="0" rIns="0" bIns="0" rtlCol="0" anchor="ctr"/>
          <a:lstStyle/>
          <a:p>
            <a:pPr algn="l" indent="0" marL="0">
              <a:buNone/>
            </a:pPr>
            <a:r>
              <a:rPr lang="ko-KR" altLang="en-US" sz="5000" spc="-225" kern="0" dirty="0">
                <a:solidFill>
                  <a:srgbClr val="2E3A1B"/>
                </a:solidFill>
                <a:latin typeface="Paperlogy 7 Bold" pitchFamily="34" charset="0"/>
                <a:ea typeface="Paperlogy 7 Bold" pitchFamily="34" charset="-122"/>
                <a:cs typeface="Paperlogy 7 Bold" pitchFamily="34" charset="-120"/>
              </a:rPr>
              <a:t>춘천, 쉼표 하나</a:t>
            </a:r>
            <a:endParaRPr lang="en-US" sz="5000" dirty="0"/>
          </a:p>
        </p:txBody>
      </p:sp>
      <p:sp>
        <p:nvSpPr>
          <p:cNvPr id="17" name="글상자 16"/>
          <p:cNvSpPr txBox="1"/>
          <p:nvPr/>
        </p:nvSpPr>
        <p:spPr>
          <a:xfrm>
            <a:off x="5524530" y="1715049"/>
            <a:ext cx="6244255" cy="812810"/>
          </a:xfrm>
          <a:prstGeom prst="rect">
            <a:avLst/>
          </a:prstGeom>
          <a:noFill/>
          <a:ln/>
        </p:spPr>
        <p:txBody>
          <a:bodyPr wrap="none" lIns="0" tIns="0" rIns="0" bIns="0" rtlCol="0" anchor="ctr"/>
          <a:lstStyle/>
          <a:p>
            <a:pPr algn="l" indent="0" marL="0">
              <a:lnSpc>
                <a:spcPts val="3200"/>
              </a:lnSpc>
              <a:buNone/>
            </a:pPr>
            <a:r>
              <a:rPr lang="ko-KR" altLang="en-US" sz="1600" spc="-32" kern="0" dirty="0">
                <a:solidFill>
                  <a:srgbClr val="2E3A1B"/>
                </a:solidFill>
                <a:latin typeface="Paperlogy 5 Medium" pitchFamily="34" charset="0"/>
                <a:ea typeface="Paperlogy 5 Medium" pitchFamily="34" charset="-122"/>
                <a:cs typeface="Paperlogy 5 Medium" pitchFamily="34" charset="-120"/>
              </a:rPr>
              <a:t>“</a:t>
            </a:r>
            <a:pPr algn="l" indent="0" marL="0">
              <a:lnSpc>
                <a:spcPts val="3200"/>
              </a:lnSpc>
              <a:buNone/>
            </a:pPr>
            <a:r>
              <a:rPr lang="ko-KR" altLang="en-US" sz="750" spc="60" kern="0" dirty="0">
                <a:solidFill>
                  <a:srgbClr val="737F4A"/>
                </a:solidFill>
                <a:latin typeface="Paperlogy 8 ExtraBold" pitchFamily="34" charset="0"/>
                <a:ea typeface="Paperlogy 8 ExtraBold" pitchFamily="34" charset="-122"/>
                <a:cs typeface="Paperlogy 8 ExtraBold" pitchFamily="34" charset="-120"/>
              </a:rPr>
              <a:t>고객 </a:t>
            </a:r>
            <a:pPr algn="l" indent="0" marL="0">
              <a:lnSpc>
                <a:spcPts val="3200"/>
              </a:lnSpc>
              <a:buNone/>
            </a:pPr>
            <a:r>
              <a:rPr lang="ko-KR" altLang="en-US" sz="1600" spc="-32" kern="0" dirty="0">
                <a:solidFill>
                  <a:srgbClr val="2E3A1B"/>
                </a:solidFill>
                <a:latin typeface="Paperlogy 5 Medium" pitchFamily="34" charset="0"/>
                <a:ea typeface="Paperlogy 5 Medium" pitchFamily="34" charset="-122"/>
                <a:cs typeface="Paperlogy 5 Medium" pitchFamily="34" charset="-120"/>
              </a:rPr>
              <a:t>짧은 휴식을 원하는 20~30대 여행객에게 </a:t>
            </a:r>
            <a:pPr algn="l" indent="0" marL="0">
              <a:lnSpc>
                <a:spcPts val="3200"/>
              </a:lnSpc>
              <a:buNone/>
            </a:pPr>
            <a:r>
              <a:rPr lang="ko-KR" altLang="en-US" sz="750" spc="60" kern="0" dirty="0">
                <a:solidFill>
                  <a:srgbClr val="737F4A"/>
                </a:solidFill>
                <a:latin typeface="Paperlogy 8 ExtraBold" pitchFamily="34" charset="0"/>
                <a:ea typeface="Paperlogy 8 ExtraBold" pitchFamily="34" charset="-122"/>
                <a:cs typeface="Paperlogy 8 ExtraBold" pitchFamily="34" charset="-120"/>
              </a:rPr>
              <a:t>경험 </a:t>
            </a:r>
            <a:pPr algn="l" indent="0" marL="0">
              <a:lnSpc>
                <a:spcPts val="3200"/>
              </a:lnSpc>
              <a:buNone/>
            </a:pPr>
            <a:r>
              <a:rPr lang="ko-KR" altLang="en-US" sz="1600" spc="-32" kern="0" dirty="0">
                <a:solidFill>
                  <a:srgbClr val="2E3A1B"/>
                </a:solidFill>
                <a:latin typeface="Paperlogy 5 Medium" pitchFamily="34" charset="0"/>
                <a:ea typeface="Paperlogy 5 Medium" pitchFamily="34" charset="-122"/>
                <a:cs typeface="Paperlogy 5 Medium" pitchFamily="34" charset="-120"/>
              </a:rPr>
              <a:t>춘천의 호수 산책과 로컬</a:t>
            </a:r>
            <a:endParaRPr lang="en-US" sz="1600" dirty="0"/>
          </a:p>
          <a:p>
            <a:pPr algn="l" indent="0" marL="0">
              <a:lnSpc>
                <a:spcPts val="3200"/>
              </a:lnSpc>
              <a:buNone/>
            </a:pPr>
            <a:r>
              <a:rPr lang="ko-KR" altLang="en-US" sz="1600" spc="-32" kern="0" dirty="0">
                <a:solidFill>
                  <a:srgbClr val="2E3A1B"/>
                </a:solidFill>
                <a:latin typeface="Paperlogy 5 Medium" pitchFamily="34" charset="0"/>
                <a:ea typeface="Paperlogy 5 Medium" pitchFamily="34" charset="-122"/>
                <a:cs typeface="Paperlogy 5 Medium" pitchFamily="34" charset="-120"/>
              </a:rPr>
              <a:t>카페, 선택형 휴식 체험을 제공하는 </a:t>
            </a:r>
            <a:pPr algn="l" indent="0" marL="0">
              <a:lnSpc>
                <a:spcPts val="3200"/>
              </a:lnSpc>
              <a:buNone/>
            </a:pPr>
            <a:r>
              <a:rPr lang="ko-KR" altLang="en-US" sz="750" spc="60" kern="0" dirty="0">
                <a:solidFill>
                  <a:srgbClr val="737F4A"/>
                </a:solidFill>
                <a:latin typeface="Paperlogy 8 ExtraBold" pitchFamily="34" charset="0"/>
                <a:ea typeface="Paperlogy 8 ExtraBold" pitchFamily="34" charset="-122"/>
                <a:cs typeface="Paperlogy 8 ExtraBold" pitchFamily="34" charset="-120"/>
              </a:rPr>
              <a:t>상품 </a:t>
            </a:r>
            <a:pPr algn="l" indent="0" marL="0">
              <a:lnSpc>
                <a:spcPts val="3200"/>
              </a:lnSpc>
              <a:buNone/>
            </a:pPr>
            <a:r>
              <a:rPr lang="ko-KR" altLang="en-US" sz="1600" spc="-32" kern="0" dirty="0">
                <a:solidFill>
                  <a:srgbClr val="2E3A1B"/>
                </a:solidFill>
                <a:latin typeface="Paperlogy 5 Medium" pitchFamily="34" charset="0"/>
                <a:ea typeface="Paperlogy 5 Medium" pitchFamily="34" charset="-122"/>
                <a:cs typeface="Paperlogy 5 Medium" pitchFamily="34" charset="-120"/>
              </a:rPr>
              <a:t>감성 힐링 당일 관광상품”</a:t>
            </a:r>
            <a:endParaRPr lang="en-US" sz="1600" dirty="0"/>
          </a:p>
        </p:txBody>
      </p:sp>
      <p:sp>
        <p:nvSpPr>
          <p:cNvPr id="18" name="글상자 17"/>
          <p:cNvSpPr txBox="1"/>
          <p:nvPr/>
        </p:nvSpPr>
        <p:spPr>
          <a:xfrm>
            <a:off x="5524530" y="2794041"/>
            <a:ext cx="980237" cy="266730"/>
          </a:xfrm>
          <a:prstGeom prst="rect">
            <a:avLst/>
          </a:prstGeom>
          <a:noFill/>
          <a:ln/>
        </p:spPr>
        <p:txBody>
          <a:bodyPr wrap="none" lIns="0" tIns="0" rIns="0" bIns="0" rtlCol="0" anchor="ctr"/>
          <a:lstStyle/>
          <a:p>
            <a:pPr algn="l" indent="0" marL="0">
              <a:buNone/>
            </a:pPr>
            <a:r>
              <a:rPr lang="ko-KR" altLang="en-US" sz="950" spc="133" kern="0" dirty="0">
                <a:solidFill>
                  <a:srgbClr val="646D40"/>
                </a:solidFill>
                <a:latin typeface="Paperlogy 7 Bold" pitchFamily="34" charset="0"/>
                <a:ea typeface="Paperlogy 7 Bold" pitchFamily="34" charset="-122"/>
                <a:cs typeface="Paperlogy 7 Bold" pitchFamily="34" charset="-120"/>
              </a:rPr>
              <a:t>최종 선정 이유</a:t>
            </a:r>
            <a:endParaRPr lang="en-US" sz="950" dirty="0"/>
          </a:p>
        </p:txBody>
      </p:sp>
      <p:sp>
        <p:nvSpPr>
          <p:cNvPr id="19" name="글상자 18"/>
          <p:cNvSpPr txBox="1"/>
          <p:nvPr/>
        </p:nvSpPr>
        <p:spPr>
          <a:xfrm>
            <a:off x="5670560" y="3264682"/>
            <a:ext cx="1501079" cy="214335"/>
          </a:xfrm>
          <a:prstGeom prst="rect">
            <a:avLst/>
          </a:prstGeom>
          <a:noFill/>
          <a:ln/>
        </p:spPr>
        <p:txBody>
          <a:bodyPr wrap="none" lIns="0" tIns="0" rIns="0" bIns="0" rtlCol="0" anchor="ctr"/>
          <a:lstStyle/>
          <a:p>
            <a:pPr algn="l" indent="0" marL="0">
              <a:buNone/>
            </a:pPr>
            <a:r>
              <a:rPr lang="ko-KR" altLang="en-US" sz="1250" spc="-14" kern="0" dirty="0">
                <a:solidFill>
                  <a:srgbClr val="2E3A1B"/>
                </a:solidFill>
                <a:latin typeface="Paperlogy 7 Bold" pitchFamily="34" charset="0"/>
                <a:ea typeface="Paperlogy 7 Bold" pitchFamily="34" charset="-122"/>
                <a:cs typeface="Paperlogy 7 Bold" pitchFamily="34" charset="-120"/>
              </a:rPr>
              <a:t>춘천의 자연자원 활용</a:t>
            </a:r>
            <a:endParaRPr lang="en-US" sz="1250" dirty="0"/>
          </a:p>
        </p:txBody>
      </p:sp>
      <p:sp>
        <p:nvSpPr>
          <p:cNvPr id="20" name="글상자 19"/>
          <p:cNvSpPr txBox="1"/>
          <p:nvPr/>
        </p:nvSpPr>
        <p:spPr>
          <a:xfrm>
            <a:off x="5670560" y="3529584"/>
            <a:ext cx="1571762" cy="349849"/>
          </a:xfrm>
          <a:prstGeom prst="rect">
            <a:avLst/>
          </a:prstGeom>
          <a:noFill/>
          <a:ln/>
        </p:spPr>
        <p:txBody>
          <a:bodyPr wrap="none" lIns="0" tIns="0" rIns="0" bIns="0" rtlCol="0" anchor="ctr"/>
          <a:lstStyle/>
          <a:p>
            <a:pPr algn="l" indent="0" marL="0">
              <a:lnSpc>
                <a:spcPts val="1377"/>
              </a:lnSpc>
              <a:buNone/>
            </a:pPr>
            <a:r>
              <a:rPr lang="ko-KR" altLang="en-US" sz="950" spc="-14" kern="0" dirty="0">
                <a:solidFill>
                  <a:srgbClr val="646D40"/>
                </a:solidFill>
                <a:latin typeface="Paperlogy 4 Regular" pitchFamily="34" charset="0"/>
                <a:ea typeface="Paperlogy 4 Regular" pitchFamily="34" charset="-122"/>
                <a:cs typeface="Paperlogy 4 Regular" pitchFamily="34" charset="-120"/>
              </a:rPr>
              <a:t>지역 적합성 10 / 10 (후보 중</a:t>
            </a:r>
            <a:endParaRPr lang="en-US" sz="950" dirty="0"/>
          </a:p>
          <a:p>
            <a:pPr algn="l" indent="0" marL="0">
              <a:lnSpc>
                <a:spcPts val="1377"/>
              </a:lnSpc>
              <a:buNone/>
            </a:pPr>
            <a:r>
              <a:rPr lang="ko-KR" altLang="en-US" sz="950" spc="-14" kern="0" dirty="0">
                <a:solidFill>
                  <a:srgbClr val="646D40"/>
                </a:solidFill>
                <a:latin typeface="Paperlogy 4 Regular" pitchFamily="34" charset="0"/>
                <a:ea typeface="Paperlogy 4 Regular" pitchFamily="34" charset="-122"/>
                <a:cs typeface="Paperlogy 4 Regular" pitchFamily="34" charset="-120"/>
              </a:rPr>
              <a:t>최고)</a:t>
            </a:r>
            <a:endParaRPr lang="en-US" sz="950" dirty="0"/>
          </a:p>
        </p:txBody>
      </p:sp>
      <p:sp>
        <p:nvSpPr>
          <p:cNvPr id="21" name="글상자 20"/>
          <p:cNvSpPr txBox="1"/>
          <p:nvPr/>
        </p:nvSpPr>
        <p:spPr>
          <a:xfrm>
            <a:off x="7685623" y="3264682"/>
            <a:ext cx="1834926" cy="214335"/>
          </a:xfrm>
          <a:prstGeom prst="rect">
            <a:avLst/>
          </a:prstGeom>
          <a:noFill/>
          <a:ln/>
        </p:spPr>
        <p:txBody>
          <a:bodyPr wrap="none" lIns="0" tIns="0" rIns="0" bIns="0" rtlCol="0" anchor="ctr"/>
          <a:lstStyle/>
          <a:p>
            <a:pPr algn="l" indent="0" marL="0">
              <a:buNone/>
            </a:pPr>
            <a:r>
              <a:rPr lang="ko-KR" altLang="en-US" sz="1250" spc="-14" kern="0" dirty="0">
                <a:solidFill>
                  <a:srgbClr val="2E3A1B"/>
                </a:solidFill>
                <a:latin typeface="Paperlogy 7 Bold" pitchFamily="34" charset="0"/>
                <a:ea typeface="Paperlogy 7 Bold" pitchFamily="34" charset="-122"/>
                <a:cs typeface="Paperlogy 7 Bold" pitchFamily="34" charset="-120"/>
              </a:rPr>
              <a:t>휴식 중심의 차별화된 경험</a:t>
            </a:r>
            <a:endParaRPr lang="en-US" sz="1250" dirty="0"/>
          </a:p>
        </p:txBody>
      </p:sp>
      <p:sp>
        <p:nvSpPr>
          <p:cNvPr id="22" name="글상자 21"/>
          <p:cNvSpPr txBox="1"/>
          <p:nvPr/>
        </p:nvSpPr>
        <p:spPr>
          <a:xfrm>
            <a:off x="7685623" y="3529584"/>
            <a:ext cx="1548902" cy="349849"/>
          </a:xfrm>
          <a:prstGeom prst="rect">
            <a:avLst/>
          </a:prstGeom>
          <a:noFill/>
          <a:ln/>
        </p:spPr>
        <p:txBody>
          <a:bodyPr wrap="none" lIns="0" tIns="0" rIns="0" bIns="0" rtlCol="0" anchor="ctr"/>
          <a:lstStyle/>
          <a:p>
            <a:pPr algn="l" indent="0" marL="0">
              <a:lnSpc>
                <a:spcPts val="1377"/>
              </a:lnSpc>
              <a:buNone/>
            </a:pPr>
            <a:r>
              <a:rPr lang="ko-KR" altLang="en-US" sz="950" spc="-14" kern="0" dirty="0">
                <a:solidFill>
                  <a:srgbClr val="646D40"/>
                </a:solidFill>
                <a:latin typeface="Paperlogy 4 Regular" pitchFamily="34" charset="0"/>
                <a:ea typeface="Paperlogy 4 Regular" pitchFamily="34" charset="-122"/>
                <a:cs typeface="Paperlogy 4 Regular" pitchFamily="34" charset="-120"/>
              </a:rPr>
              <a:t>방문 중심의 기존 여행과 구별</a:t>
            </a:r>
            <a:endParaRPr lang="en-US" sz="950" dirty="0"/>
          </a:p>
          <a:p>
            <a:pPr algn="l" indent="0" marL="0">
              <a:lnSpc>
                <a:spcPts val="1377"/>
              </a:lnSpc>
              <a:buNone/>
            </a:pPr>
            <a:r>
              <a:rPr lang="ko-KR" altLang="en-US" sz="950" spc="-14" kern="0" dirty="0">
                <a:solidFill>
                  <a:srgbClr val="646D40"/>
                </a:solidFill>
                <a:latin typeface="Paperlogy 4 Regular" pitchFamily="34" charset="0"/>
                <a:ea typeface="Paperlogy 4 Regular" pitchFamily="34" charset="-122"/>
                <a:cs typeface="Paperlogy 4 Regular" pitchFamily="34" charset="-120"/>
              </a:rPr>
              <a:t>(p.2)</a:t>
            </a:r>
            <a:endParaRPr lang="en-US" sz="950" dirty="0"/>
          </a:p>
        </p:txBody>
      </p:sp>
      <p:sp>
        <p:nvSpPr>
          <p:cNvPr id="23" name="글상자 22"/>
          <p:cNvSpPr txBox="1"/>
          <p:nvPr/>
        </p:nvSpPr>
        <p:spPr>
          <a:xfrm>
            <a:off x="9700595" y="3253344"/>
            <a:ext cx="1685879" cy="428671"/>
          </a:xfrm>
          <a:prstGeom prst="rect">
            <a:avLst/>
          </a:prstGeom>
          <a:noFill/>
          <a:ln/>
        </p:spPr>
        <p:txBody>
          <a:bodyPr wrap="none" lIns="0" tIns="0" rIns="0" bIns="0" rtlCol="0" anchor="ctr"/>
          <a:lstStyle/>
          <a:p>
            <a:pPr algn="l" indent="0" marL="0">
              <a:lnSpc>
                <a:spcPts val="1688"/>
              </a:lnSpc>
              <a:buNone/>
            </a:pPr>
            <a:r>
              <a:rPr lang="ko-KR" altLang="en-US" sz="1250" spc="-14" kern="0" dirty="0">
                <a:solidFill>
                  <a:srgbClr val="2E3A1B"/>
                </a:solidFill>
                <a:latin typeface="Paperlogy 7 Bold" pitchFamily="34" charset="0"/>
                <a:ea typeface="Paperlogy 7 Bold" pitchFamily="34" charset="-122"/>
                <a:cs typeface="Paperlogy 7 Bold" pitchFamily="34" charset="-120"/>
              </a:rPr>
              <a:t>개인 취향에 따른 선택형</a:t>
            </a:r>
            <a:endParaRPr lang="en-US" sz="1250" dirty="0"/>
          </a:p>
          <a:p>
            <a:pPr algn="l" indent="0" marL="0">
              <a:lnSpc>
                <a:spcPts val="1688"/>
              </a:lnSpc>
              <a:buNone/>
            </a:pPr>
            <a:r>
              <a:rPr lang="ko-KR" altLang="en-US" sz="1250" spc="-14" kern="0" dirty="0">
                <a:solidFill>
                  <a:srgbClr val="2E3A1B"/>
                </a:solidFill>
                <a:latin typeface="Paperlogy 7 Bold" pitchFamily="34" charset="0"/>
                <a:ea typeface="Paperlogy 7 Bold" pitchFamily="34" charset="-122"/>
                <a:cs typeface="Paperlogy 7 Bold" pitchFamily="34" charset="-120"/>
              </a:rPr>
              <a:t>일정</a:t>
            </a:r>
            <a:endParaRPr lang="en-US" sz="1250" dirty="0"/>
          </a:p>
        </p:txBody>
      </p:sp>
      <p:sp>
        <p:nvSpPr>
          <p:cNvPr id="24" name="글상자 23"/>
          <p:cNvSpPr txBox="1"/>
          <p:nvPr/>
        </p:nvSpPr>
        <p:spPr>
          <a:xfrm>
            <a:off x="9700595" y="3757452"/>
            <a:ext cx="1648389" cy="174925"/>
          </a:xfrm>
          <a:prstGeom prst="rect">
            <a:avLst/>
          </a:prstGeom>
          <a:noFill/>
          <a:ln/>
        </p:spPr>
        <p:txBody>
          <a:bodyPr wrap="none" lIns="0" tIns="0" rIns="0" bIns="0" rtlCol="0" anchor="ctr"/>
          <a:lstStyle/>
          <a:p>
            <a:pPr algn="l" indent="0" marL="0">
              <a:buNone/>
            </a:pPr>
            <a:r>
              <a:rPr lang="ko-KR" altLang="en-US" sz="950" spc="-14" kern="0" dirty="0">
                <a:solidFill>
                  <a:srgbClr val="646D40"/>
                </a:solidFill>
                <a:latin typeface="Paperlogy 4 Regular" pitchFamily="34" charset="0"/>
                <a:ea typeface="Paperlogy 4 Regular" pitchFamily="34" charset="-122"/>
                <a:cs typeface="Paperlogy 4 Regular" pitchFamily="34" charset="-120"/>
              </a:rPr>
              <a:t>계획 부담(가설 1)에 대응 (p.4)</a:t>
            </a:r>
            <a:endParaRPr lang="en-US" sz="950" dirty="0"/>
          </a:p>
        </p:txBody>
      </p:sp>
      <p:sp>
        <p:nvSpPr>
          <p:cNvPr id="25" name="글상자 24"/>
          <p:cNvSpPr txBox="1"/>
          <p:nvPr/>
        </p:nvSpPr>
        <p:spPr>
          <a:xfrm>
            <a:off x="5670560" y="4361139"/>
            <a:ext cx="438729" cy="161940"/>
          </a:xfrm>
          <a:prstGeom prst="rect">
            <a:avLst/>
          </a:prstGeom>
          <a:noFill/>
          <a:ln/>
        </p:spPr>
        <p:txBody>
          <a:bodyPr wrap="none" lIns="0" tIns="0" rIns="0" bIns="0" rtlCol="0" anchor="ctr"/>
          <a:lstStyle/>
          <a:p>
            <a:pPr algn="l" indent="0" marL="0">
              <a:buNone/>
            </a:pPr>
            <a:r>
              <a:rPr lang="ko-KR" altLang="en-US" sz="850" spc="102" kern="0" dirty="0">
                <a:solidFill>
                  <a:srgbClr val="737F4A"/>
                </a:solidFill>
                <a:latin typeface="Paperlogy 8 ExtraBold" pitchFamily="34" charset="0"/>
                <a:ea typeface="Paperlogy 8 ExtraBold" pitchFamily="34" charset="-122"/>
                <a:cs typeface="Paperlogy 8 ExtraBold" pitchFamily="34" charset="-120"/>
              </a:rPr>
              <a:t>예비안</a:t>
            </a:r>
            <a:endParaRPr lang="en-US" sz="850" dirty="0"/>
          </a:p>
        </p:txBody>
      </p:sp>
      <p:sp>
        <p:nvSpPr>
          <p:cNvPr id="26" name="글상자 25"/>
          <p:cNvSpPr txBox="1"/>
          <p:nvPr/>
        </p:nvSpPr>
        <p:spPr>
          <a:xfrm>
            <a:off x="5670560" y="4565965"/>
            <a:ext cx="1813347" cy="228600"/>
          </a:xfrm>
          <a:prstGeom prst="rect">
            <a:avLst/>
          </a:prstGeom>
          <a:noFill/>
          <a:ln/>
        </p:spPr>
        <p:txBody>
          <a:bodyPr wrap="none" lIns="0" tIns="0" rIns="0" bIns="0" rtlCol="0" anchor="ctr"/>
          <a:lstStyle/>
          <a:p>
            <a:pPr algn="l" indent="0" marL="0">
              <a:buNone/>
            </a:pPr>
            <a:r>
              <a:rPr lang="ko-KR" altLang="en-US" sz="1200" spc="-14" kern="0" dirty="0">
                <a:solidFill>
                  <a:srgbClr val="2E3A1B"/>
                </a:solidFill>
                <a:latin typeface="Paperlogy 7 Bold" pitchFamily="34" charset="0"/>
                <a:ea typeface="Paperlogy 7 Bold" pitchFamily="34" charset="-122"/>
                <a:cs typeface="Paperlogy 7 Bold" pitchFamily="34" charset="-120"/>
              </a:rPr>
              <a:t>로컬 카페 휴식 패스 · 80점</a:t>
            </a:r>
            <a:endParaRPr lang="en-US" sz="1200" dirty="0"/>
          </a:p>
        </p:txBody>
      </p:sp>
      <p:sp>
        <p:nvSpPr>
          <p:cNvPr id="27" name="글상자 26"/>
          <p:cNvSpPr txBox="1"/>
          <p:nvPr/>
        </p:nvSpPr>
        <p:spPr>
          <a:xfrm>
            <a:off x="5670560" y="4829495"/>
            <a:ext cx="2184593" cy="184160"/>
          </a:xfrm>
          <a:prstGeom prst="rect">
            <a:avLst/>
          </a:prstGeom>
          <a:noFill/>
          <a:ln/>
        </p:spPr>
        <p:txBody>
          <a:bodyPr wrap="none" lIns="0" tIns="0" rIns="0" bIns="0" rtlCol="0" anchor="ctr"/>
          <a:lstStyle/>
          <a:p>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실행 가능성 최고(20), 차별성 보완 필요</a:t>
            </a:r>
            <a:endParaRPr lang="en-US" sz="1000" dirty="0"/>
          </a:p>
        </p:txBody>
      </p:sp>
      <p:sp>
        <p:nvSpPr>
          <p:cNvPr id="28" name="글상자 27"/>
          <p:cNvSpPr txBox="1"/>
          <p:nvPr/>
        </p:nvSpPr>
        <p:spPr>
          <a:xfrm>
            <a:off x="8693109" y="4361139"/>
            <a:ext cx="438729" cy="161940"/>
          </a:xfrm>
          <a:prstGeom prst="rect">
            <a:avLst/>
          </a:prstGeom>
          <a:noFill/>
          <a:ln/>
        </p:spPr>
        <p:txBody>
          <a:bodyPr wrap="none" lIns="0" tIns="0" rIns="0" bIns="0" rtlCol="0" anchor="ctr"/>
          <a:lstStyle/>
          <a:p>
            <a:pPr algn="l" indent="0" marL="0">
              <a:buNone/>
            </a:pPr>
            <a:r>
              <a:rPr lang="ko-KR" altLang="en-US" sz="850" spc="102" kern="0" dirty="0">
                <a:solidFill>
                  <a:srgbClr val="737F4A"/>
                </a:solidFill>
                <a:latin typeface="Paperlogy 8 ExtraBold" pitchFamily="34" charset="0"/>
                <a:ea typeface="Paperlogy 8 ExtraBold" pitchFamily="34" charset="-122"/>
                <a:cs typeface="Paperlogy 8 ExtraBold" pitchFamily="34" charset="-120"/>
              </a:rPr>
              <a:t>보류안</a:t>
            </a:r>
            <a:endParaRPr lang="en-US" sz="850" dirty="0"/>
          </a:p>
        </p:txBody>
      </p:sp>
      <p:sp>
        <p:nvSpPr>
          <p:cNvPr id="29" name="글상자 28"/>
          <p:cNvSpPr txBox="1"/>
          <p:nvPr/>
        </p:nvSpPr>
        <p:spPr>
          <a:xfrm>
            <a:off x="8693109" y="4565965"/>
            <a:ext cx="1779057" cy="228600"/>
          </a:xfrm>
          <a:prstGeom prst="rect">
            <a:avLst/>
          </a:prstGeom>
          <a:noFill/>
          <a:ln/>
        </p:spPr>
        <p:txBody>
          <a:bodyPr wrap="none" lIns="0" tIns="0" rIns="0" bIns="0" rtlCol="0" anchor="ctr"/>
          <a:lstStyle/>
          <a:p>
            <a:pPr algn="l" indent="0" marL="0">
              <a:buNone/>
            </a:pPr>
            <a:r>
              <a:rPr lang="ko-KR" altLang="en-US" sz="1200" spc="-14" kern="0" dirty="0">
                <a:solidFill>
                  <a:srgbClr val="2E3A1B"/>
                </a:solidFill>
                <a:latin typeface="Paperlogy 7 Bold" pitchFamily="34" charset="0"/>
                <a:ea typeface="Paperlogy 7 Bold" pitchFamily="34" charset="-122"/>
                <a:cs typeface="Paperlogy 7 Bold" pitchFamily="34" charset="-120"/>
              </a:rPr>
              <a:t>디지털 디톡스 여행 · 77점</a:t>
            </a:r>
            <a:endParaRPr lang="en-US" sz="1200" dirty="0"/>
          </a:p>
        </p:txBody>
      </p:sp>
      <p:sp>
        <p:nvSpPr>
          <p:cNvPr id="30" name="글상자 29"/>
          <p:cNvSpPr txBox="1"/>
          <p:nvPr/>
        </p:nvSpPr>
        <p:spPr>
          <a:xfrm>
            <a:off x="8693109" y="4829495"/>
            <a:ext cx="2040209" cy="184160"/>
          </a:xfrm>
          <a:prstGeom prst="rect">
            <a:avLst/>
          </a:prstGeom>
          <a:noFill/>
          <a:ln/>
        </p:spPr>
        <p:txBody>
          <a:bodyPr wrap="none" lIns="0" tIns="0" rIns="0" bIns="0" rtlCol="0" anchor="ctr"/>
          <a:lstStyle/>
          <a:p>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참여 의향과 운영 방식 추가 검증 필요</a:t>
            </a:r>
            <a:endParaRPr lang="en-US" sz="1000" dirty="0"/>
          </a:p>
        </p:txBody>
      </p:sp>
      <p:sp>
        <p:nvSpPr>
          <p:cNvPr id="31" name="글상자 30"/>
          <p:cNvSpPr txBox="1"/>
          <p:nvPr/>
        </p:nvSpPr>
        <p:spPr>
          <a:xfrm>
            <a:off x="5524530" y="6316675"/>
            <a:ext cx="2364273" cy="180960"/>
          </a:xfrm>
          <a:prstGeom prst="rect">
            <a:avLst/>
          </a:prstGeom>
          <a:noFill/>
          <a:ln/>
        </p:spPr>
        <p:txBody>
          <a:bodyPr wrap="none" lIns="0" tIns="0" rIns="0" bIns="0" rtlCol="0" anchor="ctr"/>
          <a:lstStyle/>
          <a:p>
            <a:pPr algn="l" indent="0" marL="0">
              <a:buNone/>
            </a:pPr>
            <a:r>
              <a:rPr lang="ko-KR" altLang="en-US" sz="950" spc="10" kern="0" dirty="0">
                <a:solidFill>
                  <a:srgbClr val="646D40"/>
                </a:solidFill>
                <a:latin typeface="Paperlogy 4 Regular" pitchFamily="34" charset="0"/>
                <a:ea typeface="Paperlogy 4 Regular" pitchFamily="34" charset="-122"/>
                <a:cs typeface="Paperlogy 4 Regular" pitchFamily="34" charset="-120"/>
              </a:rPr>
              <a:t>관광레저상품론 · 관광상품 기획 사전 제안서</a:t>
            </a:r>
            <a:endParaRPr lang="en-US" sz="950" dirty="0"/>
          </a:p>
        </p:txBody>
      </p:sp>
      <p:sp>
        <p:nvSpPr>
          <p:cNvPr id="32" name="글상자 31"/>
          <p:cNvSpPr txBox="1"/>
          <p:nvPr/>
        </p:nvSpPr>
        <p:spPr>
          <a:xfrm>
            <a:off x="10996849" y="6316675"/>
            <a:ext cx="597926" cy="180960"/>
          </a:xfrm>
          <a:prstGeom prst="rect">
            <a:avLst/>
          </a:prstGeom>
          <a:noFill/>
          <a:ln/>
        </p:spPr>
        <p:txBody>
          <a:bodyPr wrap="none" lIns="0" tIns="0" rIns="0" bIns="0" rtlCol="0" anchor="ctr"/>
          <a:lstStyle/>
          <a:p>
            <a:pPr algn="l" indent="0" marL="0">
              <a:buNone/>
            </a:pPr>
            <a:r>
              <a:rPr lang="ko-KR" altLang="en-US" sz="950" spc="57" kern="0" dirty="0">
                <a:solidFill>
                  <a:srgbClr val="2E3A1B"/>
                </a:solidFill>
                <a:latin typeface="Paperlogy 7 Bold" pitchFamily="34" charset="0"/>
                <a:ea typeface="Paperlogy 7 Bold" pitchFamily="34" charset="-122"/>
                <a:cs typeface="Paperlogy 7 Bold" pitchFamily="34" charset="-120"/>
              </a:rPr>
              <a:t>07 / 10</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6"/>
        </a:solidFill>
      </p:bgPr>
    </p:bg>
    <p:spTree>
      <p:nvGrpSpPr>
        <p:cNvPr id="1" name=""/>
        <p:cNvGrpSpPr/>
        <p:nvPr/>
      </p:nvGrpSpPr>
      <p:grpSpPr>
        <a:xfrm>
          <a:off x="0" y="0"/>
          <a:ext cx="0" cy="0"/>
          <a:chOff x="0" y="0"/>
          <a:chExt cx="0" cy="0"/>
        </a:xfrm>
      </p:grpSpPr>
      <p:sp>
        <p:nvSpPr>
          <p:cNvPr id="2" name="선 1"/>
          <p:cNvSpPr/>
          <p:nvPr/>
        </p:nvSpPr>
        <p:spPr>
          <a:xfrm>
            <a:off x="711220" y="658825"/>
            <a:ext cx="254020" cy="0"/>
          </a:xfrm>
          <a:prstGeom prst="line">
            <a:avLst/>
          </a:prstGeom>
          <a:noFill/>
          <a:ln w="12700">
            <a:solidFill>
              <a:srgbClr val="737F4A"/>
            </a:solidFill>
            <a:prstDash val="solid"/>
          </a:ln>
        </p:spPr>
      </p:sp>
      <p:sp>
        <p:nvSpPr>
          <p:cNvPr id="3" name="선 2"/>
          <p:cNvSpPr/>
          <p:nvPr/>
        </p:nvSpPr>
        <p:spPr>
          <a:xfrm>
            <a:off x="1638330" y="1789024"/>
            <a:ext cx="0" cy="2133570"/>
          </a:xfrm>
          <a:prstGeom prst="line">
            <a:avLst/>
          </a:prstGeom>
          <a:noFill/>
          <a:ln w="12700">
            <a:solidFill>
              <a:srgbClr val="B5C092"/>
            </a:solidFill>
            <a:prstDash val="solid"/>
          </a:ln>
        </p:spPr>
      </p:sp>
      <p:sp>
        <p:nvSpPr>
          <p:cNvPr id="4" name="점 3"/>
          <p:cNvSpPr/>
          <p:nvPr/>
        </p:nvSpPr>
        <p:spPr>
          <a:xfrm>
            <a:off x="1590690" y="1760403"/>
            <a:ext cx="95280" cy="95280"/>
          </a:xfrm>
          <a:prstGeom prst="ellipse">
            <a:avLst/>
          </a:prstGeom>
          <a:solidFill>
            <a:srgbClr val="737F4A"/>
          </a:solidFill>
          <a:ln w="19050">
            <a:solidFill>
              <a:srgbClr val="737F4A"/>
            </a:solidFill>
            <a:prstDash val="solid"/>
          </a:ln>
        </p:spPr>
      </p:sp>
      <p:sp>
        <p:nvSpPr>
          <p:cNvPr id="5" name="점 4"/>
          <p:cNvSpPr/>
          <p:nvPr/>
        </p:nvSpPr>
        <p:spPr>
          <a:xfrm>
            <a:off x="1590690" y="2179564"/>
            <a:ext cx="95280" cy="95280"/>
          </a:xfrm>
          <a:prstGeom prst="ellipse">
            <a:avLst/>
          </a:prstGeom>
          <a:solidFill>
            <a:srgbClr val="F5F1E6"/>
          </a:solidFill>
          <a:ln w="19050">
            <a:solidFill>
              <a:srgbClr val="737F4A"/>
            </a:solidFill>
            <a:prstDash val="solid"/>
          </a:ln>
        </p:spPr>
      </p:sp>
      <p:sp>
        <p:nvSpPr>
          <p:cNvPr id="6" name="점 5"/>
          <p:cNvSpPr/>
          <p:nvPr/>
        </p:nvSpPr>
        <p:spPr>
          <a:xfrm>
            <a:off x="1590690" y="2598633"/>
            <a:ext cx="95280" cy="95280"/>
          </a:xfrm>
          <a:prstGeom prst="ellipse">
            <a:avLst/>
          </a:prstGeom>
          <a:solidFill>
            <a:srgbClr val="F5F1E6"/>
          </a:solidFill>
          <a:ln w="19050">
            <a:solidFill>
              <a:srgbClr val="737F4A"/>
            </a:solidFill>
            <a:prstDash val="solid"/>
          </a:ln>
        </p:spPr>
      </p:sp>
      <p:sp>
        <p:nvSpPr>
          <p:cNvPr id="7" name="점 6"/>
          <p:cNvSpPr/>
          <p:nvPr/>
        </p:nvSpPr>
        <p:spPr>
          <a:xfrm>
            <a:off x="1590690" y="3017703"/>
            <a:ext cx="95280" cy="95280"/>
          </a:xfrm>
          <a:prstGeom prst="ellipse">
            <a:avLst/>
          </a:prstGeom>
          <a:solidFill>
            <a:srgbClr val="F5F1E6"/>
          </a:solidFill>
          <a:ln w="19050">
            <a:solidFill>
              <a:srgbClr val="737F4A"/>
            </a:solidFill>
            <a:prstDash val="solid"/>
          </a:ln>
        </p:spPr>
      </p:sp>
      <p:sp>
        <p:nvSpPr>
          <p:cNvPr id="8" name="점 7"/>
          <p:cNvSpPr/>
          <p:nvPr/>
        </p:nvSpPr>
        <p:spPr>
          <a:xfrm>
            <a:off x="1590690" y="3436864"/>
            <a:ext cx="95280" cy="95280"/>
          </a:xfrm>
          <a:prstGeom prst="ellipse">
            <a:avLst/>
          </a:prstGeom>
          <a:solidFill>
            <a:srgbClr val="F5F1E6"/>
          </a:solidFill>
          <a:ln w="19050">
            <a:solidFill>
              <a:srgbClr val="737F4A"/>
            </a:solidFill>
            <a:prstDash val="solid"/>
          </a:ln>
        </p:spPr>
      </p:sp>
      <p:sp>
        <p:nvSpPr>
          <p:cNvPr id="9" name="점 8"/>
          <p:cNvSpPr/>
          <p:nvPr/>
        </p:nvSpPr>
        <p:spPr>
          <a:xfrm>
            <a:off x="1590690" y="3855933"/>
            <a:ext cx="95280" cy="95280"/>
          </a:xfrm>
          <a:prstGeom prst="ellipse">
            <a:avLst/>
          </a:prstGeom>
          <a:solidFill>
            <a:srgbClr val="737F4A"/>
          </a:solidFill>
          <a:ln w="19050">
            <a:solidFill>
              <a:srgbClr val="737F4A"/>
            </a:solidFill>
            <a:prstDash val="solid"/>
          </a:ln>
        </p:spPr>
      </p:sp>
      <p:pic>
        <p:nvPicPr>
          <p:cNvPr id="10" name="사진 9" descr="AI 생성 이미지">    </p:cNvPr>
          <p:cNvPicPr>
            <a:picLocks noChangeAspect="1"/>
          </p:cNvPicPr>
          <p:nvPr/>
        </p:nvPicPr>
        <p:blipFill>
          <a:blip r:embed="rId1"/>
          <a:stretch>
            <a:fillRect/>
          </a:stretch>
        </p:blipFill>
        <p:spPr>
          <a:xfrm>
            <a:off x="6019770" y="1598554"/>
            <a:ext cx="1761043" cy="2514600"/>
          </a:xfrm>
          <a:prstGeom prst="rect">
            <a:avLst/>
          </a:prstGeom>
        </p:spPr>
      </p:pic>
      <p:pic>
        <p:nvPicPr>
          <p:cNvPr id="11" name="사진 10" descr="AI 생성 이미지">    </p:cNvPr>
          <p:cNvPicPr>
            <a:picLocks noChangeAspect="1"/>
          </p:cNvPicPr>
          <p:nvPr/>
        </p:nvPicPr>
        <p:blipFill>
          <a:blip r:embed="rId2"/>
          <a:stretch>
            <a:fillRect/>
          </a:stretch>
        </p:blipFill>
        <p:spPr>
          <a:xfrm>
            <a:off x="7869692" y="1598554"/>
            <a:ext cx="1761043" cy="2514600"/>
          </a:xfrm>
          <a:prstGeom prst="rect">
            <a:avLst/>
          </a:prstGeom>
        </p:spPr>
      </p:pic>
      <p:pic>
        <p:nvPicPr>
          <p:cNvPr id="12" name="사진 11" descr="AI 생성 이미지">    </p:cNvPr>
          <p:cNvPicPr>
            <a:picLocks noChangeAspect="1"/>
          </p:cNvPicPr>
          <p:nvPr/>
        </p:nvPicPr>
        <p:blipFill>
          <a:blip r:embed="rId3"/>
          <a:stretch>
            <a:fillRect/>
          </a:stretch>
        </p:blipFill>
        <p:spPr>
          <a:xfrm>
            <a:off x="9719706" y="1598554"/>
            <a:ext cx="1761134" cy="2514600"/>
          </a:xfrm>
          <a:prstGeom prst="rect">
            <a:avLst/>
          </a:prstGeom>
        </p:spPr>
      </p:pic>
      <p:sp>
        <p:nvSpPr>
          <p:cNvPr id="13" name="상자 12"/>
          <p:cNvSpPr/>
          <p:nvPr/>
        </p:nvSpPr>
        <p:spPr>
          <a:xfrm>
            <a:off x="714421" y="4294114"/>
            <a:ext cx="3498860" cy="1377909"/>
          </a:xfrm>
          <a:prstGeom prst="roundRect">
            <a:avLst>
              <a:gd name="adj" fmla="val 6225"/>
            </a:avLst>
          </a:prstGeom>
          <a:solidFill>
            <a:srgbClr val="FBF9F3"/>
          </a:solidFill>
          <a:ln w="6350">
            <a:solidFill>
              <a:srgbClr val="D5CEB8"/>
            </a:solidFill>
            <a:prstDash val="solid"/>
          </a:ln>
        </p:spPr>
      </p:sp>
      <p:sp>
        <p:nvSpPr>
          <p:cNvPr id="14" name="상자 13"/>
          <p:cNvSpPr/>
          <p:nvPr/>
        </p:nvSpPr>
        <p:spPr>
          <a:xfrm>
            <a:off x="1510497" y="4440144"/>
            <a:ext cx="596829" cy="203180"/>
          </a:xfrm>
          <a:prstGeom prst="roundRect">
            <a:avLst>
              <a:gd name="adj" fmla="val 50000"/>
            </a:avLst>
          </a:prstGeom>
          <a:noFill/>
          <a:ln w="6350">
            <a:solidFill>
              <a:srgbClr val="646D40"/>
            </a:solidFill>
            <a:prstDash val="dash"/>
          </a:ln>
        </p:spPr>
      </p:sp>
      <p:sp>
        <p:nvSpPr>
          <p:cNvPr id="15" name="상자 14"/>
          <p:cNvSpPr/>
          <p:nvPr/>
        </p:nvSpPr>
        <p:spPr>
          <a:xfrm>
            <a:off x="4346600" y="4294114"/>
            <a:ext cx="3498860" cy="1377909"/>
          </a:xfrm>
          <a:prstGeom prst="roundRect">
            <a:avLst>
              <a:gd name="adj" fmla="val 6225"/>
            </a:avLst>
          </a:prstGeom>
          <a:solidFill>
            <a:srgbClr val="FBF9F3"/>
          </a:solidFill>
          <a:ln w="6350">
            <a:solidFill>
              <a:srgbClr val="D5CEB8"/>
            </a:solidFill>
            <a:prstDash val="solid"/>
          </a:ln>
        </p:spPr>
      </p:sp>
      <p:sp>
        <p:nvSpPr>
          <p:cNvPr id="16" name="상자 15"/>
          <p:cNvSpPr/>
          <p:nvPr/>
        </p:nvSpPr>
        <p:spPr>
          <a:xfrm>
            <a:off x="5654467" y="4440144"/>
            <a:ext cx="370058" cy="203180"/>
          </a:xfrm>
          <a:prstGeom prst="roundRect">
            <a:avLst>
              <a:gd name="adj" fmla="val 50000"/>
            </a:avLst>
          </a:prstGeom>
          <a:noFill/>
          <a:ln w="6350">
            <a:solidFill>
              <a:srgbClr val="646D40"/>
            </a:solidFill>
            <a:prstDash val="dash"/>
          </a:ln>
        </p:spPr>
      </p:sp>
      <p:sp>
        <p:nvSpPr>
          <p:cNvPr id="17" name="상자 16"/>
          <p:cNvSpPr/>
          <p:nvPr/>
        </p:nvSpPr>
        <p:spPr>
          <a:xfrm>
            <a:off x="7978780" y="4294114"/>
            <a:ext cx="3498860" cy="1377909"/>
          </a:xfrm>
          <a:prstGeom prst="roundRect">
            <a:avLst>
              <a:gd name="adj" fmla="val 6225"/>
            </a:avLst>
          </a:prstGeom>
          <a:solidFill>
            <a:srgbClr val="FBF9F3"/>
          </a:solidFill>
          <a:ln w="6350">
            <a:solidFill>
              <a:srgbClr val="D5CEB8"/>
            </a:solidFill>
            <a:prstDash val="solid"/>
          </a:ln>
        </p:spPr>
      </p:sp>
      <p:sp>
        <p:nvSpPr>
          <p:cNvPr id="18" name="상자 17"/>
          <p:cNvSpPr/>
          <p:nvPr/>
        </p:nvSpPr>
        <p:spPr>
          <a:xfrm>
            <a:off x="9163660" y="4440144"/>
            <a:ext cx="370058" cy="203180"/>
          </a:xfrm>
          <a:prstGeom prst="roundRect">
            <a:avLst>
              <a:gd name="adj" fmla="val 50000"/>
            </a:avLst>
          </a:prstGeom>
          <a:noFill/>
          <a:ln w="6350">
            <a:solidFill>
              <a:srgbClr val="646D40"/>
            </a:solidFill>
            <a:prstDash val="dash"/>
          </a:ln>
        </p:spPr>
      </p:sp>
      <p:sp>
        <p:nvSpPr>
          <p:cNvPr id="19" name="선 18"/>
          <p:cNvSpPr/>
          <p:nvPr/>
        </p:nvSpPr>
        <p:spPr>
          <a:xfrm>
            <a:off x="711220" y="6203930"/>
            <a:ext cx="10769620" cy="0"/>
          </a:xfrm>
          <a:prstGeom prst="line">
            <a:avLst/>
          </a:prstGeom>
          <a:noFill/>
          <a:ln w="6350">
            <a:solidFill>
              <a:srgbClr val="D5CEB8"/>
            </a:solidFill>
            <a:prstDash val="solid"/>
          </a:ln>
        </p:spPr>
      </p:sp>
      <p:sp>
        <p:nvSpPr>
          <p:cNvPr id="20" name="글상자 19"/>
          <p:cNvSpPr txBox="1"/>
          <p:nvPr/>
        </p:nvSpPr>
        <p:spPr>
          <a:xfrm>
            <a:off x="6726235" y="1682953"/>
            <a:ext cx="952988" cy="115580"/>
          </a:xfrm>
          <a:prstGeom prst="rect">
            <a:avLst/>
          </a:prstGeom>
          <a:noFill/>
          <a:ln/>
        </p:spPr>
        <p:txBody>
          <a:bodyPr wrap="none" lIns="0" tIns="0" rIns="0" bIns="0" rtlCol="0" anchor="ctr"/>
          <a:lstStyle/>
          <a:p>
            <a:pPr algn="r" indent="0" marL="0">
              <a:buNone/>
            </a:pPr>
            <a:r>
              <a:rPr lang="ko-KR" altLang="en-US" sz="700" spc="28" kern="0" dirty="0">
                <a:solidFill>
                  <a:srgbClr val="FBF9F3"/>
                </a:solidFill>
                <a:effectLst>
                  <a:glow rad="50800">
                    <a:srgbClr val="1C2210">
                      <a:alpha val="45000"/>
                    </a:srgbClr>
                  </a:glow>
                </a:effectLst>
                <a:latin typeface="Paperlogy 5 Medium" pitchFamily="34" charset="0"/>
                <a:ea typeface="Paperlogy 5 Medium" pitchFamily="34" charset="-122"/>
                <a:cs typeface="Paperlogy 5 Medium" pitchFamily="34" charset="-120"/>
              </a:rPr>
              <a:t>AI 생성 이미지</a:t>
            </a:r>
            <a:endParaRPr lang="en-US" sz="700" dirty="0"/>
          </a:p>
        </p:txBody>
      </p:sp>
      <p:sp>
        <p:nvSpPr>
          <p:cNvPr id="21" name="글상자 20"/>
          <p:cNvSpPr txBox="1"/>
          <p:nvPr/>
        </p:nvSpPr>
        <p:spPr>
          <a:xfrm>
            <a:off x="8576158" y="1682953"/>
            <a:ext cx="952988" cy="115580"/>
          </a:xfrm>
          <a:prstGeom prst="rect">
            <a:avLst/>
          </a:prstGeom>
          <a:noFill/>
          <a:ln/>
        </p:spPr>
        <p:txBody>
          <a:bodyPr wrap="none" lIns="0" tIns="0" rIns="0" bIns="0" rtlCol="0" anchor="ctr"/>
          <a:lstStyle/>
          <a:p>
            <a:pPr algn="r" indent="0" marL="0">
              <a:buNone/>
            </a:pPr>
            <a:r>
              <a:rPr lang="ko-KR" altLang="en-US" sz="700" spc="28" kern="0" dirty="0">
                <a:solidFill>
                  <a:srgbClr val="FBF9F3"/>
                </a:solidFill>
                <a:effectLst>
                  <a:glow rad="50800">
                    <a:srgbClr val="1C2210">
                      <a:alpha val="45000"/>
                    </a:srgbClr>
                  </a:glow>
                </a:effectLst>
                <a:latin typeface="Paperlogy 5 Medium" pitchFamily="34" charset="0"/>
                <a:ea typeface="Paperlogy 5 Medium" pitchFamily="34" charset="-122"/>
                <a:cs typeface="Paperlogy 5 Medium" pitchFamily="34" charset="-120"/>
              </a:rPr>
              <a:t>AI 생성 이미지</a:t>
            </a:r>
            <a:endParaRPr lang="en-US" sz="700" dirty="0"/>
          </a:p>
        </p:txBody>
      </p:sp>
      <p:sp>
        <p:nvSpPr>
          <p:cNvPr id="22" name="글상자 21"/>
          <p:cNvSpPr txBox="1"/>
          <p:nvPr/>
        </p:nvSpPr>
        <p:spPr>
          <a:xfrm>
            <a:off x="10426172" y="1682953"/>
            <a:ext cx="952988" cy="115580"/>
          </a:xfrm>
          <a:prstGeom prst="rect">
            <a:avLst/>
          </a:prstGeom>
          <a:noFill/>
          <a:ln/>
        </p:spPr>
        <p:txBody>
          <a:bodyPr wrap="none" lIns="0" tIns="0" rIns="0" bIns="0" rtlCol="0" anchor="ctr"/>
          <a:lstStyle/>
          <a:p>
            <a:pPr algn="r" indent="0" marL="0">
              <a:buNone/>
            </a:pPr>
            <a:r>
              <a:rPr lang="ko-KR" altLang="en-US" sz="700" spc="28" kern="0" dirty="0">
                <a:solidFill>
                  <a:srgbClr val="FBF9F3"/>
                </a:solidFill>
                <a:effectLst>
                  <a:glow rad="50800">
                    <a:srgbClr val="1C2210">
                      <a:alpha val="45000"/>
                    </a:srgbClr>
                  </a:glow>
                </a:effectLst>
                <a:latin typeface="Paperlogy 5 Medium" pitchFamily="34" charset="0"/>
                <a:ea typeface="Paperlogy 5 Medium" pitchFamily="34" charset="-122"/>
                <a:cs typeface="Paperlogy 5 Medium" pitchFamily="34" charset="-120"/>
              </a:rPr>
              <a:t>AI 생성 이미지</a:t>
            </a:r>
            <a:endParaRPr lang="en-US" sz="700" dirty="0"/>
          </a:p>
        </p:txBody>
      </p:sp>
      <p:sp>
        <p:nvSpPr>
          <p:cNvPr id="23" name="글상자 22"/>
          <p:cNvSpPr txBox="1"/>
          <p:nvPr/>
        </p:nvSpPr>
        <p:spPr>
          <a:xfrm>
            <a:off x="908091" y="4596872"/>
            <a:ext cx="345369" cy="308701"/>
          </a:xfrm>
          <a:prstGeom prst="rect">
            <a:avLst/>
          </a:prstGeom>
          <a:noFill/>
          <a:ln/>
        </p:spPr>
        <p:txBody>
          <a:bodyPr wrap="none" lIns="0" tIns="0" rIns="0" bIns="0" rtlCol="0" anchor="ctr"/>
          <a:lstStyle/>
          <a:p>
            <a:pPr algn="l" indent="0" marL="0">
              <a:buNone/>
            </a:pPr>
            <a:r>
              <a:rPr lang="ko-KR" altLang="en-US" sz="1870" spc="-14" kern="0" dirty="0">
                <a:solidFill>
                  <a:srgbClr val="737F4A"/>
                </a:solidFill>
                <a:latin typeface="Paperlogy 8 ExtraBold" pitchFamily="34" charset="0"/>
                <a:ea typeface="Paperlogy 8 ExtraBold" pitchFamily="34" charset="-122"/>
                <a:cs typeface="Paperlogy 8 ExtraBold" pitchFamily="34" charset="-120"/>
              </a:rPr>
              <a:t>,</a:t>
            </a:r>
            <a:endParaRPr lang="en-US" sz="1870" dirty="0"/>
          </a:p>
        </p:txBody>
      </p:sp>
      <p:sp>
        <p:nvSpPr>
          <p:cNvPr id="24" name="글상자 23"/>
          <p:cNvSpPr txBox="1"/>
          <p:nvPr/>
        </p:nvSpPr>
        <p:spPr>
          <a:xfrm>
            <a:off x="908091" y="4895332"/>
            <a:ext cx="345369" cy="308701"/>
          </a:xfrm>
          <a:prstGeom prst="rect">
            <a:avLst/>
          </a:prstGeom>
          <a:noFill/>
          <a:ln/>
        </p:spPr>
        <p:txBody>
          <a:bodyPr wrap="none" lIns="0" tIns="0" rIns="0" bIns="0" rtlCol="0" anchor="ctr"/>
          <a:lstStyle/>
          <a:p>
            <a:pPr algn="l" indent="0" marL="0">
              <a:buNone/>
            </a:pPr>
            <a:r>
              <a:rPr lang="ko-KR" altLang="en-US" sz="1870" spc="-14" kern="0" dirty="0">
                <a:solidFill>
                  <a:srgbClr val="737F4A"/>
                </a:solidFill>
                <a:latin typeface="Paperlogy 8 ExtraBold" pitchFamily="34" charset="0"/>
                <a:ea typeface="Paperlogy 8 ExtraBold" pitchFamily="34" charset="-122"/>
                <a:cs typeface="Paperlogy 8 ExtraBold" pitchFamily="34" charset="-120"/>
              </a:rPr>
              <a:t>,</a:t>
            </a:r>
            <a:endParaRPr lang="en-US" sz="1870" dirty="0"/>
          </a:p>
        </p:txBody>
      </p:sp>
      <p:sp>
        <p:nvSpPr>
          <p:cNvPr id="25" name="글상자 24"/>
          <p:cNvSpPr txBox="1"/>
          <p:nvPr/>
        </p:nvSpPr>
        <p:spPr>
          <a:xfrm>
            <a:off x="908091" y="5193701"/>
            <a:ext cx="345369" cy="308701"/>
          </a:xfrm>
          <a:prstGeom prst="rect">
            <a:avLst/>
          </a:prstGeom>
          <a:noFill/>
          <a:ln/>
        </p:spPr>
        <p:txBody>
          <a:bodyPr wrap="none" lIns="0" tIns="0" rIns="0" bIns="0" rtlCol="0" anchor="ctr"/>
          <a:lstStyle/>
          <a:p>
            <a:pPr algn="l" indent="0" marL="0">
              <a:buNone/>
            </a:pPr>
            <a:r>
              <a:rPr lang="ko-KR" altLang="en-US" sz="1870" spc="-14" kern="0" dirty="0">
                <a:solidFill>
                  <a:srgbClr val="737F4A"/>
                </a:solidFill>
                <a:latin typeface="Paperlogy 8 ExtraBold" pitchFamily="34" charset="0"/>
                <a:ea typeface="Paperlogy 8 ExtraBold" pitchFamily="34" charset="-122"/>
                <a:cs typeface="Paperlogy 8 ExtraBold" pitchFamily="34" charset="-120"/>
              </a:rPr>
              <a:t>,</a:t>
            </a:r>
            <a:endParaRPr lang="en-US" sz="1870" dirty="0"/>
          </a:p>
        </p:txBody>
      </p:sp>
      <p:sp>
        <p:nvSpPr>
          <p:cNvPr id="26" name="글상자 25"/>
          <p:cNvSpPr txBox="1"/>
          <p:nvPr/>
        </p:nvSpPr>
        <p:spPr>
          <a:xfrm>
            <a:off x="1054120" y="557235"/>
            <a:ext cx="2069836" cy="200071"/>
          </a:xfrm>
          <a:prstGeom prst="rect">
            <a:avLst/>
          </a:prstGeom>
          <a:noFill/>
          <a:ln/>
        </p:spPr>
        <p:txBody>
          <a:bodyPr wrap="none" lIns="0" tIns="0" rIns="0" bIns="0" rtlCol="0" anchor="ctr"/>
          <a:lstStyle/>
          <a:p>
            <a:pPr algn="l" indent="0" marL="0">
              <a:buNone/>
            </a:pPr>
            <a:r>
              <a:rPr lang="ko-KR" altLang="en-US" sz="1050" spc="231" kern="0" dirty="0">
                <a:solidFill>
                  <a:srgbClr val="646D40"/>
                </a:solidFill>
                <a:latin typeface="Paperlogy 6 SemiBold" pitchFamily="34" charset="0"/>
                <a:ea typeface="Paperlogy 6 SemiBold" pitchFamily="34" charset="-122"/>
                <a:cs typeface="Paperlogy 6 SemiBold" pitchFamily="34" charset="-120"/>
              </a:rPr>
              <a:t>ONE DAY PROGRAM</a:t>
            </a:r>
            <a:endParaRPr lang="en-US" sz="1050" dirty="0"/>
          </a:p>
        </p:txBody>
      </p:sp>
      <p:sp>
        <p:nvSpPr>
          <p:cNvPr id="27" name="글상자 26"/>
          <p:cNvSpPr txBox="1"/>
          <p:nvPr/>
        </p:nvSpPr>
        <p:spPr>
          <a:xfrm>
            <a:off x="698510" y="833750"/>
            <a:ext cx="5596494" cy="561350"/>
          </a:xfrm>
          <a:prstGeom prst="rect">
            <a:avLst/>
          </a:prstGeom>
          <a:noFill/>
          <a:ln/>
        </p:spPr>
        <p:txBody>
          <a:bodyPr wrap="none" lIns="0" tIns="0" rIns="0" bIns="0" rtlCol="0" anchor="ctr"/>
          <a:lstStyle/>
          <a:p>
            <a:pPr algn="l" indent="0" marL="0">
              <a:buNone/>
            </a:pPr>
            <a:r>
              <a:rPr lang="ko-KR" altLang="en-US" sz="3400" spc="-102" kern="0" dirty="0">
                <a:solidFill>
                  <a:srgbClr val="2E3A1B"/>
                </a:solidFill>
                <a:latin typeface="Paperlogy 7 Bold" pitchFamily="34" charset="0"/>
                <a:ea typeface="Paperlogy 7 Bold" pitchFamily="34" charset="-122"/>
                <a:cs typeface="Paperlogy 7 Bold" pitchFamily="34" charset="-120"/>
              </a:rPr>
              <a:t>춘천에서 보내는 쉼표 같은 하루</a:t>
            </a:r>
            <a:endParaRPr lang="en-US" sz="3400" dirty="0"/>
          </a:p>
        </p:txBody>
      </p:sp>
      <p:sp>
        <p:nvSpPr>
          <p:cNvPr id="28" name="글상자 27"/>
          <p:cNvSpPr txBox="1"/>
          <p:nvPr/>
        </p:nvSpPr>
        <p:spPr>
          <a:xfrm>
            <a:off x="698510" y="1652504"/>
            <a:ext cx="728411" cy="304770"/>
          </a:xfrm>
          <a:prstGeom prst="rect">
            <a:avLst/>
          </a:prstGeom>
          <a:noFill/>
          <a:ln/>
        </p:spPr>
        <p:txBody>
          <a:bodyPr wrap="none" lIns="0" tIns="0" rIns="0" bIns="0" rtlCol="0" anchor="ctr"/>
          <a:lstStyle/>
          <a:p>
            <a:pPr algn="l" indent="0" marL="0">
              <a:buNone/>
            </a:pPr>
            <a:r>
              <a:rPr lang="ko-KR" altLang="en-US" sz="1600" spc="-14" kern="0" dirty="0">
                <a:solidFill>
                  <a:srgbClr val="2E3A1B"/>
                </a:solidFill>
                <a:latin typeface="Paperlogy 8 ExtraBold" pitchFamily="34" charset="0"/>
                <a:ea typeface="Paperlogy 8 ExtraBold" pitchFamily="34" charset="-122"/>
                <a:cs typeface="Paperlogy 8 ExtraBold" pitchFamily="34" charset="-120"/>
              </a:rPr>
              <a:t>11:00</a:t>
            </a:r>
            <a:endParaRPr lang="en-US" sz="1600" dirty="0"/>
          </a:p>
        </p:txBody>
      </p:sp>
      <p:sp>
        <p:nvSpPr>
          <p:cNvPr id="29" name="글상자 28"/>
          <p:cNvSpPr txBox="1"/>
          <p:nvPr/>
        </p:nvSpPr>
        <p:spPr>
          <a:xfrm>
            <a:off x="1790670" y="1665214"/>
            <a:ext cx="1071311" cy="285750"/>
          </a:xfrm>
          <a:prstGeom prst="rect">
            <a:avLst/>
          </a:prstGeom>
          <a:noFill/>
          <a:ln/>
        </p:spPr>
        <p:txBody>
          <a:bodyPr wrap="none" lIns="0" tIns="0" rIns="0" bIns="0" rtlCol="0" anchor="ctr"/>
          <a:lstStyle/>
          <a:p>
            <a:pPr algn="l" indent="0" marL="0">
              <a:buNone/>
            </a:pPr>
            <a:r>
              <a:rPr lang="ko-KR" altLang="en-US" sz="1500" spc="-14" kern="0" dirty="0">
                <a:solidFill>
                  <a:srgbClr val="2E3A1B"/>
                </a:solidFill>
                <a:latin typeface="Paperlogy 7 Bold" pitchFamily="34" charset="0"/>
                <a:ea typeface="Paperlogy 7 Bold" pitchFamily="34" charset="-122"/>
                <a:cs typeface="Paperlogy 7 Bold" pitchFamily="34" charset="-120"/>
              </a:rPr>
              <a:t>집결 및 안내</a:t>
            </a:r>
            <a:endParaRPr lang="en-US" sz="1500" dirty="0"/>
          </a:p>
        </p:txBody>
      </p:sp>
      <p:sp>
        <p:nvSpPr>
          <p:cNvPr id="30" name="글상자 29"/>
          <p:cNvSpPr txBox="1"/>
          <p:nvPr/>
        </p:nvSpPr>
        <p:spPr>
          <a:xfrm>
            <a:off x="3314700" y="1687434"/>
            <a:ext cx="1203259" cy="238110"/>
          </a:xfrm>
          <a:prstGeom prst="rect">
            <a:avLst/>
          </a:prstGeom>
          <a:noFill/>
          <a:ln/>
        </p:spPr>
        <p:txBody>
          <a:bodyPr wrap="none" lIns="0" tIns="0" rIns="0" bIns="0" rtlCol="0" anchor="ctr"/>
          <a:lstStyle/>
          <a:p>
            <a:pPr algn="l" indent="0" marL="0">
              <a:buNone/>
            </a:pPr>
            <a:r>
              <a:rPr lang="ko-KR" altLang="en-US" sz="1250" spc="-14" kern="0" dirty="0">
                <a:solidFill>
                  <a:srgbClr val="45512A"/>
                </a:solidFill>
                <a:latin typeface="Paperlogy 4 Regular" pitchFamily="34" charset="0"/>
                <a:ea typeface="Paperlogy 4 Regular" pitchFamily="34" charset="-122"/>
                <a:cs typeface="Paperlogy 4 Regular" pitchFamily="34" charset="-120"/>
              </a:rPr>
              <a:t>편안한 여행 시작</a:t>
            </a:r>
            <a:endParaRPr lang="en-US" sz="1250" dirty="0"/>
          </a:p>
        </p:txBody>
      </p:sp>
      <p:sp>
        <p:nvSpPr>
          <p:cNvPr id="31" name="글상자 30"/>
          <p:cNvSpPr txBox="1"/>
          <p:nvPr/>
        </p:nvSpPr>
        <p:spPr>
          <a:xfrm>
            <a:off x="698510" y="2071573"/>
            <a:ext cx="728411" cy="304770"/>
          </a:xfrm>
          <a:prstGeom prst="rect">
            <a:avLst/>
          </a:prstGeom>
          <a:noFill/>
          <a:ln/>
        </p:spPr>
        <p:txBody>
          <a:bodyPr wrap="none" lIns="0" tIns="0" rIns="0" bIns="0" rtlCol="0" anchor="ctr"/>
          <a:lstStyle/>
          <a:p>
            <a:pPr algn="l" indent="0" marL="0">
              <a:buNone/>
            </a:pPr>
            <a:r>
              <a:rPr lang="ko-KR" altLang="en-US" sz="1600" spc="-14" kern="0" dirty="0">
                <a:solidFill>
                  <a:srgbClr val="2E3A1B"/>
                </a:solidFill>
                <a:latin typeface="Paperlogy 8 ExtraBold" pitchFamily="34" charset="0"/>
                <a:ea typeface="Paperlogy 8 ExtraBold" pitchFamily="34" charset="-122"/>
                <a:cs typeface="Paperlogy 8 ExtraBold" pitchFamily="34" charset="-120"/>
              </a:rPr>
              <a:t>11:30</a:t>
            </a:r>
            <a:endParaRPr lang="en-US" sz="1600" dirty="0"/>
          </a:p>
        </p:txBody>
      </p:sp>
      <p:sp>
        <p:nvSpPr>
          <p:cNvPr id="32" name="글상자 31"/>
          <p:cNvSpPr txBox="1"/>
          <p:nvPr/>
        </p:nvSpPr>
        <p:spPr>
          <a:xfrm>
            <a:off x="1790670" y="2084283"/>
            <a:ext cx="1027877" cy="285750"/>
          </a:xfrm>
          <a:prstGeom prst="rect">
            <a:avLst/>
          </a:prstGeom>
          <a:noFill/>
          <a:ln/>
        </p:spPr>
        <p:txBody>
          <a:bodyPr wrap="none" lIns="0" tIns="0" rIns="0" bIns="0" rtlCol="0" anchor="ctr"/>
          <a:lstStyle/>
          <a:p>
            <a:pPr algn="l" indent="0" marL="0">
              <a:buNone/>
            </a:pPr>
            <a:r>
              <a:rPr lang="ko-KR" altLang="en-US" sz="1500" spc="-14" kern="0" dirty="0">
                <a:solidFill>
                  <a:srgbClr val="2E3A1B"/>
                </a:solidFill>
                <a:latin typeface="Paperlogy 7 Bold" pitchFamily="34" charset="0"/>
                <a:ea typeface="Paperlogy 7 Bold" pitchFamily="34" charset="-122"/>
                <a:cs typeface="Paperlogy 7 Bold" pitchFamily="34" charset="-120"/>
              </a:rPr>
              <a:t>의암호 산책</a:t>
            </a:r>
            <a:endParaRPr lang="en-US" sz="1500" dirty="0"/>
          </a:p>
        </p:txBody>
      </p:sp>
      <p:sp>
        <p:nvSpPr>
          <p:cNvPr id="33" name="글상자 32"/>
          <p:cNvSpPr txBox="1"/>
          <p:nvPr/>
        </p:nvSpPr>
        <p:spPr>
          <a:xfrm>
            <a:off x="3314700" y="2106503"/>
            <a:ext cx="905347" cy="238110"/>
          </a:xfrm>
          <a:prstGeom prst="rect">
            <a:avLst/>
          </a:prstGeom>
          <a:noFill/>
          <a:ln/>
        </p:spPr>
        <p:txBody>
          <a:bodyPr wrap="none" lIns="0" tIns="0" rIns="0" bIns="0" rtlCol="0" anchor="ctr"/>
          <a:lstStyle/>
          <a:p>
            <a:pPr algn="l" indent="0" marL="0">
              <a:buNone/>
            </a:pPr>
            <a:r>
              <a:rPr lang="ko-KR" altLang="en-US" sz="1250" spc="-14" kern="0" dirty="0">
                <a:solidFill>
                  <a:srgbClr val="45512A"/>
                </a:solidFill>
                <a:latin typeface="Paperlogy 4 Regular" pitchFamily="34" charset="0"/>
                <a:ea typeface="Paperlogy 4 Regular" pitchFamily="34" charset="-122"/>
                <a:cs typeface="Paperlogy 4 Regular" pitchFamily="34" charset="-120"/>
              </a:rPr>
              <a:t>자연 속 여유</a:t>
            </a:r>
            <a:endParaRPr lang="en-US" sz="1250" dirty="0"/>
          </a:p>
        </p:txBody>
      </p:sp>
      <p:sp>
        <p:nvSpPr>
          <p:cNvPr id="34" name="글상자 33"/>
          <p:cNvSpPr txBox="1"/>
          <p:nvPr/>
        </p:nvSpPr>
        <p:spPr>
          <a:xfrm>
            <a:off x="698510" y="2490643"/>
            <a:ext cx="728411" cy="304770"/>
          </a:xfrm>
          <a:prstGeom prst="rect">
            <a:avLst/>
          </a:prstGeom>
          <a:noFill/>
          <a:ln/>
        </p:spPr>
        <p:txBody>
          <a:bodyPr wrap="none" lIns="0" tIns="0" rIns="0" bIns="0" rtlCol="0" anchor="ctr"/>
          <a:lstStyle/>
          <a:p>
            <a:pPr algn="l" indent="0" marL="0">
              <a:buNone/>
            </a:pPr>
            <a:r>
              <a:rPr lang="ko-KR" altLang="en-US" sz="1600" spc="-14" kern="0" dirty="0">
                <a:solidFill>
                  <a:srgbClr val="2E3A1B"/>
                </a:solidFill>
                <a:latin typeface="Paperlogy 8 ExtraBold" pitchFamily="34" charset="0"/>
                <a:ea typeface="Paperlogy 8 ExtraBold" pitchFamily="34" charset="-122"/>
                <a:cs typeface="Paperlogy 8 ExtraBold" pitchFamily="34" charset="-120"/>
              </a:rPr>
              <a:t>12:30</a:t>
            </a:r>
            <a:endParaRPr lang="en-US" sz="1600" dirty="0"/>
          </a:p>
        </p:txBody>
      </p:sp>
      <p:sp>
        <p:nvSpPr>
          <p:cNvPr id="35" name="글상자 34"/>
          <p:cNvSpPr txBox="1"/>
          <p:nvPr/>
        </p:nvSpPr>
        <p:spPr>
          <a:xfrm>
            <a:off x="1790670" y="2503353"/>
            <a:ext cx="848838" cy="285750"/>
          </a:xfrm>
          <a:prstGeom prst="rect">
            <a:avLst/>
          </a:prstGeom>
          <a:noFill/>
          <a:ln/>
        </p:spPr>
        <p:txBody>
          <a:bodyPr wrap="none" lIns="0" tIns="0" rIns="0" bIns="0" rtlCol="0" anchor="ctr"/>
          <a:lstStyle/>
          <a:p>
            <a:pPr algn="l" indent="0" marL="0">
              <a:buNone/>
            </a:pPr>
            <a:r>
              <a:rPr lang="ko-KR" altLang="en-US" sz="1500" spc="-14" kern="0" dirty="0">
                <a:solidFill>
                  <a:srgbClr val="2E3A1B"/>
                </a:solidFill>
                <a:latin typeface="Paperlogy 7 Bold" pitchFamily="34" charset="0"/>
                <a:ea typeface="Paperlogy 7 Bold" pitchFamily="34" charset="-122"/>
                <a:cs typeface="Paperlogy 7 Bold" pitchFamily="34" charset="-120"/>
              </a:rPr>
              <a:t>로컬 식사</a:t>
            </a:r>
            <a:endParaRPr lang="en-US" sz="1500" dirty="0"/>
          </a:p>
        </p:txBody>
      </p:sp>
      <p:sp>
        <p:nvSpPr>
          <p:cNvPr id="36" name="글상자 35"/>
          <p:cNvSpPr txBox="1"/>
          <p:nvPr/>
        </p:nvSpPr>
        <p:spPr>
          <a:xfrm>
            <a:off x="3314700" y="2525573"/>
            <a:ext cx="720547" cy="238110"/>
          </a:xfrm>
          <a:prstGeom prst="rect">
            <a:avLst/>
          </a:prstGeom>
          <a:noFill/>
          <a:ln/>
        </p:spPr>
        <p:txBody>
          <a:bodyPr wrap="none" lIns="0" tIns="0" rIns="0" bIns="0" rtlCol="0" anchor="ctr"/>
          <a:lstStyle/>
          <a:p>
            <a:pPr algn="l" indent="0" marL="0">
              <a:buNone/>
            </a:pPr>
            <a:r>
              <a:rPr lang="ko-KR" altLang="en-US" sz="1250" spc="-14" kern="0" dirty="0">
                <a:solidFill>
                  <a:srgbClr val="45512A"/>
                </a:solidFill>
                <a:latin typeface="Paperlogy 4 Regular" pitchFamily="34" charset="0"/>
                <a:ea typeface="Paperlogy 4 Regular" pitchFamily="34" charset="-122"/>
                <a:cs typeface="Paperlogy 4 Regular" pitchFamily="34" charset="-120"/>
              </a:rPr>
              <a:t>지역 미식</a:t>
            </a:r>
            <a:endParaRPr lang="en-US" sz="1250" dirty="0"/>
          </a:p>
        </p:txBody>
      </p:sp>
      <p:sp>
        <p:nvSpPr>
          <p:cNvPr id="37" name="글상자 36"/>
          <p:cNvSpPr txBox="1"/>
          <p:nvPr/>
        </p:nvSpPr>
        <p:spPr>
          <a:xfrm>
            <a:off x="698510" y="2909804"/>
            <a:ext cx="728411" cy="304770"/>
          </a:xfrm>
          <a:prstGeom prst="rect">
            <a:avLst/>
          </a:prstGeom>
          <a:noFill/>
          <a:ln/>
        </p:spPr>
        <p:txBody>
          <a:bodyPr wrap="none" lIns="0" tIns="0" rIns="0" bIns="0" rtlCol="0" anchor="ctr"/>
          <a:lstStyle/>
          <a:p>
            <a:pPr algn="l" indent="0" marL="0">
              <a:buNone/>
            </a:pPr>
            <a:r>
              <a:rPr lang="ko-KR" altLang="en-US" sz="1600" spc="-14" kern="0" dirty="0">
                <a:solidFill>
                  <a:srgbClr val="2E3A1B"/>
                </a:solidFill>
                <a:latin typeface="Paperlogy 8 ExtraBold" pitchFamily="34" charset="0"/>
                <a:ea typeface="Paperlogy 8 ExtraBold" pitchFamily="34" charset="-122"/>
                <a:cs typeface="Paperlogy 8 ExtraBold" pitchFamily="34" charset="-120"/>
              </a:rPr>
              <a:t>14:00</a:t>
            </a:r>
            <a:endParaRPr lang="en-US" sz="1600" dirty="0"/>
          </a:p>
        </p:txBody>
      </p:sp>
      <p:sp>
        <p:nvSpPr>
          <p:cNvPr id="38" name="글상자 37"/>
          <p:cNvSpPr txBox="1"/>
          <p:nvPr/>
        </p:nvSpPr>
        <p:spPr>
          <a:xfrm>
            <a:off x="1790670" y="2922514"/>
            <a:ext cx="848838" cy="285750"/>
          </a:xfrm>
          <a:prstGeom prst="rect">
            <a:avLst/>
          </a:prstGeom>
          <a:noFill/>
          <a:ln/>
        </p:spPr>
        <p:txBody>
          <a:bodyPr wrap="none" lIns="0" tIns="0" rIns="0" bIns="0" rtlCol="0" anchor="ctr"/>
          <a:lstStyle/>
          <a:p>
            <a:pPr algn="l" indent="0" marL="0">
              <a:buNone/>
            </a:pPr>
            <a:r>
              <a:rPr lang="ko-KR" altLang="en-US" sz="1500" spc="-14" kern="0" dirty="0">
                <a:solidFill>
                  <a:srgbClr val="2E3A1B"/>
                </a:solidFill>
                <a:latin typeface="Paperlogy 7 Bold" pitchFamily="34" charset="0"/>
                <a:ea typeface="Paperlogy 7 Bold" pitchFamily="34" charset="-122"/>
                <a:cs typeface="Paperlogy 7 Bold" pitchFamily="34" charset="-120"/>
              </a:rPr>
              <a:t>감성 카페</a:t>
            </a:r>
            <a:endParaRPr lang="en-US" sz="1500" dirty="0"/>
          </a:p>
        </p:txBody>
      </p:sp>
      <p:sp>
        <p:nvSpPr>
          <p:cNvPr id="39" name="글상자 38"/>
          <p:cNvSpPr txBox="1"/>
          <p:nvPr/>
        </p:nvSpPr>
        <p:spPr>
          <a:xfrm>
            <a:off x="3314700" y="2944734"/>
            <a:ext cx="1018459" cy="238110"/>
          </a:xfrm>
          <a:prstGeom prst="rect">
            <a:avLst/>
          </a:prstGeom>
          <a:noFill/>
          <a:ln/>
        </p:spPr>
        <p:txBody>
          <a:bodyPr wrap="none" lIns="0" tIns="0" rIns="0" bIns="0" rtlCol="0" anchor="ctr"/>
          <a:lstStyle/>
          <a:p>
            <a:pPr algn="l" indent="0" marL="0">
              <a:buNone/>
            </a:pPr>
            <a:r>
              <a:rPr lang="ko-KR" altLang="en-US" sz="1250" spc="-14" kern="0" dirty="0">
                <a:solidFill>
                  <a:srgbClr val="45512A"/>
                </a:solidFill>
                <a:latin typeface="Paperlogy 4 Regular" pitchFamily="34" charset="0"/>
                <a:ea typeface="Paperlogy 4 Regular" pitchFamily="34" charset="-122"/>
                <a:cs typeface="Paperlogy 4 Regular" pitchFamily="34" charset="-120"/>
              </a:rPr>
              <a:t>티타임과 휴식</a:t>
            </a:r>
            <a:endParaRPr lang="en-US" sz="1250" dirty="0"/>
          </a:p>
        </p:txBody>
      </p:sp>
      <p:sp>
        <p:nvSpPr>
          <p:cNvPr id="40" name="글상자 39"/>
          <p:cNvSpPr txBox="1"/>
          <p:nvPr/>
        </p:nvSpPr>
        <p:spPr>
          <a:xfrm>
            <a:off x="698510" y="3328873"/>
            <a:ext cx="728411" cy="304770"/>
          </a:xfrm>
          <a:prstGeom prst="rect">
            <a:avLst/>
          </a:prstGeom>
          <a:noFill/>
          <a:ln/>
        </p:spPr>
        <p:txBody>
          <a:bodyPr wrap="none" lIns="0" tIns="0" rIns="0" bIns="0" rtlCol="0" anchor="ctr"/>
          <a:lstStyle/>
          <a:p>
            <a:pPr algn="l" indent="0" marL="0">
              <a:buNone/>
            </a:pPr>
            <a:r>
              <a:rPr lang="ko-KR" altLang="en-US" sz="1600" spc="-14" kern="0" dirty="0">
                <a:solidFill>
                  <a:srgbClr val="2E3A1B"/>
                </a:solidFill>
                <a:latin typeface="Paperlogy 8 ExtraBold" pitchFamily="34" charset="0"/>
                <a:ea typeface="Paperlogy 8 ExtraBold" pitchFamily="34" charset="-122"/>
                <a:cs typeface="Paperlogy 8 ExtraBold" pitchFamily="34" charset="-120"/>
              </a:rPr>
              <a:t>15:30</a:t>
            </a:r>
            <a:endParaRPr lang="en-US" sz="1600" dirty="0"/>
          </a:p>
        </p:txBody>
      </p:sp>
      <p:sp>
        <p:nvSpPr>
          <p:cNvPr id="41" name="글상자 40"/>
          <p:cNvSpPr txBox="1"/>
          <p:nvPr/>
        </p:nvSpPr>
        <p:spPr>
          <a:xfrm>
            <a:off x="1790670" y="3341583"/>
            <a:ext cx="805495" cy="285750"/>
          </a:xfrm>
          <a:prstGeom prst="rect">
            <a:avLst/>
          </a:prstGeom>
          <a:noFill/>
          <a:ln/>
        </p:spPr>
        <p:txBody>
          <a:bodyPr wrap="none" lIns="0" tIns="0" rIns="0" bIns="0" rtlCol="0" anchor="ctr"/>
          <a:lstStyle/>
          <a:p>
            <a:pPr algn="l" indent="0" marL="0">
              <a:buNone/>
            </a:pPr>
            <a:r>
              <a:rPr lang="ko-KR" altLang="en-US" sz="1500" spc="-14" kern="0" dirty="0">
                <a:solidFill>
                  <a:srgbClr val="2E3A1B"/>
                </a:solidFill>
                <a:latin typeface="Paperlogy 7 Bold" pitchFamily="34" charset="0"/>
                <a:ea typeface="Paperlogy 7 Bold" pitchFamily="34" charset="-122"/>
                <a:cs typeface="Paperlogy 7 Bold" pitchFamily="34" charset="-120"/>
              </a:rPr>
              <a:t>자유시간</a:t>
            </a:r>
            <a:endParaRPr lang="en-US" sz="1500" dirty="0"/>
          </a:p>
        </p:txBody>
      </p:sp>
      <p:sp>
        <p:nvSpPr>
          <p:cNvPr id="42" name="글상자 41"/>
          <p:cNvSpPr txBox="1"/>
          <p:nvPr/>
        </p:nvSpPr>
        <p:spPr>
          <a:xfrm>
            <a:off x="3314700" y="3363803"/>
            <a:ext cx="1075609" cy="238110"/>
          </a:xfrm>
          <a:prstGeom prst="rect">
            <a:avLst/>
          </a:prstGeom>
          <a:noFill/>
          <a:ln/>
        </p:spPr>
        <p:txBody>
          <a:bodyPr wrap="none" lIns="0" tIns="0" rIns="0" bIns="0" rtlCol="0" anchor="ctr"/>
          <a:lstStyle/>
          <a:p>
            <a:pPr algn="l" indent="0" marL="0">
              <a:buNone/>
            </a:pPr>
            <a:r>
              <a:rPr lang="ko-KR" altLang="en-US" sz="1250" spc="-14" kern="0" dirty="0">
                <a:solidFill>
                  <a:srgbClr val="45512A"/>
                </a:solidFill>
                <a:latin typeface="Paperlogy 4 Regular" pitchFamily="34" charset="0"/>
                <a:ea typeface="Paperlogy 4 Regular" pitchFamily="34" charset="-122"/>
                <a:cs typeface="Paperlogy 4 Regular" pitchFamily="34" charset="-120"/>
              </a:rPr>
              <a:t>사진·독서·휴식</a:t>
            </a:r>
            <a:endParaRPr lang="en-US" sz="1250" dirty="0"/>
          </a:p>
        </p:txBody>
      </p:sp>
      <p:sp>
        <p:nvSpPr>
          <p:cNvPr id="43" name="글상자 42"/>
          <p:cNvSpPr txBox="1"/>
          <p:nvPr/>
        </p:nvSpPr>
        <p:spPr>
          <a:xfrm>
            <a:off x="698510" y="3747943"/>
            <a:ext cx="728411" cy="304770"/>
          </a:xfrm>
          <a:prstGeom prst="rect">
            <a:avLst/>
          </a:prstGeom>
          <a:noFill/>
          <a:ln/>
        </p:spPr>
        <p:txBody>
          <a:bodyPr wrap="none" lIns="0" tIns="0" rIns="0" bIns="0" rtlCol="0" anchor="ctr"/>
          <a:lstStyle/>
          <a:p>
            <a:pPr algn="l" indent="0" marL="0">
              <a:buNone/>
            </a:pPr>
            <a:r>
              <a:rPr lang="ko-KR" altLang="en-US" sz="1600" spc="-14" kern="0" dirty="0">
                <a:solidFill>
                  <a:srgbClr val="2E3A1B"/>
                </a:solidFill>
                <a:latin typeface="Paperlogy 8 ExtraBold" pitchFamily="34" charset="0"/>
                <a:ea typeface="Paperlogy 8 ExtraBold" pitchFamily="34" charset="-122"/>
                <a:cs typeface="Paperlogy 8 ExtraBold" pitchFamily="34" charset="-120"/>
              </a:rPr>
              <a:t>17:00</a:t>
            </a:r>
            <a:endParaRPr lang="en-US" sz="1600" dirty="0"/>
          </a:p>
        </p:txBody>
      </p:sp>
      <p:sp>
        <p:nvSpPr>
          <p:cNvPr id="44" name="글상자 43"/>
          <p:cNvSpPr txBox="1"/>
          <p:nvPr/>
        </p:nvSpPr>
        <p:spPr>
          <a:xfrm>
            <a:off x="1790670" y="3760653"/>
            <a:ext cx="848838" cy="285750"/>
          </a:xfrm>
          <a:prstGeom prst="rect">
            <a:avLst/>
          </a:prstGeom>
          <a:noFill/>
          <a:ln/>
        </p:spPr>
        <p:txBody>
          <a:bodyPr wrap="none" lIns="0" tIns="0" rIns="0" bIns="0" rtlCol="0" anchor="ctr"/>
          <a:lstStyle/>
          <a:p>
            <a:pPr algn="l" indent="0" marL="0">
              <a:buNone/>
            </a:pPr>
            <a:r>
              <a:rPr lang="ko-KR" altLang="en-US" sz="1500" spc="-14" kern="0" dirty="0">
                <a:solidFill>
                  <a:srgbClr val="2E3A1B"/>
                </a:solidFill>
                <a:latin typeface="Paperlogy 7 Bold" pitchFamily="34" charset="0"/>
                <a:ea typeface="Paperlogy 7 Bold" pitchFamily="34" charset="-122"/>
                <a:cs typeface="Paperlogy 7 Bold" pitchFamily="34" charset="-120"/>
              </a:rPr>
              <a:t>일정 종료</a:t>
            </a:r>
            <a:endParaRPr lang="en-US" sz="1500" dirty="0"/>
          </a:p>
        </p:txBody>
      </p:sp>
      <p:sp>
        <p:nvSpPr>
          <p:cNvPr id="45" name="글상자 44"/>
          <p:cNvSpPr txBox="1"/>
          <p:nvPr/>
        </p:nvSpPr>
        <p:spPr>
          <a:xfrm>
            <a:off x="3314700" y="3782873"/>
            <a:ext cx="869503" cy="238110"/>
          </a:xfrm>
          <a:prstGeom prst="rect">
            <a:avLst/>
          </a:prstGeom>
          <a:noFill/>
          <a:ln/>
        </p:spPr>
        <p:txBody>
          <a:bodyPr wrap="none" lIns="0" tIns="0" rIns="0" bIns="0" rtlCol="0" anchor="ctr"/>
          <a:lstStyle/>
          <a:p>
            <a:pPr algn="l" indent="0" marL="0">
              <a:buNone/>
            </a:pPr>
            <a:r>
              <a:rPr lang="ko-KR" altLang="en-US" sz="1250" spc="-14" kern="0" dirty="0">
                <a:solidFill>
                  <a:srgbClr val="45512A"/>
                </a:solidFill>
                <a:latin typeface="Paperlogy 4 Regular" pitchFamily="34" charset="0"/>
                <a:ea typeface="Paperlogy 4 Regular" pitchFamily="34" charset="-122"/>
                <a:cs typeface="Paperlogy 4 Regular" pitchFamily="34" charset="-120"/>
              </a:rPr>
              <a:t>여행 마무리</a:t>
            </a:r>
            <a:endParaRPr lang="en-US" sz="1250" dirty="0"/>
          </a:p>
        </p:txBody>
      </p:sp>
      <p:sp>
        <p:nvSpPr>
          <p:cNvPr id="46" name="글상자 45"/>
          <p:cNvSpPr txBox="1"/>
          <p:nvPr/>
        </p:nvSpPr>
        <p:spPr>
          <a:xfrm>
            <a:off x="6121359" y="3574938"/>
            <a:ext cx="526512" cy="180960"/>
          </a:xfrm>
          <a:prstGeom prst="rect">
            <a:avLst/>
          </a:prstGeom>
          <a:noFill/>
          <a:ln/>
        </p:spPr>
        <p:txBody>
          <a:bodyPr wrap="none" lIns="0" tIns="0" rIns="0" bIns="0" rtlCol="0" anchor="ctr"/>
          <a:lstStyle/>
          <a:p>
            <a:pPr algn="l" indent="0" marL="0">
              <a:buNone/>
            </a:pPr>
            <a:r>
              <a:rPr lang="ko-KR" altLang="en-US" sz="950" spc="76" kern="0" dirty="0">
                <a:solidFill>
                  <a:srgbClr val="FBF9F3"/>
                </a:solidFill>
                <a:latin typeface="Paperlogy 8 ExtraBold" pitchFamily="34" charset="0"/>
                <a:ea typeface="Paperlogy 8 ExtraBold" pitchFamily="34" charset="-122"/>
                <a:cs typeface="Paperlogy 8 ExtraBold" pitchFamily="34" charset="-120"/>
              </a:rPr>
              <a:t>11:30</a:t>
            </a:r>
            <a:endParaRPr lang="en-US" sz="950" dirty="0"/>
          </a:p>
        </p:txBody>
      </p:sp>
      <p:sp>
        <p:nvSpPr>
          <p:cNvPr id="47" name="글상자 46"/>
          <p:cNvSpPr txBox="1"/>
          <p:nvPr/>
        </p:nvSpPr>
        <p:spPr>
          <a:xfrm>
            <a:off x="6121359" y="3771809"/>
            <a:ext cx="860450" cy="238110"/>
          </a:xfrm>
          <a:prstGeom prst="rect">
            <a:avLst/>
          </a:prstGeom>
          <a:noFill/>
          <a:ln/>
        </p:spPr>
        <p:txBody>
          <a:bodyPr wrap="none" lIns="0" tIns="0" rIns="0" bIns="0" rtlCol="0" anchor="ctr"/>
          <a:lstStyle/>
          <a:p>
            <a:pPr algn="l" indent="0" marL="0">
              <a:buNone/>
            </a:pPr>
            <a:r>
              <a:rPr lang="ko-KR" altLang="en-US" sz="1250" spc="-25" kern="0" dirty="0">
                <a:solidFill>
                  <a:srgbClr val="FBF9F3"/>
                </a:solidFill>
                <a:latin typeface="Paperlogy 7 Bold" pitchFamily="34" charset="0"/>
                <a:ea typeface="Paperlogy 7 Bold" pitchFamily="34" charset="-122"/>
                <a:cs typeface="Paperlogy 7 Bold" pitchFamily="34" charset="-120"/>
              </a:rPr>
              <a:t>의암호 산책</a:t>
            </a:r>
            <a:endParaRPr lang="en-US" sz="1250" dirty="0"/>
          </a:p>
        </p:txBody>
      </p:sp>
      <p:sp>
        <p:nvSpPr>
          <p:cNvPr id="48" name="글상자 47"/>
          <p:cNvSpPr txBox="1"/>
          <p:nvPr/>
        </p:nvSpPr>
        <p:spPr>
          <a:xfrm>
            <a:off x="7971373" y="3574938"/>
            <a:ext cx="526512" cy="180960"/>
          </a:xfrm>
          <a:prstGeom prst="rect">
            <a:avLst/>
          </a:prstGeom>
          <a:noFill/>
          <a:ln/>
        </p:spPr>
        <p:txBody>
          <a:bodyPr wrap="none" lIns="0" tIns="0" rIns="0" bIns="0" rtlCol="0" anchor="ctr"/>
          <a:lstStyle/>
          <a:p>
            <a:pPr algn="l" indent="0" marL="0">
              <a:buNone/>
            </a:pPr>
            <a:r>
              <a:rPr lang="ko-KR" altLang="en-US" sz="950" spc="76" kern="0" dirty="0">
                <a:solidFill>
                  <a:srgbClr val="FBF9F3"/>
                </a:solidFill>
                <a:latin typeface="Paperlogy 8 ExtraBold" pitchFamily="34" charset="0"/>
                <a:ea typeface="Paperlogy 8 ExtraBold" pitchFamily="34" charset="-122"/>
                <a:cs typeface="Paperlogy 8 ExtraBold" pitchFamily="34" charset="-120"/>
              </a:rPr>
              <a:t>12:30</a:t>
            </a:r>
            <a:endParaRPr lang="en-US" sz="950" dirty="0"/>
          </a:p>
        </p:txBody>
      </p:sp>
      <p:sp>
        <p:nvSpPr>
          <p:cNvPr id="49" name="글상자 48"/>
          <p:cNvSpPr txBox="1"/>
          <p:nvPr/>
        </p:nvSpPr>
        <p:spPr>
          <a:xfrm>
            <a:off x="7971373" y="3771809"/>
            <a:ext cx="712958" cy="238110"/>
          </a:xfrm>
          <a:prstGeom prst="rect">
            <a:avLst/>
          </a:prstGeom>
          <a:noFill/>
          <a:ln/>
        </p:spPr>
        <p:txBody>
          <a:bodyPr wrap="none" lIns="0" tIns="0" rIns="0" bIns="0" rtlCol="0" anchor="ctr"/>
          <a:lstStyle/>
          <a:p>
            <a:pPr algn="l" indent="0" marL="0">
              <a:buNone/>
            </a:pPr>
            <a:r>
              <a:rPr lang="ko-KR" altLang="en-US" sz="1250" spc="-25" kern="0" dirty="0">
                <a:solidFill>
                  <a:srgbClr val="FBF9F3"/>
                </a:solidFill>
                <a:latin typeface="Paperlogy 7 Bold" pitchFamily="34" charset="0"/>
                <a:ea typeface="Paperlogy 7 Bold" pitchFamily="34" charset="-122"/>
                <a:cs typeface="Paperlogy 7 Bold" pitchFamily="34" charset="-120"/>
              </a:rPr>
              <a:t>로컬 식사</a:t>
            </a:r>
            <a:endParaRPr lang="en-US" sz="1250" dirty="0"/>
          </a:p>
        </p:txBody>
      </p:sp>
      <p:sp>
        <p:nvSpPr>
          <p:cNvPr id="50" name="글상자 49"/>
          <p:cNvSpPr txBox="1"/>
          <p:nvPr/>
        </p:nvSpPr>
        <p:spPr>
          <a:xfrm>
            <a:off x="9821296" y="3574938"/>
            <a:ext cx="526512" cy="180960"/>
          </a:xfrm>
          <a:prstGeom prst="rect">
            <a:avLst/>
          </a:prstGeom>
          <a:noFill/>
          <a:ln/>
        </p:spPr>
        <p:txBody>
          <a:bodyPr wrap="none" lIns="0" tIns="0" rIns="0" bIns="0" rtlCol="0" anchor="ctr"/>
          <a:lstStyle/>
          <a:p>
            <a:pPr algn="l" indent="0" marL="0">
              <a:buNone/>
            </a:pPr>
            <a:r>
              <a:rPr lang="ko-KR" altLang="en-US" sz="950" spc="76" kern="0" dirty="0">
                <a:solidFill>
                  <a:srgbClr val="FBF9F3"/>
                </a:solidFill>
                <a:latin typeface="Paperlogy 8 ExtraBold" pitchFamily="34" charset="0"/>
                <a:ea typeface="Paperlogy 8 ExtraBold" pitchFamily="34" charset="-122"/>
                <a:cs typeface="Paperlogy 8 ExtraBold" pitchFamily="34" charset="-120"/>
              </a:rPr>
              <a:t>14:00</a:t>
            </a:r>
            <a:endParaRPr lang="en-US" sz="950" dirty="0"/>
          </a:p>
        </p:txBody>
      </p:sp>
      <p:sp>
        <p:nvSpPr>
          <p:cNvPr id="51" name="글상자 50"/>
          <p:cNvSpPr txBox="1"/>
          <p:nvPr/>
        </p:nvSpPr>
        <p:spPr>
          <a:xfrm>
            <a:off x="9821296" y="3771809"/>
            <a:ext cx="712958" cy="238110"/>
          </a:xfrm>
          <a:prstGeom prst="rect">
            <a:avLst/>
          </a:prstGeom>
          <a:noFill/>
          <a:ln/>
        </p:spPr>
        <p:txBody>
          <a:bodyPr wrap="none" lIns="0" tIns="0" rIns="0" bIns="0" rtlCol="0" anchor="ctr"/>
          <a:lstStyle/>
          <a:p>
            <a:pPr algn="l" indent="0" marL="0">
              <a:buNone/>
            </a:pPr>
            <a:r>
              <a:rPr lang="ko-KR" altLang="en-US" sz="1250" spc="-25" kern="0" dirty="0">
                <a:solidFill>
                  <a:srgbClr val="FBF9F3"/>
                </a:solidFill>
                <a:latin typeface="Paperlogy 7 Bold" pitchFamily="34" charset="0"/>
                <a:ea typeface="Paperlogy 7 Bold" pitchFamily="34" charset="-122"/>
                <a:cs typeface="Paperlogy 7 Bold" pitchFamily="34" charset="-120"/>
              </a:rPr>
              <a:t>감성 카페</a:t>
            </a:r>
            <a:endParaRPr lang="en-US" sz="1250" dirty="0"/>
          </a:p>
        </p:txBody>
      </p:sp>
      <p:sp>
        <p:nvSpPr>
          <p:cNvPr id="52" name="글상자 51"/>
          <p:cNvSpPr txBox="1"/>
          <p:nvPr/>
        </p:nvSpPr>
        <p:spPr>
          <a:xfrm>
            <a:off x="869960" y="4446453"/>
            <a:ext cx="667512" cy="180960"/>
          </a:xfrm>
          <a:prstGeom prst="rect">
            <a:avLst/>
          </a:prstGeom>
          <a:noFill/>
          <a:ln/>
        </p:spPr>
        <p:txBody>
          <a:bodyPr wrap="none" lIns="0" tIns="0" rIns="0" bIns="0" rtlCol="0" anchor="ctr"/>
          <a:lstStyle/>
          <a:p>
            <a:pPr algn="l" indent="0" marL="0">
              <a:buNone/>
            </a:pPr>
            <a:r>
              <a:rPr lang="ko-KR" altLang="en-US" sz="950" spc="133" kern="0" dirty="0">
                <a:solidFill>
                  <a:srgbClr val="646D40"/>
                </a:solidFill>
                <a:latin typeface="Paperlogy 7 Bold" pitchFamily="34" charset="0"/>
                <a:ea typeface="Paperlogy 7 Bold" pitchFamily="34" charset="-122"/>
                <a:cs typeface="Paperlogy 7 Bold" pitchFamily="34" charset="-120"/>
              </a:rPr>
              <a:t>운영 가설</a:t>
            </a:r>
            <a:endParaRPr lang="en-US" sz="950" dirty="0"/>
          </a:p>
        </p:txBody>
      </p:sp>
      <p:sp>
        <p:nvSpPr>
          <p:cNvPr id="53" name="글상자 52"/>
          <p:cNvSpPr txBox="1"/>
          <p:nvPr/>
        </p:nvSpPr>
        <p:spPr>
          <a:xfrm>
            <a:off x="1583558" y="4468398"/>
            <a:ext cx="548274" cy="140360"/>
          </a:xfrm>
          <a:prstGeom prst="rect">
            <a:avLst/>
          </a:prstGeom>
          <a:noFill/>
          <a:ln/>
        </p:spPr>
        <p:txBody>
          <a:bodyPr wrap="none" lIns="0" tIns="0" rIns="0" bIns="0" rtlCol="0" anchor="ctr"/>
          <a:lstStyle/>
          <a:p>
            <a:pPr algn="l" indent="0" marL="0">
              <a:buNone/>
            </a:pPr>
            <a:r>
              <a:rPr lang="ko-KR" altLang="en-US" sz="850" spc="34" kern="0" dirty="0">
                <a:solidFill>
                  <a:srgbClr val="45512A"/>
                </a:solidFill>
                <a:latin typeface="Paperlogy 7 Bold" pitchFamily="34" charset="0"/>
                <a:ea typeface="Paperlogy 7 Bold" pitchFamily="34" charset="-122"/>
                <a:cs typeface="Paperlogy 7 Bold" pitchFamily="34" charset="-120"/>
              </a:rPr>
              <a:t>추후 검증</a:t>
            </a:r>
            <a:endParaRPr lang="en-US" sz="850" dirty="0"/>
          </a:p>
        </p:txBody>
      </p:sp>
      <p:sp>
        <p:nvSpPr>
          <p:cNvPr id="54" name="글상자 53"/>
          <p:cNvSpPr txBox="1"/>
          <p:nvPr/>
        </p:nvSpPr>
        <p:spPr>
          <a:xfrm>
            <a:off x="1047720" y="4719493"/>
            <a:ext cx="1198321" cy="209580"/>
          </a:xfrm>
          <a:prstGeom prst="rect">
            <a:avLst/>
          </a:prstGeom>
          <a:noFill/>
          <a:ln/>
        </p:spPr>
        <p:txBody>
          <a:bodyPr wrap="none" lIns="0" tIns="0" rIns="0" bIns="0" rtlCol="0" anchor="ctr"/>
          <a:lstStyle/>
          <a:p>
            <a:pPr algn="l" indent="0" marL="0">
              <a:buNone/>
            </a:pPr>
            <a:r>
              <a:rPr lang="ko-KR" altLang="en-US" sz="1100" spc="-14" kern="0" dirty="0">
                <a:solidFill>
                  <a:srgbClr val="45512A"/>
                </a:solidFill>
                <a:latin typeface="Paperlogy 4 Regular" pitchFamily="34" charset="0"/>
                <a:ea typeface="Paperlogy 4 Regular" pitchFamily="34" charset="-122"/>
                <a:cs typeface="Paperlogy 4 Regular" pitchFamily="34" charset="-120"/>
              </a:rPr>
              <a:t>소규모 사전 예약형</a:t>
            </a:r>
            <a:endParaRPr lang="en-US" sz="1100" dirty="0"/>
          </a:p>
        </p:txBody>
      </p:sp>
      <p:sp>
        <p:nvSpPr>
          <p:cNvPr id="55" name="글상자 54"/>
          <p:cNvSpPr txBox="1"/>
          <p:nvPr/>
        </p:nvSpPr>
        <p:spPr>
          <a:xfrm>
            <a:off x="1047720" y="5017953"/>
            <a:ext cx="1930573" cy="209580"/>
          </a:xfrm>
          <a:prstGeom prst="rect">
            <a:avLst/>
          </a:prstGeom>
          <a:noFill/>
          <a:ln/>
        </p:spPr>
        <p:txBody>
          <a:bodyPr wrap="none" lIns="0" tIns="0" rIns="0" bIns="0" rtlCol="0" anchor="ctr"/>
          <a:lstStyle/>
          <a:p>
            <a:pPr algn="l" indent="0" marL="0">
              <a:buNone/>
            </a:pPr>
            <a:r>
              <a:rPr lang="ko-KR" altLang="en-US" sz="1100" spc="-14" kern="0" dirty="0">
                <a:solidFill>
                  <a:srgbClr val="45512A"/>
                </a:solidFill>
                <a:latin typeface="Paperlogy 4 Regular" pitchFamily="34" charset="0"/>
                <a:ea typeface="Paperlogy 4 Regular" pitchFamily="34" charset="-122"/>
                <a:cs typeface="Paperlogy 4 Regular" pitchFamily="34" charset="-120"/>
              </a:rPr>
              <a:t>1일 약 6시간 (11:00–17:00)</a:t>
            </a:r>
            <a:endParaRPr lang="en-US" sz="1100" dirty="0"/>
          </a:p>
        </p:txBody>
      </p:sp>
      <p:sp>
        <p:nvSpPr>
          <p:cNvPr id="56" name="글상자 55"/>
          <p:cNvSpPr txBox="1"/>
          <p:nvPr/>
        </p:nvSpPr>
        <p:spPr>
          <a:xfrm>
            <a:off x="1047720" y="5316413"/>
            <a:ext cx="1834286" cy="209580"/>
          </a:xfrm>
          <a:prstGeom prst="rect">
            <a:avLst/>
          </a:prstGeom>
          <a:noFill/>
          <a:ln/>
        </p:spPr>
        <p:txBody>
          <a:bodyPr wrap="none" lIns="0" tIns="0" rIns="0" bIns="0" rtlCol="0" anchor="ctr"/>
          <a:lstStyle/>
          <a:p>
            <a:pPr algn="l" indent="0" marL="0">
              <a:buNone/>
            </a:pPr>
            <a:r>
              <a:rPr lang="ko-KR" altLang="en-US" sz="1100" spc="-14" kern="0" dirty="0">
                <a:solidFill>
                  <a:srgbClr val="45512A"/>
                </a:solidFill>
                <a:latin typeface="Paperlogy 4 Regular" pitchFamily="34" charset="0"/>
                <a:ea typeface="Paperlogy 4 Regular" pitchFamily="34" charset="-122"/>
                <a:cs typeface="Paperlogy 4 Regular" pitchFamily="34" charset="-120"/>
              </a:rPr>
              <a:t>가격·인원·이동 방식 추후 검증</a:t>
            </a:r>
            <a:endParaRPr lang="en-US" sz="1100" dirty="0"/>
          </a:p>
        </p:txBody>
      </p:sp>
      <p:sp>
        <p:nvSpPr>
          <p:cNvPr id="57" name="글상자 56"/>
          <p:cNvSpPr txBox="1"/>
          <p:nvPr/>
        </p:nvSpPr>
        <p:spPr>
          <a:xfrm>
            <a:off x="4502140" y="4446453"/>
            <a:ext cx="1220267" cy="180960"/>
          </a:xfrm>
          <a:prstGeom prst="rect">
            <a:avLst/>
          </a:prstGeom>
          <a:noFill/>
          <a:ln/>
        </p:spPr>
        <p:txBody>
          <a:bodyPr wrap="none" lIns="0" tIns="0" rIns="0" bIns="0" rtlCol="0" anchor="ctr"/>
          <a:lstStyle/>
          <a:p>
            <a:pPr algn="l" indent="0" marL="0">
              <a:buNone/>
            </a:pPr>
            <a:r>
              <a:rPr lang="ko-KR" altLang="en-US" sz="950" spc="133" kern="0" dirty="0">
                <a:solidFill>
                  <a:srgbClr val="646D40"/>
                </a:solidFill>
                <a:latin typeface="Paperlogy 7 Bold" pitchFamily="34" charset="0"/>
                <a:ea typeface="Paperlogy 7 Bold" pitchFamily="34" charset="-122"/>
                <a:cs typeface="Paperlogy 7 Bold" pitchFamily="34" charset="-120"/>
              </a:rPr>
              <a:t>포함 · 선택 서비스</a:t>
            </a:r>
            <a:endParaRPr lang="en-US" sz="950" dirty="0"/>
          </a:p>
        </p:txBody>
      </p:sp>
      <p:sp>
        <p:nvSpPr>
          <p:cNvPr id="58" name="글상자 57"/>
          <p:cNvSpPr txBox="1"/>
          <p:nvPr/>
        </p:nvSpPr>
        <p:spPr>
          <a:xfrm>
            <a:off x="5727527" y="4468398"/>
            <a:ext cx="303398" cy="140360"/>
          </a:xfrm>
          <a:prstGeom prst="rect">
            <a:avLst/>
          </a:prstGeom>
          <a:noFill/>
          <a:ln/>
        </p:spPr>
        <p:txBody>
          <a:bodyPr wrap="none" lIns="0" tIns="0" rIns="0" bIns="0" rtlCol="0" anchor="ctr"/>
          <a:lstStyle/>
          <a:p>
            <a:pPr algn="l" indent="0" marL="0">
              <a:buNone/>
            </a:pPr>
            <a:r>
              <a:rPr lang="ko-KR" altLang="en-US" sz="850" spc="34" kern="0" dirty="0">
                <a:solidFill>
                  <a:srgbClr val="45512A"/>
                </a:solidFill>
                <a:latin typeface="Paperlogy 7 Bold" pitchFamily="34" charset="0"/>
                <a:ea typeface="Paperlogy 7 Bold" pitchFamily="34" charset="-122"/>
                <a:cs typeface="Paperlogy 7 Bold" pitchFamily="34" charset="-120"/>
              </a:rPr>
              <a:t>제안</a:t>
            </a:r>
            <a:endParaRPr lang="en-US" sz="850" dirty="0"/>
          </a:p>
        </p:txBody>
      </p:sp>
      <p:sp>
        <p:nvSpPr>
          <p:cNvPr id="59" name="글상자 58"/>
          <p:cNvSpPr txBox="1"/>
          <p:nvPr/>
        </p:nvSpPr>
        <p:spPr>
          <a:xfrm>
            <a:off x="4502140" y="4719493"/>
            <a:ext cx="2551450" cy="209580"/>
          </a:xfrm>
          <a:prstGeom prst="rect">
            <a:avLst/>
          </a:prstGeom>
          <a:noFill/>
          <a:ln/>
        </p:spPr>
        <p:txBody>
          <a:bodyPr wrap="none" lIns="0" tIns="0" rIns="0" bIns="0" rtlCol="0" anchor="ctr"/>
          <a:lstStyle/>
          <a:p>
            <a:pPr algn="l" indent="0" marL="0">
              <a:buNone/>
            </a:pPr>
            <a:r>
              <a:rPr lang="ko-KR" altLang="en-US" sz="1100" spc="-14" kern="0" dirty="0">
                <a:solidFill>
                  <a:srgbClr val="2E3A1B"/>
                </a:solidFill>
                <a:latin typeface="Paperlogy 7 Bold" pitchFamily="34" charset="0"/>
                <a:ea typeface="Paperlogy 7 Bold" pitchFamily="34" charset="-122"/>
                <a:cs typeface="Paperlogy 7 Bold" pitchFamily="34" charset="-120"/>
              </a:rPr>
              <a:t>기본  </a:t>
            </a:r>
            <a:pPr algn="l" indent="0" marL="0">
              <a:buNone/>
            </a:pPr>
            <a:r>
              <a:rPr lang="ko-KR" altLang="en-US" sz="1100" spc="-14" kern="0" dirty="0">
                <a:solidFill>
                  <a:srgbClr val="45512A"/>
                </a:solidFill>
                <a:latin typeface="Paperlogy 4 Regular" pitchFamily="34" charset="0"/>
                <a:ea typeface="Paperlogy 4 Regular" pitchFamily="34" charset="-122"/>
                <a:cs typeface="Paperlogy 4 Regular" pitchFamily="34" charset="-120"/>
              </a:rPr>
              <a:t>일정 안내 · 산책 가이드 · 카페 티타임</a:t>
            </a:r>
            <a:endParaRPr lang="en-US" sz="1100" dirty="0"/>
          </a:p>
        </p:txBody>
      </p:sp>
      <p:sp>
        <p:nvSpPr>
          <p:cNvPr id="60" name="글상자 59"/>
          <p:cNvSpPr txBox="1"/>
          <p:nvPr/>
        </p:nvSpPr>
        <p:spPr>
          <a:xfrm>
            <a:off x="4502140" y="4992624"/>
            <a:ext cx="2227204" cy="209580"/>
          </a:xfrm>
          <a:prstGeom prst="rect">
            <a:avLst/>
          </a:prstGeom>
          <a:noFill/>
          <a:ln/>
        </p:spPr>
        <p:txBody>
          <a:bodyPr wrap="none" lIns="0" tIns="0" rIns="0" bIns="0" rtlCol="0" anchor="ctr"/>
          <a:lstStyle/>
          <a:p>
            <a:pPr algn="l" indent="0" marL="0">
              <a:buNone/>
            </a:pPr>
            <a:r>
              <a:rPr lang="ko-KR" altLang="en-US" sz="1100" spc="-14" kern="0" dirty="0">
                <a:solidFill>
                  <a:srgbClr val="2E3A1B"/>
                </a:solidFill>
                <a:latin typeface="Paperlogy 7 Bold" pitchFamily="34" charset="0"/>
                <a:ea typeface="Paperlogy 7 Bold" pitchFamily="34" charset="-122"/>
                <a:cs typeface="Paperlogy 7 Bold" pitchFamily="34" charset="-120"/>
              </a:rPr>
              <a:t>선택  </a:t>
            </a:r>
            <a:pPr algn="l" indent="0" marL="0">
              <a:buNone/>
            </a:pPr>
            <a:r>
              <a:rPr lang="ko-KR" altLang="en-US" sz="1100" spc="-14" kern="0" dirty="0">
                <a:solidFill>
                  <a:srgbClr val="45512A"/>
                </a:solidFill>
                <a:latin typeface="Paperlogy 4 Regular" pitchFamily="34" charset="0"/>
                <a:ea typeface="Paperlogy 4 Regular" pitchFamily="34" charset="-122"/>
                <a:cs typeface="Paperlogy 4 Regular" pitchFamily="34" charset="-120"/>
              </a:rPr>
              <a:t>로컬 식사 메뉴 · 독서·사진 키트</a:t>
            </a:r>
            <a:endParaRPr lang="en-US" sz="1100" dirty="0"/>
          </a:p>
        </p:txBody>
      </p:sp>
      <p:sp>
        <p:nvSpPr>
          <p:cNvPr id="61" name="글상자 60"/>
          <p:cNvSpPr txBox="1"/>
          <p:nvPr/>
        </p:nvSpPr>
        <p:spPr>
          <a:xfrm>
            <a:off x="8134320" y="4446453"/>
            <a:ext cx="1087404" cy="180960"/>
          </a:xfrm>
          <a:prstGeom prst="rect">
            <a:avLst/>
          </a:prstGeom>
          <a:noFill/>
          <a:ln/>
        </p:spPr>
        <p:txBody>
          <a:bodyPr wrap="none" lIns="0" tIns="0" rIns="0" bIns="0" rtlCol="0" anchor="ctr"/>
          <a:lstStyle/>
          <a:p>
            <a:pPr algn="l" indent="0" marL="0">
              <a:buNone/>
            </a:pPr>
            <a:r>
              <a:rPr lang="ko-KR" altLang="en-US" sz="950" spc="133" kern="0" dirty="0">
                <a:solidFill>
                  <a:srgbClr val="646D40"/>
                </a:solidFill>
                <a:latin typeface="Paperlogy 7 Bold" pitchFamily="34" charset="0"/>
                <a:ea typeface="Paperlogy 7 Bold" pitchFamily="34" charset="-122"/>
                <a:cs typeface="Paperlogy 7 Bold" pitchFamily="34" charset="-120"/>
              </a:rPr>
              <a:t>안전 · 우천 대안</a:t>
            </a:r>
            <a:endParaRPr lang="en-US" sz="950" dirty="0"/>
          </a:p>
        </p:txBody>
      </p:sp>
      <p:sp>
        <p:nvSpPr>
          <p:cNvPr id="62" name="글상자 61"/>
          <p:cNvSpPr txBox="1"/>
          <p:nvPr/>
        </p:nvSpPr>
        <p:spPr>
          <a:xfrm>
            <a:off x="9236629" y="4468398"/>
            <a:ext cx="303398" cy="140360"/>
          </a:xfrm>
          <a:prstGeom prst="rect">
            <a:avLst/>
          </a:prstGeom>
          <a:noFill/>
          <a:ln/>
        </p:spPr>
        <p:txBody>
          <a:bodyPr wrap="none" lIns="0" tIns="0" rIns="0" bIns="0" rtlCol="0" anchor="ctr"/>
          <a:lstStyle/>
          <a:p>
            <a:pPr algn="l" indent="0" marL="0">
              <a:buNone/>
            </a:pPr>
            <a:r>
              <a:rPr lang="ko-KR" altLang="en-US" sz="850" spc="34" kern="0" dirty="0">
                <a:solidFill>
                  <a:srgbClr val="45512A"/>
                </a:solidFill>
                <a:latin typeface="Paperlogy 7 Bold" pitchFamily="34" charset="0"/>
                <a:ea typeface="Paperlogy 7 Bold" pitchFamily="34" charset="-122"/>
                <a:cs typeface="Paperlogy 7 Bold" pitchFamily="34" charset="-120"/>
              </a:rPr>
              <a:t>제안</a:t>
            </a:r>
            <a:endParaRPr lang="en-US" sz="850" dirty="0"/>
          </a:p>
        </p:txBody>
      </p:sp>
      <p:sp>
        <p:nvSpPr>
          <p:cNvPr id="63" name="글상자 62"/>
          <p:cNvSpPr txBox="1"/>
          <p:nvPr/>
        </p:nvSpPr>
        <p:spPr>
          <a:xfrm>
            <a:off x="8134320" y="4719493"/>
            <a:ext cx="1690817" cy="209580"/>
          </a:xfrm>
          <a:prstGeom prst="rect">
            <a:avLst/>
          </a:prstGeom>
          <a:noFill/>
          <a:ln/>
        </p:spPr>
        <p:txBody>
          <a:bodyPr wrap="none" lIns="0" tIns="0" rIns="0" bIns="0" rtlCol="0" anchor="ctr"/>
          <a:lstStyle/>
          <a:p>
            <a:pPr algn="l" indent="0" marL="0">
              <a:buNone/>
            </a:pPr>
            <a:r>
              <a:rPr lang="ko-KR" altLang="en-US" sz="1100" spc="-14" kern="0" dirty="0">
                <a:solidFill>
                  <a:srgbClr val="2E3A1B"/>
                </a:solidFill>
                <a:latin typeface="Paperlogy 7 Bold" pitchFamily="34" charset="0"/>
                <a:ea typeface="Paperlogy 7 Bold" pitchFamily="34" charset="-122"/>
                <a:cs typeface="Paperlogy 7 Bold" pitchFamily="34" charset="-120"/>
              </a:rPr>
              <a:t>안전  </a:t>
            </a:r>
            <a:pPr algn="l" indent="0" marL="0">
              <a:buNone/>
            </a:pPr>
            <a:r>
              <a:rPr lang="ko-KR" altLang="en-US" sz="1100" spc="-14" kern="0" dirty="0">
                <a:solidFill>
                  <a:srgbClr val="45512A"/>
                </a:solidFill>
                <a:latin typeface="Paperlogy 4 Regular" pitchFamily="34" charset="0"/>
                <a:ea typeface="Paperlogy 4 Regular" pitchFamily="34" charset="-122"/>
                <a:cs typeface="Paperlogy 4 Regular" pitchFamily="34" charset="-120"/>
              </a:rPr>
              <a:t>수변 산책로 안전 안내</a:t>
            </a:r>
            <a:endParaRPr lang="en-US" sz="1100" dirty="0"/>
          </a:p>
        </p:txBody>
      </p:sp>
      <p:sp>
        <p:nvSpPr>
          <p:cNvPr id="64" name="글상자 63"/>
          <p:cNvSpPr txBox="1"/>
          <p:nvPr/>
        </p:nvSpPr>
        <p:spPr>
          <a:xfrm>
            <a:off x="8134320" y="4992624"/>
            <a:ext cx="2546878" cy="209580"/>
          </a:xfrm>
          <a:prstGeom prst="rect">
            <a:avLst/>
          </a:prstGeom>
          <a:noFill/>
          <a:ln/>
        </p:spPr>
        <p:txBody>
          <a:bodyPr wrap="none" lIns="0" tIns="0" rIns="0" bIns="0" rtlCol="0" anchor="ctr"/>
          <a:lstStyle/>
          <a:p>
            <a:pPr algn="l" indent="0" marL="0">
              <a:buNone/>
            </a:pPr>
            <a:r>
              <a:rPr lang="ko-KR" altLang="en-US" sz="1100" spc="-14" kern="0" dirty="0">
                <a:solidFill>
                  <a:srgbClr val="2E3A1B"/>
                </a:solidFill>
                <a:latin typeface="Paperlogy 7 Bold" pitchFamily="34" charset="0"/>
                <a:ea typeface="Paperlogy 7 Bold" pitchFamily="34" charset="-122"/>
                <a:cs typeface="Paperlogy 7 Bold" pitchFamily="34" charset="-120"/>
              </a:rPr>
              <a:t>우천  </a:t>
            </a:r>
            <a:pPr algn="l" indent="0" marL="0">
              <a:buNone/>
            </a:pPr>
            <a:r>
              <a:rPr lang="ko-KR" altLang="en-US" sz="1100" spc="-14" kern="0" dirty="0">
                <a:solidFill>
                  <a:srgbClr val="45512A"/>
                </a:solidFill>
                <a:latin typeface="Paperlogy 4 Regular" pitchFamily="34" charset="0"/>
                <a:ea typeface="Paperlogy 4 Regular" pitchFamily="34" charset="-122"/>
                <a:cs typeface="Paperlogy 4 Regular" pitchFamily="34" charset="-120"/>
              </a:rPr>
              <a:t>산책 → 실내 카페·휴식 공간으로 대체</a:t>
            </a:r>
            <a:endParaRPr lang="en-US" sz="1100" dirty="0"/>
          </a:p>
        </p:txBody>
      </p:sp>
      <p:sp>
        <p:nvSpPr>
          <p:cNvPr id="65" name="글상자 64"/>
          <p:cNvSpPr txBox="1"/>
          <p:nvPr/>
        </p:nvSpPr>
        <p:spPr>
          <a:xfrm>
            <a:off x="698510" y="6316675"/>
            <a:ext cx="2364273" cy="180960"/>
          </a:xfrm>
          <a:prstGeom prst="rect">
            <a:avLst/>
          </a:prstGeom>
          <a:noFill/>
          <a:ln/>
        </p:spPr>
        <p:txBody>
          <a:bodyPr wrap="none" lIns="0" tIns="0" rIns="0" bIns="0" rtlCol="0" anchor="ctr"/>
          <a:lstStyle/>
          <a:p>
            <a:pPr algn="l" indent="0" marL="0">
              <a:buNone/>
            </a:pPr>
            <a:r>
              <a:rPr lang="ko-KR" altLang="en-US" sz="950" spc="10" kern="0" dirty="0">
                <a:solidFill>
                  <a:srgbClr val="646D40"/>
                </a:solidFill>
                <a:latin typeface="Paperlogy 4 Regular" pitchFamily="34" charset="0"/>
                <a:ea typeface="Paperlogy 4 Regular" pitchFamily="34" charset="-122"/>
                <a:cs typeface="Paperlogy 4 Regular" pitchFamily="34" charset="-120"/>
              </a:rPr>
              <a:t>관광레저상품론 · 관광상품 기획 사전 제안서</a:t>
            </a:r>
            <a:endParaRPr lang="en-US" sz="950" dirty="0"/>
          </a:p>
        </p:txBody>
      </p:sp>
      <p:sp>
        <p:nvSpPr>
          <p:cNvPr id="66" name="글상자 65"/>
          <p:cNvSpPr txBox="1"/>
          <p:nvPr/>
        </p:nvSpPr>
        <p:spPr>
          <a:xfrm>
            <a:off x="10996849" y="6316675"/>
            <a:ext cx="597926" cy="180960"/>
          </a:xfrm>
          <a:prstGeom prst="rect">
            <a:avLst/>
          </a:prstGeom>
          <a:noFill/>
          <a:ln/>
        </p:spPr>
        <p:txBody>
          <a:bodyPr wrap="none" lIns="0" tIns="0" rIns="0" bIns="0" rtlCol="0" anchor="ctr"/>
          <a:lstStyle/>
          <a:p>
            <a:pPr algn="l" indent="0" marL="0">
              <a:buNone/>
            </a:pPr>
            <a:r>
              <a:rPr lang="ko-KR" altLang="en-US" sz="950" spc="57" kern="0" dirty="0">
                <a:solidFill>
                  <a:srgbClr val="2E3A1B"/>
                </a:solidFill>
                <a:latin typeface="Paperlogy 7 Bold" pitchFamily="34" charset="0"/>
                <a:ea typeface="Paperlogy 7 Bold" pitchFamily="34" charset="-122"/>
                <a:cs typeface="Paperlogy 7 Bold" pitchFamily="34" charset="-120"/>
              </a:rPr>
              <a:t>08 / 10</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6"/>
        </a:solidFill>
      </p:bgPr>
    </p:bg>
    <p:spTree>
      <p:nvGrpSpPr>
        <p:cNvPr id="1" name=""/>
        <p:cNvGrpSpPr/>
        <p:nvPr/>
      </p:nvGrpSpPr>
      <p:grpSpPr>
        <a:xfrm>
          <a:off x="0" y="0"/>
          <a:ext cx="0" cy="0"/>
          <a:chOff x="0" y="0"/>
          <a:chExt cx="0" cy="0"/>
        </a:xfrm>
      </p:grpSpPr>
      <p:sp>
        <p:nvSpPr>
          <p:cNvPr id="2" name="선 1"/>
          <p:cNvSpPr/>
          <p:nvPr/>
        </p:nvSpPr>
        <p:spPr>
          <a:xfrm>
            <a:off x="711220" y="658825"/>
            <a:ext cx="254020" cy="0"/>
          </a:xfrm>
          <a:prstGeom prst="line">
            <a:avLst/>
          </a:prstGeom>
          <a:noFill/>
          <a:ln w="12700">
            <a:solidFill>
              <a:srgbClr val="737F4A"/>
            </a:solidFill>
            <a:prstDash val="solid"/>
          </a:ln>
        </p:spPr>
      </p:sp>
      <p:sp>
        <p:nvSpPr>
          <p:cNvPr id="3" name="선 2"/>
          <p:cNvSpPr/>
          <p:nvPr/>
        </p:nvSpPr>
        <p:spPr>
          <a:xfrm>
            <a:off x="901690" y="2139422"/>
            <a:ext cx="10464759" cy="0"/>
          </a:xfrm>
          <a:prstGeom prst="line">
            <a:avLst/>
          </a:prstGeom>
          <a:noFill/>
          <a:ln w="12700">
            <a:solidFill>
              <a:srgbClr val="B5C092"/>
            </a:solidFill>
            <a:prstDash val="solid"/>
          </a:ln>
        </p:spPr>
      </p:sp>
      <p:sp>
        <p:nvSpPr>
          <p:cNvPr id="4" name="화살표 3"/>
          <p:cNvSpPr/>
          <p:nvPr/>
        </p:nvSpPr>
        <p:spPr>
          <a:xfrm rot="5400000">
            <a:off x="11366541" y="2088672"/>
            <a:ext cx="101590" cy="101590"/>
          </a:xfrm>
          <a:prstGeom prst="triangle">
            <a:avLst/>
          </a:prstGeom>
          <a:solidFill>
            <a:srgbClr val="B5C092"/>
          </a:solidFill>
          <a:ln/>
        </p:spPr>
      </p:sp>
      <p:sp>
        <p:nvSpPr>
          <p:cNvPr id="5" name="상자 4"/>
          <p:cNvSpPr/>
          <p:nvPr/>
        </p:nvSpPr>
        <p:spPr>
          <a:xfrm>
            <a:off x="714421" y="2333092"/>
            <a:ext cx="1693286" cy="2615367"/>
          </a:xfrm>
          <a:prstGeom prst="roundRect">
            <a:avLst>
              <a:gd name="adj" fmla="val 5065"/>
            </a:avLst>
          </a:prstGeom>
          <a:solidFill>
            <a:srgbClr val="FBF9F3"/>
          </a:solidFill>
          <a:ln w="6350">
            <a:solidFill>
              <a:srgbClr val="D5CEB8"/>
            </a:solidFill>
            <a:prstDash val="solid"/>
          </a:ln>
        </p:spPr>
      </p:sp>
      <p:sp>
        <p:nvSpPr>
          <p:cNvPr id="6" name="점 5"/>
          <p:cNvSpPr/>
          <p:nvPr/>
        </p:nvSpPr>
        <p:spPr>
          <a:xfrm>
            <a:off x="860450" y="2072762"/>
            <a:ext cx="95280" cy="95280"/>
          </a:xfrm>
          <a:prstGeom prst="ellipse">
            <a:avLst/>
          </a:prstGeom>
          <a:solidFill>
            <a:srgbClr val="F5F1E6"/>
          </a:solidFill>
          <a:ln w="19050">
            <a:solidFill>
              <a:srgbClr val="737F4A"/>
            </a:solidFill>
            <a:prstDash val="solid"/>
          </a:ln>
        </p:spPr>
      </p:sp>
      <p:sp>
        <p:nvSpPr>
          <p:cNvPr id="7" name="선 6"/>
          <p:cNvSpPr/>
          <p:nvPr/>
        </p:nvSpPr>
        <p:spPr>
          <a:xfrm>
            <a:off x="857250" y="4008730"/>
            <a:ext cx="1407536" cy="0"/>
          </a:xfrm>
          <a:prstGeom prst="line">
            <a:avLst/>
          </a:prstGeom>
          <a:noFill/>
          <a:ln w="6350">
            <a:solidFill>
              <a:srgbClr val="D5CEB8"/>
            </a:solidFill>
            <a:prstDash val="dash"/>
          </a:ln>
        </p:spPr>
      </p:sp>
      <p:sp>
        <p:nvSpPr>
          <p:cNvPr id="8" name="상자 7"/>
          <p:cNvSpPr/>
          <p:nvPr/>
        </p:nvSpPr>
        <p:spPr>
          <a:xfrm>
            <a:off x="2528316" y="2333092"/>
            <a:ext cx="1693377" cy="2615367"/>
          </a:xfrm>
          <a:prstGeom prst="roundRect">
            <a:avLst>
              <a:gd name="adj" fmla="val 5065"/>
            </a:avLst>
          </a:prstGeom>
          <a:solidFill>
            <a:srgbClr val="FBF9F3"/>
          </a:solidFill>
          <a:ln w="6350">
            <a:solidFill>
              <a:srgbClr val="D5CEB8"/>
            </a:solidFill>
            <a:prstDash val="solid"/>
          </a:ln>
        </p:spPr>
      </p:sp>
      <p:sp>
        <p:nvSpPr>
          <p:cNvPr id="9" name="점 8"/>
          <p:cNvSpPr/>
          <p:nvPr/>
        </p:nvSpPr>
        <p:spPr>
          <a:xfrm>
            <a:off x="2674346" y="2072762"/>
            <a:ext cx="95280" cy="95280"/>
          </a:xfrm>
          <a:prstGeom prst="ellipse">
            <a:avLst/>
          </a:prstGeom>
          <a:solidFill>
            <a:srgbClr val="F5F1E6"/>
          </a:solidFill>
          <a:ln w="19050">
            <a:solidFill>
              <a:srgbClr val="737F4A"/>
            </a:solidFill>
            <a:prstDash val="solid"/>
          </a:ln>
        </p:spPr>
      </p:sp>
      <p:sp>
        <p:nvSpPr>
          <p:cNvPr id="10" name="선 9"/>
          <p:cNvSpPr/>
          <p:nvPr/>
        </p:nvSpPr>
        <p:spPr>
          <a:xfrm>
            <a:off x="2671145" y="3777386"/>
            <a:ext cx="1407627" cy="0"/>
          </a:xfrm>
          <a:prstGeom prst="line">
            <a:avLst/>
          </a:prstGeom>
          <a:noFill/>
          <a:ln w="6350">
            <a:solidFill>
              <a:srgbClr val="D5CEB8"/>
            </a:solidFill>
            <a:prstDash val="dash"/>
          </a:ln>
        </p:spPr>
      </p:sp>
      <p:sp>
        <p:nvSpPr>
          <p:cNvPr id="11" name="상자 10"/>
          <p:cNvSpPr/>
          <p:nvPr/>
        </p:nvSpPr>
        <p:spPr>
          <a:xfrm>
            <a:off x="4342303" y="2333092"/>
            <a:ext cx="1693286" cy="2615367"/>
          </a:xfrm>
          <a:prstGeom prst="roundRect">
            <a:avLst>
              <a:gd name="adj" fmla="val 5065"/>
            </a:avLst>
          </a:prstGeom>
          <a:solidFill>
            <a:srgbClr val="FBF9F3"/>
          </a:solidFill>
          <a:ln w="6350">
            <a:solidFill>
              <a:srgbClr val="D5CEB8"/>
            </a:solidFill>
            <a:prstDash val="solid"/>
          </a:ln>
        </p:spPr>
      </p:sp>
      <p:sp>
        <p:nvSpPr>
          <p:cNvPr id="12" name="점 11"/>
          <p:cNvSpPr/>
          <p:nvPr/>
        </p:nvSpPr>
        <p:spPr>
          <a:xfrm>
            <a:off x="4488332" y="2072762"/>
            <a:ext cx="95280" cy="95280"/>
          </a:xfrm>
          <a:prstGeom prst="ellipse">
            <a:avLst/>
          </a:prstGeom>
          <a:solidFill>
            <a:srgbClr val="F5F1E6"/>
          </a:solidFill>
          <a:ln w="19050">
            <a:solidFill>
              <a:srgbClr val="737F4A"/>
            </a:solidFill>
            <a:prstDash val="solid"/>
          </a:ln>
        </p:spPr>
      </p:sp>
      <p:sp>
        <p:nvSpPr>
          <p:cNvPr id="13" name="선 12"/>
          <p:cNvSpPr/>
          <p:nvPr/>
        </p:nvSpPr>
        <p:spPr>
          <a:xfrm>
            <a:off x="4485223" y="3777386"/>
            <a:ext cx="1407536" cy="0"/>
          </a:xfrm>
          <a:prstGeom prst="line">
            <a:avLst/>
          </a:prstGeom>
          <a:noFill/>
          <a:ln w="6350">
            <a:solidFill>
              <a:srgbClr val="D5CEB8"/>
            </a:solidFill>
            <a:prstDash val="dash"/>
          </a:ln>
        </p:spPr>
      </p:sp>
      <p:sp>
        <p:nvSpPr>
          <p:cNvPr id="14" name="상자 13"/>
          <p:cNvSpPr/>
          <p:nvPr/>
        </p:nvSpPr>
        <p:spPr>
          <a:xfrm>
            <a:off x="6156198" y="2333092"/>
            <a:ext cx="1693377" cy="2615367"/>
          </a:xfrm>
          <a:prstGeom prst="roundRect">
            <a:avLst>
              <a:gd name="adj" fmla="val 5065"/>
            </a:avLst>
          </a:prstGeom>
          <a:solidFill>
            <a:srgbClr val="DDE3C7"/>
          </a:solidFill>
          <a:ln w="6350">
            <a:solidFill>
              <a:srgbClr val="B5C092"/>
            </a:solidFill>
            <a:prstDash val="solid"/>
          </a:ln>
        </p:spPr>
      </p:sp>
      <p:sp>
        <p:nvSpPr>
          <p:cNvPr id="15" name="점 14"/>
          <p:cNvSpPr/>
          <p:nvPr/>
        </p:nvSpPr>
        <p:spPr>
          <a:xfrm>
            <a:off x="6302319" y="2072762"/>
            <a:ext cx="95280" cy="95280"/>
          </a:xfrm>
          <a:prstGeom prst="ellipse">
            <a:avLst/>
          </a:prstGeom>
          <a:solidFill>
            <a:srgbClr val="737F4A"/>
          </a:solidFill>
          <a:ln w="19050">
            <a:solidFill>
              <a:srgbClr val="737F4A"/>
            </a:solidFill>
            <a:prstDash val="solid"/>
          </a:ln>
        </p:spPr>
      </p:sp>
      <p:sp>
        <p:nvSpPr>
          <p:cNvPr id="16" name="상자 15"/>
          <p:cNvSpPr/>
          <p:nvPr/>
        </p:nvSpPr>
        <p:spPr>
          <a:xfrm>
            <a:off x="7132137" y="2479213"/>
            <a:ext cx="596829" cy="203180"/>
          </a:xfrm>
          <a:prstGeom prst="roundRect">
            <a:avLst>
              <a:gd name="adj" fmla="val 50000"/>
            </a:avLst>
          </a:prstGeom>
          <a:solidFill>
            <a:srgbClr val="DDE3C7"/>
          </a:solidFill>
          <a:ln w="6350">
            <a:solidFill>
              <a:srgbClr val="B5C092"/>
            </a:solidFill>
            <a:prstDash val="solid"/>
          </a:ln>
        </p:spPr>
      </p:sp>
      <p:sp>
        <p:nvSpPr>
          <p:cNvPr id="17" name="선 16"/>
          <p:cNvSpPr/>
          <p:nvPr/>
        </p:nvSpPr>
        <p:spPr>
          <a:xfrm>
            <a:off x="6299119" y="3777386"/>
            <a:ext cx="1407627" cy="0"/>
          </a:xfrm>
          <a:prstGeom prst="line">
            <a:avLst/>
          </a:prstGeom>
          <a:noFill/>
          <a:ln w="6350">
            <a:solidFill>
              <a:srgbClr val="B5C092"/>
            </a:solidFill>
            <a:prstDash val="dash"/>
          </a:ln>
        </p:spPr>
      </p:sp>
      <p:sp>
        <p:nvSpPr>
          <p:cNvPr id="18" name="상자 17"/>
          <p:cNvSpPr/>
          <p:nvPr/>
        </p:nvSpPr>
        <p:spPr>
          <a:xfrm>
            <a:off x="7970276" y="2333092"/>
            <a:ext cx="1693377" cy="2615367"/>
          </a:xfrm>
          <a:prstGeom prst="roundRect">
            <a:avLst>
              <a:gd name="adj" fmla="val 5065"/>
            </a:avLst>
          </a:prstGeom>
          <a:solidFill>
            <a:srgbClr val="FBF9F3"/>
          </a:solidFill>
          <a:ln w="6350">
            <a:solidFill>
              <a:srgbClr val="D5CEB8"/>
            </a:solidFill>
            <a:prstDash val="solid"/>
          </a:ln>
        </p:spPr>
      </p:sp>
      <p:sp>
        <p:nvSpPr>
          <p:cNvPr id="19" name="점 18"/>
          <p:cNvSpPr/>
          <p:nvPr/>
        </p:nvSpPr>
        <p:spPr>
          <a:xfrm>
            <a:off x="8116306" y="2072762"/>
            <a:ext cx="95280" cy="95280"/>
          </a:xfrm>
          <a:prstGeom prst="ellipse">
            <a:avLst/>
          </a:prstGeom>
          <a:solidFill>
            <a:srgbClr val="F5F1E6"/>
          </a:solidFill>
          <a:ln w="19050">
            <a:solidFill>
              <a:srgbClr val="737F4A"/>
            </a:solidFill>
            <a:prstDash val="solid"/>
          </a:ln>
        </p:spPr>
      </p:sp>
      <p:sp>
        <p:nvSpPr>
          <p:cNvPr id="20" name="선 19"/>
          <p:cNvSpPr/>
          <p:nvPr/>
        </p:nvSpPr>
        <p:spPr>
          <a:xfrm>
            <a:off x="8113105" y="3777386"/>
            <a:ext cx="1407627" cy="0"/>
          </a:xfrm>
          <a:prstGeom prst="line">
            <a:avLst/>
          </a:prstGeom>
          <a:noFill/>
          <a:ln w="6350">
            <a:solidFill>
              <a:srgbClr val="D5CEB8"/>
            </a:solidFill>
            <a:prstDash val="dash"/>
          </a:ln>
        </p:spPr>
      </p:sp>
      <p:sp>
        <p:nvSpPr>
          <p:cNvPr id="21" name="상자 20"/>
          <p:cNvSpPr/>
          <p:nvPr/>
        </p:nvSpPr>
        <p:spPr>
          <a:xfrm>
            <a:off x="9784263" y="2333092"/>
            <a:ext cx="1693286" cy="2615367"/>
          </a:xfrm>
          <a:prstGeom prst="roundRect">
            <a:avLst>
              <a:gd name="adj" fmla="val 5065"/>
            </a:avLst>
          </a:prstGeom>
          <a:solidFill>
            <a:srgbClr val="FBF9F3"/>
          </a:solidFill>
          <a:ln w="6350">
            <a:solidFill>
              <a:srgbClr val="D5CEB8"/>
            </a:solidFill>
            <a:prstDash val="solid"/>
          </a:ln>
        </p:spPr>
      </p:sp>
      <p:sp>
        <p:nvSpPr>
          <p:cNvPr id="22" name="점 21"/>
          <p:cNvSpPr/>
          <p:nvPr/>
        </p:nvSpPr>
        <p:spPr>
          <a:xfrm>
            <a:off x="9930293" y="2072762"/>
            <a:ext cx="95280" cy="95280"/>
          </a:xfrm>
          <a:prstGeom prst="ellipse">
            <a:avLst/>
          </a:prstGeom>
          <a:solidFill>
            <a:srgbClr val="F5F1E6"/>
          </a:solidFill>
          <a:ln w="19050">
            <a:solidFill>
              <a:srgbClr val="737F4A"/>
            </a:solidFill>
            <a:prstDash val="solid"/>
          </a:ln>
        </p:spPr>
      </p:sp>
      <p:sp>
        <p:nvSpPr>
          <p:cNvPr id="23" name="선 22"/>
          <p:cNvSpPr/>
          <p:nvPr/>
        </p:nvSpPr>
        <p:spPr>
          <a:xfrm>
            <a:off x="9927092" y="3777386"/>
            <a:ext cx="1407536" cy="0"/>
          </a:xfrm>
          <a:prstGeom prst="line">
            <a:avLst/>
          </a:prstGeom>
          <a:noFill/>
          <a:ln w="6350">
            <a:solidFill>
              <a:srgbClr val="D5CEB8"/>
            </a:solidFill>
            <a:prstDash val="dash"/>
          </a:ln>
        </p:spPr>
      </p:sp>
      <p:sp>
        <p:nvSpPr>
          <p:cNvPr id="24" name="선 23"/>
          <p:cNvSpPr/>
          <p:nvPr/>
        </p:nvSpPr>
        <p:spPr>
          <a:xfrm>
            <a:off x="711220" y="6203930"/>
            <a:ext cx="10769620" cy="0"/>
          </a:xfrm>
          <a:prstGeom prst="line">
            <a:avLst/>
          </a:prstGeom>
          <a:noFill/>
          <a:ln w="6350">
            <a:solidFill>
              <a:srgbClr val="D5CEB8"/>
            </a:solidFill>
            <a:prstDash val="solid"/>
          </a:ln>
        </p:spPr>
      </p:sp>
      <p:sp>
        <p:nvSpPr>
          <p:cNvPr id="25" name="글상자 24"/>
          <p:cNvSpPr txBox="1"/>
          <p:nvPr/>
        </p:nvSpPr>
        <p:spPr>
          <a:xfrm>
            <a:off x="1054120" y="557235"/>
            <a:ext cx="2209556" cy="200071"/>
          </a:xfrm>
          <a:prstGeom prst="rect">
            <a:avLst/>
          </a:prstGeom>
          <a:noFill/>
          <a:ln/>
        </p:spPr>
        <p:txBody>
          <a:bodyPr wrap="none" lIns="0" tIns="0" rIns="0" bIns="0" rtlCol="0" anchor="ctr"/>
          <a:lstStyle/>
          <a:p>
            <a:pPr algn="l" indent="0" marL="0">
              <a:buNone/>
            </a:pPr>
            <a:r>
              <a:rPr lang="ko-KR" altLang="en-US" sz="1050" spc="231" kern="0" dirty="0">
                <a:solidFill>
                  <a:srgbClr val="646D40"/>
                </a:solidFill>
                <a:latin typeface="Paperlogy 6 SemiBold" pitchFamily="34" charset="0"/>
                <a:ea typeface="Paperlogy 6 SemiBold" pitchFamily="34" charset="-122"/>
                <a:cs typeface="Paperlogy 6 SemiBold" pitchFamily="34" charset="-120"/>
              </a:rPr>
              <a:t>CUSTOMER JOURNEY</a:t>
            </a:r>
            <a:endParaRPr lang="en-US" sz="1050" dirty="0"/>
          </a:p>
        </p:txBody>
      </p:sp>
      <p:sp>
        <p:nvSpPr>
          <p:cNvPr id="26" name="글상자 25"/>
          <p:cNvSpPr txBox="1"/>
          <p:nvPr/>
        </p:nvSpPr>
        <p:spPr>
          <a:xfrm>
            <a:off x="698510" y="833750"/>
            <a:ext cx="6300673" cy="561350"/>
          </a:xfrm>
          <a:prstGeom prst="rect">
            <a:avLst/>
          </a:prstGeom>
          <a:noFill/>
          <a:ln/>
        </p:spPr>
        <p:txBody>
          <a:bodyPr wrap="none" lIns="0" tIns="0" rIns="0" bIns="0" rtlCol="0" anchor="ctr"/>
          <a:lstStyle/>
          <a:p>
            <a:pPr algn="l" indent="0" marL="0">
              <a:buNone/>
            </a:pPr>
            <a:r>
              <a:rPr lang="ko-KR" altLang="en-US" sz="3400" spc="-102" kern="0" dirty="0">
                <a:solidFill>
                  <a:srgbClr val="2E3A1B"/>
                </a:solidFill>
                <a:latin typeface="Paperlogy 7 Bold" pitchFamily="34" charset="0"/>
                <a:ea typeface="Paperlogy 7 Bold" pitchFamily="34" charset="-122"/>
                <a:cs typeface="Paperlogy 7 Bold" pitchFamily="34" charset="-120"/>
              </a:rPr>
              <a:t>여행을 발견하는 순간부터 추억까지</a:t>
            </a:r>
            <a:endParaRPr lang="en-US" sz="3400" dirty="0"/>
          </a:p>
        </p:txBody>
      </p:sp>
      <p:sp>
        <p:nvSpPr>
          <p:cNvPr id="27" name="글상자 26"/>
          <p:cNvSpPr txBox="1"/>
          <p:nvPr/>
        </p:nvSpPr>
        <p:spPr>
          <a:xfrm>
            <a:off x="844540" y="2496678"/>
            <a:ext cx="293980" cy="180960"/>
          </a:xfrm>
          <a:prstGeom prst="rect">
            <a:avLst/>
          </a:prstGeom>
          <a:noFill/>
          <a:ln/>
        </p:spPr>
        <p:txBody>
          <a:bodyPr wrap="none" lIns="0" tIns="0" rIns="0" bIns="0" rtlCol="0" anchor="ctr"/>
          <a:lstStyle/>
          <a:p>
            <a:pPr algn="l" indent="0" marL="0">
              <a:buNone/>
            </a:pPr>
            <a:r>
              <a:rPr lang="ko-KR" altLang="en-US" sz="950" spc="114" kern="0" dirty="0">
                <a:solidFill>
                  <a:srgbClr val="737F4A"/>
                </a:solidFill>
                <a:latin typeface="Paperlogy 8 ExtraBold" pitchFamily="34" charset="0"/>
                <a:ea typeface="Paperlogy 8 ExtraBold" pitchFamily="34" charset="-122"/>
                <a:cs typeface="Paperlogy 8 ExtraBold" pitchFamily="34" charset="-120"/>
              </a:rPr>
              <a:t>01</a:t>
            </a:r>
            <a:endParaRPr lang="en-US" sz="950" dirty="0"/>
          </a:p>
        </p:txBody>
      </p:sp>
      <p:sp>
        <p:nvSpPr>
          <p:cNvPr id="28" name="글상자 27"/>
          <p:cNvSpPr txBox="1"/>
          <p:nvPr/>
        </p:nvSpPr>
        <p:spPr>
          <a:xfrm>
            <a:off x="844540" y="2720523"/>
            <a:ext cx="671901" cy="412760"/>
          </a:xfrm>
          <a:prstGeom prst="rect">
            <a:avLst/>
          </a:prstGeom>
          <a:noFill/>
          <a:ln/>
        </p:spPr>
        <p:txBody>
          <a:bodyPr wrap="none" lIns="0" tIns="0" rIns="0" bIns="0" rtlCol="0" anchor="ctr"/>
          <a:lstStyle/>
          <a:p>
            <a:pPr algn="l" indent="0" marL="0">
              <a:buNone/>
            </a:pPr>
            <a:r>
              <a:rPr lang="ko-KR" altLang="en-US" sz="2500" spc="-75" kern="0" dirty="0">
                <a:solidFill>
                  <a:srgbClr val="2E3A1B"/>
                </a:solidFill>
                <a:latin typeface="Paperlogy 8 ExtraBold" pitchFamily="34" charset="0"/>
                <a:ea typeface="Paperlogy 8 ExtraBold" pitchFamily="34" charset="-122"/>
                <a:cs typeface="Paperlogy 8 ExtraBold" pitchFamily="34" charset="-120"/>
              </a:rPr>
              <a:t>발견</a:t>
            </a:r>
            <a:endParaRPr lang="en-US" sz="2500" dirty="0"/>
          </a:p>
        </p:txBody>
      </p:sp>
      <p:sp>
        <p:nvSpPr>
          <p:cNvPr id="29" name="글상자 28"/>
          <p:cNvSpPr txBox="1"/>
          <p:nvPr/>
        </p:nvSpPr>
        <p:spPr>
          <a:xfrm>
            <a:off x="844540" y="3209453"/>
            <a:ext cx="565191" cy="152430"/>
          </a:xfrm>
          <a:prstGeom prst="rect">
            <a:avLst/>
          </a:prstGeom>
          <a:noFill/>
          <a:ln/>
        </p:spPr>
        <p:txBody>
          <a:bodyPr wrap="none" lIns="0" tIns="0" rIns="0" bIns="0" rtlCol="0" anchor="ctr"/>
          <a:lstStyle/>
          <a:p>
            <a:pPr algn="l" indent="0" marL="0">
              <a:buNone/>
            </a:pPr>
            <a:r>
              <a:rPr lang="ko-KR" altLang="en-US" sz="800" spc="96" kern="0" dirty="0">
                <a:solidFill>
                  <a:srgbClr val="646D40"/>
                </a:solidFill>
                <a:latin typeface="Paperlogy 8 ExtraBold" pitchFamily="34" charset="0"/>
                <a:ea typeface="Paperlogy 8 ExtraBold" pitchFamily="34" charset="-122"/>
                <a:cs typeface="Paperlogy 8 ExtraBold" pitchFamily="34" charset="-120"/>
              </a:rPr>
              <a:t>고객 행동</a:t>
            </a:r>
            <a:endParaRPr lang="en-US" sz="800" dirty="0"/>
          </a:p>
        </p:txBody>
      </p:sp>
      <p:sp>
        <p:nvSpPr>
          <p:cNvPr id="30" name="글상자 29"/>
          <p:cNvSpPr txBox="1"/>
          <p:nvPr/>
        </p:nvSpPr>
        <p:spPr>
          <a:xfrm>
            <a:off x="844540" y="3411718"/>
            <a:ext cx="1513972" cy="462778"/>
          </a:xfrm>
          <a:prstGeom prst="rect">
            <a:avLst/>
          </a:prstGeom>
          <a:noFill/>
          <a:ln/>
        </p:spPr>
        <p:txBody>
          <a:bodyPr wrap="none" lIns="0" tIns="0" rIns="0" bIns="0" rtlCol="0" anchor="ctr"/>
          <a:lstStyle/>
          <a:p>
            <a:pPr algn="l" indent="0" marL="0">
              <a:lnSpc>
                <a:spcPts val="1822"/>
              </a:lnSpc>
              <a:buNone/>
            </a:pPr>
            <a:r>
              <a:rPr lang="ko-KR" altLang="en-US" sz="1350" spc="-14" kern="0" dirty="0">
                <a:solidFill>
                  <a:srgbClr val="2E3A1B"/>
                </a:solidFill>
                <a:latin typeface="Paperlogy 7 Bold" pitchFamily="34" charset="0"/>
                <a:ea typeface="Paperlogy 7 Bold" pitchFamily="34" charset="-122"/>
                <a:cs typeface="Paperlogy 7 Bold" pitchFamily="34" charset="-120"/>
              </a:rPr>
              <a:t>SNS 홍보로 상품을</a:t>
            </a:r>
            <a:endParaRPr lang="en-US" sz="1350" dirty="0"/>
          </a:p>
          <a:p>
            <a:pPr algn="l" indent="0" marL="0">
              <a:lnSpc>
                <a:spcPts val="1822"/>
              </a:lnSpc>
              <a:buNone/>
            </a:pPr>
            <a:r>
              <a:rPr lang="ko-KR" altLang="en-US" sz="1350" spc="-14" kern="0" dirty="0">
                <a:solidFill>
                  <a:srgbClr val="2E3A1B"/>
                </a:solidFill>
                <a:latin typeface="Paperlogy 7 Bold" pitchFamily="34" charset="0"/>
                <a:ea typeface="Paperlogy 7 Bold" pitchFamily="34" charset="-122"/>
                <a:cs typeface="Paperlogy 7 Bold" pitchFamily="34" charset="-120"/>
              </a:rPr>
              <a:t>알게 됨</a:t>
            </a:r>
            <a:endParaRPr lang="en-US" sz="1350" dirty="0"/>
          </a:p>
        </p:txBody>
      </p:sp>
      <p:sp>
        <p:nvSpPr>
          <p:cNvPr id="31" name="글상자 30"/>
          <p:cNvSpPr txBox="1"/>
          <p:nvPr/>
        </p:nvSpPr>
        <p:spPr>
          <a:xfrm>
            <a:off x="844540" y="4110319"/>
            <a:ext cx="674919" cy="152430"/>
          </a:xfrm>
          <a:prstGeom prst="rect">
            <a:avLst/>
          </a:prstGeom>
          <a:noFill/>
          <a:ln/>
        </p:spPr>
        <p:txBody>
          <a:bodyPr wrap="none" lIns="0" tIns="0" rIns="0" bIns="0" rtlCol="0" anchor="ctr"/>
          <a:lstStyle/>
          <a:p>
            <a:pPr algn="l" indent="0" marL="0">
              <a:buNone/>
            </a:pPr>
            <a:r>
              <a:rPr lang="ko-KR" altLang="en-US" sz="800" spc="96" kern="0" dirty="0">
                <a:solidFill>
                  <a:srgbClr val="646D40"/>
                </a:solidFill>
                <a:latin typeface="Paperlogy 8 ExtraBold" pitchFamily="34" charset="0"/>
                <a:ea typeface="Paperlogy 8 ExtraBold" pitchFamily="34" charset="-122"/>
                <a:cs typeface="Paperlogy 8 ExtraBold" pitchFamily="34" charset="-120"/>
              </a:rPr>
              <a:t>확인할 사항</a:t>
            </a:r>
            <a:endParaRPr lang="en-US" sz="800" dirty="0"/>
          </a:p>
        </p:txBody>
      </p:sp>
      <p:sp>
        <p:nvSpPr>
          <p:cNvPr id="32" name="글상자 31"/>
          <p:cNvSpPr txBox="1"/>
          <p:nvPr/>
        </p:nvSpPr>
        <p:spPr>
          <a:xfrm>
            <a:off x="844540" y="4305178"/>
            <a:ext cx="1112642" cy="438180"/>
          </a:xfrm>
          <a:prstGeom prst="rect">
            <a:avLst/>
          </a:prstGeom>
          <a:noFill/>
          <a:ln/>
        </p:spPr>
        <p:txBody>
          <a:bodyPr wrap="none" lIns="0" tIns="0" rIns="0" bIns="0" rtlCol="0" anchor="ctr"/>
          <a:lstStyle/>
          <a:p>
            <a:pPr algn="l" indent="0" marL="0">
              <a:lnSpc>
                <a:spcPts val="1725"/>
              </a:lnSpc>
              <a:buNone/>
            </a:pPr>
            <a:r>
              <a:rPr lang="ko-KR" altLang="en-US" sz="1150" spc="-14" kern="0" dirty="0">
                <a:solidFill>
                  <a:srgbClr val="45512A"/>
                </a:solidFill>
                <a:latin typeface="Paperlogy 4 Regular" pitchFamily="34" charset="0"/>
                <a:ea typeface="Paperlogy 4 Regular" pitchFamily="34" charset="-122"/>
                <a:cs typeface="Paperlogy 4 Regular" pitchFamily="34" charset="-120"/>
              </a:rPr>
              <a:t>핵심 가치가 짧게</a:t>
            </a:r>
            <a:endParaRPr lang="en-US" sz="1150" dirty="0"/>
          </a:p>
          <a:p>
            <a:pPr algn="l" indent="0" marL="0">
              <a:lnSpc>
                <a:spcPts val="1725"/>
              </a:lnSpc>
              <a:buNone/>
            </a:pPr>
            <a:r>
              <a:rPr lang="ko-KR" altLang="en-US" sz="1150" spc="-14" kern="0" dirty="0">
                <a:solidFill>
                  <a:srgbClr val="45512A"/>
                </a:solidFill>
                <a:latin typeface="Paperlogy 4 Regular" pitchFamily="34" charset="0"/>
                <a:ea typeface="Paperlogy 4 Regular" pitchFamily="34" charset="-122"/>
                <a:cs typeface="Paperlogy 4 Regular" pitchFamily="34" charset="-120"/>
              </a:rPr>
              <a:t>전달되는가?</a:t>
            </a:r>
            <a:endParaRPr lang="en-US" sz="1150" dirty="0"/>
          </a:p>
        </p:txBody>
      </p:sp>
      <p:sp>
        <p:nvSpPr>
          <p:cNvPr id="33" name="글상자 32"/>
          <p:cNvSpPr txBox="1"/>
          <p:nvPr/>
        </p:nvSpPr>
        <p:spPr>
          <a:xfrm>
            <a:off x="2658435" y="2496678"/>
            <a:ext cx="293980" cy="180960"/>
          </a:xfrm>
          <a:prstGeom prst="rect">
            <a:avLst/>
          </a:prstGeom>
          <a:noFill/>
          <a:ln/>
        </p:spPr>
        <p:txBody>
          <a:bodyPr wrap="none" lIns="0" tIns="0" rIns="0" bIns="0" rtlCol="0" anchor="ctr"/>
          <a:lstStyle/>
          <a:p>
            <a:pPr algn="l" indent="0" marL="0">
              <a:buNone/>
            </a:pPr>
            <a:r>
              <a:rPr lang="ko-KR" altLang="en-US" sz="950" spc="114" kern="0" dirty="0">
                <a:solidFill>
                  <a:srgbClr val="737F4A"/>
                </a:solidFill>
                <a:latin typeface="Paperlogy 8 ExtraBold" pitchFamily="34" charset="0"/>
                <a:ea typeface="Paperlogy 8 ExtraBold" pitchFamily="34" charset="-122"/>
                <a:cs typeface="Paperlogy 8 ExtraBold" pitchFamily="34" charset="-120"/>
              </a:rPr>
              <a:t>02</a:t>
            </a:r>
            <a:endParaRPr lang="en-US" sz="950" dirty="0"/>
          </a:p>
        </p:txBody>
      </p:sp>
      <p:sp>
        <p:nvSpPr>
          <p:cNvPr id="34" name="글상자 33"/>
          <p:cNvSpPr txBox="1"/>
          <p:nvPr/>
        </p:nvSpPr>
        <p:spPr>
          <a:xfrm>
            <a:off x="2658435" y="2720523"/>
            <a:ext cx="671901" cy="412760"/>
          </a:xfrm>
          <a:prstGeom prst="rect">
            <a:avLst/>
          </a:prstGeom>
          <a:noFill/>
          <a:ln/>
        </p:spPr>
        <p:txBody>
          <a:bodyPr wrap="none" lIns="0" tIns="0" rIns="0" bIns="0" rtlCol="0" anchor="ctr"/>
          <a:lstStyle/>
          <a:p>
            <a:pPr algn="l" indent="0" marL="0">
              <a:buNone/>
            </a:pPr>
            <a:r>
              <a:rPr lang="ko-KR" altLang="en-US" sz="2500" spc="-75" kern="0" dirty="0">
                <a:solidFill>
                  <a:srgbClr val="2E3A1B"/>
                </a:solidFill>
                <a:latin typeface="Paperlogy 8 ExtraBold" pitchFamily="34" charset="0"/>
                <a:ea typeface="Paperlogy 8 ExtraBold" pitchFamily="34" charset="-122"/>
                <a:cs typeface="Paperlogy 8 ExtraBold" pitchFamily="34" charset="-120"/>
              </a:rPr>
              <a:t>탐색</a:t>
            </a:r>
            <a:endParaRPr lang="en-US" sz="2500" dirty="0"/>
          </a:p>
        </p:txBody>
      </p:sp>
      <p:sp>
        <p:nvSpPr>
          <p:cNvPr id="35" name="글상자 34"/>
          <p:cNvSpPr txBox="1"/>
          <p:nvPr/>
        </p:nvSpPr>
        <p:spPr>
          <a:xfrm>
            <a:off x="2658435" y="3209453"/>
            <a:ext cx="565191" cy="152430"/>
          </a:xfrm>
          <a:prstGeom prst="rect">
            <a:avLst/>
          </a:prstGeom>
          <a:noFill/>
          <a:ln/>
        </p:spPr>
        <p:txBody>
          <a:bodyPr wrap="none" lIns="0" tIns="0" rIns="0" bIns="0" rtlCol="0" anchor="ctr"/>
          <a:lstStyle/>
          <a:p>
            <a:pPr algn="l" indent="0" marL="0">
              <a:buNone/>
            </a:pPr>
            <a:r>
              <a:rPr lang="ko-KR" altLang="en-US" sz="800" spc="96" kern="0" dirty="0">
                <a:solidFill>
                  <a:srgbClr val="646D40"/>
                </a:solidFill>
                <a:latin typeface="Paperlogy 8 ExtraBold" pitchFamily="34" charset="0"/>
                <a:ea typeface="Paperlogy 8 ExtraBold" pitchFamily="34" charset="-122"/>
                <a:cs typeface="Paperlogy 8 ExtraBold" pitchFamily="34" charset="-120"/>
              </a:rPr>
              <a:t>고객 행동</a:t>
            </a:r>
            <a:endParaRPr lang="en-US" sz="800" dirty="0"/>
          </a:p>
        </p:txBody>
      </p:sp>
      <p:sp>
        <p:nvSpPr>
          <p:cNvPr id="36" name="글상자 35"/>
          <p:cNvSpPr txBox="1"/>
          <p:nvPr/>
        </p:nvSpPr>
        <p:spPr>
          <a:xfrm>
            <a:off x="2658435" y="3423879"/>
            <a:ext cx="1151687" cy="231435"/>
          </a:xfrm>
          <a:prstGeom prst="rect">
            <a:avLst/>
          </a:prstGeom>
          <a:noFill/>
          <a:ln/>
        </p:spPr>
        <p:txBody>
          <a:bodyPr wrap="none" lIns="0" tIns="0" rIns="0" bIns="0" rtlCol="0" anchor="ctr"/>
          <a:lstStyle/>
          <a:p>
            <a:pPr algn="l" indent="0" marL="0">
              <a:buNone/>
            </a:pPr>
            <a:r>
              <a:rPr lang="ko-KR" altLang="en-US" sz="1350" spc="-14" kern="0" dirty="0">
                <a:solidFill>
                  <a:srgbClr val="2E3A1B"/>
                </a:solidFill>
                <a:latin typeface="Paperlogy 7 Bold" pitchFamily="34" charset="0"/>
                <a:ea typeface="Paperlogy 7 Bold" pitchFamily="34" charset="-122"/>
                <a:cs typeface="Paperlogy 7 Bold" pitchFamily="34" charset="-120"/>
              </a:rPr>
              <a:t>가격·일정 확인</a:t>
            </a:r>
            <a:endParaRPr lang="en-US" sz="1350" dirty="0"/>
          </a:p>
        </p:txBody>
      </p:sp>
      <p:sp>
        <p:nvSpPr>
          <p:cNvPr id="37" name="글상자 36"/>
          <p:cNvSpPr txBox="1"/>
          <p:nvPr/>
        </p:nvSpPr>
        <p:spPr>
          <a:xfrm>
            <a:off x="2658435" y="3878976"/>
            <a:ext cx="674919" cy="152430"/>
          </a:xfrm>
          <a:prstGeom prst="rect">
            <a:avLst/>
          </a:prstGeom>
          <a:noFill/>
          <a:ln/>
        </p:spPr>
        <p:txBody>
          <a:bodyPr wrap="none" lIns="0" tIns="0" rIns="0" bIns="0" rtlCol="0" anchor="ctr"/>
          <a:lstStyle/>
          <a:p>
            <a:pPr algn="l" indent="0" marL="0">
              <a:buNone/>
            </a:pPr>
            <a:r>
              <a:rPr lang="ko-KR" altLang="en-US" sz="800" spc="96" kern="0" dirty="0">
                <a:solidFill>
                  <a:srgbClr val="646D40"/>
                </a:solidFill>
                <a:latin typeface="Paperlogy 8 ExtraBold" pitchFamily="34" charset="0"/>
                <a:ea typeface="Paperlogy 8 ExtraBold" pitchFamily="34" charset="-122"/>
                <a:cs typeface="Paperlogy 8 ExtraBold" pitchFamily="34" charset="-120"/>
              </a:rPr>
              <a:t>확인할 사항</a:t>
            </a:r>
            <a:endParaRPr lang="en-US" sz="800" dirty="0"/>
          </a:p>
        </p:txBody>
      </p:sp>
      <p:sp>
        <p:nvSpPr>
          <p:cNvPr id="38" name="글상자 37"/>
          <p:cNvSpPr txBox="1"/>
          <p:nvPr/>
        </p:nvSpPr>
        <p:spPr>
          <a:xfrm>
            <a:off x="2658435" y="4073743"/>
            <a:ext cx="943021" cy="438180"/>
          </a:xfrm>
          <a:prstGeom prst="rect">
            <a:avLst/>
          </a:prstGeom>
          <a:noFill/>
          <a:ln/>
        </p:spPr>
        <p:txBody>
          <a:bodyPr wrap="none" lIns="0" tIns="0" rIns="0" bIns="0" rtlCol="0" anchor="ctr"/>
          <a:lstStyle/>
          <a:p>
            <a:pPr algn="l" indent="0" marL="0">
              <a:lnSpc>
                <a:spcPts val="1725"/>
              </a:lnSpc>
              <a:buNone/>
            </a:pPr>
            <a:r>
              <a:rPr lang="ko-KR" altLang="en-US" sz="1150" spc="-14" kern="0" dirty="0">
                <a:solidFill>
                  <a:srgbClr val="45512A"/>
                </a:solidFill>
                <a:latin typeface="Paperlogy 4 Regular" pitchFamily="34" charset="0"/>
                <a:ea typeface="Paperlogy 4 Regular" pitchFamily="34" charset="-122"/>
                <a:cs typeface="Paperlogy 4 Regular" pitchFamily="34" charset="-120"/>
              </a:rPr>
              <a:t>필요한 정보가</a:t>
            </a:r>
            <a:endParaRPr lang="en-US" sz="1150" dirty="0"/>
          </a:p>
          <a:p>
            <a:pPr algn="l" indent="0" marL="0">
              <a:lnSpc>
                <a:spcPts val="1725"/>
              </a:lnSpc>
              <a:buNone/>
            </a:pPr>
            <a:r>
              <a:rPr lang="ko-KR" altLang="en-US" sz="1150" spc="-14" kern="0" dirty="0">
                <a:solidFill>
                  <a:srgbClr val="45512A"/>
                </a:solidFill>
                <a:latin typeface="Paperlogy 4 Regular" pitchFamily="34" charset="0"/>
                <a:ea typeface="Paperlogy 4 Regular" pitchFamily="34" charset="-122"/>
                <a:cs typeface="Paperlogy 4 Regular" pitchFamily="34" charset="-120"/>
              </a:rPr>
              <a:t>충분한가?</a:t>
            </a:r>
            <a:endParaRPr lang="en-US" sz="1150" dirty="0"/>
          </a:p>
        </p:txBody>
      </p:sp>
      <p:sp>
        <p:nvSpPr>
          <p:cNvPr id="39" name="글상자 38"/>
          <p:cNvSpPr txBox="1"/>
          <p:nvPr/>
        </p:nvSpPr>
        <p:spPr>
          <a:xfrm>
            <a:off x="4472513" y="2496678"/>
            <a:ext cx="293980" cy="180960"/>
          </a:xfrm>
          <a:prstGeom prst="rect">
            <a:avLst/>
          </a:prstGeom>
          <a:noFill/>
          <a:ln/>
        </p:spPr>
        <p:txBody>
          <a:bodyPr wrap="none" lIns="0" tIns="0" rIns="0" bIns="0" rtlCol="0" anchor="ctr"/>
          <a:lstStyle/>
          <a:p>
            <a:pPr algn="l" indent="0" marL="0">
              <a:buNone/>
            </a:pPr>
            <a:r>
              <a:rPr lang="ko-KR" altLang="en-US" sz="950" spc="114" kern="0" dirty="0">
                <a:solidFill>
                  <a:srgbClr val="737F4A"/>
                </a:solidFill>
                <a:latin typeface="Paperlogy 8 ExtraBold" pitchFamily="34" charset="0"/>
                <a:ea typeface="Paperlogy 8 ExtraBold" pitchFamily="34" charset="-122"/>
                <a:cs typeface="Paperlogy 8 ExtraBold" pitchFamily="34" charset="-120"/>
              </a:rPr>
              <a:t>03</a:t>
            </a:r>
            <a:endParaRPr lang="en-US" sz="950" dirty="0"/>
          </a:p>
        </p:txBody>
      </p:sp>
      <p:sp>
        <p:nvSpPr>
          <p:cNvPr id="40" name="글상자 39"/>
          <p:cNvSpPr txBox="1"/>
          <p:nvPr/>
        </p:nvSpPr>
        <p:spPr>
          <a:xfrm>
            <a:off x="4472513" y="2720523"/>
            <a:ext cx="671901" cy="412760"/>
          </a:xfrm>
          <a:prstGeom prst="rect">
            <a:avLst/>
          </a:prstGeom>
          <a:noFill/>
          <a:ln/>
        </p:spPr>
        <p:txBody>
          <a:bodyPr wrap="none" lIns="0" tIns="0" rIns="0" bIns="0" rtlCol="0" anchor="ctr"/>
          <a:lstStyle/>
          <a:p>
            <a:pPr algn="l" indent="0" marL="0">
              <a:buNone/>
            </a:pPr>
            <a:r>
              <a:rPr lang="ko-KR" altLang="en-US" sz="2500" spc="-75" kern="0" dirty="0">
                <a:solidFill>
                  <a:srgbClr val="2E3A1B"/>
                </a:solidFill>
                <a:latin typeface="Paperlogy 8 ExtraBold" pitchFamily="34" charset="0"/>
                <a:ea typeface="Paperlogy 8 ExtraBold" pitchFamily="34" charset="-122"/>
                <a:cs typeface="Paperlogy 8 ExtraBold" pitchFamily="34" charset="-120"/>
              </a:rPr>
              <a:t>예약</a:t>
            </a:r>
            <a:endParaRPr lang="en-US" sz="2500" dirty="0"/>
          </a:p>
        </p:txBody>
      </p:sp>
      <p:sp>
        <p:nvSpPr>
          <p:cNvPr id="41" name="글상자 40"/>
          <p:cNvSpPr txBox="1"/>
          <p:nvPr/>
        </p:nvSpPr>
        <p:spPr>
          <a:xfrm>
            <a:off x="4472513" y="3209453"/>
            <a:ext cx="565191" cy="152430"/>
          </a:xfrm>
          <a:prstGeom prst="rect">
            <a:avLst/>
          </a:prstGeom>
          <a:noFill/>
          <a:ln/>
        </p:spPr>
        <p:txBody>
          <a:bodyPr wrap="none" lIns="0" tIns="0" rIns="0" bIns="0" rtlCol="0" anchor="ctr"/>
          <a:lstStyle/>
          <a:p>
            <a:pPr algn="l" indent="0" marL="0">
              <a:buNone/>
            </a:pPr>
            <a:r>
              <a:rPr lang="ko-KR" altLang="en-US" sz="800" spc="96" kern="0" dirty="0">
                <a:solidFill>
                  <a:srgbClr val="646D40"/>
                </a:solidFill>
                <a:latin typeface="Paperlogy 8 ExtraBold" pitchFamily="34" charset="0"/>
                <a:ea typeface="Paperlogy 8 ExtraBold" pitchFamily="34" charset="-122"/>
                <a:cs typeface="Paperlogy 8 ExtraBold" pitchFamily="34" charset="-120"/>
              </a:rPr>
              <a:t>고객 행동</a:t>
            </a:r>
            <a:endParaRPr lang="en-US" sz="800" dirty="0"/>
          </a:p>
        </p:txBody>
      </p:sp>
      <p:sp>
        <p:nvSpPr>
          <p:cNvPr id="42" name="글상자 41"/>
          <p:cNvSpPr txBox="1"/>
          <p:nvPr/>
        </p:nvSpPr>
        <p:spPr>
          <a:xfrm>
            <a:off x="4472513" y="3423879"/>
            <a:ext cx="1151687" cy="231435"/>
          </a:xfrm>
          <a:prstGeom prst="rect">
            <a:avLst/>
          </a:prstGeom>
          <a:noFill/>
          <a:ln/>
        </p:spPr>
        <p:txBody>
          <a:bodyPr wrap="none" lIns="0" tIns="0" rIns="0" bIns="0" rtlCol="0" anchor="ctr"/>
          <a:lstStyle/>
          <a:p>
            <a:pPr algn="l" indent="0" marL="0">
              <a:buNone/>
            </a:pPr>
            <a:r>
              <a:rPr lang="ko-KR" altLang="en-US" sz="1350" spc="-14" kern="0" dirty="0">
                <a:solidFill>
                  <a:srgbClr val="2E3A1B"/>
                </a:solidFill>
                <a:latin typeface="Paperlogy 7 Bold" pitchFamily="34" charset="0"/>
                <a:ea typeface="Paperlogy 7 Bold" pitchFamily="34" charset="-122"/>
                <a:cs typeface="Paperlogy 7 Bold" pitchFamily="34" charset="-120"/>
              </a:rPr>
              <a:t>날짜·옵션 선택</a:t>
            </a:r>
            <a:endParaRPr lang="en-US" sz="1350" dirty="0"/>
          </a:p>
        </p:txBody>
      </p:sp>
      <p:sp>
        <p:nvSpPr>
          <p:cNvPr id="43" name="글상자 42"/>
          <p:cNvSpPr txBox="1"/>
          <p:nvPr/>
        </p:nvSpPr>
        <p:spPr>
          <a:xfrm>
            <a:off x="4472513" y="3878976"/>
            <a:ext cx="674919" cy="152430"/>
          </a:xfrm>
          <a:prstGeom prst="rect">
            <a:avLst/>
          </a:prstGeom>
          <a:noFill/>
          <a:ln/>
        </p:spPr>
        <p:txBody>
          <a:bodyPr wrap="none" lIns="0" tIns="0" rIns="0" bIns="0" rtlCol="0" anchor="ctr"/>
          <a:lstStyle/>
          <a:p>
            <a:pPr algn="l" indent="0" marL="0">
              <a:buNone/>
            </a:pPr>
            <a:r>
              <a:rPr lang="ko-KR" altLang="en-US" sz="800" spc="96" kern="0" dirty="0">
                <a:solidFill>
                  <a:srgbClr val="646D40"/>
                </a:solidFill>
                <a:latin typeface="Paperlogy 8 ExtraBold" pitchFamily="34" charset="0"/>
                <a:ea typeface="Paperlogy 8 ExtraBold" pitchFamily="34" charset="-122"/>
                <a:cs typeface="Paperlogy 8 ExtraBold" pitchFamily="34" charset="-120"/>
              </a:rPr>
              <a:t>확인할 사항</a:t>
            </a:r>
            <a:endParaRPr lang="en-US" sz="800" dirty="0"/>
          </a:p>
        </p:txBody>
      </p:sp>
      <p:sp>
        <p:nvSpPr>
          <p:cNvPr id="44" name="글상자 43"/>
          <p:cNvSpPr txBox="1"/>
          <p:nvPr/>
        </p:nvSpPr>
        <p:spPr>
          <a:xfrm>
            <a:off x="4472513" y="4073743"/>
            <a:ext cx="1122517" cy="438180"/>
          </a:xfrm>
          <a:prstGeom prst="rect">
            <a:avLst/>
          </a:prstGeom>
          <a:noFill/>
          <a:ln/>
        </p:spPr>
        <p:txBody>
          <a:bodyPr wrap="none" lIns="0" tIns="0" rIns="0" bIns="0" rtlCol="0" anchor="ctr"/>
          <a:lstStyle/>
          <a:p>
            <a:pPr algn="l" indent="0" marL="0">
              <a:lnSpc>
                <a:spcPts val="1725"/>
              </a:lnSpc>
              <a:buNone/>
            </a:pPr>
            <a:r>
              <a:rPr lang="ko-KR" altLang="en-US" sz="1150" spc="-14" kern="0" dirty="0">
                <a:solidFill>
                  <a:srgbClr val="45512A"/>
                </a:solidFill>
                <a:latin typeface="Paperlogy 4 Regular" pitchFamily="34" charset="0"/>
                <a:ea typeface="Paperlogy 4 Regular" pitchFamily="34" charset="-122"/>
                <a:cs typeface="Paperlogy 4 Regular" pitchFamily="34" charset="-120"/>
              </a:rPr>
              <a:t>예약·취소 절차가</a:t>
            </a:r>
            <a:endParaRPr lang="en-US" sz="1150" dirty="0"/>
          </a:p>
          <a:p>
            <a:pPr algn="l" indent="0" marL="0">
              <a:lnSpc>
                <a:spcPts val="1725"/>
              </a:lnSpc>
              <a:buNone/>
            </a:pPr>
            <a:r>
              <a:rPr lang="ko-KR" altLang="en-US" sz="1150" spc="-14" kern="0" dirty="0">
                <a:solidFill>
                  <a:srgbClr val="45512A"/>
                </a:solidFill>
                <a:latin typeface="Paperlogy 4 Regular" pitchFamily="34" charset="0"/>
                <a:ea typeface="Paperlogy 4 Regular" pitchFamily="34" charset="-122"/>
                <a:cs typeface="Paperlogy 4 Regular" pitchFamily="34" charset="-120"/>
              </a:rPr>
              <a:t>분명한가?</a:t>
            </a:r>
            <a:endParaRPr lang="en-US" sz="1150" dirty="0"/>
          </a:p>
        </p:txBody>
      </p:sp>
      <p:sp>
        <p:nvSpPr>
          <p:cNvPr id="45" name="글상자 44"/>
          <p:cNvSpPr txBox="1"/>
          <p:nvPr/>
        </p:nvSpPr>
        <p:spPr>
          <a:xfrm>
            <a:off x="7205198" y="2507468"/>
            <a:ext cx="548274" cy="140360"/>
          </a:xfrm>
          <a:prstGeom prst="rect">
            <a:avLst/>
          </a:prstGeom>
          <a:noFill/>
          <a:ln/>
        </p:spPr>
        <p:txBody>
          <a:bodyPr wrap="none" lIns="0" tIns="0" rIns="0" bIns="0" rtlCol="0" anchor="ctr"/>
          <a:lstStyle/>
          <a:p>
            <a:pPr algn="l" indent="0" marL="0">
              <a:buNone/>
            </a:pPr>
            <a:r>
              <a:rPr lang="ko-KR" altLang="en-US" sz="850" spc="34" kern="0" dirty="0">
                <a:solidFill>
                  <a:srgbClr val="2E3A1B"/>
                </a:solidFill>
                <a:latin typeface="Paperlogy 7 Bold" pitchFamily="34" charset="0"/>
                <a:ea typeface="Paperlogy 7 Bold" pitchFamily="34" charset="-122"/>
                <a:cs typeface="Paperlogy 7 Bold" pitchFamily="34" charset="-120"/>
              </a:rPr>
              <a:t>상품 핵심</a:t>
            </a:r>
            <a:endParaRPr lang="en-US" sz="850" dirty="0"/>
          </a:p>
        </p:txBody>
      </p:sp>
      <p:sp>
        <p:nvSpPr>
          <p:cNvPr id="46" name="글상자 45"/>
          <p:cNvSpPr txBox="1"/>
          <p:nvPr/>
        </p:nvSpPr>
        <p:spPr>
          <a:xfrm>
            <a:off x="6286409" y="2496678"/>
            <a:ext cx="293980" cy="180960"/>
          </a:xfrm>
          <a:prstGeom prst="rect">
            <a:avLst/>
          </a:prstGeom>
          <a:noFill/>
          <a:ln/>
        </p:spPr>
        <p:txBody>
          <a:bodyPr wrap="none" lIns="0" tIns="0" rIns="0" bIns="0" rtlCol="0" anchor="ctr"/>
          <a:lstStyle/>
          <a:p>
            <a:pPr algn="l" indent="0" marL="0">
              <a:buNone/>
            </a:pPr>
            <a:r>
              <a:rPr lang="ko-KR" altLang="en-US" sz="950" spc="114" kern="0" dirty="0">
                <a:solidFill>
                  <a:srgbClr val="737F4A"/>
                </a:solidFill>
                <a:latin typeface="Paperlogy 8 ExtraBold" pitchFamily="34" charset="0"/>
                <a:ea typeface="Paperlogy 8 ExtraBold" pitchFamily="34" charset="-122"/>
                <a:cs typeface="Paperlogy 8 ExtraBold" pitchFamily="34" charset="-120"/>
              </a:rPr>
              <a:t>04</a:t>
            </a:r>
            <a:endParaRPr lang="en-US" sz="950" dirty="0"/>
          </a:p>
        </p:txBody>
      </p:sp>
      <p:sp>
        <p:nvSpPr>
          <p:cNvPr id="47" name="글상자 46"/>
          <p:cNvSpPr txBox="1"/>
          <p:nvPr/>
        </p:nvSpPr>
        <p:spPr>
          <a:xfrm>
            <a:off x="6286409" y="2720523"/>
            <a:ext cx="671901" cy="412760"/>
          </a:xfrm>
          <a:prstGeom prst="rect">
            <a:avLst/>
          </a:prstGeom>
          <a:noFill/>
          <a:ln/>
        </p:spPr>
        <p:txBody>
          <a:bodyPr wrap="none" lIns="0" tIns="0" rIns="0" bIns="0" rtlCol="0" anchor="ctr"/>
          <a:lstStyle/>
          <a:p>
            <a:pPr algn="l" indent="0" marL="0">
              <a:buNone/>
            </a:pPr>
            <a:r>
              <a:rPr lang="ko-KR" altLang="en-US" sz="2500" spc="-75" kern="0" dirty="0">
                <a:solidFill>
                  <a:srgbClr val="2E3A1B"/>
                </a:solidFill>
                <a:latin typeface="Paperlogy 8 ExtraBold" pitchFamily="34" charset="0"/>
                <a:ea typeface="Paperlogy 8 ExtraBold" pitchFamily="34" charset="-122"/>
                <a:cs typeface="Paperlogy 8 ExtraBold" pitchFamily="34" charset="-120"/>
              </a:rPr>
              <a:t>체험</a:t>
            </a:r>
            <a:endParaRPr lang="en-US" sz="2500" dirty="0"/>
          </a:p>
        </p:txBody>
      </p:sp>
      <p:sp>
        <p:nvSpPr>
          <p:cNvPr id="48" name="글상자 47"/>
          <p:cNvSpPr txBox="1"/>
          <p:nvPr/>
        </p:nvSpPr>
        <p:spPr>
          <a:xfrm>
            <a:off x="6286409" y="3209453"/>
            <a:ext cx="565191" cy="152430"/>
          </a:xfrm>
          <a:prstGeom prst="rect">
            <a:avLst/>
          </a:prstGeom>
          <a:noFill/>
          <a:ln/>
        </p:spPr>
        <p:txBody>
          <a:bodyPr wrap="none" lIns="0" tIns="0" rIns="0" bIns="0" rtlCol="0" anchor="ctr"/>
          <a:lstStyle/>
          <a:p>
            <a:pPr algn="l" indent="0" marL="0">
              <a:buNone/>
            </a:pPr>
            <a:r>
              <a:rPr lang="ko-KR" altLang="en-US" sz="800" spc="96" kern="0" dirty="0">
                <a:solidFill>
                  <a:srgbClr val="646D40"/>
                </a:solidFill>
                <a:latin typeface="Paperlogy 8 ExtraBold" pitchFamily="34" charset="0"/>
                <a:ea typeface="Paperlogy 8 ExtraBold" pitchFamily="34" charset="-122"/>
                <a:cs typeface="Paperlogy 8 ExtraBold" pitchFamily="34" charset="-120"/>
              </a:rPr>
              <a:t>고객 행동</a:t>
            </a:r>
            <a:endParaRPr lang="en-US" sz="800" dirty="0"/>
          </a:p>
        </p:txBody>
      </p:sp>
      <p:sp>
        <p:nvSpPr>
          <p:cNvPr id="49" name="글상자 48"/>
          <p:cNvSpPr txBox="1"/>
          <p:nvPr/>
        </p:nvSpPr>
        <p:spPr>
          <a:xfrm>
            <a:off x="6286409" y="3423879"/>
            <a:ext cx="1170615" cy="231435"/>
          </a:xfrm>
          <a:prstGeom prst="rect">
            <a:avLst/>
          </a:prstGeom>
          <a:noFill/>
          <a:ln/>
        </p:spPr>
        <p:txBody>
          <a:bodyPr wrap="none" lIns="0" tIns="0" rIns="0" bIns="0" rtlCol="0" anchor="ctr"/>
          <a:lstStyle/>
          <a:p>
            <a:pPr algn="l" indent="0" marL="0">
              <a:buNone/>
            </a:pPr>
            <a:r>
              <a:rPr lang="ko-KR" altLang="en-US" sz="1350" spc="-14" kern="0" dirty="0">
                <a:solidFill>
                  <a:srgbClr val="2E3A1B"/>
                </a:solidFill>
                <a:latin typeface="Paperlogy 7 Bold" pitchFamily="34" charset="0"/>
                <a:ea typeface="Paperlogy 7 Bold" pitchFamily="34" charset="-122"/>
                <a:cs typeface="Paperlogy 7 Bold" pitchFamily="34" charset="-120"/>
              </a:rPr>
              <a:t>산책·카페·휴식</a:t>
            </a:r>
            <a:endParaRPr lang="en-US" sz="1350" dirty="0"/>
          </a:p>
        </p:txBody>
      </p:sp>
      <p:sp>
        <p:nvSpPr>
          <p:cNvPr id="50" name="글상자 49"/>
          <p:cNvSpPr txBox="1"/>
          <p:nvPr/>
        </p:nvSpPr>
        <p:spPr>
          <a:xfrm>
            <a:off x="6286409" y="3878976"/>
            <a:ext cx="674919" cy="152430"/>
          </a:xfrm>
          <a:prstGeom prst="rect">
            <a:avLst/>
          </a:prstGeom>
          <a:noFill/>
          <a:ln/>
        </p:spPr>
        <p:txBody>
          <a:bodyPr wrap="none" lIns="0" tIns="0" rIns="0" bIns="0" rtlCol="0" anchor="ctr"/>
          <a:lstStyle/>
          <a:p>
            <a:pPr algn="l" indent="0" marL="0">
              <a:buNone/>
            </a:pPr>
            <a:r>
              <a:rPr lang="ko-KR" altLang="en-US" sz="800" spc="96" kern="0" dirty="0">
                <a:solidFill>
                  <a:srgbClr val="646D40"/>
                </a:solidFill>
                <a:latin typeface="Paperlogy 8 ExtraBold" pitchFamily="34" charset="0"/>
                <a:ea typeface="Paperlogy 8 ExtraBold" pitchFamily="34" charset="-122"/>
                <a:cs typeface="Paperlogy 8 ExtraBold" pitchFamily="34" charset="-120"/>
              </a:rPr>
              <a:t>확인할 사항</a:t>
            </a:r>
            <a:endParaRPr lang="en-US" sz="800" dirty="0"/>
          </a:p>
        </p:txBody>
      </p:sp>
      <p:sp>
        <p:nvSpPr>
          <p:cNvPr id="51" name="글상자 50"/>
          <p:cNvSpPr txBox="1"/>
          <p:nvPr/>
        </p:nvSpPr>
        <p:spPr>
          <a:xfrm>
            <a:off x="6286409" y="4073743"/>
            <a:ext cx="1249619" cy="438180"/>
          </a:xfrm>
          <a:prstGeom prst="rect">
            <a:avLst/>
          </a:prstGeom>
          <a:noFill/>
          <a:ln/>
        </p:spPr>
        <p:txBody>
          <a:bodyPr wrap="none" lIns="0" tIns="0" rIns="0" bIns="0" rtlCol="0" anchor="ctr"/>
          <a:lstStyle/>
          <a:p>
            <a:pPr algn="l" indent="0" marL="0">
              <a:lnSpc>
                <a:spcPts val="1725"/>
              </a:lnSpc>
              <a:buNone/>
            </a:pPr>
            <a:r>
              <a:rPr lang="ko-KR" altLang="en-US" sz="1150" spc="-14" kern="0" dirty="0">
                <a:solidFill>
                  <a:srgbClr val="45512A"/>
                </a:solidFill>
                <a:latin typeface="Paperlogy 4 Regular" pitchFamily="34" charset="0"/>
                <a:ea typeface="Paperlogy 4 Regular" pitchFamily="34" charset="-122"/>
                <a:cs typeface="Paperlogy 4 Regular" pitchFamily="34" charset="-120"/>
              </a:rPr>
              <a:t>안내와 실제 경험이</a:t>
            </a:r>
            <a:endParaRPr lang="en-US" sz="1150" dirty="0"/>
          </a:p>
          <a:p>
            <a:pPr algn="l" indent="0" marL="0">
              <a:lnSpc>
                <a:spcPts val="1725"/>
              </a:lnSpc>
              <a:buNone/>
            </a:pPr>
            <a:r>
              <a:rPr lang="ko-KR" altLang="en-US" sz="1150" spc="-14" kern="0" dirty="0">
                <a:solidFill>
                  <a:srgbClr val="45512A"/>
                </a:solidFill>
                <a:latin typeface="Paperlogy 4 Regular" pitchFamily="34" charset="0"/>
                <a:ea typeface="Paperlogy 4 Regular" pitchFamily="34" charset="-122"/>
                <a:cs typeface="Paperlogy 4 Regular" pitchFamily="34" charset="-120"/>
              </a:rPr>
              <a:t>일치하는가?</a:t>
            </a:r>
            <a:endParaRPr lang="en-US" sz="1150" dirty="0"/>
          </a:p>
        </p:txBody>
      </p:sp>
      <p:sp>
        <p:nvSpPr>
          <p:cNvPr id="52" name="글상자 51"/>
          <p:cNvSpPr txBox="1"/>
          <p:nvPr/>
        </p:nvSpPr>
        <p:spPr>
          <a:xfrm>
            <a:off x="8100395" y="2496678"/>
            <a:ext cx="293980" cy="180960"/>
          </a:xfrm>
          <a:prstGeom prst="rect">
            <a:avLst/>
          </a:prstGeom>
          <a:noFill/>
          <a:ln/>
        </p:spPr>
        <p:txBody>
          <a:bodyPr wrap="none" lIns="0" tIns="0" rIns="0" bIns="0" rtlCol="0" anchor="ctr"/>
          <a:lstStyle/>
          <a:p>
            <a:pPr algn="l" indent="0" marL="0">
              <a:buNone/>
            </a:pPr>
            <a:r>
              <a:rPr lang="ko-KR" altLang="en-US" sz="950" spc="114" kern="0" dirty="0">
                <a:solidFill>
                  <a:srgbClr val="737F4A"/>
                </a:solidFill>
                <a:latin typeface="Paperlogy 8 ExtraBold" pitchFamily="34" charset="0"/>
                <a:ea typeface="Paperlogy 8 ExtraBold" pitchFamily="34" charset="-122"/>
                <a:cs typeface="Paperlogy 8 ExtraBold" pitchFamily="34" charset="-120"/>
              </a:rPr>
              <a:t>05</a:t>
            </a:r>
            <a:endParaRPr lang="en-US" sz="950" dirty="0"/>
          </a:p>
        </p:txBody>
      </p:sp>
      <p:sp>
        <p:nvSpPr>
          <p:cNvPr id="53" name="글상자 52"/>
          <p:cNvSpPr txBox="1"/>
          <p:nvPr/>
        </p:nvSpPr>
        <p:spPr>
          <a:xfrm>
            <a:off x="8100395" y="2720523"/>
            <a:ext cx="671901" cy="412760"/>
          </a:xfrm>
          <a:prstGeom prst="rect">
            <a:avLst/>
          </a:prstGeom>
          <a:noFill/>
          <a:ln/>
        </p:spPr>
        <p:txBody>
          <a:bodyPr wrap="none" lIns="0" tIns="0" rIns="0" bIns="0" rtlCol="0" anchor="ctr"/>
          <a:lstStyle/>
          <a:p>
            <a:pPr algn="l" indent="0" marL="0">
              <a:buNone/>
            </a:pPr>
            <a:r>
              <a:rPr lang="ko-KR" altLang="en-US" sz="2500" spc="-75" kern="0" dirty="0">
                <a:solidFill>
                  <a:srgbClr val="2E3A1B"/>
                </a:solidFill>
                <a:latin typeface="Paperlogy 8 ExtraBold" pitchFamily="34" charset="0"/>
                <a:ea typeface="Paperlogy 8 ExtraBold" pitchFamily="34" charset="-122"/>
                <a:cs typeface="Paperlogy 8 ExtraBold" pitchFamily="34" charset="-120"/>
              </a:rPr>
              <a:t>만족</a:t>
            </a:r>
            <a:endParaRPr lang="en-US" sz="2500" dirty="0"/>
          </a:p>
        </p:txBody>
      </p:sp>
      <p:sp>
        <p:nvSpPr>
          <p:cNvPr id="54" name="글상자 53"/>
          <p:cNvSpPr txBox="1"/>
          <p:nvPr/>
        </p:nvSpPr>
        <p:spPr>
          <a:xfrm>
            <a:off x="8100395" y="3209453"/>
            <a:ext cx="565191" cy="152430"/>
          </a:xfrm>
          <a:prstGeom prst="rect">
            <a:avLst/>
          </a:prstGeom>
          <a:noFill/>
          <a:ln/>
        </p:spPr>
        <p:txBody>
          <a:bodyPr wrap="none" lIns="0" tIns="0" rIns="0" bIns="0" rtlCol="0" anchor="ctr"/>
          <a:lstStyle/>
          <a:p>
            <a:pPr algn="l" indent="0" marL="0">
              <a:buNone/>
            </a:pPr>
            <a:r>
              <a:rPr lang="ko-KR" altLang="en-US" sz="800" spc="96" kern="0" dirty="0">
                <a:solidFill>
                  <a:srgbClr val="646D40"/>
                </a:solidFill>
                <a:latin typeface="Paperlogy 8 ExtraBold" pitchFamily="34" charset="0"/>
                <a:ea typeface="Paperlogy 8 ExtraBold" pitchFamily="34" charset="-122"/>
                <a:cs typeface="Paperlogy 8 ExtraBold" pitchFamily="34" charset="-120"/>
              </a:rPr>
              <a:t>고객 행동</a:t>
            </a:r>
            <a:endParaRPr lang="en-US" sz="800" dirty="0"/>
          </a:p>
        </p:txBody>
      </p:sp>
      <p:sp>
        <p:nvSpPr>
          <p:cNvPr id="55" name="글상자 54"/>
          <p:cNvSpPr txBox="1"/>
          <p:nvPr/>
        </p:nvSpPr>
        <p:spPr>
          <a:xfrm>
            <a:off x="8100395" y="3423879"/>
            <a:ext cx="932871" cy="231435"/>
          </a:xfrm>
          <a:prstGeom prst="rect">
            <a:avLst/>
          </a:prstGeom>
          <a:noFill/>
          <a:ln/>
        </p:spPr>
        <p:txBody>
          <a:bodyPr wrap="none" lIns="0" tIns="0" rIns="0" bIns="0" rtlCol="0" anchor="ctr"/>
          <a:lstStyle/>
          <a:p>
            <a:pPr algn="l" indent="0" marL="0">
              <a:buNone/>
            </a:pPr>
            <a:r>
              <a:rPr lang="ko-KR" altLang="en-US" sz="1350" spc="-14" kern="0" dirty="0">
                <a:solidFill>
                  <a:srgbClr val="2E3A1B"/>
                </a:solidFill>
                <a:latin typeface="Paperlogy 7 Bold" pitchFamily="34" charset="0"/>
                <a:ea typeface="Paperlogy 7 Bold" pitchFamily="34" charset="-122"/>
                <a:cs typeface="Paperlogy 7 Bold" pitchFamily="34" charset="-120"/>
              </a:rPr>
              <a:t>만족도 평가</a:t>
            </a:r>
            <a:endParaRPr lang="en-US" sz="1350" dirty="0"/>
          </a:p>
        </p:txBody>
      </p:sp>
      <p:sp>
        <p:nvSpPr>
          <p:cNvPr id="56" name="글상자 55"/>
          <p:cNvSpPr txBox="1"/>
          <p:nvPr/>
        </p:nvSpPr>
        <p:spPr>
          <a:xfrm>
            <a:off x="8100395" y="3878976"/>
            <a:ext cx="674919" cy="152430"/>
          </a:xfrm>
          <a:prstGeom prst="rect">
            <a:avLst/>
          </a:prstGeom>
          <a:noFill/>
          <a:ln/>
        </p:spPr>
        <p:txBody>
          <a:bodyPr wrap="none" lIns="0" tIns="0" rIns="0" bIns="0" rtlCol="0" anchor="ctr"/>
          <a:lstStyle/>
          <a:p>
            <a:pPr algn="l" indent="0" marL="0">
              <a:buNone/>
            </a:pPr>
            <a:r>
              <a:rPr lang="ko-KR" altLang="en-US" sz="800" spc="96" kern="0" dirty="0">
                <a:solidFill>
                  <a:srgbClr val="646D40"/>
                </a:solidFill>
                <a:latin typeface="Paperlogy 8 ExtraBold" pitchFamily="34" charset="0"/>
                <a:ea typeface="Paperlogy 8 ExtraBold" pitchFamily="34" charset="-122"/>
                <a:cs typeface="Paperlogy 8 ExtraBold" pitchFamily="34" charset="-120"/>
              </a:rPr>
              <a:t>확인할 사항</a:t>
            </a:r>
            <a:endParaRPr lang="en-US" sz="800" dirty="0"/>
          </a:p>
        </p:txBody>
      </p:sp>
      <p:sp>
        <p:nvSpPr>
          <p:cNvPr id="57" name="글상자 56"/>
          <p:cNvSpPr txBox="1"/>
          <p:nvPr/>
        </p:nvSpPr>
        <p:spPr>
          <a:xfrm>
            <a:off x="8100395" y="4073743"/>
            <a:ext cx="1079998" cy="438180"/>
          </a:xfrm>
          <a:prstGeom prst="rect">
            <a:avLst/>
          </a:prstGeom>
          <a:noFill/>
          <a:ln/>
        </p:spPr>
        <p:txBody>
          <a:bodyPr wrap="none" lIns="0" tIns="0" rIns="0" bIns="0" rtlCol="0" anchor="ctr"/>
          <a:lstStyle/>
          <a:p>
            <a:pPr algn="l" indent="0" marL="0">
              <a:lnSpc>
                <a:spcPts val="1725"/>
              </a:lnSpc>
              <a:buNone/>
            </a:pPr>
            <a:r>
              <a:rPr lang="ko-KR" altLang="en-US" sz="1150" spc="-14" kern="0" dirty="0">
                <a:solidFill>
                  <a:srgbClr val="45512A"/>
                </a:solidFill>
                <a:latin typeface="Paperlogy 4 Regular" pitchFamily="34" charset="0"/>
                <a:ea typeface="Paperlogy 4 Regular" pitchFamily="34" charset="-122"/>
                <a:cs typeface="Paperlogy 4 Regular" pitchFamily="34" charset="-120"/>
              </a:rPr>
              <a:t>불편을 수집하고</a:t>
            </a:r>
            <a:endParaRPr lang="en-US" sz="1150" dirty="0"/>
          </a:p>
          <a:p>
            <a:pPr algn="l" indent="0" marL="0">
              <a:lnSpc>
                <a:spcPts val="1725"/>
              </a:lnSpc>
              <a:buNone/>
            </a:pPr>
            <a:r>
              <a:rPr lang="ko-KR" altLang="en-US" sz="1150" spc="-14" kern="0" dirty="0">
                <a:solidFill>
                  <a:srgbClr val="45512A"/>
                </a:solidFill>
                <a:latin typeface="Paperlogy 4 Regular" pitchFamily="34" charset="0"/>
                <a:ea typeface="Paperlogy 4 Regular" pitchFamily="34" charset="-122"/>
                <a:cs typeface="Paperlogy 4 Regular" pitchFamily="34" charset="-120"/>
              </a:rPr>
              <a:t>대응하는가?</a:t>
            </a:r>
            <a:endParaRPr lang="en-US" sz="1150" dirty="0"/>
          </a:p>
        </p:txBody>
      </p:sp>
      <p:sp>
        <p:nvSpPr>
          <p:cNvPr id="58" name="글상자 57"/>
          <p:cNvSpPr txBox="1"/>
          <p:nvPr/>
        </p:nvSpPr>
        <p:spPr>
          <a:xfrm>
            <a:off x="9914473" y="2496678"/>
            <a:ext cx="293980" cy="180960"/>
          </a:xfrm>
          <a:prstGeom prst="rect">
            <a:avLst/>
          </a:prstGeom>
          <a:noFill/>
          <a:ln/>
        </p:spPr>
        <p:txBody>
          <a:bodyPr wrap="none" lIns="0" tIns="0" rIns="0" bIns="0" rtlCol="0" anchor="ctr"/>
          <a:lstStyle/>
          <a:p>
            <a:pPr algn="l" indent="0" marL="0">
              <a:buNone/>
            </a:pPr>
            <a:r>
              <a:rPr lang="ko-KR" altLang="en-US" sz="950" spc="114" kern="0" dirty="0">
                <a:solidFill>
                  <a:srgbClr val="737F4A"/>
                </a:solidFill>
                <a:latin typeface="Paperlogy 8 ExtraBold" pitchFamily="34" charset="0"/>
                <a:ea typeface="Paperlogy 8 ExtraBold" pitchFamily="34" charset="-122"/>
                <a:cs typeface="Paperlogy 8 ExtraBold" pitchFamily="34" charset="-120"/>
              </a:rPr>
              <a:t>06</a:t>
            </a:r>
            <a:endParaRPr lang="en-US" sz="950" dirty="0"/>
          </a:p>
        </p:txBody>
      </p:sp>
      <p:sp>
        <p:nvSpPr>
          <p:cNvPr id="59" name="글상자 58"/>
          <p:cNvSpPr txBox="1"/>
          <p:nvPr/>
        </p:nvSpPr>
        <p:spPr>
          <a:xfrm>
            <a:off x="9914473" y="2720523"/>
            <a:ext cx="671901" cy="412760"/>
          </a:xfrm>
          <a:prstGeom prst="rect">
            <a:avLst/>
          </a:prstGeom>
          <a:noFill/>
          <a:ln/>
        </p:spPr>
        <p:txBody>
          <a:bodyPr wrap="none" lIns="0" tIns="0" rIns="0" bIns="0" rtlCol="0" anchor="ctr"/>
          <a:lstStyle/>
          <a:p>
            <a:pPr algn="l" indent="0" marL="0">
              <a:buNone/>
            </a:pPr>
            <a:r>
              <a:rPr lang="ko-KR" altLang="en-US" sz="2500" spc="-75" kern="0" dirty="0">
                <a:solidFill>
                  <a:srgbClr val="2E3A1B"/>
                </a:solidFill>
                <a:latin typeface="Paperlogy 8 ExtraBold" pitchFamily="34" charset="0"/>
                <a:ea typeface="Paperlogy 8 ExtraBold" pitchFamily="34" charset="-122"/>
                <a:cs typeface="Paperlogy 8 ExtraBold" pitchFamily="34" charset="-120"/>
              </a:rPr>
              <a:t>공유</a:t>
            </a:r>
            <a:endParaRPr lang="en-US" sz="2500" dirty="0"/>
          </a:p>
        </p:txBody>
      </p:sp>
      <p:sp>
        <p:nvSpPr>
          <p:cNvPr id="60" name="글상자 59"/>
          <p:cNvSpPr txBox="1"/>
          <p:nvPr/>
        </p:nvSpPr>
        <p:spPr>
          <a:xfrm>
            <a:off x="9914473" y="3209453"/>
            <a:ext cx="565191" cy="152430"/>
          </a:xfrm>
          <a:prstGeom prst="rect">
            <a:avLst/>
          </a:prstGeom>
          <a:noFill/>
          <a:ln/>
        </p:spPr>
        <p:txBody>
          <a:bodyPr wrap="none" lIns="0" tIns="0" rIns="0" bIns="0" rtlCol="0" anchor="ctr"/>
          <a:lstStyle/>
          <a:p>
            <a:pPr algn="l" indent="0" marL="0">
              <a:buNone/>
            </a:pPr>
            <a:r>
              <a:rPr lang="ko-KR" altLang="en-US" sz="800" spc="96" kern="0" dirty="0">
                <a:solidFill>
                  <a:srgbClr val="646D40"/>
                </a:solidFill>
                <a:latin typeface="Paperlogy 8 ExtraBold" pitchFamily="34" charset="0"/>
                <a:ea typeface="Paperlogy 8 ExtraBold" pitchFamily="34" charset="-122"/>
                <a:cs typeface="Paperlogy 8 ExtraBold" pitchFamily="34" charset="-120"/>
              </a:rPr>
              <a:t>고객 행동</a:t>
            </a:r>
            <a:endParaRPr lang="en-US" sz="800" dirty="0"/>
          </a:p>
        </p:txBody>
      </p:sp>
      <p:sp>
        <p:nvSpPr>
          <p:cNvPr id="61" name="글상자 60"/>
          <p:cNvSpPr txBox="1"/>
          <p:nvPr/>
        </p:nvSpPr>
        <p:spPr>
          <a:xfrm>
            <a:off x="9914473" y="3423879"/>
            <a:ext cx="951799" cy="231435"/>
          </a:xfrm>
          <a:prstGeom prst="rect">
            <a:avLst/>
          </a:prstGeom>
          <a:noFill/>
          <a:ln/>
        </p:spPr>
        <p:txBody>
          <a:bodyPr wrap="none" lIns="0" tIns="0" rIns="0" bIns="0" rtlCol="0" anchor="ctr"/>
          <a:lstStyle/>
          <a:p>
            <a:pPr algn="l" indent="0" marL="0">
              <a:buNone/>
            </a:pPr>
            <a:r>
              <a:rPr lang="ko-KR" altLang="en-US" sz="1350" spc="-14" kern="0" dirty="0">
                <a:solidFill>
                  <a:srgbClr val="2E3A1B"/>
                </a:solidFill>
                <a:latin typeface="Paperlogy 7 Bold" pitchFamily="34" charset="0"/>
                <a:ea typeface="Paperlogy 7 Bold" pitchFamily="34" charset="-122"/>
                <a:cs typeface="Paperlogy 7 Bold" pitchFamily="34" charset="-120"/>
              </a:rPr>
              <a:t>후기·재방문</a:t>
            </a:r>
            <a:endParaRPr lang="en-US" sz="1350" dirty="0"/>
          </a:p>
        </p:txBody>
      </p:sp>
      <p:sp>
        <p:nvSpPr>
          <p:cNvPr id="62" name="글상자 61"/>
          <p:cNvSpPr txBox="1"/>
          <p:nvPr/>
        </p:nvSpPr>
        <p:spPr>
          <a:xfrm>
            <a:off x="9914473" y="3878976"/>
            <a:ext cx="674919" cy="152430"/>
          </a:xfrm>
          <a:prstGeom prst="rect">
            <a:avLst/>
          </a:prstGeom>
          <a:noFill/>
          <a:ln/>
        </p:spPr>
        <p:txBody>
          <a:bodyPr wrap="none" lIns="0" tIns="0" rIns="0" bIns="0" rtlCol="0" anchor="ctr"/>
          <a:lstStyle/>
          <a:p>
            <a:pPr algn="l" indent="0" marL="0">
              <a:buNone/>
            </a:pPr>
            <a:r>
              <a:rPr lang="ko-KR" altLang="en-US" sz="800" spc="96" kern="0" dirty="0">
                <a:solidFill>
                  <a:srgbClr val="646D40"/>
                </a:solidFill>
                <a:latin typeface="Paperlogy 8 ExtraBold" pitchFamily="34" charset="0"/>
                <a:ea typeface="Paperlogy 8 ExtraBold" pitchFamily="34" charset="-122"/>
                <a:cs typeface="Paperlogy 8 ExtraBold" pitchFamily="34" charset="-120"/>
              </a:rPr>
              <a:t>확인할 사항</a:t>
            </a:r>
            <a:endParaRPr lang="en-US" sz="800" dirty="0"/>
          </a:p>
        </p:txBody>
      </p:sp>
      <p:sp>
        <p:nvSpPr>
          <p:cNvPr id="63" name="글상자 62"/>
          <p:cNvSpPr txBox="1"/>
          <p:nvPr/>
        </p:nvSpPr>
        <p:spPr>
          <a:xfrm>
            <a:off x="9914473" y="4073743"/>
            <a:ext cx="1386413" cy="438180"/>
          </a:xfrm>
          <a:prstGeom prst="rect">
            <a:avLst/>
          </a:prstGeom>
          <a:noFill/>
          <a:ln/>
        </p:spPr>
        <p:txBody>
          <a:bodyPr wrap="none" lIns="0" tIns="0" rIns="0" bIns="0" rtlCol="0" anchor="ctr"/>
          <a:lstStyle/>
          <a:p>
            <a:pPr algn="l" indent="0" marL="0">
              <a:lnSpc>
                <a:spcPts val="1725"/>
              </a:lnSpc>
              <a:buNone/>
            </a:pPr>
            <a:r>
              <a:rPr lang="ko-KR" altLang="en-US" sz="1150" spc="-14" kern="0" dirty="0">
                <a:solidFill>
                  <a:srgbClr val="45512A"/>
                </a:solidFill>
                <a:latin typeface="Paperlogy 4 Regular" pitchFamily="34" charset="0"/>
                <a:ea typeface="Paperlogy 4 Regular" pitchFamily="34" charset="-122"/>
                <a:cs typeface="Paperlogy 4 Regular" pitchFamily="34" charset="-120"/>
              </a:rPr>
              <a:t>공유나 재방문 이유가</a:t>
            </a:r>
            <a:endParaRPr lang="en-US" sz="1150" dirty="0"/>
          </a:p>
          <a:p>
            <a:pPr algn="l" indent="0" marL="0">
              <a:lnSpc>
                <a:spcPts val="1725"/>
              </a:lnSpc>
              <a:buNone/>
            </a:pPr>
            <a:r>
              <a:rPr lang="ko-KR" altLang="en-US" sz="1150" spc="-14" kern="0" dirty="0">
                <a:solidFill>
                  <a:srgbClr val="45512A"/>
                </a:solidFill>
                <a:latin typeface="Paperlogy 4 Regular" pitchFamily="34" charset="0"/>
                <a:ea typeface="Paperlogy 4 Regular" pitchFamily="34" charset="-122"/>
                <a:cs typeface="Paperlogy 4 Regular" pitchFamily="34" charset="-120"/>
              </a:rPr>
              <a:t>있는가?</a:t>
            </a:r>
            <a:endParaRPr lang="en-US" sz="1150" dirty="0"/>
          </a:p>
        </p:txBody>
      </p:sp>
      <p:sp>
        <p:nvSpPr>
          <p:cNvPr id="64" name="글상자 63"/>
          <p:cNvSpPr txBox="1"/>
          <p:nvPr/>
        </p:nvSpPr>
        <p:spPr>
          <a:xfrm>
            <a:off x="698510" y="5305715"/>
            <a:ext cx="6562466" cy="314371"/>
          </a:xfrm>
          <a:prstGeom prst="rect">
            <a:avLst/>
          </a:prstGeom>
          <a:noFill/>
          <a:ln/>
        </p:spPr>
        <p:txBody>
          <a:bodyPr wrap="none" lIns="0" tIns="0" rIns="0" bIns="0" rtlCol="0" anchor="ctr"/>
          <a:lstStyle/>
          <a:p>
            <a:pPr algn="l" indent="0" marL="0">
              <a:buNone/>
            </a:pPr>
            <a:r>
              <a:rPr lang="ko-KR" altLang="en-US" sz="1500" spc="-14" kern="0" dirty="0">
                <a:solidFill>
                  <a:srgbClr val="45512A"/>
                </a:solidFill>
                <a:latin typeface="Paperlogy 4 Regular" pitchFamily="34" charset="0"/>
                <a:ea typeface="Paperlogy 4 Regular" pitchFamily="34" charset="-122"/>
                <a:cs typeface="Paperlogy 4 Regular" pitchFamily="34" charset="-120"/>
              </a:rPr>
              <a:t>고객은 상품을 발견하고 정보를 탐색한 뒤 예약·체험·평가·공유하는 과정을 거친다.</a:t>
            </a:r>
            <a:endParaRPr lang="en-US" sz="1500" dirty="0"/>
          </a:p>
        </p:txBody>
      </p:sp>
      <p:sp>
        <p:nvSpPr>
          <p:cNvPr id="65" name="글상자 64"/>
          <p:cNvSpPr txBox="1"/>
          <p:nvPr/>
        </p:nvSpPr>
        <p:spPr>
          <a:xfrm>
            <a:off x="698510" y="6316675"/>
            <a:ext cx="2920319" cy="180960"/>
          </a:xfrm>
          <a:prstGeom prst="rect">
            <a:avLst/>
          </a:prstGeom>
          <a:noFill/>
          <a:ln/>
        </p:spPr>
        <p:txBody>
          <a:bodyPr wrap="none" lIns="0" tIns="0" rIns="0" bIns="0" rtlCol="0" anchor="ctr"/>
          <a:lstStyle/>
          <a:p>
            <a:pPr algn="l" indent="0" marL="0">
              <a:buNone/>
            </a:pPr>
            <a:r>
              <a:rPr lang="ko-KR" altLang="en-US" sz="950" spc="10" kern="0" dirty="0">
                <a:solidFill>
                  <a:srgbClr val="646D40"/>
                </a:solidFill>
                <a:latin typeface="Paperlogy 4 Regular" pitchFamily="34" charset="0"/>
                <a:ea typeface="Paperlogy 4 Regular" pitchFamily="34" charset="-122"/>
                <a:cs typeface="Paperlogy 4 Regular" pitchFamily="34" charset="-120"/>
              </a:rPr>
              <a:t>고객 여정 6단계 · 단계별 확인 질문은 과제 안내서 기준</a:t>
            </a:r>
            <a:endParaRPr lang="en-US" sz="950" dirty="0"/>
          </a:p>
        </p:txBody>
      </p:sp>
      <p:sp>
        <p:nvSpPr>
          <p:cNvPr id="66" name="글상자 65"/>
          <p:cNvSpPr txBox="1"/>
          <p:nvPr/>
        </p:nvSpPr>
        <p:spPr>
          <a:xfrm>
            <a:off x="10996849" y="6316675"/>
            <a:ext cx="597926" cy="180960"/>
          </a:xfrm>
          <a:prstGeom prst="rect">
            <a:avLst/>
          </a:prstGeom>
          <a:noFill/>
          <a:ln/>
        </p:spPr>
        <p:txBody>
          <a:bodyPr wrap="none" lIns="0" tIns="0" rIns="0" bIns="0" rtlCol="0" anchor="ctr"/>
          <a:lstStyle/>
          <a:p>
            <a:pPr algn="l" indent="0" marL="0">
              <a:buNone/>
            </a:pPr>
            <a:r>
              <a:rPr lang="ko-KR" altLang="en-US" sz="950" spc="57" kern="0" dirty="0">
                <a:solidFill>
                  <a:srgbClr val="2E3A1B"/>
                </a:solidFill>
                <a:latin typeface="Paperlogy 7 Bold" pitchFamily="34" charset="0"/>
                <a:ea typeface="Paperlogy 7 Bold" pitchFamily="34" charset="-122"/>
                <a:cs typeface="Paperlogy 7 Bold" pitchFamily="34" charset="-120"/>
              </a:rPr>
              <a:t>09 / 10</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6"/>
        </a:solidFill>
      </p:bgPr>
    </p:bg>
    <p:spTree>
      <p:nvGrpSpPr>
        <p:cNvPr id="1" name=""/>
        <p:cNvGrpSpPr/>
        <p:nvPr/>
      </p:nvGrpSpPr>
      <p:grpSpPr>
        <a:xfrm>
          <a:off x="0" y="0"/>
          <a:ext cx="0" cy="0"/>
          <a:chOff x="0" y="0"/>
          <a:chExt cx="0" cy="0"/>
        </a:xfrm>
      </p:grpSpPr>
      <p:sp>
        <p:nvSpPr>
          <p:cNvPr id="2" name="선 1"/>
          <p:cNvSpPr/>
          <p:nvPr/>
        </p:nvSpPr>
        <p:spPr>
          <a:xfrm>
            <a:off x="711220" y="658825"/>
            <a:ext cx="254020" cy="0"/>
          </a:xfrm>
          <a:prstGeom prst="line">
            <a:avLst/>
          </a:prstGeom>
          <a:noFill/>
          <a:ln w="12700">
            <a:solidFill>
              <a:srgbClr val="737F4A"/>
            </a:solidFill>
            <a:prstDash val="solid"/>
          </a:ln>
        </p:spPr>
      </p:sp>
      <p:sp>
        <p:nvSpPr>
          <p:cNvPr id="3" name="상자 2"/>
          <p:cNvSpPr/>
          <p:nvPr/>
        </p:nvSpPr>
        <p:spPr>
          <a:xfrm>
            <a:off x="1295613" y="2111167"/>
            <a:ext cx="370058" cy="203180"/>
          </a:xfrm>
          <a:prstGeom prst="roundRect">
            <a:avLst>
              <a:gd name="adj" fmla="val 50000"/>
            </a:avLst>
          </a:prstGeom>
          <a:noFill/>
          <a:ln w="6350">
            <a:solidFill>
              <a:srgbClr val="646D40"/>
            </a:solidFill>
            <a:prstDash val="dash"/>
          </a:ln>
        </p:spPr>
      </p:sp>
      <p:sp>
        <p:nvSpPr>
          <p:cNvPr id="4" name="선 3"/>
          <p:cNvSpPr/>
          <p:nvPr/>
        </p:nvSpPr>
        <p:spPr>
          <a:xfrm>
            <a:off x="4089380" y="2381006"/>
            <a:ext cx="3073390" cy="0"/>
          </a:xfrm>
          <a:prstGeom prst="line">
            <a:avLst/>
          </a:prstGeom>
          <a:noFill/>
          <a:ln w="6350">
            <a:solidFill>
              <a:srgbClr val="D5CEB8"/>
            </a:solidFill>
            <a:prstDash val="solid"/>
          </a:ln>
        </p:spPr>
      </p:sp>
      <p:sp>
        <p:nvSpPr>
          <p:cNvPr id="5" name="선 4"/>
          <p:cNvSpPr/>
          <p:nvPr/>
        </p:nvSpPr>
        <p:spPr>
          <a:xfrm>
            <a:off x="4089380" y="2920776"/>
            <a:ext cx="3073390" cy="0"/>
          </a:xfrm>
          <a:prstGeom prst="line">
            <a:avLst/>
          </a:prstGeom>
          <a:noFill/>
          <a:ln w="6350">
            <a:solidFill>
              <a:srgbClr val="D5CEB8"/>
            </a:solidFill>
            <a:prstDash val="solid"/>
          </a:ln>
        </p:spPr>
      </p:sp>
      <p:sp>
        <p:nvSpPr>
          <p:cNvPr id="6" name="선 5"/>
          <p:cNvSpPr/>
          <p:nvPr/>
        </p:nvSpPr>
        <p:spPr>
          <a:xfrm>
            <a:off x="4089380" y="3460547"/>
            <a:ext cx="3073390" cy="0"/>
          </a:xfrm>
          <a:prstGeom prst="line">
            <a:avLst/>
          </a:prstGeom>
          <a:noFill/>
          <a:ln w="6350">
            <a:solidFill>
              <a:srgbClr val="D5CEB8"/>
            </a:solidFill>
            <a:prstDash val="solid"/>
          </a:ln>
        </p:spPr>
      </p:sp>
      <p:sp>
        <p:nvSpPr>
          <p:cNvPr id="7" name="선 6"/>
          <p:cNvSpPr/>
          <p:nvPr/>
        </p:nvSpPr>
        <p:spPr>
          <a:xfrm>
            <a:off x="4089380" y="4000317"/>
            <a:ext cx="3073390" cy="0"/>
          </a:xfrm>
          <a:prstGeom prst="line">
            <a:avLst/>
          </a:prstGeom>
          <a:noFill/>
          <a:ln w="6350">
            <a:solidFill>
              <a:srgbClr val="D5CEB8"/>
            </a:solidFill>
            <a:prstDash val="solid"/>
          </a:ln>
        </p:spPr>
      </p:sp>
      <p:sp>
        <p:nvSpPr>
          <p:cNvPr id="8" name="선 7"/>
          <p:cNvSpPr/>
          <p:nvPr/>
        </p:nvSpPr>
        <p:spPr>
          <a:xfrm>
            <a:off x="4089380" y="4540087"/>
            <a:ext cx="3073390" cy="0"/>
          </a:xfrm>
          <a:prstGeom prst="line">
            <a:avLst/>
          </a:prstGeom>
          <a:noFill/>
          <a:ln w="6350">
            <a:solidFill>
              <a:srgbClr val="D5CEB8"/>
            </a:solidFill>
            <a:prstDash val="solid"/>
          </a:ln>
        </p:spPr>
      </p:sp>
      <p:sp>
        <p:nvSpPr>
          <p:cNvPr id="9" name="상자 8"/>
          <p:cNvSpPr/>
          <p:nvPr/>
        </p:nvSpPr>
        <p:spPr>
          <a:xfrm>
            <a:off x="714421" y="4673407"/>
            <a:ext cx="6445240" cy="1330726"/>
          </a:xfrm>
          <a:prstGeom prst="roundRect">
            <a:avLst>
              <a:gd name="adj" fmla="val 6445"/>
            </a:avLst>
          </a:prstGeom>
          <a:noFill/>
          <a:ln w="6350">
            <a:solidFill>
              <a:srgbClr val="D5CEB8"/>
            </a:solidFill>
            <a:prstDash val="solid"/>
          </a:ln>
        </p:spPr>
      </p:sp>
      <p:sp>
        <p:nvSpPr>
          <p:cNvPr id="10" name="선 9"/>
          <p:cNvSpPr/>
          <p:nvPr/>
        </p:nvSpPr>
        <p:spPr>
          <a:xfrm>
            <a:off x="717530" y="5432633"/>
            <a:ext cx="6438930" cy="0"/>
          </a:xfrm>
          <a:prstGeom prst="line">
            <a:avLst/>
          </a:prstGeom>
          <a:noFill/>
          <a:ln w="6350">
            <a:solidFill>
              <a:srgbClr val="D5CEB8"/>
            </a:solidFill>
            <a:prstDash val="solid"/>
          </a:ln>
        </p:spPr>
      </p:sp>
      <p:sp>
        <p:nvSpPr>
          <p:cNvPr id="11" name="선 10"/>
          <p:cNvSpPr/>
          <p:nvPr/>
        </p:nvSpPr>
        <p:spPr>
          <a:xfrm>
            <a:off x="717530" y="5718383"/>
            <a:ext cx="6438930" cy="0"/>
          </a:xfrm>
          <a:prstGeom prst="line">
            <a:avLst/>
          </a:prstGeom>
          <a:noFill/>
          <a:ln w="6350">
            <a:solidFill>
              <a:srgbClr val="D5CEB8"/>
            </a:solidFill>
            <a:prstDash val="solid"/>
          </a:ln>
        </p:spPr>
      </p:sp>
      <p:sp>
        <p:nvSpPr>
          <p:cNvPr id="12" name="선 11"/>
          <p:cNvSpPr/>
          <p:nvPr/>
        </p:nvSpPr>
        <p:spPr>
          <a:xfrm>
            <a:off x="711220" y="6203930"/>
            <a:ext cx="6451641" cy="0"/>
          </a:xfrm>
          <a:prstGeom prst="line">
            <a:avLst/>
          </a:prstGeom>
          <a:noFill/>
          <a:ln w="6350">
            <a:solidFill>
              <a:srgbClr val="D5CEB8"/>
            </a:solidFill>
            <a:prstDash val="solid"/>
          </a:ln>
        </p:spPr>
      </p:sp>
      <p:pic>
        <p:nvPicPr>
          <p:cNvPr id="13" name="사진 12" descr="AI 생성 이미지">    </p:cNvPr>
          <p:cNvPicPr>
            <a:picLocks noChangeAspect="1"/>
          </p:cNvPicPr>
          <p:nvPr/>
        </p:nvPicPr>
        <p:blipFill>
          <a:blip r:embed="rId1"/>
          <a:stretch>
            <a:fillRect/>
          </a:stretch>
        </p:blipFill>
        <p:spPr>
          <a:xfrm>
            <a:off x="7873990" y="0"/>
            <a:ext cx="4317980" cy="6858000"/>
          </a:xfrm>
          <a:prstGeom prst="rect">
            <a:avLst/>
          </a:prstGeom>
        </p:spPr>
      </p:pic>
      <p:sp>
        <p:nvSpPr>
          <p:cNvPr id="14" name="글상자 13"/>
          <p:cNvSpPr txBox="1"/>
          <p:nvPr/>
        </p:nvSpPr>
        <p:spPr>
          <a:xfrm>
            <a:off x="736641" y="2251984"/>
            <a:ext cx="403708" cy="378927"/>
          </a:xfrm>
          <a:prstGeom prst="rect">
            <a:avLst/>
          </a:prstGeom>
          <a:noFill/>
          <a:ln/>
        </p:spPr>
        <p:txBody>
          <a:bodyPr wrap="none" lIns="0" tIns="0" rIns="0" bIns="0" rtlCol="0" anchor="ctr"/>
          <a:lstStyle/>
          <a:p>
            <a:pPr algn="l" indent="0" marL="0">
              <a:buNone/>
            </a:pPr>
            <a:r>
              <a:rPr lang="ko-KR" altLang="en-US" sz="2295" spc="-14" kern="0" dirty="0">
                <a:solidFill>
                  <a:srgbClr val="737F4A"/>
                </a:solidFill>
                <a:latin typeface="Paperlogy 8 ExtraBold" pitchFamily="34" charset="0"/>
                <a:ea typeface="Paperlogy 8 ExtraBold" pitchFamily="34" charset="-122"/>
                <a:cs typeface="Paperlogy 8 ExtraBold" pitchFamily="34" charset="-120"/>
              </a:rPr>
              <a:t>,</a:t>
            </a:r>
            <a:endParaRPr lang="en-US" sz="2295" dirty="0"/>
          </a:p>
        </p:txBody>
      </p:sp>
      <p:sp>
        <p:nvSpPr>
          <p:cNvPr id="15" name="글상자 14"/>
          <p:cNvSpPr txBox="1"/>
          <p:nvPr/>
        </p:nvSpPr>
        <p:spPr>
          <a:xfrm>
            <a:off x="736641" y="2598085"/>
            <a:ext cx="403708" cy="378927"/>
          </a:xfrm>
          <a:prstGeom prst="rect">
            <a:avLst/>
          </a:prstGeom>
          <a:noFill/>
          <a:ln/>
        </p:spPr>
        <p:txBody>
          <a:bodyPr wrap="none" lIns="0" tIns="0" rIns="0" bIns="0" rtlCol="0" anchor="ctr"/>
          <a:lstStyle/>
          <a:p>
            <a:pPr algn="l" indent="0" marL="0">
              <a:buNone/>
            </a:pPr>
            <a:r>
              <a:rPr lang="ko-KR" altLang="en-US" sz="2295" spc="-14" kern="0" dirty="0">
                <a:solidFill>
                  <a:srgbClr val="737F4A"/>
                </a:solidFill>
                <a:latin typeface="Paperlogy 8 ExtraBold" pitchFamily="34" charset="0"/>
                <a:ea typeface="Paperlogy 8 ExtraBold" pitchFamily="34" charset="-122"/>
                <a:cs typeface="Paperlogy 8 ExtraBold" pitchFamily="34" charset="-120"/>
              </a:rPr>
              <a:t>,</a:t>
            </a:r>
            <a:endParaRPr lang="en-US" sz="2295" dirty="0"/>
          </a:p>
        </p:txBody>
      </p:sp>
      <p:sp>
        <p:nvSpPr>
          <p:cNvPr id="16" name="글상자 15"/>
          <p:cNvSpPr txBox="1"/>
          <p:nvPr/>
        </p:nvSpPr>
        <p:spPr>
          <a:xfrm>
            <a:off x="736641" y="2944094"/>
            <a:ext cx="403708" cy="378927"/>
          </a:xfrm>
          <a:prstGeom prst="rect">
            <a:avLst/>
          </a:prstGeom>
          <a:noFill/>
          <a:ln/>
        </p:spPr>
        <p:txBody>
          <a:bodyPr wrap="none" lIns="0" tIns="0" rIns="0" bIns="0" rtlCol="0" anchor="ctr"/>
          <a:lstStyle/>
          <a:p>
            <a:pPr algn="l" indent="0" marL="0">
              <a:buNone/>
            </a:pPr>
            <a:r>
              <a:rPr lang="ko-KR" altLang="en-US" sz="2295" spc="-14" kern="0" dirty="0">
                <a:solidFill>
                  <a:srgbClr val="737F4A"/>
                </a:solidFill>
                <a:latin typeface="Paperlogy 8 ExtraBold" pitchFamily="34" charset="0"/>
                <a:ea typeface="Paperlogy 8 ExtraBold" pitchFamily="34" charset="-122"/>
                <a:cs typeface="Paperlogy 8 ExtraBold" pitchFamily="34" charset="-120"/>
              </a:rPr>
              <a:t>,</a:t>
            </a:r>
            <a:endParaRPr lang="en-US" sz="2295" dirty="0"/>
          </a:p>
        </p:txBody>
      </p:sp>
      <p:sp>
        <p:nvSpPr>
          <p:cNvPr id="17" name="글상자 16"/>
          <p:cNvSpPr txBox="1"/>
          <p:nvPr/>
        </p:nvSpPr>
        <p:spPr>
          <a:xfrm>
            <a:off x="11137392" y="84491"/>
            <a:ext cx="952988" cy="115580"/>
          </a:xfrm>
          <a:prstGeom prst="rect">
            <a:avLst/>
          </a:prstGeom>
          <a:noFill/>
          <a:ln/>
        </p:spPr>
        <p:txBody>
          <a:bodyPr wrap="none" lIns="0" tIns="0" rIns="0" bIns="0" rtlCol="0" anchor="ctr"/>
          <a:lstStyle/>
          <a:p>
            <a:pPr algn="r" indent="0" marL="0">
              <a:buNone/>
            </a:pPr>
            <a:r>
              <a:rPr lang="ko-KR" altLang="en-US" sz="700" spc="28" kern="0" dirty="0">
                <a:solidFill>
                  <a:srgbClr val="FBF9F3"/>
                </a:solidFill>
                <a:effectLst>
                  <a:glow rad="50800">
                    <a:srgbClr val="1C2210">
                      <a:alpha val="45000"/>
                    </a:srgbClr>
                  </a:glow>
                </a:effectLst>
                <a:latin typeface="Paperlogy 5 Medium" pitchFamily="34" charset="0"/>
                <a:ea typeface="Paperlogy 5 Medium" pitchFamily="34" charset="-122"/>
                <a:cs typeface="Paperlogy 5 Medium" pitchFamily="34" charset="-120"/>
              </a:rPr>
              <a:t>AI 생성 이미지</a:t>
            </a:r>
            <a:endParaRPr lang="en-US" sz="700" dirty="0"/>
          </a:p>
        </p:txBody>
      </p:sp>
      <p:sp>
        <p:nvSpPr>
          <p:cNvPr id="18" name="글상자 17"/>
          <p:cNvSpPr txBox="1"/>
          <p:nvPr/>
        </p:nvSpPr>
        <p:spPr>
          <a:xfrm>
            <a:off x="1054120" y="557235"/>
            <a:ext cx="3574115" cy="200071"/>
          </a:xfrm>
          <a:prstGeom prst="rect">
            <a:avLst/>
          </a:prstGeom>
          <a:noFill/>
          <a:ln/>
        </p:spPr>
        <p:txBody>
          <a:bodyPr wrap="none" lIns="0" tIns="0" rIns="0" bIns="0" rtlCol="0" anchor="ctr"/>
          <a:lstStyle/>
          <a:p>
            <a:pPr algn="l" indent="0" marL="0">
              <a:buNone/>
            </a:pPr>
            <a:r>
              <a:rPr lang="ko-KR" altLang="en-US" sz="1050" spc="231" kern="0" dirty="0">
                <a:solidFill>
                  <a:srgbClr val="646D40"/>
                </a:solidFill>
                <a:latin typeface="Paperlogy 6 SemiBold" pitchFamily="34" charset="0"/>
                <a:ea typeface="Paperlogy 6 SemiBold" pitchFamily="34" charset="-122"/>
                <a:cs typeface="Paperlogy 6 SemiBold" pitchFamily="34" charset="-120"/>
              </a:rPr>
              <a:t>EXPECTED EFFECTS &amp; NEXT STEPS</a:t>
            </a:r>
            <a:endParaRPr lang="en-US" sz="1050" dirty="0"/>
          </a:p>
        </p:txBody>
      </p:sp>
      <p:sp>
        <p:nvSpPr>
          <p:cNvPr id="19" name="글상자 18"/>
          <p:cNvSpPr txBox="1"/>
          <p:nvPr/>
        </p:nvSpPr>
        <p:spPr>
          <a:xfrm>
            <a:off x="698510" y="859353"/>
            <a:ext cx="4626407" cy="1019007"/>
          </a:xfrm>
          <a:prstGeom prst="rect">
            <a:avLst/>
          </a:prstGeom>
          <a:noFill/>
          <a:ln/>
        </p:spPr>
        <p:txBody>
          <a:bodyPr wrap="none" lIns="0" tIns="0" rIns="0" bIns="0" rtlCol="0" anchor="ctr"/>
          <a:lstStyle/>
          <a:p>
            <a:pPr algn="l" indent="0" marL="0">
              <a:lnSpc>
                <a:spcPts val="4012"/>
              </a:lnSpc>
              <a:buNone/>
            </a:pPr>
            <a:r>
              <a:rPr lang="ko-KR" altLang="en-US" sz="3400" spc="-102" kern="0" dirty="0">
                <a:solidFill>
                  <a:srgbClr val="2E3A1B"/>
                </a:solidFill>
                <a:latin typeface="Paperlogy 7 Bold" pitchFamily="34" charset="0"/>
                <a:ea typeface="Paperlogy 7 Bold" pitchFamily="34" charset="-122"/>
                <a:cs typeface="Paperlogy 7 Bold" pitchFamily="34" charset="-120"/>
              </a:rPr>
              <a:t>춘천에서의 하루가 일상에</a:t>
            </a:r>
            <a:endParaRPr lang="en-US" sz="3400" dirty="0"/>
          </a:p>
          <a:p>
            <a:pPr algn="l" indent="0" marL="0">
              <a:lnSpc>
                <a:spcPts val="4012"/>
              </a:lnSpc>
              <a:buNone/>
            </a:pPr>
            <a:r>
              <a:rPr lang="ko-KR" altLang="en-US" sz="3400" spc="-102" kern="0" dirty="0">
                <a:solidFill>
                  <a:srgbClr val="2E3A1B"/>
                </a:solidFill>
                <a:latin typeface="Paperlogy 7 Bold" pitchFamily="34" charset="0"/>
                <a:ea typeface="Paperlogy 7 Bold" pitchFamily="34" charset="-122"/>
                <a:cs typeface="Paperlogy 7 Bold" pitchFamily="34" charset="-120"/>
              </a:rPr>
              <a:t>작은 쉼표가 되기를.</a:t>
            </a:r>
            <a:endParaRPr lang="en-US" sz="3400" dirty="0"/>
          </a:p>
        </p:txBody>
      </p:sp>
      <p:sp>
        <p:nvSpPr>
          <p:cNvPr id="20" name="글상자 19"/>
          <p:cNvSpPr txBox="1"/>
          <p:nvPr/>
        </p:nvSpPr>
        <p:spPr>
          <a:xfrm>
            <a:off x="698510" y="2117568"/>
            <a:ext cx="620603" cy="180960"/>
          </a:xfrm>
          <a:prstGeom prst="rect">
            <a:avLst/>
          </a:prstGeom>
          <a:noFill/>
          <a:ln/>
        </p:spPr>
        <p:txBody>
          <a:bodyPr wrap="none" lIns="0" tIns="0" rIns="0" bIns="0" rtlCol="0" anchor="ctr"/>
          <a:lstStyle/>
          <a:p>
            <a:pPr algn="l" indent="0" marL="0">
              <a:buNone/>
            </a:pPr>
            <a:r>
              <a:rPr lang="ko-KR" altLang="en-US" sz="950" spc="133" kern="0" dirty="0">
                <a:solidFill>
                  <a:srgbClr val="646D40"/>
                </a:solidFill>
                <a:latin typeface="Paperlogy 7 Bold" pitchFamily="34" charset="0"/>
                <a:ea typeface="Paperlogy 7 Bold" pitchFamily="34" charset="-122"/>
                <a:cs typeface="Paperlogy 7 Bold" pitchFamily="34" charset="-120"/>
              </a:rPr>
              <a:t>기대효과</a:t>
            </a:r>
            <a:endParaRPr lang="en-US" sz="950" dirty="0"/>
          </a:p>
        </p:txBody>
      </p:sp>
      <p:sp>
        <p:nvSpPr>
          <p:cNvPr id="21" name="글상자 20"/>
          <p:cNvSpPr txBox="1"/>
          <p:nvPr/>
        </p:nvSpPr>
        <p:spPr>
          <a:xfrm>
            <a:off x="1368582" y="2139422"/>
            <a:ext cx="303398" cy="140360"/>
          </a:xfrm>
          <a:prstGeom prst="rect">
            <a:avLst/>
          </a:prstGeom>
          <a:noFill/>
          <a:ln/>
        </p:spPr>
        <p:txBody>
          <a:bodyPr wrap="none" lIns="0" tIns="0" rIns="0" bIns="0" rtlCol="0" anchor="ctr"/>
          <a:lstStyle/>
          <a:p>
            <a:pPr algn="l" indent="0" marL="0">
              <a:buNone/>
            </a:pPr>
            <a:r>
              <a:rPr lang="ko-KR" altLang="en-US" sz="850" spc="34" kern="0" dirty="0">
                <a:solidFill>
                  <a:srgbClr val="45512A"/>
                </a:solidFill>
                <a:latin typeface="Paperlogy 7 Bold" pitchFamily="34" charset="0"/>
                <a:ea typeface="Paperlogy 7 Bold" pitchFamily="34" charset="-122"/>
                <a:cs typeface="Paperlogy 7 Bold" pitchFamily="34" charset="-120"/>
              </a:rPr>
              <a:t>가설</a:t>
            </a:r>
            <a:endParaRPr lang="en-US" sz="850" dirty="0"/>
          </a:p>
        </p:txBody>
      </p:sp>
      <p:sp>
        <p:nvSpPr>
          <p:cNvPr id="22" name="글상자 21"/>
          <p:cNvSpPr txBox="1"/>
          <p:nvPr/>
        </p:nvSpPr>
        <p:spPr>
          <a:xfrm>
            <a:off x="927110" y="2401672"/>
            <a:ext cx="2859420" cy="257221"/>
          </a:xfrm>
          <a:prstGeom prst="rect">
            <a:avLst/>
          </a:prstGeom>
          <a:noFill/>
          <a:ln/>
        </p:spPr>
        <p:txBody>
          <a:bodyPr wrap="none" lIns="0" tIns="0" rIns="0" bIns="0" rtlCol="0" anchor="ctr"/>
          <a:lstStyle/>
          <a:p>
            <a:pPr algn="l" indent="0" marL="0">
              <a:buNone/>
            </a:pPr>
            <a:r>
              <a:rPr lang="ko-KR" altLang="en-US" sz="1350" spc="-14" kern="0" dirty="0">
                <a:solidFill>
                  <a:srgbClr val="45512A"/>
                </a:solidFill>
                <a:latin typeface="Paperlogy 4 Regular" pitchFamily="34" charset="0"/>
                <a:ea typeface="Paperlogy 4 Regular" pitchFamily="34" charset="-122"/>
                <a:cs typeface="Paperlogy 4 Regular" pitchFamily="34" charset="-120"/>
              </a:rPr>
              <a:t>관광객에게 휴식 중심의 여행 경험 제공</a:t>
            </a:r>
            <a:endParaRPr lang="en-US" sz="1350" dirty="0"/>
          </a:p>
        </p:txBody>
      </p:sp>
      <p:sp>
        <p:nvSpPr>
          <p:cNvPr id="23" name="글상자 22"/>
          <p:cNvSpPr txBox="1"/>
          <p:nvPr/>
        </p:nvSpPr>
        <p:spPr>
          <a:xfrm>
            <a:off x="927110" y="2747772"/>
            <a:ext cx="2698394" cy="257221"/>
          </a:xfrm>
          <a:prstGeom prst="rect">
            <a:avLst/>
          </a:prstGeom>
          <a:noFill/>
          <a:ln/>
        </p:spPr>
        <p:txBody>
          <a:bodyPr wrap="none" lIns="0" tIns="0" rIns="0" bIns="0" rtlCol="0" anchor="ctr"/>
          <a:lstStyle/>
          <a:p>
            <a:pPr algn="l" indent="0" marL="0">
              <a:buNone/>
            </a:pPr>
            <a:r>
              <a:rPr lang="ko-KR" altLang="en-US" sz="1350" spc="-14" kern="0" dirty="0">
                <a:solidFill>
                  <a:srgbClr val="45512A"/>
                </a:solidFill>
                <a:latin typeface="Paperlogy 4 Regular" pitchFamily="34" charset="0"/>
                <a:ea typeface="Paperlogy 4 Regular" pitchFamily="34" charset="-122"/>
                <a:cs typeface="Paperlogy 4 Regular" pitchFamily="34" charset="-120"/>
              </a:rPr>
              <a:t>춘천 지역 관광자원과 로컬 상권 연계</a:t>
            </a:r>
            <a:endParaRPr lang="en-US" sz="1350" dirty="0"/>
          </a:p>
        </p:txBody>
      </p:sp>
      <p:sp>
        <p:nvSpPr>
          <p:cNvPr id="24" name="글상자 23"/>
          <p:cNvSpPr txBox="1"/>
          <p:nvPr/>
        </p:nvSpPr>
        <p:spPr>
          <a:xfrm>
            <a:off x="927110" y="3093872"/>
            <a:ext cx="2498598" cy="257221"/>
          </a:xfrm>
          <a:prstGeom prst="rect">
            <a:avLst/>
          </a:prstGeom>
          <a:noFill/>
          <a:ln/>
        </p:spPr>
        <p:txBody>
          <a:bodyPr wrap="none" lIns="0" tIns="0" rIns="0" bIns="0" rtlCol="0" anchor="ctr"/>
          <a:lstStyle/>
          <a:p>
            <a:pPr algn="l" indent="0" marL="0">
              <a:buNone/>
            </a:pPr>
            <a:r>
              <a:rPr lang="ko-KR" altLang="en-US" sz="1350" spc="-14" kern="0" dirty="0">
                <a:solidFill>
                  <a:srgbClr val="45512A"/>
                </a:solidFill>
                <a:latin typeface="Paperlogy 4 Regular" pitchFamily="34" charset="0"/>
                <a:ea typeface="Paperlogy 4 Regular" pitchFamily="34" charset="-122"/>
                <a:cs typeface="Paperlogy 4 Regular" pitchFamily="34" charset="-120"/>
              </a:rPr>
              <a:t>취향에 따른 선택형 관광상품 개발</a:t>
            </a:r>
            <a:endParaRPr lang="en-US" sz="1350" dirty="0"/>
          </a:p>
        </p:txBody>
      </p:sp>
      <p:sp>
        <p:nvSpPr>
          <p:cNvPr id="25" name="글상자 24"/>
          <p:cNvSpPr txBox="1"/>
          <p:nvPr/>
        </p:nvSpPr>
        <p:spPr>
          <a:xfrm>
            <a:off x="4076670" y="2103211"/>
            <a:ext cx="667512" cy="180960"/>
          </a:xfrm>
          <a:prstGeom prst="rect">
            <a:avLst/>
          </a:prstGeom>
          <a:noFill/>
          <a:ln/>
        </p:spPr>
        <p:txBody>
          <a:bodyPr wrap="none" lIns="0" tIns="0" rIns="0" bIns="0" rtlCol="0" anchor="ctr"/>
          <a:lstStyle/>
          <a:p>
            <a:pPr algn="l" indent="0" marL="0">
              <a:buNone/>
            </a:pPr>
            <a:r>
              <a:rPr lang="ko-KR" altLang="en-US" sz="950" spc="133" kern="0" dirty="0">
                <a:solidFill>
                  <a:srgbClr val="646D40"/>
                </a:solidFill>
                <a:latin typeface="Paperlogy 7 Bold" pitchFamily="34" charset="0"/>
                <a:ea typeface="Paperlogy 7 Bold" pitchFamily="34" charset="-122"/>
                <a:cs typeface="Paperlogy 7 Bold" pitchFamily="34" charset="-120"/>
              </a:rPr>
              <a:t>향후 검증</a:t>
            </a:r>
            <a:endParaRPr lang="en-US" sz="950" dirty="0"/>
          </a:p>
        </p:txBody>
      </p:sp>
      <p:sp>
        <p:nvSpPr>
          <p:cNvPr id="26" name="글상자 25"/>
          <p:cNvSpPr txBox="1"/>
          <p:nvPr/>
        </p:nvSpPr>
        <p:spPr>
          <a:xfrm>
            <a:off x="4076670" y="2433401"/>
            <a:ext cx="1536924" cy="238110"/>
          </a:xfrm>
          <a:prstGeom prst="rect">
            <a:avLst/>
          </a:prstGeom>
          <a:noFill/>
          <a:ln/>
        </p:spPr>
        <p:txBody>
          <a:bodyPr wrap="none" lIns="0" tIns="0" rIns="0" bIns="0" rtlCol="0" anchor="ctr"/>
          <a:lstStyle/>
          <a:p>
            <a:pPr algn="l" indent="0" marL="0">
              <a:buNone/>
            </a:pPr>
            <a:r>
              <a:rPr lang="ko-KR" altLang="en-US" sz="1250" spc="-14" kern="0" dirty="0">
                <a:solidFill>
                  <a:srgbClr val="2E3A1B"/>
                </a:solidFill>
                <a:latin typeface="Paperlogy 7 Bold" pitchFamily="34" charset="0"/>
                <a:ea typeface="Paperlogy 7 Bold" pitchFamily="34" charset="-122"/>
                <a:cs typeface="Paperlogy 7 Bold" pitchFamily="34" charset="-120"/>
              </a:rPr>
              <a:t>관광객 설문 및 인터뷰</a:t>
            </a:r>
            <a:endParaRPr lang="en-US" sz="1250" dirty="0"/>
          </a:p>
        </p:txBody>
      </p:sp>
      <p:sp>
        <p:nvSpPr>
          <p:cNvPr id="27" name="글상자 26"/>
          <p:cNvSpPr txBox="1"/>
          <p:nvPr/>
        </p:nvSpPr>
        <p:spPr>
          <a:xfrm>
            <a:off x="4076670" y="2681112"/>
            <a:ext cx="1519641" cy="180960"/>
          </a:xfrm>
          <a:prstGeom prst="rect">
            <a:avLst/>
          </a:prstGeom>
          <a:noFill/>
          <a:ln/>
        </p:spPr>
        <p:txBody>
          <a:bodyPr wrap="none" lIns="0" tIns="0" rIns="0" bIns="0" rtlCol="0" anchor="ctr"/>
          <a:lstStyle/>
          <a:p>
            <a:pPr algn="l" indent="0" marL="0">
              <a:buNone/>
            </a:pPr>
            <a:r>
              <a:rPr lang="ko-KR" altLang="en-US" sz="950" spc="-14" kern="0" dirty="0">
                <a:solidFill>
                  <a:srgbClr val="646D40"/>
                </a:solidFill>
                <a:latin typeface="Paperlogy 4 Regular" pitchFamily="34" charset="0"/>
                <a:ea typeface="Paperlogy 4 Regular" pitchFamily="34" charset="-122"/>
                <a:cs typeface="Paperlogy 4 Regular" pitchFamily="34" charset="-120"/>
              </a:rPr>
              <a:t>→ 고객 문제 가설 1~3 · 수요</a:t>
            </a:r>
            <a:endParaRPr lang="en-US" sz="950" dirty="0"/>
          </a:p>
        </p:txBody>
      </p:sp>
      <p:sp>
        <p:nvSpPr>
          <p:cNvPr id="28" name="글상자 27"/>
          <p:cNvSpPr txBox="1"/>
          <p:nvPr/>
        </p:nvSpPr>
        <p:spPr>
          <a:xfrm>
            <a:off x="4076670" y="2973172"/>
            <a:ext cx="1536924" cy="238110"/>
          </a:xfrm>
          <a:prstGeom prst="rect">
            <a:avLst/>
          </a:prstGeom>
          <a:noFill/>
          <a:ln/>
        </p:spPr>
        <p:txBody>
          <a:bodyPr wrap="none" lIns="0" tIns="0" rIns="0" bIns="0" rtlCol="0" anchor="ctr"/>
          <a:lstStyle/>
          <a:p>
            <a:pPr algn="l" indent="0" marL="0">
              <a:buNone/>
            </a:pPr>
            <a:r>
              <a:rPr lang="ko-KR" altLang="en-US" sz="1250" spc="-14" kern="0" dirty="0">
                <a:solidFill>
                  <a:srgbClr val="2E3A1B"/>
                </a:solidFill>
                <a:latin typeface="Paperlogy 7 Bold" pitchFamily="34" charset="0"/>
                <a:ea typeface="Paperlogy 7 Bold" pitchFamily="34" charset="-122"/>
                <a:cs typeface="Paperlogy 7 Bold" pitchFamily="34" charset="-120"/>
              </a:rPr>
              <a:t>유사 상품과 가격 비교</a:t>
            </a:r>
            <a:endParaRPr lang="en-US" sz="1250" dirty="0"/>
          </a:p>
        </p:txBody>
      </p:sp>
      <p:sp>
        <p:nvSpPr>
          <p:cNvPr id="29" name="글상자 28"/>
          <p:cNvSpPr txBox="1"/>
          <p:nvPr/>
        </p:nvSpPr>
        <p:spPr>
          <a:xfrm>
            <a:off x="4076670" y="3220883"/>
            <a:ext cx="1357244" cy="180960"/>
          </a:xfrm>
          <a:prstGeom prst="rect">
            <a:avLst/>
          </a:prstGeom>
          <a:noFill/>
          <a:ln/>
        </p:spPr>
        <p:txBody>
          <a:bodyPr wrap="none" lIns="0" tIns="0" rIns="0" bIns="0" rtlCol="0" anchor="ctr"/>
          <a:lstStyle/>
          <a:p>
            <a:pPr algn="l" indent="0" marL="0">
              <a:buNone/>
            </a:pPr>
            <a:r>
              <a:rPr lang="ko-KR" altLang="en-US" sz="950" spc="-14" kern="0" dirty="0">
                <a:solidFill>
                  <a:srgbClr val="646D40"/>
                </a:solidFill>
                <a:latin typeface="Paperlogy 4 Regular" pitchFamily="34" charset="0"/>
                <a:ea typeface="Paperlogy 4 Regular" pitchFamily="34" charset="-122"/>
                <a:cs typeface="Paperlogy 4 Regular" pitchFamily="34" charset="-120"/>
              </a:rPr>
              <a:t>→ 수익 가능성 · 가격 범위</a:t>
            </a:r>
            <a:endParaRPr lang="en-US" sz="950" dirty="0"/>
          </a:p>
        </p:txBody>
      </p:sp>
      <p:sp>
        <p:nvSpPr>
          <p:cNvPr id="30" name="글상자 29"/>
          <p:cNvSpPr txBox="1"/>
          <p:nvPr/>
        </p:nvSpPr>
        <p:spPr>
          <a:xfrm>
            <a:off x="4076670" y="3512942"/>
            <a:ext cx="1703436" cy="238110"/>
          </a:xfrm>
          <a:prstGeom prst="rect">
            <a:avLst/>
          </a:prstGeom>
          <a:noFill/>
          <a:ln/>
        </p:spPr>
        <p:txBody>
          <a:bodyPr wrap="none" lIns="0" tIns="0" rIns="0" bIns="0" rtlCol="0" anchor="ctr"/>
          <a:lstStyle/>
          <a:p>
            <a:pPr algn="l" indent="0" marL="0">
              <a:buNone/>
            </a:pPr>
            <a:r>
              <a:rPr lang="ko-KR" altLang="en-US" sz="1250" spc="-14" kern="0" dirty="0">
                <a:solidFill>
                  <a:srgbClr val="2E3A1B"/>
                </a:solidFill>
                <a:latin typeface="Paperlogy 7 Bold" pitchFamily="34" charset="0"/>
                <a:ea typeface="Paperlogy 7 Bold" pitchFamily="34" charset="-122"/>
                <a:cs typeface="Paperlogy 7 Bold" pitchFamily="34" charset="-120"/>
              </a:rPr>
              <a:t>협력업체·이동 동선 확인</a:t>
            </a:r>
            <a:endParaRPr lang="en-US" sz="1250" dirty="0"/>
          </a:p>
        </p:txBody>
      </p:sp>
      <p:sp>
        <p:nvSpPr>
          <p:cNvPr id="31" name="글상자 30"/>
          <p:cNvSpPr txBox="1"/>
          <p:nvPr/>
        </p:nvSpPr>
        <p:spPr>
          <a:xfrm>
            <a:off x="4076670" y="3760561"/>
            <a:ext cx="791139" cy="180960"/>
          </a:xfrm>
          <a:prstGeom prst="rect">
            <a:avLst/>
          </a:prstGeom>
          <a:noFill/>
          <a:ln/>
        </p:spPr>
        <p:txBody>
          <a:bodyPr wrap="none" lIns="0" tIns="0" rIns="0" bIns="0" rtlCol="0" anchor="ctr"/>
          <a:lstStyle/>
          <a:p>
            <a:pPr algn="l" indent="0" marL="0">
              <a:buNone/>
            </a:pPr>
            <a:r>
              <a:rPr lang="ko-KR" altLang="en-US" sz="950" spc="-14" kern="0" dirty="0">
                <a:solidFill>
                  <a:srgbClr val="646D40"/>
                </a:solidFill>
                <a:latin typeface="Paperlogy 4 Regular" pitchFamily="34" charset="0"/>
                <a:ea typeface="Paperlogy 4 Regular" pitchFamily="34" charset="-122"/>
                <a:cs typeface="Paperlogy 4 Regular" pitchFamily="34" charset="-120"/>
              </a:rPr>
              <a:t>→ 실행 가능성</a:t>
            </a:r>
            <a:endParaRPr lang="en-US" sz="950" dirty="0"/>
          </a:p>
        </p:txBody>
      </p:sp>
      <p:sp>
        <p:nvSpPr>
          <p:cNvPr id="32" name="글상자 31"/>
          <p:cNvSpPr txBox="1"/>
          <p:nvPr/>
        </p:nvSpPr>
        <p:spPr>
          <a:xfrm>
            <a:off x="4076670" y="4052712"/>
            <a:ext cx="1905701" cy="238110"/>
          </a:xfrm>
          <a:prstGeom prst="rect">
            <a:avLst/>
          </a:prstGeom>
          <a:noFill/>
          <a:ln/>
        </p:spPr>
        <p:txBody>
          <a:bodyPr wrap="none" lIns="0" tIns="0" rIns="0" bIns="0" rtlCol="0" anchor="ctr"/>
          <a:lstStyle/>
          <a:p>
            <a:pPr algn="l" indent="0" marL="0">
              <a:buNone/>
            </a:pPr>
            <a:r>
              <a:rPr lang="ko-KR" altLang="en-US" sz="1250" spc="-14" kern="0" dirty="0">
                <a:solidFill>
                  <a:srgbClr val="2E3A1B"/>
                </a:solidFill>
                <a:latin typeface="Paperlogy 7 Bold" pitchFamily="34" charset="0"/>
                <a:ea typeface="Paperlogy 7 Bold" pitchFamily="34" charset="-122"/>
                <a:cs typeface="Paperlogy 7 Bold" pitchFamily="34" charset="-120"/>
              </a:rPr>
              <a:t>안전·접근성·우천 대안 검토</a:t>
            </a:r>
            <a:endParaRPr lang="en-US" sz="1250" dirty="0"/>
          </a:p>
        </p:txBody>
      </p:sp>
      <p:sp>
        <p:nvSpPr>
          <p:cNvPr id="33" name="글상자 32"/>
          <p:cNvSpPr txBox="1"/>
          <p:nvPr/>
        </p:nvSpPr>
        <p:spPr>
          <a:xfrm>
            <a:off x="4076670" y="4300332"/>
            <a:ext cx="946770" cy="180960"/>
          </a:xfrm>
          <a:prstGeom prst="rect">
            <a:avLst/>
          </a:prstGeom>
          <a:noFill/>
          <a:ln/>
        </p:spPr>
        <p:txBody>
          <a:bodyPr wrap="none" lIns="0" tIns="0" rIns="0" bIns="0" rtlCol="0" anchor="ctr"/>
          <a:lstStyle/>
          <a:p>
            <a:pPr algn="l" indent="0" marL="0">
              <a:buNone/>
            </a:pPr>
            <a:r>
              <a:rPr lang="ko-KR" altLang="en-US" sz="950" spc="-14" kern="0" dirty="0">
                <a:solidFill>
                  <a:srgbClr val="646D40"/>
                </a:solidFill>
                <a:latin typeface="Paperlogy 4 Regular" pitchFamily="34" charset="0"/>
                <a:ea typeface="Paperlogy 4 Regular" pitchFamily="34" charset="-122"/>
                <a:cs typeface="Paperlogy 4 Regular" pitchFamily="34" charset="-120"/>
              </a:rPr>
              <a:t>→ 안전·법규·환경</a:t>
            </a:r>
            <a:endParaRPr lang="en-US" sz="950" dirty="0"/>
          </a:p>
        </p:txBody>
      </p:sp>
      <p:sp>
        <p:nvSpPr>
          <p:cNvPr id="34" name="글상자 33"/>
          <p:cNvSpPr txBox="1"/>
          <p:nvPr/>
        </p:nvSpPr>
        <p:spPr>
          <a:xfrm>
            <a:off x="844540" y="4716292"/>
            <a:ext cx="571683" cy="161940"/>
          </a:xfrm>
          <a:prstGeom prst="rect">
            <a:avLst/>
          </a:prstGeom>
          <a:noFill/>
          <a:ln/>
        </p:spPr>
        <p:txBody>
          <a:bodyPr wrap="none" lIns="0" tIns="0" rIns="0" bIns="0" rtlCol="0" anchor="ctr"/>
          <a:lstStyle/>
          <a:p>
            <a:pPr algn="l" indent="0" marL="0">
              <a:buNone/>
            </a:pPr>
            <a:r>
              <a:rPr lang="ko-KR" altLang="en-US" sz="850" spc="68" kern="0" dirty="0">
                <a:solidFill>
                  <a:srgbClr val="646D40"/>
                </a:solidFill>
                <a:latin typeface="Paperlogy 8 ExtraBold" pitchFamily="34" charset="0"/>
                <a:ea typeface="Paperlogy 8 ExtraBold" pitchFamily="34" charset="-122"/>
                <a:cs typeface="Paperlogy 8 ExtraBold" pitchFamily="34" charset="-120"/>
              </a:rPr>
              <a:t>자료 출처</a:t>
            </a:r>
            <a:endParaRPr lang="en-US" sz="850" dirty="0"/>
          </a:p>
        </p:txBody>
      </p:sp>
      <p:sp>
        <p:nvSpPr>
          <p:cNvPr id="35" name="글상자 34"/>
          <p:cNvSpPr txBox="1"/>
          <p:nvPr/>
        </p:nvSpPr>
        <p:spPr>
          <a:xfrm>
            <a:off x="1898660" y="4718944"/>
            <a:ext cx="3625413" cy="156545"/>
          </a:xfrm>
          <a:prstGeom prst="rect">
            <a:avLst/>
          </a:prstGeom>
          <a:noFill/>
          <a:ln/>
        </p:spPr>
        <p:txBody>
          <a:bodyPr wrap="none" lIns="0" tIns="0" rIns="0" bIns="0" rtlCol="0" anchor="ctr"/>
          <a:lstStyle/>
          <a:p>
            <a:pPr algn="l" indent="0" marL="0">
              <a:buNone/>
            </a:pPr>
            <a:r>
              <a:rPr lang="ko-KR" altLang="en-US" sz="850" spc="-14" kern="0" dirty="0">
                <a:solidFill>
                  <a:srgbClr val="45512A"/>
                </a:solidFill>
                <a:latin typeface="Paperlogy 4 Regular" pitchFamily="34" charset="0"/>
                <a:ea typeface="Paperlogy 4 Regular" pitchFamily="34" charset="-122"/>
                <a:cs typeface="Paperlogy 4 Regular" pitchFamily="34" charset="-120"/>
              </a:rPr>
              <a:t>문화체육관광부·한국문화관광연구원 「2025년 국민여행조사」 (2026.06.30)</a:t>
            </a:r>
            <a:endParaRPr lang="en-US" sz="850" dirty="0"/>
          </a:p>
        </p:txBody>
      </p:sp>
      <p:sp>
        <p:nvSpPr>
          <p:cNvPr id="36" name="글상자 35"/>
          <p:cNvSpPr txBox="1"/>
          <p:nvPr/>
        </p:nvSpPr>
        <p:spPr>
          <a:xfrm>
            <a:off x="1898660" y="4888108"/>
            <a:ext cx="2401854" cy="156545"/>
          </a:xfrm>
          <a:prstGeom prst="rect">
            <a:avLst/>
          </a:prstGeom>
          <a:noFill/>
          <a:ln/>
        </p:spPr>
        <p:txBody>
          <a:bodyPr wrap="none" lIns="0" tIns="0" rIns="0" bIns="0" rtlCol="0" anchor="ctr"/>
          <a:lstStyle/>
          <a:p>
            <a:pPr algn="l" indent="0" marL="0">
              <a:buNone/>
            </a:pPr>
            <a:r>
              <a:rPr lang="ko-KR" altLang="en-US" sz="850" spc="-14" kern="0" dirty="0">
                <a:solidFill>
                  <a:srgbClr val="45512A"/>
                </a:solidFill>
                <a:latin typeface="Paperlogy 4 Regular" pitchFamily="34" charset="0"/>
                <a:ea typeface="Paperlogy 4 Regular" pitchFamily="34" charset="-122"/>
                <a:cs typeface="Paperlogy 4 Regular" pitchFamily="34" charset="-120"/>
              </a:rPr>
              <a:t>서울신문 (2025.03.07) · 한국교육신문 — 의암호</a:t>
            </a:r>
            <a:endParaRPr lang="en-US" sz="850" dirty="0"/>
          </a:p>
        </p:txBody>
      </p:sp>
      <p:sp>
        <p:nvSpPr>
          <p:cNvPr id="37" name="글상자 36"/>
          <p:cNvSpPr txBox="1"/>
          <p:nvPr/>
        </p:nvSpPr>
        <p:spPr>
          <a:xfrm>
            <a:off x="1898660" y="5057272"/>
            <a:ext cx="3475817" cy="156545"/>
          </a:xfrm>
          <a:prstGeom prst="rect">
            <a:avLst/>
          </a:prstGeom>
          <a:noFill/>
          <a:ln/>
        </p:spPr>
        <p:txBody>
          <a:bodyPr wrap="none" lIns="0" tIns="0" rIns="0" bIns="0" rtlCol="0" anchor="ctr"/>
          <a:lstStyle/>
          <a:p>
            <a:pPr algn="l" indent="0" marL="0">
              <a:buNone/>
            </a:pPr>
            <a:r>
              <a:rPr lang="ko-KR" altLang="en-US" sz="850" spc="-14" kern="0" dirty="0">
                <a:solidFill>
                  <a:srgbClr val="45512A"/>
                </a:solidFill>
                <a:latin typeface="Paperlogy 4 Regular" pitchFamily="34" charset="0"/>
                <a:ea typeface="Paperlogy 4 Regular" pitchFamily="34" charset="-122"/>
                <a:cs typeface="Paperlogy 4 Regular" pitchFamily="34" charset="-120"/>
              </a:rPr>
              <a:t>ktriptips.com — 공지천 · 헤럴드경제 (2026.09.13) — 닭갈비·막국수</a:t>
            </a:r>
            <a:endParaRPr lang="en-US" sz="850" dirty="0"/>
          </a:p>
        </p:txBody>
      </p:sp>
      <p:sp>
        <p:nvSpPr>
          <p:cNvPr id="38" name="글상자 37"/>
          <p:cNvSpPr txBox="1"/>
          <p:nvPr/>
        </p:nvSpPr>
        <p:spPr>
          <a:xfrm>
            <a:off x="1898660" y="5226436"/>
            <a:ext cx="2450958" cy="156545"/>
          </a:xfrm>
          <a:prstGeom prst="rect">
            <a:avLst/>
          </a:prstGeom>
          <a:noFill/>
          <a:ln/>
        </p:spPr>
        <p:txBody>
          <a:bodyPr wrap="none" lIns="0" tIns="0" rIns="0" bIns="0" rtlCol="0" anchor="ctr"/>
          <a:lstStyle/>
          <a:p>
            <a:pPr algn="l" indent="0" marL="0">
              <a:buNone/>
            </a:pPr>
            <a:r>
              <a:rPr lang="ko-KR" altLang="en-US" sz="850" spc="-14" kern="0" dirty="0">
                <a:solidFill>
                  <a:srgbClr val="45512A"/>
                </a:solidFill>
                <a:latin typeface="Paperlogy 4 Regular" pitchFamily="34" charset="0"/>
                <a:ea typeface="Paperlogy 4 Regular" pitchFamily="34" charset="-122"/>
                <a:cs typeface="Paperlogy 4 Regular" pitchFamily="34" charset="-120"/>
              </a:rPr>
              <a:t>관광레저상품론 과제 안내문 — 평가 기준 · 고객 여정</a:t>
            </a:r>
            <a:endParaRPr lang="en-US" sz="850" dirty="0"/>
          </a:p>
        </p:txBody>
      </p:sp>
      <p:sp>
        <p:nvSpPr>
          <p:cNvPr id="39" name="글상자 38"/>
          <p:cNvSpPr txBox="1"/>
          <p:nvPr/>
        </p:nvSpPr>
        <p:spPr>
          <a:xfrm>
            <a:off x="844540" y="5500848"/>
            <a:ext cx="424739" cy="161940"/>
          </a:xfrm>
          <a:prstGeom prst="rect">
            <a:avLst/>
          </a:prstGeom>
          <a:noFill/>
          <a:ln/>
        </p:spPr>
        <p:txBody>
          <a:bodyPr wrap="none" lIns="0" tIns="0" rIns="0" bIns="0" rtlCol="0" anchor="ctr"/>
          <a:lstStyle/>
          <a:p>
            <a:pPr algn="l" indent="0" marL="0">
              <a:buNone/>
            </a:pPr>
            <a:r>
              <a:rPr lang="ko-KR" altLang="en-US" sz="850" spc="68" kern="0" dirty="0">
                <a:solidFill>
                  <a:srgbClr val="646D40"/>
                </a:solidFill>
                <a:latin typeface="Paperlogy 8 ExtraBold" pitchFamily="34" charset="0"/>
                <a:ea typeface="Paperlogy 8 ExtraBold" pitchFamily="34" charset="-122"/>
                <a:cs typeface="Paperlogy 8 ExtraBold" pitchFamily="34" charset="-120"/>
              </a:rPr>
              <a:t>조사일</a:t>
            </a:r>
            <a:endParaRPr lang="en-US" sz="850" dirty="0"/>
          </a:p>
        </p:txBody>
      </p:sp>
      <p:sp>
        <p:nvSpPr>
          <p:cNvPr id="40" name="글상자 39"/>
          <p:cNvSpPr txBox="1"/>
          <p:nvPr/>
        </p:nvSpPr>
        <p:spPr>
          <a:xfrm>
            <a:off x="1898660" y="5480274"/>
            <a:ext cx="866577" cy="190470"/>
          </a:xfrm>
          <a:prstGeom prst="rect">
            <a:avLst/>
          </a:prstGeom>
          <a:noFill/>
          <a:ln/>
        </p:spPr>
        <p:txBody>
          <a:bodyPr wrap="none" lIns="0" tIns="0" rIns="0" bIns="0" rtlCol="0" anchor="ctr"/>
          <a:lstStyle/>
          <a:p>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2026.10.19</a:t>
            </a:r>
            <a:endParaRPr lang="en-US" sz="1000" dirty="0"/>
          </a:p>
        </p:txBody>
      </p:sp>
      <p:sp>
        <p:nvSpPr>
          <p:cNvPr id="41" name="글상자 40"/>
          <p:cNvSpPr txBox="1"/>
          <p:nvPr/>
        </p:nvSpPr>
        <p:spPr>
          <a:xfrm>
            <a:off x="844540" y="5786598"/>
            <a:ext cx="752185" cy="161940"/>
          </a:xfrm>
          <a:prstGeom prst="rect">
            <a:avLst/>
          </a:prstGeom>
          <a:noFill/>
          <a:ln/>
        </p:spPr>
        <p:txBody>
          <a:bodyPr wrap="none" lIns="0" tIns="0" rIns="0" bIns="0" rtlCol="0" anchor="ctr"/>
          <a:lstStyle/>
          <a:p>
            <a:pPr algn="l" indent="0" marL="0">
              <a:buNone/>
            </a:pPr>
            <a:r>
              <a:rPr lang="ko-KR" altLang="en-US" sz="850" spc="68" kern="0" dirty="0">
                <a:solidFill>
                  <a:srgbClr val="646D40"/>
                </a:solidFill>
                <a:latin typeface="Paperlogy 8 ExtraBold" pitchFamily="34" charset="0"/>
                <a:ea typeface="Paperlogy 8 ExtraBold" pitchFamily="34" charset="-122"/>
                <a:cs typeface="Paperlogy 8 ExtraBold" pitchFamily="34" charset="-120"/>
              </a:rPr>
              <a:t>AI 활용 범위</a:t>
            </a:r>
            <a:endParaRPr lang="en-US" sz="850" dirty="0"/>
          </a:p>
        </p:txBody>
      </p:sp>
      <p:sp>
        <p:nvSpPr>
          <p:cNvPr id="42" name="글상자 41"/>
          <p:cNvSpPr txBox="1"/>
          <p:nvPr/>
        </p:nvSpPr>
        <p:spPr>
          <a:xfrm>
            <a:off x="1898660" y="5766024"/>
            <a:ext cx="2282434" cy="190470"/>
          </a:xfrm>
          <a:prstGeom prst="rect">
            <a:avLst/>
          </a:prstGeom>
          <a:noFill/>
          <a:ln/>
        </p:spPr>
        <p:txBody>
          <a:bodyPr wrap="none" lIns="0" tIns="0" rIns="0" bIns="0" rtlCol="0" anchor="ctr"/>
          <a:lstStyle/>
          <a:p>
            <a:pPr algn="l" indent="0" marL="0">
              <a:buNone/>
            </a:pPr>
            <a:r>
              <a:rPr lang="ko-KR" altLang="en-US" sz="1000" spc="-14" kern="0" dirty="0">
                <a:solidFill>
                  <a:srgbClr val="45512A"/>
                </a:solidFill>
                <a:latin typeface="Paperlogy 4 Regular" pitchFamily="34" charset="0"/>
                <a:ea typeface="Paperlogy 4 Regular" pitchFamily="34" charset="-122"/>
                <a:cs typeface="Paperlogy 4 Regular" pitchFamily="34" charset="-120"/>
              </a:rPr>
              <a:t>ChatGPT (발표 구성안 정리 · 사진 생성)</a:t>
            </a:r>
            <a:endParaRPr lang="en-US" sz="1000" dirty="0"/>
          </a:p>
        </p:txBody>
      </p:sp>
      <p:sp>
        <p:nvSpPr>
          <p:cNvPr id="43" name="글상자 42"/>
          <p:cNvSpPr txBox="1"/>
          <p:nvPr/>
        </p:nvSpPr>
        <p:spPr>
          <a:xfrm>
            <a:off x="698510" y="6316675"/>
            <a:ext cx="2364273" cy="180960"/>
          </a:xfrm>
          <a:prstGeom prst="rect">
            <a:avLst/>
          </a:prstGeom>
          <a:noFill/>
          <a:ln/>
        </p:spPr>
        <p:txBody>
          <a:bodyPr wrap="none" lIns="0" tIns="0" rIns="0" bIns="0" rtlCol="0" anchor="ctr"/>
          <a:lstStyle/>
          <a:p>
            <a:pPr algn="l" indent="0" marL="0">
              <a:buNone/>
            </a:pPr>
            <a:r>
              <a:rPr lang="ko-KR" altLang="en-US" sz="950" spc="10" kern="0" dirty="0">
                <a:solidFill>
                  <a:srgbClr val="646D40"/>
                </a:solidFill>
                <a:latin typeface="Paperlogy 4 Regular" pitchFamily="34" charset="0"/>
                <a:ea typeface="Paperlogy 4 Regular" pitchFamily="34" charset="-122"/>
                <a:cs typeface="Paperlogy 4 Regular" pitchFamily="34" charset="-120"/>
              </a:rPr>
              <a:t>관광레저상품론 · 관광상품 기획 사전 제안서</a:t>
            </a:r>
            <a:endParaRPr lang="en-US" sz="950" dirty="0"/>
          </a:p>
        </p:txBody>
      </p:sp>
      <p:sp>
        <p:nvSpPr>
          <p:cNvPr id="44" name="글상자 43"/>
          <p:cNvSpPr txBox="1"/>
          <p:nvPr/>
        </p:nvSpPr>
        <p:spPr>
          <a:xfrm>
            <a:off x="6678778" y="6316675"/>
            <a:ext cx="597926" cy="180960"/>
          </a:xfrm>
          <a:prstGeom prst="rect">
            <a:avLst/>
          </a:prstGeom>
          <a:noFill/>
          <a:ln/>
        </p:spPr>
        <p:txBody>
          <a:bodyPr wrap="none" lIns="0" tIns="0" rIns="0" bIns="0" rtlCol="0" anchor="ctr"/>
          <a:lstStyle/>
          <a:p>
            <a:pPr algn="l" indent="0" marL="0">
              <a:buNone/>
            </a:pPr>
            <a:r>
              <a:rPr lang="ko-KR" altLang="en-US" sz="950" spc="57" kern="0" dirty="0">
                <a:solidFill>
                  <a:srgbClr val="2E3A1B"/>
                </a:solidFill>
                <a:latin typeface="Paperlogy 7 Bold" pitchFamily="34" charset="0"/>
                <a:ea typeface="Paperlogy 7 Bold" pitchFamily="34" charset="-122"/>
                <a:cs typeface="Paperlogy 7 Bold" pitchFamily="34" charset="-120"/>
              </a:rPr>
              <a:t>10 / 10</a:t>
            </a:r>
            <a:endParaRPr lang="en-US" sz="950" dirty="0"/>
          </a:p>
        </p:txBody>
      </p:sp>
    </p:spTree>
  </p:cSld>
  <p:clrMapOvr>
    <a:masterClrMapping/>
  </p:clrMapOvr>
</p:sld>
</file>

<file path=ppt/theme/theme1.xml><?xml version="1.0" encoding="utf-8"?>
<a:theme xmlns:a="http://schemas.openxmlformats.org/drawingml/2006/main" name="Chuncheon Pause">
  <a:themeElements>
    <a:clrScheme name="Chuncheon Pause">
      <a:dk1>
        <a:srgbClr val="2E3A1B"/>
      </a:dk1>
      <a:lt1>
        <a:srgbClr val="F5F1E6"/>
      </a:lt1>
      <a:dk2>
        <a:srgbClr val="45512A"/>
      </a:dk2>
      <a:lt2>
        <a:srgbClr val="ECE6D5"/>
      </a:lt2>
      <a:accent1>
        <a:srgbClr val="737F4A"/>
      </a:accent1>
      <a:accent2>
        <a:srgbClr val="B5C092"/>
      </a:accent2>
      <a:accent3>
        <a:srgbClr val="DDE3C7"/>
      </a:accent3>
      <a:accent4>
        <a:srgbClr val="646D40"/>
      </a:accent4>
      <a:accent5>
        <a:srgbClr val="D5CEB8"/>
      </a:accent5>
      <a:accent6>
        <a:srgbClr val="F1E5BD"/>
      </a:accent6>
      <a:hlink>
        <a:srgbClr val="737F4A"/>
      </a:hlink>
      <a:folHlink>
        <a:srgbClr val="646D40"/>
      </a:folHlink>
    </a:clrScheme>
    <a:fontScheme name="Chuncheon Pause">
      <a:majorFont>
        <a:latin typeface="Paperlogy 7 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aperlogy 4 Regula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춘천, 쉼표 하나</dc:title>
  <dc:subject>관광레저상품론 중간과제 — 관광레저상품 기획 사전 제안서</dc:subject>
  <dc:creator>이세진</dc:creator>
  <cp:lastModifiedBy>이세진</cp:lastModifiedBy>
  <cp:revision>1</cp:revision>
  <dcterms:created xsi:type="dcterms:W3CDTF">2026-10-19T10:39:22Z</dcterms:created>
  <dcterms:modified xsi:type="dcterms:W3CDTF">2026-10-19T10:39:22Z</dcterms:modified>
</cp:coreProperties>
</file>