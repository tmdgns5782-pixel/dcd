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목차" id="{59abc4d5-6641-60bd-3e7a-f477774e35a0}">
          <p14:sldIdLst>
            <p14:sldId id="256"/>
            <p14:sldId id="257"/>
          </p14:sldIdLst>
        </p14:section>
        <p14:section name="트렌드 개요" id="{a9fd6976-80ab-38e2-6e7e-8bbf362346af}">
          <p14:sldIdLst>
            <p14:sldId id="258"/>
          </p14:sldIdLst>
        </p14:section>
        <p14:section name="현상과 사례" id="{bc5ab40a-d3bc-e309-f530-6f49c42494bb}">
          <p14:sldIdLst>
            <p14:sldId id="259"/>
            <p14:sldId id="260"/>
            <p14:sldId id="261"/>
          </p14:sldIdLst>
        </p14:section>
        <p14:section name="원인과 이론" id="{03f5b34d-a4f1-1f4b-052e-f96f950630c8}">
          <p14:sldIdLst>
            <p14:sldId id="262"/>
            <p14:sldId id="263"/>
            <p14:sldId id="264"/>
            <p14:sldId id="265"/>
          </p14:sldIdLst>
        </p14:section>
        <p14:section name="기업 대응" id="{11cf2e19-92f2-607f-1d2a-823c5558bb46}">
          <p14:sldIdLst>
            <p14:sldId id="266"/>
          </p14:sldIdLst>
        </p14:section>
        <p14:section name="마케팅 전략" id="{18f787fd-7095-738f-df11-6c1ca26c124d}">
          <p14:sldIdLst>
            <p14:sldId id="267"/>
            <p14:sldId id="268"/>
            <p14:sldId id="269"/>
            <p14:sldId id="270"/>
          </p14:sldIdLst>
        </p14:section>
        <p14:section name="결론" id="{3d532114-c7e6-1c80-7dad-150ae5f24cb8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23930" y="2233605"/>
            <a:ext cx="8255020" cy="1025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500" spc="-450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defRPr>
            </a:lvl1pPr>
          </a:lstStyle>
          <a:p>
            <a:pPr algn="l" indent="0" marL="0">
              <a:buNone/>
            </a:pPr>
            <a:endParaRPr lang="en-US" sz="7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273040"/>
            <a:ext cx="69851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휴먼 인 더 루프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371600" y="273040"/>
            <a:ext cx="114300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· Trend Korea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0559" y="273040"/>
            <a:ext cx="27944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/ 17</a:t>
            </a:r>
            <a:endParaRPr lang="en-US" sz="85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1148121"/>
            <a:ext cx="10668030" cy="11227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4320"/>
              </a:lnSpc>
              <a:buNone/>
              <a:def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defRPr>
            </a:lvl1pPr>
          </a:lstStyle>
          <a:p>
            <a:pPr algn="l" indent="0" marL="0">
              <a:lnSpc>
                <a:spcPts val="4320"/>
              </a:lnSpc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 (자유 배치)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273040"/>
            <a:ext cx="69851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휴먼 인 더 루프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371600" y="273040"/>
            <a:ext cx="114300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· Trend Korea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0559" y="273040"/>
            <a:ext cx="27944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/ 17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강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273040"/>
            <a:ext cx="69851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휴먼 인 더 루프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371600" y="273040"/>
            <a:ext cx="114300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· Trend Korea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0559" y="273040"/>
            <a:ext cx="27944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/ 17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강조 (제목)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70" y="273040"/>
            <a:ext cx="69851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휴먼 인 더 루프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371600" y="273040"/>
            <a:ext cx="1143000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· Trend Korea 2026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150559" y="273040"/>
            <a:ext cx="279441" cy="177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6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/ 17</a:t>
            </a:r>
            <a:endParaRPr lang="en-US" sz="85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761970" y="1148121"/>
            <a:ext cx="10668030" cy="11227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4320"/>
              </a:lnSpc>
              <a:buNone/>
              <a:def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defRPr>
            </a:lvl1pPr>
          </a:lstStyle>
          <a:p>
            <a:pPr algn="l" indent="0" marL="0">
              <a:lnSpc>
                <a:spcPts val="4320"/>
              </a:lnSpc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궤도 1"/>
          <p:cNvSpPr/>
          <p:nvPr/>
        </p:nvSpPr>
        <p:spPr>
          <a:xfrm rot="-840000">
            <a:off x="8762970" y="2095530"/>
            <a:ext cx="2667030" cy="952530"/>
          </a:xfrm>
          <a:prstGeom prst="ellipse">
            <a:avLst/>
          </a:prstGeom>
          <a:noFill/>
          <a:ln w="19050">
            <a:solidFill>
              <a:schemeClr val="accent1">
                <a:alpha val="28000"/>
              </a:schemeClr>
            </a:solidFill>
            <a:prstDash val="solid"/>
          </a:ln>
        </p:spPr>
      </p:sp>
      <p:pic>
        <p:nvPicPr>
          <p:cNvPr id="3" name="AI 구체 1" descr="AI 구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6301" y="1331001"/>
            <a:ext cx="2252990" cy="2252990"/>
          </a:xfrm>
          <a:prstGeom prst="rect">
            <a:avLst/>
          </a:prstGeom>
        </p:spPr>
      </p:pic>
      <p:pic>
        <p:nvPicPr>
          <p:cNvPr id="4" name="사람 구체 1" descr="사람 구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272" y="2523012"/>
            <a:ext cx="757946" cy="757946"/>
          </a:xfrm>
          <a:prstGeom prst="rect">
            <a:avLst/>
          </a:prstGeom>
        </p:spPr>
      </p:pic>
      <p:sp>
        <p:nvSpPr>
          <p:cNvPr id="5" name="라벨 1"/>
          <p:cNvSpPr/>
          <p:nvPr/>
        </p:nvSpPr>
        <p:spPr>
          <a:xfrm>
            <a:off x="787390" y="1841510"/>
            <a:ext cx="1991563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Trend Korea 2026 · 키워드 01</a:t>
            </a:r>
            <a:endParaRPr lang="en-US" sz="1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23930" y="2233605"/>
            <a:ext cx="8255020" cy="10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sz="7500" spc="-450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휴먼 인 더 루프</a:t>
            </a:r>
            <a:endParaRPr lang="en-US" sz="7500" dirty="0"/>
          </a:p>
        </p:txBody>
      </p:sp>
      <p:sp>
        <p:nvSpPr>
          <p:cNvPr id="7" name="AI에게 맡기는 소비자 1"/>
          <p:cNvSpPr txBox="1"/>
          <p:nvPr/>
        </p:nvSpPr>
        <p:spPr>
          <a:xfrm>
            <a:off x="787390" y="3565520"/>
            <a:ext cx="2136770" cy="36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000" spc="-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AI에게 맡기는 소비자</a:t>
            </a:r>
            <a:endParaRPr lang="en-US" sz="2000" dirty="0"/>
          </a:p>
        </p:txBody>
      </p:sp>
      <p:sp>
        <p:nvSpPr>
          <p:cNvPr id="8" name="왜 추천·검색·선택을 AI에 맡기 1"/>
          <p:cNvSpPr txBox="1"/>
          <p:nvPr/>
        </p:nvSpPr>
        <p:spPr>
          <a:xfrm>
            <a:off x="787390" y="3933840"/>
            <a:ext cx="3571555" cy="368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000" spc="-80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왜 추천·검색·선택을 AI에 맡기는가?</a:t>
            </a:r>
            <a:endParaRPr lang="en-US" sz="2000" dirty="0"/>
          </a:p>
        </p:txBody>
      </p:sp>
      <p:sp>
        <p:nvSpPr>
          <p:cNvPr id="9" name="구분선 1"/>
          <p:cNvSpPr/>
          <p:nvPr/>
        </p:nvSpPr>
        <p:spPr>
          <a:xfrm>
            <a:off x="761970" y="5753130"/>
            <a:ext cx="1066803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0" name="소비자행동론 팀프로젝트 1"/>
          <p:cNvSpPr txBox="1"/>
          <p:nvPr/>
        </p:nvSpPr>
        <p:spPr>
          <a:xfrm>
            <a:off x="761970" y="6108741"/>
            <a:ext cx="1512143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00" spc="-36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소비자행동론 팀프로젝트</a:t>
            </a:r>
            <a:endParaRPr lang="en-US" sz="1200" dirty="0"/>
          </a:p>
        </p:txBody>
      </p:sp>
      <p:sp>
        <p:nvSpPr>
          <p:cNvPr id="11" name="과목 1"/>
          <p:cNvSpPr txBox="1"/>
          <p:nvPr/>
        </p:nvSpPr>
        <p:spPr>
          <a:xfrm>
            <a:off x="761970" y="5937291"/>
            <a:ext cx="233721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spc="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과목</a:t>
            </a:r>
            <a:endParaRPr lang="en-US" sz="800" dirty="0"/>
          </a:p>
        </p:txBody>
      </p:sp>
      <p:sp>
        <p:nvSpPr>
          <p:cNvPr id="12" name="A조 1"/>
          <p:cNvSpPr txBox="1"/>
          <p:nvPr/>
        </p:nvSpPr>
        <p:spPr>
          <a:xfrm>
            <a:off x="4402653" y="6108741"/>
            <a:ext cx="292059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00" spc="-36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A조</a:t>
            </a:r>
            <a:endParaRPr lang="en-US" sz="1200" dirty="0"/>
          </a:p>
        </p:txBody>
      </p:sp>
      <p:sp>
        <p:nvSpPr>
          <p:cNvPr id="13" name="팀 1"/>
          <p:cNvSpPr txBox="1"/>
          <p:nvPr/>
        </p:nvSpPr>
        <p:spPr>
          <a:xfrm>
            <a:off x="4402653" y="5937291"/>
            <a:ext cx="142281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spc="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팀</a:t>
            </a:r>
            <a:endParaRPr lang="en-US" sz="800" dirty="0"/>
          </a:p>
        </p:txBody>
      </p:sp>
      <p:sp>
        <p:nvSpPr>
          <p:cNvPr id="14" name="OOO · OOO · OOO ·  1"/>
          <p:cNvSpPr txBox="1"/>
          <p:nvPr/>
        </p:nvSpPr>
        <p:spPr>
          <a:xfrm>
            <a:off x="6219749" y="6108741"/>
            <a:ext cx="189198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00" spc="-36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OOO · OOO · OOO · OOO</a:t>
            </a:r>
            <a:endParaRPr lang="en-US" sz="1200" dirty="0"/>
          </a:p>
        </p:txBody>
      </p:sp>
      <p:sp>
        <p:nvSpPr>
          <p:cNvPr id="15" name="팀원 1"/>
          <p:cNvSpPr txBox="1"/>
          <p:nvPr/>
        </p:nvSpPr>
        <p:spPr>
          <a:xfrm>
            <a:off x="6219749" y="5937291"/>
            <a:ext cx="233721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spc="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팀원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2498141"/>
            <a:ext cx="1030895" cy="396210"/>
          </a:xfrm>
          <a:prstGeom prst="roundRect">
            <a:avLst>
              <a:gd name="adj" fmla="val 4998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400" spc="-42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Contents</a:t>
            </a:r>
            <a:endParaRPr lang="en-US" sz="1400" dirty="0"/>
          </a:p>
        </p:txBody>
      </p:sp>
      <p:sp>
        <p:nvSpPr>
          <p:cNvPr id="3" name="목차 1"/>
          <p:cNvSpPr txBox="1"/>
          <p:nvPr/>
        </p:nvSpPr>
        <p:spPr>
          <a:xfrm>
            <a:off x="761970" y="3030870"/>
            <a:ext cx="1614739" cy="952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0" spc="-488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목차</a:t>
            </a:r>
            <a:endParaRPr lang="en-US" sz="7500" dirty="0"/>
          </a:p>
        </p:txBody>
      </p:sp>
      <p:sp>
        <p:nvSpPr>
          <p:cNvPr id="4" name="AI에게 선택을 맡기는 소비자를현 1"/>
          <p:cNvSpPr txBox="1"/>
          <p:nvPr/>
        </p:nvSpPr>
        <p:spPr>
          <a:xfrm>
            <a:off x="761970" y="5734111"/>
            <a:ext cx="2687604" cy="55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2170"/>
              </a:lnSpc>
              <a:buNone/>
            </a:pPr>
            <a:r>
              <a:rPr lang="en-US" sz="1400" spc="-42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AI에게 선택을 맡기는 소비자를</a:t>
            </a:r>
            <a:endParaRPr lang="en-US" sz="1400" dirty="0"/>
          </a:p>
          <a:p>
            <a:pPr eaLnBrk="0" algn="l" indent="0" marL="0">
              <a:lnSpc>
                <a:spcPts val="2170"/>
              </a:lnSpc>
              <a:buNone/>
            </a:pPr>
            <a:r>
              <a:rPr lang="en-US" sz="1400" spc="-4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현상 → 원인 → 대응</a:t>
            </a:r>
            <a:pPr eaLnBrk="0" algn="l" indent="0" marL="0">
              <a:lnSpc>
                <a:spcPts val="2170"/>
              </a:lnSpc>
              <a:buNone/>
            </a:pPr>
            <a:r>
              <a:rPr lang="en-US" sz="1400" spc="-42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순서로 살펴봅니다.</a:t>
            </a:r>
            <a:endParaRPr lang="en-US" sz="1400" dirty="0"/>
          </a:p>
        </p:txBody>
      </p:sp>
      <p:sp>
        <p:nvSpPr>
          <p:cNvPr id="5" name="카드 1"/>
          <p:cNvSpPr/>
          <p:nvPr/>
        </p:nvSpPr>
        <p:spPr>
          <a:xfrm>
            <a:off x="4444990" y="952530"/>
            <a:ext cx="3429000" cy="1238280"/>
          </a:xfrm>
          <a:prstGeom prst="roundRect">
            <a:avLst>
              <a:gd name="adj" fmla="val 164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6" name="01 1"/>
          <p:cNvSpPr txBox="1"/>
          <p:nvPr/>
        </p:nvSpPr>
        <p:spPr>
          <a:xfrm>
            <a:off x="4673590" y="1371600"/>
            <a:ext cx="34189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54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트렌드 한눈에 보기 1"/>
          <p:cNvSpPr txBox="1"/>
          <p:nvPr/>
        </p:nvSpPr>
        <p:spPr>
          <a:xfrm>
            <a:off x="5168920" y="1371600"/>
            <a:ext cx="1485717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트렌드 한눈에 보기</a:t>
            </a:r>
            <a:endParaRPr lang="en-US" sz="1600" dirty="0"/>
          </a:p>
        </p:txBody>
      </p:sp>
      <p:sp>
        <p:nvSpPr>
          <p:cNvPr id="8" name="OVERVIEW 1"/>
          <p:cNvSpPr txBox="1"/>
          <p:nvPr/>
        </p:nvSpPr>
        <p:spPr>
          <a:xfrm>
            <a:off x="5168920" y="1657350"/>
            <a:ext cx="71743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105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OVERVIEW</a:t>
            </a:r>
            <a:endParaRPr lang="en-US" sz="750" dirty="0"/>
          </a:p>
        </p:txBody>
      </p:sp>
      <p:sp>
        <p:nvSpPr>
          <p:cNvPr id="9" name="03 1"/>
          <p:cNvSpPr txBox="1"/>
          <p:nvPr/>
        </p:nvSpPr>
        <p:spPr>
          <a:xfrm>
            <a:off x="7480066" y="1495410"/>
            <a:ext cx="21607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accent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03</a:t>
            </a:r>
            <a:endParaRPr lang="en-US" sz="1000" dirty="0"/>
          </a:p>
        </p:txBody>
      </p:sp>
      <p:sp>
        <p:nvSpPr>
          <p:cNvPr id="10" name="카드 2"/>
          <p:cNvSpPr/>
          <p:nvPr/>
        </p:nvSpPr>
        <p:spPr>
          <a:xfrm>
            <a:off x="8001000" y="952530"/>
            <a:ext cx="3429000" cy="1238280"/>
          </a:xfrm>
          <a:prstGeom prst="roundRect">
            <a:avLst>
              <a:gd name="adj" fmla="val 164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11" name="02 1"/>
          <p:cNvSpPr txBox="1"/>
          <p:nvPr/>
        </p:nvSpPr>
        <p:spPr>
          <a:xfrm>
            <a:off x="8229600" y="1371600"/>
            <a:ext cx="34189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54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실제 소비현상과 유형 1"/>
          <p:cNvSpPr txBox="1"/>
          <p:nvPr/>
        </p:nvSpPr>
        <p:spPr>
          <a:xfrm>
            <a:off x="8724930" y="1371600"/>
            <a:ext cx="1662105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실제 소비현상과 유형</a:t>
            </a:r>
            <a:endParaRPr lang="en-US" sz="1600" dirty="0"/>
          </a:p>
        </p:txBody>
      </p:sp>
      <p:sp>
        <p:nvSpPr>
          <p:cNvPr id="13" name="WHAT 1"/>
          <p:cNvSpPr txBox="1"/>
          <p:nvPr/>
        </p:nvSpPr>
        <p:spPr>
          <a:xfrm>
            <a:off x="8724930" y="1657350"/>
            <a:ext cx="42071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105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WHAT</a:t>
            </a:r>
            <a:endParaRPr lang="en-US" sz="750" dirty="0"/>
          </a:p>
        </p:txBody>
      </p:sp>
      <p:sp>
        <p:nvSpPr>
          <p:cNvPr id="14" name="04 1"/>
          <p:cNvSpPr txBox="1"/>
          <p:nvPr/>
        </p:nvSpPr>
        <p:spPr>
          <a:xfrm>
            <a:off x="11036076" y="1495410"/>
            <a:ext cx="21607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accent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04</a:t>
            </a:r>
            <a:endParaRPr lang="en-US" sz="1000" dirty="0"/>
          </a:p>
        </p:txBody>
      </p:sp>
      <p:sp>
        <p:nvSpPr>
          <p:cNvPr id="15" name="카드 3"/>
          <p:cNvSpPr/>
          <p:nvPr/>
        </p:nvSpPr>
        <p:spPr>
          <a:xfrm>
            <a:off x="4444990" y="2317730"/>
            <a:ext cx="3429000" cy="1238280"/>
          </a:xfrm>
          <a:prstGeom prst="roundRect">
            <a:avLst>
              <a:gd name="adj" fmla="val 164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16" name="03 2"/>
          <p:cNvSpPr txBox="1"/>
          <p:nvPr/>
        </p:nvSpPr>
        <p:spPr>
          <a:xfrm>
            <a:off x="4673590" y="2736891"/>
            <a:ext cx="34189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54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기업·브랜드 사례 1"/>
          <p:cNvSpPr txBox="1"/>
          <p:nvPr/>
        </p:nvSpPr>
        <p:spPr>
          <a:xfrm>
            <a:off x="5168920" y="2736891"/>
            <a:ext cx="1333744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기업·브랜드 사례</a:t>
            </a:r>
            <a:endParaRPr lang="en-US" sz="1600" dirty="0"/>
          </a:p>
        </p:txBody>
      </p:sp>
      <p:sp>
        <p:nvSpPr>
          <p:cNvPr id="18" name="CASE 1"/>
          <p:cNvSpPr txBox="1"/>
          <p:nvPr/>
        </p:nvSpPr>
        <p:spPr>
          <a:xfrm>
            <a:off x="5168920" y="3022641"/>
            <a:ext cx="37115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105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CASE</a:t>
            </a:r>
            <a:endParaRPr lang="en-US" sz="750" dirty="0"/>
          </a:p>
        </p:txBody>
      </p:sp>
      <p:sp>
        <p:nvSpPr>
          <p:cNvPr id="19" name="06 1"/>
          <p:cNvSpPr txBox="1"/>
          <p:nvPr/>
        </p:nvSpPr>
        <p:spPr>
          <a:xfrm>
            <a:off x="7480066" y="2860700"/>
            <a:ext cx="21607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accent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카드 4"/>
          <p:cNvSpPr/>
          <p:nvPr/>
        </p:nvSpPr>
        <p:spPr>
          <a:xfrm>
            <a:off x="8001000" y="2317730"/>
            <a:ext cx="3429000" cy="1238280"/>
          </a:xfrm>
          <a:prstGeom prst="roundRect">
            <a:avLst>
              <a:gd name="adj" fmla="val 164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21" name="04 2"/>
          <p:cNvSpPr txBox="1"/>
          <p:nvPr/>
        </p:nvSpPr>
        <p:spPr>
          <a:xfrm>
            <a:off x="8229600" y="2736891"/>
            <a:ext cx="34189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54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왜 AI에 맡기는가 1"/>
          <p:cNvSpPr txBox="1"/>
          <p:nvPr/>
        </p:nvSpPr>
        <p:spPr>
          <a:xfrm>
            <a:off x="8724930" y="2736891"/>
            <a:ext cx="1343894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왜 AI에 맡기는가</a:t>
            </a:r>
            <a:endParaRPr lang="en-US" sz="1600" dirty="0"/>
          </a:p>
        </p:txBody>
      </p:sp>
      <p:sp>
        <p:nvSpPr>
          <p:cNvPr id="23" name="WHY 1"/>
          <p:cNvSpPr txBox="1"/>
          <p:nvPr/>
        </p:nvSpPr>
        <p:spPr>
          <a:xfrm>
            <a:off x="8724930" y="3022641"/>
            <a:ext cx="3449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105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WHY</a:t>
            </a:r>
            <a:endParaRPr lang="en-US" sz="750" dirty="0"/>
          </a:p>
        </p:txBody>
      </p:sp>
      <p:sp>
        <p:nvSpPr>
          <p:cNvPr id="24" name="07 1"/>
          <p:cNvSpPr txBox="1"/>
          <p:nvPr/>
        </p:nvSpPr>
        <p:spPr>
          <a:xfrm>
            <a:off x="11036076" y="2860700"/>
            <a:ext cx="21607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accent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07</a:t>
            </a:r>
            <a:endParaRPr lang="en-US" sz="1000" dirty="0"/>
          </a:p>
        </p:txBody>
      </p:sp>
      <p:sp>
        <p:nvSpPr>
          <p:cNvPr id="25" name="카드 5"/>
          <p:cNvSpPr/>
          <p:nvPr/>
        </p:nvSpPr>
        <p:spPr>
          <a:xfrm>
            <a:off x="4444990" y="3683020"/>
            <a:ext cx="3429000" cy="1238280"/>
          </a:xfrm>
          <a:prstGeom prst="roundRect">
            <a:avLst>
              <a:gd name="adj" fmla="val 164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26" name="05 1"/>
          <p:cNvSpPr txBox="1"/>
          <p:nvPr/>
        </p:nvSpPr>
        <p:spPr>
          <a:xfrm>
            <a:off x="4673590" y="4102090"/>
            <a:ext cx="34189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54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소비자행동 이론 적용 1"/>
          <p:cNvSpPr txBox="1"/>
          <p:nvPr/>
        </p:nvSpPr>
        <p:spPr>
          <a:xfrm>
            <a:off x="5168920" y="4102090"/>
            <a:ext cx="1662105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소비자행동 이론 적용</a:t>
            </a:r>
            <a:endParaRPr lang="en-US" sz="1600" dirty="0"/>
          </a:p>
        </p:txBody>
      </p:sp>
      <p:sp>
        <p:nvSpPr>
          <p:cNvPr id="28" name="THEORY 1"/>
          <p:cNvSpPr txBox="1"/>
          <p:nvPr/>
        </p:nvSpPr>
        <p:spPr>
          <a:xfrm>
            <a:off x="5168920" y="4387840"/>
            <a:ext cx="5455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105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THEORY</a:t>
            </a:r>
            <a:endParaRPr lang="en-US" sz="750" dirty="0"/>
          </a:p>
        </p:txBody>
      </p:sp>
      <p:sp>
        <p:nvSpPr>
          <p:cNvPr id="29" name="09 1"/>
          <p:cNvSpPr txBox="1"/>
          <p:nvPr/>
        </p:nvSpPr>
        <p:spPr>
          <a:xfrm>
            <a:off x="7480066" y="4225900"/>
            <a:ext cx="21607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accent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카드 6"/>
          <p:cNvSpPr/>
          <p:nvPr/>
        </p:nvSpPr>
        <p:spPr>
          <a:xfrm>
            <a:off x="8001000" y="3683020"/>
            <a:ext cx="3429000" cy="1238280"/>
          </a:xfrm>
          <a:prstGeom prst="roundRect">
            <a:avLst>
              <a:gd name="adj" fmla="val 164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31" name="06 2"/>
          <p:cNvSpPr txBox="1"/>
          <p:nvPr/>
        </p:nvSpPr>
        <p:spPr>
          <a:xfrm>
            <a:off x="8229600" y="4102090"/>
            <a:ext cx="34189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54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기업의 현재 대응 평가 1"/>
          <p:cNvSpPr txBox="1"/>
          <p:nvPr/>
        </p:nvSpPr>
        <p:spPr>
          <a:xfrm>
            <a:off x="8724930" y="4102090"/>
            <a:ext cx="1699047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기업의 현재 대응 평가</a:t>
            </a:r>
            <a:endParaRPr lang="en-US" sz="1600" dirty="0"/>
          </a:p>
        </p:txBody>
      </p:sp>
      <p:sp>
        <p:nvSpPr>
          <p:cNvPr id="33" name="REVIEW 1"/>
          <p:cNvSpPr txBox="1"/>
          <p:nvPr/>
        </p:nvSpPr>
        <p:spPr>
          <a:xfrm>
            <a:off x="8724930" y="4387840"/>
            <a:ext cx="54068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105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REVIEW</a:t>
            </a:r>
            <a:endParaRPr lang="en-US" sz="750" dirty="0"/>
          </a:p>
        </p:txBody>
      </p:sp>
      <p:sp>
        <p:nvSpPr>
          <p:cNvPr id="34" name="11 1"/>
          <p:cNvSpPr txBox="1"/>
          <p:nvPr/>
        </p:nvSpPr>
        <p:spPr>
          <a:xfrm>
            <a:off x="11036076" y="4225900"/>
            <a:ext cx="21607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accent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11</a:t>
            </a:r>
            <a:endParaRPr lang="en-US" sz="1000" dirty="0"/>
          </a:p>
        </p:txBody>
      </p:sp>
      <p:sp>
        <p:nvSpPr>
          <p:cNvPr id="35" name="카드 7"/>
          <p:cNvSpPr/>
          <p:nvPr/>
        </p:nvSpPr>
        <p:spPr>
          <a:xfrm>
            <a:off x="4444990" y="5048220"/>
            <a:ext cx="3429000" cy="1238280"/>
          </a:xfrm>
          <a:prstGeom prst="roundRect">
            <a:avLst>
              <a:gd name="adj" fmla="val 164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36" name="07 2"/>
          <p:cNvSpPr txBox="1"/>
          <p:nvPr/>
        </p:nvSpPr>
        <p:spPr>
          <a:xfrm>
            <a:off x="4673590" y="5467380"/>
            <a:ext cx="34189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54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투트랙 마케팅 전략 1"/>
          <p:cNvSpPr txBox="1"/>
          <p:nvPr/>
        </p:nvSpPr>
        <p:spPr>
          <a:xfrm>
            <a:off x="5168920" y="5467380"/>
            <a:ext cx="1485717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투트랙 마케팅 전략</a:t>
            </a:r>
            <a:endParaRPr lang="en-US" sz="1600" dirty="0"/>
          </a:p>
        </p:txBody>
      </p:sp>
      <p:sp>
        <p:nvSpPr>
          <p:cNvPr id="38" name="STRATEGY 1"/>
          <p:cNvSpPr txBox="1"/>
          <p:nvPr/>
        </p:nvSpPr>
        <p:spPr>
          <a:xfrm>
            <a:off x="5168920" y="5753130"/>
            <a:ext cx="67409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105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STRATEGY</a:t>
            </a:r>
            <a:endParaRPr lang="en-US" sz="750" dirty="0"/>
          </a:p>
        </p:txBody>
      </p:sp>
      <p:sp>
        <p:nvSpPr>
          <p:cNvPr id="39" name="12 1"/>
          <p:cNvSpPr txBox="1"/>
          <p:nvPr/>
        </p:nvSpPr>
        <p:spPr>
          <a:xfrm>
            <a:off x="7480066" y="5591190"/>
            <a:ext cx="21607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accent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카드 8"/>
          <p:cNvSpPr/>
          <p:nvPr/>
        </p:nvSpPr>
        <p:spPr>
          <a:xfrm>
            <a:off x="8001000" y="5048220"/>
            <a:ext cx="3429000" cy="1238280"/>
          </a:xfrm>
          <a:prstGeom prst="roundRect">
            <a:avLst>
              <a:gd name="adj" fmla="val 164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41" name="08 1"/>
          <p:cNvSpPr txBox="1"/>
          <p:nvPr/>
        </p:nvSpPr>
        <p:spPr>
          <a:xfrm>
            <a:off x="8229600" y="5467380"/>
            <a:ext cx="341894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54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결론 1"/>
          <p:cNvSpPr txBox="1"/>
          <p:nvPr/>
        </p:nvSpPr>
        <p:spPr>
          <a:xfrm>
            <a:off x="8724930" y="5467380"/>
            <a:ext cx="390266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결론</a:t>
            </a:r>
            <a:endParaRPr lang="en-US" sz="1600" dirty="0"/>
          </a:p>
        </p:txBody>
      </p:sp>
      <p:sp>
        <p:nvSpPr>
          <p:cNvPr id="43" name="CONCLUSION 1"/>
          <p:cNvSpPr txBox="1"/>
          <p:nvPr/>
        </p:nvSpPr>
        <p:spPr>
          <a:xfrm>
            <a:off x="8724930" y="5753130"/>
            <a:ext cx="86264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105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44" name="16 1"/>
          <p:cNvSpPr txBox="1"/>
          <p:nvPr/>
        </p:nvSpPr>
        <p:spPr>
          <a:xfrm>
            <a:off x="11036076" y="5591190"/>
            <a:ext cx="21607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accent6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887139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Overview · 트렌드 한눈에 보기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761970" y="1148121"/>
            <a:ext cx="10668030" cy="112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소비자는 이제 </a:t>
            </a:r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고르는 과정 전체</a:t>
            </a:r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를</a:t>
            </a:r>
            <a:endParaRPr lang="en-US" sz="3600" dirty="0"/>
          </a:p>
          <a:p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AI에게 맡긴다</a:t>
            </a:r>
            <a:endParaRPr lang="en-US" sz="3600" dirty="0"/>
          </a:p>
        </p:txBody>
      </p:sp>
      <p:sp>
        <p:nvSpPr>
          <p:cNvPr id="4" name="카드 1"/>
          <p:cNvSpPr/>
          <p:nvPr/>
        </p:nvSpPr>
        <p:spPr>
          <a:xfrm>
            <a:off x="761970" y="2489180"/>
            <a:ext cx="2400300" cy="1117580"/>
          </a:xfrm>
          <a:prstGeom prst="roundRect">
            <a:avLst>
              <a:gd name="adj" fmla="val 20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5" name="3D 아이콘 1" descr="3D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213" y="2531882"/>
            <a:ext cx="1032266" cy="1032266"/>
          </a:xfrm>
          <a:prstGeom prst="rect">
            <a:avLst/>
          </a:prstGeom>
        </p:spPr>
      </p:pic>
      <p:sp>
        <p:nvSpPr>
          <p:cNvPr id="6" name="STEP 01 1"/>
          <p:cNvSpPr txBox="1"/>
          <p:nvPr/>
        </p:nvSpPr>
        <p:spPr>
          <a:xfrm>
            <a:off x="1676370" y="2832080"/>
            <a:ext cx="515996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STEP 01</a:t>
            </a:r>
            <a:endParaRPr lang="en-US" sz="900" dirty="0"/>
          </a:p>
        </p:txBody>
      </p:sp>
      <p:sp>
        <p:nvSpPr>
          <p:cNvPr id="7" name="상품 검색 1"/>
          <p:cNvSpPr txBox="1"/>
          <p:nvPr/>
        </p:nvSpPr>
        <p:spPr>
          <a:xfrm>
            <a:off x="1676370" y="2997220"/>
            <a:ext cx="854415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81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상품 검색</a:t>
            </a:r>
            <a:endParaRPr lang="en-US" sz="1800" dirty="0"/>
          </a:p>
        </p:txBody>
      </p:sp>
      <p:sp>
        <p:nvSpPr>
          <p:cNvPr id="8" name="진행 화살표 1"/>
          <p:cNvSpPr/>
          <p:nvPr/>
        </p:nvSpPr>
        <p:spPr>
          <a:xfrm>
            <a:off x="3313146" y="2994111"/>
            <a:ext cx="53858" cy="107808"/>
          </a:xfrm>
          <a:custGeom>
            <a:avLst/>
            <a:gdLst/>
            <a:ahLst/>
            <a:cxnLst/>
            <a:rect l="l" t="t" r="r" b="b"/>
            <a:pathLst>
              <a:path w="53858" h="107808">
                <a:moveTo>
                  <a:pt x="0" y="0"/>
                </a:moveTo>
                <a:lnTo>
                  <a:pt x="53858" y="53858"/>
                </a:lnTo>
                <a:lnTo>
                  <a:pt x="0" y="107808"/>
                </a:lnTo>
              </a:path>
            </a:pathLst>
          </a:cu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9" name="카드 2"/>
          <p:cNvSpPr/>
          <p:nvPr/>
        </p:nvSpPr>
        <p:spPr>
          <a:xfrm>
            <a:off x="3517880" y="2489180"/>
            <a:ext cx="2400300" cy="1117580"/>
          </a:xfrm>
          <a:prstGeom prst="roundRect">
            <a:avLst>
              <a:gd name="adj" fmla="val 20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10" name="3D 아이콘 2" descr="3D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031" y="2531882"/>
            <a:ext cx="1032266" cy="1032266"/>
          </a:xfrm>
          <a:prstGeom prst="rect">
            <a:avLst/>
          </a:prstGeom>
        </p:spPr>
      </p:pic>
      <p:sp>
        <p:nvSpPr>
          <p:cNvPr id="11" name="STEP 02 1"/>
          <p:cNvSpPr txBox="1"/>
          <p:nvPr/>
        </p:nvSpPr>
        <p:spPr>
          <a:xfrm>
            <a:off x="4432280" y="2832080"/>
            <a:ext cx="515996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STEP 02</a:t>
            </a:r>
            <a:endParaRPr lang="en-US" sz="900" dirty="0"/>
          </a:p>
        </p:txBody>
      </p:sp>
      <p:sp>
        <p:nvSpPr>
          <p:cNvPr id="12" name="정보 비교 1"/>
          <p:cNvSpPr txBox="1"/>
          <p:nvPr/>
        </p:nvSpPr>
        <p:spPr>
          <a:xfrm>
            <a:off x="4432280" y="2997220"/>
            <a:ext cx="854415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81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정보 비교</a:t>
            </a:r>
            <a:endParaRPr lang="en-US" sz="1800" dirty="0"/>
          </a:p>
        </p:txBody>
      </p:sp>
      <p:sp>
        <p:nvSpPr>
          <p:cNvPr id="13" name="진행 화살표 2"/>
          <p:cNvSpPr/>
          <p:nvPr/>
        </p:nvSpPr>
        <p:spPr>
          <a:xfrm>
            <a:off x="6069056" y="2994111"/>
            <a:ext cx="53858" cy="107808"/>
          </a:xfrm>
          <a:custGeom>
            <a:avLst/>
            <a:gdLst/>
            <a:ahLst/>
            <a:cxnLst/>
            <a:rect l="l" t="t" r="r" b="b"/>
            <a:pathLst>
              <a:path w="53858" h="107808">
                <a:moveTo>
                  <a:pt x="0" y="0"/>
                </a:moveTo>
                <a:lnTo>
                  <a:pt x="53858" y="53858"/>
                </a:lnTo>
                <a:lnTo>
                  <a:pt x="0" y="107808"/>
                </a:lnTo>
              </a:path>
            </a:pathLst>
          </a:cu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4" name="카드 3"/>
          <p:cNvSpPr/>
          <p:nvPr/>
        </p:nvSpPr>
        <p:spPr>
          <a:xfrm>
            <a:off x="6273790" y="2489180"/>
            <a:ext cx="2400300" cy="1117580"/>
          </a:xfrm>
          <a:prstGeom prst="roundRect">
            <a:avLst>
              <a:gd name="adj" fmla="val 20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15" name="3D 아이콘 3" descr="3D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942" y="2531882"/>
            <a:ext cx="1032266" cy="1032266"/>
          </a:xfrm>
          <a:prstGeom prst="rect">
            <a:avLst/>
          </a:prstGeom>
        </p:spPr>
      </p:pic>
      <p:sp>
        <p:nvSpPr>
          <p:cNvPr id="16" name="STEP 03 1"/>
          <p:cNvSpPr txBox="1"/>
          <p:nvPr/>
        </p:nvSpPr>
        <p:spPr>
          <a:xfrm>
            <a:off x="7188190" y="2832080"/>
            <a:ext cx="515996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STEP 03</a:t>
            </a:r>
            <a:endParaRPr lang="en-US" sz="900" dirty="0"/>
          </a:p>
        </p:txBody>
      </p:sp>
      <p:sp>
        <p:nvSpPr>
          <p:cNvPr id="17" name="개인화 추천 1"/>
          <p:cNvSpPr txBox="1"/>
          <p:nvPr/>
        </p:nvSpPr>
        <p:spPr>
          <a:xfrm>
            <a:off x="7188190" y="2997220"/>
            <a:ext cx="1045251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81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개인화 추천</a:t>
            </a:r>
            <a:endParaRPr lang="en-US" sz="1800" dirty="0"/>
          </a:p>
        </p:txBody>
      </p:sp>
      <p:sp>
        <p:nvSpPr>
          <p:cNvPr id="18" name="진행 화살표 3"/>
          <p:cNvSpPr/>
          <p:nvPr/>
        </p:nvSpPr>
        <p:spPr>
          <a:xfrm>
            <a:off x="8824966" y="2994111"/>
            <a:ext cx="53858" cy="107808"/>
          </a:xfrm>
          <a:custGeom>
            <a:avLst/>
            <a:gdLst/>
            <a:ahLst/>
            <a:cxnLst/>
            <a:rect l="l" t="t" r="r" b="b"/>
            <a:pathLst>
              <a:path w="53858" h="107808">
                <a:moveTo>
                  <a:pt x="0" y="0"/>
                </a:moveTo>
                <a:lnTo>
                  <a:pt x="53858" y="53858"/>
                </a:lnTo>
                <a:lnTo>
                  <a:pt x="0" y="107808"/>
                </a:lnTo>
              </a:path>
            </a:pathLst>
          </a:cu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카드 4"/>
          <p:cNvSpPr/>
          <p:nvPr/>
        </p:nvSpPr>
        <p:spPr>
          <a:xfrm>
            <a:off x="9029700" y="2489180"/>
            <a:ext cx="2400300" cy="1117580"/>
          </a:xfrm>
          <a:prstGeom prst="roundRect">
            <a:avLst>
              <a:gd name="adj" fmla="val 2045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20" name="3D 아이콘 4" descr="3D 아이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8852" y="2531882"/>
            <a:ext cx="1032266" cy="1032266"/>
          </a:xfrm>
          <a:prstGeom prst="rect">
            <a:avLst/>
          </a:prstGeom>
        </p:spPr>
      </p:pic>
      <p:sp>
        <p:nvSpPr>
          <p:cNvPr id="21" name="STEP 04 1"/>
          <p:cNvSpPr txBox="1"/>
          <p:nvPr/>
        </p:nvSpPr>
        <p:spPr>
          <a:xfrm>
            <a:off x="9944100" y="2832080"/>
            <a:ext cx="515996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STEP 04</a:t>
            </a:r>
            <a:endParaRPr lang="en-US" sz="900" dirty="0"/>
          </a:p>
        </p:txBody>
      </p:sp>
      <p:sp>
        <p:nvSpPr>
          <p:cNvPr id="22" name="최종 구매 선택 1"/>
          <p:cNvSpPr txBox="1"/>
          <p:nvPr/>
        </p:nvSpPr>
        <p:spPr>
          <a:xfrm>
            <a:off x="9944100" y="2997220"/>
            <a:ext cx="1276137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81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최종 구매 선택</a:t>
            </a:r>
            <a:endParaRPr lang="en-US" sz="1800" dirty="0"/>
          </a:p>
        </p:txBody>
      </p:sp>
      <p:sp>
        <p:nvSpPr>
          <p:cNvPr id="23" name="배너 (그라데이션 1)"/>
          <p:cNvSpPr/>
          <p:nvPr/>
        </p:nvSpPr>
        <p:spPr>
          <a:xfrm>
            <a:off x="761970" y="3746480"/>
            <a:ext cx="1066803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C93FF"/>
              </a:gs>
              <a:gs pos="50000">
                <a:srgbClr val="3182F6"/>
              </a:gs>
              <a:gs pos="100000">
                <a:srgbClr val="1B64DA"/>
              </a:gs>
            </a:gsLst>
            <a:lin ang="0" scaled="0"/>
          </a:gradFill>
          <a:ln/>
          <a:effectLst>
            <a:outerShdw sx="100000" sy="100000" kx="0" ky="0" algn="bl" rotWithShape="0" blurRad="254000" dist="114300" dir="5400000">
              <a:srgbClr val="3182F6">
                <a:alpha val="28000"/>
              </a:srgbClr>
            </a:outerShdw>
          </a:effectLst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400" spc="-42" kern="0" dirty="0">
                <a:solidFill>
                  <a:schemeClr val="bg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이 모든 단계를 AI에 위임한다</a:t>
            </a:r>
            <a:endParaRPr lang="en-US" sz="1400" dirty="0"/>
          </a:p>
        </p:txBody>
      </p:sp>
      <p:sp>
        <p:nvSpPr>
          <p:cNvPr id="24" name="카드 5"/>
          <p:cNvSpPr/>
          <p:nvPr/>
        </p:nvSpPr>
        <p:spPr>
          <a:xfrm>
            <a:off x="761970" y="4381530"/>
            <a:ext cx="5307909" cy="1904970"/>
          </a:xfrm>
          <a:prstGeom prst="roundRect">
            <a:avLst>
              <a:gd name="adj" fmla="val 133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25" name="트렌드 핵심 한 문장 1"/>
          <p:cNvSpPr txBox="1"/>
          <p:nvPr/>
        </p:nvSpPr>
        <p:spPr>
          <a:xfrm>
            <a:off x="1066830" y="4660880"/>
            <a:ext cx="1062899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0" kern="0" dirty="0">
                <a:solidFill>
                  <a:schemeClr val="accent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트렌드 핵심 한 문장</a:t>
            </a:r>
            <a:endParaRPr lang="en-US" sz="1050" dirty="0"/>
          </a:p>
        </p:txBody>
      </p:sp>
      <p:sp>
        <p:nvSpPr>
          <p:cNvPr id="26" name="AI 기술의 발전으로 소비자는 상 1"/>
          <p:cNvSpPr txBox="1"/>
          <p:nvPr/>
        </p:nvSpPr>
        <p:spPr>
          <a:xfrm>
            <a:off x="1066830" y="4907310"/>
            <a:ext cx="48315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920"/>
              </a:lnSpc>
              <a:buNone/>
            </a:pPr>
            <a:r>
              <a:rPr lang="en-US" sz="1200" spc="-36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 기술의 발전으로 소비자는 상품 검색부터 정보 비교, 개인화된 추천과 최종 구매 선택에 이르기까지 </a:t>
            </a:r>
            <a:pPr eaLnBrk="0" algn="l" indent="0" marL="0">
              <a:lnSpc>
                <a:spcPts val="1920"/>
              </a:lnSpc>
              <a:buNone/>
            </a:pPr>
            <a:r>
              <a:rPr lang="en-US" sz="1200" spc="-3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다양한 의사결정 과정을 AI에 맡기며</a:t>
            </a:r>
            <a:pPr eaLnBrk="0" algn="l" indent="0" marL="0">
              <a:lnSpc>
                <a:spcPts val="1920"/>
              </a:lnSpc>
              <a:buNone/>
            </a:pPr>
            <a:r>
              <a:rPr lang="en-US" sz="1200" spc="-36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, 이를 통해 </a:t>
            </a:r>
            <a:pPr eaLnBrk="0" algn="l" indent="0" marL="0">
              <a:lnSpc>
                <a:spcPts val="1920"/>
              </a:lnSpc>
              <a:buNone/>
            </a:pPr>
            <a:r>
              <a:rPr lang="en-US" sz="1200" spc="-3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시간과 노력을 줄이고 보다 효율적인 소비</a:t>
            </a:r>
            <a:pPr eaLnBrk="0" algn="l" indent="0" marL="0">
              <a:lnSpc>
                <a:spcPts val="1920"/>
              </a:lnSpc>
              <a:buNone/>
            </a:pPr>
            <a:r>
              <a:rPr lang="en-US" sz="1200" spc="-36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를 추구한다.</a:t>
            </a:r>
            <a:endParaRPr lang="en-US" sz="1200" dirty="0"/>
          </a:p>
        </p:txBody>
      </p:sp>
      <p:sp>
        <p:nvSpPr>
          <p:cNvPr id="27" name="카드 6"/>
          <p:cNvSpPr/>
          <p:nvPr/>
        </p:nvSpPr>
        <p:spPr>
          <a:xfrm>
            <a:off x="6222309" y="4381530"/>
            <a:ext cx="2527584" cy="1904970"/>
          </a:xfrm>
          <a:prstGeom prst="roundRect">
            <a:avLst>
              <a:gd name="adj" fmla="val 133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28" name="3D 아이콘 5" descr="3D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027" y="4521708"/>
            <a:ext cx="938814" cy="938814"/>
          </a:xfrm>
          <a:prstGeom prst="rect">
            <a:avLst/>
          </a:prstGeom>
        </p:spPr>
      </p:pic>
      <p:sp>
        <p:nvSpPr>
          <p:cNvPr id="29" name="시간 · 노력 1"/>
          <p:cNvSpPr txBox="1"/>
          <p:nvPr/>
        </p:nvSpPr>
        <p:spPr>
          <a:xfrm>
            <a:off x="6527079" y="5518130"/>
            <a:ext cx="1053023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000" spc="-10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시간 · 노력</a:t>
            </a:r>
            <a:endParaRPr lang="en-US" sz="2000" dirty="0"/>
          </a:p>
        </p:txBody>
      </p:sp>
      <p:sp>
        <p:nvSpPr>
          <p:cNvPr id="30" name="직접 찾고 비교하는 수고가 준다 1"/>
          <p:cNvSpPr txBox="1"/>
          <p:nvPr/>
        </p:nvSpPr>
        <p:spPr>
          <a:xfrm>
            <a:off x="6527079" y="5854720"/>
            <a:ext cx="1591330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직접 찾고 비교하는 수고가 준다</a:t>
            </a:r>
            <a:endParaRPr lang="en-US" sz="1000" dirty="0"/>
          </a:p>
        </p:txBody>
      </p:sp>
      <p:sp>
        <p:nvSpPr>
          <p:cNvPr id="31" name="카드 7"/>
          <p:cNvSpPr/>
          <p:nvPr/>
        </p:nvSpPr>
        <p:spPr>
          <a:xfrm>
            <a:off x="8902324" y="4381530"/>
            <a:ext cx="2527676" cy="1904970"/>
          </a:xfrm>
          <a:prstGeom prst="roundRect">
            <a:avLst>
              <a:gd name="adj" fmla="val 133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32" name="3D 아이콘 6" descr="3D 아이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9042" y="4432828"/>
            <a:ext cx="938814" cy="938814"/>
          </a:xfrm>
          <a:prstGeom prst="rect">
            <a:avLst/>
          </a:prstGeom>
        </p:spPr>
      </p:pic>
      <p:sp>
        <p:nvSpPr>
          <p:cNvPr id="33" name="소비 효율 1"/>
          <p:cNvSpPr txBox="1"/>
          <p:nvPr/>
        </p:nvSpPr>
        <p:spPr>
          <a:xfrm>
            <a:off x="9207094" y="5518130"/>
            <a:ext cx="937351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000" spc="-10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소비 효율</a:t>
            </a:r>
            <a:endParaRPr lang="en-US" sz="2000" dirty="0"/>
          </a:p>
        </p:txBody>
      </p:sp>
      <p:sp>
        <p:nvSpPr>
          <p:cNvPr id="34" name="더 빠르고 정확하게 고른다 1"/>
          <p:cNvSpPr txBox="1"/>
          <p:nvPr/>
        </p:nvSpPr>
        <p:spPr>
          <a:xfrm>
            <a:off x="9207094" y="5854720"/>
            <a:ext cx="133621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더 빠르고 정확하게 고른다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378915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What · 실제 소비현상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761970" y="1148121"/>
            <a:ext cx="10668030" cy="112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AI에게 선택을 맡기는 소비자</a:t>
            </a:r>
            <a:endParaRPr lang="en-US" sz="3600" dirty="0"/>
          </a:p>
        </p:txBody>
      </p:sp>
      <p:sp>
        <p:nvSpPr>
          <p:cNvPr id="4" name="추천받는 데서 시작해, 이제는 결 1"/>
          <p:cNvSpPr txBox="1"/>
          <p:nvPr/>
        </p:nvSpPr>
        <p:spPr>
          <a:xfrm>
            <a:off x="761970" y="1786829"/>
            <a:ext cx="3750412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400" spc="-42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추천받는 데서 시작해, 이제는 결제와 예약까지 맡긴다.</a:t>
            </a:r>
            <a:endParaRPr lang="en-US" sz="1400" dirty="0"/>
          </a:p>
        </p:txBody>
      </p:sp>
      <p:sp>
        <p:nvSpPr>
          <p:cNvPr id="5" name="카드 1"/>
          <p:cNvSpPr/>
          <p:nvPr/>
        </p:nvSpPr>
        <p:spPr>
          <a:xfrm>
            <a:off x="761970" y="2603480"/>
            <a:ext cx="3454420" cy="3683020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6" name="3D 아이콘 1" descr="3D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676" y="2647737"/>
            <a:ext cx="1359438" cy="1359438"/>
          </a:xfrm>
          <a:prstGeom prst="rect">
            <a:avLst/>
          </a:prstGeom>
        </p:spPr>
      </p:pic>
      <p:sp>
        <p:nvSpPr>
          <p:cNvPr id="7" name="라벨 2"/>
          <p:cNvSpPr/>
          <p:nvPr/>
        </p:nvSpPr>
        <p:spPr>
          <a:xfrm>
            <a:off x="3179826" y="2882920"/>
            <a:ext cx="731703" cy="260330"/>
          </a:xfrm>
          <a:prstGeom prst="roundRect">
            <a:avLst>
              <a:gd name="adj" fmla="val 50018"/>
            </a:avLst>
          </a:prstGeom>
          <a:solidFill>
            <a:schemeClr val="bg2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tx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Lv.1 추천</a:t>
            </a:r>
            <a:endParaRPr lang="en-US" sz="1000" dirty="0"/>
          </a:p>
        </p:txBody>
      </p:sp>
      <p:sp>
        <p:nvSpPr>
          <p:cNvPr id="8" name="네이버 쇼핑 · 쿠팡 1"/>
          <p:cNvSpPr txBox="1"/>
          <p:nvPr/>
        </p:nvSpPr>
        <p:spPr>
          <a:xfrm>
            <a:off x="1066830" y="3937041"/>
            <a:ext cx="1919508" cy="330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200" spc="-11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네이버 쇼핑 · 쿠팡</a:t>
            </a:r>
            <a:endParaRPr lang="en-US" sz="2200" dirty="0"/>
          </a:p>
        </p:txBody>
      </p:sp>
      <p:sp>
        <p:nvSpPr>
          <p:cNvPr id="9" name="AI가 골라서 보여준다 1"/>
          <p:cNvSpPr txBox="1"/>
          <p:nvPr/>
        </p:nvSpPr>
        <p:spPr>
          <a:xfrm>
            <a:off x="1066830" y="4330690"/>
            <a:ext cx="1697492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64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AI가 골라서 </a:t>
            </a:r>
            <a:pPr eaLnBrk="0" algn="l" indent="0" marL="0">
              <a:buNone/>
            </a:pPr>
            <a:r>
              <a:rPr lang="en-US" sz="1600" spc="-64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보여준다</a:t>
            </a:r>
            <a:endParaRPr lang="en-US" sz="1600" dirty="0"/>
          </a:p>
        </p:txBody>
      </p:sp>
      <p:sp>
        <p:nvSpPr>
          <p:cNvPr id="10" name="하이퍼클로바 등 AI 기술로 쇼핑 1"/>
          <p:cNvSpPr txBox="1"/>
          <p:nvPr/>
        </p:nvSpPr>
        <p:spPr>
          <a:xfrm>
            <a:off x="1066830" y="4678070"/>
            <a:ext cx="28562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80"/>
              </a:lnSpc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하이퍼클로바 등 AI 기술로 쇼핑 성향을 분석해 맞춤형 상품을 메인 화면에 자동 제안하고, 구매로 이어지게 한다.</a:t>
            </a:r>
            <a:endParaRPr lang="en-US" sz="1050" dirty="0"/>
          </a:p>
        </p:txBody>
      </p:sp>
      <p:sp>
        <p:nvSpPr>
          <p:cNvPr id="11" name="도형 1"/>
          <p:cNvSpPr/>
          <p:nvPr/>
        </p:nvSpPr>
        <p:spPr>
          <a:xfrm>
            <a:off x="1066830" y="5918180"/>
            <a:ext cx="292059" cy="5084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도형 2"/>
          <p:cNvSpPr/>
          <p:nvPr/>
        </p:nvSpPr>
        <p:spPr>
          <a:xfrm>
            <a:off x="1409730" y="5918180"/>
            <a:ext cx="292059" cy="50841"/>
          </a:xfrm>
          <a:prstGeom prst="roundRect">
            <a:avLst>
              <a:gd name="adj" fmla="val 50000"/>
            </a:avLst>
          </a:prstGeom>
          <a:solidFill>
            <a:srgbClr val="E5E8EB"/>
          </a:solidFill>
          <a:ln/>
        </p:spPr>
      </p:sp>
      <p:sp>
        <p:nvSpPr>
          <p:cNvPr id="13" name="도형 3"/>
          <p:cNvSpPr/>
          <p:nvPr/>
        </p:nvSpPr>
        <p:spPr>
          <a:xfrm>
            <a:off x="1752630" y="5918180"/>
            <a:ext cx="292059" cy="50841"/>
          </a:xfrm>
          <a:prstGeom prst="roundRect">
            <a:avLst>
              <a:gd name="adj" fmla="val 50000"/>
            </a:avLst>
          </a:prstGeom>
          <a:solidFill>
            <a:srgbClr val="E5E8EB"/>
          </a:solidFill>
          <a:ln/>
        </p:spPr>
      </p:sp>
      <p:sp>
        <p:nvSpPr>
          <p:cNvPr id="14" name="위임 1단계 1"/>
          <p:cNvSpPr txBox="1"/>
          <p:nvPr/>
        </p:nvSpPr>
        <p:spPr>
          <a:xfrm>
            <a:off x="2146280" y="5880141"/>
            <a:ext cx="514350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5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위임 1단계</a:t>
            </a:r>
            <a:endParaRPr lang="en-US" sz="850" dirty="0"/>
          </a:p>
        </p:txBody>
      </p:sp>
      <p:sp>
        <p:nvSpPr>
          <p:cNvPr id="15" name="카드 2"/>
          <p:cNvSpPr/>
          <p:nvPr/>
        </p:nvSpPr>
        <p:spPr>
          <a:xfrm>
            <a:off x="4368820" y="2603480"/>
            <a:ext cx="3454420" cy="3683020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16" name="3D 아이콘 2" descr="3D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526" y="2558766"/>
            <a:ext cx="1359438" cy="1359438"/>
          </a:xfrm>
          <a:prstGeom prst="rect">
            <a:avLst/>
          </a:prstGeom>
        </p:spPr>
      </p:pic>
      <p:sp>
        <p:nvSpPr>
          <p:cNvPr id="17" name="라벨 3"/>
          <p:cNvSpPr/>
          <p:nvPr/>
        </p:nvSpPr>
        <p:spPr>
          <a:xfrm>
            <a:off x="6786677" y="2882920"/>
            <a:ext cx="731703" cy="260330"/>
          </a:xfrm>
          <a:prstGeom prst="roundRect">
            <a:avLst>
              <a:gd name="adj" fmla="val 50018"/>
            </a:avLst>
          </a:prstGeom>
          <a:solidFill>
            <a:schemeClr val="bg2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tx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Lv.2 지정</a:t>
            </a:r>
            <a:endParaRPr lang="en-US" sz="1000" dirty="0"/>
          </a:p>
        </p:txBody>
      </p:sp>
      <p:sp>
        <p:nvSpPr>
          <p:cNvPr id="18" name="넷플릭스 · 유튜브 1"/>
          <p:cNvSpPr txBox="1"/>
          <p:nvPr/>
        </p:nvSpPr>
        <p:spPr>
          <a:xfrm>
            <a:off x="4673590" y="3848070"/>
            <a:ext cx="1870039" cy="330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200" spc="-11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넷플릭스 · 유튜브</a:t>
            </a:r>
            <a:endParaRPr lang="en-US" sz="2200" dirty="0"/>
          </a:p>
        </p:txBody>
      </p:sp>
      <p:sp>
        <p:nvSpPr>
          <p:cNvPr id="19" name="AI가 다음을 정해준다 1"/>
          <p:cNvSpPr txBox="1"/>
          <p:nvPr/>
        </p:nvSpPr>
        <p:spPr>
          <a:xfrm>
            <a:off x="4673590" y="4241810"/>
            <a:ext cx="1697492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64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AI가 다음을 </a:t>
            </a:r>
            <a:pPr eaLnBrk="0" algn="l" indent="0" marL="0">
              <a:buNone/>
            </a:pPr>
            <a:r>
              <a:rPr lang="en-US" sz="1600" spc="-64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정해준다</a:t>
            </a:r>
            <a:endParaRPr lang="en-US" sz="1600" dirty="0"/>
          </a:p>
        </p:txBody>
      </p:sp>
      <p:sp>
        <p:nvSpPr>
          <p:cNvPr id="20" name="시청 이력과 취향을 분석해 다음에 1"/>
          <p:cNvSpPr txBox="1"/>
          <p:nvPr/>
        </p:nvSpPr>
        <p:spPr>
          <a:xfrm>
            <a:off x="4673590" y="4589099"/>
            <a:ext cx="2957170" cy="42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80"/>
              </a:lnSpc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시청 이력과 취향을 분석해 다음에 볼 콘텐츠를 자동으로 지정하고, 무엇을 볼지 고민하는 시간을 줄여준다.</a:t>
            </a:r>
            <a:endParaRPr lang="en-US" sz="1050" dirty="0"/>
          </a:p>
        </p:txBody>
      </p:sp>
      <p:sp>
        <p:nvSpPr>
          <p:cNvPr id="21" name="도형 4"/>
          <p:cNvSpPr/>
          <p:nvPr/>
        </p:nvSpPr>
        <p:spPr>
          <a:xfrm>
            <a:off x="4673590" y="5918180"/>
            <a:ext cx="292059" cy="5084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도형 5"/>
          <p:cNvSpPr/>
          <p:nvPr/>
        </p:nvSpPr>
        <p:spPr>
          <a:xfrm>
            <a:off x="5016490" y="5918180"/>
            <a:ext cx="292059" cy="5084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3" name="도형 6"/>
          <p:cNvSpPr/>
          <p:nvPr/>
        </p:nvSpPr>
        <p:spPr>
          <a:xfrm>
            <a:off x="5359390" y="5918180"/>
            <a:ext cx="292059" cy="50841"/>
          </a:xfrm>
          <a:prstGeom prst="roundRect">
            <a:avLst>
              <a:gd name="adj" fmla="val 50000"/>
            </a:avLst>
          </a:prstGeom>
          <a:solidFill>
            <a:srgbClr val="E5E8EB"/>
          </a:solidFill>
          <a:ln/>
        </p:spPr>
      </p:sp>
      <p:sp>
        <p:nvSpPr>
          <p:cNvPr id="24" name="위임 2단계 1"/>
          <p:cNvSpPr txBox="1"/>
          <p:nvPr/>
        </p:nvSpPr>
        <p:spPr>
          <a:xfrm>
            <a:off x="5753130" y="5880141"/>
            <a:ext cx="514350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5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위임 2단계</a:t>
            </a:r>
            <a:endParaRPr lang="en-US" sz="850" dirty="0"/>
          </a:p>
        </p:txBody>
      </p:sp>
      <p:sp>
        <p:nvSpPr>
          <p:cNvPr id="25" name="카드 (그라데이션 2)"/>
          <p:cNvSpPr/>
          <p:nvPr/>
        </p:nvSpPr>
        <p:spPr>
          <a:xfrm>
            <a:off x="7975580" y="2603480"/>
            <a:ext cx="3454420" cy="3683020"/>
          </a:xfrm>
          <a:prstGeom prst="roundRect">
            <a:avLst>
              <a:gd name="adj" fmla="val 7353"/>
            </a:avLst>
          </a:prstGeom>
          <a:gradFill rotWithShape="1">
            <a:gsLst>
              <a:gs pos="0">
                <a:srgbClr val="4C93FF"/>
              </a:gs>
              <a:gs pos="45000">
                <a:srgbClr val="3182F6"/>
              </a:gs>
              <a:gs pos="100000">
                <a:srgbClr val="1B64DA"/>
              </a:gs>
            </a:gsLst>
            <a:lin ang="4200000" scaled="0"/>
          </a:gradFill>
          <a:ln/>
          <a:effectLst>
            <a:outerShdw sx="100000" sy="100000" kx="0" ky="0" algn="bl" rotWithShape="0" blurRad="381000" dist="152400" dir="5400000">
              <a:srgbClr val="3182F6">
                <a:alpha val="28000"/>
              </a:srgbClr>
            </a:outerShdw>
          </a:effectLst>
        </p:spPr>
      </p:sp>
      <p:pic>
        <p:nvPicPr>
          <p:cNvPr id="26" name="3D 아이콘 3" descr="3D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286" y="2647737"/>
            <a:ext cx="1359438" cy="1359438"/>
          </a:xfrm>
          <a:prstGeom prst="rect">
            <a:avLst/>
          </a:prstGeom>
        </p:spPr>
      </p:pic>
      <p:sp>
        <p:nvSpPr>
          <p:cNvPr id="27" name="라벨 4"/>
          <p:cNvSpPr/>
          <p:nvPr/>
        </p:nvSpPr>
        <p:spPr>
          <a:xfrm>
            <a:off x="10393436" y="2882920"/>
            <a:ext cx="731703" cy="260330"/>
          </a:xfrm>
          <a:prstGeom prst="roundRect">
            <a:avLst>
              <a:gd name="adj" fmla="val 50018"/>
            </a:avLst>
          </a:prstGeom>
          <a:solidFill>
            <a:schemeClr val="bg1">
              <a:alpha val="18000"/>
            </a:schemeClr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Lv.3 대행</a:t>
            </a:r>
            <a:endParaRPr lang="en-US" sz="1000" dirty="0"/>
          </a:p>
        </p:txBody>
      </p:sp>
      <p:sp>
        <p:nvSpPr>
          <p:cNvPr id="28" name="AI 에이전트 1"/>
          <p:cNvSpPr txBox="1"/>
          <p:nvPr/>
        </p:nvSpPr>
        <p:spPr>
          <a:xfrm>
            <a:off x="8280441" y="3937041"/>
            <a:ext cx="1302288" cy="330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200" spc="-110" kern="0" dirty="0">
                <a:solidFill>
                  <a:schemeClr val="bg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 에이전트</a:t>
            </a:r>
            <a:endParaRPr lang="en-US" sz="2200" dirty="0"/>
          </a:p>
        </p:txBody>
      </p:sp>
      <p:sp>
        <p:nvSpPr>
          <p:cNvPr id="29" name="AI가 대신 실행한다 1"/>
          <p:cNvSpPr txBox="1"/>
          <p:nvPr/>
        </p:nvSpPr>
        <p:spPr>
          <a:xfrm>
            <a:off x="8280441" y="4330690"/>
            <a:ext cx="1520099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64" kern="0" dirty="0">
                <a:solidFill>
                  <a:srgbClr val="DAE9FD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AI가 대신 </a:t>
            </a:r>
            <a:pPr eaLnBrk="0" algn="l" indent="0" marL="0">
              <a:buNone/>
            </a:pPr>
            <a:r>
              <a:rPr lang="en-US" sz="1600" spc="-64" kern="0" dirty="0">
                <a:solidFill>
                  <a:schemeClr val="bg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실행한다</a:t>
            </a:r>
            <a:endParaRPr lang="en-US" sz="1600" dirty="0"/>
          </a:p>
        </p:txBody>
      </p:sp>
      <p:sp>
        <p:nvSpPr>
          <p:cNvPr id="30" name="소비자의 대리인으로 가격 비교와  1"/>
          <p:cNvSpPr txBox="1"/>
          <p:nvPr/>
        </p:nvSpPr>
        <p:spPr>
          <a:xfrm>
            <a:off x="8280441" y="4678070"/>
            <a:ext cx="2688976" cy="42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80"/>
              </a:lnSpc>
              <a:buNone/>
            </a:pPr>
            <a:r>
              <a:rPr lang="en-US" sz="1050" spc="-16" kern="0" dirty="0">
                <a:solidFill>
                  <a:srgbClr val="DAE9FD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소비자의 대리인으로 가격 비교와 최적 조건 탐색을 넘어, 정기구독 결제와 예약까지 대신 수행한다.</a:t>
            </a:r>
            <a:endParaRPr lang="en-US" sz="1050" dirty="0"/>
          </a:p>
        </p:txBody>
      </p:sp>
      <p:sp>
        <p:nvSpPr>
          <p:cNvPr id="31" name="도형 7"/>
          <p:cNvSpPr/>
          <p:nvPr/>
        </p:nvSpPr>
        <p:spPr>
          <a:xfrm>
            <a:off x="8280441" y="5918180"/>
            <a:ext cx="292059" cy="5084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2" name="도형 8"/>
          <p:cNvSpPr/>
          <p:nvPr/>
        </p:nvSpPr>
        <p:spPr>
          <a:xfrm>
            <a:off x="8623341" y="5918180"/>
            <a:ext cx="292059" cy="5084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3" name="도형 9"/>
          <p:cNvSpPr/>
          <p:nvPr/>
        </p:nvSpPr>
        <p:spPr>
          <a:xfrm>
            <a:off x="8966241" y="5918180"/>
            <a:ext cx="292059" cy="5084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4" name="위임 3단계 1"/>
          <p:cNvSpPr txBox="1"/>
          <p:nvPr/>
        </p:nvSpPr>
        <p:spPr>
          <a:xfrm>
            <a:off x="9359890" y="5880141"/>
            <a:ext cx="514350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50" spc="-16" kern="0" dirty="0">
                <a:solidFill>
                  <a:srgbClr val="DAE9FD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위임 3단계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378915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What · 상호작용 유형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761970" y="1148121"/>
            <a:ext cx="10668030" cy="112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누가 고르고, 누가 거드는가</a:t>
            </a:r>
            <a:endParaRPr lang="en-US" sz="3600" dirty="0"/>
          </a:p>
        </p:txBody>
      </p:sp>
      <p:sp>
        <p:nvSpPr>
          <p:cNvPr id="4" name="사람 1"/>
          <p:cNvSpPr txBox="1"/>
          <p:nvPr/>
        </p:nvSpPr>
        <p:spPr>
          <a:xfrm>
            <a:off x="10697657" y="2031980"/>
            <a:ext cx="270297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tx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사람</a:t>
            </a:r>
            <a:endParaRPr lang="en-US" sz="1000" dirty="0"/>
          </a:p>
        </p:txBody>
      </p:sp>
      <p:pic>
        <p:nvPicPr>
          <p:cNvPr id="5" name="사람 구체 1" descr="사람 구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7742" y="1968795"/>
            <a:ext cx="367772" cy="367772"/>
          </a:xfrm>
          <a:prstGeom prst="rect">
            <a:avLst/>
          </a:prstGeom>
        </p:spPr>
      </p:pic>
      <p:sp>
        <p:nvSpPr>
          <p:cNvPr id="6" name="AI 1"/>
          <p:cNvSpPr txBox="1"/>
          <p:nvPr/>
        </p:nvSpPr>
        <p:spPr>
          <a:xfrm>
            <a:off x="11298144" y="2031980"/>
            <a:ext cx="182697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tx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AI</a:t>
            </a:r>
            <a:endParaRPr lang="en-US" sz="1000" dirty="0"/>
          </a:p>
        </p:txBody>
      </p:sp>
      <p:pic>
        <p:nvPicPr>
          <p:cNvPr id="7" name="AI 구체 1" descr="AI 구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8261" y="1914388"/>
            <a:ext cx="387614" cy="387614"/>
          </a:xfrm>
          <a:prstGeom prst="rect">
            <a:avLst/>
          </a:prstGeom>
        </p:spPr>
      </p:pic>
      <p:sp>
        <p:nvSpPr>
          <p:cNvPr id="8" name="구분선 1"/>
          <p:cNvSpPr/>
          <p:nvPr/>
        </p:nvSpPr>
        <p:spPr>
          <a:xfrm>
            <a:off x="761970" y="2762220"/>
            <a:ext cx="259077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9" name="인간 중심 1"/>
          <p:cNvSpPr txBox="1"/>
          <p:nvPr/>
        </p:nvSpPr>
        <p:spPr>
          <a:xfrm>
            <a:off x="761970" y="2527310"/>
            <a:ext cx="491947" cy="146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50" spc="-16" kern="0" dirty="0">
                <a:solidFill>
                  <a:srgbClr val="6B7684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인간 중심</a:t>
            </a:r>
            <a:endParaRPr lang="en-US" sz="950" dirty="0"/>
          </a:p>
        </p:txBody>
      </p:sp>
      <p:sp>
        <p:nvSpPr>
          <p:cNvPr id="10" name="구분선 2"/>
          <p:cNvSpPr/>
          <p:nvPr/>
        </p:nvSpPr>
        <p:spPr>
          <a:xfrm>
            <a:off x="3505170" y="2762220"/>
            <a:ext cx="2590770" cy="0"/>
          </a:xfrm>
          <a:prstGeom prst="line">
            <a:avLst/>
          </a:prstGeom>
          <a:noFill/>
          <a:ln w="25400">
            <a:solidFill>
              <a:srgbClr val="93BFFA"/>
            </a:solidFill>
            <a:prstDash val="solid"/>
          </a:ln>
        </p:spPr>
      </p:sp>
      <p:sp>
        <p:nvSpPr>
          <p:cNvPr id="11" name="인간–AI 파트너십 1"/>
          <p:cNvSpPr txBox="1"/>
          <p:nvPr/>
        </p:nvSpPr>
        <p:spPr>
          <a:xfrm>
            <a:off x="3505170" y="2527310"/>
            <a:ext cx="890168" cy="146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50" spc="-16" kern="0" dirty="0">
                <a:solidFill>
                  <a:srgbClr val="6B7684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인간–AI 파트너십</a:t>
            </a:r>
            <a:endParaRPr lang="en-US" sz="950" dirty="0"/>
          </a:p>
        </p:txBody>
      </p:sp>
      <p:sp>
        <p:nvSpPr>
          <p:cNvPr id="12" name="구분선 3"/>
          <p:cNvSpPr/>
          <p:nvPr/>
        </p:nvSpPr>
        <p:spPr>
          <a:xfrm>
            <a:off x="6248370" y="2762220"/>
            <a:ext cx="518163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3" name="AI 중심 1"/>
          <p:cNvSpPr txBox="1"/>
          <p:nvPr/>
        </p:nvSpPr>
        <p:spPr>
          <a:xfrm>
            <a:off x="6248370" y="2527310"/>
            <a:ext cx="408645" cy="1460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50" spc="-16" kern="0" dirty="0">
                <a:solidFill>
                  <a:srgbClr val="6B7684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AI 중심</a:t>
            </a:r>
            <a:endParaRPr lang="en-US" sz="950" dirty="0"/>
          </a:p>
        </p:txBody>
      </p:sp>
      <p:sp>
        <p:nvSpPr>
          <p:cNvPr id="14" name="카드 1"/>
          <p:cNvSpPr/>
          <p:nvPr/>
        </p:nvSpPr>
        <p:spPr>
          <a:xfrm>
            <a:off x="761970" y="2920959"/>
            <a:ext cx="2552730" cy="3365541"/>
          </a:xfrm>
          <a:prstGeom prst="roundRect">
            <a:avLst>
              <a:gd name="adj" fmla="val 995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15" name="사람 구체 2" descr="사람 구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838480"/>
            <a:ext cx="1879641" cy="1879641"/>
          </a:xfrm>
          <a:prstGeom prst="rect">
            <a:avLst/>
          </a:prstGeom>
        </p:spPr>
      </p:pic>
      <p:pic>
        <p:nvPicPr>
          <p:cNvPr id="16" name="AI 구체 2" descr="AI 구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0517" y="3529035"/>
            <a:ext cx="853958" cy="853958"/>
          </a:xfrm>
          <a:prstGeom prst="rect">
            <a:avLst/>
          </a:prstGeom>
        </p:spPr>
      </p:pic>
      <p:sp>
        <p:nvSpPr>
          <p:cNvPr id="17" name="보조 1"/>
          <p:cNvSpPr txBox="1"/>
          <p:nvPr/>
        </p:nvSpPr>
        <p:spPr>
          <a:xfrm>
            <a:off x="2730490" y="3898910"/>
            <a:ext cx="21442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보조</a:t>
            </a:r>
            <a:endParaRPr lang="en-US" sz="750" dirty="0"/>
          </a:p>
        </p:txBody>
      </p:sp>
      <p:sp>
        <p:nvSpPr>
          <p:cNvPr id="18" name="AITL 1"/>
          <p:cNvSpPr txBox="1"/>
          <p:nvPr/>
        </p:nvSpPr>
        <p:spPr>
          <a:xfrm>
            <a:off x="1015990" y="4356110"/>
            <a:ext cx="79379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700" spc="-122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AITL</a:t>
            </a:r>
            <a:endParaRPr lang="en-US" sz="2700" dirty="0"/>
          </a:p>
        </p:txBody>
      </p:sp>
      <p:sp>
        <p:nvSpPr>
          <p:cNvPr id="19" name="AI 인 더 루프 1"/>
          <p:cNvSpPr txBox="1"/>
          <p:nvPr/>
        </p:nvSpPr>
        <p:spPr>
          <a:xfrm>
            <a:off x="1015990" y="4775180"/>
            <a:ext cx="853867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300" spc="-5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 인 더 루프</a:t>
            </a:r>
            <a:endParaRPr lang="en-US" sz="1300" dirty="0"/>
          </a:p>
        </p:txBody>
      </p:sp>
      <p:sp>
        <p:nvSpPr>
          <p:cNvPr id="20" name="AI-in-the-loop 1"/>
          <p:cNvSpPr txBox="1"/>
          <p:nvPr/>
        </p:nvSpPr>
        <p:spPr>
          <a:xfrm>
            <a:off x="1015990" y="4991070"/>
            <a:ext cx="806409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5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AI-in-the-loop</a:t>
            </a:r>
            <a:endParaRPr lang="en-US" sz="850" dirty="0"/>
          </a:p>
        </p:txBody>
      </p:sp>
      <p:sp>
        <p:nvSpPr>
          <p:cNvPr id="21" name="인간이 전 과정을 주도하고, AI 1"/>
          <p:cNvSpPr txBox="1"/>
          <p:nvPr/>
        </p:nvSpPr>
        <p:spPr>
          <a:xfrm>
            <a:off x="1015990" y="5219121"/>
            <a:ext cx="2112538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59"/>
              </a:lnSpc>
              <a:buNone/>
            </a:pPr>
            <a:r>
              <a:rPr lang="en-US" sz="1050" spc="-16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인간이 전 과정을 주도하고, AI는 검색과 요약, 추천을 돕는 보조 도구로 쓴다.</a:t>
            </a:r>
            <a:endParaRPr lang="en-US" sz="1050" dirty="0"/>
          </a:p>
        </p:txBody>
      </p:sp>
      <p:sp>
        <p:nvSpPr>
          <p:cNvPr id="22" name="카드 2"/>
          <p:cNvSpPr/>
          <p:nvPr/>
        </p:nvSpPr>
        <p:spPr>
          <a:xfrm>
            <a:off x="3467130" y="2920959"/>
            <a:ext cx="2552730" cy="3365541"/>
          </a:xfrm>
          <a:prstGeom prst="roundRect">
            <a:avLst>
              <a:gd name="adj" fmla="val 9951"/>
            </a:avLst>
          </a:prstGeom>
          <a:solidFill>
            <a:schemeClr val="tx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23" name="라벨 2"/>
          <p:cNvSpPr/>
          <p:nvPr/>
        </p:nvSpPr>
        <p:spPr>
          <a:xfrm>
            <a:off x="5021519" y="3111520"/>
            <a:ext cx="807781" cy="260330"/>
          </a:xfrm>
          <a:prstGeom prst="roundRect">
            <a:avLst>
              <a:gd name="adj" fmla="val 50018"/>
            </a:avLst>
          </a:prstGeom>
          <a:solidFill>
            <a:schemeClr val="accent1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이번 트렌드</a:t>
            </a:r>
            <a:endParaRPr lang="en-US" sz="1000" dirty="0"/>
          </a:p>
        </p:txBody>
      </p:sp>
      <p:sp>
        <p:nvSpPr>
          <p:cNvPr id="24" name="궤도 1"/>
          <p:cNvSpPr/>
          <p:nvPr/>
        </p:nvSpPr>
        <p:spPr>
          <a:xfrm rot="-600000">
            <a:off x="3759190" y="3390870"/>
            <a:ext cx="1968520" cy="660380"/>
          </a:xfrm>
          <a:prstGeom prst="ellipse">
            <a:avLst/>
          </a:prstGeom>
          <a:noFill/>
          <a:ln w="19050">
            <a:solidFill>
              <a:srgbClr val="84B4FF">
                <a:alpha val="45000"/>
              </a:srgbClr>
            </a:solidFill>
            <a:prstDash val="solid"/>
          </a:ln>
        </p:spPr>
      </p:sp>
      <p:pic>
        <p:nvPicPr>
          <p:cNvPr id="25" name="사람 구체 3" descr="사람 구체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0618" y="3089118"/>
            <a:ext cx="1416314" cy="1416314"/>
          </a:xfrm>
          <a:prstGeom prst="rect">
            <a:avLst/>
          </a:prstGeom>
        </p:spPr>
      </p:pic>
      <p:pic>
        <p:nvPicPr>
          <p:cNvPr id="26" name="AI 구체 3" descr="AI 구체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8386" y="2957535"/>
            <a:ext cx="1501628" cy="1501628"/>
          </a:xfrm>
          <a:prstGeom prst="rect">
            <a:avLst/>
          </a:prstGeom>
        </p:spPr>
      </p:pic>
      <p:sp>
        <p:nvSpPr>
          <p:cNvPr id="27" name="HITL 1"/>
          <p:cNvSpPr txBox="1"/>
          <p:nvPr/>
        </p:nvSpPr>
        <p:spPr>
          <a:xfrm>
            <a:off x="3721059" y="4356110"/>
            <a:ext cx="8067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700" spc="-122" kern="0" dirty="0">
                <a:solidFill>
                  <a:schemeClr val="bg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HITL</a:t>
            </a:r>
            <a:endParaRPr lang="en-US" sz="2700" dirty="0"/>
          </a:p>
        </p:txBody>
      </p:sp>
      <p:sp>
        <p:nvSpPr>
          <p:cNvPr id="28" name="휴먼 인 더 루프 1"/>
          <p:cNvSpPr txBox="1"/>
          <p:nvPr/>
        </p:nvSpPr>
        <p:spPr>
          <a:xfrm>
            <a:off x="3721059" y="4775180"/>
            <a:ext cx="96469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300" spc="-58" kern="0" dirty="0">
                <a:solidFill>
                  <a:schemeClr val="bg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휴먼 인 더 루프</a:t>
            </a:r>
            <a:endParaRPr lang="en-US" sz="1300" dirty="0"/>
          </a:p>
        </p:txBody>
      </p:sp>
      <p:sp>
        <p:nvSpPr>
          <p:cNvPr id="29" name="Human-in-the-loop 1"/>
          <p:cNvSpPr txBox="1"/>
          <p:nvPr/>
        </p:nvSpPr>
        <p:spPr>
          <a:xfrm>
            <a:off x="3721059" y="4991070"/>
            <a:ext cx="1101486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50" spc="-16" kern="0" dirty="0">
                <a:solidFill>
                  <a:srgbClr val="8C8F9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Human-in-the-loop</a:t>
            </a:r>
            <a:endParaRPr lang="en-US" sz="850" dirty="0"/>
          </a:p>
        </p:txBody>
      </p:sp>
      <p:sp>
        <p:nvSpPr>
          <p:cNvPr id="30" name="인간과 AI 사이에 적절한 상호  1"/>
          <p:cNvSpPr txBox="1"/>
          <p:nvPr/>
        </p:nvSpPr>
        <p:spPr>
          <a:xfrm>
            <a:off x="3721059" y="5219121"/>
            <a:ext cx="1959925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59"/>
              </a:lnSpc>
              <a:buNone/>
            </a:pPr>
            <a:r>
              <a:rPr lang="en-US" sz="1050" spc="-16" kern="0" dirty="0">
                <a:solidFill>
                  <a:srgbClr val="D6D7D8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인간과 AI 사이에 적절한 상호 협력이 이루어진다.</a:t>
            </a:r>
            <a:endParaRPr lang="en-US" sz="1050" dirty="0"/>
          </a:p>
        </p:txBody>
      </p:sp>
      <p:sp>
        <p:nvSpPr>
          <p:cNvPr id="31" name="카드 3"/>
          <p:cNvSpPr/>
          <p:nvPr/>
        </p:nvSpPr>
        <p:spPr>
          <a:xfrm>
            <a:off x="6172200" y="2920959"/>
            <a:ext cx="2552730" cy="3365541"/>
          </a:xfrm>
          <a:prstGeom prst="roundRect">
            <a:avLst>
              <a:gd name="adj" fmla="val 995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32" name="사람 구체 4" descr="사람 구체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0765" y="3112983"/>
            <a:ext cx="733532" cy="733532"/>
          </a:xfrm>
          <a:prstGeom prst="rect">
            <a:avLst/>
          </a:prstGeom>
        </p:spPr>
      </p:pic>
      <p:sp>
        <p:nvSpPr>
          <p:cNvPr id="33" name="지켜보기만 1"/>
          <p:cNvSpPr txBox="1"/>
          <p:nvPr/>
        </p:nvSpPr>
        <p:spPr>
          <a:xfrm>
            <a:off x="6908841" y="3314700"/>
            <a:ext cx="45976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지켜보기만</a:t>
            </a:r>
            <a:endParaRPr lang="en-US" sz="750" dirty="0"/>
          </a:p>
        </p:txBody>
      </p:sp>
      <p:pic>
        <p:nvPicPr>
          <p:cNvPr id="34" name="AI 구체 4" descr="AI 구체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7708" y="2743749"/>
            <a:ext cx="1942094" cy="1942094"/>
          </a:xfrm>
          <a:prstGeom prst="rect">
            <a:avLst/>
          </a:prstGeom>
        </p:spPr>
      </p:pic>
      <p:sp>
        <p:nvSpPr>
          <p:cNvPr id="35" name="HOTL 1"/>
          <p:cNvSpPr txBox="1"/>
          <p:nvPr/>
        </p:nvSpPr>
        <p:spPr>
          <a:xfrm>
            <a:off x="6426220" y="4356110"/>
            <a:ext cx="98398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700" spc="-122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HOTL</a:t>
            </a:r>
            <a:endParaRPr lang="en-US" sz="2700" dirty="0"/>
          </a:p>
        </p:txBody>
      </p:sp>
      <p:sp>
        <p:nvSpPr>
          <p:cNvPr id="36" name="휴먼 온 더 루프 1"/>
          <p:cNvSpPr txBox="1"/>
          <p:nvPr/>
        </p:nvSpPr>
        <p:spPr>
          <a:xfrm>
            <a:off x="6426220" y="4775180"/>
            <a:ext cx="96469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300" spc="-5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휴먼 온 더 루프</a:t>
            </a:r>
            <a:endParaRPr lang="en-US" sz="1300" dirty="0"/>
          </a:p>
        </p:txBody>
      </p:sp>
      <p:sp>
        <p:nvSpPr>
          <p:cNvPr id="37" name="Human-on-the-loop 1"/>
          <p:cNvSpPr txBox="1"/>
          <p:nvPr/>
        </p:nvSpPr>
        <p:spPr>
          <a:xfrm>
            <a:off x="6426220" y="4991070"/>
            <a:ext cx="1142177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5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Human-on-the-loop</a:t>
            </a:r>
            <a:endParaRPr lang="en-US" sz="850" dirty="0"/>
          </a:p>
        </p:txBody>
      </p:sp>
      <p:sp>
        <p:nvSpPr>
          <p:cNvPr id="38" name="AI가 수행한 결과를 인간은 감시 1"/>
          <p:cNvSpPr txBox="1"/>
          <p:nvPr/>
        </p:nvSpPr>
        <p:spPr>
          <a:xfrm>
            <a:off x="6426220" y="5219121"/>
            <a:ext cx="2079803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59"/>
              </a:lnSpc>
              <a:buNone/>
            </a:pPr>
            <a:r>
              <a:rPr lang="en-US" sz="1050" spc="-16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AI가 수행한 결과를 인간은 감시만 하는 수동적 감독 시스템.</a:t>
            </a:r>
            <a:endParaRPr lang="en-US" sz="1050" dirty="0"/>
          </a:p>
        </p:txBody>
      </p:sp>
      <p:sp>
        <p:nvSpPr>
          <p:cNvPr id="39" name="카드 4"/>
          <p:cNvSpPr/>
          <p:nvPr/>
        </p:nvSpPr>
        <p:spPr>
          <a:xfrm>
            <a:off x="8877270" y="2920959"/>
            <a:ext cx="2552730" cy="3365541"/>
          </a:xfrm>
          <a:prstGeom prst="roundRect">
            <a:avLst>
              <a:gd name="adj" fmla="val 995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40" name="빈 자리 표시 1" descr="빈 자리 표시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82130" y="3200400"/>
            <a:ext cx="381030" cy="381030"/>
          </a:xfrm>
          <a:prstGeom prst="rect">
            <a:avLst/>
          </a:prstGeom>
        </p:spPr>
      </p:pic>
      <p:sp>
        <p:nvSpPr>
          <p:cNvPr id="41" name="개입 없음 1"/>
          <p:cNvSpPr txBox="1"/>
          <p:nvPr/>
        </p:nvSpPr>
        <p:spPr>
          <a:xfrm>
            <a:off x="9613910" y="3314700"/>
            <a:ext cx="3968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개입 없음</a:t>
            </a:r>
            <a:endParaRPr lang="en-US" sz="750" dirty="0"/>
          </a:p>
        </p:txBody>
      </p:sp>
      <p:pic>
        <p:nvPicPr>
          <p:cNvPr id="42" name="AI 구체 5" descr="AI 구체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54347" y="2659898"/>
            <a:ext cx="2071665" cy="2071665"/>
          </a:xfrm>
          <a:prstGeom prst="rect">
            <a:avLst/>
          </a:prstGeom>
        </p:spPr>
      </p:pic>
      <p:sp>
        <p:nvSpPr>
          <p:cNvPr id="43" name="HOOTL 1"/>
          <p:cNvSpPr txBox="1"/>
          <p:nvPr/>
        </p:nvSpPr>
        <p:spPr>
          <a:xfrm>
            <a:off x="9131290" y="4356110"/>
            <a:ext cx="12629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700" spc="-122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HOOTL</a:t>
            </a:r>
            <a:endParaRPr lang="en-US" sz="2700" dirty="0"/>
          </a:p>
        </p:txBody>
      </p:sp>
      <p:sp>
        <p:nvSpPr>
          <p:cNvPr id="44" name="휴먼 아웃 오브 더 루프 1"/>
          <p:cNvSpPr txBox="1"/>
          <p:nvPr/>
        </p:nvSpPr>
        <p:spPr>
          <a:xfrm>
            <a:off x="9131290" y="4775180"/>
            <a:ext cx="141055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300" spc="-5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휴먼 아웃 오브 더 루프</a:t>
            </a:r>
            <a:endParaRPr lang="en-US" sz="1300" dirty="0"/>
          </a:p>
        </p:txBody>
      </p:sp>
      <p:sp>
        <p:nvSpPr>
          <p:cNvPr id="45" name="Human-out-of-the-l 1"/>
          <p:cNvSpPr txBox="1"/>
          <p:nvPr/>
        </p:nvSpPr>
        <p:spPr>
          <a:xfrm>
            <a:off x="9131290" y="4991070"/>
            <a:ext cx="1331366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5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Human-out-of-the-loop</a:t>
            </a:r>
            <a:endParaRPr lang="en-US" sz="850" dirty="0"/>
          </a:p>
        </p:txBody>
      </p:sp>
      <p:sp>
        <p:nvSpPr>
          <p:cNvPr id="46" name="인간의 개입 없이 AI가 최종 결 1"/>
          <p:cNvSpPr txBox="1"/>
          <p:nvPr/>
        </p:nvSpPr>
        <p:spPr>
          <a:xfrm>
            <a:off x="9131290" y="5219121"/>
            <a:ext cx="1840047" cy="421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59"/>
              </a:lnSpc>
              <a:buNone/>
            </a:pPr>
            <a:r>
              <a:rPr lang="en-US" sz="1050" spc="-16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인간의 개입 없이 AI가 최종 결정을 내린다.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721632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Case · 실제 기업·브랜드 사례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761970" y="1148121"/>
            <a:ext cx="10668030" cy="112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사람이 판단하고, </a:t>
            </a:r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AI가 찾아낸다</a:t>
            </a:r>
            <a:endParaRPr lang="en-US" sz="3600" dirty="0"/>
          </a:p>
        </p:txBody>
      </p:sp>
      <p:sp>
        <p:nvSpPr>
          <p:cNvPr id="4" name="카드 1"/>
          <p:cNvSpPr/>
          <p:nvPr/>
        </p:nvSpPr>
        <p:spPr>
          <a:xfrm>
            <a:off x="761970" y="2019270"/>
            <a:ext cx="6961419" cy="2057400"/>
          </a:xfrm>
          <a:prstGeom prst="roundRect">
            <a:avLst>
              <a:gd name="adj" fmla="val 12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5" name="CASE 01 · 인도 보험 플랫 1"/>
          <p:cNvSpPr txBox="1"/>
          <p:nvPr/>
        </p:nvSpPr>
        <p:spPr>
          <a:xfrm>
            <a:off x="1028700" y="2260580"/>
            <a:ext cx="1598920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0" kern="0" dirty="0">
                <a:solidFill>
                  <a:schemeClr val="accent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CASE 01 · 인도 보험 플랫폼</a:t>
            </a:r>
            <a:endParaRPr lang="en-US" sz="1050" dirty="0"/>
          </a:p>
        </p:txBody>
      </p:sp>
      <p:sp>
        <p:nvSpPr>
          <p:cNvPr id="6" name="인슈어런스데코 InsuranceD 1"/>
          <p:cNvSpPr txBox="1"/>
          <p:nvPr/>
        </p:nvSpPr>
        <p:spPr>
          <a:xfrm>
            <a:off x="1028700" y="2470160"/>
            <a:ext cx="3396082" cy="4063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700" spc="-135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인슈어런스데코</a:t>
            </a:r>
            <a:pPr eaLnBrk="0"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</a:t>
            </a:r>
            <a:pPr eaLnBrk="0"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InsuranceDekho</a:t>
            </a:r>
            <a:endParaRPr lang="en-US" sz="2700" dirty="0"/>
          </a:p>
        </p:txBody>
      </p:sp>
      <p:sp>
        <p:nvSpPr>
          <p:cNvPr id="7" name="고객이 문의하면 설계사가 AI에게 1"/>
          <p:cNvSpPr txBox="1"/>
          <p:nvPr/>
        </p:nvSpPr>
        <p:spPr>
          <a:xfrm>
            <a:off x="1028700" y="3246394"/>
            <a:ext cx="5620268" cy="226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고객이 문의하면 설계사가 AI에게 확인하고, AI는 실제 보험 문서를 실시간으로 찾아 즉시 답한다.</a:t>
            </a:r>
            <a:endParaRPr lang="en-US" sz="1150" dirty="0"/>
          </a:p>
        </p:txBody>
      </p:sp>
      <p:sp>
        <p:nvSpPr>
          <p:cNvPr id="8" name="라벨 2"/>
          <p:cNvSpPr/>
          <p:nvPr/>
        </p:nvSpPr>
        <p:spPr>
          <a:xfrm>
            <a:off x="1028700" y="3589020"/>
            <a:ext cx="1899940" cy="24633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900" spc="-9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사람 · 설계사가 고객 응대와 최종 안내</a:t>
            </a:r>
            <a:endParaRPr lang="en-US" sz="900" dirty="0"/>
          </a:p>
        </p:txBody>
      </p:sp>
      <p:sp>
        <p:nvSpPr>
          <p:cNvPr id="9" name="라벨 3"/>
          <p:cNvSpPr/>
          <p:nvPr/>
        </p:nvSpPr>
        <p:spPr>
          <a:xfrm>
            <a:off x="2992100" y="3589020"/>
            <a:ext cx="1399398" cy="24633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900" spc="-9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AI · 보험 문서 검색과 답변</a:t>
            </a:r>
            <a:endParaRPr lang="en-US" sz="900" dirty="0"/>
          </a:p>
        </p:txBody>
      </p:sp>
      <p:sp>
        <p:nvSpPr>
          <p:cNvPr id="10" name="카드 (그라데이션 3)"/>
          <p:cNvSpPr/>
          <p:nvPr/>
        </p:nvSpPr>
        <p:spPr>
          <a:xfrm>
            <a:off x="7875819" y="2019270"/>
            <a:ext cx="3554090" cy="4267230"/>
          </a:xfrm>
          <a:prstGeom prst="roundRect">
            <a:avLst>
              <a:gd name="adj" fmla="val 7147"/>
            </a:avLst>
          </a:prstGeom>
          <a:gradFill rotWithShape="1">
            <a:gsLst>
              <a:gs pos="0">
                <a:srgbClr val="4C93FF"/>
              </a:gs>
              <a:gs pos="45000">
                <a:srgbClr val="3182F6"/>
              </a:gs>
              <a:gs pos="100000">
                <a:srgbClr val="1B64DA"/>
              </a:gs>
            </a:gsLst>
            <a:lin ang="4200000" scaled="0"/>
          </a:gradFill>
          <a:ln/>
          <a:effectLst>
            <a:outerShdw sx="100000" sy="100000" kx="0" ky="0" algn="bl" rotWithShape="0" blurRad="381000" dist="152400" dir="5400000">
              <a:srgbClr val="3182F6">
                <a:alpha val="28000"/>
              </a:srgbClr>
            </a:outerShdw>
          </a:effectLst>
        </p:spPr>
      </p:sp>
      <p:sp>
        <p:nvSpPr>
          <p:cNvPr id="11" name="CASE 02 · 서울대학교병원  1"/>
          <p:cNvSpPr txBox="1"/>
          <p:nvPr/>
        </p:nvSpPr>
        <p:spPr>
          <a:xfrm>
            <a:off x="8142458" y="2260580"/>
            <a:ext cx="1934047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0" kern="0" dirty="0">
                <a:solidFill>
                  <a:srgbClr val="C5DCFC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CASE 02 · 서울대학교병원 2025</a:t>
            </a:r>
            <a:endParaRPr lang="en-US" sz="1050" dirty="0"/>
          </a:p>
        </p:txBody>
      </p:sp>
      <p:sp>
        <p:nvSpPr>
          <p:cNvPr id="12" name="10% 1"/>
          <p:cNvSpPr txBox="1"/>
          <p:nvPr/>
        </p:nvSpPr>
        <p:spPr>
          <a:xfrm>
            <a:off x="8142458" y="3892052"/>
            <a:ext cx="3141513" cy="1187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000" spc="-770" kern="0" dirty="0">
                <a:solidFill>
                  <a:schemeClr val="bg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10%</a:t>
            </a:r>
            <a:endParaRPr lang="en-US" sz="11000" dirty="0"/>
          </a:p>
        </p:txBody>
      </p:sp>
      <p:sp>
        <p:nvSpPr>
          <p:cNvPr id="13" name="유방 촬영 영상 판독에서 AI 소 1"/>
          <p:cNvSpPr txBox="1"/>
          <p:nvPr/>
        </p:nvSpPr>
        <p:spPr>
          <a:xfrm>
            <a:off x="8142458" y="5229819"/>
            <a:ext cx="3103016" cy="452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782"/>
              </a:lnSpc>
              <a:buNone/>
            </a:pPr>
            <a:r>
              <a:rPr lang="en-US" sz="1150" spc="-16" kern="0" dirty="0">
                <a:solidFill>
                  <a:srgbClr val="E6F0FE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유방 촬영 영상 판독에서 AI 소프트웨어가 전문의보다 10% 더 정확하게 암을 찾아냈다.</a:t>
            </a:r>
            <a:endParaRPr lang="en-US" sz="1150" dirty="0"/>
          </a:p>
        </p:txBody>
      </p:sp>
      <p:sp>
        <p:nvSpPr>
          <p:cNvPr id="14" name="라벨 4"/>
          <p:cNvSpPr/>
          <p:nvPr/>
        </p:nvSpPr>
        <p:spPr>
          <a:xfrm>
            <a:off x="8142458" y="5798850"/>
            <a:ext cx="932962" cy="246339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900" spc="-9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사람 · 최종 진단</a:t>
            </a:r>
            <a:endParaRPr lang="en-US" sz="900" dirty="0"/>
          </a:p>
        </p:txBody>
      </p:sp>
      <p:sp>
        <p:nvSpPr>
          <p:cNvPr id="15" name="라벨 5"/>
          <p:cNvSpPr/>
          <p:nvPr/>
        </p:nvSpPr>
        <p:spPr>
          <a:xfrm>
            <a:off x="9138971" y="5798850"/>
            <a:ext cx="1076980" cy="246339"/>
          </a:xfrm>
          <a:prstGeom prst="roundRect">
            <a:avLst>
              <a:gd name="adj" fmla="val 50000"/>
            </a:avLst>
          </a:prstGeom>
          <a:solidFill>
            <a:schemeClr val="bg1">
              <a:alpha val="18000"/>
            </a:schemeClr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900" spc="-9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AI · 이상 징후 탐지</a:t>
            </a:r>
            <a:endParaRPr lang="en-US" sz="900" dirty="0"/>
          </a:p>
        </p:txBody>
      </p:sp>
      <p:sp>
        <p:nvSpPr>
          <p:cNvPr id="16" name="카드 3"/>
          <p:cNvSpPr/>
          <p:nvPr/>
        </p:nvSpPr>
        <p:spPr>
          <a:xfrm>
            <a:off x="761970" y="4229100"/>
            <a:ext cx="2218792" cy="2057400"/>
          </a:xfrm>
          <a:prstGeom prst="roundRect">
            <a:avLst>
              <a:gd name="adj" fmla="val 12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17" name="15만명 1"/>
          <p:cNvSpPr txBox="1"/>
          <p:nvPr/>
        </p:nvSpPr>
        <p:spPr>
          <a:xfrm>
            <a:off x="1028700" y="5099426"/>
            <a:ext cx="1615836" cy="66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5200" spc="-312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15만</a:t>
            </a:r>
            <a:pPr eaLnBrk="0" algn="l" indent="0" marL="0">
              <a:buNone/>
            </a:pPr>
            <a:r>
              <a:rPr lang="en-US" sz="1600" spc="-4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명</a:t>
            </a:r>
            <a:endParaRPr lang="en-US" sz="5200" dirty="0"/>
          </a:p>
        </p:txBody>
      </p:sp>
      <p:sp>
        <p:nvSpPr>
          <p:cNvPr id="18" name="AI와 일하는 보험 설계사 1"/>
          <p:cNvSpPr txBox="1"/>
          <p:nvPr/>
        </p:nvSpPr>
        <p:spPr>
          <a:xfrm>
            <a:off x="1028700" y="5847314"/>
            <a:ext cx="1304209" cy="193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AI와 일하는 보험 설계사</a:t>
            </a:r>
            <a:endParaRPr lang="en-US" sz="1050" dirty="0"/>
          </a:p>
        </p:txBody>
      </p:sp>
      <p:sp>
        <p:nvSpPr>
          <p:cNvPr id="19" name="카드 4"/>
          <p:cNvSpPr/>
          <p:nvPr/>
        </p:nvSpPr>
        <p:spPr>
          <a:xfrm>
            <a:off x="3133192" y="4229100"/>
            <a:ext cx="2218883" cy="2057400"/>
          </a:xfrm>
          <a:prstGeom prst="roundRect">
            <a:avLst>
              <a:gd name="adj" fmla="val 12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20" name="49개 1"/>
          <p:cNvSpPr txBox="1"/>
          <p:nvPr/>
        </p:nvSpPr>
        <p:spPr>
          <a:xfrm>
            <a:off x="3399922" y="5099426"/>
            <a:ext cx="1062899" cy="66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5200" spc="-312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49</a:t>
            </a:r>
            <a:pPr eaLnBrk="0" algn="l" indent="0" marL="0">
              <a:buNone/>
            </a:pPr>
            <a:r>
              <a:rPr lang="en-US" sz="1600" spc="-4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개</a:t>
            </a:r>
            <a:endParaRPr lang="en-US" sz="5200" dirty="0"/>
          </a:p>
        </p:txBody>
      </p:sp>
      <p:sp>
        <p:nvSpPr>
          <p:cNvPr id="21" name="보험사 상품 정보를 모두 기억 1"/>
          <p:cNvSpPr txBox="1"/>
          <p:nvPr/>
        </p:nvSpPr>
        <p:spPr>
          <a:xfrm>
            <a:off x="3399922" y="5847314"/>
            <a:ext cx="1552743" cy="193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보험사 상품 정보를 모두 기억</a:t>
            </a:r>
            <a:endParaRPr lang="en-US" sz="1050" dirty="0"/>
          </a:p>
        </p:txBody>
      </p:sp>
      <p:sp>
        <p:nvSpPr>
          <p:cNvPr id="22" name="카드 5"/>
          <p:cNvSpPr/>
          <p:nvPr/>
        </p:nvSpPr>
        <p:spPr>
          <a:xfrm>
            <a:off x="5504597" y="4229100"/>
            <a:ext cx="2218792" cy="2057400"/>
          </a:xfrm>
          <a:prstGeom prst="roundRect">
            <a:avLst>
              <a:gd name="adj" fmla="val 1234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23" name="24시간 1"/>
          <p:cNvSpPr txBox="1"/>
          <p:nvPr/>
        </p:nvSpPr>
        <p:spPr>
          <a:xfrm>
            <a:off x="5771236" y="5099426"/>
            <a:ext cx="1235629" cy="6603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5200" spc="-312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24</a:t>
            </a:r>
            <a:pPr eaLnBrk="0" algn="l" indent="0" marL="0">
              <a:buNone/>
            </a:pPr>
            <a:r>
              <a:rPr lang="en-US" sz="1600" spc="-4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시간</a:t>
            </a:r>
            <a:endParaRPr lang="en-US" sz="5200" dirty="0"/>
          </a:p>
        </p:txBody>
      </p:sp>
      <p:sp>
        <p:nvSpPr>
          <p:cNvPr id="24" name="대기하는 보험 전문가 효과 1"/>
          <p:cNvSpPr txBox="1"/>
          <p:nvPr/>
        </p:nvSpPr>
        <p:spPr>
          <a:xfrm>
            <a:off x="5771236" y="5847314"/>
            <a:ext cx="1404518" cy="1933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대기하는 보험 전문가 효과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101303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Why · 원인 분석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761970" y="1148121"/>
            <a:ext cx="10668030" cy="112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소비자는 왜 AI에게 맡기는가</a:t>
            </a:r>
            <a:endParaRPr lang="en-US" sz="3600" dirty="0"/>
          </a:p>
        </p:txBody>
      </p:sp>
      <p:sp>
        <p:nvSpPr>
          <p:cNvPr id="4" name="심리적 원인과 상황적 원인이 함께 1"/>
          <p:cNvSpPr txBox="1"/>
          <p:nvPr/>
        </p:nvSpPr>
        <p:spPr>
          <a:xfrm>
            <a:off x="761970" y="1786829"/>
            <a:ext cx="3045775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400" spc="-42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심리적 원인과 상황적 원인이 함께 작동한다.</a:t>
            </a:r>
            <a:endParaRPr lang="en-US" sz="1400" dirty="0"/>
          </a:p>
        </p:txBody>
      </p:sp>
      <p:sp>
        <p:nvSpPr>
          <p:cNvPr id="5" name="카드 1"/>
          <p:cNvSpPr/>
          <p:nvPr/>
        </p:nvSpPr>
        <p:spPr>
          <a:xfrm>
            <a:off x="761970" y="2349459"/>
            <a:ext cx="3454420" cy="2794041"/>
          </a:xfrm>
          <a:prstGeom prst="roundRect">
            <a:avLst>
              <a:gd name="adj" fmla="val 90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6" name="3D 아이콘 1" descr="3D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378" y="2347448"/>
            <a:ext cx="1172444" cy="1172444"/>
          </a:xfrm>
          <a:prstGeom prst="rect">
            <a:avLst/>
          </a:prstGeom>
        </p:spPr>
      </p:pic>
      <p:sp>
        <p:nvSpPr>
          <p:cNvPr id="7" name="“덜 고민하고 싶다” 1"/>
          <p:cNvSpPr txBox="1"/>
          <p:nvPr/>
        </p:nvSpPr>
        <p:spPr>
          <a:xfrm>
            <a:off x="1066830" y="3810030"/>
            <a:ext cx="215743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300" spc="-12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“덜 고민하고 싶다”</a:t>
            </a:r>
            <a:endParaRPr lang="en-US" sz="2300" dirty="0"/>
          </a:p>
        </p:txBody>
      </p:sp>
      <p:sp>
        <p:nvSpPr>
          <p:cNvPr id="8" name="인지적 노력과 의사결정 부담을 줄 1"/>
          <p:cNvSpPr txBox="1"/>
          <p:nvPr/>
        </p:nvSpPr>
        <p:spPr>
          <a:xfrm>
            <a:off x="1066830" y="4216390"/>
            <a:ext cx="2519355" cy="165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00" spc="-22" kern="0" dirty="0">
                <a:solidFill>
                  <a:schemeClr val="accent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인지적 노력과 의사결정 부담을 줄이려는 욕구</a:t>
            </a:r>
            <a:endParaRPr lang="en-US" sz="1100" dirty="0"/>
          </a:p>
        </p:txBody>
      </p:sp>
      <p:sp>
        <p:nvSpPr>
          <p:cNvPr id="9" name="여러 사이트를 검색하고 가격과 품 1"/>
          <p:cNvSpPr txBox="1"/>
          <p:nvPr/>
        </p:nvSpPr>
        <p:spPr>
          <a:xfrm>
            <a:off x="1066830" y="4457700"/>
            <a:ext cx="2900477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00"/>
              </a:lnSpc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여러 사이트를 검색하고 가격과 품질을 비교하고 리뷰까지 읽어야 한다. 선택지가 많을수록 번거롭다.</a:t>
            </a:r>
            <a:endParaRPr lang="en-US" sz="1000" dirty="0"/>
          </a:p>
        </p:txBody>
      </p:sp>
      <p:sp>
        <p:nvSpPr>
          <p:cNvPr id="10" name="카드 2"/>
          <p:cNvSpPr/>
          <p:nvPr/>
        </p:nvSpPr>
        <p:spPr>
          <a:xfrm>
            <a:off x="4368820" y="2349459"/>
            <a:ext cx="3454420" cy="2794041"/>
          </a:xfrm>
          <a:prstGeom prst="roundRect">
            <a:avLst>
              <a:gd name="adj" fmla="val 90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11" name="3D 아이콘 2" descr="3D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138" y="2347448"/>
            <a:ext cx="1172444" cy="1172444"/>
          </a:xfrm>
          <a:prstGeom prst="rect">
            <a:avLst/>
          </a:prstGeom>
        </p:spPr>
      </p:pic>
      <p:sp>
        <p:nvSpPr>
          <p:cNvPr id="12" name="“빨리 끝내고 싶다” 1"/>
          <p:cNvSpPr txBox="1"/>
          <p:nvPr/>
        </p:nvSpPr>
        <p:spPr>
          <a:xfrm>
            <a:off x="4673590" y="3810030"/>
            <a:ext cx="215743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300" spc="-12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“빨리 끝내고 싶다”</a:t>
            </a:r>
            <a:endParaRPr lang="en-US" sz="2300" dirty="0"/>
          </a:p>
        </p:txBody>
      </p:sp>
      <p:sp>
        <p:nvSpPr>
          <p:cNvPr id="13" name="생산성 및 효율성 극대화 1"/>
          <p:cNvSpPr txBox="1"/>
          <p:nvPr/>
        </p:nvSpPr>
        <p:spPr>
          <a:xfrm>
            <a:off x="4673590" y="4216390"/>
            <a:ext cx="1336670" cy="165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00" spc="-22" kern="0" dirty="0">
                <a:solidFill>
                  <a:schemeClr val="accent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생산성 및 효율성 극대화</a:t>
            </a:r>
            <a:endParaRPr lang="en-US" sz="1100" dirty="0"/>
          </a:p>
        </p:txBody>
      </p:sp>
      <p:sp>
        <p:nvSpPr>
          <p:cNvPr id="14" name="AI가 정보를 요약하고 조건에 맞 1"/>
          <p:cNvSpPr txBox="1"/>
          <p:nvPr/>
        </p:nvSpPr>
        <p:spPr>
          <a:xfrm>
            <a:off x="4673590" y="4457700"/>
            <a:ext cx="2831348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00"/>
              </a:lnSpc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AI가 정보를 요약하고 조건에 맞는 대안을 제시해 비교에 드는 시간을 줄여준다.</a:t>
            </a:r>
            <a:endParaRPr lang="en-US" sz="1000" dirty="0"/>
          </a:p>
        </p:txBody>
      </p:sp>
      <p:sp>
        <p:nvSpPr>
          <p:cNvPr id="15" name="카드 3"/>
          <p:cNvSpPr/>
          <p:nvPr/>
        </p:nvSpPr>
        <p:spPr>
          <a:xfrm>
            <a:off x="7975580" y="2349459"/>
            <a:ext cx="3454420" cy="2794041"/>
          </a:xfrm>
          <a:prstGeom prst="roundRect">
            <a:avLst>
              <a:gd name="adj" fmla="val 909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16" name="3D 아이콘 3" descr="3D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8988" y="2347448"/>
            <a:ext cx="1172444" cy="1172444"/>
          </a:xfrm>
          <a:prstGeom prst="rect">
            <a:avLst/>
          </a:prstGeom>
        </p:spPr>
      </p:pic>
      <p:sp>
        <p:nvSpPr>
          <p:cNvPr id="17" name="“더 잘 고르고 싶다” 1"/>
          <p:cNvSpPr txBox="1"/>
          <p:nvPr/>
        </p:nvSpPr>
        <p:spPr>
          <a:xfrm>
            <a:off x="8280441" y="3810030"/>
            <a:ext cx="22076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300" spc="-12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“더 잘 고르고 싶다”</a:t>
            </a:r>
            <a:endParaRPr lang="en-US" sz="2300" dirty="0"/>
          </a:p>
        </p:txBody>
      </p:sp>
      <p:sp>
        <p:nvSpPr>
          <p:cNvPr id="18" name="전문성 보완 1"/>
          <p:cNvSpPr txBox="1"/>
          <p:nvPr/>
        </p:nvSpPr>
        <p:spPr>
          <a:xfrm>
            <a:off x="8280441" y="4216390"/>
            <a:ext cx="679491" cy="165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00" spc="-22" kern="0" dirty="0">
                <a:solidFill>
                  <a:schemeClr val="accent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전문성 보완</a:t>
            </a:r>
            <a:endParaRPr lang="en-US" sz="1100" dirty="0"/>
          </a:p>
        </p:txBody>
      </p:sp>
      <p:sp>
        <p:nvSpPr>
          <p:cNvPr id="19" name="정보가 방대하거나 복잡한 분야일수 1"/>
          <p:cNvSpPr txBox="1"/>
          <p:nvPr/>
        </p:nvSpPr>
        <p:spPr>
          <a:xfrm>
            <a:off x="8280441" y="4457700"/>
            <a:ext cx="2549256" cy="40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00"/>
              </a:lnSpc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정보가 방대하거나 복잡한 분야일수록 AI의 진가가 발휘된다. 모르는 영역을 AI가 채운다.</a:t>
            </a:r>
            <a:endParaRPr lang="en-US" sz="1000" dirty="0"/>
          </a:p>
        </p:txBody>
      </p:sp>
      <p:sp>
        <p:nvSpPr>
          <p:cNvPr id="20" name="카드 (그라데이션 4)"/>
          <p:cNvSpPr/>
          <p:nvPr/>
        </p:nvSpPr>
        <p:spPr>
          <a:xfrm>
            <a:off x="761970" y="5295930"/>
            <a:ext cx="10668030" cy="990570"/>
          </a:xfrm>
          <a:prstGeom prst="roundRect">
            <a:avLst>
              <a:gd name="adj" fmla="val 25644"/>
            </a:avLst>
          </a:prstGeom>
          <a:gradFill rotWithShape="1">
            <a:gsLst>
              <a:gs pos="0">
                <a:srgbClr val="4C93FF"/>
              </a:gs>
              <a:gs pos="45000">
                <a:srgbClr val="3182F6"/>
              </a:gs>
              <a:gs pos="100000">
                <a:srgbClr val="1B64DA"/>
              </a:gs>
            </a:gsLst>
            <a:lin ang="4200000" scaled="0"/>
          </a:gradFill>
          <a:ln/>
          <a:effectLst>
            <a:outerShdw sx="100000" sy="100000" kx="0" ky="0" algn="bl" rotWithShape="0" blurRad="381000" dist="152400" dir="5400000">
              <a:srgbClr val="3182F6">
                <a:alpha val="28000"/>
              </a:srgbClr>
            </a:outerShdw>
          </a:effectLst>
        </p:spPr>
      </p:sp>
      <p:sp>
        <p:nvSpPr>
          <p:cNvPr id="21" name="선택지가 많아질수록, 소비자는 A 1"/>
          <p:cNvSpPr txBox="1"/>
          <p:nvPr/>
        </p:nvSpPr>
        <p:spPr>
          <a:xfrm>
            <a:off x="1143000" y="5641939"/>
            <a:ext cx="4547128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000" spc="-90" kern="0" dirty="0">
                <a:solidFill>
                  <a:schemeClr val="bg1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선택지가 많아질수록, 소비자는 </a:t>
            </a:r>
            <a:pPr eaLnBrk="0" algn="l" indent="0" marL="0">
              <a:buNone/>
            </a:pPr>
            <a:r>
              <a:rPr lang="en-US" sz="2000" spc="-90" kern="0" dirty="0">
                <a:solidFill>
                  <a:schemeClr val="bg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AI에 의존한다.</a:t>
            </a:r>
            <a:endParaRPr lang="en-US" sz="2000" dirty="0"/>
          </a:p>
        </p:txBody>
      </p:sp>
      <p:pic>
        <p:nvPicPr>
          <p:cNvPr id="22" name="사람 구체 1" descr="사람 구체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3564" y="5225064"/>
            <a:ext cx="1221273" cy="1221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101303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Why · 인지 증강</a:t>
            </a:r>
            <a:endParaRPr lang="en-US" sz="1000" dirty="0"/>
          </a:p>
        </p:txBody>
      </p:sp>
      <p:sp>
        <p:nvSpPr>
          <p:cNvPr id="3" name="인지 증강 1"/>
          <p:cNvSpPr txBox="1"/>
          <p:nvPr/>
        </p:nvSpPr>
        <p:spPr>
          <a:xfrm>
            <a:off x="761970" y="1171621"/>
            <a:ext cx="3157423" cy="888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000" spc="-455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인지 증강</a:t>
            </a:r>
            <a:endParaRPr lang="en-US" sz="7000" dirty="0"/>
          </a:p>
        </p:txBody>
      </p:sp>
      <p:sp>
        <p:nvSpPr>
          <p:cNvPr id="4" name="Cognitive Augmenta 1"/>
          <p:cNvSpPr txBox="1"/>
          <p:nvPr/>
        </p:nvSpPr>
        <p:spPr>
          <a:xfrm>
            <a:off x="761970" y="2165391"/>
            <a:ext cx="2697754" cy="254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700" spc="-34" kern="0" dirty="0">
                <a:solidFill>
                  <a:schemeClr val="accent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Cognitive Augmentation</a:t>
            </a:r>
            <a:endParaRPr lang="en-US" sz="1700" dirty="0"/>
          </a:p>
        </p:txBody>
      </p:sp>
      <p:sp>
        <p:nvSpPr>
          <p:cNvPr id="5" name="기계적이고 소모적인 작업은 AI가 1"/>
          <p:cNvSpPr txBox="1"/>
          <p:nvPr/>
        </p:nvSpPr>
        <p:spPr>
          <a:xfrm>
            <a:off x="761970" y="5449915"/>
            <a:ext cx="4369003" cy="59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2325"/>
              </a:lnSpc>
              <a:buNone/>
            </a:pPr>
            <a:r>
              <a:rPr lang="en-US" sz="1500" spc="-60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기계적이고 소모적인 작업은 </a:t>
            </a:r>
            <a:pPr eaLnBrk="0" algn="l" indent="0" marL="0">
              <a:lnSpc>
                <a:spcPts val="2325"/>
              </a:lnSpc>
              <a:buNone/>
            </a:pPr>
            <a:r>
              <a:rPr lang="en-US" sz="1500" spc="-60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AI가 맡고</a:t>
            </a:r>
            <a:pPr eaLnBrk="0" algn="l" indent="0" marL="0">
              <a:lnSpc>
                <a:spcPts val="2325"/>
              </a:lnSpc>
              <a:buNone/>
            </a:pPr>
            <a:r>
              <a:rPr lang="en-US" sz="1500" spc="-60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, 인간은 </a:t>
            </a:r>
            <a:pPr eaLnBrk="0" algn="l" indent="0" marL="0">
              <a:lnSpc>
                <a:spcPts val="2325"/>
              </a:lnSpc>
              <a:buNone/>
            </a:pPr>
            <a:r>
              <a:rPr lang="en-US" sz="1500" spc="-6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전략적 사고, 창의성, 감성적 판단</a:t>
            </a:r>
            <a:pPr eaLnBrk="0" algn="l" indent="0" marL="0">
              <a:lnSpc>
                <a:spcPts val="2325"/>
              </a:lnSpc>
              <a:buNone/>
            </a:pPr>
            <a:r>
              <a:rPr lang="en-US" sz="1500" spc="-60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같은 고차원적인 일에 집중한다.</a:t>
            </a:r>
            <a:endParaRPr lang="en-US" sz="1500" dirty="0"/>
          </a:p>
        </p:txBody>
      </p:sp>
      <p:sp>
        <p:nvSpPr>
          <p:cNvPr id="6" name="『트렌드 코리아 2026』 · A 1"/>
          <p:cNvSpPr txBox="1"/>
          <p:nvPr/>
        </p:nvSpPr>
        <p:spPr>
          <a:xfrm>
            <a:off x="761970" y="6146780"/>
            <a:ext cx="3180466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『트렌드 코리아 2026』 · AI 증강은 결국 인간의 지적 능력을 확장한다.</a:t>
            </a:r>
            <a:endParaRPr lang="en-US" sz="900" dirty="0"/>
          </a:p>
        </p:txBody>
      </p:sp>
      <p:pic>
        <p:nvPicPr>
          <p:cNvPr id="7" name="AI 구체 1" descr="AI 구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270" y="2209830"/>
            <a:ext cx="1993941" cy="1993941"/>
          </a:xfrm>
          <a:prstGeom prst="rect">
            <a:avLst/>
          </a:prstGeom>
        </p:spPr>
      </p:pic>
      <p:pic>
        <p:nvPicPr>
          <p:cNvPr id="8" name="사람 구체 1" descr="사람 구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110" y="3351550"/>
            <a:ext cx="904250" cy="904250"/>
          </a:xfrm>
          <a:prstGeom prst="rect">
            <a:avLst/>
          </a:prstGeom>
        </p:spPr>
      </p:pic>
      <p:sp>
        <p:nvSpPr>
          <p:cNvPr id="9" name="카드 1"/>
          <p:cNvSpPr/>
          <p:nvPr/>
        </p:nvSpPr>
        <p:spPr>
          <a:xfrm>
            <a:off x="5715000" y="952530"/>
            <a:ext cx="5715000" cy="533397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508000" dist="190500" dir="5400000">
              <a:srgbClr val="191F28">
                <a:alpha val="10000"/>
              </a:srgbClr>
            </a:outerShdw>
          </a:effectLst>
        </p:spPr>
      </p:sp>
      <p:sp>
        <p:nvSpPr>
          <p:cNvPr id="10" name="구분선 1"/>
          <p:cNvSpPr/>
          <p:nvPr/>
        </p:nvSpPr>
        <p:spPr>
          <a:xfrm>
            <a:off x="6019770" y="1587490"/>
            <a:ext cx="510537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sp>
        <p:nvSpPr>
          <p:cNvPr id="11" name="구매 결정 체크리스트 1"/>
          <p:cNvSpPr txBox="1"/>
          <p:nvPr/>
        </p:nvSpPr>
        <p:spPr>
          <a:xfrm>
            <a:off x="6019770" y="1231880"/>
            <a:ext cx="1569202" cy="222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500" spc="-6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구매 결정 체크리스트</a:t>
            </a:r>
            <a:endParaRPr lang="en-US" sz="1500" dirty="0"/>
          </a:p>
        </p:txBody>
      </p:sp>
      <p:sp>
        <p:nvSpPr>
          <p:cNvPr id="12" name="AI 완료 4 · 내 몫 3 1"/>
          <p:cNvSpPr txBox="1"/>
          <p:nvPr/>
        </p:nvSpPr>
        <p:spPr>
          <a:xfrm>
            <a:off x="10294498" y="1314450"/>
            <a:ext cx="881482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spc="-16" kern="0" dirty="0">
                <a:solidFill>
                  <a:schemeClr val="accent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AI 완료 4 · 내 몫 3</a:t>
            </a:r>
            <a:endParaRPr lang="en-US" sz="900" dirty="0"/>
          </a:p>
        </p:txBody>
      </p:sp>
      <p:sp>
        <p:nvSpPr>
          <p:cNvPr id="13" name="구분선 2"/>
          <p:cNvSpPr/>
          <p:nvPr/>
        </p:nvSpPr>
        <p:spPr>
          <a:xfrm>
            <a:off x="6019770" y="2086021"/>
            <a:ext cx="51053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sp>
        <p:nvSpPr>
          <p:cNvPr id="14" name="도형 1"/>
          <p:cNvSpPr/>
          <p:nvPr/>
        </p:nvSpPr>
        <p:spPr>
          <a:xfrm>
            <a:off x="6019770" y="1711300"/>
            <a:ext cx="254020" cy="2540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아이콘 1" descr="아이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209" y="1755739"/>
            <a:ext cx="165141" cy="165141"/>
          </a:xfrm>
          <a:prstGeom prst="rect">
            <a:avLst/>
          </a:prstGeom>
        </p:spPr>
      </p:pic>
      <p:sp>
        <p:nvSpPr>
          <p:cNvPr id="16" name="정보 검색 1"/>
          <p:cNvSpPr txBox="1"/>
          <p:nvPr/>
        </p:nvSpPr>
        <p:spPr>
          <a:xfrm>
            <a:off x="6388090" y="1720809"/>
            <a:ext cx="765078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정보 검색</a:t>
            </a:r>
            <a:endParaRPr lang="en-US" sz="1600" dirty="0"/>
          </a:p>
        </p:txBody>
      </p:sp>
      <p:sp>
        <p:nvSpPr>
          <p:cNvPr id="17" name="라벨 2"/>
          <p:cNvSpPr/>
          <p:nvPr/>
        </p:nvSpPr>
        <p:spPr>
          <a:xfrm>
            <a:off x="10623408" y="1731325"/>
            <a:ext cx="501731" cy="213878"/>
          </a:xfrm>
          <a:prstGeom prst="roundRect">
            <a:avLst>
              <a:gd name="adj" fmla="val 50021"/>
            </a:avLst>
          </a:prstGeom>
          <a:solidFill>
            <a:schemeClr val="accent3"/>
          </a:solidFill>
          <a:ln/>
        </p:spPr>
        <p:txBody>
          <a:bodyPr wrap="none" lIns="88900" tIns="50800" rIns="88900" bIns="44450" rtlCol="0" anchor="ctr"/>
          <a:lstStyle/>
          <a:p>
            <a:pPr eaLnBrk="0" algn="ctr" indent="0" marL="0">
              <a:buNone/>
            </a:pPr>
            <a:r>
              <a:rPr lang="en-US" sz="850" spc="-9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AI 완료</a:t>
            </a:r>
            <a:endParaRPr lang="en-US" sz="850" dirty="0"/>
          </a:p>
        </p:txBody>
      </p:sp>
      <p:sp>
        <p:nvSpPr>
          <p:cNvPr id="18" name="구분선 3"/>
          <p:cNvSpPr/>
          <p:nvPr/>
        </p:nvSpPr>
        <p:spPr>
          <a:xfrm>
            <a:off x="6019770" y="2581260"/>
            <a:ext cx="51053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sp>
        <p:nvSpPr>
          <p:cNvPr id="19" name="도형 2"/>
          <p:cNvSpPr/>
          <p:nvPr/>
        </p:nvSpPr>
        <p:spPr>
          <a:xfrm>
            <a:off x="6019770" y="2206630"/>
            <a:ext cx="254020" cy="2540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아이콘 2" descr="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209" y="2251070"/>
            <a:ext cx="165141" cy="165141"/>
          </a:xfrm>
          <a:prstGeom prst="rect">
            <a:avLst/>
          </a:prstGeom>
        </p:spPr>
      </p:pic>
      <p:sp>
        <p:nvSpPr>
          <p:cNvPr id="21" name="요약 1"/>
          <p:cNvSpPr txBox="1"/>
          <p:nvPr/>
        </p:nvSpPr>
        <p:spPr>
          <a:xfrm>
            <a:off x="6388090" y="2216140"/>
            <a:ext cx="390266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요약</a:t>
            </a:r>
            <a:endParaRPr lang="en-US" sz="1600" dirty="0"/>
          </a:p>
        </p:txBody>
      </p:sp>
      <p:sp>
        <p:nvSpPr>
          <p:cNvPr id="22" name="라벨 3"/>
          <p:cNvSpPr/>
          <p:nvPr/>
        </p:nvSpPr>
        <p:spPr>
          <a:xfrm>
            <a:off x="10623408" y="2226655"/>
            <a:ext cx="501731" cy="213878"/>
          </a:xfrm>
          <a:prstGeom prst="roundRect">
            <a:avLst>
              <a:gd name="adj" fmla="val 50021"/>
            </a:avLst>
          </a:prstGeom>
          <a:solidFill>
            <a:schemeClr val="accent3"/>
          </a:solidFill>
          <a:ln/>
        </p:spPr>
        <p:txBody>
          <a:bodyPr wrap="none" lIns="88900" tIns="50800" rIns="88900" bIns="44450" rtlCol="0" anchor="ctr"/>
          <a:lstStyle/>
          <a:p>
            <a:pPr eaLnBrk="0" algn="ctr" indent="0" marL="0">
              <a:buNone/>
            </a:pPr>
            <a:r>
              <a:rPr lang="en-US" sz="850" spc="-9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AI 완료</a:t>
            </a:r>
            <a:endParaRPr lang="en-US" sz="850" dirty="0"/>
          </a:p>
        </p:txBody>
      </p:sp>
      <p:sp>
        <p:nvSpPr>
          <p:cNvPr id="23" name="구분선 4"/>
          <p:cNvSpPr/>
          <p:nvPr/>
        </p:nvSpPr>
        <p:spPr>
          <a:xfrm>
            <a:off x="6019770" y="3076590"/>
            <a:ext cx="51053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sp>
        <p:nvSpPr>
          <p:cNvPr id="24" name="도형 3"/>
          <p:cNvSpPr/>
          <p:nvPr/>
        </p:nvSpPr>
        <p:spPr>
          <a:xfrm>
            <a:off x="6019770" y="2701961"/>
            <a:ext cx="254020" cy="2540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아이콘 3" descr="아이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4209" y="2746400"/>
            <a:ext cx="165141" cy="165141"/>
          </a:xfrm>
          <a:prstGeom prst="rect">
            <a:avLst/>
          </a:prstGeom>
        </p:spPr>
      </p:pic>
      <p:sp>
        <p:nvSpPr>
          <p:cNvPr id="26" name="가격 비교 1"/>
          <p:cNvSpPr txBox="1"/>
          <p:nvPr/>
        </p:nvSpPr>
        <p:spPr>
          <a:xfrm>
            <a:off x="6388090" y="2711470"/>
            <a:ext cx="765078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가격 비교</a:t>
            </a:r>
            <a:endParaRPr lang="en-US" sz="1600" dirty="0"/>
          </a:p>
        </p:txBody>
      </p:sp>
      <p:sp>
        <p:nvSpPr>
          <p:cNvPr id="27" name="라벨 4"/>
          <p:cNvSpPr/>
          <p:nvPr/>
        </p:nvSpPr>
        <p:spPr>
          <a:xfrm>
            <a:off x="10623408" y="2721986"/>
            <a:ext cx="501731" cy="213878"/>
          </a:xfrm>
          <a:prstGeom prst="roundRect">
            <a:avLst>
              <a:gd name="adj" fmla="val 50021"/>
            </a:avLst>
          </a:prstGeom>
          <a:solidFill>
            <a:schemeClr val="accent3"/>
          </a:solidFill>
          <a:ln/>
        </p:spPr>
        <p:txBody>
          <a:bodyPr wrap="none" lIns="88900" tIns="50800" rIns="88900" bIns="44450" rtlCol="0" anchor="ctr"/>
          <a:lstStyle/>
          <a:p>
            <a:pPr eaLnBrk="0" algn="ctr" indent="0" marL="0">
              <a:buNone/>
            </a:pPr>
            <a:r>
              <a:rPr lang="en-US" sz="850" spc="-9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AI 완료</a:t>
            </a:r>
            <a:endParaRPr lang="en-US" sz="850" dirty="0"/>
          </a:p>
        </p:txBody>
      </p:sp>
      <p:sp>
        <p:nvSpPr>
          <p:cNvPr id="28" name="구분선 5"/>
          <p:cNvSpPr/>
          <p:nvPr/>
        </p:nvSpPr>
        <p:spPr>
          <a:xfrm>
            <a:off x="6019770" y="3571921"/>
            <a:ext cx="51053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sp>
        <p:nvSpPr>
          <p:cNvPr id="29" name="도형 4"/>
          <p:cNvSpPr/>
          <p:nvPr/>
        </p:nvSpPr>
        <p:spPr>
          <a:xfrm>
            <a:off x="6019770" y="3197200"/>
            <a:ext cx="254020" cy="2540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아이콘 4" descr="아이콘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4209" y="3241639"/>
            <a:ext cx="165141" cy="165141"/>
          </a:xfrm>
          <a:prstGeom prst="rect">
            <a:avLst/>
          </a:prstGeom>
        </p:spPr>
      </p:pic>
      <p:sp>
        <p:nvSpPr>
          <p:cNvPr id="31" name="리뷰 정리 1"/>
          <p:cNvSpPr txBox="1"/>
          <p:nvPr/>
        </p:nvSpPr>
        <p:spPr>
          <a:xfrm>
            <a:off x="6388090" y="3206709"/>
            <a:ext cx="765078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리뷰 정리</a:t>
            </a:r>
            <a:endParaRPr lang="en-US" sz="1600" dirty="0"/>
          </a:p>
        </p:txBody>
      </p:sp>
      <p:sp>
        <p:nvSpPr>
          <p:cNvPr id="32" name="라벨 5"/>
          <p:cNvSpPr/>
          <p:nvPr/>
        </p:nvSpPr>
        <p:spPr>
          <a:xfrm>
            <a:off x="10623408" y="3217225"/>
            <a:ext cx="501731" cy="213878"/>
          </a:xfrm>
          <a:prstGeom prst="roundRect">
            <a:avLst>
              <a:gd name="adj" fmla="val 50021"/>
            </a:avLst>
          </a:prstGeom>
          <a:solidFill>
            <a:schemeClr val="accent3"/>
          </a:solidFill>
          <a:ln/>
        </p:spPr>
        <p:txBody>
          <a:bodyPr wrap="none" lIns="88900" tIns="50800" rIns="88900" bIns="44450" rtlCol="0" anchor="ctr"/>
          <a:lstStyle/>
          <a:p>
            <a:pPr eaLnBrk="0" algn="ctr" indent="0" marL="0">
              <a:buNone/>
            </a:pPr>
            <a:r>
              <a:rPr lang="en-US" sz="850" spc="-9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AI 완료</a:t>
            </a:r>
            <a:endParaRPr lang="en-US" sz="850" dirty="0"/>
          </a:p>
        </p:txBody>
      </p:sp>
      <p:sp>
        <p:nvSpPr>
          <p:cNvPr id="33" name="구분선 6"/>
          <p:cNvSpPr/>
          <p:nvPr/>
        </p:nvSpPr>
        <p:spPr>
          <a:xfrm>
            <a:off x="6019770" y="4067160"/>
            <a:ext cx="51053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sp>
        <p:nvSpPr>
          <p:cNvPr id="34" name="도형 5"/>
          <p:cNvSpPr/>
          <p:nvPr/>
        </p:nvSpPr>
        <p:spPr>
          <a:xfrm>
            <a:off x="6019770" y="3692530"/>
            <a:ext cx="254020" cy="254020"/>
          </a:xfrm>
          <a:prstGeom prst="ellips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5" name="전략적 사고 1"/>
          <p:cNvSpPr txBox="1"/>
          <p:nvPr/>
        </p:nvSpPr>
        <p:spPr>
          <a:xfrm>
            <a:off x="6388090" y="3702040"/>
            <a:ext cx="93470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전략적 사고</a:t>
            </a:r>
            <a:endParaRPr lang="en-US" sz="1600" dirty="0"/>
          </a:p>
        </p:txBody>
      </p:sp>
      <p:sp>
        <p:nvSpPr>
          <p:cNvPr id="36" name="라벨 6"/>
          <p:cNvSpPr/>
          <p:nvPr/>
        </p:nvSpPr>
        <p:spPr>
          <a:xfrm>
            <a:off x="10736885" y="3712555"/>
            <a:ext cx="388346" cy="213878"/>
          </a:xfrm>
          <a:prstGeom prst="roundRect">
            <a:avLst>
              <a:gd name="adj" fmla="val 50021"/>
            </a:avLst>
          </a:prstGeom>
          <a:solidFill>
            <a:schemeClr val="tx1"/>
          </a:solidFill>
          <a:ln/>
        </p:spPr>
        <p:txBody>
          <a:bodyPr wrap="none" lIns="88900" tIns="50800" rIns="88900" bIns="44450" rtlCol="0" anchor="ctr"/>
          <a:lstStyle/>
          <a:p>
            <a:pPr eaLnBrk="0" algn="ctr" indent="0" marL="0">
              <a:buNone/>
            </a:pPr>
            <a:r>
              <a:rPr lang="en-US" sz="850" spc="-9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 몫</a:t>
            </a:r>
            <a:endParaRPr lang="en-US" sz="850" dirty="0"/>
          </a:p>
        </p:txBody>
      </p:sp>
      <p:sp>
        <p:nvSpPr>
          <p:cNvPr id="37" name="구분선 7"/>
          <p:cNvSpPr/>
          <p:nvPr/>
        </p:nvSpPr>
        <p:spPr>
          <a:xfrm>
            <a:off x="6019770" y="4562490"/>
            <a:ext cx="51053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sp>
        <p:nvSpPr>
          <p:cNvPr id="38" name="도형 6"/>
          <p:cNvSpPr/>
          <p:nvPr/>
        </p:nvSpPr>
        <p:spPr>
          <a:xfrm>
            <a:off x="6019770" y="4187861"/>
            <a:ext cx="254020" cy="254020"/>
          </a:xfrm>
          <a:prstGeom prst="ellips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39" name="창의성 1"/>
          <p:cNvSpPr txBox="1"/>
          <p:nvPr/>
        </p:nvSpPr>
        <p:spPr>
          <a:xfrm>
            <a:off x="6388090" y="4197370"/>
            <a:ext cx="559887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창의성</a:t>
            </a:r>
            <a:endParaRPr lang="en-US" sz="1600" dirty="0"/>
          </a:p>
        </p:txBody>
      </p:sp>
      <p:sp>
        <p:nvSpPr>
          <p:cNvPr id="40" name="라벨 7"/>
          <p:cNvSpPr/>
          <p:nvPr/>
        </p:nvSpPr>
        <p:spPr>
          <a:xfrm>
            <a:off x="10736885" y="4207886"/>
            <a:ext cx="388346" cy="213878"/>
          </a:xfrm>
          <a:prstGeom prst="roundRect">
            <a:avLst>
              <a:gd name="adj" fmla="val 50021"/>
            </a:avLst>
          </a:prstGeom>
          <a:solidFill>
            <a:schemeClr val="tx1"/>
          </a:solidFill>
          <a:ln/>
        </p:spPr>
        <p:txBody>
          <a:bodyPr wrap="none" lIns="88900" tIns="50800" rIns="88900" bIns="44450" rtlCol="0" anchor="ctr"/>
          <a:lstStyle/>
          <a:p>
            <a:pPr eaLnBrk="0" algn="ctr" indent="0" marL="0">
              <a:buNone/>
            </a:pPr>
            <a:r>
              <a:rPr lang="en-US" sz="850" spc="-9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 몫</a:t>
            </a:r>
            <a:endParaRPr lang="en-US" sz="850" dirty="0"/>
          </a:p>
        </p:txBody>
      </p:sp>
      <p:sp>
        <p:nvSpPr>
          <p:cNvPr id="41" name="도형 7"/>
          <p:cNvSpPr/>
          <p:nvPr/>
        </p:nvSpPr>
        <p:spPr>
          <a:xfrm>
            <a:off x="6019770" y="4686300"/>
            <a:ext cx="254020" cy="254020"/>
          </a:xfrm>
          <a:prstGeom prst="ellips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42" name="감성적 판단 1"/>
          <p:cNvSpPr txBox="1"/>
          <p:nvPr/>
        </p:nvSpPr>
        <p:spPr>
          <a:xfrm>
            <a:off x="6388090" y="4695810"/>
            <a:ext cx="934700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감성적 판단</a:t>
            </a:r>
            <a:endParaRPr lang="en-US" sz="1600" dirty="0"/>
          </a:p>
        </p:txBody>
      </p:sp>
      <p:sp>
        <p:nvSpPr>
          <p:cNvPr id="43" name="라벨 8"/>
          <p:cNvSpPr/>
          <p:nvPr/>
        </p:nvSpPr>
        <p:spPr>
          <a:xfrm>
            <a:off x="10736885" y="4706325"/>
            <a:ext cx="388346" cy="213878"/>
          </a:xfrm>
          <a:prstGeom prst="roundRect">
            <a:avLst>
              <a:gd name="adj" fmla="val 50021"/>
            </a:avLst>
          </a:prstGeom>
          <a:solidFill>
            <a:schemeClr val="tx1"/>
          </a:solidFill>
          <a:ln/>
        </p:spPr>
        <p:txBody>
          <a:bodyPr wrap="none" lIns="88900" tIns="50800" rIns="88900" bIns="44450" rtlCol="0" anchor="ctr"/>
          <a:lstStyle/>
          <a:p>
            <a:pPr eaLnBrk="0" algn="ctr" indent="0" marL="0">
              <a:buNone/>
            </a:pPr>
            <a:r>
              <a:rPr lang="en-US" sz="850" spc="-9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내 몫</a:t>
            </a:r>
            <a:endParaRPr lang="en-US" sz="850" dirty="0"/>
          </a:p>
        </p:txBody>
      </p:sp>
      <p:pic>
        <p:nvPicPr>
          <p:cNvPr id="44" name="아이콘 5" descr="아이콘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059" y="5838810"/>
            <a:ext cx="177759" cy="177759"/>
          </a:xfrm>
          <a:prstGeom prst="rect">
            <a:avLst/>
          </a:prstGeom>
        </p:spPr>
      </p:pic>
      <p:sp>
        <p:nvSpPr>
          <p:cNvPr id="45" name="그 결과 기억력 · 주의력 · 문 1"/>
          <p:cNvSpPr txBox="1"/>
          <p:nvPr/>
        </p:nvSpPr>
        <p:spPr>
          <a:xfrm>
            <a:off x="6248370" y="5848320"/>
            <a:ext cx="2623322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그 결과 </a:t>
            </a:r>
            <a:pPr eaLnBrk="0" algn="l" indent="0" marL="0">
              <a:buNone/>
            </a:pPr>
            <a:r>
              <a:rPr lang="en-US" sz="1050" spc="-1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기억력 · 주의력 · 문제 해결 능력</a:t>
            </a:r>
            <a:pPr eaLnBrk="0" algn="l" indent="0" marL="0"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이 커진다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776954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Theory 01 · 소비자행동 이론</a:t>
            </a:r>
            <a:endParaRPr lang="en-US" sz="1000" dirty="0"/>
          </a:p>
        </p:txBody>
      </p:sp>
      <p:sp>
        <p:nvSpPr>
          <p:cNvPr id="3" name="인지적 과부하 1"/>
          <p:cNvSpPr txBox="1"/>
          <p:nvPr/>
        </p:nvSpPr>
        <p:spPr>
          <a:xfrm>
            <a:off x="761970" y="1161379"/>
            <a:ext cx="3465027" cy="693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5200" spc="-338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인지적 과부하</a:t>
            </a:r>
            <a:endParaRPr lang="en-US" sz="5200" dirty="0"/>
          </a:p>
        </p:txBody>
      </p:sp>
      <p:sp>
        <p:nvSpPr>
          <p:cNvPr id="4" name="Cognitive Overload 1"/>
          <p:cNvSpPr txBox="1"/>
          <p:nvPr/>
        </p:nvSpPr>
        <p:spPr>
          <a:xfrm>
            <a:off x="761970" y="1931579"/>
            <a:ext cx="1876257" cy="222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500" spc="-16" kern="0" dirty="0">
                <a:solidFill>
                  <a:schemeClr val="accent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Cognitive Overload</a:t>
            </a:r>
            <a:endParaRPr lang="en-US" sz="1500" dirty="0"/>
          </a:p>
        </p:txBody>
      </p:sp>
      <p:sp>
        <p:nvSpPr>
          <p:cNvPr id="5" name="카드 1"/>
          <p:cNvSpPr/>
          <p:nvPr/>
        </p:nvSpPr>
        <p:spPr>
          <a:xfrm>
            <a:off x="761970" y="2407798"/>
            <a:ext cx="4826020" cy="1257300"/>
          </a:xfrm>
          <a:prstGeom prst="roundRect">
            <a:avLst>
              <a:gd name="adj" fmla="val 202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6" name="정의 1"/>
          <p:cNvSpPr txBox="1"/>
          <p:nvPr/>
        </p:nvSpPr>
        <p:spPr>
          <a:xfrm>
            <a:off x="1028700" y="2636398"/>
            <a:ext cx="247985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spc="-16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정의</a:t>
            </a:r>
            <a:endParaRPr lang="en-US" sz="900" dirty="0"/>
          </a:p>
        </p:txBody>
      </p:sp>
      <p:sp>
        <p:nvSpPr>
          <p:cNvPr id="7" name="APA Dictionary of  1"/>
          <p:cNvSpPr txBox="1"/>
          <p:nvPr/>
        </p:nvSpPr>
        <p:spPr>
          <a:xfrm>
            <a:off x="3616635" y="2636398"/>
            <a:ext cx="1772839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APA Dictionary of Psychology</a:t>
            </a:r>
            <a:endParaRPr lang="en-US" sz="900" dirty="0"/>
          </a:p>
        </p:txBody>
      </p:sp>
      <p:sp>
        <p:nvSpPr>
          <p:cNvPr id="8" name="정신적 작업이 요구하는 것이 개인 1"/>
          <p:cNvSpPr txBox="1"/>
          <p:nvPr/>
        </p:nvSpPr>
        <p:spPr>
          <a:xfrm>
            <a:off x="1028700" y="2864998"/>
            <a:ext cx="441307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2250"/>
              </a:lnSpc>
              <a:buNone/>
            </a:pPr>
            <a:r>
              <a:rPr lang="en-US" sz="1500" spc="-68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정신적 작업이 요구하는 것이 개인의 정신적 능력이 감당할 수 있는 수준을 초과하는 상황.</a:t>
            </a:r>
            <a:endParaRPr lang="en-US" sz="1500" dirty="0"/>
          </a:p>
        </p:txBody>
      </p:sp>
      <p:sp>
        <p:nvSpPr>
          <p:cNvPr id="9" name="온라인에서는 상품 종류도 많고 가 1"/>
          <p:cNvSpPr txBox="1"/>
          <p:nvPr/>
        </p:nvSpPr>
        <p:spPr>
          <a:xfrm>
            <a:off x="761970" y="5807172"/>
            <a:ext cx="4665452" cy="47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870"/>
              </a:lnSpc>
              <a:buNone/>
            </a:pPr>
            <a:r>
              <a:rPr lang="en-US" sz="11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온라인에서는 </a:t>
            </a:r>
            <a:pPr eaLnBrk="0" algn="l" indent="0" marL="0">
              <a:lnSpc>
                <a:spcPts val="1870"/>
              </a:lnSpc>
              <a:buNone/>
            </a:pPr>
            <a:r>
              <a:rPr lang="en-US" sz="1100" spc="-16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상품 종류</a:t>
            </a:r>
            <a:pPr eaLnBrk="0" algn="l" indent="0" marL="0">
              <a:lnSpc>
                <a:spcPts val="1870"/>
              </a:lnSpc>
              <a:buNone/>
            </a:pPr>
            <a:r>
              <a:rPr lang="en-US" sz="11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도 많고 </a:t>
            </a:r>
            <a:pPr eaLnBrk="0" algn="l" indent="0" marL="0">
              <a:lnSpc>
                <a:spcPts val="1870"/>
              </a:lnSpc>
              <a:buNone/>
            </a:pPr>
            <a:r>
              <a:rPr lang="en-US" sz="1100" spc="-16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가격, 기능, 후기, 브랜드, 할인 정보</a:t>
            </a:r>
            <a:pPr eaLnBrk="0" algn="l" indent="0" marL="0">
              <a:lnSpc>
                <a:spcPts val="1870"/>
              </a:lnSpc>
              <a:buNone/>
            </a:pPr>
            <a:r>
              <a:rPr lang="en-US" sz="11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까지 따져야 한다. 처리할 정보가 늘수록 탐색과 비교의 인지적 부담이 커진다.</a:t>
            </a:r>
            <a:endParaRPr lang="en-US" sz="1100" dirty="0"/>
          </a:p>
        </p:txBody>
      </p:sp>
      <p:sp>
        <p:nvSpPr>
          <p:cNvPr id="10" name="카드 2"/>
          <p:cNvSpPr/>
          <p:nvPr/>
        </p:nvSpPr>
        <p:spPr>
          <a:xfrm>
            <a:off x="6096030" y="952530"/>
            <a:ext cx="5333970" cy="533397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11" name="정보 칩 1"/>
          <p:cNvSpPr/>
          <p:nvPr/>
        </p:nvSpPr>
        <p:spPr>
          <a:xfrm rot="-300000">
            <a:off x="7051670" y="1333470"/>
            <a:ext cx="2914650" cy="469910"/>
          </a:xfrm>
          <a:prstGeom prst="roundRect">
            <a:avLst>
              <a:gd name="adj" fmla="val 29733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215900" dist="101600" dir="5400000">
              <a:srgbClr val="F04452">
                <a:alpha val="30000"/>
              </a:srgbClr>
            </a:outerShdw>
          </a:effectLst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500" spc="-60" kern="0" dirty="0">
                <a:solidFill>
                  <a:schemeClr val="bg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할인 정보</a:t>
            </a:r>
            <a:endParaRPr lang="en-US" sz="1500" dirty="0"/>
          </a:p>
        </p:txBody>
      </p:sp>
      <p:sp>
        <p:nvSpPr>
          <p:cNvPr id="12" name="정보 칩 2"/>
          <p:cNvSpPr/>
          <p:nvPr/>
        </p:nvSpPr>
        <p:spPr>
          <a:xfrm rot="180000">
            <a:off x="7550109" y="1892259"/>
            <a:ext cx="3060680" cy="469910"/>
          </a:xfrm>
          <a:prstGeom prst="roundRect">
            <a:avLst>
              <a:gd name="adj" fmla="val 29733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215900" dist="101600" dir="5400000">
              <a:srgbClr val="F04452">
                <a:alpha val="30000"/>
              </a:srgbClr>
            </a:outerShdw>
          </a:effectLst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500" spc="-60" kern="0" dirty="0">
                <a:solidFill>
                  <a:schemeClr val="bg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브랜드</a:t>
            </a:r>
            <a:endParaRPr lang="en-US" sz="1500" dirty="0"/>
          </a:p>
        </p:txBody>
      </p:sp>
      <p:sp>
        <p:nvSpPr>
          <p:cNvPr id="13" name="정보 칩 3"/>
          <p:cNvSpPr/>
          <p:nvPr/>
        </p:nvSpPr>
        <p:spPr>
          <a:xfrm rot="-120000">
            <a:off x="6985010" y="2451141"/>
            <a:ext cx="3556010" cy="469910"/>
          </a:xfrm>
          <a:prstGeom prst="roundRect">
            <a:avLst>
              <a:gd name="adj" fmla="val 29733"/>
            </a:avLst>
          </a:prstGeom>
          <a:solidFill>
            <a:schemeClr val="accent4"/>
          </a:solidFill>
          <a:ln/>
          <a:effectLst>
            <a:outerShdw sx="100000" sy="100000" kx="0" ky="0" algn="bl" rotWithShape="0" blurRad="215900" dist="101600" dir="5400000">
              <a:srgbClr val="F04452">
                <a:alpha val="30000"/>
              </a:srgbClr>
            </a:outerShdw>
          </a:effectLst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500" spc="-60" kern="0" dirty="0">
                <a:solidFill>
                  <a:schemeClr val="bg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배송 · 옵션</a:t>
            </a:r>
            <a:endParaRPr lang="en-US" sz="1500" dirty="0"/>
          </a:p>
        </p:txBody>
      </p:sp>
      <p:sp>
        <p:nvSpPr>
          <p:cNvPr id="14" name="구분선 1"/>
          <p:cNvSpPr/>
          <p:nvPr/>
        </p:nvSpPr>
        <p:spPr>
          <a:xfrm>
            <a:off x="6730990" y="3136941"/>
            <a:ext cx="4063959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dash"/>
          </a:ln>
        </p:spPr>
      </p:sp>
      <p:sp>
        <p:nvSpPr>
          <p:cNvPr id="15" name="라벨 2"/>
          <p:cNvSpPr/>
          <p:nvPr/>
        </p:nvSpPr>
        <p:spPr>
          <a:xfrm>
            <a:off x="9678558" y="3009930"/>
            <a:ext cx="1192652" cy="260330"/>
          </a:xfrm>
          <a:prstGeom prst="roundRect">
            <a:avLst>
              <a:gd name="adj" fmla="val 50018"/>
            </a:avLst>
          </a:prstGeom>
          <a:solidFill>
            <a:srgbClr val="FFEEF0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4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감당할 수 있는 한계</a:t>
            </a:r>
            <a:endParaRPr lang="en-US" sz="1000" dirty="0"/>
          </a:p>
        </p:txBody>
      </p:sp>
      <p:sp>
        <p:nvSpPr>
          <p:cNvPr id="16" name="정보 처리 용량 통 1"/>
          <p:cNvSpPr/>
          <p:nvPr/>
        </p:nvSpPr>
        <p:spPr>
          <a:xfrm>
            <a:off x="6997720" y="3124230"/>
            <a:ext cx="3530590" cy="2540020"/>
          </a:xfrm>
          <a:custGeom>
            <a:avLst/>
            <a:gdLst/>
            <a:ahLst/>
            <a:cxnLst/>
            <a:rect l="l" t="t" r="r" b="b"/>
            <a:pathLst>
              <a:path w="3530590" h="2540020">
                <a:moveTo>
                  <a:pt x="0" y="0"/>
                </a:moveTo>
                <a:lnTo>
                  <a:pt x="0" y="2260580"/>
                </a:lnTo>
                <a:cubicBezTo>
                  <a:pt x="0" y="2414290"/>
                  <a:pt x="125730" y="2540020"/>
                  <a:pt x="279441" y="2540020"/>
                </a:cubicBezTo>
                <a:lnTo>
                  <a:pt x="3251241" y="2540020"/>
                </a:lnTo>
                <a:cubicBezTo>
                  <a:pt x="3404860" y="2540020"/>
                  <a:pt x="3530590" y="2414290"/>
                  <a:pt x="3530590" y="2260580"/>
                </a:cubicBezTo>
                <a:lnTo>
                  <a:pt x="3530590" y="0"/>
                </a:lnTo>
              </a:path>
            </a:pathLst>
          </a:cu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7" name="정보 칩 4"/>
          <p:cNvSpPr/>
          <p:nvPr/>
        </p:nvSpPr>
        <p:spPr>
          <a:xfrm>
            <a:off x="7175480" y="3340120"/>
            <a:ext cx="3174980" cy="469910"/>
          </a:xfrm>
          <a:prstGeom prst="roundRect">
            <a:avLst>
              <a:gd name="adj" fmla="val 29733"/>
            </a:avLst>
          </a:prstGeom>
          <a:solidFill>
            <a:schemeClr val="accent3"/>
          </a:solidFill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500" spc="-60" kern="0" dirty="0">
                <a:solidFill>
                  <a:schemeClr val="accent2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후기</a:t>
            </a:r>
            <a:endParaRPr lang="en-US" sz="1500" dirty="0"/>
          </a:p>
        </p:txBody>
      </p:sp>
      <p:sp>
        <p:nvSpPr>
          <p:cNvPr id="18" name="정보 칩 5"/>
          <p:cNvSpPr/>
          <p:nvPr/>
        </p:nvSpPr>
        <p:spPr>
          <a:xfrm>
            <a:off x="7175480" y="3898910"/>
            <a:ext cx="3174980" cy="469910"/>
          </a:xfrm>
          <a:prstGeom prst="roundRect">
            <a:avLst>
              <a:gd name="adj" fmla="val 29733"/>
            </a:avLst>
          </a:prstGeom>
          <a:solidFill>
            <a:schemeClr val="accent3"/>
          </a:solidFill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500" spc="-60" kern="0" dirty="0">
                <a:solidFill>
                  <a:schemeClr val="accent2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기능</a:t>
            </a:r>
            <a:endParaRPr lang="en-US" sz="1500" dirty="0"/>
          </a:p>
        </p:txBody>
      </p:sp>
      <p:sp>
        <p:nvSpPr>
          <p:cNvPr id="19" name="정보 칩 6"/>
          <p:cNvSpPr/>
          <p:nvPr/>
        </p:nvSpPr>
        <p:spPr>
          <a:xfrm>
            <a:off x="7175480" y="4457700"/>
            <a:ext cx="3174980" cy="469910"/>
          </a:xfrm>
          <a:prstGeom prst="roundRect">
            <a:avLst>
              <a:gd name="adj" fmla="val 29733"/>
            </a:avLst>
          </a:prstGeom>
          <a:solidFill>
            <a:schemeClr val="accent3"/>
          </a:solidFill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500" spc="-60" kern="0" dirty="0">
                <a:solidFill>
                  <a:schemeClr val="accent2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가격</a:t>
            </a:r>
            <a:endParaRPr lang="en-US" sz="1500" dirty="0"/>
          </a:p>
        </p:txBody>
      </p:sp>
      <p:sp>
        <p:nvSpPr>
          <p:cNvPr id="20" name="정보 칩 7"/>
          <p:cNvSpPr/>
          <p:nvPr/>
        </p:nvSpPr>
        <p:spPr>
          <a:xfrm>
            <a:off x="7175480" y="5016490"/>
            <a:ext cx="3174980" cy="469910"/>
          </a:xfrm>
          <a:prstGeom prst="roundRect">
            <a:avLst>
              <a:gd name="adj" fmla="val 29733"/>
            </a:avLst>
          </a:prstGeom>
          <a:solidFill>
            <a:schemeClr val="accent3"/>
          </a:solidFill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500" spc="-60" kern="0" dirty="0">
                <a:solidFill>
                  <a:schemeClr val="accent2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상품 종류</a:t>
            </a:r>
            <a:endParaRPr lang="en-US" sz="1500" dirty="0"/>
          </a:p>
        </p:txBody>
      </p:sp>
      <p:sp>
        <p:nvSpPr>
          <p:cNvPr id="21" name="소비자의 정보 처리 용량 1"/>
          <p:cNvSpPr txBox="1"/>
          <p:nvPr/>
        </p:nvSpPr>
        <p:spPr>
          <a:xfrm>
            <a:off x="8150047" y="5880141"/>
            <a:ext cx="1225845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00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소비자의 정보 처리 용량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776954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Theory 02 · 소비자행동 이론</a:t>
            </a:r>
            <a:endParaRPr lang="en-US" sz="1000" dirty="0"/>
          </a:p>
        </p:txBody>
      </p:sp>
      <p:sp>
        <p:nvSpPr>
          <p:cNvPr id="3" name="인지적 구두쇠 1"/>
          <p:cNvSpPr txBox="1"/>
          <p:nvPr/>
        </p:nvSpPr>
        <p:spPr>
          <a:xfrm>
            <a:off x="761970" y="1161379"/>
            <a:ext cx="3465027" cy="693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5200" spc="-338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인지적 구두쇠</a:t>
            </a:r>
            <a:endParaRPr lang="en-US" sz="5200" dirty="0"/>
          </a:p>
        </p:txBody>
      </p:sp>
      <p:sp>
        <p:nvSpPr>
          <p:cNvPr id="4" name="Cognitive Miser 1"/>
          <p:cNvSpPr txBox="1"/>
          <p:nvPr/>
        </p:nvSpPr>
        <p:spPr>
          <a:xfrm>
            <a:off x="761970" y="1931579"/>
            <a:ext cx="1512326" cy="222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500" spc="-16" kern="0" dirty="0">
                <a:solidFill>
                  <a:schemeClr val="accent5"/>
                </a:solidFill>
                <a:latin typeface="Paperlogy 4 Regular" pitchFamily="34" charset="0"/>
                <a:ea typeface="Paperlogy 4 Regular" pitchFamily="34" charset="-122"/>
                <a:cs typeface="Paperlogy 4 Regular" pitchFamily="34" charset="-120"/>
              </a:rPr>
              <a:t>Cognitive Miser</a:t>
            </a:r>
            <a:endParaRPr lang="en-US" sz="1500" dirty="0"/>
          </a:p>
        </p:txBody>
      </p:sp>
      <p:sp>
        <p:nvSpPr>
          <p:cNvPr id="5" name="카드 1"/>
          <p:cNvSpPr/>
          <p:nvPr/>
        </p:nvSpPr>
        <p:spPr>
          <a:xfrm>
            <a:off x="5842010" y="896569"/>
            <a:ext cx="5587990" cy="1257300"/>
          </a:xfrm>
          <a:prstGeom prst="roundRect">
            <a:avLst>
              <a:gd name="adj" fmla="val 2020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6" name="정의 1"/>
          <p:cNvSpPr txBox="1"/>
          <p:nvPr/>
        </p:nvSpPr>
        <p:spPr>
          <a:xfrm>
            <a:off x="6108741" y="1125169"/>
            <a:ext cx="247985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spc="-16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정의</a:t>
            </a:r>
            <a:endParaRPr lang="en-US" sz="900" dirty="0"/>
          </a:p>
        </p:txBody>
      </p:sp>
      <p:sp>
        <p:nvSpPr>
          <p:cNvPr id="7" name="논문용어사전 1"/>
          <p:cNvSpPr txBox="1"/>
          <p:nvPr/>
        </p:nvSpPr>
        <p:spPr>
          <a:xfrm>
            <a:off x="10571927" y="1125169"/>
            <a:ext cx="642183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논문용어사전</a:t>
            </a:r>
            <a:endParaRPr lang="en-US" sz="900" dirty="0"/>
          </a:p>
        </p:txBody>
      </p:sp>
      <p:sp>
        <p:nvSpPr>
          <p:cNvPr id="8" name="정보 처리에 드는 인지적 노력을  1"/>
          <p:cNvSpPr txBox="1"/>
          <p:nvPr/>
        </p:nvSpPr>
        <p:spPr>
          <a:xfrm>
            <a:off x="6108741" y="1353769"/>
            <a:ext cx="482483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2250"/>
              </a:lnSpc>
              <a:buNone/>
            </a:pPr>
            <a:r>
              <a:rPr lang="en-US" sz="1500" spc="-68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정보 처리에 드는 인지적 노력을 최소화하려는 경향. 가능한 한 적게 생각하고 판단하려는 성향.</a:t>
            </a:r>
            <a:endParaRPr lang="en-US" sz="1500" dirty="0"/>
          </a:p>
        </p:txBody>
      </p:sp>
      <p:sp>
        <p:nvSpPr>
          <p:cNvPr id="9" name="카드 2"/>
          <p:cNvSpPr/>
          <p:nvPr/>
        </p:nvSpPr>
        <p:spPr>
          <a:xfrm>
            <a:off x="761970" y="2870210"/>
            <a:ext cx="10668030" cy="2501890"/>
          </a:xfrm>
          <a:prstGeom prst="roundRect">
            <a:avLst>
              <a:gd name="adj" fmla="val 101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10" name="구분선 1"/>
          <p:cNvSpPr/>
          <p:nvPr/>
        </p:nvSpPr>
        <p:spPr>
          <a:xfrm>
            <a:off x="1066830" y="3743371"/>
            <a:ext cx="100584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sp>
        <p:nvSpPr>
          <p:cNvPr id="11" name="검색 1"/>
          <p:cNvSpPr txBox="1"/>
          <p:nvPr/>
        </p:nvSpPr>
        <p:spPr>
          <a:xfrm>
            <a:off x="1638330" y="3203600"/>
            <a:ext cx="514624" cy="330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200" spc="-110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검색</a:t>
            </a:r>
            <a:endParaRPr lang="en-US" sz="2200" dirty="0"/>
          </a:p>
        </p:txBody>
      </p:sp>
      <p:pic>
        <p:nvPicPr>
          <p:cNvPr id="12" name="3D 아이콘 1" descr="3D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085" y="2946014"/>
            <a:ext cx="845271" cy="845271"/>
          </a:xfrm>
          <a:prstGeom prst="rect">
            <a:avLst/>
          </a:prstGeom>
        </p:spPr>
      </p:pic>
      <p:sp>
        <p:nvSpPr>
          <p:cNvPr id="13" name="여러 웹사이트를 일일이 방문한다 1"/>
          <p:cNvSpPr txBox="1"/>
          <p:nvPr/>
        </p:nvSpPr>
        <p:spPr>
          <a:xfrm>
            <a:off x="3073390" y="3282970"/>
            <a:ext cx="19356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5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여러 웹사이트를 일일이 방문한다</a:t>
            </a:r>
            <a:endParaRPr lang="en-US" sz="1150" dirty="0"/>
          </a:p>
        </p:txBody>
      </p:sp>
      <p:pic>
        <p:nvPicPr>
          <p:cNvPr id="14" name="아이콘 1" descr="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080" y="3279770"/>
            <a:ext cx="177759" cy="177759"/>
          </a:xfrm>
          <a:prstGeom prst="rect">
            <a:avLst/>
          </a:prstGeom>
        </p:spPr>
      </p:pic>
      <p:pic>
        <p:nvPicPr>
          <p:cNvPr id="15" name="아이콘 2" descr="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120" y="3244840"/>
            <a:ext cx="228600" cy="228600"/>
          </a:xfrm>
          <a:prstGeom prst="rect">
            <a:avLst/>
          </a:prstGeom>
        </p:spPr>
      </p:pic>
      <p:sp>
        <p:nvSpPr>
          <p:cNvPr id="16" name="필요한 정보를 한 번에 찾아 달라 1"/>
          <p:cNvSpPr txBox="1"/>
          <p:nvPr/>
        </p:nvSpPr>
        <p:spPr>
          <a:xfrm>
            <a:off x="7416790" y="3273461"/>
            <a:ext cx="2493203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300" spc="-5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필요한 정보를 한 번에 찾아 달라고 한다</a:t>
            </a:r>
            <a:endParaRPr lang="en-US" sz="1300" dirty="0"/>
          </a:p>
        </p:txBody>
      </p:sp>
      <p:pic>
        <p:nvPicPr>
          <p:cNvPr id="17" name="아이콘 3" descr="아이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480" y="3279770"/>
            <a:ext cx="177759" cy="177759"/>
          </a:xfrm>
          <a:prstGeom prst="rect">
            <a:avLst/>
          </a:prstGeom>
        </p:spPr>
      </p:pic>
      <p:sp>
        <p:nvSpPr>
          <p:cNvPr id="18" name="구분선 2"/>
          <p:cNvSpPr/>
          <p:nvPr/>
        </p:nvSpPr>
        <p:spPr>
          <a:xfrm>
            <a:off x="1066830" y="4492630"/>
            <a:ext cx="100584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sp>
        <p:nvSpPr>
          <p:cNvPr id="19" name="추천 1"/>
          <p:cNvSpPr txBox="1"/>
          <p:nvPr/>
        </p:nvSpPr>
        <p:spPr>
          <a:xfrm>
            <a:off x="1638330" y="3952860"/>
            <a:ext cx="514624" cy="330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200" spc="-110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추천</a:t>
            </a:r>
            <a:endParaRPr lang="en-US" sz="2200" dirty="0"/>
          </a:p>
        </p:txBody>
      </p:sp>
      <p:pic>
        <p:nvPicPr>
          <p:cNvPr id="20" name="3D 아이콘 2" descr="3D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085" y="3695365"/>
            <a:ext cx="845271" cy="845271"/>
          </a:xfrm>
          <a:prstGeom prst="rect">
            <a:avLst/>
          </a:prstGeom>
        </p:spPr>
      </p:pic>
      <p:sp>
        <p:nvSpPr>
          <p:cNvPr id="21" name="모든 상품을 직접 비교한다 1"/>
          <p:cNvSpPr txBox="1"/>
          <p:nvPr/>
        </p:nvSpPr>
        <p:spPr>
          <a:xfrm>
            <a:off x="3073390" y="4032230"/>
            <a:ext cx="15410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5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모든 상품을 직접 비교한다</a:t>
            </a:r>
            <a:endParaRPr lang="en-US" sz="1150" dirty="0"/>
          </a:p>
        </p:txBody>
      </p:sp>
      <p:pic>
        <p:nvPicPr>
          <p:cNvPr id="22" name="아이콘 4" descr="아이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2080" y="4029121"/>
            <a:ext cx="177759" cy="177759"/>
          </a:xfrm>
          <a:prstGeom prst="rect">
            <a:avLst/>
          </a:prstGeom>
        </p:spPr>
      </p:pic>
      <p:pic>
        <p:nvPicPr>
          <p:cNvPr id="23" name="아이콘 5" descr="아이콘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120" y="3994191"/>
            <a:ext cx="228600" cy="228600"/>
          </a:xfrm>
          <a:prstGeom prst="rect">
            <a:avLst/>
          </a:prstGeom>
        </p:spPr>
      </p:pic>
      <p:sp>
        <p:nvSpPr>
          <p:cNvPr id="24" name="내 조건에 맞는 후보를 추천받는다 1"/>
          <p:cNvSpPr txBox="1"/>
          <p:nvPr/>
        </p:nvSpPr>
        <p:spPr>
          <a:xfrm>
            <a:off x="7416790" y="4022720"/>
            <a:ext cx="2142896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300" spc="-5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내 조건에 맞는 후보를 추천받는다</a:t>
            </a:r>
            <a:endParaRPr lang="en-US" sz="1300" dirty="0"/>
          </a:p>
        </p:txBody>
      </p:sp>
      <p:pic>
        <p:nvPicPr>
          <p:cNvPr id="25" name="아이콘 6" descr="아이콘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5480" y="4029121"/>
            <a:ext cx="177759" cy="177759"/>
          </a:xfrm>
          <a:prstGeom prst="rect">
            <a:avLst/>
          </a:prstGeom>
        </p:spPr>
      </p:pic>
      <p:sp>
        <p:nvSpPr>
          <p:cNvPr id="26" name="선택 1"/>
          <p:cNvSpPr txBox="1"/>
          <p:nvPr/>
        </p:nvSpPr>
        <p:spPr>
          <a:xfrm>
            <a:off x="1638330" y="4705320"/>
            <a:ext cx="514624" cy="330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200" spc="-110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선택</a:t>
            </a:r>
            <a:endParaRPr lang="en-US" sz="2200" dirty="0"/>
          </a:p>
        </p:txBody>
      </p:sp>
      <p:pic>
        <p:nvPicPr>
          <p:cNvPr id="27" name="3D 아이콘 3" descr="3D 아이콘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085" y="4447824"/>
            <a:ext cx="845271" cy="845271"/>
          </a:xfrm>
          <a:prstGeom prst="rect">
            <a:avLst/>
          </a:prstGeom>
        </p:spPr>
      </p:pic>
      <p:sp>
        <p:nvSpPr>
          <p:cNvPr id="28" name="모든 상품을 같은 수준으로 검토한 1"/>
          <p:cNvSpPr txBox="1"/>
          <p:nvPr/>
        </p:nvSpPr>
        <p:spPr>
          <a:xfrm>
            <a:off x="3073390" y="4784689"/>
            <a:ext cx="20985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5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모든 상품을 같은 수준으로 검토한다</a:t>
            </a:r>
            <a:endParaRPr lang="en-US" sz="1150" dirty="0"/>
          </a:p>
        </p:txBody>
      </p:sp>
      <p:pic>
        <p:nvPicPr>
          <p:cNvPr id="29" name="아이콘 7" descr="아이콘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2080" y="4781580"/>
            <a:ext cx="177759" cy="177759"/>
          </a:xfrm>
          <a:prstGeom prst="rect">
            <a:avLst/>
          </a:prstGeom>
        </p:spPr>
      </p:pic>
      <p:pic>
        <p:nvPicPr>
          <p:cNvPr id="30" name="아이콘 8" descr="아이콘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9120" y="4746650"/>
            <a:ext cx="228600" cy="228600"/>
          </a:xfrm>
          <a:prstGeom prst="rect">
            <a:avLst/>
          </a:prstGeom>
        </p:spPr>
      </p:pic>
      <p:sp>
        <p:nvSpPr>
          <p:cNvPr id="31" name="AI의 비교 결과로 최종 후보를  1"/>
          <p:cNvSpPr txBox="1"/>
          <p:nvPr/>
        </p:nvSpPr>
        <p:spPr>
          <a:xfrm>
            <a:off x="7416790" y="4775180"/>
            <a:ext cx="2347082" cy="190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300" spc="-5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AI의 비교 결과로 최종 후보를 정한다</a:t>
            </a:r>
            <a:endParaRPr lang="en-US" sz="1300" dirty="0"/>
          </a:p>
        </p:txBody>
      </p:sp>
      <p:pic>
        <p:nvPicPr>
          <p:cNvPr id="32" name="아이콘 9" descr="아이콘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75480" y="4781580"/>
            <a:ext cx="177759" cy="177759"/>
          </a:xfrm>
          <a:prstGeom prst="rect">
            <a:avLst/>
          </a:prstGeom>
        </p:spPr>
      </p:pic>
      <p:sp>
        <p:nvSpPr>
          <p:cNvPr id="33" name="카드 (그라데이션 5)"/>
          <p:cNvSpPr/>
          <p:nvPr/>
        </p:nvSpPr>
        <p:spPr>
          <a:xfrm>
            <a:off x="761970" y="5473690"/>
            <a:ext cx="10668030" cy="812810"/>
          </a:xfrm>
          <a:prstGeom prst="roundRect">
            <a:avLst>
              <a:gd name="adj" fmla="val 24997"/>
            </a:avLst>
          </a:prstGeom>
          <a:gradFill rotWithShape="1">
            <a:gsLst>
              <a:gs pos="0">
                <a:srgbClr val="4C93FF"/>
              </a:gs>
              <a:gs pos="45000">
                <a:srgbClr val="3182F6"/>
              </a:gs>
              <a:gs pos="100000">
                <a:srgbClr val="1B64DA"/>
              </a:gs>
            </a:gsLst>
            <a:lin ang="4200000" scaled="0"/>
          </a:gradFill>
          <a:ln/>
          <a:effectLst>
            <a:outerShdw sx="100000" sy="100000" kx="0" ky="0" algn="bl" rotWithShape="0" blurRad="381000" dist="152400" dir="5400000">
              <a:srgbClr val="3182F6">
                <a:alpha val="28000"/>
              </a:srgbClr>
            </a:outerShdw>
          </a:effectLst>
        </p:spPr>
        <p:txBody>
          <a:bodyPr wrap="none" lIns="304800" tIns="0" rIns="304800" bIns="0" rtlCol="0" anchor="ctr"/>
          <a:lstStyle/>
          <a:p>
            <a:pPr eaLnBrk="0" algn="l" indent="0" marL="0">
              <a:buNone/>
            </a:pPr>
            <a:r>
              <a:rPr lang="en-US" sz="1600" spc="-64" kern="0" dirty="0">
                <a:solidFill>
                  <a:schemeClr val="bg1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그래서 소비자는 </a:t>
            </a:r>
            <a:pPr eaLnBrk="0" algn="l" indent="0" marL="0">
              <a:buNone/>
            </a:pPr>
            <a:r>
              <a:rPr lang="en-US" sz="1600" spc="-64" kern="0" dirty="0">
                <a:solidFill>
                  <a:schemeClr val="bg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추천 · 검색 · 선택</a:t>
            </a:r>
            <a:pPr eaLnBrk="0" algn="l" indent="0" marL="0">
              <a:buNone/>
            </a:pPr>
            <a:r>
              <a:rPr lang="en-US" sz="1600" spc="-64" kern="0" dirty="0">
                <a:solidFill>
                  <a:schemeClr val="bg1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을 AI에 맡긴다.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515252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Review · 기업 대응 평가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761970" y="1148121"/>
            <a:ext cx="10668030" cy="112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대응은 빨라졌지만,</a:t>
            </a:r>
            <a:endParaRPr lang="en-US" sz="3600" dirty="0"/>
          </a:p>
          <a:p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신뢰와 데이터 구조는 아직 부족하다</a:t>
            </a:r>
            <a:endParaRPr lang="en-US" sz="3600" dirty="0"/>
          </a:p>
        </p:txBody>
      </p:sp>
      <p:sp>
        <p:nvSpPr>
          <p:cNvPr id="4" name="카드 1"/>
          <p:cNvSpPr/>
          <p:nvPr/>
        </p:nvSpPr>
        <p:spPr>
          <a:xfrm>
            <a:off x="761970" y="2476470"/>
            <a:ext cx="5257800" cy="381003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5" name="구분선 1"/>
          <p:cNvSpPr/>
          <p:nvPr/>
        </p:nvSpPr>
        <p:spPr>
          <a:xfrm>
            <a:off x="1066830" y="3257550"/>
            <a:ext cx="464817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pic>
        <p:nvPicPr>
          <p:cNvPr id="6" name="3D 아이콘 1" descr="3D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692" y="2534442"/>
            <a:ext cx="798546" cy="798546"/>
          </a:xfrm>
          <a:prstGeom prst="rect">
            <a:avLst/>
          </a:prstGeom>
        </p:spPr>
      </p:pic>
      <p:sp>
        <p:nvSpPr>
          <p:cNvPr id="7" name="잘하고 있는 것 1"/>
          <p:cNvSpPr txBox="1"/>
          <p:nvPr/>
        </p:nvSpPr>
        <p:spPr>
          <a:xfrm>
            <a:off x="1600200" y="2816261"/>
            <a:ext cx="1139982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잘하고 있는 것</a:t>
            </a:r>
            <a:endParaRPr lang="en-US" sz="1600" dirty="0"/>
          </a:p>
        </p:txBody>
      </p:sp>
      <p:sp>
        <p:nvSpPr>
          <p:cNvPr id="8" name="구분선 2"/>
          <p:cNvSpPr/>
          <p:nvPr/>
        </p:nvSpPr>
        <p:spPr>
          <a:xfrm>
            <a:off x="1066830" y="3988064"/>
            <a:ext cx="46481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pic>
        <p:nvPicPr>
          <p:cNvPr id="9" name="아이콘 1" descr="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20" y="3416290"/>
            <a:ext cx="177759" cy="177759"/>
          </a:xfrm>
          <a:prstGeom prst="rect">
            <a:avLst/>
          </a:prstGeom>
        </p:spPr>
      </p:pic>
      <p:sp>
        <p:nvSpPr>
          <p:cNvPr id="10" name="초개인화 AI 큐레이션 1"/>
          <p:cNvSpPr txBox="1"/>
          <p:nvPr/>
        </p:nvSpPr>
        <p:spPr>
          <a:xfrm>
            <a:off x="1422441" y="3390870"/>
            <a:ext cx="1484620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400" spc="-63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초개인화 AI 큐레이션</a:t>
            </a:r>
            <a:endParaRPr lang="en-US" sz="1400" dirty="0"/>
          </a:p>
        </p:txBody>
      </p:sp>
      <p:sp>
        <p:nvSpPr>
          <p:cNvPr id="11" name="검색어를 입력하지 않아도 취향과  1"/>
          <p:cNvSpPr txBox="1"/>
          <p:nvPr/>
        </p:nvSpPr>
        <p:spPr>
          <a:xfrm>
            <a:off x="1422441" y="3646353"/>
            <a:ext cx="3469599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검색어를 입력하지 않아도 취향과 구매 이력으로 상품을 제안한다.</a:t>
            </a:r>
            <a:endParaRPr lang="en-US" sz="1050" dirty="0"/>
          </a:p>
        </p:txBody>
      </p:sp>
      <p:sp>
        <p:nvSpPr>
          <p:cNvPr id="12" name="구분선 3"/>
          <p:cNvSpPr/>
          <p:nvPr/>
        </p:nvSpPr>
        <p:spPr>
          <a:xfrm>
            <a:off x="1066830" y="4715469"/>
            <a:ext cx="46481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pic>
        <p:nvPicPr>
          <p:cNvPr id="13" name="아이콘 2" descr="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20" y="4143695"/>
            <a:ext cx="177759" cy="177759"/>
          </a:xfrm>
          <a:prstGeom prst="rect">
            <a:avLst/>
          </a:prstGeom>
        </p:spPr>
      </p:pic>
      <p:sp>
        <p:nvSpPr>
          <p:cNvPr id="14" name="AI 쇼핑 어시스턴트 1"/>
          <p:cNvSpPr txBox="1"/>
          <p:nvPr/>
        </p:nvSpPr>
        <p:spPr>
          <a:xfrm>
            <a:off x="1422441" y="4118275"/>
            <a:ext cx="1330269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400" spc="-63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 쇼핑 어시스턴트</a:t>
            </a:r>
            <a:endParaRPr lang="en-US" sz="1400" dirty="0"/>
          </a:p>
        </p:txBody>
      </p:sp>
      <p:sp>
        <p:nvSpPr>
          <p:cNvPr id="15" name="질문하면 상품 선택부터 비교, 결 1"/>
          <p:cNvSpPr txBox="1"/>
          <p:nvPr/>
        </p:nvSpPr>
        <p:spPr>
          <a:xfrm>
            <a:off x="1422441" y="4373667"/>
            <a:ext cx="2874325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질문하면 상품 선택부터 비교, 결제 단계까지 보조한다.</a:t>
            </a:r>
            <a:endParaRPr lang="en-US" sz="1050" dirty="0"/>
          </a:p>
        </p:txBody>
      </p:sp>
      <p:pic>
        <p:nvPicPr>
          <p:cNvPr id="16" name="아이콘 3" descr="아이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120" y="4871009"/>
            <a:ext cx="177759" cy="177759"/>
          </a:xfrm>
          <a:prstGeom prst="rect">
            <a:avLst/>
          </a:prstGeom>
        </p:spPr>
      </p:pic>
      <p:sp>
        <p:nvSpPr>
          <p:cNvPr id="17" name="완결형 AI 스토어 1"/>
          <p:cNvSpPr txBox="1"/>
          <p:nvPr/>
        </p:nvSpPr>
        <p:spPr>
          <a:xfrm>
            <a:off x="1422441" y="4845680"/>
            <a:ext cx="118149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400" spc="-63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완결형 AI 스토어</a:t>
            </a:r>
            <a:endParaRPr lang="en-US" sz="1400" dirty="0"/>
          </a:p>
        </p:txBody>
      </p:sp>
      <p:sp>
        <p:nvSpPr>
          <p:cNvPr id="18" name="탐색부터 의사결정까지 플랫폼 안에 1"/>
          <p:cNvSpPr txBox="1"/>
          <p:nvPr/>
        </p:nvSpPr>
        <p:spPr>
          <a:xfrm>
            <a:off x="1422441" y="5101072"/>
            <a:ext cx="2424989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탐색부터 의사결정까지 플랫폼 안에서 끝낸다.</a:t>
            </a:r>
            <a:endParaRPr lang="en-US" sz="1050" dirty="0"/>
          </a:p>
        </p:txBody>
      </p:sp>
      <p:sp>
        <p:nvSpPr>
          <p:cNvPr id="19" name="카드 2"/>
          <p:cNvSpPr/>
          <p:nvPr/>
        </p:nvSpPr>
        <p:spPr>
          <a:xfrm>
            <a:off x="6172200" y="2476470"/>
            <a:ext cx="5257800" cy="381003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20" name="구분선 4"/>
          <p:cNvSpPr/>
          <p:nvPr/>
        </p:nvSpPr>
        <p:spPr>
          <a:xfrm>
            <a:off x="6476970" y="3257550"/>
            <a:ext cx="464817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</p:sp>
      <p:pic>
        <p:nvPicPr>
          <p:cNvPr id="21" name="3D 아이콘 2" descr="3D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922" y="2534442"/>
            <a:ext cx="798546" cy="798546"/>
          </a:xfrm>
          <a:prstGeom prst="rect">
            <a:avLst/>
          </a:prstGeom>
        </p:spPr>
      </p:pic>
      <p:sp>
        <p:nvSpPr>
          <p:cNvPr id="22" name="아직 부족한 것 1"/>
          <p:cNvSpPr txBox="1"/>
          <p:nvPr/>
        </p:nvSpPr>
        <p:spPr>
          <a:xfrm>
            <a:off x="7010430" y="2816261"/>
            <a:ext cx="1139982" cy="2349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600" spc="-7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아직 부족한 것</a:t>
            </a:r>
            <a:endParaRPr lang="en-US" sz="1600" dirty="0"/>
          </a:p>
        </p:txBody>
      </p:sp>
      <p:sp>
        <p:nvSpPr>
          <p:cNvPr id="23" name="구분선 5"/>
          <p:cNvSpPr/>
          <p:nvPr/>
        </p:nvSpPr>
        <p:spPr>
          <a:xfrm>
            <a:off x="6476970" y="3988064"/>
            <a:ext cx="46481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pic>
        <p:nvPicPr>
          <p:cNvPr id="24" name="아이콘 4" descr="아이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259" y="3416290"/>
            <a:ext cx="177759" cy="177759"/>
          </a:xfrm>
          <a:prstGeom prst="rect">
            <a:avLst/>
          </a:prstGeom>
        </p:spPr>
      </p:pic>
      <p:sp>
        <p:nvSpPr>
          <p:cNvPr id="25" name="추천을 믿지 못한다 1"/>
          <p:cNvSpPr txBox="1"/>
          <p:nvPr/>
        </p:nvSpPr>
        <p:spPr>
          <a:xfrm>
            <a:off x="6832580" y="3390870"/>
            <a:ext cx="1300734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400" spc="-63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추천을 믿지 못한다</a:t>
            </a:r>
            <a:endParaRPr lang="en-US" sz="1400" dirty="0"/>
          </a:p>
        </p:txBody>
      </p:sp>
      <p:sp>
        <p:nvSpPr>
          <p:cNvPr id="26" name="AI 추천 뒤에 광고·협찬이 숨어 1"/>
          <p:cNvSpPr txBox="1"/>
          <p:nvPr/>
        </p:nvSpPr>
        <p:spPr>
          <a:xfrm>
            <a:off x="6832580" y="3646353"/>
            <a:ext cx="3076133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 추천 뒤에 광고·협찬이 숨어 있다는 인식이 퍼지고 있다.</a:t>
            </a:r>
            <a:endParaRPr lang="en-US" sz="1050" dirty="0"/>
          </a:p>
        </p:txBody>
      </p:sp>
      <p:sp>
        <p:nvSpPr>
          <p:cNvPr id="27" name="라벨 2"/>
          <p:cNvSpPr/>
          <p:nvPr/>
        </p:nvSpPr>
        <p:spPr>
          <a:xfrm>
            <a:off x="10499507" y="3501238"/>
            <a:ext cx="625632" cy="24633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900" spc="-9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 전략 2</a:t>
            </a:r>
            <a:endParaRPr lang="en-US" sz="900" dirty="0"/>
          </a:p>
        </p:txBody>
      </p:sp>
      <p:sp>
        <p:nvSpPr>
          <p:cNvPr id="28" name="구분선 6"/>
          <p:cNvSpPr/>
          <p:nvPr/>
        </p:nvSpPr>
        <p:spPr>
          <a:xfrm>
            <a:off x="6476970" y="4715469"/>
            <a:ext cx="46481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pic>
        <p:nvPicPr>
          <p:cNvPr id="29" name="아이콘 5" descr="아이콘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4259" y="4143695"/>
            <a:ext cx="177759" cy="177759"/>
          </a:xfrm>
          <a:prstGeom prst="rect">
            <a:avLst/>
          </a:prstGeom>
        </p:spPr>
      </p:pic>
      <p:sp>
        <p:nvSpPr>
          <p:cNvPr id="30" name="사람만 보는 마케팅 1"/>
          <p:cNvSpPr txBox="1"/>
          <p:nvPr/>
        </p:nvSpPr>
        <p:spPr>
          <a:xfrm>
            <a:off x="6832580" y="4118275"/>
            <a:ext cx="1300734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400" spc="-63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사람만 보는 마케팅</a:t>
            </a:r>
            <a:endParaRPr lang="en-US" sz="1400" dirty="0"/>
          </a:p>
        </p:txBody>
      </p:sp>
      <p:sp>
        <p:nvSpPr>
          <p:cNvPr id="31" name="여전히 인간 소비자의 감성만 자극 1"/>
          <p:cNvSpPr txBox="1"/>
          <p:nvPr/>
        </p:nvSpPr>
        <p:spPr>
          <a:xfrm>
            <a:off x="6832580" y="4373667"/>
            <a:ext cx="3349630" cy="2066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여전히 인간 소비자의 감성만 자극하는 전통적 방식을 고수한다.</a:t>
            </a:r>
            <a:endParaRPr lang="en-US" sz="1050" dirty="0"/>
          </a:p>
        </p:txBody>
      </p:sp>
      <p:sp>
        <p:nvSpPr>
          <p:cNvPr id="32" name="라벨 3"/>
          <p:cNvSpPr/>
          <p:nvPr/>
        </p:nvSpPr>
        <p:spPr>
          <a:xfrm>
            <a:off x="10499141" y="4228643"/>
            <a:ext cx="626090" cy="24633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900" spc="-9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 투트랙</a:t>
            </a:r>
            <a:endParaRPr lang="en-US" sz="900" dirty="0"/>
          </a:p>
        </p:txBody>
      </p:sp>
      <p:pic>
        <p:nvPicPr>
          <p:cNvPr id="33" name="아이콘 6" descr="아이콘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4259" y="4871009"/>
            <a:ext cx="177759" cy="177759"/>
          </a:xfrm>
          <a:prstGeom prst="rect">
            <a:avLst/>
          </a:prstGeom>
        </p:spPr>
      </p:pic>
      <p:sp>
        <p:nvSpPr>
          <p:cNvPr id="34" name="AI가 읽을 데이터 부족 1"/>
          <p:cNvSpPr txBox="1"/>
          <p:nvPr/>
        </p:nvSpPr>
        <p:spPr>
          <a:xfrm>
            <a:off x="6832580" y="4845680"/>
            <a:ext cx="1517081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400" spc="-63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AI가 읽을 데이터 부족</a:t>
            </a:r>
            <a:endParaRPr lang="en-US" sz="1400" dirty="0"/>
          </a:p>
        </p:txBody>
      </p:sp>
      <p:sp>
        <p:nvSpPr>
          <p:cNvPr id="35" name="AI 에이전트가 상품 정보를 정확 1"/>
          <p:cNvSpPr txBox="1"/>
          <p:nvPr/>
        </p:nvSpPr>
        <p:spPr>
          <a:xfrm>
            <a:off x="6832580" y="5101072"/>
            <a:ext cx="3244383" cy="41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627"/>
              </a:lnSpc>
              <a:buNone/>
            </a:pPr>
            <a:r>
              <a:rPr lang="en-US" sz="10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 에이전트가 상품 정보를 정확히 읽고 평가할 데이터 구조가 미흡하다.</a:t>
            </a:r>
            <a:endParaRPr lang="en-US" sz="1050" dirty="0"/>
          </a:p>
        </p:txBody>
      </p:sp>
      <p:sp>
        <p:nvSpPr>
          <p:cNvPr id="36" name="라벨 4"/>
          <p:cNvSpPr/>
          <p:nvPr/>
        </p:nvSpPr>
        <p:spPr>
          <a:xfrm>
            <a:off x="10499507" y="5059284"/>
            <a:ext cx="625632" cy="24633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900" spc="-9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→ 전략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952427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Strategy · 우리 팀의 마케팅 전략</a:t>
            </a:r>
            <a:endParaRPr lang="en-US" sz="1000" dirty="0"/>
          </a:p>
        </p:txBody>
      </p:sp>
      <p:sp>
        <p:nvSpPr>
          <p:cNvPr id="3" name="Text 3"/>
          <p:cNvSpPr/>
          <p:nvPr>
            <p:ph idx="103" type="title" hasCustomPrompt="1"/>
          </p:nvPr>
        </p:nvSpPr>
        <p:spPr>
          <a:xfrm>
            <a:off x="761970" y="1148121"/>
            <a:ext cx="10668030" cy="112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사람을 설득하고, </a:t>
            </a:r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AI에게 선택받는다</a:t>
            </a:r>
            <a:endParaRPr lang="en-US" sz="3600" dirty="0"/>
          </a:p>
        </p:txBody>
      </p:sp>
      <p:sp>
        <p:nvSpPr>
          <p:cNvPr id="4" name="의사결정을 AI에게 맡기는 시대엔 1"/>
          <p:cNvSpPr txBox="1"/>
          <p:nvPr/>
        </p:nvSpPr>
        <p:spPr>
          <a:xfrm>
            <a:off x="761970" y="1786829"/>
            <a:ext cx="6946971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400" spc="-42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의사결정을 AI에게 맡기는 시대엔 두 트랙을 동시에 굴리는 투트랙(Two-Track) 마케팅이 필요하다.</a:t>
            </a:r>
            <a:endParaRPr lang="en-US" sz="1400" dirty="0"/>
          </a:p>
        </p:txBody>
      </p:sp>
      <p:sp>
        <p:nvSpPr>
          <p:cNvPr id="5" name="연결선 1"/>
          <p:cNvSpPr/>
          <p:nvPr/>
        </p:nvSpPr>
        <p:spPr>
          <a:xfrm>
            <a:off x="2667030" y="4444990"/>
            <a:ext cx="254002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ysDot"/>
          </a:ln>
        </p:spPr>
      </p:sp>
      <p:sp>
        <p:nvSpPr>
          <p:cNvPr id="6" name="화살촉 1"/>
          <p:cNvSpPr/>
          <p:nvPr/>
        </p:nvSpPr>
        <p:spPr>
          <a:xfrm>
            <a:off x="5130790" y="4381530"/>
            <a:ext cx="76170" cy="127010"/>
          </a:xfrm>
          <a:custGeom>
            <a:avLst/>
            <a:gdLst/>
            <a:ahLst/>
            <a:cxnLst/>
            <a:rect l="l" t="t" r="r" b="b"/>
            <a:pathLst>
              <a:path w="76170" h="127010">
                <a:moveTo>
                  <a:pt x="0" y="0"/>
                </a:moveTo>
                <a:lnTo>
                  <a:pt x="76170" y="63459"/>
                </a:lnTo>
                <a:lnTo>
                  <a:pt x="0" y="127010"/>
                </a:lnTo>
              </a:path>
            </a:pathLst>
          </a:cu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연결선 2"/>
          <p:cNvSpPr/>
          <p:nvPr/>
        </p:nvSpPr>
        <p:spPr>
          <a:xfrm>
            <a:off x="6985010" y="4444990"/>
            <a:ext cx="2413010" cy="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ysDot"/>
          </a:ln>
        </p:spPr>
      </p:sp>
      <p:sp>
        <p:nvSpPr>
          <p:cNvPr id="8" name="화살촉 2"/>
          <p:cNvSpPr/>
          <p:nvPr/>
        </p:nvSpPr>
        <p:spPr>
          <a:xfrm>
            <a:off x="9321759" y="4381530"/>
            <a:ext cx="76170" cy="127010"/>
          </a:xfrm>
          <a:custGeom>
            <a:avLst/>
            <a:gdLst/>
            <a:ahLst/>
            <a:cxnLst/>
            <a:rect l="l" t="t" r="r" b="b"/>
            <a:pathLst>
              <a:path w="76170" h="127010">
                <a:moveTo>
                  <a:pt x="0" y="0"/>
                </a:moveTo>
                <a:lnTo>
                  <a:pt x="76170" y="63459"/>
                </a:lnTo>
                <a:lnTo>
                  <a:pt x="0" y="127010"/>
                </a:lnTo>
              </a:path>
            </a:pathLst>
          </a:cu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연결선 3"/>
          <p:cNvSpPr/>
          <p:nvPr/>
        </p:nvSpPr>
        <p:spPr>
          <a:xfrm>
            <a:off x="6096030" y="3314700"/>
            <a:ext cx="0" cy="46991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ysDot"/>
          </a:ln>
        </p:spPr>
      </p:sp>
      <p:sp>
        <p:nvSpPr>
          <p:cNvPr id="10" name="연결선 4"/>
          <p:cNvSpPr/>
          <p:nvPr/>
        </p:nvSpPr>
        <p:spPr>
          <a:xfrm>
            <a:off x="3937041" y="4444990"/>
            <a:ext cx="0" cy="106683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ysDot"/>
          </a:ln>
        </p:spPr>
      </p:sp>
      <p:sp>
        <p:nvSpPr>
          <p:cNvPr id="11" name="연결선 5"/>
          <p:cNvSpPr/>
          <p:nvPr/>
        </p:nvSpPr>
        <p:spPr>
          <a:xfrm>
            <a:off x="10287000" y="5410230"/>
            <a:ext cx="0" cy="10159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ysDot"/>
          </a:ln>
        </p:spPr>
      </p:sp>
      <p:sp>
        <p:nvSpPr>
          <p:cNvPr id="12" name="카드 1"/>
          <p:cNvSpPr/>
          <p:nvPr/>
        </p:nvSpPr>
        <p:spPr>
          <a:xfrm>
            <a:off x="5132619" y="2540020"/>
            <a:ext cx="1926732" cy="730240"/>
          </a:xfrm>
          <a:prstGeom prst="roundRect">
            <a:avLst>
              <a:gd name="adj" fmla="val 27824"/>
            </a:avLst>
          </a:prstGeom>
          <a:solidFill>
            <a:schemeClr val="accent3"/>
          </a:solidFill>
          <a:ln/>
        </p:spPr>
      </p:sp>
      <p:sp>
        <p:nvSpPr>
          <p:cNvPr id="13" name="TRACK A · AI에게 선택받 1"/>
          <p:cNvSpPr txBox="1"/>
          <p:nvPr/>
        </p:nvSpPr>
        <p:spPr>
          <a:xfrm>
            <a:off x="5408036" y="2705070"/>
            <a:ext cx="1375989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850" spc="17" kern="0" dirty="0">
                <a:solidFill>
                  <a:schemeClr val="accent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TRACK A · AI에게 선택받기</a:t>
            </a:r>
            <a:endParaRPr lang="en-US" sz="850" dirty="0"/>
          </a:p>
        </p:txBody>
      </p:sp>
      <p:sp>
        <p:nvSpPr>
          <p:cNvPr id="14" name="전략 1 GEO / AEO 1"/>
          <p:cNvSpPr txBox="1"/>
          <p:nvPr/>
        </p:nvSpPr>
        <p:spPr>
          <a:xfrm>
            <a:off x="5318608" y="2882920"/>
            <a:ext cx="1554754" cy="222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500" spc="-68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전략 1</a:t>
            </a:r>
            <a:pPr eaLnBrk="0" algn="ctr" indent="0" marL="0">
              <a:buNone/>
            </a:pPr>
            <a:r>
              <a:rPr lang="en-US" sz="1500" spc="-68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 </a:t>
            </a:r>
            <a:pPr eaLnBrk="0" algn="ctr" indent="0" marL="0">
              <a:buNone/>
            </a:pPr>
            <a:r>
              <a:rPr lang="en-US" sz="1500" spc="-6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GEO / AEO</a:t>
            </a:r>
            <a:endParaRPr lang="en-US" sz="1500" dirty="0"/>
          </a:p>
        </p:txBody>
      </p:sp>
      <p:pic>
        <p:nvPicPr>
          <p:cNvPr id="15" name="사람 구체 1" descr="사람 구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79" y="3411261"/>
            <a:ext cx="2245401" cy="2245401"/>
          </a:xfrm>
          <a:prstGeom prst="rect">
            <a:avLst/>
          </a:prstGeom>
        </p:spPr>
      </p:pic>
      <p:sp>
        <p:nvSpPr>
          <p:cNvPr id="16" name="소비자 1"/>
          <p:cNvSpPr txBox="1"/>
          <p:nvPr/>
        </p:nvSpPr>
        <p:spPr>
          <a:xfrm>
            <a:off x="1791858" y="5219670"/>
            <a:ext cx="530901" cy="222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500" spc="-6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소비자</a:t>
            </a:r>
            <a:endParaRPr lang="en-US" sz="1500" dirty="0"/>
          </a:p>
        </p:txBody>
      </p:sp>
      <p:pic>
        <p:nvPicPr>
          <p:cNvPr id="17" name="3D 아이콘 1" descr="3D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050" y="3368010"/>
            <a:ext cx="2153961" cy="2153961"/>
          </a:xfrm>
          <a:prstGeom prst="rect">
            <a:avLst/>
          </a:prstGeom>
        </p:spPr>
      </p:pic>
      <p:sp>
        <p:nvSpPr>
          <p:cNvPr id="18" name="AI 에이전트 1"/>
          <p:cNvSpPr txBox="1"/>
          <p:nvPr/>
        </p:nvSpPr>
        <p:spPr>
          <a:xfrm>
            <a:off x="5662696" y="5130790"/>
            <a:ext cx="917418" cy="222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500" spc="-6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 에이전트</a:t>
            </a:r>
            <a:endParaRPr lang="en-US" sz="1500" dirty="0"/>
          </a:p>
        </p:txBody>
      </p:sp>
      <p:pic>
        <p:nvPicPr>
          <p:cNvPr id="19" name="3D 아이콘 2" descr="3D 아이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020" y="3368010"/>
            <a:ext cx="2153961" cy="2153961"/>
          </a:xfrm>
          <a:prstGeom prst="rect">
            <a:avLst/>
          </a:prstGeom>
        </p:spPr>
      </p:pic>
      <p:sp>
        <p:nvSpPr>
          <p:cNvPr id="20" name="브랜드 구매 1"/>
          <p:cNvSpPr txBox="1"/>
          <p:nvPr/>
        </p:nvSpPr>
        <p:spPr>
          <a:xfrm>
            <a:off x="9869759" y="5130790"/>
            <a:ext cx="885231" cy="222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500" spc="-6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브랜드 구매</a:t>
            </a:r>
            <a:endParaRPr lang="en-US" sz="1500" dirty="0"/>
          </a:p>
        </p:txBody>
      </p:sp>
      <p:sp>
        <p:nvSpPr>
          <p:cNvPr id="21" name="라벨 2"/>
          <p:cNvSpPr/>
          <p:nvPr/>
        </p:nvSpPr>
        <p:spPr>
          <a:xfrm>
            <a:off x="3477829" y="4314871"/>
            <a:ext cx="918240" cy="260330"/>
          </a:xfrm>
          <a:prstGeom prst="roundRect">
            <a:avLst>
              <a:gd name="adj" fmla="val 500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191F28">
                <a:alpha val="8000"/>
              </a:srgbClr>
            </a:outerShdw>
          </a:effectLst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tx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의사결정 위임</a:t>
            </a:r>
            <a:endParaRPr lang="en-US" sz="1000" dirty="0"/>
          </a:p>
        </p:txBody>
      </p:sp>
      <p:sp>
        <p:nvSpPr>
          <p:cNvPr id="22" name="라벨 3"/>
          <p:cNvSpPr/>
          <p:nvPr/>
        </p:nvSpPr>
        <p:spPr>
          <a:xfrm>
            <a:off x="7809708" y="4314871"/>
            <a:ext cx="763615" cy="260330"/>
          </a:xfrm>
          <a:prstGeom prst="roundRect">
            <a:avLst>
              <a:gd name="adj" fmla="val 5001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191F28">
                <a:alpha val="8000"/>
              </a:srgbClr>
            </a:outerShdw>
          </a:effectLst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tx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추천 · 선택</a:t>
            </a:r>
            <a:endParaRPr lang="en-US" sz="1000" dirty="0"/>
          </a:p>
        </p:txBody>
      </p:sp>
      <p:sp>
        <p:nvSpPr>
          <p:cNvPr id="23" name="카드 2"/>
          <p:cNvSpPr/>
          <p:nvPr/>
        </p:nvSpPr>
        <p:spPr>
          <a:xfrm>
            <a:off x="2784805" y="5524530"/>
            <a:ext cx="2304471" cy="730240"/>
          </a:xfrm>
          <a:prstGeom prst="roundRect">
            <a:avLst>
              <a:gd name="adj" fmla="val 2782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24" name="TRACK B · 사람을 설득하기 1"/>
          <p:cNvSpPr txBox="1"/>
          <p:nvPr/>
        </p:nvSpPr>
        <p:spPr>
          <a:xfrm>
            <a:off x="3260568" y="5689580"/>
            <a:ext cx="1352763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850" spc="17" kern="0" dirty="0">
                <a:solidFill>
                  <a:schemeClr val="accent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TRACK B · 사람을 설득하기</a:t>
            </a:r>
            <a:endParaRPr lang="en-US" sz="850" dirty="0"/>
          </a:p>
        </p:txBody>
      </p:sp>
      <p:sp>
        <p:nvSpPr>
          <p:cNvPr id="25" name="전략 2 투명성 신뢰 마케팅 1"/>
          <p:cNvSpPr txBox="1"/>
          <p:nvPr/>
        </p:nvSpPr>
        <p:spPr>
          <a:xfrm>
            <a:off x="2963205" y="5867430"/>
            <a:ext cx="1947581" cy="222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500" spc="-68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전략 2</a:t>
            </a:r>
            <a:pPr eaLnBrk="0" algn="ctr" indent="0" marL="0">
              <a:buNone/>
            </a:pPr>
            <a:r>
              <a:rPr lang="en-US" sz="1500" spc="-68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 </a:t>
            </a:r>
            <a:pPr eaLnBrk="0" algn="ctr" indent="0" marL="0">
              <a:buNone/>
            </a:pPr>
            <a:r>
              <a:rPr lang="en-US" sz="1500" spc="-6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투명성 신뢰 마케팅</a:t>
            </a:r>
            <a:endParaRPr lang="en-US" sz="1500" dirty="0"/>
          </a:p>
        </p:txBody>
      </p:sp>
      <p:sp>
        <p:nvSpPr>
          <p:cNvPr id="26" name="카드 3"/>
          <p:cNvSpPr/>
          <p:nvPr/>
        </p:nvSpPr>
        <p:spPr>
          <a:xfrm>
            <a:off x="8945575" y="5524530"/>
            <a:ext cx="1793870" cy="730240"/>
          </a:xfrm>
          <a:prstGeom prst="roundRect">
            <a:avLst>
              <a:gd name="adj" fmla="val 2782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27" name="TRACK B · 사람을 설득하기 2"/>
          <p:cNvSpPr txBox="1"/>
          <p:nvPr/>
        </p:nvSpPr>
        <p:spPr>
          <a:xfrm>
            <a:off x="9166128" y="5689580"/>
            <a:ext cx="1352763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850" spc="17" kern="0" dirty="0">
                <a:solidFill>
                  <a:schemeClr val="accent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TRACK B · 사람을 설득하기</a:t>
            </a:r>
            <a:endParaRPr lang="en-US" sz="850" dirty="0"/>
          </a:p>
        </p:txBody>
      </p:sp>
      <p:sp>
        <p:nvSpPr>
          <p:cNvPr id="28" name="전략 3 감성적 검증 1"/>
          <p:cNvSpPr txBox="1"/>
          <p:nvPr/>
        </p:nvSpPr>
        <p:spPr>
          <a:xfrm>
            <a:off x="9134216" y="5867430"/>
            <a:ext cx="1416588" cy="222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500" spc="-68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전략 3</a:t>
            </a:r>
            <a:pPr eaLnBrk="0" algn="ctr" indent="0" marL="0">
              <a:buNone/>
            </a:pPr>
            <a:r>
              <a:rPr lang="en-US" sz="1500" spc="-68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 </a:t>
            </a:r>
            <a:pPr eaLnBrk="0" algn="ctr" indent="0" marL="0">
              <a:buNone/>
            </a:pPr>
            <a:r>
              <a:rPr lang="en-US" sz="1500" spc="-6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감성적 검증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895106" cy="260330"/>
          </a:xfrm>
          <a:prstGeom prst="roundRect">
            <a:avLst>
              <a:gd name="adj" fmla="val 50018"/>
            </a:avLst>
          </a:prstGeom>
          <a:solidFill>
            <a:schemeClr val="accent1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Strategy 1</a:t>
            </a:r>
            <a:endParaRPr lang="en-US" sz="1000" dirty="0"/>
          </a:p>
        </p:txBody>
      </p:sp>
      <p:sp>
        <p:nvSpPr>
          <p:cNvPr id="3" name="라벨 2"/>
          <p:cNvSpPr/>
          <p:nvPr/>
        </p:nvSpPr>
        <p:spPr>
          <a:xfrm>
            <a:off x="1720626" y="749259"/>
            <a:ext cx="1624432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Track A · AI에게 선택받기</a:t>
            </a:r>
            <a:endParaRPr lang="en-US" sz="1000" dirty="0"/>
          </a:p>
        </p:txBody>
      </p:sp>
      <p:sp>
        <p:nvSpPr>
          <p:cNvPr id="4" name="GEO / AEO 1"/>
          <p:cNvSpPr txBox="1"/>
          <p:nvPr/>
        </p:nvSpPr>
        <p:spPr>
          <a:xfrm>
            <a:off x="761970" y="1168695"/>
            <a:ext cx="4129156" cy="85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6200" spc="-310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GEO / AEO</a:t>
            </a:r>
            <a:endParaRPr lang="en-US" sz="6200" dirty="0"/>
          </a:p>
        </p:txBody>
      </p:sp>
      <p:sp>
        <p:nvSpPr>
          <p:cNvPr id="5" name="Generative Engine  1"/>
          <p:cNvSpPr txBox="1"/>
          <p:nvPr/>
        </p:nvSpPr>
        <p:spPr>
          <a:xfrm>
            <a:off x="761970" y="2101291"/>
            <a:ext cx="3109874" cy="165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0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Generative Engine · AI Engine Optimization</a:t>
            </a:r>
            <a:endParaRPr lang="en-US" sz="1100" dirty="0"/>
          </a:p>
        </p:txBody>
      </p:sp>
      <p:sp>
        <p:nvSpPr>
          <p:cNvPr id="6" name="기존 SEO를 넘어, AI가 브랜 1"/>
          <p:cNvSpPr txBox="1"/>
          <p:nvPr/>
        </p:nvSpPr>
        <p:spPr>
          <a:xfrm>
            <a:off x="761970" y="2456261"/>
            <a:ext cx="43741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2160"/>
              </a:lnSpc>
              <a:buNone/>
            </a:pPr>
            <a:r>
              <a:rPr lang="en-US" sz="1350" spc="-54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기존 SEO를 넘어, AI가 브랜드 데이터를 쉽게 </a:t>
            </a:r>
            <a:pPr eaLnBrk="0" algn="l" indent="0" marL="0">
              <a:lnSpc>
                <a:spcPts val="2160"/>
              </a:lnSpc>
              <a:buNone/>
            </a:pPr>
            <a:r>
              <a:rPr lang="en-US" sz="1350" spc="-54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수집·분석·추천</a:t>
            </a:r>
            <a:pPr eaLnBrk="0" algn="l" indent="0" marL="0">
              <a:lnSpc>
                <a:spcPts val="2160"/>
              </a:lnSpc>
              <a:buNone/>
            </a:pPr>
            <a:r>
              <a:rPr lang="en-US" sz="1350" spc="-54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할 수 있도록 상품 정보와 리뷰를 구조화한다.</a:t>
            </a:r>
            <a:endParaRPr lang="en-US" sz="1350" dirty="0"/>
          </a:p>
        </p:txBody>
      </p:sp>
      <p:sp>
        <p:nvSpPr>
          <p:cNvPr id="7" name="카드 1"/>
          <p:cNvSpPr/>
          <p:nvPr/>
        </p:nvSpPr>
        <p:spPr>
          <a:xfrm>
            <a:off x="761970" y="4706142"/>
            <a:ext cx="4317980" cy="739384"/>
          </a:xfrm>
          <a:prstGeom prst="roundRect">
            <a:avLst>
              <a:gd name="adj" fmla="val 240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8" name="도형 1"/>
          <p:cNvSpPr/>
          <p:nvPr/>
        </p:nvSpPr>
        <p:spPr>
          <a:xfrm>
            <a:off x="952530" y="4871283"/>
            <a:ext cx="330190" cy="33019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100" spc="-16" kern="0" dirty="0">
                <a:solidFill>
                  <a:schemeClr val="accent2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구조화된 정량 데이터 제공 1"/>
          <p:cNvSpPr txBox="1"/>
          <p:nvPr/>
        </p:nvSpPr>
        <p:spPr>
          <a:xfrm>
            <a:off x="1397020" y="4871283"/>
            <a:ext cx="1614648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50" spc="-5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구조화된 정량 데이터 제공</a:t>
            </a:r>
            <a:endParaRPr lang="en-US" sz="1250" dirty="0"/>
          </a:p>
        </p:txBody>
      </p:sp>
      <p:sp>
        <p:nvSpPr>
          <p:cNvPr id="10" name="스펙, 가격, 배송 옵션, 성분을 1"/>
          <p:cNvSpPr txBox="1"/>
          <p:nvPr/>
        </p:nvSpPr>
        <p:spPr>
          <a:xfrm>
            <a:off x="1397020" y="5092019"/>
            <a:ext cx="3137489" cy="1869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스펙, 가격, 배송 옵션, 성분을 표준화된 태그와 스키마로 등록한다.</a:t>
            </a:r>
            <a:endParaRPr lang="en-US" sz="950" dirty="0"/>
          </a:p>
        </p:txBody>
      </p:sp>
      <p:sp>
        <p:nvSpPr>
          <p:cNvPr id="11" name="카드 2"/>
          <p:cNvSpPr/>
          <p:nvPr/>
        </p:nvSpPr>
        <p:spPr>
          <a:xfrm>
            <a:off x="761970" y="5547116"/>
            <a:ext cx="4317980" cy="739384"/>
          </a:xfrm>
          <a:prstGeom prst="roundRect">
            <a:avLst>
              <a:gd name="adj" fmla="val 240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12" name="도형 2"/>
          <p:cNvSpPr/>
          <p:nvPr/>
        </p:nvSpPr>
        <p:spPr>
          <a:xfrm>
            <a:off x="952530" y="5712257"/>
            <a:ext cx="330190" cy="33019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100" spc="-16" kern="0" dirty="0">
                <a:solidFill>
                  <a:schemeClr val="accent2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맥락 있는 텍스트 리뷰 자산 1"/>
          <p:cNvSpPr txBox="1"/>
          <p:nvPr/>
        </p:nvSpPr>
        <p:spPr>
          <a:xfrm>
            <a:off x="1397020" y="5712257"/>
            <a:ext cx="1644366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50" spc="-5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맥락 있는 텍스트 리뷰 자산</a:t>
            </a:r>
            <a:endParaRPr lang="en-US" sz="1250" dirty="0"/>
          </a:p>
        </p:txBody>
      </p:sp>
      <p:sp>
        <p:nvSpPr>
          <p:cNvPr id="14" name="누가, 어떤 조건에서, 어떤 효과 1"/>
          <p:cNvSpPr txBox="1"/>
          <p:nvPr/>
        </p:nvSpPr>
        <p:spPr>
          <a:xfrm>
            <a:off x="1397020" y="5933084"/>
            <a:ext cx="3108137" cy="1869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누가, 어떤 조건에서, 어떤 효과를 보았는지 담긴 리뷰를 유도한다.</a:t>
            </a:r>
            <a:endParaRPr lang="en-US" sz="950" dirty="0"/>
          </a:p>
        </p:txBody>
      </p:sp>
      <p:sp>
        <p:nvSpPr>
          <p:cNvPr id="15" name="카드 3"/>
          <p:cNvSpPr/>
          <p:nvPr/>
        </p:nvSpPr>
        <p:spPr>
          <a:xfrm>
            <a:off x="5587990" y="952530"/>
            <a:ext cx="5842010" cy="533397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16" name="도형 3"/>
          <p:cNvSpPr/>
          <p:nvPr/>
        </p:nvSpPr>
        <p:spPr>
          <a:xfrm>
            <a:off x="5892759" y="1358890"/>
            <a:ext cx="2286000" cy="2286000"/>
          </a:xfrm>
          <a:prstGeom prst="roundRect">
            <a:avLst>
              <a:gd name="adj" fmla="val 7776"/>
            </a:avLst>
          </a:prstGeom>
          <a:solidFill>
            <a:srgbClr val="EEF2F7"/>
          </a:solidFill>
          <a:ln/>
        </p:spPr>
      </p:sp>
      <p:pic>
        <p:nvPicPr>
          <p:cNvPr id="17" name="바닥 그림자 1" descr="바닥 그림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370" y="3009930"/>
            <a:ext cx="1104870" cy="215890"/>
          </a:xfrm>
          <a:prstGeom prst="rect">
            <a:avLst/>
          </a:prstGeom>
        </p:spPr>
      </p:pic>
      <p:pic>
        <p:nvPicPr>
          <p:cNvPr id="18" name="AI 구체 1" descr="AI 구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80" y="1409730"/>
            <a:ext cx="1993941" cy="1993941"/>
          </a:xfrm>
          <a:prstGeom prst="rect">
            <a:avLst/>
          </a:prstGeom>
        </p:spPr>
      </p:pic>
      <p:sp>
        <p:nvSpPr>
          <p:cNvPr id="19" name="제품 이미지 · 예시 1"/>
          <p:cNvSpPr txBox="1"/>
          <p:nvPr/>
        </p:nvSpPr>
        <p:spPr>
          <a:xfrm>
            <a:off x="6681978" y="3416290"/>
            <a:ext cx="70756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750" spc="-16" kern="0" dirty="0">
                <a:solidFill>
                  <a:schemeClr val="accent5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제품 이미지 · 예시</a:t>
            </a:r>
            <a:endParaRPr lang="en-US" sz="750" dirty="0"/>
          </a:p>
        </p:txBody>
      </p:sp>
      <p:sp>
        <p:nvSpPr>
          <p:cNvPr id="20" name="BRAND 1"/>
          <p:cNvSpPr txBox="1"/>
          <p:nvPr/>
        </p:nvSpPr>
        <p:spPr>
          <a:xfrm>
            <a:off x="8483620" y="1358890"/>
            <a:ext cx="553852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spc="160" kern="0" dirty="0">
                <a:solidFill>
                  <a:schemeClr val="accent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BRAND</a:t>
            </a:r>
            <a:endParaRPr lang="en-US" sz="800" dirty="0"/>
          </a:p>
        </p:txBody>
      </p:sp>
      <p:sp>
        <p:nvSpPr>
          <p:cNvPr id="21" name="AI 인식 영역 1"/>
          <p:cNvSpPr/>
          <p:nvPr/>
        </p:nvSpPr>
        <p:spPr>
          <a:xfrm>
            <a:off x="8432780" y="1720809"/>
            <a:ext cx="1791767" cy="391089"/>
          </a:xfrm>
          <a:prstGeom prst="roundRect">
            <a:avLst>
              <a:gd name="adj" fmla="val 19476"/>
            </a:avLst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22" name="수분 선크림 50ml 1"/>
          <p:cNvSpPr txBox="1"/>
          <p:nvPr/>
        </p:nvSpPr>
        <p:spPr>
          <a:xfrm>
            <a:off x="8483620" y="1769730"/>
            <a:ext cx="1757843" cy="289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900" spc="-95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수분 선크림 50ml</a:t>
            </a:r>
            <a:endParaRPr lang="en-US" sz="1900" dirty="0"/>
          </a:p>
        </p:txBody>
      </p:sp>
      <p:sp>
        <p:nvSpPr>
          <p:cNvPr id="23" name="도형 4"/>
          <p:cNvSpPr/>
          <p:nvPr/>
        </p:nvSpPr>
        <p:spPr>
          <a:xfrm>
            <a:off x="8426470" y="1546250"/>
            <a:ext cx="343723" cy="161940"/>
          </a:xfrm>
          <a:prstGeom prst="roundRect">
            <a:avLst>
              <a:gd name="adj" fmla="val 23546"/>
            </a:avLst>
          </a:prstGeom>
          <a:solidFill>
            <a:schemeClr val="accent1"/>
          </a:solidFill>
          <a:ln/>
        </p:spPr>
        <p:txBody>
          <a:bodyPr wrap="none" lIns="57150" tIns="31750" rIns="57150" bIns="25400" rtlCol="0" anchor="ctr"/>
          <a:lstStyle/>
          <a:p>
            <a:pPr eaLnBrk="0" algn="ctr" indent="0" marL="0">
              <a:buNone/>
            </a:pPr>
            <a:r>
              <a:rPr lang="en-US" sz="750" dirty="0">
                <a:solidFill>
                  <a:schemeClr val="bg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name</a:t>
            </a:r>
            <a:endParaRPr lang="en-US" sz="750" dirty="0"/>
          </a:p>
        </p:txBody>
      </p:sp>
      <p:sp>
        <p:nvSpPr>
          <p:cNvPr id="24" name="AI 인식 영역 2"/>
          <p:cNvSpPr/>
          <p:nvPr/>
        </p:nvSpPr>
        <p:spPr>
          <a:xfrm>
            <a:off x="8432780" y="2302459"/>
            <a:ext cx="1124255" cy="391089"/>
          </a:xfrm>
          <a:prstGeom prst="roundRect">
            <a:avLst>
              <a:gd name="adj" fmla="val 19476"/>
            </a:avLst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25" name="23,000원 1"/>
          <p:cNvSpPr txBox="1"/>
          <p:nvPr/>
        </p:nvSpPr>
        <p:spPr>
          <a:xfrm>
            <a:off x="8483620" y="2351380"/>
            <a:ext cx="1073414" cy="289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900" spc="-76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23,000원</a:t>
            </a:r>
            <a:endParaRPr lang="en-US" sz="1900" dirty="0"/>
          </a:p>
        </p:txBody>
      </p:sp>
      <p:sp>
        <p:nvSpPr>
          <p:cNvPr id="26" name="도형 5"/>
          <p:cNvSpPr/>
          <p:nvPr/>
        </p:nvSpPr>
        <p:spPr>
          <a:xfrm>
            <a:off x="8426470" y="2127809"/>
            <a:ext cx="401056" cy="161940"/>
          </a:xfrm>
          <a:prstGeom prst="roundRect">
            <a:avLst>
              <a:gd name="adj" fmla="val 23546"/>
            </a:avLst>
          </a:prstGeom>
          <a:solidFill>
            <a:schemeClr val="accent1"/>
          </a:solidFill>
          <a:ln/>
        </p:spPr>
        <p:txBody>
          <a:bodyPr wrap="none" lIns="57150" tIns="31750" rIns="57150" bIns="25400" rtlCol="0" anchor="ctr"/>
          <a:lstStyle/>
          <a:p>
            <a:pPr eaLnBrk="0" algn="ctr" indent="0" marL="0">
              <a:buNone/>
            </a:pPr>
            <a:r>
              <a:rPr lang="en-US" sz="750" dirty="0">
                <a:solidFill>
                  <a:schemeClr val="bg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price</a:t>
            </a:r>
            <a:endParaRPr lang="en-US" sz="750" dirty="0"/>
          </a:p>
        </p:txBody>
      </p:sp>
      <p:sp>
        <p:nvSpPr>
          <p:cNvPr id="27" name="AI 인식 영역 3"/>
          <p:cNvSpPr/>
          <p:nvPr/>
        </p:nvSpPr>
        <p:spPr>
          <a:xfrm>
            <a:off x="8432780" y="2884109"/>
            <a:ext cx="1092708" cy="254020"/>
          </a:xfrm>
          <a:prstGeom prst="roundRect">
            <a:avLst>
              <a:gd name="adj" fmla="val 29986"/>
            </a:avLst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28" name="내일 도착 · 무료배송 1"/>
          <p:cNvSpPr txBox="1"/>
          <p:nvPr/>
        </p:nvSpPr>
        <p:spPr>
          <a:xfrm>
            <a:off x="8483620" y="2934858"/>
            <a:ext cx="1041867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내일 도착 · 무료배송</a:t>
            </a:r>
            <a:endParaRPr lang="en-US" sz="1000" dirty="0"/>
          </a:p>
        </p:txBody>
      </p:sp>
      <p:sp>
        <p:nvSpPr>
          <p:cNvPr id="29" name="도형 6"/>
          <p:cNvSpPr/>
          <p:nvPr/>
        </p:nvSpPr>
        <p:spPr>
          <a:xfrm>
            <a:off x="8426470" y="2709459"/>
            <a:ext cx="573054" cy="161940"/>
          </a:xfrm>
          <a:prstGeom prst="roundRect">
            <a:avLst>
              <a:gd name="adj" fmla="val 23546"/>
            </a:avLst>
          </a:prstGeom>
          <a:solidFill>
            <a:schemeClr val="accent1"/>
          </a:solidFill>
          <a:ln/>
        </p:spPr>
        <p:txBody>
          <a:bodyPr wrap="none" lIns="57150" tIns="31750" rIns="57150" bIns="25400" rtlCol="0" anchor="ctr"/>
          <a:lstStyle/>
          <a:p>
            <a:pPr eaLnBrk="0" algn="ctr" indent="0" marL="0">
              <a:buNone/>
            </a:pPr>
            <a:r>
              <a:rPr lang="en-US" sz="750" dirty="0">
                <a:solidFill>
                  <a:schemeClr val="bg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shipping</a:t>
            </a:r>
            <a:endParaRPr lang="en-US" sz="750" dirty="0"/>
          </a:p>
        </p:txBody>
      </p:sp>
      <p:sp>
        <p:nvSpPr>
          <p:cNvPr id="30" name="AI 인식 영역 4"/>
          <p:cNvSpPr/>
          <p:nvPr/>
        </p:nvSpPr>
        <p:spPr>
          <a:xfrm>
            <a:off x="8432780" y="3328599"/>
            <a:ext cx="1642902" cy="254020"/>
          </a:xfrm>
          <a:prstGeom prst="roundRect">
            <a:avLst>
              <a:gd name="adj" fmla="val 29986"/>
            </a:avLst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31" name="SPF50+ · 히알루론산 · 판 1"/>
          <p:cNvSpPr txBox="1"/>
          <p:nvPr/>
        </p:nvSpPr>
        <p:spPr>
          <a:xfrm>
            <a:off x="8483620" y="3379348"/>
            <a:ext cx="160294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SPF50+ · 히알루론산 · 판테놀</a:t>
            </a:r>
            <a:endParaRPr lang="en-US" sz="1000" dirty="0"/>
          </a:p>
        </p:txBody>
      </p:sp>
      <p:sp>
        <p:nvSpPr>
          <p:cNvPr id="32" name="도형 7"/>
          <p:cNvSpPr/>
          <p:nvPr/>
        </p:nvSpPr>
        <p:spPr>
          <a:xfrm>
            <a:off x="8426470" y="3153948"/>
            <a:ext cx="1089233" cy="161940"/>
          </a:xfrm>
          <a:prstGeom prst="roundRect">
            <a:avLst>
              <a:gd name="adj" fmla="val 23546"/>
            </a:avLst>
          </a:prstGeom>
          <a:solidFill>
            <a:schemeClr val="accent1"/>
          </a:solidFill>
          <a:ln/>
        </p:spPr>
        <p:txBody>
          <a:bodyPr wrap="none" lIns="57150" tIns="31750" rIns="57150" bIns="25400" rtlCol="0" anchor="ctr"/>
          <a:lstStyle/>
          <a:p>
            <a:pPr eaLnBrk="0" algn="ctr" indent="0" marL="0">
              <a:buNone/>
            </a:pPr>
            <a:r>
              <a:rPr lang="en-US" sz="750" dirty="0">
                <a:solidFill>
                  <a:schemeClr val="bg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spf · ingredients</a:t>
            </a:r>
            <a:endParaRPr lang="en-US" sz="750" dirty="0"/>
          </a:p>
        </p:txBody>
      </p:sp>
      <p:sp>
        <p:nvSpPr>
          <p:cNvPr id="33" name="AI가 읽기 어려운 영역 1"/>
          <p:cNvSpPr/>
          <p:nvPr/>
        </p:nvSpPr>
        <p:spPr>
          <a:xfrm>
            <a:off x="5842010" y="3975080"/>
            <a:ext cx="2865455" cy="400050"/>
          </a:xfrm>
          <a:prstGeom prst="roundRect">
            <a:avLst>
              <a:gd name="adj" fmla="val 19040"/>
            </a:avLst>
          </a:prstGeom>
          <a:noFill/>
          <a:ln w="12700">
            <a:solidFill>
              <a:schemeClr val="accent6"/>
            </a:solidFill>
            <a:prstDash val="dash"/>
          </a:ln>
        </p:spPr>
      </p:sp>
      <p:sp>
        <p:nvSpPr>
          <p:cNvPr id="34" name="올여름, 피부가 숨 쉬는 촉촉함 1"/>
          <p:cNvSpPr txBox="1"/>
          <p:nvPr/>
        </p:nvSpPr>
        <p:spPr>
          <a:xfrm>
            <a:off x="5892759" y="4025920"/>
            <a:ext cx="2874416" cy="298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2000" spc="-10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올여름, 피부가 숨 쉬는 촉촉함</a:t>
            </a:r>
            <a:endParaRPr lang="en-US" sz="2000" dirty="0"/>
          </a:p>
        </p:txBody>
      </p:sp>
      <p:sp>
        <p:nvSpPr>
          <p:cNvPr id="35" name="도형 8"/>
          <p:cNvSpPr/>
          <p:nvPr/>
        </p:nvSpPr>
        <p:spPr>
          <a:xfrm>
            <a:off x="5835609" y="3800521"/>
            <a:ext cx="1138245" cy="161940"/>
          </a:xfrm>
          <a:prstGeom prst="roundRect">
            <a:avLst>
              <a:gd name="adj" fmla="val 23546"/>
            </a:avLst>
          </a:prstGeom>
          <a:solidFill>
            <a:schemeClr val="bg2"/>
          </a:solidFill>
          <a:ln/>
        </p:spPr>
        <p:txBody>
          <a:bodyPr wrap="none" lIns="57150" tIns="31750" rIns="57150" bIns="25400" rtlCol="0" anchor="ctr"/>
          <a:lstStyle/>
          <a:p>
            <a:pPr eaLnBrk="0" algn="ctr" indent="0" marL="0">
              <a:buNone/>
            </a:pPr>
            <a:r>
              <a:rPr lang="en-US" sz="750" dirty="0">
                <a:solidFill>
                  <a:srgbClr val="6B7684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AI가 읽기 어려운 감성 문구</a:t>
            </a:r>
            <a:endParaRPr lang="en-US" sz="750" dirty="0"/>
          </a:p>
        </p:txBody>
      </p:sp>
      <p:sp>
        <p:nvSpPr>
          <p:cNvPr id="36" name="도형 9"/>
          <p:cNvSpPr/>
          <p:nvPr/>
        </p:nvSpPr>
        <p:spPr>
          <a:xfrm>
            <a:off x="5892759" y="5047031"/>
            <a:ext cx="5232380" cy="960029"/>
          </a:xfrm>
          <a:prstGeom prst="roundRect">
            <a:avLst>
              <a:gd name="adj" fmla="val 15878"/>
            </a:avLst>
          </a:prstGeom>
          <a:solidFill>
            <a:schemeClr val="bg2"/>
          </a:solidFill>
          <a:ln/>
        </p:spPr>
      </p:sp>
      <p:sp>
        <p:nvSpPr>
          <p:cNvPr id="37" name="리뷰 · 예시 1"/>
          <p:cNvSpPr txBox="1"/>
          <p:nvPr/>
        </p:nvSpPr>
        <p:spPr>
          <a:xfrm>
            <a:off x="6083320" y="5212171"/>
            <a:ext cx="498897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5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리뷰 · 예시</a:t>
            </a:r>
            <a:endParaRPr lang="en-US" sz="850" dirty="0"/>
          </a:p>
        </p:txBody>
      </p:sp>
      <p:sp>
        <p:nvSpPr>
          <p:cNvPr id="38" name="★ 4.8 1"/>
          <p:cNvSpPr txBox="1"/>
          <p:nvPr/>
        </p:nvSpPr>
        <p:spPr>
          <a:xfrm>
            <a:off x="10633923" y="5212171"/>
            <a:ext cx="351495" cy="127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50" spc="-16" kern="0" dirty="0">
                <a:solidFill>
                  <a:schemeClr val="accent5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★ 4.8</a:t>
            </a:r>
            <a:endParaRPr lang="en-US" sz="850" dirty="0"/>
          </a:p>
        </p:txBody>
      </p:sp>
      <p:sp>
        <p:nvSpPr>
          <p:cNvPr id="39" name="30대 지성 피부인데, 여름 야외 1"/>
          <p:cNvSpPr txBox="1"/>
          <p:nvPr/>
        </p:nvSpPr>
        <p:spPr>
          <a:xfrm>
            <a:off x="6083320" y="5513192"/>
            <a:ext cx="4684380" cy="3504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00" u="sng" spc="-42" kern="0" dirty="0">
                <a:solidFill>
                  <a:schemeClr val="tx1"/>
                </a:solidFill>
                <a:uFill>
                  <a:solidFill>
                    <a:srgbClr val="3182F6"/>
                  </a:solidFill>
                </a:u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30대 지성 피부</a:t>
            </a:r>
            <a:pPr eaLnBrk="0" algn="l" indent="0" marL="0">
              <a:buNone/>
            </a:pPr>
            <a:r>
              <a:rPr lang="en-US" sz="1200" spc="-42" kern="0" dirty="0">
                <a:solidFill>
                  <a:schemeClr val="tx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인데, </a:t>
            </a:r>
            <a:pPr eaLnBrk="0" algn="l" indent="0" marL="0">
              <a:buNone/>
            </a:pPr>
            <a:r>
              <a:rPr lang="en-US" sz="1200" u="sng" spc="-42" kern="0" dirty="0">
                <a:solidFill>
                  <a:schemeClr val="tx1"/>
                </a:solidFill>
                <a:uFill>
                  <a:solidFill>
                    <a:srgbClr val="3182F6"/>
                  </a:solidFill>
                </a:u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여름 야외활동에 2주 썼더니</a:t>
            </a:r>
            <a:pPr eaLnBrk="0" algn="l" indent="0" marL="0">
              <a:buNone/>
            </a:pPr>
            <a:r>
              <a:rPr lang="en-US" sz="1200" spc="-42" kern="0" dirty="0">
                <a:solidFill>
                  <a:schemeClr val="tx1"/>
                </a:solid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 </a:t>
            </a:r>
            <a:pPr eaLnBrk="0" algn="l" indent="0" marL="0">
              <a:buNone/>
            </a:pPr>
            <a:r>
              <a:rPr lang="en-US" sz="1200" u="sng" spc="-42" kern="0" dirty="0">
                <a:solidFill>
                  <a:schemeClr val="tx1"/>
                </a:solidFill>
                <a:uFill>
                  <a:solidFill>
                    <a:srgbClr val="3182F6"/>
                  </a:solidFill>
                </a:uFill>
                <a:latin typeface="Paperlogy 6 SemiBold" pitchFamily="34" charset="0"/>
                <a:ea typeface="Paperlogy 6 SemiBold" pitchFamily="34" charset="-122"/>
                <a:cs typeface="Paperlogy 6 SemiBold" pitchFamily="34" charset="-120"/>
              </a:rPr>
              <a:t>오후 번들거림이 확 줄었어요.</a:t>
            </a:r>
            <a:endParaRPr lang="en-US" sz="1200" dirty="0"/>
          </a:p>
        </p:txBody>
      </p:sp>
      <p:sp>
        <p:nvSpPr>
          <p:cNvPr id="40" name="누가 1"/>
          <p:cNvSpPr txBox="1"/>
          <p:nvPr/>
        </p:nvSpPr>
        <p:spPr>
          <a:xfrm>
            <a:off x="6083320" y="5409042"/>
            <a:ext cx="2508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누가</a:t>
            </a:r>
            <a:endParaRPr lang="en-US" sz="750" dirty="0"/>
          </a:p>
        </p:txBody>
      </p:sp>
      <p:sp>
        <p:nvSpPr>
          <p:cNvPr id="41" name="어떤 조건에서 1"/>
          <p:cNvSpPr txBox="1"/>
          <p:nvPr/>
        </p:nvSpPr>
        <p:spPr>
          <a:xfrm>
            <a:off x="7296912" y="5409042"/>
            <a:ext cx="7509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어떤 조건에서</a:t>
            </a:r>
            <a:endParaRPr lang="en-US" sz="750" dirty="0"/>
          </a:p>
        </p:txBody>
      </p:sp>
      <p:sp>
        <p:nvSpPr>
          <p:cNvPr id="42" name="어떤 효과를 1"/>
          <p:cNvSpPr txBox="1"/>
          <p:nvPr/>
        </p:nvSpPr>
        <p:spPr>
          <a:xfrm>
            <a:off x="8922624" y="5409042"/>
            <a:ext cx="65087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어떤 효과를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895106" cy="260330"/>
          </a:xfrm>
          <a:prstGeom prst="roundRect">
            <a:avLst>
              <a:gd name="adj" fmla="val 50018"/>
            </a:avLst>
          </a:prstGeom>
          <a:solidFill>
            <a:schemeClr val="accent1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Strategy 2</a:t>
            </a:r>
            <a:endParaRPr lang="en-US" sz="1000" dirty="0"/>
          </a:p>
        </p:txBody>
      </p:sp>
      <p:sp>
        <p:nvSpPr>
          <p:cNvPr id="3" name="라벨 2"/>
          <p:cNvSpPr/>
          <p:nvPr/>
        </p:nvSpPr>
        <p:spPr>
          <a:xfrm>
            <a:off x="1720626" y="749259"/>
            <a:ext cx="1602029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Track B · 사람을 설득하기</a:t>
            </a:r>
            <a:endParaRPr lang="en-US" sz="1000" dirty="0"/>
          </a:p>
        </p:txBody>
      </p:sp>
      <p:sp>
        <p:nvSpPr>
          <p:cNvPr id="4" name="투명성 중심의신뢰 마케팅 1"/>
          <p:cNvSpPr txBox="1"/>
          <p:nvPr/>
        </p:nvSpPr>
        <p:spPr>
          <a:xfrm>
            <a:off x="761970" y="1172627"/>
            <a:ext cx="31984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5184"/>
              </a:lnSpc>
              <a:buNone/>
            </a:pPr>
            <a:r>
              <a:rPr lang="en-US" sz="4800" spc="-312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투명성 중심의</a:t>
            </a:r>
            <a:endParaRPr lang="en-US" sz="4800" dirty="0"/>
          </a:p>
          <a:p>
            <a:pPr eaLnBrk="0" algn="l" indent="0" marL="0">
              <a:lnSpc>
                <a:spcPts val="5184"/>
              </a:lnSpc>
              <a:buNone/>
            </a:pPr>
            <a:r>
              <a:rPr lang="en-US" sz="4800" spc="-312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신뢰 마케팅</a:t>
            </a:r>
            <a:endParaRPr lang="en-US" sz="4800" dirty="0"/>
          </a:p>
        </p:txBody>
      </p:sp>
      <p:sp>
        <p:nvSpPr>
          <p:cNvPr id="5" name="소비자가 AI의 추천을 의심 없이 1"/>
          <p:cNvSpPr txBox="1"/>
          <p:nvPr/>
        </p:nvSpPr>
        <p:spPr>
          <a:xfrm>
            <a:off x="761970" y="2681204"/>
            <a:ext cx="40006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2160"/>
              </a:lnSpc>
              <a:buNone/>
            </a:pPr>
            <a:r>
              <a:rPr lang="en-US" sz="1350" spc="-54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소비자가 AI의 추천을 의심 없이 받아들이도록, </a:t>
            </a:r>
            <a:pPr eaLnBrk="0" algn="l" indent="0" marL="0">
              <a:lnSpc>
                <a:spcPts val="2160"/>
              </a:lnSpc>
              <a:buNone/>
            </a:pPr>
            <a:r>
              <a:rPr lang="en-US" sz="1350" spc="-54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“왜 이 제품이 당신에게 추천되었는지”</a:t>
            </a:r>
            <a:pPr eaLnBrk="0" algn="l" indent="0" marL="0">
              <a:lnSpc>
                <a:spcPts val="2160"/>
              </a:lnSpc>
              <a:buNone/>
            </a:pPr>
            <a:r>
              <a:rPr lang="en-US" sz="1350" spc="-54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 이유를 분명히 보여준다.</a:t>
            </a:r>
            <a:endParaRPr lang="en-US" sz="1350" dirty="0"/>
          </a:p>
        </p:txBody>
      </p:sp>
      <p:sp>
        <p:nvSpPr>
          <p:cNvPr id="6" name="카드 1"/>
          <p:cNvSpPr/>
          <p:nvPr/>
        </p:nvSpPr>
        <p:spPr>
          <a:xfrm>
            <a:off x="761970" y="4706142"/>
            <a:ext cx="4317980" cy="739384"/>
          </a:xfrm>
          <a:prstGeom prst="roundRect">
            <a:avLst>
              <a:gd name="adj" fmla="val 240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7" name="도형 1"/>
          <p:cNvSpPr/>
          <p:nvPr/>
        </p:nvSpPr>
        <p:spPr>
          <a:xfrm>
            <a:off x="952530" y="4871283"/>
            <a:ext cx="330190" cy="33019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100" spc="-16" kern="0" dirty="0">
                <a:solidFill>
                  <a:schemeClr val="accent2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XAI(설명 가능한 AI) 기반  1"/>
          <p:cNvSpPr txBox="1"/>
          <p:nvPr/>
        </p:nvSpPr>
        <p:spPr>
          <a:xfrm>
            <a:off x="1397020" y="4871283"/>
            <a:ext cx="2187976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50" spc="-5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XAI(설명 가능한 AI) 기반 큐레이션</a:t>
            </a:r>
            <a:endParaRPr lang="en-US" sz="1250" dirty="0"/>
          </a:p>
        </p:txBody>
      </p:sp>
      <p:sp>
        <p:nvSpPr>
          <p:cNvPr id="9" name="추천 사유와 적합도를 화면에 투명 1"/>
          <p:cNvSpPr txBox="1"/>
          <p:nvPr/>
        </p:nvSpPr>
        <p:spPr>
          <a:xfrm>
            <a:off x="1397020" y="5092019"/>
            <a:ext cx="2322942" cy="1869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추천 사유와 적합도를 화면에 투명하게 표시한다.</a:t>
            </a:r>
            <a:endParaRPr lang="en-US" sz="950" dirty="0"/>
          </a:p>
        </p:txBody>
      </p:sp>
      <p:sp>
        <p:nvSpPr>
          <p:cNvPr id="10" name="카드 2"/>
          <p:cNvSpPr/>
          <p:nvPr/>
        </p:nvSpPr>
        <p:spPr>
          <a:xfrm>
            <a:off x="761970" y="5547116"/>
            <a:ext cx="4317980" cy="739384"/>
          </a:xfrm>
          <a:prstGeom prst="roundRect">
            <a:avLst>
              <a:gd name="adj" fmla="val 240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11" name="도형 2"/>
          <p:cNvSpPr/>
          <p:nvPr/>
        </p:nvSpPr>
        <p:spPr>
          <a:xfrm>
            <a:off x="952530" y="5712257"/>
            <a:ext cx="330190" cy="33019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100" spc="-16" kern="0" dirty="0">
                <a:solidFill>
                  <a:schemeClr val="accent2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광고와 순수 추천의 명확한 분리 1"/>
          <p:cNvSpPr txBox="1"/>
          <p:nvPr/>
        </p:nvSpPr>
        <p:spPr>
          <a:xfrm>
            <a:off x="1397020" y="5712257"/>
            <a:ext cx="1921794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50" spc="-5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광고와 순수 추천의 명확한 분리</a:t>
            </a:r>
            <a:endParaRPr lang="en-US" sz="1250" dirty="0"/>
          </a:p>
        </p:txBody>
      </p:sp>
      <p:sp>
        <p:nvSpPr>
          <p:cNvPr id="13" name="알고리즘의 공정성을 확보해 AI  1"/>
          <p:cNvSpPr txBox="1"/>
          <p:nvPr/>
        </p:nvSpPr>
        <p:spPr>
          <a:xfrm>
            <a:off x="1397020" y="5933084"/>
            <a:ext cx="2932481" cy="1869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알고리즘의 공정성을 확보해 AI 추천에 대한 불신을 해소한다.</a:t>
            </a:r>
            <a:endParaRPr lang="en-US" sz="950" dirty="0"/>
          </a:p>
        </p:txBody>
      </p:sp>
      <p:sp>
        <p:nvSpPr>
          <p:cNvPr id="14" name="라벨 3"/>
          <p:cNvSpPr/>
          <p:nvPr/>
        </p:nvSpPr>
        <p:spPr>
          <a:xfrm>
            <a:off x="6096030" y="2743200"/>
            <a:ext cx="1055035" cy="260330"/>
          </a:xfrm>
          <a:prstGeom prst="roundRect">
            <a:avLst>
              <a:gd name="adj" fmla="val 5001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90500" dist="63500" dir="5400000">
              <a:srgbClr val="191F28">
                <a:alpha val="10000"/>
              </a:srgbClr>
            </a:outerShdw>
          </a:effectLst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1 추천 이유 표시</a:t>
            </a:r>
            <a:endParaRPr lang="en-US" sz="1000" dirty="0"/>
          </a:p>
        </p:txBody>
      </p:sp>
      <p:sp>
        <p:nvSpPr>
          <p:cNvPr id="15" name="구분선 1"/>
          <p:cNvSpPr/>
          <p:nvPr/>
        </p:nvSpPr>
        <p:spPr>
          <a:xfrm>
            <a:off x="7239853" y="2857500"/>
            <a:ext cx="114300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6" name="연결점 1"/>
          <p:cNvSpPr/>
          <p:nvPr/>
        </p:nvSpPr>
        <p:spPr>
          <a:xfrm>
            <a:off x="8306684" y="2819370"/>
            <a:ext cx="76170" cy="7617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라벨 4"/>
          <p:cNvSpPr/>
          <p:nvPr/>
        </p:nvSpPr>
        <p:spPr>
          <a:xfrm>
            <a:off x="6096030" y="4444990"/>
            <a:ext cx="1055035" cy="260330"/>
          </a:xfrm>
          <a:prstGeom prst="roundRect">
            <a:avLst>
              <a:gd name="adj" fmla="val 5001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90500" dist="63500" dir="5400000">
              <a:srgbClr val="191F28">
                <a:alpha val="10000"/>
              </a:srgbClr>
            </a:outerShdw>
          </a:effectLst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2 광고 영역 분리</a:t>
            </a:r>
            <a:endParaRPr lang="en-US" sz="1000" dirty="0"/>
          </a:p>
        </p:txBody>
      </p:sp>
      <p:sp>
        <p:nvSpPr>
          <p:cNvPr id="18" name="구분선 2"/>
          <p:cNvSpPr/>
          <p:nvPr/>
        </p:nvSpPr>
        <p:spPr>
          <a:xfrm>
            <a:off x="7239853" y="4559290"/>
            <a:ext cx="114300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19" name="연결점 2"/>
          <p:cNvSpPr/>
          <p:nvPr/>
        </p:nvSpPr>
        <p:spPr>
          <a:xfrm>
            <a:off x="8306684" y="4521159"/>
            <a:ext cx="76170" cy="7617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휴대폰 1"/>
          <p:cNvSpPr/>
          <p:nvPr/>
        </p:nvSpPr>
        <p:spPr>
          <a:xfrm>
            <a:off x="8407359" y="888980"/>
            <a:ext cx="3022641" cy="5460980"/>
          </a:xfrm>
          <a:prstGeom prst="roundRect">
            <a:avLst>
              <a:gd name="adj" fmla="val 13444"/>
            </a:avLst>
          </a:prstGeom>
          <a:solidFill>
            <a:schemeClr val="bg1"/>
          </a:solidFill>
          <a:ln w="12700">
            <a:solidFill>
              <a:srgbClr val="E5E8EB"/>
            </a:solidFill>
            <a:prstDash val="solid"/>
          </a:ln>
          <a:effectLst>
            <a:outerShdw sx="100000" sy="100000" kx="0" ky="0" algn="bl" rotWithShape="0" blurRad="571500" dist="254000" dir="5400000">
              <a:srgbClr val="191F28">
                <a:alpha val="14000"/>
              </a:srgbClr>
            </a:outerShdw>
          </a:effectLst>
        </p:spPr>
      </p:sp>
      <p:sp>
        <p:nvSpPr>
          <p:cNvPr id="21" name="휴대폰 화면 1"/>
          <p:cNvSpPr/>
          <p:nvPr/>
        </p:nvSpPr>
        <p:spPr>
          <a:xfrm>
            <a:off x="8496330" y="977859"/>
            <a:ext cx="2844790" cy="5283220"/>
          </a:xfrm>
          <a:prstGeom prst="roundRect">
            <a:avLst>
              <a:gd name="adj" fmla="val 11607"/>
            </a:avLst>
          </a:prstGeom>
          <a:solidFill>
            <a:schemeClr val="bg2"/>
          </a:solidFill>
          <a:ln/>
        </p:spPr>
      </p:sp>
      <p:sp>
        <p:nvSpPr>
          <p:cNvPr id="22" name="9:41 1"/>
          <p:cNvSpPr txBox="1"/>
          <p:nvPr/>
        </p:nvSpPr>
        <p:spPr>
          <a:xfrm>
            <a:off x="8737641" y="1200150"/>
            <a:ext cx="25969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-16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9:41</a:t>
            </a:r>
            <a:endParaRPr lang="en-US" sz="750" dirty="0"/>
          </a:p>
        </p:txBody>
      </p:sp>
      <p:sp>
        <p:nvSpPr>
          <p:cNvPr id="23" name="도형 3"/>
          <p:cNvSpPr/>
          <p:nvPr/>
        </p:nvSpPr>
        <p:spPr>
          <a:xfrm>
            <a:off x="9651401" y="1168420"/>
            <a:ext cx="609630" cy="17775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24" name="5G 1"/>
          <p:cNvSpPr txBox="1"/>
          <p:nvPr/>
        </p:nvSpPr>
        <p:spPr>
          <a:xfrm>
            <a:off x="10965942" y="1200150"/>
            <a:ext cx="18461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-16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5G</a:t>
            </a:r>
            <a:endParaRPr lang="en-US" sz="750" dirty="0"/>
          </a:p>
        </p:txBody>
      </p:sp>
      <p:sp>
        <p:nvSpPr>
          <p:cNvPr id="25" name="AI 추천 1"/>
          <p:cNvSpPr txBox="1"/>
          <p:nvPr/>
        </p:nvSpPr>
        <p:spPr>
          <a:xfrm>
            <a:off x="8699510" y="1485900"/>
            <a:ext cx="591434" cy="222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500" spc="-75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AI 추천</a:t>
            </a:r>
            <a:endParaRPr lang="en-US" sz="1500" dirty="0"/>
          </a:p>
        </p:txBody>
      </p:sp>
      <p:sp>
        <p:nvSpPr>
          <p:cNvPr id="26" name="고객님을 위한 Top 3 · 예시 1"/>
          <p:cNvSpPr txBox="1"/>
          <p:nvPr/>
        </p:nvSpPr>
        <p:spPr>
          <a:xfrm>
            <a:off x="8699510" y="1733520"/>
            <a:ext cx="1165037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고객님을 위한 Top 3 · 예시</a:t>
            </a:r>
            <a:endParaRPr lang="en-US" sz="800" dirty="0"/>
          </a:p>
        </p:txBody>
      </p:sp>
      <p:sp>
        <p:nvSpPr>
          <p:cNvPr id="27" name="카드 3"/>
          <p:cNvSpPr/>
          <p:nvPr/>
        </p:nvSpPr>
        <p:spPr>
          <a:xfrm>
            <a:off x="8648670" y="1943100"/>
            <a:ext cx="2540020" cy="1812158"/>
          </a:xfrm>
          <a:prstGeom prst="roundRect">
            <a:avLst>
              <a:gd name="adj" fmla="val 8412"/>
            </a:avLst>
          </a:prstGeom>
          <a:solidFill>
            <a:schemeClr val="bg1"/>
          </a:solidFill>
          <a:ln/>
        </p:spPr>
      </p:sp>
      <p:sp>
        <p:nvSpPr>
          <p:cNvPr id="28" name="도형 4"/>
          <p:cNvSpPr/>
          <p:nvPr/>
        </p:nvSpPr>
        <p:spPr>
          <a:xfrm>
            <a:off x="8775680" y="2089130"/>
            <a:ext cx="508041" cy="508041"/>
          </a:xfrm>
          <a:prstGeom prst="roundRect">
            <a:avLst>
              <a:gd name="adj" fmla="val 22498"/>
            </a:avLst>
          </a:prstGeom>
          <a:solidFill>
            <a:srgbClr val="EEF2F7"/>
          </a:solidFill>
          <a:ln/>
        </p:spPr>
      </p:sp>
      <p:pic>
        <p:nvPicPr>
          <p:cNvPr id="29" name="AI 구체 1" descr="AI 구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5230" y="2064990"/>
            <a:ext cx="568940" cy="568940"/>
          </a:xfrm>
          <a:prstGeom prst="rect">
            <a:avLst/>
          </a:prstGeom>
        </p:spPr>
      </p:pic>
      <p:sp>
        <p:nvSpPr>
          <p:cNvPr id="30" name="수분 선크림 50ml 1"/>
          <p:cNvSpPr txBox="1"/>
          <p:nvPr/>
        </p:nvSpPr>
        <p:spPr>
          <a:xfrm>
            <a:off x="9385310" y="2076420"/>
            <a:ext cx="999531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42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수분 선크림 50ml</a:t>
            </a:r>
            <a:endParaRPr lang="en-US" sz="1050" dirty="0"/>
          </a:p>
        </p:txBody>
      </p:sp>
      <p:sp>
        <p:nvSpPr>
          <p:cNvPr id="31" name="23,000원 1"/>
          <p:cNvSpPr txBox="1"/>
          <p:nvPr/>
        </p:nvSpPr>
        <p:spPr>
          <a:xfrm>
            <a:off x="9385310" y="2254270"/>
            <a:ext cx="490210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23,000원</a:t>
            </a:r>
            <a:endParaRPr lang="en-US" sz="800" dirty="0"/>
          </a:p>
        </p:txBody>
      </p:sp>
      <p:sp>
        <p:nvSpPr>
          <p:cNvPr id="32" name="도형 5"/>
          <p:cNvSpPr/>
          <p:nvPr/>
        </p:nvSpPr>
        <p:spPr>
          <a:xfrm>
            <a:off x="9385310" y="2425720"/>
            <a:ext cx="563453" cy="165141"/>
          </a:xfrm>
          <a:prstGeom prst="roundRect">
            <a:avLst>
              <a:gd name="adj" fmla="val 30786"/>
            </a:avLst>
          </a:prstGeom>
          <a:solidFill>
            <a:schemeClr val="accent3"/>
          </a:solidFill>
          <a:ln/>
        </p:spPr>
        <p:txBody>
          <a:bodyPr wrap="none" lIns="57150" tIns="31750" rIns="57150" bIns="25400" rtlCol="0" anchor="ctr"/>
          <a:lstStyle/>
          <a:p>
            <a:pPr eaLnBrk="0" algn="ctr" indent="0" marL="0">
              <a:buNone/>
            </a:pPr>
            <a:r>
              <a:rPr lang="en-US" sz="700" spc="-16" kern="0" dirty="0">
                <a:solidFill>
                  <a:schemeClr val="accent2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적합도 98%</a:t>
            </a:r>
            <a:endParaRPr lang="en-US" sz="700" dirty="0"/>
          </a:p>
        </p:txBody>
      </p:sp>
      <p:sp>
        <p:nvSpPr>
          <p:cNvPr id="33" name="구분선 3"/>
          <p:cNvSpPr/>
          <p:nvPr/>
        </p:nvSpPr>
        <p:spPr>
          <a:xfrm>
            <a:off x="8775680" y="2689250"/>
            <a:ext cx="2286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</p:sp>
      <p:sp>
        <p:nvSpPr>
          <p:cNvPr id="34" name="왜 이 제품을 추천했나요? 1"/>
          <p:cNvSpPr txBox="1"/>
          <p:nvPr/>
        </p:nvSpPr>
        <p:spPr>
          <a:xfrm>
            <a:off x="8775680" y="2781330"/>
            <a:ext cx="1050006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spc="-16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왜 이 제품을 추천했나요?</a:t>
            </a:r>
            <a:endParaRPr lang="en-US" sz="800" dirty="0"/>
          </a:p>
        </p:txBody>
      </p:sp>
      <p:sp>
        <p:nvSpPr>
          <p:cNvPr id="35" name="고객님이 최근 검색한 A 기능과  1"/>
          <p:cNvSpPr txBox="1"/>
          <p:nvPr/>
        </p:nvSpPr>
        <p:spPr>
          <a:xfrm>
            <a:off x="8775680" y="2948940"/>
            <a:ext cx="2068373" cy="345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360"/>
              </a:lnSpc>
              <a:buNone/>
            </a:pPr>
            <a:r>
              <a:rPr lang="en-US" sz="850" spc="-16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고객님이 최근 검색한 </a:t>
            </a:r>
            <a:pPr eaLnBrk="0" algn="l" indent="0" marL="0">
              <a:lnSpc>
                <a:spcPts val="1360"/>
              </a:lnSpc>
              <a:buNone/>
            </a:pPr>
            <a:r>
              <a:rPr lang="en-US" sz="850" spc="-1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 기능</a:t>
            </a:r>
            <a:pPr eaLnBrk="0" algn="l" indent="0" marL="0">
              <a:lnSpc>
                <a:spcPts val="1360"/>
              </a:lnSpc>
              <a:buNone/>
            </a:pPr>
            <a:r>
              <a:rPr lang="en-US" sz="850" spc="-16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과 </a:t>
            </a:r>
            <a:pPr eaLnBrk="0" algn="l" indent="0" marL="0">
              <a:lnSpc>
                <a:spcPts val="1360"/>
              </a:lnSpc>
              <a:buNone/>
            </a:pPr>
            <a:r>
              <a:rPr lang="en-US" sz="850" spc="-1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B 가격대</a:t>
            </a:r>
            <a:pPr eaLnBrk="0" algn="l" indent="0" marL="0">
              <a:lnSpc>
                <a:spcPts val="1360"/>
              </a:lnSpc>
              <a:buNone/>
            </a:pPr>
            <a:r>
              <a:rPr lang="en-US" sz="850" spc="-16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에 가장 적합하여 AI가 </a:t>
            </a:r>
            <a:pPr eaLnBrk="0" algn="l" indent="0" marL="0">
              <a:lnSpc>
                <a:spcPts val="1360"/>
              </a:lnSpc>
              <a:buNone/>
            </a:pPr>
            <a:r>
              <a:rPr lang="en-US" sz="850" spc="-1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98% 확률</a:t>
            </a:r>
            <a:pPr eaLnBrk="0" algn="l" indent="0" marL="0">
              <a:lnSpc>
                <a:spcPts val="1360"/>
              </a:lnSpc>
              <a:buNone/>
            </a:pPr>
            <a:r>
              <a:rPr lang="en-US" sz="850" spc="-16" kern="0" dirty="0">
                <a:solidFill>
                  <a:schemeClr val="tx2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로 추천했습니다.</a:t>
            </a:r>
            <a:endParaRPr lang="en-US" sz="850" dirty="0"/>
          </a:p>
        </p:txBody>
      </p:sp>
      <p:sp>
        <p:nvSpPr>
          <p:cNvPr id="36" name="최근 검색 · A 기능 1"/>
          <p:cNvSpPr txBox="1"/>
          <p:nvPr/>
        </p:nvSpPr>
        <p:spPr>
          <a:xfrm>
            <a:off x="8915400" y="3361517"/>
            <a:ext cx="7116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최근 검색 · A 기능</a:t>
            </a:r>
            <a:endParaRPr lang="en-US" sz="750" dirty="0"/>
          </a:p>
        </p:txBody>
      </p:sp>
      <p:pic>
        <p:nvPicPr>
          <p:cNvPr id="37" name="아이콘 1" descr="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2970" y="3355208"/>
            <a:ext cx="127010" cy="127010"/>
          </a:xfrm>
          <a:prstGeom prst="rect">
            <a:avLst/>
          </a:prstGeom>
        </p:spPr>
      </p:pic>
      <p:sp>
        <p:nvSpPr>
          <p:cNvPr id="38" name="선호 가격대 · B 1"/>
          <p:cNvSpPr txBox="1"/>
          <p:nvPr/>
        </p:nvSpPr>
        <p:spPr>
          <a:xfrm>
            <a:off x="8915400" y="3513948"/>
            <a:ext cx="61228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선호 가격대 · B</a:t>
            </a:r>
            <a:endParaRPr lang="en-US" sz="750" dirty="0"/>
          </a:p>
        </p:txBody>
      </p:sp>
      <p:pic>
        <p:nvPicPr>
          <p:cNvPr id="39" name="아이콘 2" descr="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970" y="3507547"/>
            <a:ext cx="127010" cy="127010"/>
          </a:xfrm>
          <a:prstGeom prst="rect">
            <a:avLst/>
          </a:prstGeom>
        </p:spPr>
      </p:pic>
      <p:sp>
        <p:nvSpPr>
          <p:cNvPr id="40" name="여기부터 광고 1"/>
          <p:cNvSpPr txBox="1"/>
          <p:nvPr/>
        </p:nvSpPr>
        <p:spPr>
          <a:xfrm>
            <a:off x="9681393" y="3844138"/>
            <a:ext cx="525597" cy="1079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00" spc="-16" kern="0" dirty="0">
                <a:solidFill>
                  <a:schemeClr val="accent5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여기부터 광고</a:t>
            </a:r>
            <a:endParaRPr lang="en-US" sz="700" dirty="0"/>
          </a:p>
        </p:txBody>
      </p:sp>
      <p:sp>
        <p:nvSpPr>
          <p:cNvPr id="41" name="광고 구분선 1"/>
          <p:cNvSpPr/>
          <p:nvPr/>
        </p:nvSpPr>
        <p:spPr>
          <a:xfrm>
            <a:off x="8648670" y="3898087"/>
            <a:ext cx="956462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dash"/>
          </a:ln>
        </p:spPr>
      </p:sp>
      <p:sp>
        <p:nvSpPr>
          <p:cNvPr id="42" name="광고 구분선 2"/>
          <p:cNvSpPr/>
          <p:nvPr/>
        </p:nvSpPr>
        <p:spPr>
          <a:xfrm>
            <a:off x="10232319" y="3898087"/>
            <a:ext cx="956371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dash"/>
          </a:ln>
        </p:spPr>
      </p:sp>
      <p:sp>
        <p:nvSpPr>
          <p:cNvPr id="43" name="카드 4"/>
          <p:cNvSpPr/>
          <p:nvPr/>
        </p:nvSpPr>
        <p:spPr>
          <a:xfrm>
            <a:off x="8648670" y="4041008"/>
            <a:ext cx="2540020" cy="781080"/>
          </a:xfrm>
          <a:prstGeom prst="roundRect">
            <a:avLst>
              <a:gd name="adj" fmla="val 19515"/>
            </a:avLst>
          </a:prstGeom>
          <a:solidFill>
            <a:schemeClr val="bg1">
              <a:alpha val="80000"/>
            </a:schemeClr>
          </a:solidFill>
          <a:ln/>
        </p:spPr>
      </p:sp>
      <p:sp>
        <p:nvSpPr>
          <p:cNvPr id="44" name="도형 6"/>
          <p:cNvSpPr/>
          <p:nvPr/>
        </p:nvSpPr>
        <p:spPr>
          <a:xfrm>
            <a:off x="8775680" y="4187038"/>
            <a:ext cx="508041" cy="508041"/>
          </a:xfrm>
          <a:prstGeom prst="roundRect">
            <a:avLst>
              <a:gd name="adj" fmla="val 22498"/>
            </a:avLst>
          </a:prstGeom>
          <a:solidFill>
            <a:srgbClr val="EEF2F7">
              <a:alpha val="80000"/>
            </a:srgbClr>
          </a:solidFill>
          <a:ln/>
        </p:spPr>
      </p:sp>
      <p:pic>
        <p:nvPicPr>
          <p:cNvPr id="45" name="사람 구체 1" descr="사람 구체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8760501" y="4178168"/>
            <a:ext cx="538490" cy="538490"/>
          </a:xfrm>
          <a:prstGeom prst="rect">
            <a:avLst/>
          </a:prstGeom>
        </p:spPr>
      </p:pic>
      <p:sp>
        <p:nvSpPr>
          <p:cNvPr id="46" name="스폰서 상품 1"/>
          <p:cNvSpPr txBox="1"/>
          <p:nvPr/>
        </p:nvSpPr>
        <p:spPr>
          <a:xfrm>
            <a:off x="9385310" y="4183837"/>
            <a:ext cx="634868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42" kern="0" dirty="0">
                <a:solidFill>
                  <a:srgbClr val="474C53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스폰서 상품</a:t>
            </a:r>
            <a:endParaRPr lang="en-US" sz="1050" dirty="0"/>
          </a:p>
        </p:txBody>
      </p:sp>
      <p:sp>
        <p:nvSpPr>
          <p:cNvPr id="47" name="광고비를 받고 노출하는 상품 1"/>
          <p:cNvSpPr txBox="1"/>
          <p:nvPr/>
        </p:nvSpPr>
        <p:spPr>
          <a:xfrm>
            <a:off x="9385310" y="4361688"/>
            <a:ext cx="1160374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spc="-16" kern="0" dirty="0">
                <a:solidFill>
                  <a:srgbClr val="A2AAB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광고비를 받고 노출하는 상품</a:t>
            </a:r>
            <a:endParaRPr lang="en-US" sz="800" dirty="0"/>
          </a:p>
        </p:txBody>
      </p:sp>
      <p:sp>
        <p:nvSpPr>
          <p:cNvPr id="48" name="도형 7"/>
          <p:cNvSpPr/>
          <p:nvPr/>
        </p:nvSpPr>
        <p:spPr>
          <a:xfrm>
            <a:off x="9385310" y="4533138"/>
            <a:ext cx="242865" cy="146030"/>
          </a:xfrm>
          <a:prstGeom prst="roundRect">
            <a:avLst>
              <a:gd name="adj" fmla="val 26111"/>
            </a:avLst>
          </a:prstGeom>
          <a:solidFill>
            <a:schemeClr val="bg2">
              <a:alpha val="80000"/>
            </a:schemeClr>
          </a:solidFill>
          <a:ln/>
        </p:spPr>
        <p:txBody>
          <a:bodyPr wrap="none" lIns="50800" tIns="25400" rIns="50800" bIns="19050" rtlCol="0" anchor="ctr"/>
          <a:lstStyle/>
          <a:p>
            <a:pPr eaLnBrk="0" algn="ctr" indent="0" marL="0">
              <a:buNone/>
            </a:pPr>
            <a:r>
              <a:rPr lang="en-US" sz="650" spc="-16" kern="0" dirty="0">
                <a:solidFill>
                  <a:srgbClr val="89919D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광고</a:t>
            </a:r>
            <a:endParaRPr lang="en-US" sz="650" dirty="0"/>
          </a:p>
        </p:txBody>
      </p:sp>
      <p:sp>
        <p:nvSpPr>
          <p:cNvPr id="49" name="도형 8"/>
          <p:cNvSpPr/>
          <p:nvPr/>
        </p:nvSpPr>
        <p:spPr>
          <a:xfrm>
            <a:off x="8648670" y="5727710"/>
            <a:ext cx="2540020" cy="381030"/>
          </a:xfrm>
          <a:prstGeom prst="roundRect">
            <a:avLst>
              <a:gd name="adj" fmla="val 49988"/>
            </a:avLst>
          </a:prstGeom>
          <a:solidFill>
            <a:schemeClr val="bg1"/>
          </a:solidFill>
          <a:ln/>
        </p:spPr>
      </p:sp>
      <p:sp>
        <p:nvSpPr>
          <p:cNvPr id="50" name="조건을 바꿔 다시 물어보세요 1"/>
          <p:cNvSpPr txBox="1"/>
          <p:nvPr/>
        </p:nvSpPr>
        <p:spPr>
          <a:xfrm>
            <a:off x="8788390" y="5857921"/>
            <a:ext cx="1160374" cy="120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조건을 바꿔 다시 물어보세요</a:t>
            </a:r>
            <a:endParaRPr lang="en-US" sz="800" dirty="0"/>
          </a:p>
        </p:txBody>
      </p:sp>
      <p:sp>
        <p:nvSpPr>
          <p:cNvPr id="51" name="도형 9"/>
          <p:cNvSpPr/>
          <p:nvPr/>
        </p:nvSpPr>
        <p:spPr>
          <a:xfrm>
            <a:off x="10871210" y="5791170"/>
            <a:ext cx="254020" cy="2540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2" name="아이콘 3" descr="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8360" y="5848320"/>
            <a:ext cx="139720" cy="139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895106" cy="260330"/>
          </a:xfrm>
          <a:prstGeom prst="roundRect">
            <a:avLst>
              <a:gd name="adj" fmla="val 50018"/>
            </a:avLst>
          </a:prstGeom>
          <a:solidFill>
            <a:schemeClr val="accent1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Strategy 3</a:t>
            </a:r>
            <a:endParaRPr lang="en-US" sz="1000" dirty="0"/>
          </a:p>
        </p:txBody>
      </p:sp>
      <p:sp>
        <p:nvSpPr>
          <p:cNvPr id="3" name="라벨 2"/>
          <p:cNvSpPr/>
          <p:nvPr/>
        </p:nvSpPr>
        <p:spPr>
          <a:xfrm>
            <a:off x="1720626" y="749259"/>
            <a:ext cx="1602029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Track B · 사람을 설득하기</a:t>
            </a:r>
            <a:endParaRPr lang="en-US" sz="1000" dirty="0"/>
          </a:p>
        </p:txBody>
      </p:sp>
      <p:sp>
        <p:nvSpPr>
          <p:cNvPr id="4" name="Text 3"/>
          <p:cNvSpPr/>
          <p:nvPr>
            <p:ph idx="103" type="title" hasCustomPrompt="1"/>
          </p:nvPr>
        </p:nvSpPr>
        <p:spPr>
          <a:xfrm>
            <a:off x="761970" y="1148121"/>
            <a:ext cx="10668030" cy="1122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4320"/>
              </a:lnSpc>
              <a:buNone/>
            </a:pPr>
            <a:r>
              <a:rPr lang="en-US" sz="3600" spc="-18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‘최종 선택’을 이끄는 감성적 검증</a:t>
            </a:r>
            <a:endParaRPr lang="en-US" sz="3600" dirty="0"/>
          </a:p>
        </p:txBody>
      </p:sp>
      <p:sp>
        <p:nvSpPr>
          <p:cNvPr id="5" name="AI가 선택지를 2~3개로 좁혀줘 1"/>
          <p:cNvSpPr txBox="1"/>
          <p:nvPr/>
        </p:nvSpPr>
        <p:spPr>
          <a:xfrm>
            <a:off x="761970" y="1786829"/>
            <a:ext cx="6494526" cy="209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400" spc="-42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AI가 선택지를 2~3개로 좁혀줘도, 결제 버튼을 누르는 순간엔 사람의 감성적 확신이 필요하다.</a:t>
            </a:r>
            <a:endParaRPr lang="en-US" sz="1400" dirty="0"/>
          </a:p>
        </p:txBody>
      </p:sp>
      <p:sp>
        <p:nvSpPr>
          <p:cNvPr id="6" name="카드 1"/>
          <p:cNvSpPr/>
          <p:nvPr/>
        </p:nvSpPr>
        <p:spPr>
          <a:xfrm>
            <a:off x="761970" y="2476470"/>
            <a:ext cx="2350191" cy="2984510"/>
          </a:xfrm>
          <a:prstGeom prst="roundRect">
            <a:avLst>
              <a:gd name="adj" fmla="val 108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7" name="N 1"/>
          <p:cNvSpPr txBox="1"/>
          <p:nvPr/>
        </p:nvSpPr>
        <p:spPr>
          <a:xfrm>
            <a:off x="1003280" y="2705070"/>
            <a:ext cx="773674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0" spc="-450" kern="0" dirty="0">
                <a:solidFill>
                  <a:schemeClr val="accent6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N</a:t>
            </a:r>
            <a:endParaRPr lang="en-US" sz="7500" dirty="0"/>
          </a:p>
        </p:txBody>
      </p:sp>
      <p:sp>
        <p:nvSpPr>
          <p:cNvPr id="8" name="전체 상품 1"/>
          <p:cNvSpPr txBox="1"/>
          <p:nvPr/>
        </p:nvSpPr>
        <p:spPr>
          <a:xfrm>
            <a:off x="1003280" y="3625870"/>
            <a:ext cx="590337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00" spc="-4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전체 상품</a:t>
            </a:r>
            <a:endParaRPr lang="en-US" sz="1200" dirty="0"/>
          </a:p>
        </p:txBody>
      </p:sp>
      <p:sp>
        <p:nvSpPr>
          <p:cNvPr id="9" name="AI가 조건에 맞게 탐색·비교 1"/>
          <p:cNvSpPr txBox="1"/>
          <p:nvPr/>
        </p:nvSpPr>
        <p:spPr>
          <a:xfrm>
            <a:off x="1003280" y="3829050"/>
            <a:ext cx="1283909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AI가 조건에 맞게 탐색·비교</a:t>
            </a:r>
            <a:endParaRPr lang="en-US" sz="900" dirty="0"/>
          </a:p>
        </p:txBody>
      </p:sp>
      <p:sp>
        <p:nvSpPr>
          <p:cNvPr id="10" name="도형 1"/>
          <p:cNvSpPr/>
          <p:nvPr/>
        </p:nvSpPr>
        <p:spPr>
          <a:xfrm>
            <a:off x="1003280" y="4563770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11" name="도형 2"/>
          <p:cNvSpPr/>
          <p:nvPr/>
        </p:nvSpPr>
        <p:spPr>
          <a:xfrm>
            <a:off x="1243127" y="4563770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12" name="도형 3"/>
          <p:cNvSpPr/>
          <p:nvPr/>
        </p:nvSpPr>
        <p:spPr>
          <a:xfrm>
            <a:off x="1482882" y="4563770"/>
            <a:ext cx="189006" cy="189006"/>
          </a:xfrm>
          <a:prstGeom prst="ellipse">
            <a:avLst/>
          </a:prstGeom>
          <a:solidFill>
            <a:srgbClr val="93BFFA"/>
          </a:solidFill>
          <a:ln/>
        </p:spPr>
      </p:sp>
      <p:sp>
        <p:nvSpPr>
          <p:cNvPr id="13" name="도형 4"/>
          <p:cNvSpPr/>
          <p:nvPr/>
        </p:nvSpPr>
        <p:spPr>
          <a:xfrm>
            <a:off x="1722730" y="4563770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14" name="도형 5"/>
          <p:cNvSpPr/>
          <p:nvPr/>
        </p:nvSpPr>
        <p:spPr>
          <a:xfrm>
            <a:off x="1962577" y="4563770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15" name="도형 6"/>
          <p:cNvSpPr/>
          <p:nvPr/>
        </p:nvSpPr>
        <p:spPr>
          <a:xfrm>
            <a:off x="2202332" y="4563770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16" name="도형 7"/>
          <p:cNvSpPr/>
          <p:nvPr/>
        </p:nvSpPr>
        <p:spPr>
          <a:xfrm>
            <a:off x="2442180" y="4563770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17" name="도형 8"/>
          <p:cNvSpPr/>
          <p:nvPr/>
        </p:nvSpPr>
        <p:spPr>
          <a:xfrm>
            <a:off x="2682027" y="4563770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18" name="도형 9"/>
          <p:cNvSpPr/>
          <p:nvPr/>
        </p:nvSpPr>
        <p:spPr>
          <a:xfrm>
            <a:off x="1003280" y="4803618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19" name="도형 10"/>
          <p:cNvSpPr/>
          <p:nvPr/>
        </p:nvSpPr>
        <p:spPr>
          <a:xfrm>
            <a:off x="1243127" y="4803618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20" name="도형 11"/>
          <p:cNvSpPr/>
          <p:nvPr/>
        </p:nvSpPr>
        <p:spPr>
          <a:xfrm>
            <a:off x="1482882" y="4803618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21" name="도형 12"/>
          <p:cNvSpPr/>
          <p:nvPr/>
        </p:nvSpPr>
        <p:spPr>
          <a:xfrm>
            <a:off x="1722730" y="4803618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22" name="도형 13"/>
          <p:cNvSpPr/>
          <p:nvPr/>
        </p:nvSpPr>
        <p:spPr>
          <a:xfrm>
            <a:off x="1962577" y="4803618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23" name="도형 14"/>
          <p:cNvSpPr/>
          <p:nvPr/>
        </p:nvSpPr>
        <p:spPr>
          <a:xfrm>
            <a:off x="2202332" y="4803618"/>
            <a:ext cx="189006" cy="189006"/>
          </a:xfrm>
          <a:prstGeom prst="ellipse">
            <a:avLst/>
          </a:prstGeom>
          <a:solidFill>
            <a:srgbClr val="93BFFA"/>
          </a:solidFill>
          <a:ln/>
        </p:spPr>
      </p:sp>
      <p:sp>
        <p:nvSpPr>
          <p:cNvPr id="24" name="도형 15"/>
          <p:cNvSpPr/>
          <p:nvPr/>
        </p:nvSpPr>
        <p:spPr>
          <a:xfrm>
            <a:off x="2442180" y="4803618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25" name="도형 16"/>
          <p:cNvSpPr/>
          <p:nvPr/>
        </p:nvSpPr>
        <p:spPr>
          <a:xfrm>
            <a:off x="2682027" y="4803618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26" name="도형 17"/>
          <p:cNvSpPr/>
          <p:nvPr/>
        </p:nvSpPr>
        <p:spPr>
          <a:xfrm>
            <a:off x="1003280" y="5043373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27" name="도형 18"/>
          <p:cNvSpPr/>
          <p:nvPr/>
        </p:nvSpPr>
        <p:spPr>
          <a:xfrm>
            <a:off x="1243127" y="5043373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28" name="도형 19"/>
          <p:cNvSpPr/>
          <p:nvPr/>
        </p:nvSpPr>
        <p:spPr>
          <a:xfrm>
            <a:off x="1482882" y="5043373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29" name="도형 20"/>
          <p:cNvSpPr/>
          <p:nvPr/>
        </p:nvSpPr>
        <p:spPr>
          <a:xfrm>
            <a:off x="1722730" y="5043373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30" name="도형 21"/>
          <p:cNvSpPr/>
          <p:nvPr/>
        </p:nvSpPr>
        <p:spPr>
          <a:xfrm>
            <a:off x="1962577" y="5043373"/>
            <a:ext cx="189006" cy="189006"/>
          </a:xfrm>
          <a:prstGeom prst="ellipse">
            <a:avLst/>
          </a:prstGeom>
          <a:solidFill>
            <a:srgbClr val="93BFFA"/>
          </a:solidFill>
          <a:ln/>
        </p:spPr>
      </p:sp>
      <p:sp>
        <p:nvSpPr>
          <p:cNvPr id="31" name="도형 22"/>
          <p:cNvSpPr/>
          <p:nvPr/>
        </p:nvSpPr>
        <p:spPr>
          <a:xfrm>
            <a:off x="2202332" y="5043373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32" name="도형 23"/>
          <p:cNvSpPr/>
          <p:nvPr/>
        </p:nvSpPr>
        <p:spPr>
          <a:xfrm>
            <a:off x="2442180" y="5043373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33" name="도형 24"/>
          <p:cNvSpPr/>
          <p:nvPr/>
        </p:nvSpPr>
        <p:spPr>
          <a:xfrm>
            <a:off x="2682027" y="5043373"/>
            <a:ext cx="189006" cy="189006"/>
          </a:xfrm>
          <a:prstGeom prst="ellipse">
            <a:avLst/>
          </a:prstGeom>
          <a:solidFill>
            <a:srgbClr val="E5E8EB"/>
          </a:solidFill>
          <a:ln/>
        </p:spPr>
      </p:sp>
      <p:sp>
        <p:nvSpPr>
          <p:cNvPr id="34" name="진행 화살표 1"/>
          <p:cNvSpPr/>
          <p:nvPr/>
        </p:nvSpPr>
        <p:spPr>
          <a:xfrm>
            <a:off x="3228655" y="3896898"/>
            <a:ext cx="71872" cy="143652"/>
          </a:xfrm>
          <a:custGeom>
            <a:avLst/>
            <a:gdLst/>
            <a:ahLst/>
            <a:cxnLst/>
            <a:rect l="l" t="t" r="r" b="b"/>
            <a:pathLst>
              <a:path w="71872" h="143652">
                <a:moveTo>
                  <a:pt x="0" y="0"/>
                </a:moveTo>
                <a:lnTo>
                  <a:pt x="71872" y="71872"/>
                </a:lnTo>
                <a:lnTo>
                  <a:pt x="0" y="143652"/>
                </a:lnTo>
              </a:path>
            </a:pathLst>
          </a:cu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35" name="카드 (그라데이션 6)"/>
          <p:cNvSpPr/>
          <p:nvPr/>
        </p:nvSpPr>
        <p:spPr>
          <a:xfrm>
            <a:off x="3417021" y="2476470"/>
            <a:ext cx="2350282" cy="2984510"/>
          </a:xfrm>
          <a:prstGeom prst="roundRect">
            <a:avLst>
              <a:gd name="adj" fmla="val 10808"/>
            </a:avLst>
          </a:prstGeom>
          <a:gradFill rotWithShape="1">
            <a:gsLst>
              <a:gs pos="0">
                <a:srgbClr val="4C93FF"/>
              </a:gs>
              <a:gs pos="45000">
                <a:srgbClr val="3182F6"/>
              </a:gs>
              <a:gs pos="100000">
                <a:srgbClr val="1B64DA"/>
              </a:gs>
            </a:gsLst>
            <a:lin ang="4200000" scaled="0"/>
          </a:gradFill>
          <a:ln/>
          <a:effectLst>
            <a:outerShdw sx="100000" sy="100000" kx="0" ky="0" algn="bl" rotWithShape="0" blurRad="381000" dist="152400" dir="5400000">
              <a:srgbClr val="3182F6">
                <a:alpha val="28000"/>
              </a:srgbClr>
            </a:outerShdw>
          </a:effectLst>
        </p:spPr>
      </p:sp>
      <p:sp>
        <p:nvSpPr>
          <p:cNvPr id="36" name="3 1"/>
          <p:cNvSpPr txBox="1"/>
          <p:nvPr/>
        </p:nvSpPr>
        <p:spPr>
          <a:xfrm>
            <a:off x="3658332" y="2705070"/>
            <a:ext cx="628741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0" spc="-450" kern="0" dirty="0">
                <a:solidFill>
                  <a:schemeClr val="bg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3</a:t>
            </a:r>
            <a:endParaRPr lang="en-US" sz="7500" dirty="0"/>
          </a:p>
        </p:txBody>
      </p:sp>
      <p:sp>
        <p:nvSpPr>
          <p:cNvPr id="37" name="AI 추천 Top 2~3 1"/>
          <p:cNvSpPr txBox="1"/>
          <p:nvPr/>
        </p:nvSpPr>
        <p:spPr>
          <a:xfrm>
            <a:off x="3658332" y="3625870"/>
            <a:ext cx="1101395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00" spc="-48" kern="0" dirty="0">
                <a:solidFill>
                  <a:schemeClr val="bg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 추천 Top 2~3</a:t>
            </a:r>
            <a:endParaRPr lang="en-US" sz="1200" dirty="0"/>
          </a:p>
        </p:txBody>
      </p:sp>
      <p:sp>
        <p:nvSpPr>
          <p:cNvPr id="38" name="AI 큐레이션 결과 1"/>
          <p:cNvSpPr txBox="1"/>
          <p:nvPr/>
        </p:nvSpPr>
        <p:spPr>
          <a:xfrm>
            <a:off x="3658332" y="3829050"/>
            <a:ext cx="822594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dirty="0">
                <a:solidFill>
                  <a:srgbClr val="CCE0FD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 큐레이션 결과</a:t>
            </a:r>
            <a:endParaRPr lang="en-US" sz="900" dirty="0"/>
          </a:p>
        </p:txBody>
      </p:sp>
      <p:sp>
        <p:nvSpPr>
          <p:cNvPr id="39" name="도형 25"/>
          <p:cNvSpPr/>
          <p:nvPr/>
        </p:nvSpPr>
        <p:spPr>
          <a:xfrm>
            <a:off x="3658332" y="4254520"/>
            <a:ext cx="1867662" cy="292059"/>
          </a:xfrm>
          <a:prstGeom prst="roundRect">
            <a:avLst>
              <a:gd name="adj" fmla="val 34784"/>
            </a:avLst>
          </a:prstGeom>
          <a:solidFill>
            <a:schemeClr val="bg1">
              <a:alpha val="16000"/>
            </a:schemeClr>
          </a:solidFill>
          <a:ln/>
        </p:spPr>
        <p:txBody>
          <a:bodyPr wrap="none" lIns="101600" tIns="69850" rIns="101600" bIns="6985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bg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1</a:t>
            </a:r>
            <a:pPr eaLnBrk="0" algn="l" indent="0" marL="0">
              <a:buNone/>
            </a:pPr>
            <a:r>
              <a:rPr lang="en-US" sz="1000" spc="-16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수분 선크림 A</a:t>
            </a:r>
            <a:endParaRPr lang="en-US" sz="1000" dirty="0"/>
          </a:p>
        </p:txBody>
      </p:sp>
      <p:sp>
        <p:nvSpPr>
          <p:cNvPr id="40" name="도형 26"/>
          <p:cNvSpPr/>
          <p:nvPr/>
        </p:nvSpPr>
        <p:spPr>
          <a:xfrm>
            <a:off x="3658332" y="4597420"/>
            <a:ext cx="1867662" cy="292059"/>
          </a:xfrm>
          <a:prstGeom prst="roundRect">
            <a:avLst>
              <a:gd name="adj" fmla="val 34784"/>
            </a:avLst>
          </a:prstGeom>
          <a:solidFill>
            <a:schemeClr val="bg1">
              <a:alpha val="16000"/>
            </a:schemeClr>
          </a:solidFill>
          <a:ln/>
        </p:spPr>
        <p:txBody>
          <a:bodyPr wrap="none" lIns="101600" tIns="69850" rIns="101600" bIns="6985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bg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2</a:t>
            </a:r>
            <a:pPr eaLnBrk="0" algn="l" indent="0" marL="0">
              <a:buNone/>
            </a:pPr>
            <a:r>
              <a:rPr lang="en-US" sz="1000" spc="-16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수분 선크림 B</a:t>
            </a:r>
            <a:endParaRPr lang="en-US" sz="1000" dirty="0"/>
          </a:p>
        </p:txBody>
      </p:sp>
      <p:sp>
        <p:nvSpPr>
          <p:cNvPr id="41" name="도형 27"/>
          <p:cNvSpPr/>
          <p:nvPr/>
        </p:nvSpPr>
        <p:spPr>
          <a:xfrm>
            <a:off x="3658332" y="4940320"/>
            <a:ext cx="1867662" cy="292059"/>
          </a:xfrm>
          <a:prstGeom prst="roundRect">
            <a:avLst>
              <a:gd name="adj" fmla="val 34784"/>
            </a:avLst>
          </a:prstGeom>
          <a:solidFill>
            <a:schemeClr val="bg1">
              <a:alpha val="16000"/>
            </a:schemeClr>
          </a:solidFill>
          <a:ln/>
        </p:spPr>
        <p:txBody>
          <a:bodyPr wrap="none" lIns="101600" tIns="69850" rIns="101600" bIns="6985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bg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3</a:t>
            </a:r>
            <a:pPr eaLnBrk="0" algn="l" indent="0" marL="0">
              <a:buNone/>
            </a:pPr>
            <a:r>
              <a:rPr lang="en-US" sz="1000" spc="-16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수분 선크림 C</a:t>
            </a:r>
            <a:endParaRPr lang="en-US" sz="1000" dirty="0"/>
          </a:p>
        </p:txBody>
      </p:sp>
      <p:sp>
        <p:nvSpPr>
          <p:cNvPr id="42" name="진행 화살표 2"/>
          <p:cNvSpPr/>
          <p:nvPr/>
        </p:nvSpPr>
        <p:spPr>
          <a:xfrm>
            <a:off x="5883798" y="3896898"/>
            <a:ext cx="71872" cy="143652"/>
          </a:xfrm>
          <a:custGeom>
            <a:avLst/>
            <a:gdLst/>
            <a:ahLst/>
            <a:cxnLst/>
            <a:rect l="l" t="t" r="r" b="b"/>
            <a:pathLst>
              <a:path w="71872" h="143652">
                <a:moveTo>
                  <a:pt x="0" y="0"/>
                </a:moveTo>
                <a:lnTo>
                  <a:pt x="71872" y="71872"/>
                </a:lnTo>
                <a:lnTo>
                  <a:pt x="0" y="143652"/>
                </a:lnTo>
              </a:path>
            </a:pathLst>
          </a:cu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3" name="카드 3"/>
          <p:cNvSpPr/>
          <p:nvPr/>
        </p:nvSpPr>
        <p:spPr>
          <a:xfrm>
            <a:off x="6072073" y="2476470"/>
            <a:ext cx="2937876" cy="2984510"/>
          </a:xfrm>
          <a:prstGeom prst="roundRect">
            <a:avLst>
              <a:gd name="adj" fmla="val 8646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44" name="감성을 자극하는 보조 장치 1"/>
          <p:cNvSpPr txBox="1"/>
          <p:nvPr/>
        </p:nvSpPr>
        <p:spPr>
          <a:xfrm>
            <a:off x="6313383" y="2705070"/>
            <a:ext cx="1414577" cy="158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50" spc="-10" kern="0" dirty="0">
                <a:solidFill>
                  <a:schemeClr val="accent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감성을 자극하는 보조 장치</a:t>
            </a:r>
            <a:endParaRPr lang="en-US" sz="1050" dirty="0"/>
          </a:p>
        </p:txBody>
      </p:sp>
      <p:sp>
        <p:nvSpPr>
          <p:cNvPr id="45" name="결제 직전, 확신을 주는 장치 1"/>
          <p:cNvSpPr txBox="1"/>
          <p:nvPr/>
        </p:nvSpPr>
        <p:spPr>
          <a:xfrm>
            <a:off x="6313383" y="2914650"/>
            <a:ext cx="1618488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00" spc="-48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결제 직전, 확신을 주는 장치</a:t>
            </a:r>
            <a:endParaRPr lang="en-US" sz="1200" dirty="0"/>
          </a:p>
        </p:txBody>
      </p:sp>
      <p:sp>
        <p:nvSpPr>
          <p:cNvPr id="46" name="숏폼 영상 리뷰 1"/>
          <p:cNvSpPr txBox="1"/>
          <p:nvPr/>
        </p:nvSpPr>
        <p:spPr>
          <a:xfrm>
            <a:off x="6770583" y="4105290"/>
            <a:ext cx="8395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50" spc="-4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숏폼 영상 리뷰</a:t>
            </a:r>
            <a:endParaRPr lang="en-US" sz="1150" dirty="0"/>
          </a:p>
        </p:txBody>
      </p:sp>
      <p:pic>
        <p:nvPicPr>
          <p:cNvPr id="47" name="3D 아이콘 1" descr="3D 아이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8642" y="3838468"/>
            <a:ext cx="705094" cy="705094"/>
          </a:xfrm>
          <a:prstGeom prst="rect">
            <a:avLst/>
          </a:prstGeom>
        </p:spPr>
      </p:pic>
      <p:sp>
        <p:nvSpPr>
          <p:cNvPr id="48" name="3D · AR 실착 체험 1"/>
          <p:cNvSpPr txBox="1"/>
          <p:nvPr/>
        </p:nvSpPr>
        <p:spPr>
          <a:xfrm>
            <a:off x="6770583" y="4537070"/>
            <a:ext cx="110807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50" spc="-4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3D · AR 실착 체험</a:t>
            </a:r>
            <a:endParaRPr lang="en-US" sz="1150" dirty="0"/>
          </a:p>
        </p:txBody>
      </p:sp>
      <p:pic>
        <p:nvPicPr>
          <p:cNvPr id="49" name="3D 아이콘 2" descr="3D 아이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642" y="4270248"/>
            <a:ext cx="705094" cy="705094"/>
          </a:xfrm>
          <a:prstGeom prst="rect">
            <a:avLst/>
          </a:prstGeom>
        </p:spPr>
      </p:pic>
      <p:sp>
        <p:nvSpPr>
          <p:cNvPr id="50" name="1:1 사용자 커뮤니티 반응 1"/>
          <p:cNvSpPr txBox="1"/>
          <p:nvPr/>
        </p:nvSpPr>
        <p:spPr>
          <a:xfrm>
            <a:off x="6770583" y="4968850"/>
            <a:ext cx="14588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50" spc="-4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1:1 사용자 커뮤니티 반응</a:t>
            </a:r>
            <a:endParaRPr lang="en-US" sz="1150" dirty="0"/>
          </a:p>
        </p:txBody>
      </p:sp>
      <p:pic>
        <p:nvPicPr>
          <p:cNvPr id="51" name="3D 아이콘 3" descr="3D 아이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642" y="4702028"/>
            <a:ext cx="705094" cy="705094"/>
          </a:xfrm>
          <a:prstGeom prst="rect">
            <a:avLst/>
          </a:prstGeom>
        </p:spPr>
      </p:pic>
      <p:sp>
        <p:nvSpPr>
          <p:cNvPr id="52" name="진행 화살표 3"/>
          <p:cNvSpPr/>
          <p:nvPr/>
        </p:nvSpPr>
        <p:spPr>
          <a:xfrm>
            <a:off x="9126444" y="3896898"/>
            <a:ext cx="71872" cy="143652"/>
          </a:xfrm>
          <a:custGeom>
            <a:avLst/>
            <a:gdLst/>
            <a:ahLst/>
            <a:cxnLst/>
            <a:rect l="l" t="t" r="r" b="b"/>
            <a:pathLst>
              <a:path w="71872" h="143652">
                <a:moveTo>
                  <a:pt x="0" y="0"/>
                </a:moveTo>
                <a:lnTo>
                  <a:pt x="71872" y="71872"/>
                </a:lnTo>
                <a:lnTo>
                  <a:pt x="0" y="143652"/>
                </a:lnTo>
              </a:path>
            </a:pathLst>
          </a:cu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3" name="카드 4"/>
          <p:cNvSpPr/>
          <p:nvPr/>
        </p:nvSpPr>
        <p:spPr>
          <a:xfrm>
            <a:off x="9314718" y="2476470"/>
            <a:ext cx="2115282" cy="2984510"/>
          </a:xfrm>
          <a:prstGeom prst="roundRect">
            <a:avLst>
              <a:gd name="adj" fmla="val 120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sp>
        <p:nvSpPr>
          <p:cNvPr id="54" name="1 1"/>
          <p:cNvSpPr txBox="1"/>
          <p:nvPr/>
        </p:nvSpPr>
        <p:spPr>
          <a:xfrm>
            <a:off x="9556029" y="2705070"/>
            <a:ext cx="628741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7500" spc="-450" kern="0" dirty="0">
                <a:solidFill>
                  <a:schemeClr val="bg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1</a:t>
            </a:r>
            <a:endParaRPr lang="en-US" sz="7500" dirty="0"/>
          </a:p>
        </p:txBody>
      </p:sp>
      <p:sp>
        <p:nvSpPr>
          <p:cNvPr id="55" name="최종 구매 전환 1"/>
          <p:cNvSpPr txBox="1"/>
          <p:nvPr/>
        </p:nvSpPr>
        <p:spPr>
          <a:xfrm>
            <a:off x="9556029" y="4267230"/>
            <a:ext cx="873801" cy="1777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200" spc="-48" kern="0" dirty="0">
                <a:solidFill>
                  <a:schemeClr val="bg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최종 구매 전환</a:t>
            </a:r>
            <a:endParaRPr lang="en-US" sz="1200" dirty="0"/>
          </a:p>
        </p:txBody>
      </p:sp>
      <p:sp>
        <p:nvSpPr>
          <p:cNvPr id="56" name="사람이 확신하고 고르는 하나 1"/>
          <p:cNvSpPr txBox="1"/>
          <p:nvPr/>
        </p:nvSpPr>
        <p:spPr>
          <a:xfrm>
            <a:off x="9556029" y="4470410"/>
            <a:ext cx="1333835" cy="139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900" dirty="0">
                <a:solidFill>
                  <a:srgbClr val="A3A5A9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사람이 확신하고 고르는 하나</a:t>
            </a:r>
            <a:endParaRPr lang="en-US" sz="900" dirty="0"/>
          </a:p>
        </p:txBody>
      </p:sp>
      <p:sp>
        <p:nvSpPr>
          <p:cNvPr id="57" name="도형 28"/>
          <p:cNvSpPr/>
          <p:nvPr/>
        </p:nvSpPr>
        <p:spPr>
          <a:xfrm>
            <a:off x="9556029" y="4749759"/>
            <a:ext cx="1632661" cy="482620"/>
          </a:xfrm>
          <a:prstGeom prst="roundRect">
            <a:avLst>
              <a:gd name="adj" fmla="val 2895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90500" dist="88900" dir="5400000">
              <a:srgbClr val="3182F6">
                <a:alpha val="40000"/>
              </a:srgbClr>
            </a:outerShdw>
          </a:effectLst>
        </p:spPr>
        <p:txBody>
          <a:bodyPr wrap="none" lIns="0" tIns="0" rIns="0" bIns="0" rtlCol="0" anchor="ctr"/>
          <a:lstStyle/>
          <a:p>
            <a:pPr eaLnBrk="0" algn="ctr" indent="0" marL="0">
              <a:buNone/>
            </a:pPr>
            <a:r>
              <a:rPr lang="en-US" sz="1400" spc="-16" kern="0" dirty="0">
                <a:solidFill>
                  <a:schemeClr val="bg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결제하기</a:t>
            </a:r>
            <a:endParaRPr lang="en-US" sz="1400" dirty="0"/>
          </a:p>
        </p:txBody>
      </p:sp>
      <p:sp>
        <p:nvSpPr>
          <p:cNvPr id="58" name="구분선 1"/>
          <p:cNvSpPr/>
          <p:nvPr/>
        </p:nvSpPr>
        <p:spPr>
          <a:xfrm>
            <a:off x="761970" y="5664159"/>
            <a:ext cx="5005243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59" name="AI가 좁힌다 1"/>
          <p:cNvSpPr txBox="1"/>
          <p:nvPr/>
        </p:nvSpPr>
        <p:spPr>
          <a:xfrm>
            <a:off x="761970" y="5765841"/>
            <a:ext cx="649864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accent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AI가 좁힌다</a:t>
            </a:r>
            <a:endParaRPr lang="en-US" sz="1000" dirty="0"/>
          </a:p>
        </p:txBody>
      </p:sp>
      <p:sp>
        <p:nvSpPr>
          <p:cNvPr id="60" name="구분선 2"/>
          <p:cNvSpPr/>
          <p:nvPr/>
        </p:nvSpPr>
        <p:spPr>
          <a:xfrm>
            <a:off x="6072073" y="5664159"/>
            <a:ext cx="5357927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1" name="사람이 확신한다 1"/>
          <p:cNvSpPr txBox="1"/>
          <p:nvPr/>
        </p:nvSpPr>
        <p:spPr>
          <a:xfrm>
            <a:off x="6072073" y="5765841"/>
            <a:ext cx="844814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사람이 확신한다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라벨 1"/>
          <p:cNvSpPr/>
          <p:nvPr/>
        </p:nvSpPr>
        <p:spPr>
          <a:xfrm>
            <a:off x="761970" y="749259"/>
            <a:ext cx="1270193" cy="260330"/>
          </a:xfrm>
          <a:prstGeom prst="roundRect">
            <a:avLst>
              <a:gd name="adj" fmla="val 50018"/>
            </a:avLst>
          </a:prstGeom>
          <a:solidFill>
            <a:schemeClr val="accent3"/>
          </a:solidFill>
          <a:ln/>
        </p:spPr>
        <p:txBody>
          <a:bodyPr wrap="none" lIns="114300" tIns="63500" rIns="114300" bIns="57150" rtlCol="0" anchor="ctr"/>
          <a:lstStyle/>
          <a:p>
            <a:pPr eaLnBrk="0" algn="ctr" indent="0" marL="0">
              <a:buNone/>
            </a:pPr>
            <a:r>
              <a:rPr lang="en-US" sz="1000" spc="-10" kern="0" dirty="0">
                <a:solidFill>
                  <a:schemeClr val="accent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Conclusion · 결론</a:t>
            </a:r>
            <a:endParaRPr lang="en-US" sz="1000" dirty="0"/>
          </a:p>
        </p:txBody>
      </p:sp>
      <p:sp>
        <p:nvSpPr>
          <p:cNvPr id="3" name="궤도 1"/>
          <p:cNvSpPr/>
          <p:nvPr/>
        </p:nvSpPr>
        <p:spPr>
          <a:xfrm rot="-840000">
            <a:off x="7492959" y="1270010"/>
            <a:ext cx="3937041" cy="1397020"/>
          </a:xfrm>
          <a:prstGeom prst="ellipse">
            <a:avLst/>
          </a:prstGeom>
          <a:noFill/>
          <a:ln w="19050">
            <a:solidFill>
              <a:schemeClr val="accent1">
                <a:alpha val="28000"/>
              </a:schemeClr>
            </a:solidFill>
            <a:prstDash val="solid"/>
          </a:ln>
        </p:spPr>
      </p:sp>
      <p:pic>
        <p:nvPicPr>
          <p:cNvPr id="4" name="AI 구체 1" descr="AI 구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121" y="68580"/>
            <a:ext cx="3418850" cy="3418850"/>
          </a:xfrm>
          <a:prstGeom prst="rect">
            <a:avLst/>
          </a:prstGeom>
        </p:spPr>
      </p:pic>
      <p:pic>
        <p:nvPicPr>
          <p:cNvPr id="5" name="사람 구체 1" descr="사람 구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230" y="1896100"/>
            <a:ext cx="1148121" cy="1148121"/>
          </a:xfrm>
          <a:prstGeom prst="rect">
            <a:avLst/>
          </a:prstGeom>
        </p:spPr>
      </p:pic>
      <p:sp>
        <p:nvSpPr>
          <p:cNvPr id="6" name="AI에게 선택받고,사람에게 확신을 1"/>
          <p:cNvSpPr txBox="1"/>
          <p:nvPr/>
        </p:nvSpPr>
        <p:spPr>
          <a:xfrm>
            <a:off x="736641" y="1265072"/>
            <a:ext cx="5250759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5928"/>
              </a:lnSpc>
              <a:buNone/>
            </a:pPr>
            <a:r>
              <a:rPr lang="en-US" sz="5200" spc="-338" kern="0" dirty="0">
                <a:solidFill>
                  <a:schemeClr val="accent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AI에게 선택받고,</a:t>
            </a:r>
            <a:endParaRPr lang="en-US" sz="5200" dirty="0"/>
          </a:p>
          <a:p>
            <a:pPr eaLnBrk="0" algn="l" indent="0" marL="0">
              <a:lnSpc>
                <a:spcPts val="5928"/>
              </a:lnSpc>
              <a:buNone/>
            </a:pPr>
            <a:r>
              <a:rPr lang="en-US" sz="5200" spc="-338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사람에게 확신을 주는</a:t>
            </a:r>
            <a:endParaRPr lang="en-US" sz="5200" dirty="0"/>
          </a:p>
          <a:p>
            <a:pPr eaLnBrk="0" algn="l" indent="0" marL="0">
              <a:lnSpc>
                <a:spcPts val="5928"/>
              </a:lnSpc>
              <a:buNone/>
            </a:pPr>
            <a:r>
              <a:rPr lang="en-US" sz="5200" spc="-338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브랜드가 살아남는다</a:t>
            </a:r>
            <a:endParaRPr lang="en-US" sz="5200" dirty="0"/>
          </a:p>
        </p:txBody>
      </p:sp>
      <p:sp>
        <p:nvSpPr>
          <p:cNvPr id="7" name="카드 1"/>
          <p:cNvSpPr/>
          <p:nvPr/>
        </p:nvSpPr>
        <p:spPr>
          <a:xfrm>
            <a:off x="761970" y="4063959"/>
            <a:ext cx="3454420" cy="1397020"/>
          </a:xfrm>
          <a:prstGeom prst="roundRect">
            <a:avLst>
              <a:gd name="adj" fmla="val 1818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8" name="3D 아이콘 1" descr="3D 아이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29522"/>
            <a:ext cx="1265895" cy="1265895"/>
          </a:xfrm>
          <a:prstGeom prst="rect">
            <a:avLst/>
          </a:prstGeom>
        </p:spPr>
      </p:pic>
      <p:sp>
        <p:nvSpPr>
          <p:cNvPr id="9" name="데이터 구조화 1"/>
          <p:cNvSpPr txBox="1"/>
          <p:nvPr/>
        </p:nvSpPr>
        <p:spPr>
          <a:xfrm>
            <a:off x="1854220" y="4511650"/>
            <a:ext cx="1228131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9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데이터 구조화</a:t>
            </a:r>
            <a:endParaRPr lang="en-US" sz="1800" dirty="0"/>
          </a:p>
        </p:txBody>
      </p:sp>
      <p:sp>
        <p:nvSpPr>
          <p:cNvPr id="10" name="AI가 정확히 읽고 비교한다 1"/>
          <p:cNvSpPr txBox="1"/>
          <p:nvPr/>
        </p:nvSpPr>
        <p:spPr>
          <a:xfrm>
            <a:off x="1854220" y="4826020"/>
            <a:ext cx="1354135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AI가 정확히 읽고 비교한다</a:t>
            </a:r>
            <a:endParaRPr lang="en-US" sz="1000" dirty="0"/>
          </a:p>
        </p:txBody>
      </p:sp>
      <p:sp>
        <p:nvSpPr>
          <p:cNvPr id="11" name="카드 2"/>
          <p:cNvSpPr/>
          <p:nvPr/>
        </p:nvSpPr>
        <p:spPr>
          <a:xfrm>
            <a:off x="4368820" y="4063959"/>
            <a:ext cx="3454420" cy="1397020"/>
          </a:xfrm>
          <a:prstGeom prst="roundRect">
            <a:avLst>
              <a:gd name="adj" fmla="val 1818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12" name="3D 아이콘 2" descr="3D 아이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9991" y="4129522"/>
            <a:ext cx="1265895" cy="1265895"/>
          </a:xfrm>
          <a:prstGeom prst="rect">
            <a:avLst/>
          </a:prstGeom>
        </p:spPr>
      </p:pic>
      <p:sp>
        <p:nvSpPr>
          <p:cNvPr id="13" name="투명한 알고리즘 1"/>
          <p:cNvSpPr txBox="1"/>
          <p:nvPr/>
        </p:nvSpPr>
        <p:spPr>
          <a:xfrm>
            <a:off x="5460980" y="4511650"/>
            <a:ext cx="1421709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9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투명한 알고리즘</a:t>
            </a:r>
            <a:endParaRPr lang="en-US" sz="1800" dirty="0"/>
          </a:p>
        </p:txBody>
      </p:sp>
      <p:sp>
        <p:nvSpPr>
          <p:cNvPr id="14" name="소비자가 추천을 믿는다 1"/>
          <p:cNvSpPr txBox="1"/>
          <p:nvPr/>
        </p:nvSpPr>
        <p:spPr>
          <a:xfrm>
            <a:off x="5460980" y="4826020"/>
            <a:ext cx="1199967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소비자가 추천을 믿는다</a:t>
            </a:r>
            <a:endParaRPr lang="en-US" sz="1000" dirty="0"/>
          </a:p>
        </p:txBody>
      </p:sp>
      <p:sp>
        <p:nvSpPr>
          <p:cNvPr id="15" name="카드 3"/>
          <p:cNvSpPr/>
          <p:nvPr/>
        </p:nvSpPr>
        <p:spPr>
          <a:xfrm>
            <a:off x="7975580" y="4063959"/>
            <a:ext cx="3454420" cy="1397020"/>
          </a:xfrm>
          <a:prstGeom prst="roundRect">
            <a:avLst>
              <a:gd name="adj" fmla="val 1818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0" dist="63500" dir="5400000">
              <a:srgbClr val="191F28">
                <a:alpha val="5000"/>
              </a:srgbClr>
            </a:outerShdw>
          </a:effectLst>
        </p:spPr>
      </p:sp>
      <p:pic>
        <p:nvPicPr>
          <p:cNvPr id="16" name="3D 아이콘 3" descr="3D 아이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6842" y="4129522"/>
            <a:ext cx="1265895" cy="1265895"/>
          </a:xfrm>
          <a:prstGeom prst="rect">
            <a:avLst/>
          </a:prstGeom>
        </p:spPr>
      </p:pic>
      <p:sp>
        <p:nvSpPr>
          <p:cNvPr id="17" name="감성적 구매 확신 1"/>
          <p:cNvSpPr txBox="1"/>
          <p:nvPr/>
        </p:nvSpPr>
        <p:spPr>
          <a:xfrm>
            <a:off x="9067830" y="4511650"/>
            <a:ext cx="1462126" cy="266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800" spc="-90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감성적 구매 확신</a:t>
            </a:r>
            <a:endParaRPr lang="en-US" sz="1800" dirty="0"/>
          </a:p>
        </p:txBody>
      </p:sp>
      <p:sp>
        <p:nvSpPr>
          <p:cNvPr id="18" name="사람이 마지막에 결정한다 1"/>
          <p:cNvSpPr txBox="1"/>
          <p:nvPr/>
        </p:nvSpPr>
        <p:spPr>
          <a:xfrm>
            <a:off x="9067830" y="4826020"/>
            <a:ext cx="1309695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사람이 마지막에 결정한다</a:t>
            </a:r>
            <a:endParaRPr lang="en-US" sz="1000" dirty="0"/>
          </a:p>
        </p:txBody>
      </p:sp>
      <p:sp>
        <p:nvSpPr>
          <p:cNvPr id="19" name="소비자는 정보 과부하와 의사결정  1"/>
          <p:cNvSpPr txBox="1"/>
          <p:nvPr/>
        </p:nvSpPr>
        <p:spPr>
          <a:xfrm>
            <a:off x="761970" y="5710519"/>
            <a:ext cx="9541215" cy="47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870"/>
              </a:lnSpc>
              <a:buNone/>
            </a:pPr>
            <a:r>
              <a:rPr lang="en-US" sz="11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소비자는 정보 과부하와 의사결정 피로를 줄이기 위해 AI에게 탐색과 선택 권한을 적극적으로 위임하고 있다. 기업은 이제 인간 소비자뿐 아니라 </a:t>
            </a:r>
            <a:pPr eaLnBrk="0" algn="l" indent="0" marL="0">
              <a:lnSpc>
                <a:spcPts val="1870"/>
              </a:lnSpc>
              <a:buNone/>
            </a:pPr>
            <a:r>
              <a:rPr lang="en-US" sz="1100" spc="-1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소비자의 선택을 대행하는 AI 에이전트</a:t>
            </a:r>
            <a:pPr eaLnBrk="0" algn="l" indent="0" marL="0">
              <a:lnSpc>
                <a:spcPts val="1870"/>
              </a:lnSpc>
              <a:buNone/>
            </a:pPr>
            <a:r>
              <a:rPr lang="en-US" sz="1100" spc="-16" kern="0" dirty="0">
                <a:solidFill>
                  <a:srgbClr val="6B7684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도 중요한 마케팅 대상으로 봐야 한다.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궤도 1"/>
          <p:cNvSpPr/>
          <p:nvPr/>
        </p:nvSpPr>
        <p:spPr>
          <a:xfrm rot="-840000">
            <a:off x="7366041" y="1079541"/>
            <a:ext cx="3937041" cy="1397020"/>
          </a:xfrm>
          <a:prstGeom prst="ellipse">
            <a:avLst/>
          </a:prstGeom>
          <a:noFill/>
          <a:ln w="19050">
            <a:solidFill>
              <a:schemeClr val="accent1">
                <a:alpha val="28000"/>
              </a:schemeClr>
            </a:solidFill>
            <a:prstDash val="solid"/>
          </a:ln>
        </p:spPr>
      </p:sp>
      <p:pic>
        <p:nvPicPr>
          <p:cNvPr id="3" name="AI 구체 1" descr="AI 구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160" y="104150"/>
            <a:ext cx="3030230" cy="3030230"/>
          </a:xfrm>
          <a:prstGeom prst="rect">
            <a:avLst/>
          </a:prstGeom>
        </p:spPr>
      </p:pic>
      <p:pic>
        <p:nvPicPr>
          <p:cNvPr id="4" name="사람 구체 1" descr="사람 구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777" y="1723095"/>
            <a:ext cx="1074969" cy="1074969"/>
          </a:xfrm>
          <a:prstGeom prst="rect">
            <a:avLst/>
          </a:prstGeom>
        </p:spPr>
      </p:pic>
      <p:sp>
        <p:nvSpPr>
          <p:cNvPr id="5" name="감사합니다 1"/>
          <p:cNvSpPr txBox="1"/>
          <p:nvPr/>
        </p:nvSpPr>
        <p:spPr>
          <a:xfrm>
            <a:off x="711220" y="1079541"/>
            <a:ext cx="5382341" cy="1270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0" spc="-650" kern="0" dirty="0">
                <a:solidFill>
                  <a:schemeClr val="tx1"/>
                </a:solidFill>
                <a:latin typeface="Paperlogy 9 Black" pitchFamily="34" charset="0"/>
                <a:ea typeface="Paperlogy 9 Black" pitchFamily="34" charset="-122"/>
                <a:cs typeface="Paperlogy 9 Black" pitchFamily="34" charset="-120"/>
              </a:rPr>
              <a:t>감사합니다</a:t>
            </a:r>
            <a:endParaRPr lang="en-US" sz="10000" dirty="0"/>
          </a:p>
        </p:txBody>
      </p:sp>
      <p:sp>
        <p:nvSpPr>
          <p:cNvPr id="6" name="라벨 1"/>
          <p:cNvSpPr/>
          <p:nvPr/>
        </p:nvSpPr>
        <p:spPr>
          <a:xfrm>
            <a:off x="787390" y="2565441"/>
            <a:ext cx="698327" cy="353050"/>
          </a:xfrm>
          <a:prstGeom prst="roundRect">
            <a:avLst>
              <a:gd name="adj" fmla="val 49987"/>
            </a:avLst>
          </a:prstGeom>
          <a:solidFill>
            <a:schemeClr val="accent1"/>
          </a:solidFill>
          <a:ln/>
        </p:spPr>
        <p:txBody>
          <a:bodyPr wrap="none" lIns="152400" tIns="88900" rIns="152400" bIns="82550" rtlCol="0" anchor="ctr"/>
          <a:lstStyle/>
          <a:p>
            <a:pPr eaLnBrk="0" algn="ctr" indent="0" marL="0">
              <a:buNone/>
            </a:pPr>
            <a:r>
              <a:rPr lang="en-US" sz="1300" spc="-13" kern="0" dirty="0">
                <a:solidFill>
                  <a:schemeClr val="bg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Q&amp;A</a:t>
            </a:r>
            <a:endParaRPr lang="en-US" sz="1300" dirty="0"/>
          </a:p>
        </p:txBody>
      </p:sp>
      <p:sp>
        <p:nvSpPr>
          <p:cNvPr id="7" name="라벨 2"/>
          <p:cNvSpPr/>
          <p:nvPr/>
        </p:nvSpPr>
        <p:spPr>
          <a:xfrm>
            <a:off x="1574597" y="2565441"/>
            <a:ext cx="1344991" cy="353050"/>
          </a:xfrm>
          <a:prstGeom prst="roundRect">
            <a:avLst>
              <a:gd name="adj" fmla="val 49987"/>
            </a:avLst>
          </a:prstGeom>
          <a:solidFill>
            <a:schemeClr val="bg1"/>
          </a:solidFill>
          <a:ln/>
          <a:effectLst>
            <a:outerShdw sx="100000" sy="100000" kx="0" ky="0" algn="bl" rotWithShape="0" blurRad="152400" dist="50800" dir="5400000">
              <a:srgbClr val="191F28">
                <a:alpha val="8000"/>
              </a:srgbClr>
            </a:outerShdw>
          </a:effectLst>
        </p:spPr>
        <p:txBody>
          <a:bodyPr wrap="none" lIns="152400" tIns="88900" rIns="152400" bIns="82550" rtlCol="0" anchor="ctr"/>
          <a:lstStyle/>
          <a:p>
            <a:pPr eaLnBrk="0" algn="ctr" indent="0" marL="0">
              <a:buNone/>
            </a:pPr>
            <a:r>
              <a:rPr lang="en-US" sz="1300" spc="-13" kern="0" dirty="0">
                <a:solidFill>
                  <a:schemeClr val="tx2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질문 받겠습니다</a:t>
            </a:r>
            <a:endParaRPr lang="en-US" sz="1300" dirty="0"/>
          </a:p>
        </p:txBody>
      </p:sp>
      <p:sp>
        <p:nvSpPr>
          <p:cNvPr id="8" name="소비자행동론 · A조 팀원 OOO 1"/>
          <p:cNvSpPr txBox="1"/>
          <p:nvPr/>
        </p:nvSpPr>
        <p:spPr>
          <a:xfrm>
            <a:off x="787390" y="3174980"/>
            <a:ext cx="3210367" cy="1651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100" spc="-1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소비자행동론 · A조</a:t>
            </a:r>
            <a:pPr eaLnBrk="0" algn="l" indent="0" marL="0">
              <a:buNone/>
            </a:pPr>
            <a:r>
              <a:rPr lang="en-US" sz="1100" spc="-16" kern="0" dirty="0">
                <a:solidFill>
                  <a:schemeClr val="tx1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 </a:t>
            </a:r>
            <a:pPr eaLnBrk="0" algn="l" indent="0" marL="0">
              <a:buNone/>
            </a:pPr>
            <a:r>
              <a:rPr lang="en-US" sz="1100" spc="-16" kern="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팀원 OOO · OOO · OOO · OOO</a:t>
            </a:r>
            <a:endParaRPr lang="en-US" sz="1100" dirty="0"/>
          </a:p>
        </p:txBody>
      </p:sp>
      <p:sp>
        <p:nvSpPr>
          <p:cNvPr id="9" name="카드 1"/>
          <p:cNvSpPr/>
          <p:nvPr/>
        </p:nvSpPr>
        <p:spPr>
          <a:xfrm>
            <a:off x="761970" y="4817242"/>
            <a:ext cx="10668030" cy="1469258"/>
          </a:xfrm>
          <a:prstGeom prst="roundRect">
            <a:avLst>
              <a:gd name="adj" fmla="val 17289"/>
            </a:avLst>
          </a:prstGeom>
          <a:solidFill>
            <a:schemeClr val="bg2"/>
          </a:solidFill>
          <a:ln/>
        </p:spPr>
      </p:sp>
      <p:sp>
        <p:nvSpPr>
          <p:cNvPr id="10" name="참고자료 1"/>
          <p:cNvSpPr txBox="1"/>
          <p:nvPr/>
        </p:nvSpPr>
        <p:spPr>
          <a:xfrm>
            <a:off x="1041410" y="5033132"/>
            <a:ext cx="489753" cy="152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16" kern="0" dirty="0">
                <a:solidFill>
                  <a:srgbClr val="6B7684"/>
                </a:solidFill>
                <a:latin typeface="Paperlogy 8 ExtraBold" pitchFamily="34" charset="0"/>
                <a:ea typeface="Paperlogy 8 ExtraBold" pitchFamily="34" charset="-122"/>
                <a:cs typeface="Paperlogy 8 ExtraBold" pitchFamily="34" charset="-120"/>
              </a:rPr>
              <a:t>참고자료</a:t>
            </a:r>
            <a:endParaRPr lang="en-US" sz="1000" dirty="0"/>
          </a:p>
        </p:txBody>
      </p:sp>
      <p:sp>
        <p:nvSpPr>
          <p:cNvPr id="11" name="『트렌드 코리아 2026』 1"/>
          <p:cNvSpPr txBox="1"/>
          <p:nvPr/>
        </p:nvSpPr>
        <p:spPr>
          <a:xfrm>
            <a:off x="2413010" y="5030023"/>
            <a:ext cx="1162111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35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『트렌드 코리아 2026』</a:t>
            </a:r>
            <a:endParaRPr lang="en-US" sz="1000" dirty="0"/>
          </a:p>
        </p:txBody>
      </p:sp>
      <p:sp>
        <p:nvSpPr>
          <p:cNvPr id="12" name="김난도 외, 미래의창 1"/>
          <p:cNvSpPr txBox="1"/>
          <p:nvPr/>
        </p:nvSpPr>
        <p:spPr>
          <a:xfrm>
            <a:off x="2413010" y="5242072"/>
            <a:ext cx="836310" cy="147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김난도 외, 미래의창</a:t>
            </a:r>
            <a:endParaRPr lang="en-US" sz="800" dirty="0"/>
          </a:p>
        </p:txBody>
      </p:sp>
      <p:sp>
        <p:nvSpPr>
          <p:cNvPr id="13" name="APA Dictionary of  1"/>
          <p:cNvSpPr txBox="1"/>
          <p:nvPr/>
        </p:nvSpPr>
        <p:spPr>
          <a:xfrm>
            <a:off x="5401635" y="5030023"/>
            <a:ext cx="1906067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35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APA Dictionary of Psychology</a:t>
            </a:r>
            <a:endParaRPr lang="en-US" sz="1000" dirty="0"/>
          </a:p>
        </p:txBody>
      </p:sp>
      <p:sp>
        <p:nvSpPr>
          <p:cNvPr id="14" name="인지적 과부하 정의 1"/>
          <p:cNvSpPr txBox="1"/>
          <p:nvPr/>
        </p:nvSpPr>
        <p:spPr>
          <a:xfrm>
            <a:off x="5401635" y="5242072"/>
            <a:ext cx="810798" cy="147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인지적 과부하 정의</a:t>
            </a:r>
            <a:endParaRPr lang="en-US" sz="800" dirty="0"/>
          </a:p>
        </p:txBody>
      </p:sp>
      <p:sp>
        <p:nvSpPr>
          <p:cNvPr id="15" name="논문용어사전 1"/>
          <p:cNvSpPr txBox="1"/>
          <p:nvPr/>
        </p:nvSpPr>
        <p:spPr>
          <a:xfrm>
            <a:off x="8390443" y="5030023"/>
            <a:ext cx="694761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35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논문용어사전</a:t>
            </a:r>
            <a:endParaRPr lang="en-US" sz="1000" dirty="0"/>
          </a:p>
        </p:txBody>
      </p:sp>
      <p:sp>
        <p:nvSpPr>
          <p:cNvPr id="16" name="인지적 구두쇠 정의 1"/>
          <p:cNvSpPr txBox="1"/>
          <p:nvPr/>
        </p:nvSpPr>
        <p:spPr>
          <a:xfrm>
            <a:off x="8390443" y="5242072"/>
            <a:ext cx="810798" cy="147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인지적 구두쇠 정의</a:t>
            </a:r>
            <a:endParaRPr lang="en-US" sz="800" dirty="0"/>
          </a:p>
        </p:txBody>
      </p:sp>
      <p:sp>
        <p:nvSpPr>
          <p:cNvPr id="17" name="「에이전틱 커머스, 소비자 신뢰· 1"/>
          <p:cNvSpPr txBox="1"/>
          <p:nvPr/>
        </p:nvSpPr>
        <p:spPr>
          <a:xfrm>
            <a:off x="2413010" y="5526451"/>
            <a:ext cx="2410998" cy="184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1000" spc="-35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「에이전틱 커머스, 소비자 신뢰·법적 정비가 과제」</a:t>
            </a:r>
            <a:endParaRPr lang="en-US" sz="1000" dirty="0"/>
          </a:p>
        </p:txBody>
      </p:sp>
      <p:sp>
        <p:nvSpPr>
          <p:cNvPr id="18" name="매일경제, 2026.10 1"/>
          <p:cNvSpPr txBox="1"/>
          <p:nvPr/>
        </p:nvSpPr>
        <p:spPr>
          <a:xfrm>
            <a:off x="2413010" y="5738592"/>
            <a:ext cx="888248" cy="147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매일경제, 2026.10</a:t>
            </a:r>
            <a:endParaRPr lang="en-US" sz="800" dirty="0"/>
          </a:p>
        </p:txBody>
      </p:sp>
      <p:sp>
        <p:nvSpPr>
          <p:cNvPr id="19" name="「AI 시대 마케팅 전략, 소비자 1"/>
          <p:cNvSpPr txBox="1"/>
          <p:nvPr/>
        </p:nvSpPr>
        <p:spPr>
          <a:xfrm>
            <a:off x="5401635" y="5526451"/>
            <a:ext cx="2589489" cy="36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ts val="1450"/>
              </a:lnSpc>
              <a:buNone/>
            </a:pPr>
            <a:r>
              <a:rPr lang="en-US" sz="1000" spc="-35" kern="0" dirty="0">
                <a:solidFill>
                  <a:schemeClr val="tx1"/>
                </a:solidFill>
                <a:latin typeface="Paperlogy 7 Bold" pitchFamily="34" charset="0"/>
                <a:ea typeface="Paperlogy 7 Bold" pitchFamily="34" charset="-122"/>
                <a:cs typeface="Paperlogy 7 Bold" pitchFamily="34" charset="-120"/>
              </a:rPr>
              <a:t>「AI 시대 마케팅 전략, 소비자와 ‘AI 구매자’를 동시에 겨냥하다」</a:t>
            </a:r>
            <a:endParaRPr lang="en-US" sz="1000" dirty="0"/>
          </a:p>
        </p:txBody>
      </p:sp>
      <p:sp>
        <p:nvSpPr>
          <p:cNvPr id="20" name="매드타임스, 2026.02 1"/>
          <p:cNvSpPr txBox="1"/>
          <p:nvPr/>
        </p:nvSpPr>
        <p:spPr>
          <a:xfrm>
            <a:off x="5401635" y="5922752"/>
            <a:ext cx="977676" cy="147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eaLnBrk="0"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Paperlogy 5 Medium" pitchFamily="34" charset="0"/>
                <a:ea typeface="Paperlogy 5 Medium" pitchFamily="34" charset="-122"/>
                <a:cs typeface="Paperlogy 5 Medium" pitchFamily="34" charset="-120"/>
              </a:rPr>
              <a:t>매드타임스, 2026.02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31490" y="273040"/>
            <a:ext cx="393741" cy="17775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B95A1"/>
                </a:solidFill>
                <a:latin typeface="Paperlogy 7 Bold"/>
                <a:ea typeface="Paperlogy 7 Bold"/>
                <a:cs typeface="Paperlogy 7 Bold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휴먼 인 더 루프">
  <a:themeElements>
    <a:clrScheme name="휴먼 인 더 루프">
      <a:dk1>
        <a:srgbClr val="191F28"/>
      </a:dk1>
      <a:lt1>
        <a:srgbClr val="FFFFFF"/>
      </a:lt1>
      <a:dk2>
        <a:srgbClr val="4E5968"/>
      </a:dk2>
      <a:lt2>
        <a:srgbClr val="F2F4F6"/>
      </a:lt2>
      <a:accent1>
        <a:srgbClr val="3182F6"/>
      </a:accent1>
      <a:accent2>
        <a:srgbClr val="1B64DA"/>
      </a:accent2>
      <a:accent3>
        <a:srgbClr val="E8F3FF"/>
      </a:accent3>
      <a:accent4>
        <a:srgbClr val="F04452"/>
      </a:accent4>
      <a:accent5>
        <a:srgbClr val="8B95A1"/>
      </a:accent5>
      <a:accent6>
        <a:srgbClr val="D1D6DB"/>
      </a:accent6>
      <a:hlink>
        <a:srgbClr val="3182F6"/>
      </a:hlink>
      <a:folHlink>
        <a:srgbClr val="1B64DA"/>
      </a:folHlink>
    </a:clrScheme>
    <a:fontScheme name="휴먼 인 더 루프">
      <a:majorFont>
        <a:latin typeface="Paperlogy 8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aperlogy 5 Medium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휴먼 인 더 루프</dc:title>
  <dc:subject>트렌드 코리아 2026 · 소비자행동론 팀프로젝트</dc:subject>
  <dc:creator>A조</dc:creator>
  <cp:lastModifiedBy>A조</cp:lastModifiedBy>
  <cp:revision>1</cp:revision>
  <dcterms:created xsi:type="dcterms:W3CDTF">2026-10-25T02:22:17Z</dcterms:created>
  <dcterms:modified xsi:type="dcterms:W3CDTF">2026-10-25T02:22:17Z</dcterms:modified>
</cp:coreProperties>
</file>