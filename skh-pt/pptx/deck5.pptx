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국토교통부는 공공공사 BIM 의무화를 단계적으로 넓히고 있습니다. 2022년 하반기 도로를 시작으로 2023년 철도·건축, 2024년 하천·항만까지 1,000억원 이상 신규 사업에 적용했고, 2026년에는 500억원 이상, 2028년에는 300억원 이상 사업으로 확대합니다. 2030 건축BIM 로드맵도 2025년 BIM 설계 기반 구축을 거쳐 2030년 디지털 건축서비스 완전 구현을 목표로 합니다. 하지만 현실은 다릅니다. 신규 건설은 2D 도면을 먼저 그린 뒤 BIM으로 옮기는 'BIM 전환설계'가 대부분이라 설계 후반에 투입 인력이 늘고 추가 비용이 생기고, 기존 건축물은 2D 도면만 남아 있어 3D BIM을 새로 구축해야 합니다. 결국 두 경우 모두 사람이 평면도와 입면도를 한 장씩 해석해서 직접 모델링해야 합니다. 오른쪽 사무동 모델이 이렇게 수작업으로 만든 예시이고, 이 방식은 벽·창·문을 일일이 입력해야 하는 노동집약적 작업인 데다 건물 규모에 비례해 시간과 비용이 늘고, 해석·입력 과정에서 누락과 오류가 생길 수 있습니다. 그래서 2차원 도면에 기반한 3차원 BIM 모델 자동 생성 프로세스가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연구에는 세 가지 한계가 있었습니다. 첫째, 평면도 한 장만 사용해서 높이 정보를 알 수 없었고, 그래서 높이는 수동으로 입력하거나 고정값을 써야 했습니다. 둘째, CAD 레이어나 블록 같은 정보에 의존해 이미지로만 남은 실제 도면에는 적용할 수 없었고, 셋째, 치수 글자 인식, 즉 OCR에 의존해 치수가 빠지거나 겹치면 결과가 부정확했습니다. 그래서 이 한계에 하나씩 대응하는 세 가지 목표를 세웠습니다. 평면도와 입면도 정보를 통합해 완전한 3차원 BIM을 생성하고, CAD 정보 없이 이미지만으로 두 도면 간 대응 객체를 정의하며, 대형 멀티모달 모델인 LMM으로 축척을 인식해 치수를 안정적으로 보정하는 것입니다. 정리하면, 딥러닝 기반 도면 객체 인식과 평면도·입면도 간 직접 매칭으로 정확한 3차원 정보를 가진 BIM 자동 생성 방법을 제안합니다.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연구 방법은 네 단계로, 도면 이미지만으로 객체 인식부터 BIM 생성까지 전 과정을 자동화했습니다. 1단계에서는 평면도와 입면도의 래스터 이미지, 즉 도면 이미지만 입력하는데, 평면도에서는 창·문의 평면 위치인 X·Y 좌표를, 입면도에서는 높이인 Z 좌표를 얻습니다. 2단계에서는 YOLO와 작은 객체를 나눠서 추론하는 SAHI로 벽·창문·문을 인식하고, 평면도에서는 외벽의 창·문을 동·서·남·북 방향별로 정리하며, 입면도에서는 DBSCAN 층별 클러스터링으로 같은 층의 창·문끼리 묶어 층 높이를 파악합니다. 3단계에서는 먼저 LMM인 GPT-4o가 도면의 축척과 용지 크기를 읽어 픽셀을 실제 길이로 바꾸는데, 예를 들어 4,963×3,509픽셀 도면이 축척 1/200, A3 용지라면 1픽셀은 33.88mm가 됩니다. 이어서 헝가리안 알고리즘으로 평면도의 X·Y와 입면도의 Z를 같은 창·문끼리 최적의 1:1로 짝지어 3차원 위치를 확정합니다. 마지막 4단계에서는 골격선, 즉 스켈레톤으로 벽 중심선을 뽑고, 창·문을 어느 벽에 붙일지 정하는 호스팅 관계를 정의한 뒤, Revit API로 높이까지 갖춘 3D BIM을 자동 생성합니다.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장에서는 세 가지 연구 기여를 각각의 근거 수치와 짝지어 보여 드립니다. 첫째, 도면 종류별 최적 학습·인식 전략을 썼고, 객체 인식 mAP@0.5가 평면도 0.934, 입면도 0.838로 Baseline보다 각각 42.7%p, 48.3%p 높았습니다. 학습에는 타일을 포함해 평면도 72,792장, 입면도 16,992장의 이미지를 사용했습니다. 둘째, CAD 정보 없이 평면도와 입면도 사이의 객체 대응 관계를 정의했고, 8개 동 개구부 3,458개를 대상으로 한 대응 객체 매칭 F1-score는 창문 0.93, 문 0.95였습니다. 셋째, LMM 기반 축척 인식은 축척 인식 정확도 0.707로 Tesseract OCR보다 33.8%p 높았습니다. 그 결과 건물 1동 실증에서 406개 객체 중 379개를 자동으로 만들어 생성 완성도 93.3%를 달성했습니다. 요소별로는 벽 153개 중 135개, 문 64개 전부, 창문 189개 중 180개입니다.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제 연구가 Utility 기술 직무와 어떻게 맞닿아 있는지 말씀드리겠습니다. 첫째, Virtual FAB 구축은 여러 출처의 도면·모델 데이터를 하나로 통합하는 일이고, 제 연구도 서로 다른 도면의 불완전한 정보를 짝지어 하나의 3D 모델로 통합했습니다. 둘째, 기존 시설에는 이미지 도면만 남은 곳이 많은데, CAD 정보 없이 이미지 도면에서 BIM을 생성하는 방법으로 디지털 전환 기간을 줄일 수 있습니다. 셋째, 5D, 즉 물량·원가 관리는 BIM 데이터가 정확해야 의미가 있고, 축척 보정과 생성 완성도를 검증한 경험을 모델 데이터 품질 검증에 바로 활용하겠습니다. 도면 속 불완전한 정보를 정확한 3D 데이터로 잇는 경험으로, SK하이닉스 Virtual FAB의 데이터 품질을 높이겠습니다. 오늘 말씀드린 연구는 Automation in Construction 187권에 2026년 게재되었습니다. 이상으로 발표를 마치며, 들어 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1962150"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on"/>
          <p:cNvSpPr/>
          <p:nvPr/>
        </p:nvSpPr>
        <p:spPr>
          <a:xfrm>
            <a:off x="99695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5" name="i"/>
          <p:cNvSpPr/>
          <p:nvPr/>
        </p:nvSpPr>
        <p:spPr>
          <a:xfrm>
            <a:off x="102997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6" name="i"/>
          <p:cNvSpPr/>
          <p:nvPr/>
        </p:nvSpPr>
        <p:spPr>
          <a:xfrm>
            <a:off x="106299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7" name="i"/>
          <p:cNvSpPr/>
          <p:nvPr/>
        </p:nvSpPr>
        <p:spPr>
          <a:xfrm>
            <a:off x="109601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t1-flowarrow line"/>
          <p:cNvSpPr/>
          <p:nvPr/>
        </p:nvSpPr>
        <p:spPr>
          <a:xfrm>
            <a:off x="3949700" y="1740297"/>
            <a:ext cx="228600" cy="1"/>
          </a:xfrm>
          <a:custGeom>
            <a:avLst/>
            <a:gdLst/>
            <a:ahLst/>
            <a:cxnLst/>
            <a:rect l="0" t="0" r="r" b="b"/>
            <a:pathLst>
              <a:path w="228600" h="1">
                <a:moveTo>
                  <a:pt x="0" y="0"/>
                </a:moveTo>
                <a:lnTo>
                  <a:pt x="228600" y="0"/>
                </a:lnTo>
              </a:path>
            </a:pathLst>
          </a:custGeom>
          <a:solidFill>
            <a:srgbClr val="000000"/>
          </a:solidFill>
          <a:ln w="12700">
            <a:solidFill>
              <a:srgbClr val="102A4C"/>
            </a:solidFill>
            <a:miter lim="800000"/>
          </a:ln>
        </p:spPr>
        <p:txBody>
          <a:bodyPr rtlCol="0" anchor="ctr"/>
          <a:lstStyle/>
          <a:p>
            <a:pPr algn="ctr"/>
            <a:endParaRPr lang="ko-KR" dirty="0"/>
          </a:p>
        </p:txBody>
      </p:sp>
      <p:sp>
        <p:nvSpPr>
          <p:cNvPr id="10" name="t1-flowarrow polygon"/>
          <p:cNvSpPr/>
          <p:nvPr/>
        </p:nvSpPr>
        <p:spPr>
          <a:xfrm>
            <a:off x="4171950" y="1705372"/>
            <a:ext cx="63500" cy="69850"/>
          </a:xfrm>
          <a:custGeom>
            <a:avLst/>
            <a:gdLst/>
            <a:ahLst/>
            <a:cxnLst/>
            <a:rect l="0" t="0" r="r" b="b"/>
            <a:pathLst>
              <a:path w="63500" h="69850" stroke="0">
                <a:moveTo>
                  <a:pt x="63500" y="34925"/>
                </a:moveTo>
                <a:lnTo>
                  <a:pt x="0" y="0"/>
                </a:lnTo>
                <a:lnTo>
                  <a:pt x="0" y="69850"/>
                </a:lnTo>
                <a:close/>
              </a:path>
            </a:pathLst>
          </a:custGeom>
          <a:solidFill>
            <a:srgbClr val="102A4C"/>
          </a:solidFill>
          <a:ln>
            <a:noFill/>
          </a:ln>
        </p:spPr>
        <p:txBody>
          <a:bodyPr rtlCol="0" anchor="ctr"/>
          <a:lstStyle/>
          <a:p>
            <a:pPr algn="ctr"/>
            <a:endParaRPr lang="ko-KR" dirty="0"/>
          </a:p>
        </p:txBody>
      </p:sp>
      <p:sp>
        <p:nvSpPr>
          <p:cNvPr id="11" name="t1-flowarrow line"/>
          <p:cNvSpPr/>
          <p:nvPr/>
        </p:nvSpPr>
        <p:spPr>
          <a:xfrm>
            <a:off x="7607300" y="1740297"/>
            <a:ext cx="228600" cy="1"/>
          </a:xfrm>
          <a:custGeom>
            <a:avLst/>
            <a:gdLst/>
            <a:ahLst/>
            <a:cxnLst/>
            <a:rect l="0" t="0" r="r" b="b"/>
            <a:pathLst>
              <a:path w="228600" h="1">
                <a:moveTo>
                  <a:pt x="0" y="0"/>
                </a:moveTo>
                <a:lnTo>
                  <a:pt x="228600" y="0"/>
                </a:lnTo>
              </a:path>
            </a:pathLst>
          </a:custGeom>
          <a:solidFill>
            <a:srgbClr val="000000"/>
          </a:solidFill>
          <a:ln w="12700">
            <a:solidFill>
              <a:srgbClr val="102A4C"/>
            </a:solidFill>
            <a:miter lim="800000"/>
          </a:ln>
        </p:spPr>
        <p:txBody>
          <a:bodyPr rtlCol="0" anchor="ctr"/>
          <a:lstStyle/>
          <a:p>
            <a:pPr algn="ctr"/>
            <a:endParaRPr lang="ko-KR" dirty="0"/>
          </a:p>
        </p:txBody>
      </p:sp>
      <p:sp>
        <p:nvSpPr>
          <p:cNvPr id="12" name="t1-flowarrow polygon"/>
          <p:cNvSpPr/>
          <p:nvPr/>
        </p:nvSpPr>
        <p:spPr>
          <a:xfrm>
            <a:off x="7829550" y="1705372"/>
            <a:ext cx="63500" cy="69850"/>
          </a:xfrm>
          <a:custGeom>
            <a:avLst/>
            <a:gdLst/>
            <a:ahLst/>
            <a:cxnLst/>
            <a:rect l="0" t="0" r="r" b="b"/>
            <a:pathLst>
              <a:path w="63500" h="69850" stroke="0">
                <a:moveTo>
                  <a:pt x="63500" y="34925"/>
                </a:moveTo>
                <a:lnTo>
                  <a:pt x="0" y="0"/>
                </a:lnTo>
                <a:lnTo>
                  <a:pt x="0" y="69850"/>
                </a:lnTo>
                <a:close/>
              </a:path>
            </a:pathLst>
          </a:custGeom>
          <a:solidFill>
            <a:srgbClr val="102A4C"/>
          </a:solidFill>
          <a:ln>
            <a:noFill/>
          </a:ln>
        </p:spPr>
        <p:txBody>
          <a:bodyPr rtlCol="0" anchor="ctr"/>
          <a:lstStyle/>
          <a:p>
            <a:pPr algn="ctr"/>
            <a:endParaRPr lang="ko-KR" dirty="0"/>
          </a:p>
        </p:txBody>
      </p:sp>
      <p:sp>
        <p:nvSpPr>
          <p:cNvPr id="13" name="chip tint"/>
          <p:cNvSpPr/>
          <p:nvPr/>
        </p:nvSpPr>
        <p:spPr>
          <a:xfrm>
            <a:off x="612775" y="1629172"/>
            <a:ext cx="391914" cy="222250"/>
          </a:xfrm>
          <a:prstGeom prst="roundRect">
            <a:avLst>
              <a:gd name="adj" fmla="val 50000"/>
            </a:avLst>
          </a:prstGeom>
          <a:solidFill>
            <a:srgbClr val="E8EEF6"/>
          </a:solidFill>
          <a:ln w="6350">
            <a:solidFill>
              <a:srgbClr val="E8EEF6"/>
            </a:solidFill>
            <a:miter lim="800000"/>
          </a:ln>
        </p:spPr>
        <p:txBody>
          <a:bodyPr rtlCol="0" anchor="ctr"/>
          <a:lstStyle/>
          <a:p>
            <a:pPr algn="ctr"/>
            <a:endParaRPr lang="ko-KR" dirty="0"/>
          </a:p>
        </p:txBody>
      </p:sp>
      <p:sp>
        <p:nvSpPr>
          <p:cNvPr id="14" name="t1-hd::after"/>
          <p:cNvSpPr/>
          <p:nvPr/>
        </p:nvSpPr>
        <p:spPr>
          <a:xfrm>
            <a:off x="3159125" y="1733947"/>
            <a:ext cx="803275" cy="12700"/>
          </a:xfrm>
          <a:prstGeom prst="roundRect">
            <a:avLst>
              <a:gd name="adj" fmla="val 50000"/>
            </a:avLst>
          </a:prstGeom>
          <a:solidFill>
            <a:srgbClr val="102A4C"/>
          </a:solidFill>
          <a:ln>
            <a:noFill/>
          </a:ln>
        </p:spPr>
        <p:txBody>
          <a:bodyPr rtlCol="0" anchor="ctr"/>
          <a:lstStyle/>
          <a:p>
            <a:pPr algn="ctr"/>
            <a:endParaRPr lang="ko-KR" dirty="0"/>
          </a:p>
        </p:txBody>
      </p:sp>
      <p:sp>
        <p:nvSpPr>
          <p:cNvPr id="15" name="t1-card r1"/>
          <p:cNvSpPr/>
          <p:nvPr/>
        </p:nvSpPr>
        <p:spPr>
          <a:xfrm>
            <a:off x="609600" y="1968897"/>
            <a:ext cx="3352800" cy="1930400"/>
          </a:xfrm>
          <a:prstGeom prst="roundRect">
            <a:avLst>
              <a:gd name="adj" fmla="val 6579"/>
            </a:avLst>
          </a:prstGeom>
          <a:solidFill>
            <a:srgbClr val="F3F5F8"/>
          </a:solidFill>
          <a:ln>
            <a:noFill/>
          </a:ln>
        </p:spPr>
        <p:txBody>
          <a:bodyPr rtlCol="0" anchor="ctr"/>
          <a:lstStyle/>
          <a:p>
            <a:pPr algn="ctr"/>
            <a:endParaRPr lang="ko-KR" dirty="0"/>
          </a:p>
        </p:txBody>
      </p:sp>
      <p:sp>
        <p:nvSpPr>
          <p:cNvPr id="16" name="svg line"/>
          <p:cNvSpPr/>
          <p:nvPr/>
        </p:nvSpPr>
        <p:spPr>
          <a:xfrm>
            <a:off x="1447800" y="2729607"/>
            <a:ext cx="1" cy="819150"/>
          </a:xfrm>
          <a:custGeom>
            <a:avLst/>
            <a:gdLst/>
            <a:ahLst/>
            <a:cxnLst/>
            <a:rect l="0" t="0" r="r" b="b"/>
            <a:pathLst>
              <a:path w="1" h="819150">
                <a:moveTo>
                  <a:pt x="0" y="0"/>
                </a:moveTo>
                <a:lnTo>
                  <a:pt x="0" y="819150"/>
                </a:lnTo>
              </a:path>
            </a:pathLst>
          </a:custGeom>
          <a:solidFill>
            <a:srgbClr val="000000"/>
          </a:solidFill>
          <a:ln w="12700">
            <a:solidFill>
              <a:srgbClr val="C8CFD8"/>
            </a:solidFill>
            <a:miter lim="800000"/>
          </a:ln>
        </p:spPr>
        <p:txBody>
          <a:bodyPr rtlCol="0" anchor="ctr"/>
          <a:lstStyle/>
          <a:p>
            <a:pPr algn="ctr"/>
            <a:endParaRPr lang="ko-KR" dirty="0"/>
          </a:p>
        </p:txBody>
      </p:sp>
      <p:sp>
        <p:nvSpPr>
          <p:cNvPr id="17" name="svg circle"/>
          <p:cNvSpPr/>
          <p:nvPr/>
        </p:nvSpPr>
        <p:spPr>
          <a:xfrm>
            <a:off x="1409700" y="2691507"/>
            <a:ext cx="76200" cy="76200"/>
          </a:xfrm>
          <a:prstGeom prst="ellipse">
            <a:avLst/>
          </a:prstGeom>
          <a:solidFill>
            <a:srgbClr val="2B4A78"/>
          </a:solidFill>
          <a:ln>
            <a:noFill/>
          </a:ln>
        </p:spPr>
        <p:txBody>
          <a:bodyPr rtlCol="0" anchor="ctr"/>
          <a:lstStyle/>
          <a:p>
            <a:pPr algn="ctr"/>
            <a:endParaRPr lang="ko-KR" dirty="0"/>
          </a:p>
        </p:txBody>
      </p:sp>
      <p:sp>
        <p:nvSpPr>
          <p:cNvPr id="18" name="svg circle"/>
          <p:cNvSpPr/>
          <p:nvPr/>
        </p:nvSpPr>
        <p:spPr>
          <a:xfrm>
            <a:off x="1409700" y="3155057"/>
            <a:ext cx="76200" cy="76200"/>
          </a:xfrm>
          <a:prstGeom prst="ellipse">
            <a:avLst/>
          </a:prstGeom>
          <a:solidFill>
            <a:srgbClr val="2B4A78"/>
          </a:solidFill>
          <a:ln>
            <a:noFill/>
          </a:ln>
        </p:spPr>
        <p:txBody>
          <a:bodyPr rtlCol="0" anchor="ctr"/>
          <a:lstStyle/>
          <a:p>
            <a:pPr algn="ctr"/>
            <a:endParaRPr lang="ko-KR" dirty="0"/>
          </a:p>
        </p:txBody>
      </p:sp>
      <p:sp>
        <p:nvSpPr>
          <p:cNvPr id="19" name="svg circle"/>
          <p:cNvSpPr/>
          <p:nvPr/>
        </p:nvSpPr>
        <p:spPr>
          <a:xfrm>
            <a:off x="1409700" y="3510657"/>
            <a:ext cx="76200" cy="76200"/>
          </a:xfrm>
          <a:prstGeom prst="ellipse">
            <a:avLst/>
          </a:prstGeom>
          <a:solidFill>
            <a:srgbClr val="2B4A78"/>
          </a:solidFill>
          <a:ln>
            <a:noFill/>
          </a:ln>
        </p:spPr>
        <p:txBody>
          <a:bodyPr rtlCol="0" anchor="ctr"/>
          <a:lstStyle/>
          <a:p>
            <a:pPr algn="ctr"/>
            <a:endParaRPr lang="ko-KR" dirty="0"/>
          </a:p>
        </p:txBody>
      </p:sp>
      <p:sp>
        <p:nvSpPr>
          <p:cNvPr id="20" name="t1-bar b1"/>
          <p:cNvSpPr/>
          <p:nvPr/>
        </p:nvSpPr>
        <p:spPr>
          <a:xfrm>
            <a:off x="1600200" y="2475607"/>
            <a:ext cx="2159000" cy="508000"/>
          </a:xfrm>
          <a:prstGeom prst="roundRect">
            <a:avLst>
              <a:gd name="adj" fmla="val 15000"/>
            </a:avLst>
          </a:prstGeom>
          <a:solidFill>
            <a:srgbClr val="E1E6EC"/>
          </a:solidFill>
          <a:ln>
            <a:noFill/>
          </a:ln>
        </p:spPr>
        <p:txBody>
          <a:bodyPr rtlCol="0" anchor="ctr"/>
          <a:lstStyle/>
          <a:p>
            <a:pPr algn="ctr"/>
            <a:endParaRPr lang="ko-KR" dirty="0"/>
          </a:p>
        </p:txBody>
      </p:sp>
      <p:sp>
        <p:nvSpPr>
          <p:cNvPr id="21" name="t1-bar b2"/>
          <p:cNvSpPr/>
          <p:nvPr/>
        </p:nvSpPr>
        <p:spPr>
          <a:xfrm>
            <a:off x="1600200" y="3047107"/>
            <a:ext cx="2159000" cy="292100"/>
          </a:xfrm>
          <a:prstGeom prst="roundRect">
            <a:avLst>
              <a:gd name="adj" fmla="val 26087"/>
            </a:avLst>
          </a:prstGeom>
          <a:solidFill>
            <a:srgbClr val="BFC9D7"/>
          </a:solidFill>
          <a:ln>
            <a:noFill/>
          </a:ln>
        </p:spPr>
        <p:txBody>
          <a:bodyPr rtlCol="0" anchor="ctr"/>
          <a:lstStyle/>
          <a:p>
            <a:pPr algn="ctr"/>
            <a:endParaRPr lang="ko-KR" dirty="0"/>
          </a:p>
        </p:txBody>
      </p:sp>
      <p:sp>
        <p:nvSpPr>
          <p:cNvPr id="22" name="t1-bar b3"/>
          <p:cNvSpPr/>
          <p:nvPr/>
        </p:nvSpPr>
        <p:spPr>
          <a:xfrm>
            <a:off x="1600200" y="3402707"/>
            <a:ext cx="2159000" cy="292100"/>
          </a:xfrm>
          <a:prstGeom prst="roundRect">
            <a:avLst>
              <a:gd name="adj" fmla="val 26087"/>
            </a:avLst>
          </a:prstGeom>
          <a:solidFill>
            <a:srgbClr val="2B4A78"/>
          </a:solidFill>
          <a:ln>
            <a:noFill/>
          </a:ln>
        </p:spPr>
        <p:txBody>
          <a:bodyPr rtlCol="0" anchor="ctr"/>
          <a:lstStyle/>
          <a:p>
            <a:pPr algn="ctr"/>
            <a:endParaRPr lang="ko-KR" dirty="0"/>
          </a:p>
        </p:txBody>
      </p:sp>
      <p:sp>
        <p:nvSpPr>
          <p:cNvPr id="23" name="t1-card r2 t1-rm"/>
          <p:cNvSpPr/>
          <p:nvPr/>
        </p:nvSpPr>
        <p:spPr>
          <a:xfrm>
            <a:off x="609600" y="4000897"/>
            <a:ext cx="3352800" cy="1498600"/>
          </a:xfrm>
          <a:prstGeom prst="roundRect">
            <a:avLst>
              <a:gd name="adj" fmla="val 8475"/>
            </a:avLst>
          </a:prstGeom>
          <a:solidFill>
            <a:srgbClr val="F3F5F8"/>
          </a:solidFill>
          <a:ln>
            <a:noFill/>
          </a:ln>
        </p:spPr>
        <p:txBody>
          <a:bodyPr rtlCol="0" anchor="ctr"/>
          <a:lstStyle/>
          <a:p>
            <a:pPr algn="ctr"/>
            <a:endParaRPr lang="ko-KR" dirty="0"/>
          </a:p>
        </p:txBody>
      </p:sp>
      <p:sp>
        <p:nvSpPr>
          <p:cNvPr id="24" name="svg line"/>
          <p:cNvSpPr/>
          <p:nvPr/>
        </p:nvSpPr>
        <p:spPr>
          <a:xfrm>
            <a:off x="901700" y="4736207"/>
            <a:ext cx="1117600" cy="1"/>
          </a:xfrm>
          <a:custGeom>
            <a:avLst/>
            <a:gdLst/>
            <a:ahLst/>
            <a:cxnLst/>
            <a:rect l="0" t="0" r="r" b="b"/>
            <a:pathLst>
              <a:path w="1117600" h="1">
                <a:moveTo>
                  <a:pt x="0" y="0"/>
                </a:moveTo>
                <a:lnTo>
                  <a:pt x="1117600" y="0"/>
                </a:lnTo>
              </a:path>
            </a:pathLst>
          </a:custGeom>
          <a:solidFill>
            <a:srgbClr val="000000"/>
          </a:solidFill>
          <a:ln w="12700">
            <a:solidFill>
              <a:srgbClr val="2B4A78"/>
            </a:solidFill>
            <a:miter lim="800000"/>
          </a:ln>
        </p:spPr>
        <p:txBody>
          <a:bodyPr rtlCol="0" anchor="ctr"/>
          <a:lstStyle/>
          <a:p>
            <a:pPr algn="ctr"/>
            <a:endParaRPr lang="ko-KR" dirty="0"/>
          </a:p>
        </p:txBody>
      </p:sp>
      <p:sp>
        <p:nvSpPr>
          <p:cNvPr id="25" name="svg polygon"/>
          <p:cNvSpPr/>
          <p:nvPr/>
        </p:nvSpPr>
        <p:spPr>
          <a:xfrm>
            <a:off x="2019300" y="4704457"/>
            <a:ext cx="63500" cy="63500"/>
          </a:xfrm>
          <a:custGeom>
            <a:avLst/>
            <a:gdLst/>
            <a:ahLst/>
            <a:cxnLst/>
            <a:rect l="0" t="0" r="r" b="b"/>
            <a:pathLst>
              <a:path w="63500" h="63500" stroke="0">
                <a:moveTo>
                  <a:pt x="63500" y="31750"/>
                </a:moveTo>
                <a:lnTo>
                  <a:pt x="0" y="0"/>
                </a:lnTo>
                <a:lnTo>
                  <a:pt x="0" y="63500"/>
                </a:lnTo>
                <a:close/>
              </a:path>
            </a:pathLst>
          </a:custGeom>
          <a:solidFill>
            <a:srgbClr val="2B4A78"/>
          </a:solidFill>
          <a:ln>
            <a:noFill/>
          </a:ln>
        </p:spPr>
        <p:txBody>
          <a:bodyPr rtlCol="0" anchor="ctr"/>
          <a:lstStyle/>
          <a:p>
            <a:pPr algn="ctr"/>
            <a:endParaRPr lang="ko-KR" dirty="0"/>
          </a:p>
        </p:txBody>
      </p:sp>
      <p:sp>
        <p:nvSpPr>
          <p:cNvPr id="26" name="svg circle"/>
          <p:cNvSpPr/>
          <p:nvPr/>
        </p:nvSpPr>
        <p:spPr>
          <a:xfrm>
            <a:off x="825500" y="4698107"/>
            <a:ext cx="76200" cy="76200"/>
          </a:xfrm>
          <a:prstGeom prst="ellipse">
            <a:avLst/>
          </a:prstGeom>
          <a:solidFill>
            <a:srgbClr val="FFFFFF"/>
          </a:solidFill>
          <a:ln w="15875">
            <a:solidFill>
              <a:srgbClr val="2B4A78"/>
            </a:solidFill>
            <a:miter lim="800000"/>
          </a:ln>
        </p:spPr>
        <p:txBody>
          <a:bodyPr rtlCol="0" anchor="ctr"/>
          <a:lstStyle/>
          <a:p>
            <a:pPr algn="ctr"/>
            <a:endParaRPr lang="ko-KR" dirty="0"/>
          </a:p>
        </p:txBody>
      </p:sp>
      <p:sp>
        <p:nvSpPr>
          <p:cNvPr id="27" name="svg circle"/>
          <p:cNvSpPr/>
          <p:nvPr/>
        </p:nvSpPr>
        <p:spPr>
          <a:xfrm>
            <a:off x="2108200" y="4698107"/>
            <a:ext cx="76200" cy="76200"/>
          </a:xfrm>
          <a:prstGeom prst="ellipse">
            <a:avLst/>
          </a:prstGeom>
          <a:solidFill>
            <a:srgbClr val="2B4A78"/>
          </a:solidFill>
          <a:ln>
            <a:noFill/>
          </a:ln>
        </p:spPr>
        <p:txBody>
          <a:bodyPr rtlCol="0" anchor="ctr"/>
          <a:lstStyle/>
          <a:p>
            <a:pPr algn="ctr"/>
            <a:endParaRPr lang="ko-KR" dirty="0"/>
          </a:p>
        </p:txBody>
      </p:sp>
      <p:sp>
        <p:nvSpPr>
          <p:cNvPr id="28" name="chip tint"/>
          <p:cNvSpPr/>
          <p:nvPr/>
        </p:nvSpPr>
        <p:spPr>
          <a:xfrm>
            <a:off x="4270375" y="1629172"/>
            <a:ext cx="391914" cy="222250"/>
          </a:xfrm>
          <a:prstGeom prst="roundRect">
            <a:avLst>
              <a:gd name="adj" fmla="val 50000"/>
            </a:avLst>
          </a:prstGeom>
          <a:solidFill>
            <a:srgbClr val="E8EEF6"/>
          </a:solidFill>
          <a:ln w="6350">
            <a:solidFill>
              <a:srgbClr val="E8EEF6"/>
            </a:solidFill>
            <a:miter lim="800000"/>
          </a:ln>
        </p:spPr>
        <p:txBody>
          <a:bodyPr rtlCol="0" anchor="ctr"/>
          <a:lstStyle/>
          <a:p>
            <a:pPr algn="ctr"/>
            <a:endParaRPr lang="ko-KR" dirty="0"/>
          </a:p>
        </p:txBody>
      </p:sp>
      <p:sp>
        <p:nvSpPr>
          <p:cNvPr id="29" name="t1-hd::after"/>
          <p:cNvSpPr/>
          <p:nvPr/>
        </p:nvSpPr>
        <p:spPr>
          <a:xfrm>
            <a:off x="6987480" y="1733947"/>
            <a:ext cx="632520" cy="12700"/>
          </a:xfrm>
          <a:prstGeom prst="roundRect">
            <a:avLst>
              <a:gd name="adj" fmla="val 50000"/>
            </a:avLst>
          </a:prstGeom>
          <a:solidFill>
            <a:srgbClr val="102A4C"/>
          </a:solidFill>
          <a:ln>
            <a:noFill/>
          </a:ln>
        </p:spPr>
        <p:txBody>
          <a:bodyPr rtlCol="0" anchor="ctr"/>
          <a:lstStyle/>
          <a:p>
            <a:pPr algn="ctr"/>
            <a:endParaRPr lang="ko-KR" dirty="0"/>
          </a:p>
        </p:txBody>
      </p:sp>
      <p:sp>
        <p:nvSpPr>
          <p:cNvPr id="30" name="t1-card r1 t1-real t1-new"/>
          <p:cNvSpPr/>
          <p:nvPr/>
        </p:nvSpPr>
        <p:spPr>
          <a:xfrm>
            <a:off x="4267200" y="1968897"/>
            <a:ext cx="3352800" cy="1930400"/>
          </a:xfrm>
          <a:prstGeom prst="roundRect">
            <a:avLst>
              <a:gd name="adj" fmla="val 6579"/>
            </a:avLst>
          </a:prstGeom>
          <a:solidFill>
            <a:srgbClr val="F3F5F8"/>
          </a:solidFill>
          <a:ln>
            <a:noFill/>
          </a:ln>
        </p:spPr>
        <p:txBody>
          <a:bodyPr rtlCol="0" anchor="ctr"/>
          <a:lstStyle/>
          <a:p>
            <a:pPr algn="ctr"/>
            <a:endParaRPr lang="ko-KR" dirty="0"/>
          </a:p>
        </p:txBody>
      </p:sp>
      <p:sp>
        <p:nvSpPr>
          <p:cNvPr id="31" name="t1-ico"/>
          <p:cNvSpPr/>
          <p:nvPr/>
        </p:nvSpPr>
        <p:spPr>
          <a:xfrm>
            <a:off x="4470400" y="2121297"/>
            <a:ext cx="330200" cy="330200"/>
          </a:xfrm>
          <a:prstGeom prst="roundRect">
            <a:avLst>
              <a:gd name="adj" fmla="val 26923"/>
            </a:avLst>
          </a:prstGeom>
          <a:solidFill>
            <a:srgbClr val="FFFFFF"/>
          </a:solidFill>
          <a:ln>
            <a:noFill/>
          </a:ln>
        </p:spPr>
        <p:txBody>
          <a:bodyPr rtlCol="0" anchor="ctr"/>
          <a:lstStyle/>
          <a:p>
            <a:pPr algn="ctr"/>
            <a:endParaRPr lang="ko-KR" dirty="0"/>
          </a:p>
        </p:txBody>
      </p:sp>
      <p:sp>
        <p:nvSpPr>
          <p:cNvPr id="32" name="svg path"/>
          <p:cNvSpPr/>
          <p:nvPr/>
        </p:nvSpPr>
        <p:spPr>
          <a:xfrm>
            <a:off x="4559300" y="2203847"/>
            <a:ext cx="101600" cy="146050"/>
          </a:xfrm>
          <a:custGeom>
            <a:avLst/>
            <a:gdLst/>
            <a:ahLst/>
            <a:cxnLst/>
            <a:rect l="0" t="0" r="r" b="b"/>
            <a:pathLst>
              <a:path w="101600" h="146050" fill="none">
                <a:moveTo>
                  <a:pt x="0" y="0"/>
                </a:moveTo>
                <a:lnTo>
                  <a:pt x="69850" y="0"/>
                </a:lnTo>
                <a:lnTo>
                  <a:pt x="101600" y="31750"/>
                </a:lnTo>
                <a:lnTo>
                  <a:pt x="101600" y="146050"/>
                </a:lnTo>
                <a:lnTo>
                  <a:pt x="0" y="146050"/>
                </a:lnTo>
                <a:close/>
              </a:path>
            </a:pathLst>
          </a:custGeom>
          <a:noFill/>
          <a:ln w="12700" cap="rnd">
            <a:solidFill>
              <a:srgbClr val="102A4C"/>
            </a:solidFill>
            <a:round/>
          </a:ln>
        </p:spPr>
        <p:txBody>
          <a:bodyPr rtlCol="0" anchor="ctr"/>
          <a:lstStyle/>
          <a:p>
            <a:pPr algn="ctr"/>
            <a:endParaRPr lang="ko-KR" dirty="0"/>
          </a:p>
        </p:txBody>
      </p:sp>
      <p:sp>
        <p:nvSpPr>
          <p:cNvPr id="33" name="svg path"/>
          <p:cNvSpPr/>
          <p:nvPr/>
        </p:nvSpPr>
        <p:spPr>
          <a:xfrm>
            <a:off x="4629150" y="2203847"/>
            <a:ext cx="31750" cy="31750"/>
          </a:xfrm>
          <a:custGeom>
            <a:avLst/>
            <a:gdLst/>
            <a:ahLst/>
            <a:cxnLst/>
            <a:rect l="0" t="0" r="r" b="b"/>
            <a:pathLst>
              <a:path w="31750" h="31750" fill="none">
                <a:moveTo>
                  <a:pt x="0" y="0"/>
                </a:moveTo>
                <a:lnTo>
                  <a:pt x="0" y="31750"/>
                </a:lnTo>
                <a:lnTo>
                  <a:pt x="31750" y="31750"/>
                </a:lnTo>
              </a:path>
            </a:pathLst>
          </a:custGeom>
          <a:noFill/>
          <a:ln w="12700" cap="rnd">
            <a:solidFill>
              <a:srgbClr val="102A4C"/>
            </a:solidFill>
            <a:round/>
          </a:ln>
        </p:spPr>
        <p:txBody>
          <a:bodyPr rtlCol="0" anchor="ctr"/>
          <a:lstStyle/>
          <a:p>
            <a:pPr algn="ctr"/>
            <a:endParaRPr lang="ko-KR" dirty="0"/>
          </a:p>
        </p:txBody>
      </p:sp>
      <p:sp>
        <p:nvSpPr>
          <p:cNvPr id="34" name="svg path"/>
          <p:cNvSpPr/>
          <p:nvPr/>
        </p:nvSpPr>
        <p:spPr>
          <a:xfrm>
            <a:off x="4584700" y="2260997"/>
            <a:ext cx="31750" cy="28575"/>
          </a:xfrm>
          <a:custGeom>
            <a:avLst/>
            <a:gdLst/>
            <a:ahLst/>
            <a:cxnLst/>
            <a:rect l="0" t="0" r="r" b="b"/>
            <a:pathLst>
              <a:path w="31750" h="28575" fill="none">
                <a:moveTo>
                  <a:pt x="0" y="0"/>
                </a:moveTo>
                <a:lnTo>
                  <a:pt x="31750" y="0"/>
                </a:lnTo>
                <a:moveTo>
                  <a:pt x="0" y="28575"/>
                </a:moveTo>
                <a:lnTo>
                  <a:pt x="19050" y="28575"/>
                </a:lnTo>
              </a:path>
            </a:pathLst>
          </a:custGeom>
          <a:noFill/>
          <a:ln w="12700" cap="rnd">
            <a:solidFill>
              <a:srgbClr val="102A4C"/>
            </a:solidFill>
            <a:round/>
          </a:ln>
        </p:spPr>
        <p:txBody>
          <a:bodyPr rtlCol="0" anchor="ctr"/>
          <a:lstStyle/>
          <a:p>
            <a:pPr algn="ctr"/>
            <a:endParaRPr lang="ko-KR" dirty="0"/>
          </a:p>
        </p:txBody>
      </p:sp>
      <p:sp>
        <p:nvSpPr>
          <p:cNvPr id="35" name="svg path"/>
          <p:cNvSpPr/>
          <p:nvPr/>
        </p:nvSpPr>
        <p:spPr>
          <a:xfrm>
            <a:off x="4632325" y="2267347"/>
            <a:ext cx="95250" cy="104775"/>
          </a:xfrm>
          <a:custGeom>
            <a:avLst/>
            <a:gdLst/>
            <a:ahLst/>
            <a:cxnLst/>
            <a:rect l="0" t="0" r="r" b="b"/>
            <a:pathLst>
              <a:path w="95250" h="104775">
                <a:moveTo>
                  <a:pt x="47625" y="0"/>
                </a:moveTo>
                <a:lnTo>
                  <a:pt x="95250" y="25400"/>
                </a:lnTo>
                <a:lnTo>
                  <a:pt x="95250" y="79375"/>
                </a:lnTo>
                <a:lnTo>
                  <a:pt x="47625" y="104775"/>
                </a:lnTo>
                <a:lnTo>
                  <a:pt x="0" y="79375"/>
                </a:lnTo>
                <a:lnTo>
                  <a:pt x="0" y="25400"/>
                </a:lnTo>
                <a:close/>
              </a:path>
            </a:pathLst>
          </a:custGeom>
          <a:solidFill>
            <a:srgbClr val="FFFFFF"/>
          </a:solidFill>
          <a:ln w="12700" cap="rnd">
            <a:solidFill>
              <a:srgbClr val="102A4C"/>
            </a:solidFill>
            <a:round/>
          </a:ln>
        </p:spPr>
        <p:txBody>
          <a:bodyPr rtlCol="0" anchor="ctr"/>
          <a:lstStyle/>
          <a:p>
            <a:pPr algn="ctr"/>
            <a:endParaRPr lang="ko-KR" dirty="0"/>
          </a:p>
        </p:txBody>
      </p:sp>
      <p:sp>
        <p:nvSpPr>
          <p:cNvPr id="36" name="svg path"/>
          <p:cNvSpPr/>
          <p:nvPr/>
        </p:nvSpPr>
        <p:spPr>
          <a:xfrm>
            <a:off x="4632325" y="2292747"/>
            <a:ext cx="95250" cy="79375"/>
          </a:xfrm>
          <a:custGeom>
            <a:avLst/>
            <a:gdLst/>
            <a:ahLst/>
            <a:cxnLst/>
            <a:rect l="0" t="0" r="r" b="b"/>
            <a:pathLst>
              <a:path w="95250" h="79375" fill="none">
                <a:moveTo>
                  <a:pt x="0" y="0"/>
                </a:moveTo>
                <a:lnTo>
                  <a:pt x="47625" y="25400"/>
                </a:lnTo>
                <a:lnTo>
                  <a:pt x="95250" y="0"/>
                </a:lnTo>
                <a:moveTo>
                  <a:pt x="47625" y="25400"/>
                </a:moveTo>
                <a:lnTo>
                  <a:pt x="47625" y="79375"/>
                </a:lnTo>
              </a:path>
            </a:pathLst>
          </a:custGeom>
          <a:noFill/>
          <a:ln w="12700" cap="rnd">
            <a:solidFill>
              <a:srgbClr val="102A4C"/>
            </a:solidFill>
            <a:round/>
          </a:ln>
        </p:spPr>
        <p:txBody>
          <a:bodyPr rtlCol="0" anchor="ctr"/>
          <a:lstStyle/>
          <a:p>
            <a:pPr algn="ctr"/>
            <a:endParaRPr lang="ko-KR" dirty="0"/>
          </a:p>
        </p:txBody>
      </p:sp>
      <p:sp>
        <p:nvSpPr>
          <p:cNvPr id="37" name="t1-so"/>
          <p:cNvSpPr/>
          <p:nvPr/>
        </p:nvSpPr>
        <p:spPr>
          <a:xfrm>
            <a:off x="4470400" y="3225006"/>
            <a:ext cx="2946400" cy="330200"/>
          </a:xfrm>
          <a:prstGeom prst="roundRect">
            <a:avLst>
              <a:gd name="adj" fmla="val 23077"/>
            </a:avLst>
          </a:prstGeom>
          <a:solidFill>
            <a:srgbClr val="FFFFFF"/>
          </a:solidFill>
          <a:ln>
            <a:noFill/>
          </a:ln>
        </p:spPr>
        <p:txBody>
          <a:bodyPr rtlCol="0" anchor="ctr"/>
          <a:lstStyle/>
          <a:p>
            <a:pPr algn="ctr"/>
            <a:endParaRPr lang="ko-KR" dirty="0"/>
          </a:p>
        </p:txBody>
      </p:sp>
      <p:sp>
        <p:nvSpPr>
          <p:cNvPr id="38" name="svg path"/>
          <p:cNvSpPr/>
          <p:nvPr/>
        </p:nvSpPr>
        <p:spPr>
          <a:xfrm>
            <a:off x="4603750" y="3358356"/>
            <a:ext cx="82550" cy="63500"/>
          </a:xfrm>
          <a:custGeom>
            <a:avLst/>
            <a:gdLst/>
            <a:ahLst/>
            <a:cxnLst/>
            <a:rect l="0" t="0" r="r" b="b"/>
            <a:pathLst>
              <a:path w="82550" h="63500" fill="none">
                <a:moveTo>
                  <a:pt x="0" y="31750"/>
                </a:moveTo>
                <a:lnTo>
                  <a:pt x="82550" y="31750"/>
                </a:lnTo>
                <a:moveTo>
                  <a:pt x="50800" y="0"/>
                </a:moveTo>
                <a:lnTo>
                  <a:pt x="82550" y="31750"/>
                </a:lnTo>
                <a:lnTo>
                  <a:pt x="50800" y="63500"/>
                </a:lnTo>
              </a:path>
            </a:pathLst>
          </a:custGeom>
          <a:noFill/>
          <a:ln w="15240" cap="rnd">
            <a:solidFill>
              <a:srgbClr val="102A4C"/>
            </a:solidFill>
            <a:round/>
          </a:ln>
        </p:spPr>
        <p:txBody>
          <a:bodyPr rtlCol="0" anchor="ctr"/>
          <a:lstStyle/>
          <a:p>
            <a:pPr algn="ctr"/>
            <a:endParaRPr lang="ko-KR" dirty="0"/>
          </a:p>
        </p:txBody>
      </p:sp>
      <p:sp>
        <p:nvSpPr>
          <p:cNvPr id="39" name="t1-card r2 t1-real"/>
          <p:cNvSpPr/>
          <p:nvPr/>
        </p:nvSpPr>
        <p:spPr>
          <a:xfrm>
            <a:off x="4267200" y="4000897"/>
            <a:ext cx="3352800" cy="1498600"/>
          </a:xfrm>
          <a:prstGeom prst="roundRect">
            <a:avLst>
              <a:gd name="adj" fmla="val 8475"/>
            </a:avLst>
          </a:prstGeom>
          <a:solidFill>
            <a:srgbClr val="F3F5F8"/>
          </a:solidFill>
          <a:ln>
            <a:noFill/>
          </a:ln>
        </p:spPr>
        <p:txBody>
          <a:bodyPr rtlCol="0" anchor="ctr"/>
          <a:lstStyle/>
          <a:p>
            <a:pPr algn="ctr"/>
            <a:endParaRPr lang="ko-KR" dirty="0"/>
          </a:p>
        </p:txBody>
      </p:sp>
      <p:sp>
        <p:nvSpPr>
          <p:cNvPr id="40" name="t1-ico"/>
          <p:cNvSpPr/>
          <p:nvPr/>
        </p:nvSpPr>
        <p:spPr>
          <a:xfrm>
            <a:off x="4470400" y="4140597"/>
            <a:ext cx="330200" cy="330200"/>
          </a:xfrm>
          <a:prstGeom prst="roundRect">
            <a:avLst>
              <a:gd name="adj" fmla="val 26923"/>
            </a:avLst>
          </a:prstGeom>
          <a:solidFill>
            <a:srgbClr val="FFFFFF"/>
          </a:solidFill>
          <a:ln>
            <a:noFill/>
          </a:ln>
        </p:spPr>
        <p:txBody>
          <a:bodyPr rtlCol="0" anchor="ctr"/>
          <a:lstStyle/>
          <a:p>
            <a:pPr algn="ctr"/>
            <a:endParaRPr lang="ko-KR" dirty="0"/>
          </a:p>
        </p:txBody>
      </p:sp>
      <p:sp>
        <p:nvSpPr>
          <p:cNvPr id="41" name="svg path"/>
          <p:cNvSpPr/>
          <p:nvPr/>
        </p:nvSpPr>
        <p:spPr>
          <a:xfrm>
            <a:off x="4572000" y="4235847"/>
            <a:ext cx="95250" cy="152400"/>
          </a:xfrm>
          <a:custGeom>
            <a:avLst/>
            <a:gdLst/>
            <a:ahLst/>
            <a:cxnLst/>
            <a:rect l="0" t="0" r="r" b="b"/>
            <a:pathLst>
              <a:path w="95250" h="152400" fill="none">
                <a:moveTo>
                  <a:pt x="0" y="152400"/>
                </a:moveTo>
                <a:lnTo>
                  <a:pt x="0" y="0"/>
                </a:lnTo>
                <a:lnTo>
                  <a:pt x="95250" y="0"/>
                </a:lnTo>
                <a:lnTo>
                  <a:pt x="95250" y="152400"/>
                </a:lnTo>
              </a:path>
            </a:pathLst>
          </a:custGeom>
          <a:noFill/>
          <a:ln w="12700" cap="rnd">
            <a:solidFill>
              <a:srgbClr val="102A4C"/>
            </a:solidFill>
            <a:round/>
          </a:ln>
        </p:spPr>
        <p:txBody>
          <a:bodyPr rtlCol="0" anchor="ctr"/>
          <a:lstStyle/>
          <a:p>
            <a:pPr algn="ctr"/>
            <a:endParaRPr lang="ko-KR" dirty="0"/>
          </a:p>
        </p:txBody>
      </p:sp>
      <p:sp>
        <p:nvSpPr>
          <p:cNvPr id="42" name="svg path"/>
          <p:cNvSpPr/>
          <p:nvPr/>
        </p:nvSpPr>
        <p:spPr>
          <a:xfrm>
            <a:off x="4667250" y="4286647"/>
            <a:ext cx="38100" cy="101600"/>
          </a:xfrm>
          <a:custGeom>
            <a:avLst/>
            <a:gdLst/>
            <a:ahLst/>
            <a:cxnLst/>
            <a:rect l="0" t="0" r="r" b="b"/>
            <a:pathLst>
              <a:path w="38100" h="101600" fill="none">
                <a:moveTo>
                  <a:pt x="0" y="0"/>
                </a:moveTo>
                <a:lnTo>
                  <a:pt x="38100" y="0"/>
                </a:lnTo>
                <a:lnTo>
                  <a:pt x="38100" y="101600"/>
                </a:lnTo>
              </a:path>
            </a:pathLst>
          </a:custGeom>
          <a:noFill/>
          <a:ln w="12700" cap="rnd">
            <a:solidFill>
              <a:srgbClr val="102A4C"/>
            </a:solidFill>
            <a:round/>
          </a:ln>
        </p:spPr>
        <p:txBody>
          <a:bodyPr rtlCol="0" anchor="ctr"/>
          <a:lstStyle/>
          <a:p>
            <a:pPr algn="ctr"/>
            <a:endParaRPr lang="ko-KR" dirty="0"/>
          </a:p>
        </p:txBody>
      </p:sp>
      <p:sp>
        <p:nvSpPr>
          <p:cNvPr id="43" name="svg path"/>
          <p:cNvSpPr/>
          <p:nvPr/>
        </p:nvSpPr>
        <p:spPr>
          <a:xfrm>
            <a:off x="4552950" y="4388247"/>
            <a:ext cx="171450" cy="1"/>
          </a:xfrm>
          <a:custGeom>
            <a:avLst/>
            <a:gdLst/>
            <a:ahLst/>
            <a:cxnLst/>
            <a:rect l="0" t="0" r="r" b="b"/>
            <a:pathLst>
              <a:path w="171450" h="1" fill="none">
                <a:moveTo>
                  <a:pt x="0" y="0"/>
                </a:moveTo>
                <a:lnTo>
                  <a:pt x="171450" y="0"/>
                </a:lnTo>
              </a:path>
            </a:pathLst>
          </a:custGeom>
          <a:noFill/>
          <a:ln w="12700" cap="rnd">
            <a:solidFill>
              <a:srgbClr val="102A4C"/>
            </a:solidFill>
            <a:round/>
          </a:ln>
        </p:spPr>
        <p:txBody>
          <a:bodyPr rtlCol="0" anchor="ctr"/>
          <a:lstStyle/>
          <a:p>
            <a:pPr algn="ctr"/>
            <a:endParaRPr lang="ko-KR" dirty="0"/>
          </a:p>
        </p:txBody>
      </p:sp>
      <p:sp>
        <p:nvSpPr>
          <p:cNvPr id="44" name="svg path"/>
          <p:cNvSpPr/>
          <p:nvPr/>
        </p:nvSpPr>
        <p:spPr>
          <a:xfrm>
            <a:off x="4597400" y="4267597"/>
            <a:ext cx="44450" cy="63500"/>
          </a:xfrm>
          <a:custGeom>
            <a:avLst/>
            <a:gdLst/>
            <a:ahLst/>
            <a:cxnLst/>
            <a:rect l="0" t="0" r="r" b="b"/>
            <a:pathLst>
              <a:path w="44450" h="63500" fill="none">
                <a:moveTo>
                  <a:pt x="0" y="0"/>
                </a:moveTo>
                <a:lnTo>
                  <a:pt x="12700" y="0"/>
                </a:lnTo>
                <a:moveTo>
                  <a:pt x="31750" y="0"/>
                </a:moveTo>
                <a:lnTo>
                  <a:pt x="44450" y="0"/>
                </a:lnTo>
                <a:moveTo>
                  <a:pt x="0" y="31750"/>
                </a:moveTo>
                <a:lnTo>
                  <a:pt x="12700" y="31750"/>
                </a:lnTo>
                <a:moveTo>
                  <a:pt x="31750" y="31750"/>
                </a:moveTo>
                <a:lnTo>
                  <a:pt x="44450" y="31750"/>
                </a:lnTo>
                <a:moveTo>
                  <a:pt x="0" y="63500"/>
                </a:moveTo>
                <a:lnTo>
                  <a:pt x="12700" y="63500"/>
                </a:lnTo>
                <a:moveTo>
                  <a:pt x="31750" y="63500"/>
                </a:moveTo>
                <a:lnTo>
                  <a:pt x="44450" y="63500"/>
                </a:lnTo>
              </a:path>
            </a:pathLst>
          </a:custGeom>
          <a:noFill/>
          <a:ln w="12700" cap="rnd">
            <a:solidFill>
              <a:srgbClr val="102A4C"/>
            </a:solidFill>
            <a:round/>
          </a:ln>
        </p:spPr>
        <p:txBody>
          <a:bodyPr rtlCol="0" anchor="ctr"/>
          <a:lstStyle/>
          <a:p>
            <a:pPr algn="ctr"/>
            <a:endParaRPr lang="ko-KR" dirty="0"/>
          </a:p>
        </p:txBody>
      </p:sp>
      <p:sp>
        <p:nvSpPr>
          <p:cNvPr id="45" name="svg path"/>
          <p:cNvSpPr/>
          <p:nvPr/>
        </p:nvSpPr>
        <p:spPr>
          <a:xfrm>
            <a:off x="4610100" y="4362847"/>
            <a:ext cx="19050" cy="25400"/>
          </a:xfrm>
          <a:custGeom>
            <a:avLst/>
            <a:gdLst/>
            <a:ahLst/>
            <a:cxnLst/>
            <a:rect l="0" t="0" r="r" b="b"/>
            <a:pathLst>
              <a:path w="19050" h="25400" fill="none">
                <a:moveTo>
                  <a:pt x="0" y="25400"/>
                </a:moveTo>
                <a:lnTo>
                  <a:pt x="0" y="0"/>
                </a:lnTo>
                <a:lnTo>
                  <a:pt x="19050" y="0"/>
                </a:lnTo>
                <a:lnTo>
                  <a:pt x="19050" y="25400"/>
                </a:lnTo>
              </a:path>
            </a:pathLst>
          </a:custGeom>
          <a:noFill/>
          <a:ln w="12700" cap="rnd">
            <a:solidFill>
              <a:srgbClr val="102A4C"/>
            </a:solidFill>
            <a:round/>
          </a:ln>
        </p:spPr>
        <p:txBody>
          <a:bodyPr rtlCol="0" anchor="ctr"/>
          <a:lstStyle/>
          <a:p>
            <a:pPr algn="ctr"/>
            <a:endParaRPr lang="ko-KR" dirty="0"/>
          </a:p>
        </p:txBody>
      </p:sp>
      <p:sp>
        <p:nvSpPr>
          <p:cNvPr id="46" name="t1-so"/>
          <p:cNvSpPr/>
          <p:nvPr/>
        </p:nvSpPr>
        <p:spPr>
          <a:xfrm>
            <a:off x="4470400" y="4991497"/>
            <a:ext cx="2946400" cy="330200"/>
          </a:xfrm>
          <a:prstGeom prst="roundRect">
            <a:avLst>
              <a:gd name="adj" fmla="val 23077"/>
            </a:avLst>
          </a:prstGeom>
          <a:solidFill>
            <a:srgbClr val="FFFFFF"/>
          </a:solidFill>
          <a:ln>
            <a:noFill/>
          </a:ln>
        </p:spPr>
        <p:txBody>
          <a:bodyPr rtlCol="0" anchor="ctr"/>
          <a:lstStyle/>
          <a:p>
            <a:pPr algn="ctr"/>
            <a:endParaRPr lang="ko-KR" dirty="0"/>
          </a:p>
        </p:txBody>
      </p:sp>
      <p:sp>
        <p:nvSpPr>
          <p:cNvPr id="47" name="svg path"/>
          <p:cNvSpPr/>
          <p:nvPr/>
        </p:nvSpPr>
        <p:spPr>
          <a:xfrm>
            <a:off x="4603750" y="5124847"/>
            <a:ext cx="82550" cy="63500"/>
          </a:xfrm>
          <a:custGeom>
            <a:avLst/>
            <a:gdLst/>
            <a:ahLst/>
            <a:cxnLst/>
            <a:rect l="0" t="0" r="r" b="b"/>
            <a:pathLst>
              <a:path w="82550" h="63500" fill="none">
                <a:moveTo>
                  <a:pt x="0" y="31750"/>
                </a:moveTo>
                <a:lnTo>
                  <a:pt x="82550" y="31750"/>
                </a:lnTo>
                <a:moveTo>
                  <a:pt x="50800" y="0"/>
                </a:moveTo>
                <a:lnTo>
                  <a:pt x="82550" y="31750"/>
                </a:lnTo>
                <a:lnTo>
                  <a:pt x="50800" y="63500"/>
                </a:lnTo>
              </a:path>
            </a:pathLst>
          </a:custGeom>
          <a:noFill/>
          <a:ln w="15240" cap="rnd">
            <a:solidFill>
              <a:srgbClr val="102A4C"/>
            </a:solidFill>
            <a:round/>
          </a:ln>
        </p:spPr>
        <p:txBody>
          <a:bodyPr rtlCol="0" anchor="ctr"/>
          <a:lstStyle/>
          <a:p>
            <a:pPr algn="ctr"/>
            <a:endParaRPr lang="ko-KR" dirty="0"/>
          </a:p>
        </p:txBody>
      </p:sp>
      <p:sp>
        <p:nvSpPr>
          <p:cNvPr id="48" name="chip navy"/>
          <p:cNvSpPr/>
          <p:nvPr/>
        </p:nvSpPr>
        <p:spPr>
          <a:xfrm>
            <a:off x="7927975" y="1629172"/>
            <a:ext cx="391914" cy="222250"/>
          </a:xfrm>
          <a:prstGeom prst="roundRect">
            <a:avLst>
              <a:gd name="adj" fmla="val 50000"/>
            </a:avLst>
          </a:prstGeom>
          <a:solidFill>
            <a:srgbClr val="102A4C"/>
          </a:solidFill>
          <a:ln w="6350">
            <a:solidFill>
              <a:srgbClr val="102A4C"/>
            </a:solidFill>
            <a:miter lim="800000"/>
          </a:ln>
        </p:spPr>
        <p:txBody>
          <a:bodyPr rtlCol="0" anchor="ctr"/>
          <a:lstStyle/>
          <a:p>
            <a:pPr algn="ctr"/>
            <a:endParaRPr lang="ko-KR" dirty="0"/>
          </a:p>
        </p:txBody>
      </p:sp>
      <p:sp>
        <p:nvSpPr>
          <p:cNvPr id="49" name="t1-hd::after"/>
          <p:cNvSpPr/>
          <p:nvPr/>
        </p:nvSpPr>
        <p:spPr>
          <a:xfrm>
            <a:off x="10430768" y="1733947"/>
            <a:ext cx="1151632" cy="12700"/>
          </a:xfrm>
          <a:prstGeom prst="roundRect">
            <a:avLst>
              <a:gd name="adj" fmla="val 50000"/>
            </a:avLst>
          </a:prstGeom>
          <a:solidFill>
            <a:srgbClr val="102A4C"/>
          </a:solidFill>
          <a:ln>
            <a:noFill/>
          </a:ln>
        </p:spPr>
        <p:txBody>
          <a:bodyPr rtlCol="0" anchor="ctr"/>
          <a:lstStyle/>
          <a:p>
            <a:pPr algn="ctr"/>
            <a:endParaRPr lang="ko-KR" dirty="0"/>
          </a:p>
        </p:txBody>
      </p:sp>
      <p:sp>
        <p:nvSpPr>
          <p:cNvPr id="50" name="t1-card full t1-prob"/>
          <p:cNvSpPr/>
          <p:nvPr/>
        </p:nvSpPr>
        <p:spPr>
          <a:xfrm>
            <a:off x="7931150" y="1975247"/>
            <a:ext cx="3644900" cy="3517900"/>
          </a:xfrm>
          <a:prstGeom prst="roundRect">
            <a:avLst>
              <a:gd name="adj" fmla="val 3430"/>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51" name="t1-sheet"/>
          <p:cNvSpPr/>
          <p:nvPr/>
        </p:nvSpPr>
        <p:spPr>
          <a:xfrm>
            <a:off x="8385175" y="2175272"/>
            <a:ext cx="628650" cy="628650"/>
          </a:xfrm>
          <a:prstGeom prst="roundRect">
            <a:avLst>
              <a:gd name="adj" fmla="val 5556"/>
            </a:avLst>
          </a:prstGeom>
          <a:solidFill>
            <a:srgbClr val="FFFFFF"/>
          </a:solidFill>
          <a:ln w="6350">
            <a:solidFill>
              <a:srgbClr val="C8CFD8"/>
            </a:solidFill>
            <a:miter lim="800000"/>
          </a:ln>
          <a:effectLst>
            <a:outerShdw blurRad="76200" dist="25400" dir="5400000" algn="ctr" rotWithShape="0">
              <a:srgbClr val="102A4C">
                <a:alpha val="10000"/>
              </a:srgbClr>
            </a:outerShdw>
          </a:effectLst>
        </p:spPr>
        <p:txBody>
          <a:bodyPr rtlCol="0" anchor="ctr"/>
          <a:lstStyle/>
          <a:p>
            <a:pPr algn="ctr"/>
            <a:endParaRPr lang="ko-KR" dirty="0"/>
          </a:p>
        </p:txBody>
      </p:sp>
      <p:pic>
        <p:nvPicPr>
          <p:cNvPr id="52" name="img" descr="img">    </p:cNvPr>
          <p:cNvPicPr>
            <a:picLocks noChangeAspect="1"/>
          </p:cNvPicPr>
          <p:nvPr/>
        </p:nvPicPr>
        <p:blipFill>
          <a:blip r:embed="rId1"/>
          <a:stretch>
            <a:fillRect/>
          </a:stretch>
        </p:blipFill>
        <p:spPr>
          <a:xfrm>
            <a:off x="8388350" y="2178447"/>
            <a:ext cx="622300" cy="622300"/>
          </a:xfrm>
          <a:prstGeom prst="rect">
            <a:avLst/>
          </a:prstGeom>
        </p:spPr>
      </p:pic>
      <p:sp>
        <p:nvSpPr>
          <p:cNvPr id="53" name="t1-sheet"/>
          <p:cNvSpPr/>
          <p:nvPr/>
        </p:nvSpPr>
        <p:spPr>
          <a:xfrm>
            <a:off x="8131175" y="2365772"/>
            <a:ext cx="628650" cy="628650"/>
          </a:xfrm>
          <a:prstGeom prst="roundRect">
            <a:avLst>
              <a:gd name="adj" fmla="val 5556"/>
            </a:avLst>
          </a:prstGeom>
          <a:solidFill>
            <a:srgbClr val="FFFFFF"/>
          </a:solidFill>
          <a:ln w="6350">
            <a:solidFill>
              <a:srgbClr val="C8CFD8"/>
            </a:solidFill>
            <a:miter lim="800000"/>
          </a:ln>
          <a:effectLst>
            <a:outerShdw blurRad="76200" dist="25400" dir="5400000" algn="ctr" rotWithShape="0">
              <a:srgbClr val="102A4C">
                <a:alpha val="10000"/>
              </a:srgbClr>
            </a:outerShdw>
          </a:effectLst>
        </p:spPr>
        <p:txBody>
          <a:bodyPr rtlCol="0" anchor="ctr"/>
          <a:lstStyle/>
          <a:p>
            <a:pPr algn="ctr"/>
            <a:endParaRPr lang="ko-KR" dirty="0"/>
          </a:p>
        </p:txBody>
      </p:sp>
      <p:pic>
        <p:nvPicPr>
          <p:cNvPr id="54" name="img" descr="img">    </p:cNvPr>
          <p:cNvPicPr>
            <a:picLocks noChangeAspect="1"/>
          </p:cNvPicPr>
          <p:nvPr/>
        </p:nvPicPr>
        <p:blipFill>
          <a:blip r:embed="rId2"/>
          <a:stretch>
            <a:fillRect/>
          </a:stretch>
        </p:blipFill>
        <p:spPr>
          <a:xfrm>
            <a:off x="8134350" y="2368947"/>
            <a:ext cx="622300" cy="622300"/>
          </a:xfrm>
          <a:prstGeom prst="rect">
            <a:avLst/>
          </a:prstGeom>
        </p:spPr>
      </p:pic>
      <p:sp>
        <p:nvSpPr>
          <p:cNvPr id="55" name="svg line"/>
          <p:cNvSpPr/>
          <p:nvPr/>
        </p:nvSpPr>
        <p:spPr>
          <a:xfrm>
            <a:off x="9118600" y="2584847"/>
            <a:ext cx="165100" cy="1"/>
          </a:xfrm>
          <a:custGeom>
            <a:avLst/>
            <a:gdLst/>
            <a:ahLst/>
            <a:cxnLst/>
            <a:rect l="0" t="0" r="r" b="b"/>
            <a:pathLst>
              <a:path w="165100" h="1">
                <a:moveTo>
                  <a:pt x="0" y="0"/>
                </a:moveTo>
                <a:lnTo>
                  <a:pt x="165100" y="0"/>
                </a:lnTo>
              </a:path>
            </a:pathLst>
          </a:custGeom>
          <a:solidFill>
            <a:srgbClr val="000000"/>
          </a:solidFill>
          <a:ln w="15875" cap="rnd">
            <a:solidFill>
              <a:srgbClr val="2B4A78"/>
            </a:solidFill>
            <a:miter lim="800000"/>
          </a:ln>
        </p:spPr>
        <p:txBody>
          <a:bodyPr rtlCol="0" anchor="ctr"/>
          <a:lstStyle/>
          <a:p>
            <a:pPr algn="ctr"/>
            <a:endParaRPr lang="ko-KR" dirty="0"/>
          </a:p>
        </p:txBody>
      </p:sp>
      <p:sp>
        <p:nvSpPr>
          <p:cNvPr id="56" name="svg polygon"/>
          <p:cNvSpPr/>
          <p:nvPr/>
        </p:nvSpPr>
        <p:spPr>
          <a:xfrm>
            <a:off x="9277350" y="2546747"/>
            <a:ext cx="69850" cy="76200"/>
          </a:xfrm>
          <a:custGeom>
            <a:avLst/>
            <a:gdLst/>
            <a:ahLst/>
            <a:cxnLst/>
            <a:rect l="0" t="0" r="r" b="b"/>
            <a:pathLst>
              <a:path w="69850" h="76200" stroke="0">
                <a:moveTo>
                  <a:pt x="69850" y="38100"/>
                </a:moveTo>
                <a:lnTo>
                  <a:pt x="0" y="0"/>
                </a:lnTo>
                <a:lnTo>
                  <a:pt x="0" y="76200"/>
                </a:lnTo>
                <a:close/>
              </a:path>
            </a:pathLst>
          </a:custGeom>
          <a:solidFill>
            <a:srgbClr val="2B4A78"/>
          </a:solidFill>
          <a:ln>
            <a:noFill/>
          </a:ln>
        </p:spPr>
        <p:txBody>
          <a:bodyPr rtlCol="0" anchor="ctr"/>
          <a:lstStyle/>
          <a:p>
            <a:pPr algn="ctr"/>
            <a:endParaRPr lang="ko-KR" dirty="0"/>
          </a:p>
        </p:txBody>
      </p:sp>
      <p:sp>
        <p:nvSpPr>
          <p:cNvPr id="57" name="svg line"/>
          <p:cNvSpPr/>
          <p:nvPr/>
        </p:nvSpPr>
        <p:spPr>
          <a:xfrm>
            <a:off x="10147300" y="2584847"/>
            <a:ext cx="165100" cy="1"/>
          </a:xfrm>
          <a:custGeom>
            <a:avLst/>
            <a:gdLst/>
            <a:ahLst/>
            <a:cxnLst/>
            <a:rect l="0" t="0" r="r" b="b"/>
            <a:pathLst>
              <a:path w="165100" h="1">
                <a:moveTo>
                  <a:pt x="0" y="0"/>
                </a:moveTo>
                <a:lnTo>
                  <a:pt x="165100" y="0"/>
                </a:lnTo>
              </a:path>
            </a:pathLst>
          </a:custGeom>
          <a:solidFill>
            <a:srgbClr val="000000"/>
          </a:solidFill>
          <a:ln w="15875" cap="rnd">
            <a:solidFill>
              <a:srgbClr val="2B4A78"/>
            </a:solidFill>
            <a:miter lim="800000"/>
          </a:ln>
        </p:spPr>
        <p:txBody>
          <a:bodyPr rtlCol="0" anchor="ctr"/>
          <a:lstStyle/>
          <a:p>
            <a:pPr algn="ctr"/>
            <a:endParaRPr lang="ko-KR" dirty="0"/>
          </a:p>
        </p:txBody>
      </p:sp>
      <p:sp>
        <p:nvSpPr>
          <p:cNvPr id="58" name="svg polygon"/>
          <p:cNvSpPr/>
          <p:nvPr/>
        </p:nvSpPr>
        <p:spPr>
          <a:xfrm>
            <a:off x="10306050" y="2546747"/>
            <a:ext cx="69850" cy="76200"/>
          </a:xfrm>
          <a:custGeom>
            <a:avLst/>
            <a:gdLst/>
            <a:ahLst/>
            <a:cxnLst/>
            <a:rect l="0" t="0" r="r" b="b"/>
            <a:pathLst>
              <a:path w="69850" h="76200" stroke="0">
                <a:moveTo>
                  <a:pt x="69850" y="38100"/>
                </a:moveTo>
                <a:lnTo>
                  <a:pt x="0" y="0"/>
                </a:lnTo>
                <a:lnTo>
                  <a:pt x="0" y="76200"/>
                </a:lnTo>
                <a:close/>
              </a:path>
            </a:pathLst>
          </a:custGeom>
          <a:solidFill>
            <a:srgbClr val="2B4A78"/>
          </a:solidFill>
          <a:ln>
            <a:noFill/>
          </a:ln>
        </p:spPr>
        <p:txBody>
          <a:bodyPr rtlCol="0" anchor="ctr"/>
          <a:lstStyle/>
          <a:p>
            <a:pPr algn="ctr"/>
            <a:endParaRPr lang="ko-KR" dirty="0"/>
          </a:p>
        </p:txBody>
      </p:sp>
      <p:sp>
        <p:nvSpPr>
          <p:cNvPr id="59" name="svg circle"/>
          <p:cNvSpPr/>
          <p:nvPr/>
        </p:nvSpPr>
        <p:spPr>
          <a:xfrm>
            <a:off x="9417050" y="2254647"/>
            <a:ext cx="660400" cy="660400"/>
          </a:xfrm>
          <a:prstGeom prst="ellipse">
            <a:avLst/>
          </a:prstGeom>
          <a:solidFill>
            <a:srgbClr val="102A4C"/>
          </a:solidFill>
          <a:ln>
            <a:noFill/>
          </a:ln>
        </p:spPr>
        <p:txBody>
          <a:bodyPr rtlCol="0" anchor="ctr"/>
          <a:lstStyle/>
          <a:p>
            <a:pPr algn="ctr"/>
            <a:endParaRPr lang="ko-KR" dirty="0"/>
          </a:p>
        </p:txBody>
      </p:sp>
      <p:sp>
        <p:nvSpPr>
          <p:cNvPr id="60" name="svg rect"/>
          <p:cNvSpPr/>
          <p:nvPr/>
        </p:nvSpPr>
        <p:spPr>
          <a:xfrm>
            <a:off x="9683115" y="2438797"/>
            <a:ext cx="265430" cy="182880"/>
          </a:xfrm>
          <a:prstGeom prst="roundRect">
            <a:avLst>
              <a:gd name="adj" fmla="val 10417"/>
            </a:avLst>
          </a:prstGeom>
          <a:noFill/>
          <a:ln w="13970" cap="rnd">
            <a:solidFill>
              <a:srgbClr val="FFFFFF"/>
            </a:solidFill>
            <a:round/>
          </a:ln>
        </p:spPr>
        <p:txBody>
          <a:bodyPr rtlCol="0" anchor="ctr"/>
          <a:lstStyle/>
          <a:p>
            <a:pPr algn="ctr"/>
            <a:endParaRPr lang="ko-KR" dirty="0"/>
          </a:p>
        </p:txBody>
      </p:sp>
      <p:sp>
        <p:nvSpPr>
          <p:cNvPr id="61" name="svg path"/>
          <p:cNvSpPr/>
          <p:nvPr/>
        </p:nvSpPr>
        <p:spPr>
          <a:xfrm>
            <a:off x="9765665" y="2621677"/>
            <a:ext cx="100330" cy="45720"/>
          </a:xfrm>
          <a:custGeom>
            <a:avLst/>
            <a:gdLst/>
            <a:ahLst/>
            <a:cxnLst/>
            <a:rect l="0" t="0" r="r" b="b"/>
            <a:pathLst>
              <a:path w="100330" h="45720" fill="none">
                <a:moveTo>
                  <a:pt x="50165" y="0"/>
                </a:moveTo>
                <a:lnTo>
                  <a:pt x="50165" y="45720"/>
                </a:lnTo>
                <a:moveTo>
                  <a:pt x="0" y="45720"/>
                </a:moveTo>
                <a:lnTo>
                  <a:pt x="100330" y="45720"/>
                </a:lnTo>
              </a:path>
            </a:pathLst>
          </a:custGeom>
          <a:noFill/>
          <a:ln w="13970" cap="rnd">
            <a:solidFill>
              <a:srgbClr val="FFFFFF"/>
            </a:solidFill>
            <a:round/>
          </a:ln>
        </p:spPr>
        <p:txBody>
          <a:bodyPr rtlCol="0" anchor="ctr"/>
          <a:lstStyle/>
          <a:p>
            <a:pPr algn="ctr"/>
            <a:endParaRPr lang="ko-KR" dirty="0"/>
          </a:p>
        </p:txBody>
      </p:sp>
      <p:sp>
        <p:nvSpPr>
          <p:cNvPr id="62" name="svg path"/>
          <p:cNvSpPr/>
          <p:nvPr/>
        </p:nvSpPr>
        <p:spPr>
          <a:xfrm>
            <a:off x="9765665" y="2479437"/>
            <a:ext cx="100330" cy="109855"/>
          </a:xfrm>
          <a:custGeom>
            <a:avLst/>
            <a:gdLst/>
            <a:ahLst/>
            <a:cxnLst/>
            <a:rect l="0" t="0" r="r" b="b"/>
            <a:pathLst>
              <a:path w="100330" h="109855" fill="none">
                <a:moveTo>
                  <a:pt x="50165" y="0"/>
                </a:moveTo>
                <a:lnTo>
                  <a:pt x="100330" y="27940"/>
                </a:lnTo>
                <a:lnTo>
                  <a:pt x="50165" y="55245"/>
                </a:lnTo>
                <a:lnTo>
                  <a:pt x="0" y="27940"/>
                </a:lnTo>
                <a:close/>
                <a:moveTo>
                  <a:pt x="0" y="27940"/>
                </a:moveTo>
                <a:lnTo>
                  <a:pt x="0" y="82550"/>
                </a:lnTo>
                <a:lnTo>
                  <a:pt x="50165" y="109855"/>
                </a:lnTo>
                <a:lnTo>
                  <a:pt x="50165" y="55245"/>
                </a:lnTo>
                <a:moveTo>
                  <a:pt x="100330" y="27940"/>
                </a:moveTo>
                <a:lnTo>
                  <a:pt x="100330" y="82550"/>
                </a:lnTo>
                <a:lnTo>
                  <a:pt x="50165" y="109855"/>
                </a:lnTo>
              </a:path>
            </a:pathLst>
          </a:custGeom>
          <a:noFill/>
          <a:ln w="13970" cap="rnd">
            <a:solidFill>
              <a:srgbClr val="FFFFFF"/>
            </a:solidFill>
            <a:round/>
          </a:ln>
        </p:spPr>
        <p:txBody>
          <a:bodyPr rtlCol="0" anchor="ctr"/>
          <a:lstStyle/>
          <a:p>
            <a:pPr algn="ctr"/>
            <a:endParaRPr lang="ko-KR" dirty="0"/>
          </a:p>
        </p:txBody>
      </p:sp>
      <p:sp>
        <p:nvSpPr>
          <p:cNvPr id="63" name="svg circle"/>
          <p:cNvSpPr/>
          <p:nvPr/>
        </p:nvSpPr>
        <p:spPr>
          <a:xfrm>
            <a:off x="9587230" y="2534682"/>
            <a:ext cx="82550" cy="82550"/>
          </a:xfrm>
          <a:prstGeom prst="ellipse">
            <a:avLst/>
          </a:prstGeom>
          <a:noFill/>
          <a:ln w="13970" cap="rnd">
            <a:solidFill>
              <a:srgbClr val="FFFFFF"/>
            </a:solidFill>
            <a:round/>
          </a:ln>
        </p:spPr>
        <p:txBody>
          <a:bodyPr rtlCol="0" anchor="ctr"/>
          <a:lstStyle/>
          <a:p>
            <a:pPr algn="ctr"/>
            <a:endParaRPr lang="ko-KR" dirty="0"/>
          </a:p>
        </p:txBody>
      </p:sp>
      <p:sp>
        <p:nvSpPr>
          <p:cNvPr id="64" name="svg path"/>
          <p:cNvSpPr/>
          <p:nvPr/>
        </p:nvSpPr>
        <p:spPr>
          <a:xfrm>
            <a:off x="9545955" y="2657872"/>
            <a:ext cx="164465" cy="109855"/>
          </a:xfrm>
          <a:custGeom>
            <a:avLst/>
            <a:gdLst/>
            <a:ahLst/>
            <a:cxnLst/>
            <a:rect l="0" t="0" r="r" b="b"/>
            <a:pathLst>
              <a:path w="164465" h="109855" fill="none">
                <a:moveTo>
                  <a:pt x="0" y="109855"/>
                </a:moveTo>
                <a:cubicBezTo>
                  <a:pt x="0" y="36830"/>
                  <a:pt x="36830" y="0"/>
                  <a:pt x="82550" y="0"/>
                </a:cubicBezTo>
                <a:cubicBezTo>
                  <a:pt x="128270" y="0"/>
                  <a:pt x="164465" y="36830"/>
                  <a:pt x="164465" y="109855"/>
                </a:cubicBezTo>
              </a:path>
            </a:pathLst>
          </a:custGeom>
          <a:noFill/>
          <a:ln w="13970" cap="rnd">
            <a:solidFill>
              <a:srgbClr val="FFFFFF"/>
            </a:solidFill>
            <a:round/>
          </a:ln>
        </p:spPr>
        <p:txBody>
          <a:bodyPr rtlCol="0" anchor="ctr"/>
          <a:lstStyle/>
          <a:p>
            <a:pPr algn="ctr"/>
            <a:endParaRPr lang="ko-KR" dirty="0"/>
          </a:p>
        </p:txBody>
      </p:sp>
      <p:sp>
        <p:nvSpPr>
          <p:cNvPr id="65" name="svg path"/>
          <p:cNvSpPr/>
          <p:nvPr/>
        </p:nvSpPr>
        <p:spPr>
          <a:xfrm>
            <a:off x="9527540" y="2767727"/>
            <a:ext cx="439420" cy="1"/>
          </a:xfrm>
          <a:custGeom>
            <a:avLst/>
            <a:gdLst/>
            <a:ahLst/>
            <a:cxnLst/>
            <a:rect l="0" t="0" r="r" b="b"/>
            <a:pathLst>
              <a:path w="439420" h="1" fill="none">
                <a:moveTo>
                  <a:pt x="0" y="0"/>
                </a:moveTo>
                <a:lnTo>
                  <a:pt x="439420" y="0"/>
                </a:lnTo>
              </a:path>
            </a:pathLst>
          </a:custGeom>
          <a:noFill/>
          <a:ln w="13970" cap="rnd">
            <a:solidFill>
              <a:srgbClr val="FFFFFF"/>
            </a:solidFill>
            <a:round/>
          </a:ln>
        </p:spPr>
        <p:txBody>
          <a:bodyPr rtlCol="0" anchor="ctr"/>
          <a:lstStyle/>
          <a:p>
            <a:pPr algn="ctr"/>
            <a:endParaRPr lang="ko-KR" dirty="0"/>
          </a:p>
        </p:txBody>
      </p:sp>
      <p:sp>
        <p:nvSpPr>
          <p:cNvPr id="66" name="fig t1-bim"/>
          <p:cNvSpPr/>
          <p:nvPr/>
        </p:nvSpPr>
        <p:spPr>
          <a:xfrm>
            <a:off x="10429875" y="2175272"/>
            <a:ext cx="946150" cy="819150"/>
          </a:xfrm>
          <a:prstGeom prst="roundRect">
            <a:avLst>
              <a:gd name="adj" fmla="val 8915"/>
            </a:avLst>
          </a:prstGeom>
          <a:solidFill>
            <a:srgbClr val="FFFFFF"/>
          </a:solidFill>
          <a:ln w="6350">
            <a:solidFill>
              <a:srgbClr val="C8CFD8"/>
            </a:solidFill>
            <a:miter lim="800000"/>
          </a:ln>
          <a:effectLst>
            <a:outerShdw blurRad="76200" dist="25400" dir="5400000" algn="ctr" rotWithShape="0">
              <a:srgbClr val="102A4C">
                <a:alpha val="10000"/>
              </a:srgbClr>
            </a:outerShdw>
          </a:effectLst>
        </p:spPr>
        <p:txBody>
          <a:bodyPr rtlCol="0" anchor="ctr"/>
          <a:lstStyle/>
          <a:p>
            <a:pPr algn="ctr"/>
            <a:endParaRPr lang="ko-KR" dirty="0"/>
          </a:p>
        </p:txBody>
      </p:sp>
      <p:pic>
        <p:nvPicPr>
          <p:cNvPr id="67" name="img" descr="img">    </p:cNvPr>
          <p:cNvPicPr>
            <a:picLocks noChangeAspect="1"/>
          </p:cNvPicPr>
          <p:nvPr/>
        </p:nvPicPr>
        <p:blipFill>
          <a:blip r:embed="rId3"/>
          <a:stretch>
            <a:fillRect/>
          </a:stretch>
        </p:blipFill>
        <p:spPr>
          <a:xfrm>
            <a:off x="10433050" y="2178447"/>
            <a:ext cx="939800" cy="812800"/>
          </a:xfrm>
          <a:prstGeom prst="rect">
            <a:avLst/>
          </a:prstGeom>
        </p:spPr>
      </p:pic>
      <p:sp>
        <p:nvSpPr>
          <p:cNvPr id="68" name="t1-div"/>
          <p:cNvSpPr/>
          <p:nvPr/>
        </p:nvSpPr>
        <p:spPr>
          <a:xfrm>
            <a:off x="8128000" y="3334147"/>
            <a:ext cx="3251200" cy="9525"/>
          </a:xfrm>
          <a:prstGeom prst="rect">
            <a:avLst/>
          </a:prstGeom>
          <a:solidFill>
            <a:srgbClr val="C8CFD8"/>
          </a:solidFill>
          <a:ln>
            <a:noFill/>
          </a:ln>
        </p:spPr>
        <p:txBody>
          <a:bodyPr rtlCol="0" anchor="ctr"/>
          <a:lstStyle/>
          <a:p>
            <a:pPr algn="ctr"/>
            <a:endParaRPr lang="ko-KR" dirty="0"/>
          </a:p>
        </p:txBody>
      </p:sp>
      <p:sp>
        <p:nvSpPr>
          <p:cNvPr id="69" name="no"/>
          <p:cNvSpPr/>
          <p:nvPr/>
        </p:nvSpPr>
        <p:spPr>
          <a:xfrm>
            <a:off x="8128000" y="3489722"/>
            <a:ext cx="254000" cy="254000"/>
          </a:xfrm>
          <a:prstGeom prst="ellipse">
            <a:avLst/>
          </a:prstGeom>
          <a:solidFill>
            <a:srgbClr val="102A4C"/>
          </a:solidFill>
          <a:ln>
            <a:noFill/>
          </a:ln>
        </p:spPr>
        <p:txBody>
          <a:bodyPr rtlCol="0" anchor="ctr"/>
          <a:lstStyle/>
          <a:p>
            <a:pPr algn="ctr"/>
            <a:endParaRPr lang="ko-KR" dirty="0"/>
          </a:p>
        </p:txBody>
      </p:sp>
      <p:sp>
        <p:nvSpPr>
          <p:cNvPr id="70" name="svg path"/>
          <p:cNvSpPr/>
          <p:nvPr/>
        </p:nvSpPr>
        <p:spPr>
          <a:xfrm>
            <a:off x="11188700" y="3521472"/>
            <a:ext cx="127000" cy="190500"/>
          </a:xfrm>
          <a:custGeom>
            <a:avLst/>
            <a:gdLst/>
            <a:ahLst/>
            <a:cxnLst/>
            <a:rect l="0" t="0" r="r" b="b"/>
            <a:pathLst>
              <a:path w="127000" h="190500" fill="none">
                <a:moveTo>
                  <a:pt x="0" y="0"/>
                </a:moveTo>
                <a:lnTo>
                  <a:pt x="88900" y="0"/>
                </a:lnTo>
                <a:lnTo>
                  <a:pt x="127000" y="38100"/>
                </a:lnTo>
                <a:lnTo>
                  <a:pt x="127000" y="190500"/>
                </a:lnTo>
                <a:lnTo>
                  <a:pt x="0" y="190500"/>
                </a:lnTo>
                <a:close/>
              </a:path>
            </a:pathLst>
          </a:custGeom>
          <a:noFill/>
          <a:ln w="12700" cap="rnd">
            <a:solidFill>
              <a:srgbClr val="102A4C"/>
            </a:solidFill>
            <a:round/>
          </a:ln>
        </p:spPr>
        <p:txBody>
          <a:bodyPr rtlCol="0" anchor="ctr"/>
          <a:lstStyle/>
          <a:p>
            <a:pPr algn="ctr"/>
            <a:endParaRPr lang="ko-KR" dirty="0"/>
          </a:p>
        </p:txBody>
      </p:sp>
      <p:sp>
        <p:nvSpPr>
          <p:cNvPr id="71" name="svg path"/>
          <p:cNvSpPr/>
          <p:nvPr/>
        </p:nvSpPr>
        <p:spPr>
          <a:xfrm>
            <a:off x="11277600" y="3521472"/>
            <a:ext cx="38100" cy="38100"/>
          </a:xfrm>
          <a:custGeom>
            <a:avLst/>
            <a:gdLst/>
            <a:ahLst/>
            <a:cxnLst/>
            <a:rect l="0" t="0" r="r" b="b"/>
            <a:pathLst>
              <a:path w="38100" h="38100" fill="none">
                <a:moveTo>
                  <a:pt x="0" y="0"/>
                </a:moveTo>
                <a:lnTo>
                  <a:pt x="0" y="38100"/>
                </a:lnTo>
                <a:lnTo>
                  <a:pt x="38100" y="38100"/>
                </a:lnTo>
              </a:path>
            </a:pathLst>
          </a:custGeom>
          <a:noFill/>
          <a:ln w="12700" cap="rnd">
            <a:solidFill>
              <a:srgbClr val="102A4C"/>
            </a:solidFill>
            <a:round/>
          </a:ln>
        </p:spPr>
        <p:txBody>
          <a:bodyPr rtlCol="0" anchor="ctr"/>
          <a:lstStyle/>
          <a:p>
            <a:pPr algn="ctr"/>
            <a:endParaRPr lang="ko-KR" dirty="0"/>
          </a:p>
        </p:txBody>
      </p:sp>
      <p:sp>
        <p:nvSpPr>
          <p:cNvPr id="72" name="svg path"/>
          <p:cNvSpPr/>
          <p:nvPr/>
        </p:nvSpPr>
        <p:spPr>
          <a:xfrm>
            <a:off x="11214100" y="3597672"/>
            <a:ext cx="63500" cy="31750"/>
          </a:xfrm>
          <a:custGeom>
            <a:avLst/>
            <a:gdLst/>
            <a:ahLst/>
            <a:cxnLst/>
            <a:rect l="0" t="0" r="r" b="b"/>
            <a:pathLst>
              <a:path w="63500" h="31750" fill="none">
                <a:moveTo>
                  <a:pt x="0" y="0"/>
                </a:moveTo>
                <a:lnTo>
                  <a:pt x="63500" y="0"/>
                </a:lnTo>
                <a:moveTo>
                  <a:pt x="0" y="31750"/>
                </a:moveTo>
                <a:lnTo>
                  <a:pt x="38100" y="31750"/>
                </a:lnTo>
              </a:path>
            </a:pathLst>
          </a:custGeom>
          <a:noFill/>
          <a:ln w="12700" cap="rnd">
            <a:solidFill>
              <a:srgbClr val="102A4C"/>
            </a:solidFill>
            <a:round/>
          </a:ln>
        </p:spPr>
        <p:txBody>
          <a:bodyPr rtlCol="0" anchor="ctr"/>
          <a:lstStyle/>
          <a:p>
            <a:pPr algn="ctr"/>
            <a:endParaRPr lang="ko-KR" dirty="0"/>
          </a:p>
        </p:txBody>
      </p:sp>
      <p:sp>
        <p:nvSpPr>
          <p:cNvPr id="73" name="svg path"/>
          <p:cNvSpPr/>
          <p:nvPr/>
        </p:nvSpPr>
        <p:spPr>
          <a:xfrm>
            <a:off x="11258550" y="3623072"/>
            <a:ext cx="107950" cy="107950"/>
          </a:xfrm>
          <a:custGeom>
            <a:avLst/>
            <a:gdLst/>
            <a:ahLst/>
            <a:cxnLst/>
            <a:rect l="0" t="0" r="r" b="b"/>
            <a:pathLst>
              <a:path w="107950" h="107950">
                <a:moveTo>
                  <a:pt x="0" y="82550"/>
                </a:moveTo>
                <a:lnTo>
                  <a:pt x="82550" y="0"/>
                </a:lnTo>
                <a:lnTo>
                  <a:pt x="107950" y="25400"/>
                </a:lnTo>
                <a:lnTo>
                  <a:pt x="25400" y="107950"/>
                </a:lnTo>
                <a:lnTo>
                  <a:pt x="0" y="107950"/>
                </a:lnTo>
                <a:close/>
              </a:path>
            </a:pathLst>
          </a:custGeom>
          <a:solidFill>
            <a:srgbClr val="FFFFFF"/>
          </a:solidFill>
          <a:ln w="12700" cap="rnd">
            <a:solidFill>
              <a:srgbClr val="102A4C"/>
            </a:solidFill>
            <a:round/>
          </a:ln>
        </p:spPr>
        <p:txBody>
          <a:bodyPr rtlCol="0" anchor="ctr"/>
          <a:lstStyle/>
          <a:p>
            <a:pPr algn="ctr"/>
            <a:endParaRPr lang="ko-KR" dirty="0"/>
          </a:p>
        </p:txBody>
      </p:sp>
      <p:sp>
        <p:nvSpPr>
          <p:cNvPr id="74" name="t1-pi 선"/>
          <p:cNvSpPr/>
          <p:nvPr/>
        </p:nvSpPr>
        <p:spPr>
          <a:xfrm>
            <a:off x="8131175" y="4060825"/>
            <a:ext cx="3244850" cy="1"/>
          </a:xfrm>
          <a:custGeom>
            <a:avLst/>
            <a:gdLst/>
            <a:ahLst/>
            <a:cxnLst/>
            <a:rect l="0" t="0" r="r" b="b"/>
            <a:pathLst>
              <a:path w="3244850" h="1" fill="none">
                <a:moveTo>
                  <a:pt x="0" y="0"/>
                </a:moveTo>
                <a:lnTo>
                  <a:pt x="3244850" y="0"/>
                </a:lnTo>
              </a:path>
            </a:pathLst>
          </a:custGeom>
          <a:noFill/>
          <a:ln w="6350">
            <a:solidFill>
              <a:srgbClr val="E1E5EB"/>
            </a:solidFill>
            <a:round/>
          </a:ln>
        </p:spPr>
        <p:txBody>
          <a:bodyPr rtlCol="0" anchor="ctr"/>
          <a:lstStyle/>
          <a:p>
            <a:pPr algn="ctr"/>
            <a:endParaRPr lang="ko-KR" dirty="0"/>
          </a:p>
        </p:txBody>
      </p:sp>
      <p:sp>
        <p:nvSpPr>
          <p:cNvPr id="75" name="no"/>
          <p:cNvSpPr/>
          <p:nvPr/>
        </p:nvSpPr>
        <p:spPr>
          <a:xfrm>
            <a:off x="8128000" y="4171950"/>
            <a:ext cx="254000" cy="254000"/>
          </a:xfrm>
          <a:prstGeom prst="ellipse">
            <a:avLst/>
          </a:prstGeom>
          <a:solidFill>
            <a:srgbClr val="102A4C"/>
          </a:solidFill>
          <a:ln>
            <a:noFill/>
          </a:ln>
        </p:spPr>
        <p:txBody>
          <a:bodyPr rtlCol="0" anchor="ctr"/>
          <a:lstStyle/>
          <a:p>
            <a:pPr algn="ctr"/>
            <a:endParaRPr lang="ko-KR" dirty="0"/>
          </a:p>
        </p:txBody>
      </p:sp>
      <p:sp>
        <p:nvSpPr>
          <p:cNvPr id="76" name="svg circle"/>
          <p:cNvSpPr/>
          <p:nvPr/>
        </p:nvSpPr>
        <p:spPr>
          <a:xfrm>
            <a:off x="11176000" y="4210050"/>
            <a:ext cx="177800" cy="177800"/>
          </a:xfrm>
          <a:prstGeom prst="ellipse">
            <a:avLst/>
          </a:prstGeom>
          <a:noFill/>
          <a:ln w="12700" cap="rnd">
            <a:solidFill>
              <a:srgbClr val="102A4C"/>
            </a:solidFill>
            <a:round/>
          </a:ln>
        </p:spPr>
        <p:txBody>
          <a:bodyPr rtlCol="0" anchor="ctr"/>
          <a:lstStyle/>
          <a:p>
            <a:pPr algn="ctr"/>
            <a:endParaRPr lang="ko-KR" dirty="0"/>
          </a:p>
        </p:txBody>
      </p:sp>
      <p:sp>
        <p:nvSpPr>
          <p:cNvPr id="77" name="svg path"/>
          <p:cNvSpPr/>
          <p:nvPr/>
        </p:nvSpPr>
        <p:spPr>
          <a:xfrm>
            <a:off x="11264900" y="4248150"/>
            <a:ext cx="38100" cy="76200"/>
          </a:xfrm>
          <a:custGeom>
            <a:avLst/>
            <a:gdLst/>
            <a:ahLst/>
            <a:cxnLst/>
            <a:rect l="0" t="0" r="r" b="b"/>
            <a:pathLst>
              <a:path w="38100" h="76200" fill="none">
                <a:moveTo>
                  <a:pt x="0" y="0"/>
                </a:moveTo>
                <a:lnTo>
                  <a:pt x="0" y="50800"/>
                </a:lnTo>
                <a:lnTo>
                  <a:pt x="38100" y="76200"/>
                </a:lnTo>
              </a:path>
            </a:pathLst>
          </a:custGeom>
          <a:noFill/>
          <a:ln w="12700" cap="rnd">
            <a:solidFill>
              <a:srgbClr val="102A4C"/>
            </a:solidFill>
            <a:round/>
          </a:ln>
        </p:spPr>
        <p:txBody>
          <a:bodyPr rtlCol="0" anchor="ctr"/>
          <a:lstStyle/>
          <a:p>
            <a:pPr algn="ctr"/>
            <a:endParaRPr lang="ko-KR" dirty="0"/>
          </a:p>
        </p:txBody>
      </p:sp>
      <p:sp>
        <p:nvSpPr>
          <p:cNvPr id="78" name="t1-pi 선"/>
          <p:cNvSpPr/>
          <p:nvPr/>
        </p:nvSpPr>
        <p:spPr>
          <a:xfrm>
            <a:off x="8131175" y="4743053"/>
            <a:ext cx="3244850" cy="1"/>
          </a:xfrm>
          <a:custGeom>
            <a:avLst/>
            <a:gdLst/>
            <a:ahLst/>
            <a:cxnLst/>
            <a:rect l="0" t="0" r="r" b="b"/>
            <a:pathLst>
              <a:path w="3244850" h="1" fill="none">
                <a:moveTo>
                  <a:pt x="0" y="0"/>
                </a:moveTo>
                <a:lnTo>
                  <a:pt x="3244850" y="0"/>
                </a:lnTo>
              </a:path>
            </a:pathLst>
          </a:custGeom>
          <a:noFill/>
          <a:ln w="6350">
            <a:solidFill>
              <a:srgbClr val="E1E5EB"/>
            </a:solidFill>
            <a:round/>
          </a:ln>
        </p:spPr>
        <p:txBody>
          <a:bodyPr rtlCol="0" anchor="ctr"/>
          <a:lstStyle/>
          <a:p>
            <a:pPr algn="ctr"/>
            <a:endParaRPr lang="ko-KR" dirty="0"/>
          </a:p>
        </p:txBody>
      </p:sp>
      <p:sp>
        <p:nvSpPr>
          <p:cNvPr id="79" name="no"/>
          <p:cNvSpPr/>
          <p:nvPr/>
        </p:nvSpPr>
        <p:spPr>
          <a:xfrm>
            <a:off x="8128000" y="4854178"/>
            <a:ext cx="254000" cy="254000"/>
          </a:xfrm>
          <a:prstGeom prst="ellipse">
            <a:avLst/>
          </a:prstGeom>
          <a:solidFill>
            <a:srgbClr val="102A4C"/>
          </a:solidFill>
          <a:ln>
            <a:noFill/>
          </a:ln>
        </p:spPr>
        <p:txBody>
          <a:bodyPr rtlCol="0" anchor="ctr"/>
          <a:lstStyle/>
          <a:p>
            <a:pPr algn="ctr"/>
            <a:endParaRPr lang="ko-KR" dirty="0"/>
          </a:p>
        </p:txBody>
      </p:sp>
      <p:sp>
        <p:nvSpPr>
          <p:cNvPr id="80" name="svg path"/>
          <p:cNvSpPr/>
          <p:nvPr/>
        </p:nvSpPr>
        <p:spPr>
          <a:xfrm>
            <a:off x="11169650" y="4892278"/>
            <a:ext cx="190500" cy="171450"/>
          </a:xfrm>
          <a:custGeom>
            <a:avLst/>
            <a:gdLst/>
            <a:ahLst/>
            <a:cxnLst/>
            <a:rect l="0" t="0" r="r" b="b"/>
            <a:pathLst>
              <a:path w="190500" h="171450" fill="none">
                <a:moveTo>
                  <a:pt x="95250" y="0"/>
                </a:moveTo>
                <a:lnTo>
                  <a:pt x="190500" y="171450"/>
                </a:lnTo>
                <a:lnTo>
                  <a:pt x="0" y="171450"/>
                </a:lnTo>
                <a:close/>
              </a:path>
            </a:pathLst>
          </a:custGeom>
          <a:noFill/>
          <a:ln w="12700" cap="rnd">
            <a:solidFill>
              <a:srgbClr val="102A4C"/>
            </a:solidFill>
            <a:round/>
          </a:ln>
        </p:spPr>
        <p:txBody>
          <a:bodyPr rtlCol="0" anchor="ctr"/>
          <a:lstStyle/>
          <a:p>
            <a:pPr algn="ctr"/>
            <a:endParaRPr lang="ko-KR" dirty="0"/>
          </a:p>
        </p:txBody>
      </p:sp>
      <p:sp>
        <p:nvSpPr>
          <p:cNvPr id="81" name="svg path"/>
          <p:cNvSpPr/>
          <p:nvPr/>
        </p:nvSpPr>
        <p:spPr>
          <a:xfrm>
            <a:off x="11264900" y="4955778"/>
            <a:ext cx="1" cy="44450"/>
          </a:xfrm>
          <a:custGeom>
            <a:avLst/>
            <a:gdLst/>
            <a:ahLst/>
            <a:cxnLst/>
            <a:rect l="0" t="0" r="r" b="b"/>
            <a:pathLst>
              <a:path w="1" h="44450" fill="none">
                <a:moveTo>
                  <a:pt x="0" y="0"/>
                </a:moveTo>
                <a:lnTo>
                  <a:pt x="0" y="44450"/>
                </a:lnTo>
              </a:path>
            </a:pathLst>
          </a:custGeom>
          <a:noFill/>
          <a:ln w="12700" cap="rnd">
            <a:solidFill>
              <a:srgbClr val="102A4C"/>
            </a:solidFill>
            <a:round/>
          </a:ln>
        </p:spPr>
        <p:txBody>
          <a:bodyPr rtlCol="0" anchor="ctr"/>
          <a:lstStyle/>
          <a:p>
            <a:pPr algn="ctr"/>
            <a:endParaRPr lang="ko-KR" dirty="0"/>
          </a:p>
        </p:txBody>
      </p:sp>
      <p:sp>
        <p:nvSpPr>
          <p:cNvPr id="82" name="svg circle"/>
          <p:cNvSpPr/>
          <p:nvPr/>
        </p:nvSpPr>
        <p:spPr>
          <a:xfrm>
            <a:off x="11257280" y="5024358"/>
            <a:ext cx="15240" cy="15240"/>
          </a:xfrm>
          <a:prstGeom prst="ellipse">
            <a:avLst/>
          </a:prstGeom>
          <a:solidFill>
            <a:srgbClr val="102A4C"/>
          </a:solidFill>
          <a:ln w="12700" cap="rnd">
            <a:solidFill>
              <a:srgbClr val="102A4C"/>
            </a:solidFill>
            <a:round/>
          </a:ln>
        </p:spPr>
        <p:txBody>
          <a:bodyPr rtlCol="0" anchor="ctr"/>
          <a:lstStyle/>
          <a:p>
            <a:pPr algn="ctr"/>
            <a:endParaRPr lang="ko-KR" dirty="0"/>
          </a:p>
        </p:txBody>
      </p:sp>
      <p:sp>
        <p:nvSpPr>
          <p:cNvPr id="83" name="keybar t1-key"/>
          <p:cNvSpPr/>
          <p:nvPr/>
        </p:nvSpPr>
        <p:spPr>
          <a:xfrm>
            <a:off x="609600" y="5753497"/>
            <a:ext cx="10972800" cy="584200"/>
          </a:xfrm>
          <a:prstGeom prst="roundRect">
            <a:avLst>
              <a:gd name="adj" fmla="val 21739"/>
            </a:avLst>
          </a:prstGeom>
          <a:solidFill>
            <a:srgbClr val="102A4C"/>
          </a:solidFill>
          <a:ln>
            <a:noFill/>
          </a:ln>
        </p:spPr>
        <p:txBody>
          <a:bodyPr rtlCol="0" anchor="ctr"/>
          <a:lstStyle/>
          <a:p>
            <a:pPr algn="ctr"/>
            <a:endParaRPr lang="ko-KR" dirty="0"/>
          </a:p>
        </p:txBody>
      </p:sp>
      <p:sp>
        <p:nvSpPr>
          <p:cNvPr id="84" name="01"/>
          <p:cNvSpPr txBox="1"/>
          <p:nvPr/>
        </p:nvSpPr>
        <p:spPr>
          <a:xfrm>
            <a:off x="609600" y="401439"/>
            <a:ext cx="195659"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01</a:t>
            </a:r>
            <a:endParaRPr lang="en-US" sz="950" dirty="0"/>
          </a:p>
        </p:txBody>
      </p:sp>
      <p:sp>
        <p:nvSpPr>
          <p:cNvPr id="85" name="연구 배경 및 문제 정의"/>
          <p:cNvSpPr txBox="1"/>
          <p:nvPr/>
        </p:nvSpPr>
        <p:spPr>
          <a:xfrm>
            <a:off x="843359" y="401439"/>
            <a:ext cx="1091684"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연구 배경 및 문제 정의</a:t>
            </a:r>
            <a:endParaRPr lang="en-US" sz="950" dirty="0"/>
          </a:p>
        </p:txBody>
      </p:sp>
      <p:sp>
        <p:nvSpPr>
          <p:cNvPr id="86" name="왜 이 연구가 필요한가"/>
          <p:cNvSpPr txBox="1"/>
          <p:nvPr/>
        </p:nvSpPr>
        <p:spPr>
          <a:xfrm>
            <a:off x="2057400" y="401439"/>
            <a:ext cx="1066443"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왜 이 연구가 필요한가</a:t>
            </a:r>
            <a:endParaRPr lang="en-US" sz="950" dirty="0"/>
          </a:p>
        </p:txBody>
      </p:sp>
      <p:sp>
        <p:nvSpPr>
          <p:cNvPr id="87" name="BIM 전면 도입이 추진되지만, BIM은 여전히사람이 2D 도면을 보고 "/>
          <p:cNvSpPr txBox="1"/>
          <p:nvPr/>
        </p:nvSpPr>
        <p:spPr>
          <a:xfrm>
            <a:off x="609600" y="653852"/>
            <a:ext cx="5143115" cy="724297"/>
          </a:xfrm>
          <a:prstGeom prst="rect">
            <a:avLst/>
          </a:prstGeom>
          <a:noFill/>
          <a:ln/>
        </p:spPr>
        <p:txBody>
          <a:bodyPr wrap="none" lIns="0" tIns="0" rIns="0" bIns="0" rtlCol="0" anchor="t"/>
          <a:lstStyle/>
          <a:p>
            <a:pPr algn="l" indent="0" marL="0">
              <a:lnSpc>
                <a:spcPts val="2852"/>
              </a:lnSpc>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BIM 전면 도입이 추진되지만, BIM은 여전히</a:t>
            </a:r>
            <a:b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사람이 2D 도면을 보고 직접</a:t>
            </a: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 만들고 있습니다.</a:t>
            </a:r>
            <a:endParaRPr lang="en-US" sz="2300" dirty="0"/>
          </a:p>
        </p:txBody>
      </p:sp>
      <p:sp>
        <p:nvSpPr>
          <p:cNvPr id="88"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01</a:t>
            </a:r>
            <a:endParaRPr lang="en-US" sz="700" dirty="0"/>
          </a:p>
        </p:txBody>
      </p:sp>
      <p:sp>
        <p:nvSpPr>
          <p:cNvPr id="89"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02</a:t>
            </a:r>
            <a:endParaRPr lang="en-US" sz="700" dirty="0"/>
          </a:p>
        </p:txBody>
      </p:sp>
      <p:sp>
        <p:nvSpPr>
          <p:cNvPr id="90"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03</a:t>
            </a:r>
            <a:endParaRPr lang="en-US" sz="700" dirty="0"/>
          </a:p>
        </p:txBody>
      </p:sp>
      <p:sp>
        <p:nvSpPr>
          <p:cNvPr id="91"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04</a:t>
            </a:r>
            <a:endParaRPr lang="en-US" sz="700" dirty="0"/>
          </a:p>
        </p:txBody>
      </p:sp>
      <p:sp>
        <p:nvSpPr>
          <p:cNvPr id="92"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93" name="정책"/>
          <p:cNvSpPr txBox="1"/>
          <p:nvPr/>
        </p:nvSpPr>
        <p:spPr>
          <a:xfrm>
            <a:off x="717550" y="1674713"/>
            <a:ext cx="233164" cy="127000"/>
          </a:xfrm>
          <a:prstGeom prst="rect">
            <a:avLst/>
          </a:prstGeom>
          <a:noFill/>
          <a:ln/>
        </p:spPr>
        <p:txBody>
          <a:bodyPr wrap="none" lIns="0" tIns="0" rIns="0" bIns="0" rtlCol="0" anchor="ctr"/>
          <a:lstStyle/>
          <a:p>
            <a:pPr algn="l" indent="0" marL="0">
              <a:buNone/>
            </a:pPr>
            <a:r>
              <a:rPr lang="ko-KR" altLang="en-US" sz="850" b="1" spc="-17" kern="0" dirty="0">
                <a:solidFill>
                  <a:srgbClr val="102A4C"/>
                </a:solidFill>
                <a:latin typeface="Pretendard" pitchFamily="34" charset="0"/>
                <a:ea typeface="Pretendard" pitchFamily="34" charset="-127"/>
                <a:cs typeface="Pretendard" pitchFamily="34" charset="-120"/>
              </a:rPr>
              <a:t>정책</a:t>
            </a:r>
            <a:endParaRPr lang="en-US" sz="850" dirty="0"/>
          </a:p>
        </p:txBody>
      </p:sp>
      <p:sp>
        <p:nvSpPr>
          <p:cNvPr id="94" name="국토교통부, BIM 전면 도입 추진"/>
          <p:cNvSpPr txBox="1"/>
          <p:nvPr/>
        </p:nvSpPr>
        <p:spPr>
          <a:xfrm>
            <a:off x="1109464" y="1641277"/>
            <a:ext cx="2064945"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국토교통부, BIM 전면 도입 추진</a:t>
            </a:r>
            <a:endParaRPr lang="en-US" sz="1300" dirty="0"/>
          </a:p>
        </p:txBody>
      </p:sp>
      <p:sp>
        <p:nvSpPr>
          <p:cNvPr id="95" name="공공공사 BIM 의무화 단계적 확대"/>
          <p:cNvSpPr txBox="1"/>
          <p:nvPr/>
        </p:nvSpPr>
        <p:spPr>
          <a:xfrm>
            <a:off x="812800" y="2178447"/>
            <a:ext cx="2171589"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공공공사 BIM 의무화 단계적 확대</a:t>
            </a:r>
            <a:endParaRPr lang="en-US" sz="1300" dirty="0"/>
          </a:p>
        </p:txBody>
      </p:sp>
      <p:sp>
        <p:nvSpPr>
          <p:cNvPr id="96" name="'22~'24"/>
          <p:cNvSpPr txBox="1"/>
          <p:nvPr/>
        </p:nvSpPr>
        <p:spPr>
          <a:xfrm>
            <a:off x="812800" y="2647057"/>
            <a:ext cx="528935" cy="165100"/>
          </a:xfrm>
          <a:prstGeom prst="rect">
            <a:avLst/>
          </a:prstGeom>
          <a:noFill/>
          <a:ln/>
        </p:spPr>
        <p:txBody>
          <a:bodyPr wrap="none" lIns="0" tIns="0" rIns="0" bIns="0" rtlCol="0" anchor="ctr"/>
          <a:lstStyle/>
          <a:p>
            <a:pPr algn="l" indent="0" marL="0">
              <a:buNone/>
            </a:pPr>
            <a:r>
              <a:rPr lang="ko-KR" altLang="en-US" sz="1100" spc="-22" kern="0" dirty="0">
                <a:solidFill>
                  <a:srgbClr val="102A4C"/>
                </a:solidFill>
                <a:latin typeface="Pretendard ExtraBold" pitchFamily="34" charset="0"/>
                <a:ea typeface="Pretendard ExtraBold" pitchFamily="34" charset="-127"/>
                <a:cs typeface="Pretendard ExtraBold" pitchFamily="34" charset="-120"/>
              </a:rPr>
              <a:t>'22~'24</a:t>
            </a:r>
            <a:endParaRPr lang="en-US" sz="1100" dirty="0"/>
          </a:p>
        </p:txBody>
      </p:sp>
      <p:sp>
        <p:nvSpPr>
          <p:cNvPr id="97" name="'26"/>
          <p:cNvSpPr txBox="1"/>
          <p:nvPr/>
        </p:nvSpPr>
        <p:spPr>
          <a:xfrm>
            <a:off x="812800" y="3110607"/>
            <a:ext cx="247551" cy="165100"/>
          </a:xfrm>
          <a:prstGeom prst="rect">
            <a:avLst/>
          </a:prstGeom>
          <a:noFill/>
          <a:ln/>
        </p:spPr>
        <p:txBody>
          <a:bodyPr wrap="none" lIns="0" tIns="0" rIns="0" bIns="0" rtlCol="0" anchor="ctr"/>
          <a:lstStyle/>
          <a:p>
            <a:pPr algn="l" indent="0" marL="0">
              <a:buNone/>
            </a:pPr>
            <a:r>
              <a:rPr lang="ko-KR" altLang="en-US" sz="1100" spc="-22" kern="0" dirty="0">
                <a:solidFill>
                  <a:srgbClr val="102A4C"/>
                </a:solidFill>
                <a:latin typeface="Pretendard ExtraBold" pitchFamily="34" charset="0"/>
                <a:ea typeface="Pretendard ExtraBold" pitchFamily="34" charset="-127"/>
                <a:cs typeface="Pretendard ExtraBold" pitchFamily="34" charset="-120"/>
              </a:rPr>
              <a:t>'26</a:t>
            </a:r>
            <a:endParaRPr lang="en-US" sz="1100" dirty="0"/>
          </a:p>
        </p:txBody>
      </p:sp>
      <p:sp>
        <p:nvSpPr>
          <p:cNvPr id="98" name="'28"/>
          <p:cNvSpPr txBox="1"/>
          <p:nvPr/>
        </p:nvSpPr>
        <p:spPr>
          <a:xfrm>
            <a:off x="812800" y="3466207"/>
            <a:ext cx="247749" cy="165100"/>
          </a:xfrm>
          <a:prstGeom prst="rect">
            <a:avLst/>
          </a:prstGeom>
          <a:noFill/>
          <a:ln/>
        </p:spPr>
        <p:txBody>
          <a:bodyPr wrap="none" lIns="0" tIns="0" rIns="0" bIns="0" rtlCol="0" anchor="ctr"/>
          <a:lstStyle/>
          <a:p>
            <a:pPr algn="l" indent="0" marL="0">
              <a:buNone/>
            </a:pPr>
            <a:r>
              <a:rPr lang="ko-KR" altLang="en-US" sz="1100" spc="-22" kern="0" dirty="0">
                <a:solidFill>
                  <a:srgbClr val="102A4C"/>
                </a:solidFill>
                <a:latin typeface="Pretendard ExtraBold" pitchFamily="34" charset="0"/>
                <a:ea typeface="Pretendard ExtraBold" pitchFamily="34" charset="-127"/>
                <a:cs typeface="Pretendard ExtraBold" pitchFamily="34" charset="-120"/>
              </a:rPr>
              <a:t>'28</a:t>
            </a:r>
            <a:endParaRPr lang="en-US" sz="1100" dirty="0"/>
          </a:p>
        </p:txBody>
      </p:sp>
      <p:sp>
        <p:nvSpPr>
          <p:cNvPr id="99" name="1,000억원 이상 신규 사업"/>
          <p:cNvSpPr txBox="1"/>
          <p:nvPr/>
        </p:nvSpPr>
        <p:spPr>
          <a:xfrm>
            <a:off x="1739900" y="2558157"/>
            <a:ext cx="1393633" cy="158750"/>
          </a:xfrm>
          <a:prstGeom prst="rect">
            <a:avLst/>
          </a:prstGeom>
          <a:noFill/>
          <a:ln/>
        </p:spPr>
        <p:txBody>
          <a:bodyPr wrap="none" lIns="0" tIns="0" rIns="0" bIns="0" rtlCol="0" anchor="ctr"/>
          <a:lstStyle/>
          <a:p>
            <a:pPr algn="l" indent="0" marL="0">
              <a:buNone/>
            </a:pPr>
            <a:r>
              <a:rPr lang="ko-KR" altLang="en-US" sz="1050" spc="-32" kern="0" dirty="0">
                <a:solidFill>
                  <a:srgbClr val="102A4C"/>
                </a:solidFill>
                <a:latin typeface="Pretendard ExtraBold" pitchFamily="34" charset="0"/>
                <a:ea typeface="Pretendard ExtraBold" pitchFamily="34" charset="-127"/>
                <a:cs typeface="Pretendard ExtraBold" pitchFamily="34" charset="-120"/>
              </a:rPr>
              <a:t>1,000억원 이상 신규 사업</a:t>
            </a:r>
            <a:endParaRPr lang="en-US" sz="1050" dirty="0"/>
          </a:p>
        </p:txBody>
      </p:sp>
      <p:sp>
        <p:nvSpPr>
          <p:cNvPr id="100" name="도로 → 철도·건축 → 하천·항만"/>
          <p:cNvSpPr txBox="1"/>
          <p:nvPr/>
        </p:nvSpPr>
        <p:spPr>
          <a:xfrm>
            <a:off x="1739900" y="2749848"/>
            <a:ext cx="1485448" cy="146050"/>
          </a:xfrm>
          <a:prstGeom prst="rect">
            <a:avLst/>
          </a:prstGeom>
          <a:noFill/>
          <a:ln/>
        </p:spPr>
        <p:txBody>
          <a:bodyPr wrap="none" lIns="0" tIns="0" rIns="0" bIns="0" rtlCol="0" anchor="ctr"/>
          <a:lstStyle/>
          <a:p>
            <a:pPr algn="l" indent="0" marL="0">
              <a:buNone/>
            </a:pPr>
            <a:r>
              <a:rPr lang="ko-KR" altLang="en-US" sz="950" spc="-19" kern="0" dirty="0">
                <a:solidFill>
                  <a:srgbClr val="3F4654"/>
                </a:solidFill>
                <a:latin typeface="Pretendard SemiBold" pitchFamily="34" charset="0"/>
                <a:ea typeface="Pretendard SemiBold" pitchFamily="34" charset="-127"/>
                <a:cs typeface="Pretendard SemiBold" pitchFamily="34" charset="-120"/>
              </a:rPr>
              <a:t>도로 → 철도·건축 → 하천·항만</a:t>
            </a:r>
            <a:endParaRPr lang="en-US" sz="950" dirty="0"/>
          </a:p>
        </p:txBody>
      </p:sp>
      <p:sp>
        <p:nvSpPr>
          <p:cNvPr id="101" name="500억원 이상"/>
          <p:cNvSpPr txBox="1"/>
          <p:nvPr/>
        </p:nvSpPr>
        <p:spPr>
          <a:xfrm>
            <a:off x="1739900" y="3113187"/>
            <a:ext cx="776486" cy="158750"/>
          </a:xfrm>
          <a:prstGeom prst="rect">
            <a:avLst/>
          </a:prstGeom>
          <a:noFill/>
          <a:ln/>
        </p:spPr>
        <p:txBody>
          <a:bodyPr wrap="none" lIns="0" tIns="0" rIns="0" bIns="0" rtlCol="0" anchor="ctr"/>
          <a:lstStyle/>
          <a:p>
            <a:pPr algn="l" indent="0" marL="0">
              <a:buNone/>
            </a:pPr>
            <a:r>
              <a:rPr lang="ko-KR" altLang="en-US" sz="1050" spc="-32" kern="0" dirty="0">
                <a:solidFill>
                  <a:srgbClr val="102A4C"/>
                </a:solidFill>
                <a:latin typeface="Pretendard ExtraBold" pitchFamily="34" charset="0"/>
                <a:ea typeface="Pretendard ExtraBold" pitchFamily="34" charset="-127"/>
                <a:cs typeface="Pretendard ExtraBold" pitchFamily="34" charset="-120"/>
              </a:rPr>
              <a:t>500억원 이상</a:t>
            </a:r>
            <a:endParaRPr lang="en-US" sz="1050" dirty="0"/>
          </a:p>
        </p:txBody>
      </p:sp>
      <p:sp>
        <p:nvSpPr>
          <p:cNvPr id="102" name="300억원 이상"/>
          <p:cNvSpPr txBox="1"/>
          <p:nvPr/>
        </p:nvSpPr>
        <p:spPr>
          <a:xfrm>
            <a:off x="1739900" y="3468787"/>
            <a:ext cx="777677" cy="158750"/>
          </a:xfrm>
          <a:prstGeom prst="rect">
            <a:avLst/>
          </a:prstGeom>
          <a:noFill/>
          <a:ln/>
        </p:spPr>
        <p:txBody>
          <a:bodyPr wrap="none" lIns="0" tIns="0" rIns="0" bIns="0" rtlCol="0" anchor="ctr"/>
          <a:lstStyle/>
          <a:p>
            <a:pPr algn="l" indent="0" marL="0">
              <a:buNone/>
            </a:pPr>
            <a:r>
              <a:rPr lang="ko-KR" altLang="en-US" sz="1050" spc="-32" kern="0" dirty="0">
                <a:solidFill>
                  <a:srgbClr val="FFFFFF"/>
                </a:solidFill>
                <a:latin typeface="Pretendard ExtraBold" pitchFamily="34" charset="0"/>
                <a:ea typeface="Pretendard ExtraBold" pitchFamily="34" charset="-127"/>
                <a:cs typeface="Pretendard ExtraBold" pitchFamily="34" charset="-120"/>
              </a:rPr>
              <a:t>300억원 이상</a:t>
            </a:r>
            <a:endParaRPr lang="en-US" sz="1050" dirty="0"/>
          </a:p>
        </p:txBody>
      </p:sp>
      <p:sp>
        <p:nvSpPr>
          <p:cNvPr id="103" name="2030 건축BIM 로드맵"/>
          <p:cNvSpPr txBox="1"/>
          <p:nvPr/>
        </p:nvSpPr>
        <p:spPr>
          <a:xfrm>
            <a:off x="812800" y="4197747"/>
            <a:ext cx="1525097"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2030 건축BIM 로드맵</a:t>
            </a:r>
            <a:endParaRPr lang="en-US" sz="1300" dirty="0"/>
          </a:p>
        </p:txBody>
      </p:sp>
      <p:sp>
        <p:nvSpPr>
          <p:cNvPr id="104" name="'25"/>
          <p:cNvSpPr txBox="1"/>
          <p:nvPr/>
        </p:nvSpPr>
        <p:spPr>
          <a:xfrm>
            <a:off x="812800" y="4482207"/>
            <a:ext cx="249138" cy="165100"/>
          </a:xfrm>
          <a:prstGeom prst="rect">
            <a:avLst/>
          </a:prstGeom>
          <a:noFill/>
          <a:ln/>
        </p:spPr>
        <p:txBody>
          <a:bodyPr wrap="none" lIns="0" tIns="0" rIns="0" bIns="0" rtlCol="0" anchor="ctr"/>
          <a:lstStyle/>
          <a:p>
            <a:pPr algn="l" indent="0" marL="0">
              <a:buNone/>
            </a:pPr>
            <a:r>
              <a:rPr lang="ko-KR" altLang="en-US" sz="1100" spc="-12" kern="0" dirty="0">
                <a:solidFill>
                  <a:srgbClr val="102A4C"/>
                </a:solidFill>
                <a:latin typeface="Pretendard ExtraBold" pitchFamily="34" charset="0"/>
                <a:ea typeface="Pretendard ExtraBold" pitchFamily="34" charset="-127"/>
                <a:cs typeface="Pretendard ExtraBold" pitchFamily="34" charset="-120"/>
              </a:rPr>
              <a:t>'25</a:t>
            </a:r>
            <a:endParaRPr lang="en-US" sz="1100" dirty="0"/>
          </a:p>
        </p:txBody>
      </p:sp>
      <p:sp>
        <p:nvSpPr>
          <p:cNvPr id="105" name="BIM 설계 기반 구축"/>
          <p:cNvSpPr txBox="1"/>
          <p:nvPr/>
        </p:nvSpPr>
        <p:spPr>
          <a:xfrm>
            <a:off x="812800" y="4856857"/>
            <a:ext cx="960219" cy="146050"/>
          </a:xfrm>
          <a:prstGeom prst="rect">
            <a:avLst/>
          </a:prstGeom>
          <a:noFill/>
          <a:ln/>
        </p:spPr>
        <p:txBody>
          <a:bodyPr wrap="none" lIns="0" tIns="0" rIns="0" bIns="0" rtlCol="0" anchor="ctr"/>
          <a:lstStyle/>
          <a:p>
            <a:pPr algn="l" indent="0" marL="0">
              <a:buNone/>
            </a:pPr>
            <a:r>
              <a:rPr lang="ko-KR" altLang="en-US" sz="950" spc="-12" kern="0" dirty="0">
                <a:solidFill>
                  <a:srgbClr val="3F4654"/>
                </a:solidFill>
                <a:latin typeface="Pretendard SemiBold" pitchFamily="34" charset="0"/>
                <a:ea typeface="Pretendard SemiBold" pitchFamily="34" charset="-127"/>
                <a:cs typeface="Pretendard SemiBold" pitchFamily="34" charset="-120"/>
              </a:rPr>
              <a:t>BIM 설계 기반 구축</a:t>
            </a:r>
            <a:endParaRPr lang="en-US" sz="950" dirty="0"/>
          </a:p>
        </p:txBody>
      </p:sp>
      <p:sp>
        <p:nvSpPr>
          <p:cNvPr id="106" name="'30"/>
          <p:cNvSpPr txBox="1"/>
          <p:nvPr/>
        </p:nvSpPr>
        <p:spPr>
          <a:xfrm>
            <a:off x="2108200" y="4482207"/>
            <a:ext cx="259259" cy="165100"/>
          </a:xfrm>
          <a:prstGeom prst="rect">
            <a:avLst/>
          </a:prstGeom>
          <a:noFill/>
          <a:ln/>
        </p:spPr>
        <p:txBody>
          <a:bodyPr wrap="none" lIns="0" tIns="0" rIns="0" bIns="0" rtlCol="0" anchor="ctr"/>
          <a:lstStyle/>
          <a:p>
            <a:pPr algn="l" indent="0" marL="0">
              <a:buNone/>
            </a:pPr>
            <a:r>
              <a:rPr lang="ko-KR" altLang="en-US" sz="1100" spc="-12" kern="0" dirty="0">
                <a:solidFill>
                  <a:srgbClr val="102A4C"/>
                </a:solidFill>
                <a:latin typeface="Pretendard ExtraBold" pitchFamily="34" charset="0"/>
                <a:ea typeface="Pretendard ExtraBold" pitchFamily="34" charset="-127"/>
                <a:cs typeface="Pretendard ExtraBold" pitchFamily="34" charset="-120"/>
              </a:rPr>
              <a:t>'30</a:t>
            </a:r>
            <a:endParaRPr lang="en-US" sz="1100" dirty="0"/>
          </a:p>
        </p:txBody>
      </p:sp>
      <p:sp>
        <p:nvSpPr>
          <p:cNvPr id="107" name="디지털 건축서비스 완전 구현"/>
          <p:cNvSpPr txBox="1"/>
          <p:nvPr/>
        </p:nvSpPr>
        <p:spPr>
          <a:xfrm>
            <a:off x="2108200" y="4856857"/>
            <a:ext cx="1390583"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디지털 건축서비스 완전 구현</a:t>
            </a:r>
            <a:endParaRPr lang="en-US" sz="950" dirty="0"/>
          </a:p>
        </p:txBody>
      </p:sp>
      <p:sp>
        <p:nvSpPr>
          <p:cNvPr id="108" name="출처: 국토교통부 「스마트 건설 활성화 방안」, 「2030 건축BIM 로"/>
          <p:cNvSpPr txBox="1"/>
          <p:nvPr/>
        </p:nvSpPr>
        <p:spPr>
          <a:xfrm>
            <a:off x="812800" y="5212556"/>
            <a:ext cx="2302633" cy="95250"/>
          </a:xfrm>
          <a:prstGeom prst="rect">
            <a:avLst/>
          </a:prstGeom>
          <a:noFill/>
          <a:ln/>
        </p:spPr>
        <p:txBody>
          <a:bodyPr wrap="none" lIns="0" tIns="0" rIns="0" bIns="0" rtlCol="0" anchor="ctr"/>
          <a:lstStyle/>
          <a:p>
            <a:pPr algn="l" indent="0" marL="0">
              <a:buNone/>
            </a:pPr>
            <a:r>
              <a:rPr lang="ko-KR" altLang="en-US" sz="650" spc="-12" kern="0" dirty="0">
                <a:solidFill>
                  <a:srgbClr val="737C8B"/>
                </a:solidFill>
                <a:latin typeface="Pretendard Medium" pitchFamily="34" charset="0"/>
                <a:ea typeface="Pretendard Medium" pitchFamily="34" charset="-127"/>
                <a:cs typeface="Pretendard Medium" pitchFamily="34" charset="-120"/>
              </a:rPr>
              <a:t>출처: 국토교통부 「스마트 건설 활성화 방안」, 「2030 건축BIM 로드맵」</a:t>
            </a:r>
            <a:endParaRPr lang="en-US" sz="650" dirty="0"/>
          </a:p>
        </p:txBody>
      </p:sp>
      <p:sp>
        <p:nvSpPr>
          <p:cNvPr id="109" name="현실"/>
          <p:cNvSpPr txBox="1"/>
          <p:nvPr/>
        </p:nvSpPr>
        <p:spPr>
          <a:xfrm>
            <a:off x="4375150" y="1674713"/>
            <a:ext cx="233164" cy="127000"/>
          </a:xfrm>
          <a:prstGeom prst="rect">
            <a:avLst/>
          </a:prstGeom>
          <a:noFill/>
          <a:ln/>
        </p:spPr>
        <p:txBody>
          <a:bodyPr wrap="none" lIns="0" tIns="0" rIns="0" bIns="0" rtlCol="0" anchor="ctr"/>
          <a:lstStyle/>
          <a:p>
            <a:pPr algn="l" indent="0" marL="0">
              <a:buNone/>
            </a:pPr>
            <a:r>
              <a:rPr lang="ko-KR" altLang="en-US" sz="850" b="1" spc="-17" kern="0" dirty="0">
                <a:solidFill>
                  <a:srgbClr val="102A4C"/>
                </a:solidFill>
                <a:latin typeface="Pretendard" pitchFamily="34" charset="0"/>
                <a:ea typeface="Pretendard" pitchFamily="34" charset="-127"/>
                <a:cs typeface="Pretendard" pitchFamily="34" charset="-120"/>
              </a:rPr>
              <a:t>현실</a:t>
            </a:r>
            <a:endParaRPr lang="en-US" sz="850" dirty="0"/>
          </a:p>
        </p:txBody>
      </p:sp>
      <p:sp>
        <p:nvSpPr>
          <p:cNvPr id="110" name="대부분의 BIM은 2D 도면에서 출발"/>
          <p:cNvSpPr txBox="1"/>
          <p:nvPr/>
        </p:nvSpPr>
        <p:spPr>
          <a:xfrm>
            <a:off x="4767064" y="1641277"/>
            <a:ext cx="2245945"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대부분의 BIM은 2D 도면에서 출발</a:t>
            </a:r>
            <a:endParaRPr lang="en-US" sz="1300" dirty="0"/>
          </a:p>
        </p:txBody>
      </p:sp>
      <p:sp>
        <p:nvSpPr>
          <p:cNvPr id="111" name="신규 건설 프로젝트"/>
          <p:cNvSpPr txBox="1"/>
          <p:nvPr/>
        </p:nvSpPr>
        <p:spPr>
          <a:xfrm>
            <a:off x="4902200" y="2185392"/>
            <a:ext cx="1227040"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신규 건설 프로젝트</a:t>
            </a:r>
            <a:endParaRPr lang="en-US" sz="1300" dirty="0"/>
          </a:p>
        </p:txBody>
      </p:sp>
      <p:sp>
        <p:nvSpPr>
          <p:cNvPr id="112" name="2D 도면을 먼저 그린 뒤 BIM으로 옮기는'BIM 전환설계'가 대부분"/>
          <p:cNvSpPr txBox="1"/>
          <p:nvPr/>
        </p:nvSpPr>
        <p:spPr>
          <a:xfrm>
            <a:off x="4470400" y="2673747"/>
            <a:ext cx="2239635" cy="419100"/>
          </a:xfrm>
          <a:prstGeom prst="rect">
            <a:avLst/>
          </a:prstGeom>
          <a:noFill/>
          <a:ln/>
        </p:spPr>
        <p:txBody>
          <a:bodyPr wrap="none" lIns="0" tIns="0" rIns="0" bIns="0" rtlCol="0" anchor="t"/>
          <a:lstStyle/>
          <a:p>
            <a:pPr algn="l" indent="0" marL="0">
              <a:lnSpc>
                <a:spcPts val="1650"/>
              </a:lnSpc>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2D 도면을 먼저 그린 뒤 BIM으로 옮기는</a:t>
            </a:r>
            <a:br/>
            <a:r>
              <a:rPr lang="ko-KR" altLang="en-US" sz="1100" spc="-28" kern="0" dirty="0">
                <a:solidFill>
                  <a:srgbClr val="141820"/>
                </a:solidFill>
                <a:latin typeface="Pretendard ExtraBold" pitchFamily="34" charset="0"/>
                <a:ea typeface="Pretendard ExtraBold" pitchFamily="34" charset="-127"/>
                <a:cs typeface="Pretendard ExtraBold" pitchFamily="34" charset="-120"/>
              </a:rPr>
              <a:t>'BIM 전환설계'</a:t>
            </a:r>
            <a:r>
              <a:rPr lang="ko-KR" altLang="en-US" sz="1100" spc="-28" kern="0" dirty="0">
                <a:solidFill>
                  <a:srgbClr val="3F4654"/>
                </a:solidFill>
                <a:latin typeface="Pretendard Medium" pitchFamily="34" charset="0"/>
                <a:ea typeface="Pretendard Medium" pitchFamily="34" charset="-127"/>
                <a:cs typeface="Pretendard Medium" pitchFamily="34" charset="-120"/>
              </a:rPr>
              <a:t>가 대부분</a:t>
            </a:r>
            <a:endParaRPr lang="en-US" sz="1100" dirty="0"/>
          </a:p>
        </p:txBody>
      </p:sp>
      <p:sp>
        <p:nvSpPr>
          <p:cNvPr id="113" name="설계 후반 투입 인력 증가·추가 비용"/>
          <p:cNvSpPr txBox="1"/>
          <p:nvPr/>
        </p:nvSpPr>
        <p:spPr>
          <a:xfrm>
            <a:off x="4775200" y="3310731"/>
            <a:ext cx="1741226" cy="152400"/>
          </a:xfrm>
          <a:prstGeom prst="rect">
            <a:avLst/>
          </a:prstGeom>
          <a:noFill/>
          <a:ln/>
        </p:spPr>
        <p:txBody>
          <a:bodyPr wrap="none" lIns="0" tIns="0" rIns="0" bIns="0" rtlCol="0" anchor="ctr"/>
          <a:lstStyle/>
          <a:p>
            <a:pPr algn="l" indent="0" marL="0">
              <a:buNone/>
            </a:pPr>
            <a:r>
              <a:rPr lang="ko-KR" altLang="en-US" sz="1000" b="1" spc="-30" kern="0" dirty="0">
                <a:solidFill>
                  <a:srgbClr val="102A4C"/>
                </a:solidFill>
                <a:latin typeface="Pretendard" pitchFamily="34" charset="0"/>
                <a:ea typeface="Pretendard" pitchFamily="34" charset="-127"/>
                <a:cs typeface="Pretendard" pitchFamily="34" charset="-120"/>
              </a:rPr>
              <a:t>설계 후반 투입 인력 증가·추가 비용</a:t>
            </a:r>
            <a:endParaRPr lang="en-US" sz="1000" dirty="0"/>
          </a:p>
        </p:txBody>
      </p:sp>
      <p:sp>
        <p:nvSpPr>
          <p:cNvPr id="114" name="출처: 진상윤, 「BIM은 독일까? 득일까?」, 건축문화신문, 2015"/>
          <p:cNvSpPr txBox="1"/>
          <p:nvPr/>
        </p:nvSpPr>
        <p:spPr>
          <a:xfrm>
            <a:off x="4470400" y="3586956"/>
            <a:ext cx="2017197" cy="95250"/>
          </a:xfrm>
          <a:prstGeom prst="rect">
            <a:avLst/>
          </a:prstGeom>
          <a:noFill/>
          <a:ln/>
        </p:spPr>
        <p:txBody>
          <a:bodyPr wrap="none" lIns="0" tIns="0" rIns="0" bIns="0" rtlCol="0" anchor="ctr"/>
          <a:lstStyle/>
          <a:p>
            <a:pPr algn="l" indent="0" marL="0">
              <a:buNone/>
            </a:pPr>
            <a:r>
              <a:rPr lang="ko-KR" altLang="en-US" sz="650" spc="-12" kern="0" dirty="0">
                <a:solidFill>
                  <a:srgbClr val="737C8B"/>
                </a:solidFill>
                <a:latin typeface="Pretendard Medium" pitchFamily="34" charset="0"/>
                <a:ea typeface="Pretendard Medium" pitchFamily="34" charset="-127"/>
                <a:cs typeface="Pretendard Medium" pitchFamily="34" charset="-120"/>
              </a:rPr>
              <a:t>출처: 진상윤, 「BIM은 독일까? 득일까?」, 건축문화신문, 2015</a:t>
            </a:r>
            <a:endParaRPr lang="en-US" sz="650" dirty="0"/>
          </a:p>
        </p:txBody>
      </p:sp>
      <p:sp>
        <p:nvSpPr>
          <p:cNvPr id="115" name="기존 건축물"/>
          <p:cNvSpPr txBox="1"/>
          <p:nvPr/>
        </p:nvSpPr>
        <p:spPr>
          <a:xfrm>
            <a:off x="4902200" y="4204692"/>
            <a:ext cx="766564"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기존 건축물</a:t>
            </a:r>
            <a:endParaRPr lang="en-US" sz="1300" dirty="0"/>
          </a:p>
        </p:txBody>
      </p:sp>
      <p:sp>
        <p:nvSpPr>
          <p:cNvPr id="116" name="BIM 없이 2D 도면만 남아 있음"/>
          <p:cNvSpPr txBox="1"/>
          <p:nvPr/>
        </p:nvSpPr>
        <p:spPr>
          <a:xfrm>
            <a:off x="4470400" y="4645422"/>
            <a:ext cx="1712829" cy="165100"/>
          </a:xfrm>
          <a:prstGeom prst="rect">
            <a:avLst/>
          </a:prstGeom>
          <a:noFill/>
          <a:ln/>
        </p:spPr>
        <p:txBody>
          <a:bodyPr wrap="none" lIns="0" tIns="0" rIns="0" bIns="0" rtlCol="0" anchor="ctr"/>
          <a:lstStyle/>
          <a:p>
            <a:pPr algn="l" indent="0" marL="0">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BIM 없이 </a:t>
            </a:r>
            <a:r>
              <a:rPr lang="ko-KR" altLang="en-US" sz="1100" spc="-28" kern="0" dirty="0">
                <a:solidFill>
                  <a:srgbClr val="141820"/>
                </a:solidFill>
                <a:latin typeface="Pretendard ExtraBold" pitchFamily="34" charset="0"/>
                <a:ea typeface="Pretendard ExtraBold" pitchFamily="34" charset="-127"/>
                <a:cs typeface="Pretendard ExtraBold" pitchFamily="34" charset="-120"/>
              </a:rPr>
              <a:t>2D 도면만</a:t>
            </a:r>
            <a:r>
              <a:rPr lang="ko-KR" altLang="en-US" sz="1100" spc="-28" kern="0" dirty="0">
                <a:solidFill>
                  <a:srgbClr val="3F4654"/>
                </a:solidFill>
                <a:latin typeface="Pretendard Medium" pitchFamily="34" charset="0"/>
                <a:ea typeface="Pretendard Medium" pitchFamily="34" charset="-127"/>
                <a:cs typeface="Pretendard Medium" pitchFamily="34" charset="-120"/>
              </a:rPr>
              <a:t> 남아 있음</a:t>
            </a:r>
            <a:endParaRPr lang="en-US" sz="1100" dirty="0"/>
          </a:p>
        </p:txBody>
      </p:sp>
      <p:sp>
        <p:nvSpPr>
          <p:cNvPr id="117" name="2D 도면으로 3D BIM을 새로 구축해야 함"/>
          <p:cNvSpPr txBox="1"/>
          <p:nvPr/>
        </p:nvSpPr>
        <p:spPr>
          <a:xfrm>
            <a:off x="4775200" y="5077222"/>
            <a:ext cx="2078617" cy="152400"/>
          </a:xfrm>
          <a:prstGeom prst="rect">
            <a:avLst/>
          </a:prstGeom>
          <a:noFill/>
          <a:ln/>
        </p:spPr>
        <p:txBody>
          <a:bodyPr wrap="none" lIns="0" tIns="0" rIns="0" bIns="0" rtlCol="0" anchor="ctr"/>
          <a:lstStyle/>
          <a:p>
            <a:pPr algn="l" indent="0" marL="0">
              <a:buNone/>
            </a:pPr>
            <a:r>
              <a:rPr lang="ko-KR" altLang="en-US" sz="1000" b="1" spc="-30" kern="0" dirty="0">
                <a:solidFill>
                  <a:srgbClr val="102A4C"/>
                </a:solidFill>
                <a:latin typeface="Pretendard" pitchFamily="34" charset="0"/>
                <a:ea typeface="Pretendard" pitchFamily="34" charset="-127"/>
                <a:cs typeface="Pretendard" pitchFamily="34" charset="-120"/>
              </a:rPr>
              <a:t>2D 도면으로 3D BIM을 새로 구축해야 함</a:t>
            </a:r>
            <a:endParaRPr lang="en-US" sz="1000" dirty="0"/>
          </a:p>
        </p:txBody>
      </p:sp>
      <p:sp>
        <p:nvSpPr>
          <p:cNvPr id="118" name="문제"/>
          <p:cNvSpPr txBox="1"/>
          <p:nvPr/>
        </p:nvSpPr>
        <p:spPr>
          <a:xfrm>
            <a:off x="8032750" y="1674713"/>
            <a:ext cx="233164" cy="127000"/>
          </a:xfrm>
          <a:prstGeom prst="rect">
            <a:avLst/>
          </a:prstGeom>
          <a:noFill/>
          <a:ln/>
        </p:spPr>
        <p:txBody>
          <a:bodyPr wrap="none" lIns="0" tIns="0" rIns="0" bIns="0" rtlCol="0" anchor="ctr"/>
          <a:lstStyle/>
          <a:p>
            <a:pPr algn="l" indent="0" marL="0">
              <a:buNone/>
            </a:pPr>
            <a:r>
              <a:rPr lang="ko-KR" altLang="en-US" sz="850" b="1" spc="-17" kern="0" dirty="0">
                <a:solidFill>
                  <a:srgbClr val="FFFFFF"/>
                </a:solidFill>
                <a:latin typeface="Pretendard" pitchFamily="34" charset="0"/>
                <a:ea typeface="Pretendard" pitchFamily="34" charset="-127"/>
                <a:cs typeface="Pretendard" pitchFamily="34" charset="-120"/>
              </a:rPr>
              <a:t>문제</a:t>
            </a:r>
            <a:endParaRPr lang="en-US" sz="850" dirty="0"/>
          </a:p>
        </p:txBody>
      </p:sp>
      <p:sp>
        <p:nvSpPr>
          <p:cNvPr id="119" name="사람이 도면을 보고 직접 모델링"/>
          <p:cNvSpPr txBox="1"/>
          <p:nvPr/>
        </p:nvSpPr>
        <p:spPr>
          <a:xfrm>
            <a:off x="8424664" y="1641277"/>
            <a:ext cx="2018774" cy="196850"/>
          </a:xfrm>
          <a:prstGeom prst="rect">
            <a:avLst/>
          </a:prstGeom>
          <a:noFill/>
          <a:ln/>
        </p:spPr>
        <p:txBody>
          <a:bodyPr wrap="none" lIns="0" tIns="0" rIns="0" bIns="0" rtlCol="0" anchor="ctr"/>
          <a:lstStyle/>
          <a:p>
            <a:pPr algn="l" indent="0" marL="0">
              <a:buNone/>
            </a:pPr>
            <a:r>
              <a:rPr lang="ko-KR" altLang="en-US" sz="1300" spc="-46" kern="0" dirty="0">
                <a:solidFill>
                  <a:srgbClr val="102A4C"/>
                </a:solidFill>
                <a:latin typeface="Pretendard ExtraBold" pitchFamily="34" charset="0"/>
                <a:ea typeface="Pretendard ExtraBold" pitchFamily="34" charset="-127"/>
                <a:cs typeface="Pretendard ExtraBold" pitchFamily="34" charset="-120"/>
              </a:rPr>
              <a:t>사람이 도면을 보고 직접 모델링</a:t>
            </a:r>
            <a:endParaRPr lang="en-US" sz="1300" dirty="0"/>
          </a:p>
        </p:txBody>
      </p:sp>
      <p:sp>
        <p:nvSpPr>
          <p:cNvPr id="120" name="평면도 · 입면도"/>
          <p:cNvSpPr txBox="1"/>
          <p:nvPr/>
        </p:nvSpPr>
        <p:spPr>
          <a:xfrm>
            <a:off x="8259316" y="3073797"/>
            <a:ext cx="677168" cy="127000"/>
          </a:xfrm>
          <a:prstGeom prst="rect">
            <a:avLst/>
          </a:prstGeom>
          <a:noFill/>
          <a:ln/>
        </p:spPr>
        <p:txBody>
          <a:bodyPr wrap="none" lIns="0" tIns="0" rIns="0" bIns="0" rtlCol="0" anchor="ctr"/>
          <a:lstStyle/>
          <a:p>
            <a:pPr algn="l" indent="0" marL="0">
              <a:buNone/>
            </a:pPr>
            <a:r>
              <a:rPr lang="ko-KR" altLang="en-US" sz="850" b="1" spc="-12" kern="0" dirty="0">
                <a:solidFill>
                  <a:srgbClr val="3F4654"/>
                </a:solidFill>
                <a:latin typeface="Pretendard" pitchFamily="34" charset="0"/>
                <a:ea typeface="Pretendard" pitchFamily="34" charset="-127"/>
                <a:cs typeface="Pretendard" pitchFamily="34" charset="-120"/>
              </a:rPr>
              <a:t>평면도 · 입면도</a:t>
            </a:r>
            <a:endParaRPr lang="en-US" sz="850" dirty="0"/>
          </a:p>
        </p:txBody>
      </p:sp>
      <p:sp>
        <p:nvSpPr>
          <p:cNvPr id="121" name="도면 해석 · 직접 입력"/>
          <p:cNvSpPr txBox="1"/>
          <p:nvPr/>
        </p:nvSpPr>
        <p:spPr>
          <a:xfrm>
            <a:off x="9319915" y="3073797"/>
            <a:ext cx="905951" cy="127000"/>
          </a:xfrm>
          <a:prstGeom prst="rect">
            <a:avLst/>
          </a:prstGeom>
          <a:noFill/>
          <a:ln/>
        </p:spPr>
        <p:txBody>
          <a:bodyPr wrap="none" lIns="0" tIns="0" rIns="0" bIns="0" rtlCol="0" anchor="ctr"/>
          <a:lstStyle/>
          <a:p>
            <a:pPr algn="l" indent="0" marL="0">
              <a:buNone/>
            </a:pPr>
            <a:r>
              <a:rPr lang="ko-KR" altLang="en-US" sz="850" spc="-12" kern="0" dirty="0">
                <a:solidFill>
                  <a:srgbClr val="102A4C"/>
                </a:solidFill>
                <a:latin typeface="Pretendard ExtraBold" pitchFamily="34" charset="0"/>
                <a:ea typeface="Pretendard ExtraBold" pitchFamily="34" charset="-127"/>
                <a:cs typeface="Pretendard ExtraBold" pitchFamily="34" charset="-120"/>
              </a:rPr>
              <a:t>도면 해석 · 직접 입력</a:t>
            </a:r>
            <a:endParaRPr lang="en-US" sz="850" dirty="0"/>
          </a:p>
        </p:txBody>
      </p:sp>
      <p:sp>
        <p:nvSpPr>
          <p:cNvPr id="122" name="수작업 모델링 예시"/>
          <p:cNvSpPr txBox="1"/>
          <p:nvPr/>
        </p:nvSpPr>
        <p:spPr>
          <a:xfrm>
            <a:off x="10512475" y="3073797"/>
            <a:ext cx="831751" cy="127000"/>
          </a:xfrm>
          <a:prstGeom prst="rect">
            <a:avLst/>
          </a:prstGeom>
          <a:noFill/>
          <a:ln/>
        </p:spPr>
        <p:txBody>
          <a:bodyPr wrap="none" lIns="0" tIns="0" rIns="0" bIns="0" rtlCol="0" anchor="ctr"/>
          <a:lstStyle/>
          <a:p>
            <a:pPr algn="l" indent="0" marL="0">
              <a:buNone/>
            </a:pPr>
            <a:r>
              <a:rPr lang="ko-KR" altLang="en-US" sz="850" b="1" spc="-12" kern="0" dirty="0">
                <a:solidFill>
                  <a:srgbClr val="3F4654"/>
                </a:solidFill>
                <a:latin typeface="Pretendard" pitchFamily="34" charset="0"/>
                <a:ea typeface="Pretendard" pitchFamily="34" charset="-127"/>
                <a:cs typeface="Pretendard" pitchFamily="34" charset="-120"/>
              </a:rPr>
              <a:t>수작업 모델링 예시</a:t>
            </a:r>
            <a:endParaRPr lang="en-US" sz="850" dirty="0"/>
          </a:p>
        </p:txBody>
      </p:sp>
      <p:sp>
        <p:nvSpPr>
          <p:cNvPr id="123" name="1"/>
          <p:cNvSpPr txBox="1"/>
          <p:nvPr/>
        </p:nvSpPr>
        <p:spPr>
          <a:xfrm>
            <a:off x="8228409" y="3546574"/>
            <a:ext cx="103981" cy="133350"/>
          </a:xfrm>
          <a:prstGeom prst="rect">
            <a:avLst/>
          </a:prstGeom>
          <a:noFill/>
          <a:ln/>
        </p:spPr>
        <p:txBody>
          <a:bodyPr wrap="none" lIns="0" tIns="0" rIns="0" bIns="0" rtlCol="0" anchor="ctr"/>
          <a:lstStyle/>
          <a:p>
            <a:pPr algn="l" indent="0" marL="0">
              <a:buNone/>
            </a:pPr>
            <a:r>
              <a:rPr lang="ko-KR" altLang="en-US" sz="900" spc="-12" kern="0" dirty="0">
                <a:solidFill>
                  <a:srgbClr val="FFFFFF"/>
                </a:solidFill>
                <a:latin typeface="Pretendard ExtraBold" pitchFamily="34" charset="0"/>
                <a:ea typeface="Pretendard ExtraBold" pitchFamily="34" charset="-127"/>
                <a:cs typeface="Pretendard ExtraBold" pitchFamily="34" charset="-120"/>
              </a:rPr>
              <a:t>1</a:t>
            </a:r>
            <a:endParaRPr lang="en-US" sz="900" dirty="0"/>
          </a:p>
        </p:txBody>
      </p:sp>
      <p:sp>
        <p:nvSpPr>
          <p:cNvPr id="124" name="노동집약적 작업"/>
          <p:cNvSpPr txBox="1"/>
          <p:nvPr/>
        </p:nvSpPr>
        <p:spPr>
          <a:xfrm>
            <a:off x="8483600" y="3524052"/>
            <a:ext cx="968212" cy="184150"/>
          </a:xfrm>
          <a:prstGeom prst="rect">
            <a:avLst/>
          </a:prstGeom>
          <a:noFill/>
          <a:ln/>
        </p:spPr>
        <p:txBody>
          <a:bodyPr wrap="none" lIns="0" tIns="0" rIns="0" bIns="0" rtlCol="0" anchor="ctr"/>
          <a:lstStyle/>
          <a:p>
            <a:pPr algn="l" indent="0" marL="0">
              <a:buNone/>
            </a:pPr>
            <a:r>
              <a:rPr lang="ko-KR" altLang="en-US" sz="1200" spc="-42" kern="0" dirty="0">
                <a:solidFill>
                  <a:srgbClr val="102A4C"/>
                </a:solidFill>
                <a:latin typeface="Pretendard ExtraBold" pitchFamily="34" charset="0"/>
                <a:ea typeface="Pretendard ExtraBold" pitchFamily="34" charset="-127"/>
                <a:cs typeface="Pretendard ExtraBold" pitchFamily="34" charset="-120"/>
              </a:rPr>
              <a:t>노동집약적 작업</a:t>
            </a:r>
            <a:endParaRPr lang="en-US" sz="1200" dirty="0"/>
          </a:p>
        </p:txBody>
      </p:sp>
      <p:sp>
        <p:nvSpPr>
          <p:cNvPr id="125" name="도면을 한 장씩 보며 벽·창·문을 직접 입력"/>
          <p:cNvSpPr txBox="1"/>
          <p:nvPr/>
        </p:nvSpPr>
        <p:spPr>
          <a:xfrm>
            <a:off x="8483600" y="3769122"/>
            <a:ext cx="2151501" cy="158750"/>
          </a:xfrm>
          <a:prstGeom prst="rect">
            <a:avLst/>
          </a:prstGeom>
          <a:noFill/>
          <a:ln/>
        </p:spPr>
        <p:txBody>
          <a:bodyPr wrap="none" lIns="0" tIns="0" rIns="0" bIns="0" rtlCol="0" anchor="ctr"/>
          <a:lstStyle/>
          <a:p>
            <a:pPr algn="l" indent="0" marL="0">
              <a:buNone/>
            </a:pPr>
            <a:r>
              <a:rPr lang="ko-KR" altLang="en-US" sz="1050" spc="-26" kern="0" dirty="0">
                <a:solidFill>
                  <a:srgbClr val="3F4654"/>
                </a:solidFill>
                <a:latin typeface="Pretendard Medium" pitchFamily="34" charset="0"/>
                <a:ea typeface="Pretendard Medium" pitchFamily="34" charset="-127"/>
                <a:cs typeface="Pretendard Medium" pitchFamily="34" charset="-120"/>
              </a:rPr>
              <a:t>도면을 한 장씩 보며 벽·창·문을 직접 입력</a:t>
            </a:r>
            <a:endParaRPr lang="en-US" sz="1050" dirty="0"/>
          </a:p>
        </p:txBody>
      </p:sp>
      <p:sp>
        <p:nvSpPr>
          <p:cNvPr id="126" name="2"/>
          <p:cNvSpPr txBox="1"/>
          <p:nvPr/>
        </p:nvSpPr>
        <p:spPr>
          <a:xfrm>
            <a:off x="8220373" y="4228802"/>
            <a:ext cx="119955" cy="133350"/>
          </a:xfrm>
          <a:prstGeom prst="rect">
            <a:avLst/>
          </a:prstGeom>
          <a:noFill/>
          <a:ln/>
        </p:spPr>
        <p:txBody>
          <a:bodyPr wrap="none" lIns="0" tIns="0" rIns="0" bIns="0" rtlCol="0" anchor="ctr"/>
          <a:lstStyle/>
          <a:p>
            <a:pPr algn="l" indent="0" marL="0">
              <a:buNone/>
            </a:pPr>
            <a:r>
              <a:rPr lang="ko-KR" altLang="en-US" sz="900" spc="-12" kern="0" dirty="0">
                <a:solidFill>
                  <a:srgbClr val="FFFFFF"/>
                </a:solidFill>
                <a:latin typeface="Pretendard ExtraBold" pitchFamily="34" charset="0"/>
                <a:ea typeface="Pretendard ExtraBold" pitchFamily="34" charset="-127"/>
                <a:cs typeface="Pretendard ExtraBold" pitchFamily="34" charset="-120"/>
              </a:rPr>
              <a:t>2</a:t>
            </a:r>
            <a:endParaRPr lang="en-US" sz="900" dirty="0"/>
          </a:p>
        </p:txBody>
      </p:sp>
      <p:sp>
        <p:nvSpPr>
          <p:cNvPr id="127" name="긴 작업 시간 · 높은 비용"/>
          <p:cNvSpPr txBox="1"/>
          <p:nvPr/>
        </p:nvSpPr>
        <p:spPr>
          <a:xfrm>
            <a:off x="8483600" y="4206280"/>
            <a:ext cx="1399627" cy="184150"/>
          </a:xfrm>
          <a:prstGeom prst="rect">
            <a:avLst/>
          </a:prstGeom>
          <a:noFill/>
          <a:ln/>
        </p:spPr>
        <p:txBody>
          <a:bodyPr wrap="none" lIns="0" tIns="0" rIns="0" bIns="0" rtlCol="0" anchor="ctr"/>
          <a:lstStyle/>
          <a:p>
            <a:pPr algn="l" indent="0" marL="0">
              <a:buNone/>
            </a:pPr>
            <a:r>
              <a:rPr lang="ko-KR" altLang="en-US" sz="1200" spc="-42" kern="0" dirty="0">
                <a:solidFill>
                  <a:srgbClr val="102A4C"/>
                </a:solidFill>
                <a:latin typeface="Pretendard ExtraBold" pitchFamily="34" charset="0"/>
                <a:ea typeface="Pretendard ExtraBold" pitchFamily="34" charset="-127"/>
                <a:cs typeface="Pretendard ExtraBold" pitchFamily="34" charset="-120"/>
              </a:rPr>
              <a:t>긴 작업 시간 · 높은 비용</a:t>
            </a:r>
            <a:endParaRPr lang="en-US" sz="1200" dirty="0"/>
          </a:p>
        </p:txBody>
      </p:sp>
      <p:sp>
        <p:nvSpPr>
          <p:cNvPr id="128" name="건물 규모에 비례해 모델링 시간과 비용 증가"/>
          <p:cNvSpPr txBox="1"/>
          <p:nvPr/>
        </p:nvSpPr>
        <p:spPr>
          <a:xfrm>
            <a:off x="8483600" y="4451350"/>
            <a:ext cx="2321248" cy="158750"/>
          </a:xfrm>
          <a:prstGeom prst="rect">
            <a:avLst/>
          </a:prstGeom>
          <a:noFill/>
          <a:ln/>
        </p:spPr>
        <p:txBody>
          <a:bodyPr wrap="none" lIns="0" tIns="0" rIns="0" bIns="0" rtlCol="0" anchor="ctr"/>
          <a:lstStyle/>
          <a:p>
            <a:pPr algn="l" indent="0" marL="0">
              <a:buNone/>
            </a:pPr>
            <a:r>
              <a:rPr lang="ko-KR" altLang="en-US" sz="1050" spc="-26" kern="0" dirty="0">
                <a:solidFill>
                  <a:srgbClr val="3F4654"/>
                </a:solidFill>
                <a:latin typeface="Pretendard Medium" pitchFamily="34" charset="0"/>
                <a:ea typeface="Pretendard Medium" pitchFamily="34" charset="-127"/>
                <a:cs typeface="Pretendard Medium" pitchFamily="34" charset="-120"/>
              </a:rPr>
              <a:t>건물 규모에 비례해 모델링 시간과 비용 증가</a:t>
            </a:r>
            <a:endParaRPr lang="en-US" sz="1050" dirty="0"/>
          </a:p>
        </p:txBody>
      </p:sp>
      <p:sp>
        <p:nvSpPr>
          <p:cNvPr id="129" name="3"/>
          <p:cNvSpPr txBox="1"/>
          <p:nvPr/>
        </p:nvSpPr>
        <p:spPr>
          <a:xfrm>
            <a:off x="8218785" y="4911030"/>
            <a:ext cx="123230" cy="133350"/>
          </a:xfrm>
          <a:prstGeom prst="rect">
            <a:avLst/>
          </a:prstGeom>
          <a:noFill/>
          <a:ln/>
        </p:spPr>
        <p:txBody>
          <a:bodyPr wrap="none" lIns="0" tIns="0" rIns="0" bIns="0" rtlCol="0" anchor="ctr"/>
          <a:lstStyle/>
          <a:p>
            <a:pPr algn="l" indent="0" marL="0">
              <a:buNone/>
            </a:pPr>
            <a:r>
              <a:rPr lang="ko-KR" altLang="en-US" sz="900" spc="-12" kern="0" dirty="0">
                <a:solidFill>
                  <a:srgbClr val="FFFFFF"/>
                </a:solidFill>
                <a:latin typeface="Pretendard ExtraBold" pitchFamily="34" charset="0"/>
                <a:ea typeface="Pretendard ExtraBold" pitchFamily="34" charset="-127"/>
                <a:cs typeface="Pretendard ExtraBold" pitchFamily="34" charset="-120"/>
              </a:rPr>
              <a:t>3</a:t>
            </a:r>
            <a:endParaRPr lang="en-US" sz="900" dirty="0"/>
          </a:p>
        </p:txBody>
      </p:sp>
      <p:sp>
        <p:nvSpPr>
          <p:cNvPr id="130" name="휴먼 에러 가능성"/>
          <p:cNvSpPr txBox="1"/>
          <p:nvPr/>
        </p:nvSpPr>
        <p:spPr>
          <a:xfrm>
            <a:off x="8483600" y="4888508"/>
            <a:ext cx="998712" cy="184150"/>
          </a:xfrm>
          <a:prstGeom prst="rect">
            <a:avLst/>
          </a:prstGeom>
          <a:noFill/>
          <a:ln/>
        </p:spPr>
        <p:txBody>
          <a:bodyPr wrap="none" lIns="0" tIns="0" rIns="0" bIns="0" rtlCol="0" anchor="ctr"/>
          <a:lstStyle/>
          <a:p>
            <a:pPr algn="l" indent="0" marL="0">
              <a:buNone/>
            </a:pPr>
            <a:r>
              <a:rPr lang="ko-KR" altLang="en-US" sz="1200" spc="-42" kern="0" dirty="0">
                <a:solidFill>
                  <a:srgbClr val="102A4C"/>
                </a:solidFill>
                <a:latin typeface="Pretendard ExtraBold" pitchFamily="34" charset="0"/>
                <a:ea typeface="Pretendard ExtraBold" pitchFamily="34" charset="-127"/>
                <a:cs typeface="Pretendard ExtraBold" pitchFamily="34" charset="-120"/>
              </a:rPr>
              <a:t>휴먼 에러 가능성</a:t>
            </a:r>
            <a:endParaRPr lang="en-US" sz="1200" dirty="0"/>
          </a:p>
        </p:txBody>
      </p:sp>
      <p:sp>
        <p:nvSpPr>
          <p:cNvPr id="131" name="도면 해석·입력 과정에서 누락과 오류 발생"/>
          <p:cNvSpPr txBox="1"/>
          <p:nvPr/>
        </p:nvSpPr>
        <p:spPr>
          <a:xfrm>
            <a:off x="8483600" y="5133578"/>
            <a:ext cx="2205349" cy="158750"/>
          </a:xfrm>
          <a:prstGeom prst="rect">
            <a:avLst/>
          </a:prstGeom>
          <a:noFill/>
          <a:ln/>
        </p:spPr>
        <p:txBody>
          <a:bodyPr wrap="none" lIns="0" tIns="0" rIns="0" bIns="0" rtlCol="0" anchor="ctr"/>
          <a:lstStyle/>
          <a:p>
            <a:pPr algn="l" indent="0" marL="0">
              <a:buNone/>
            </a:pPr>
            <a:r>
              <a:rPr lang="ko-KR" altLang="en-US" sz="1050" spc="-26" kern="0" dirty="0">
                <a:solidFill>
                  <a:srgbClr val="3F4654"/>
                </a:solidFill>
                <a:latin typeface="Pretendard Medium" pitchFamily="34" charset="0"/>
                <a:ea typeface="Pretendard Medium" pitchFamily="34" charset="-127"/>
                <a:cs typeface="Pretendard Medium" pitchFamily="34" charset="-120"/>
              </a:rPr>
              <a:t>도면 해석·입력 과정에서 누락과 오류 발생</a:t>
            </a:r>
            <a:endParaRPr lang="en-US" sz="1050" dirty="0"/>
          </a:p>
        </p:txBody>
      </p:sp>
      <p:sp>
        <p:nvSpPr>
          <p:cNvPr id="132" name="KEY MESSAGE"/>
          <p:cNvSpPr txBox="1"/>
          <p:nvPr/>
        </p:nvSpPr>
        <p:spPr>
          <a:xfrm>
            <a:off x="863600" y="5982891"/>
            <a:ext cx="864394" cy="114300"/>
          </a:xfrm>
          <a:prstGeom prst="rect">
            <a:avLst/>
          </a:prstGeom>
          <a:noFill/>
          <a:ln/>
        </p:spPr>
        <p:txBody>
          <a:bodyPr wrap="none" lIns="0" tIns="0" rIns="0" bIns="0" rtlCol="0" anchor="ctr"/>
          <a:lstStyle/>
          <a:p>
            <a:pPr algn="l" indent="0" marL="0">
              <a:buNone/>
            </a:pPr>
            <a:r>
              <a:rPr lang="ko-KR" altLang="en-US" sz="750" spc="105" kern="0" dirty="0">
                <a:solidFill>
                  <a:srgbClr val="FF8FA3"/>
                </a:solidFill>
                <a:latin typeface="Pretendard ExtraBold" pitchFamily="34" charset="0"/>
                <a:ea typeface="Pretendard ExtraBold" pitchFamily="34" charset="-127"/>
                <a:cs typeface="Pretendard ExtraBold" pitchFamily="34" charset="-120"/>
              </a:rPr>
              <a:t>KEY MESSAGE</a:t>
            </a:r>
            <a:endParaRPr lang="en-US" sz="750" dirty="0"/>
          </a:p>
        </p:txBody>
      </p:sp>
      <p:sp>
        <p:nvSpPr>
          <p:cNvPr id="133" name="2차원 도면에 기반한 3차원 BIM 모델 자동 생성 프로세스가 필요합니다"/>
          <p:cNvSpPr txBox="1"/>
          <p:nvPr/>
        </p:nvSpPr>
        <p:spPr>
          <a:xfrm>
            <a:off x="1854994" y="5938242"/>
            <a:ext cx="4802779" cy="209550"/>
          </a:xfrm>
          <a:prstGeom prst="rect">
            <a:avLst/>
          </a:prstGeom>
          <a:noFill/>
          <a:ln/>
        </p:spPr>
        <p:txBody>
          <a:bodyPr wrap="none" lIns="0" tIns="0" rIns="0" bIns="0" rtlCol="0" anchor="ctr"/>
          <a:lstStyle/>
          <a:p>
            <a:pPr algn="l" indent="0" marL="0">
              <a:buNone/>
            </a:pPr>
            <a:r>
              <a:rPr lang="ko-KR" altLang="en-US" sz="1350" b="1" spc="-47" kern="0" dirty="0">
                <a:solidFill>
                  <a:srgbClr val="FFFFFF"/>
                </a:solidFill>
                <a:latin typeface="Pretendard" pitchFamily="34" charset="0"/>
                <a:ea typeface="Pretendard" pitchFamily="34" charset="-127"/>
                <a:cs typeface="Pretendard" pitchFamily="34" charset="-120"/>
              </a:rPr>
              <a:t>2차원 도면에 기반한 </a:t>
            </a:r>
            <a:r>
              <a:rPr lang="ko-KR" altLang="en-US" sz="1350" b="1" spc="-47" kern="0" dirty="0">
                <a:solidFill>
                  <a:srgbClr val="FFB3C1"/>
                </a:solidFill>
                <a:latin typeface="Pretendard" pitchFamily="34" charset="0"/>
                <a:ea typeface="Pretendard" pitchFamily="34" charset="-127"/>
                <a:cs typeface="Pretendard" pitchFamily="34" charset="-120"/>
              </a:rPr>
              <a:t>3차원 BIM 모델 자동 생성 프로세스</a:t>
            </a:r>
            <a:r>
              <a:rPr lang="ko-KR" altLang="en-US" sz="1350" b="1" spc="-47" kern="0" dirty="0">
                <a:solidFill>
                  <a:srgbClr val="FFFFFF"/>
                </a:solidFill>
                <a:latin typeface="Pretendard" pitchFamily="34" charset="0"/>
                <a:ea typeface="Pretendard" pitchFamily="34" charset="-127"/>
                <a:cs typeface="Pretendard" pitchFamily="34" charset="-120"/>
              </a:rPr>
              <a:t>가 필요합니다.</a:t>
            </a:r>
            <a:endParaRPr lang="en-US" sz="1350" dirty="0"/>
          </a:p>
        </p:txBody>
      </p:sp>
      <p:sp>
        <p:nvSpPr>
          <p:cNvPr id="134" name="석사 연구 발표  ·  평면도와 입면도 객체 인식 및 정보 통합을 통한 "/>
          <p:cNvSpPr txBox="1"/>
          <p:nvPr/>
        </p:nvSpPr>
        <p:spPr>
          <a:xfrm>
            <a:off x="609600" y="6472238"/>
            <a:ext cx="514511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  ·  Utility 기술(건축, BIM/5D) 지원자 ○○○</a:t>
            </a:r>
            <a:endParaRPr lang="en-US" sz="750" dirty="0"/>
          </a:p>
        </p:txBody>
      </p:sp>
      <p:sp>
        <p:nvSpPr>
          <p:cNvPr id="135" name="01 / 05"/>
          <p:cNvSpPr txBox="1"/>
          <p:nvPr/>
        </p:nvSpPr>
        <p:spPr>
          <a:xfrm>
            <a:off x="11232852" y="6472238"/>
            <a:ext cx="400348"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01</a:t>
            </a:r>
            <a:r>
              <a:rPr lang="ko-KR" altLang="en-US" sz="750" spc="45" kern="0" dirty="0">
                <a:solidFill>
                  <a:srgbClr val="737C8B"/>
                </a:solidFill>
                <a:latin typeface="Pretendard SemiBold" pitchFamily="34" charset="0"/>
                <a:ea typeface="Pretendard SemiBold" pitchFamily="34" charset="-127"/>
                <a:cs typeface="Pretendard SemiBold" pitchFamily="34" charset="-120"/>
              </a:rPr>
              <a:t> / 05</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2210792"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done"/>
          <p:cNvSpPr/>
          <p:nvPr/>
        </p:nvSpPr>
        <p:spPr>
          <a:xfrm>
            <a:off x="99695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5" name="on"/>
          <p:cNvSpPr/>
          <p:nvPr/>
        </p:nvSpPr>
        <p:spPr>
          <a:xfrm>
            <a:off x="102997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6" name="i"/>
          <p:cNvSpPr/>
          <p:nvPr/>
        </p:nvSpPr>
        <p:spPr>
          <a:xfrm>
            <a:off x="106299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7" name="i"/>
          <p:cNvSpPr/>
          <p:nvPr/>
        </p:nvSpPr>
        <p:spPr>
          <a:xfrm>
            <a:off x="109601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t2-ch c0::after"/>
          <p:cNvSpPr/>
          <p:nvPr/>
        </p:nvSpPr>
        <p:spPr>
          <a:xfrm>
            <a:off x="906463" y="1733947"/>
            <a:ext cx="1481138" cy="12700"/>
          </a:xfrm>
          <a:prstGeom prst="roundRect">
            <a:avLst>
              <a:gd name="adj" fmla="val 50000"/>
            </a:avLst>
          </a:prstGeom>
          <a:solidFill>
            <a:srgbClr val="C8CFD8"/>
          </a:solidFill>
          <a:ln>
            <a:noFill/>
          </a:ln>
        </p:spPr>
        <p:txBody>
          <a:bodyPr rtlCol="0" anchor="ctr"/>
          <a:lstStyle/>
          <a:p>
            <a:pPr algn="ctr"/>
            <a:endParaRPr lang="ko-KR" dirty="0"/>
          </a:p>
        </p:txBody>
      </p:sp>
      <p:sp>
        <p:nvSpPr>
          <p:cNvPr id="10" name="svg circle"/>
          <p:cNvSpPr/>
          <p:nvPr/>
        </p:nvSpPr>
        <p:spPr>
          <a:xfrm>
            <a:off x="2609850" y="1676797"/>
            <a:ext cx="127000" cy="127000"/>
          </a:xfrm>
          <a:prstGeom prst="ellipse">
            <a:avLst/>
          </a:prstGeom>
          <a:noFill/>
          <a:ln w="12700">
            <a:solidFill>
              <a:srgbClr val="8D96A3"/>
            </a:solidFill>
            <a:miter lim="800000"/>
          </a:ln>
        </p:spPr>
        <p:txBody>
          <a:bodyPr rtlCol="0" anchor="ctr"/>
          <a:lstStyle/>
          <a:p>
            <a:pPr algn="ctr"/>
            <a:endParaRPr lang="ko-KR" dirty="0"/>
          </a:p>
        </p:txBody>
      </p:sp>
      <p:sp>
        <p:nvSpPr>
          <p:cNvPr id="11" name="svg path"/>
          <p:cNvSpPr/>
          <p:nvPr/>
        </p:nvSpPr>
        <p:spPr>
          <a:xfrm>
            <a:off x="2651125" y="1718072"/>
            <a:ext cx="44450" cy="44450"/>
          </a:xfrm>
          <a:custGeom>
            <a:avLst/>
            <a:gdLst/>
            <a:ahLst/>
            <a:cxnLst/>
            <a:rect l="0" t="0" r="r" b="b"/>
            <a:pathLst>
              <a:path w="44450" h="44450" fill="none">
                <a:moveTo>
                  <a:pt x="0" y="0"/>
                </a:moveTo>
                <a:lnTo>
                  <a:pt x="44450" y="44450"/>
                </a:lnTo>
                <a:moveTo>
                  <a:pt x="44450" y="0"/>
                </a:moveTo>
                <a:lnTo>
                  <a:pt x="0" y="44450"/>
                </a:lnTo>
              </a:path>
            </a:pathLst>
          </a:custGeom>
          <a:noFill/>
          <a:ln w="12700" cap="rnd">
            <a:solidFill>
              <a:srgbClr val="8D96A3"/>
            </a:solidFill>
            <a:miter lim="800000"/>
          </a:ln>
        </p:spPr>
        <p:txBody>
          <a:bodyPr rtlCol="0" anchor="ctr"/>
          <a:lstStyle/>
          <a:p>
            <a:pPr algn="ctr"/>
            <a:endParaRPr lang="ko-KR" dirty="0"/>
          </a:p>
        </p:txBody>
      </p:sp>
      <p:sp>
        <p:nvSpPr>
          <p:cNvPr id="12" name="t2-ch c1::after"/>
          <p:cNvSpPr/>
          <p:nvPr/>
        </p:nvSpPr>
        <p:spPr>
          <a:xfrm>
            <a:off x="3908127" y="1733947"/>
            <a:ext cx="2645073" cy="12700"/>
          </a:xfrm>
          <a:prstGeom prst="roundRect">
            <a:avLst>
              <a:gd name="adj" fmla="val 50000"/>
            </a:avLst>
          </a:prstGeom>
          <a:solidFill>
            <a:srgbClr val="C8CFD8"/>
          </a:solidFill>
          <a:ln>
            <a:noFill/>
          </a:ln>
        </p:spPr>
        <p:txBody>
          <a:bodyPr rtlCol="0" anchor="ctr"/>
          <a:lstStyle/>
          <a:p>
            <a:pPr algn="ctr"/>
            <a:endParaRPr lang="ko-KR" dirty="0"/>
          </a:p>
        </p:txBody>
      </p:sp>
      <p:sp>
        <p:nvSpPr>
          <p:cNvPr id="13" name="svg circle"/>
          <p:cNvSpPr/>
          <p:nvPr/>
        </p:nvSpPr>
        <p:spPr>
          <a:xfrm>
            <a:off x="7080250" y="1676797"/>
            <a:ext cx="127000" cy="127000"/>
          </a:xfrm>
          <a:prstGeom prst="ellipse">
            <a:avLst/>
          </a:prstGeom>
          <a:noFill/>
          <a:ln w="12700">
            <a:solidFill>
              <a:srgbClr val="102A4C"/>
            </a:solidFill>
            <a:miter lim="800000"/>
          </a:ln>
        </p:spPr>
        <p:txBody>
          <a:bodyPr rtlCol="0" anchor="ctr"/>
          <a:lstStyle/>
          <a:p>
            <a:pPr algn="ctr"/>
            <a:endParaRPr lang="ko-KR" dirty="0"/>
          </a:p>
        </p:txBody>
      </p:sp>
      <p:sp>
        <p:nvSpPr>
          <p:cNvPr id="14" name="svg circle"/>
          <p:cNvSpPr/>
          <p:nvPr/>
        </p:nvSpPr>
        <p:spPr>
          <a:xfrm>
            <a:off x="7112000" y="1708547"/>
            <a:ext cx="63500" cy="63500"/>
          </a:xfrm>
          <a:prstGeom prst="ellipse">
            <a:avLst/>
          </a:prstGeom>
          <a:noFill/>
          <a:ln w="12700">
            <a:solidFill>
              <a:srgbClr val="102A4C"/>
            </a:solidFill>
            <a:miter lim="800000"/>
          </a:ln>
        </p:spPr>
        <p:txBody>
          <a:bodyPr rtlCol="0" anchor="ctr"/>
          <a:lstStyle/>
          <a:p>
            <a:pPr algn="ctr"/>
            <a:endParaRPr lang="ko-KR" dirty="0"/>
          </a:p>
        </p:txBody>
      </p:sp>
      <p:sp>
        <p:nvSpPr>
          <p:cNvPr id="15" name="svg circle"/>
          <p:cNvSpPr/>
          <p:nvPr/>
        </p:nvSpPr>
        <p:spPr>
          <a:xfrm>
            <a:off x="7134225" y="1730772"/>
            <a:ext cx="19050" cy="19050"/>
          </a:xfrm>
          <a:prstGeom prst="ellipse">
            <a:avLst/>
          </a:prstGeom>
          <a:solidFill>
            <a:srgbClr val="102A4C"/>
          </a:solidFill>
          <a:ln>
            <a:noFill/>
          </a:ln>
        </p:spPr>
        <p:txBody>
          <a:bodyPr rtlCol="0" anchor="ctr"/>
          <a:lstStyle/>
          <a:p>
            <a:pPr algn="ctr"/>
            <a:endParaRPr lang="ko-KR" dirty="0"/>
          </a:p>
        </p:txBody>
      </p:sp>
      <p:sp>
        <p:nvSpPr>
          <p:cNvPr id="16" name="t2-ch c2::after"/>
          <p:cNvSpPr/>
          <p:nvPr/>
        </p:nvSpPr>
        <p:spPr>
          <a:xfrm>
            <a:off x="7967663" y="1733947"/>
            <a:ext cx="3614738" cy="12700"/>
          </a:xfrm>
          <a:prstGeom prst="roundRect">
            <a:avLst>
              <a:gd name="adj" fmla="val 50000"/>
            </a:avLst>
          </a:prstGeom>
          <a:solidFill>
            <a:srgbClr val="102A4C"/>
          </a:solidFill>
          <a:ln>
            <a:noFill/>
          </a:ln>
        </p:spPr>
        <p:txBody>
          <a:bodyPr rtlCol="0" anchor="ctr"/>
          <a:lstStyle/>
          <a:p>
            <a:pPr algn="ctr"/>
            <a:endParaRPr lang="ko-KR" dirty="0"/>
          </a:p>
        </p:txBody>
      </p:sp>
      <p:sp>
        <p:nvSpPr>
          <p:cNvPr id="17" name="t2-ic"/>
          <p:cNvSpPr/>
          <p:nvPr/>
        </p:nvSpPr>
        <p:spPr>
          <a:xfrm>
            <a:off x="609600" y="2248297"/>
            <a:ext cx="508000" cy="508000"/>
          </a:xfrm>
          <a:prstGeom prst="roundRect">
            <a:avLst>
              <a:gd name="adj" fmla="val 25000"/>
            </a:avLst>
          </a:prstGeom>
          <a:solidFill>
            <a:srgbClr val="E8EEF6"/>
          </a:solidFill>
          <a:ln>
            <a:noFill/>
          </a:ln>
        </p:spPr>
        <p:txBody>
          <a:bodyPr rtlCol="0" anchor="ctr"/>
          <a:lstStyle/>
          <a:p>
            <a:pPr algn="ctr"/>
            <a:endParaRPr lang="ko-KR" dirty="0"/>
          </a:p>
        </p:txBody>
      </p:sp>
      <p:sp>
        <p:nvSpPr>
          <p:cNvPr id="18" name="svg path"/>
          <p:cNvSpPr/>
          <p:nvPr/>
        </p:nvSpPr>
        <p:spPr>
          <a:xfrm>
            <a:off x="768350" y="2597547"/>
            <a:ext cx="152400" cy="1"/>
          </a:xfrm>
          <a:custGeom>
            <a:avLst/>
            <a:gdLst/>
            <a:ahLst/>
            <a:cxnLst/>
            <a:rect l="0" t="0" r="r" b="b"/>
            <a:pathLst>
              <a:path w="152400" h="1" fill="none">
                <a:moveTo>
                  <a:pt x="0" y="0"/>
                </a:moveTo>
                <a:lnTo>
                  <a:pt x="152400" y="0"/>
                </a:lnTo>
              </a:path>
            </a:pathLst>
          </a:custGeom>
          <a:noFill/>
          <a:ln w="12700" cap="rnd">
            <a:solidFill>
              <a:srgbClr val="102A4C"/>
            </a:solidFill>
            <a:round/>
          </a:ln>
        </p:spPr>
        <p:txBody>
          <a:bodyPr rtlCol="0" anchor="ctr"/>
          <a:lstStyle/>
          <a:p>
            <a:pPr algn="ctr"/>
            <a:endParaRPr lang="ko-KR" dirty="0"/>
          </a:p>
        </p:txBody>
      </p:sp>
      <p:sp>
        <p:nvSpPr>
          <p:cNvPr id="19" name="svg rect"/>
          <p:cNvSpPr/>
          <p:nvPr/>
        </p:nvSpPr>
        <p:spPr>
          <a:xfrm>
            <a:off x="793750" y="2445147"/>
            <a:ext cx="88900" cy="152400"/>
          </a:xfrm>
          <a:prstGeom prst="roundRect">
            <a:avLst>
              <a:gd name="adj" fmla="val 10714"/>
            </a:avLst>
          </a:prstGeom>
          <a:noFill/>
          <a:ln w="12700" cap="rnd">
            <a:solidFill>
              <a:srgbClr val="102A4C"/>
            </a:solidFill>
            <a:round/>
          </a:ln>
        </p:spPr>
        <p:txBody>
          <a:bodyPr rtlCol="0" anchor="ctr"/>
          <a:lstStyle/>
          <a:p>
            <a:pPr algn="ctr"/>
            <a:endParaRPr lang="ko-KR" dirty="0"/>
          </a:p>
        </p:txBody>
      </p:sp>
      <p:sp>
        <p:nvSpPr>
          <p:cNvPr id="20" name="svg path"/>
          <p:cNvSpPr/>
          <p:nvPr/>
        </p:nvSpPr>
        <p:spPr>
          <a:xfrm>
            <a:off x="819150" y="2483247"/>
            <a:ext cx="38100" cy="76200"/>
          </a:xfrm>
          <a:custGeom>
            <a:avLst/>
            <a:gdLst/>
            <a:ahLst/>
            <a:cxnLst/>
            <a:rect l="0" t="0" r="r" b="b"/>
            <a:pathLst>
              <a:path w="38100" h="76200" fill="none">
                <a:moveTo>
                  <a:pt x="0" y="0"/>
                </a:moveTo>
                <a:lnTo>
                  <a:pt x="38100" y="0"/>
                </a:lnTo>
                <a:moveTo>
                  <a:pt x="0" y="38100"/>
                </a:moveTo>
                <a:lnTo>
                  <a:pt x="38100" y="38100"/>
                </a:lnTo>
                <a:moveTo>
                  <a:pt x="0" y="76200"/>
                </a:moveTo>
                <a:lnTo>
                  <a:pt x="38100" y="76200"/>
                </a:lnTo>
              </a:path>
            </a:pathLst>
          </a:custGeom>
          <a:noFill/>
          <a:ln w="12700" cap="rnd">
            <a:solidFill>
              <a:srgbClr val="102A4C"/>
            </a:solidFill>
            <a:round/>
          </a:ln>
        </p:spPr>
        <p:txBody>
          <a:bodyPr rtlCol="0" anchor="ctr"/>
          <a:lstStyle/>
          <a:p>
            <a:pPr algn="ctr"/>
            <a:endParaRPr lang="ko-KR" dirty="0"/>
          </a:p>
        </p:txBody>
      </p:sp>
      <p:sp>
        <p:nvSpPr>
          <p:cNvPr id="21" name="svg path"/>
          <p:cNvSpPr/>
          <p:nvPr/>
        </p:nvSpPr>
        <p:spPr>
          <a:xfrm>
            <a:off x="946150" y="2413397"/>
            <a:ext cx="1" cy="184150"/>
          </a:xfrm>
          <a:custGeom>
            <a:avLst/>
            <a:gdLst/>
            <a:ahLst/>
            <a:cxnLst/>
            <a:rect l="0" t="0" r="r" b="b"/>
            <a:pathLst>
              <a:path w="1" h="184150" fill="none">
                <a:moveTo>
                  <a:pt x="0" y="0"/>
                </a:moveTo>
                <a:lnTo>
                  <a:pt x="0" y="184150"/>
                </a:lnTo>
              </a:path>
            </a:pathLst>
          </a:custGeom>
          <a:noFill/>
          <a:ln w="12700" cap="rnd">
            <a:solidFill>
              <a:srgbClr val="102A4C"/>
            </a:solidFill>
            <a:round/>
          </a:ln>
        </p:spPr>
        <p:txBody>
          <a:bodyPr rtlCol="0" anchor="ctr"/>
          <a:lstStyle/>
          <a:p>
            <a:pPr algn="ctr"/>
            <a:endParaRPr lang="ko-KR" dirty="0"/>
          </a:p>
        </p:txBody>
      </p:sp>
      <p:sp>
        <p:nvSpPr>
          <p:cNvPr id="22" name="svg path"/>
          <p:cNvSpPr/>
          <p:nvPr/>
        </p:nvSpPr>
        <p:spPr>
          <a:xfrm>
            <a:off x="923925" y="2413397"/>
            <a:ext cx="44450" cy="22225"/>
          </a:xfrm>
          <a:custGeom>
            <a:avLst/>
            <a:gdLst/>
            <a:ahLst/>
            <a:cxnLst/>
            <a:rect l="0" t="0" r="r" b="b"/>
            <a:pathLst>
              <a:path w="44450" h="22225" fill="none">
                <a:moveTo>
                  <a:pt x="0" y="22225"/>
                </a:moveTo>
                <a:lnTo>
                  <a:pt x="22225" y="0"/>
                </a:lnTo>
                <a:lnTo>
                  <a:pt x="44450" y="22225"/>
                </a:lnTo>
              </a:path>
            </a:pathLst>
          </a:custGeom>
          <a:noFill/>
          <a:ln w="12700" cap="rnd">
            <a:solidFill>
              <a:srgbClr val="102A4C"/>
            </a:solidFill>
            <a:round/>
          </a:ln>
        </p:spPr>
        <p:txBody>
          <a:bodyPr rtlCol="0" anchor="ctr"/>
          <a:lstStyle/>
          <a:p>
            <a:pPr algn="ctr"/>
            <a:endParaRPr lang="ko-KR" dirty="0"/>
          </a:p>
        </p:txBody>
      </p:sp>
      <p:sp>
        <p:nvSpPr>
          <p:cNvPr id="23" name="svg path"/>
          <p:cNvSpPr/>
          <p:nvPr/>
        </p:nvSpPr>
        <p:spPr>
          <a:xfrm>
            <a:off x="923925" y="2575322"/>
            <a:ext cx="44450" cy="22225"/>
          </a:xfrm>
          <a:custGeom>
            <a:avLst/>
            <a:gdLst/>
            <a:ahLst/>
            <a:cxnLst/>
            <a:rect l="0" t="0" r="r" b="b"/>
            <a:pathLst>
              <a:path w="44450" h="22225" fill="none">
                <a:moveTo>
                  <a:pt x="0" y="0"/>
                </a:moveTo>
                <a:lnTo>
                  <a:pt x="22225" y="22225"/>
                </a:lnTo>
                <a:lnTo>
                  <a:pt x="44450" y="0"/>
                </a:lnTo>
              </a:path>
            </a:pathLst>
          </a:custGeom>
          <a:noFill/>
          <a:ln w="12700" cap="rnd">
            <a:solidFill>
              <a:srgbClr val="102A4C"/>
            </a:solidFill>
            <a:round/>
          </a:ln>
        </p:spPr>
        <p:txBody>
          <a:bodyPr rtlCol="0" anchor="ctr"/>
          <a:lstStyle/>
          <a:p>
            <a:pPr algn="ctr"/>
            <a:endParaRPr lang="ko-KR" dirty="0"/>
          </a:p>
        </p:txBody>
      </p:sp>
      <p:sp>
        <p:nvSpPr>
          <p:cNvPr id="24" name="t2-cell t2-lim r1"/>
          <p:cNvSpPr/>
          <p:nvPr/>
        </p:nvSpPr>
        <p:spPr>
          <a:xfrm>
            <a:off x="2590800" y="1968897"/>
            <a:ext cx="3962400" cy="1066800"/>
          </a:xfrm>
          <a:prstGeom prst="roundRect">
            <a:avLst>
              <a:gd name="adj" fmla="val 11905"/>
            </a:avLst>
          </a:prstGeom>
          <a:solidFill>
            <a:srgbClr val="F3F5F8"/>
          </a:solidFill>
          <a:ln>
            <a:noFill/>
          </a:ln>
        </p:spPr>
        <p:txBody>
          <a:bodyPr rtlCol="0" anchor="ctr"/>
          <a:lstStyle/>
          <a:p>
            <a:pPr algn="ctr"/>
            <a:endParaRPr lang="ko-KR" dirty="0"/>
          </a:p>
        </p:txBody>
      </p:sp>
      <p:sp>
        <p:nvSpPr>
          <p:cNvPr id="25" name="svg path"/>
          <p:cNvSpPr/>
          <p:nvPr/>
        </p:nvSpPr>
        <p:spPr>
          <a:xfrm>
            <a:off x="2851150" y="2693392"/>
            <a:ext cx="69850" cy="82550"/>
          </a:xfrm>
          <a:custGeom>
            <a:avLst/>
            <a:gdLst/>
            <a:ahLst/>
            <a:cxnLst/>
            <a:rect l="0" t="0" r="r" b="b"/>
            <a:pathLst>
              <a:path w="69850" h="82550" fill="none">
                <a:moveTo>
                  <a:pt x="0" y="0"/>
                </a:moveTo>
                <a:lnTo>
                  <a:pt x="0" y="47625"/>
                </a:lnTo>
                <a:cubicBezTo>
                  <a:pt x="0" y="54639"/>
                  <a:pt x="5686" y="60325"/>
                  <a:pt x="12700" y="60325"/>
                </a:cubicBezTo>
                <a:lnTo>
                  <a:pt x="69850" y="60325"/>
                </a:lnTo>
                <a:moveTo>
                  <a:pt x="47625" y="38100"/>
                </a:moveTo>
                <a:lnTo>
                  <a:pt x="69850" y="60325"/>
                </a:lnTo>
                <a:lnTo>
                  <a:pt x="47625" y="82550"/>
                </a:lnTo>
              </a:path>
            </a:pathLst>
          </a:custGeom>
          <a:noFill/>
          <a:ln w="12700" cap="rnd">
            <a:solidFill>
              <a:srgbClr val="8D96A3"/>
            </a:solidFill>
            <a:round/>
          </a:ln>
        </p:spPr>
        <p:txBody>
          <a:bodyPr rtlCol="0" anchor="ctr"/>
          <a:lstStyle/>
          <a:p>
            <a:pPr algn="ctr"/>
            <a:endParaRPr lang="ko-KR" dirty="0"/>
          </a:p>
        </p:txBody>
      </p:sp>
      <p:sp>
        <p:nvSpPr>
          <p:cNvPr id="26" name="t2-go r1::before"/>
          <p:cNvSpPr/>
          <p:nvPr/>
        </p:nvSpPr>
        <p:spPr>
          <a:xfrm>
            <a:off x="6553200" y="2495947"/>
            <a:ext cx="508000" cy="12700"/>
          </a:xfrm>
          <a:prstGeom prst="rect">
            <a:avLst/>
          </a:prstGeom>
          <a:solidFill>
            <a:srgbClr val="C8CFD8"/>
          </a:solidFill>
          <a:ln>
            <a:noFill/>
          </a:ln>
        </p:spPr>
        <p:txBody>
          <a:bodyPr rtlCol="0" anchor="ctr"/>
          <a:lstStyle/>
          <a:p>
            <a:pPr algn="ctr"/>
            <a:endParaRPr lang="ko-KR" dirty="0"/>
          </a:p>
        </p:txBody>
      </p:sp>
      <p:sp>
        <p:nvSpPr>
          <p:cNvPr id="27" name="i"/>
          <p:cNvSpPr/>
          <p:nvPr/>
        </p:nvSpPr>
        <p:spPr>
          <a:xfrm>
            <a:off x="6654800" y="2349897"/>
            <a:ext cx="304800" cy="304800"/>
          </a:xfrm>
          <a:prstGeom prst="ellipse">
            <a:avLst/>
          </a:prstGeom>
          <a:solidFill>
            <a:srgbClr val="102A4C"/>
          </a:solidFill>
          <a:ln>
            <a:noFill/>
          </a:ln>
        </p:spPr>
        <p:txBody>
          <a:bodyPr rtlCol="0" anchor="ctr"/>
          <a:lstStyle/>
          <a:p>
            <a:pPr algn="ctr"/>
            <a:endParaRPr lang="ko-KR" dirty="0"/>
          </a:p>
        </p:txBody>
      </p:sp>
      <p:sp>
        <p:nvSpPr>
          <p:cNvPr id="28" name="svg path"/>
          <p:cNvSpPr/>
          <p:nvPr/>
        </p:nvSpPr>
        <p:spPr>
          <a:xfrm>
            <a:off x="6788150" y="2464197"/>
            <a:ext cx="38100" cy="76200"/>
          </a:xfrm>
          <a:custGeom>
            <a:avLst/>
            <a:gdLst/>
            <a:ahLst/>
            <a:cxnLst/>
            <a:rect l="0" t="0" r="r" b="b"/>
            <a:pathLst>
              <a:path w="38100" h="76200" fill="none">
                <a:moveTo>
                  <a:pt x="0" y="0"/>
                </a:moveTo>
                <a:lnTo>
                  <a:pt x="38100" y="38100"/>
                </a:lnTo>
                <a:lnTo>
                  <a:pt x="0" y="76200"/>
                </a:lnTo>
              </a:path>
            </a:pathLst>
          </a:custGeom>
          <a:noFill/>
          <a:ln w="16510" cap="rnd">
            <a:solidFill>
              <a:srgbClr val="FFFFFF"/>
            </a:solidFill>
            <a:round/>
          </a:ln>
        </p:spPr>
        <p:txBody>
          <a:bodyPr rtlCol="0" anchor="ctr"/>
          <a:lstStyle/>
          <a:p>
            <a:pPr algn="ctr"/>
            <a:endParaRPr lang="ko-KR" dirty="0"/>
          </a:p>
        </p:txBody>
      </p:sp>
      <p:sp>
        <p:nvSpPr>
          <p:cNvPr id="29" name="t2-cell t2-obj r1"/>
          <p:cNvSpPr/>
          <p:nvPr/>
        </p:nvSpPr>
        <p:spPr>
          <a:xfrm>
            <a:off x="7067550" y="1975247"/>
            <a:ext cx="4508500" cy="1054100"/>
          </a:xfrm>
          <a:prstGeom prst="roundRect">
            <a:avLst>
              <a:gd name="adj" fmla="val 1144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30" name="t2-ic"/>
          <p:cNvSpPr/>
          <p:nvPr/>
        </p:nvSpPr>
        <p:spPr>
          <a:xfrm>
            <a:off x="609600" y="3416697"/>
            <a:ext cx="508000" cy="508000"/>
          </a:xfrm>
          <a:prstGeom prst="roundRect">
            <a:avLst>
              <a:gd name="adj" fmla="val 25000"/>
            </a:avLst>
          </a:prstGeom>
          <a:solidFill>
            <a:srgbClr val="E8EEF6"/>
          </a:solidFill>
          <a:ln>
            <a:noFill/>
          </a:ln>
        </p:spPr>
        <p:txBody>
          <a:bodyPr rtlCol="0" anchor="ctr"/>
          <a:lstStyle/>
          <a:p>
            <a:pPr algn="ctr"/>
            <a:endParaRPr lang="ko-KR" dirty="0"/>
          </a:p>
        </p:txBody>
      </p:sp>
      <p:sp>
        <p:nvSpPr>
          <p:cNvPr id="31" name="svg path"/>
          <p:cNvSpPr/>
          <p:nvPr/>
        </p:nvSpPr>
        <p:spPr>
          <a:xfrm>
            <a:off x="774700" y="3581797"/>
            <a:ext cx="177800" cy="88900"/>
          </a:xfrm>
          <a:custGeom>
            <a:avLst/>
            <a:gdLst/>
            <a:ahLst/>
            <a:cxnLst/>
            <a:rect l="0" t="0" r="r" b="b"/>
            <a:pathLst>
              <a:path w="177800" h="88900" fill="none">
                <a:moveTo>
                  <a:pt x="88900" y="0"/>
                </a:moveTo>
                <a:lnTo>
                  <a:pt x="177800" y="44450"/>
                </a:lnTo>
                <a:lnTo>
                  <a:pt x="88900" y="88900"/>
                </a:lnTo>
                <a:lnTo>
                  <a:pt x="0" y="44450"/>
                </a:lnTo>
                <a:close/>
              </a:path>
            </a:pathLst>
          </a:custGeom>
          <a:noFill/>
          <a:ln w="12700" cap="rnd">
            <a:solidFill>
              <a:srgbClr val="102A4C"/>
            </a:solidFill>
            <a:round/>
          </a:ln>
        </p:spPr>
        <p:txBody>
          <a:bodyPr rtlCol="0" anchor="ctr"/>
          <a:lstStyle/>
          <a:p>
            <a:pPr algn="ctr"/>
            <a:endParaRPr lang="ko-KR" dirty="0"/>
          </a:p>
        </p:txBody>
      </p:sp>
      <p:sp>
        <p:nvSpPr>
          <p:cNvPr id="32" name="svg path"/>
          <p:cNvSpPr/>
          <p:nvPr/>
        </p:nvSpPr>
        <p:spPr>
          <a:xfrm>
            <a:off x="774700" y="3670697"/>
            <a:ext cx="177800" cy="44450"/>
          </a:xfrm>
          <a:custGeom>
            <a:avLst/>
            <a:gdLst/>
            <a:ahLst/>
            <a:cxnLst/>
            <a:rect l="0" t="0" r="r" b="b"/>
            <a:pathLst>
              <a:path w="177800" h="44450" fill="none">
                <a:moveTo>
                  <a:pt x="0" y="0"/>
                </a:moveTo>
                <a:lnTo>
                  <a:pt x="88900" y="44450"/>
                </a:lnTo>
                <a:lnTo>
                  <a:pt x="177800" y="0"/>
                </a:lnTo>
              </a:path>
            </a:pathLst>
          </a:custGeom>
          <a:noFill/>
          <a:ln w="12700" cap="rnd">
            <a:solidFill>
              <a:srgbClr val="102A4C"/>
            </a:solidFill>
            <a:round/>
          </a:ln>
        </p:spPr>
        <p:txBody>
          <a:bodyPr rtlCol="0" anchor="ctr"/>
          <a:lstStyle/>
          <a:p>
            <a:pPr algn="ctr"/>
            <a:endParaRPr lang="ko-KR" dirty="0"/>
          </a:p>
        </p:txBody>
      </p:sp>
      <p:sp>
        <p:nvSpPr>
          <p:cNvPr id="33" name="svg path"/>
          <p:cNvSpPr/>
          <p:nvPr/>
        </p:nvSpPr>
        <p:spPr>
          <a:xfrm>
            <a:off x="774700" y="3715147"/>
            <a:ext cx="177800" cy="44450"/>
          </a:xfrm>
          <a:custGeom>
            <a:avLst/>
            <a:gdLst/>
            <a:ahLst/>
            <a:cxnLst/>
            <a:rect l="0" t="0" r="r" b="b"/>
            <a:pathLst>
              <a:path w="177800" h="44450" fill="none">
                <a:moveTo>
                  <a:pt x="0" y="0"/>
                </a:moveTo>
                <a:lnTo>
                  <a:pt x="88900" y="44450"/>
                </a:lnTo>
                <a:lnTo>
                  <a:pt x="177800" y="0"/>
                </a:lnTo>
              </a:path>
            </a:pathLst>
          </a:custGeom>
          <a:noFill/>
          <a:ln w="12700" cap="rnd">
            <a:solidFill>
              <a:srgbClr val="102A4C"/>
            </a:solidFill>
            <a:round/>
          </a:ln>
        </p:spPr>
        <p:txBody>
          <a:bodyPr rtlCol="0" anchor="ctr"/>
          <a:lstStyle/>
          <a:p>
            <a:pPr algn="ctr"/>
            <a:endParaRPr lang="ko-KR" dirty="0"/>
          </a:p>
        </p:txBody>
      </p:sp>
      <p:sp>
        <p:nvSpPr>
          <p:cNvPr id="34" name="t2-cell t2-lim r2"/>
          <p:cNvSpPr/>
          <p:nvPr/>
        </p:nvSpPr>
        <p:spPr>
          <a:xfrm>
            <a:off x="2590800" y="3137297"/>
            <a:ext cx="3962400" cy="1066800"/>
          </a:xfrm>
          <a:prstGeom prst="roundRect">
            <a:avLst>
              <a:gd name="adj" fmla="val 11905"/>
            </a:avLst>
          </a:prstGeom>
          <a:solidFill>
            <a:srgbClr val="F3F5F8"/>
          </a:solidFill>
          <a:ln>
            <a:noFill/>
          </a:ln>
        </p:spPr>
        <p:txBody>
          <a:bodyPr rtlCol="0" anchor="ctr"/>
          <a:lstStyle/>
          <a:p>
            <a:pPr algn="ctr"/>
            <a:endParaRPr lang="ko-KR" dirty="0"/>
          </a:p>
        </p:txBody>
      </p:sp>
      <p:sp>
        <p:nvSpPr>
          <p:cNvPr id="35" name="svg path"/>
          <p:cNvSpPr/>
          <p:nvPr/>
        </p:nvSpPr>
        <p:spPr>
          <a:xfrm>
            <a:off x="2851150" y="3861792"/>
            <a:ext cx="69850" cy="82550"/>
          </a:xfrm>
          <a:custGeom>
            <a:avLst/>
            <a:gdLst/>
            <a:ahLst/>
            <a:cxnLst/>
            <a:rect l="0" t="0" r="r" b="b"/>
            <a:pathLst>
              <a:path w="69850" h="82550" fill="none">
                <a:moveTo>
                  <a:pt x="0" y="0"/>
                </a:moveTo>
                <a:lnTo>
                  <a:pt x="0" y="47625"/>
                </a:lnTo>
                <a:cubicBezTo>
                  <a:pt x="0" y="54639"/>
                  <a:pt x="5686" y="60325"/>
                  <a:pt x="12700" y="60325"/>
                </a:cubicBezTo>
                <a:lnTo>
                  <a:pt x="69850" y="60325"/>
                </a:lnTo>
                <a:moveTo>
                  <a:pt x="47625" y="38100"/>
                </a:moveTo>
                <a:lnTo>
                  <a:pt x="69850" y="60325"/>
                </a:lnTo>
                <a:lnTo>
                  <a:pt x="47625" y="82550"/>
                </a:lnTo>
              </a:path>
            </a:pathLst>
          </a:custGeom>
          <a:noFill/>
          <a:ln w="12700" cap="rnd">
            <a:solidFill>
              <a:srgbClr val="8D96A3"/>
            </a:solidFill>
            <a:round/>
          </a:ln>
        </p:spPr>
        <p:txBody>
          <a:bodyPr rtlCol="0" anchor="ctr"/>
          <a:lstStyle/>
          <a:p>
            <a:pPr algn="ctr"/>
            <a:endParaRPr lang="ko-KR" dirty="0"/>
          </a:p>
        </p:txBody>
      </p:sp>
      <p:sp>
        <p:nvSpPr>
          <p:cNvPr id="36" name="t2-go r2::before"/>
          <p:cNvSpPr/>
          <p:nvPr/>
        </p:nvSpPr>
        <p:spPr>
          <a:xfrm>
            <a:off x="6553200" y="3664347"/>
            <a:ext cx="508000" cy="12700"/>
          </a:xfrm>
          <a:prstGeom prst="rect">
            <a:avLst/>
          </a:prstGeom>
          <a:solidFill>
            <a:srgbClr val="C8CFD8"/>
          </a:solidFill>
          <a:ln>
            <a:noFill/>
          </a:ln>
        </p:spPr>
        <p:txBody>
          <a:bodyPr rtlCol="0" anchor="ctr"/>
          <a:lstStyle/>
          <a:p>
            <a:pPr algn="ctr"/>
            <a:endParaRPr lang="ko-KR" dirty="0"/>
          </a:p>
        </p:txBody>
      </p:sp>
      <p:sp>
        <p:nvSpPr>
          <p:cNvPr id="37" name="i"/>
          <p:cNvSpPr/>
          <p:nvPr/>
        </p:nvSpPr>
        <p:spPr>
          <a:xfrm>
            <a:off x="6654800" y="3518297"/>
            <a:ext cx="304800" cy="304800"/>
          </a:xfrm>
          <a:prstGeom prst="ellipse">
            <a:avLst/>
          </a:prstGeom>
          <a:solidFill>
            <a:srgbClr val="102A4C"/>
          </a:solidFill>
          <a:ln>
            <a:noFill/>
          </a:ln>
        </p:spPr>
        <p:txBody>
          <a:bodyPr rtlCol="0" anchor="ctr"/>
          <a:lstStyle/>
          <a:p>
            <a:pPr algn="ctr"/>
            <a:endParaRPr lang="ko-KR" dirty="0"/>
          </a:p>
        </p:txBody>
      </p:sp>
      <p:sp>
        <p:nvSpPr>
          <p:cNvPr id="38" name="svg path"/>
          <p:cNvSpPr/>
          <p:nvPr/>
        </p:nvSpPr>
        <p:spPr>
          <a:xfrm>
            <a:off x="6788150" y="3632597"/>
            <a:ext cx="38100" cy="76200"/>
          </a:xfrm>
          <a:custGeom>
            <a:avLst/>
            <a:gdLst/>
            <a:ahLst/>
            <a:cxnLst/>
            <a:rect l="0" t="0" r="r" b="b"/>
            <a:pathLst>
              <a:path w="38100" h="76200" fill="none">
                <a:moveTo>
                  <a:pt x="0" y="0"/>
                </a:moveTo>
                <a:lnTo>
                  <a:pt x="38100" y="38100"/>
                </a:lnTo>
                <a:lnTo>
                  <a:pt x="0" y="76200"/>
                </a:lnTo>
              </a:path>
            </a:pathLst>
          </a:custGeom>
          <a:noFill/>
          <a:ln w="16510" cap="rnd">
            <a:solidFill>
              <a:srgbClr val="FFFFFF"/>
            </a:solidFill>
            <a:round/>
          </a:ln>
        </p:spPr>
        <p:txBody>
          <a:bodyPr rtlCol="0" anchor="ctr"/>
          <a:lstStyle/>
          <a:p>
            <a:pPr algn="ctr"/>
            <a:endParaRPr lang="ko-KR" dirty="0"/>
          </a:p>
        </p:txBody>
      </p:sp>
      <p:sp>
        <p:nvSpPr>
          <p:cNvPr id="39" name="t2-cell t2-obj r2"/>
          <p:cNvSpPr/>
          <p:nvPr/>
        </p:nvSpPr>
        <p:spPr>
          <a:xfrm>
            <a:off x="7067550" y="3143647"/>
            <a:ext cx="4508500" cy="1054100"/>
          </a:xfrm>
          <a:prstGeom prst="roundRect">
            <a:avLst>
              <a:gd name="adj" fmla="val 1144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40" name="t2-ic"/>
          <p:cNvSpPr/>
          <p:nvPr/>
        </p:nvSpPr>
        <p:spPr>
          <a:xfrm>
            <a:off x="609600" y="4585097"/>
            <a:ext cx="508000" cy="508000"/>
          </a:xfrm>
          <a:prstGeom prst="roundRect">
            <a:avLst>
              <a:gd name="adj" fmla="val 25000"/>
            </a:avLst>
          </a:prstGeom>
          <a:solidFill>
            <a:srgbClr val="E8EEF6"/>
          </a:solidFill>
          <a:ln>
            <a:noFill/>
          </a:ln>
        </p:spPr>
        <p:txBody>
          <a:bodyPr rtlCol="0" anchor="ctr"/>
          <a:lstStyle/>
          <a:p>
            <a:pPr algn="ctr"/>
            <a:endParaRPr lang="ko-KR" dirty="0"/>
          </a:p>
        </p:txBody>
      </p:sp>
      <p:sp>
        <p:nvSpPr>
          <p:cNvPr id="41" name="svg path"/>
          <p:cNvSpPr/>
          <p:nvPr/>
        </p:nvSpPr>
        <p:spPr>
          <a:xfrm>
            <a:off x="774700" y="4788297"/>
            <a:ext cx="177800" cy="101600"/>
          </a:xfrm>
          <a:custGeom>
            <a:avLst/>
            <a:gdLst/>
            <a:ahLst/>
            <a:cxnLst/>
            <a:rect l="0" t="0" r="r" b="b"/>
            <a:pathLst>
              <a:path w="177800" h="101600" fill="none">
                <a:moveTo>
                  <a:pt x="0" y="0"/>
                </a:moveTo>
                <a:lnTo>
                  <a:pt x="0" y="101600"/>
                </a:lnTo>
                <a:moveTo>
                  <a:pt x="177800" y="0"/>
                </a:moveTo>
                <a:lnTo>
                  <a:pt x="177800" y="101600"/>
                </a:lnTo>
              </a:path>
            </a:pathLst>
          </a:custGeom>
          <a:noFill/>
          <a:ln w="12700" cap="rnd">
            <a:solidFill>
              <a:srgbClr val="102A4C"/>
            </a:solidFill>
            <a:round/>
          </a:ln>
        </p:spPr>
        <p:txBody>
          <a:bodyPr rtlCol="0" anchor="ctr"/>
          <a:lstStyle/>
          <a:p>
            <a:pPr algn="ctr"/>
            <a:endParaRPr lang="ko-KR" dirty="0"/>
          </a:p>
        </p:txBody>
      </p:sp>
      <p:sp>
        <p:nvSpPr>
          <p:cNvPr id="42" name="svg path"/>
          <p:cNvSpPr/>
          <p:nvPr/>
        </p:nvSpPr>
        <p:spPr>
          <a:xfrm>
            <a:off x="774700" y="4839097"/>
            <a:ext cx="177800" cy="1"/>
          </a:xfrm>
          <a:custGeom>
            <a:avLst/>
            <a:gdLst/>
            <a:ahLst/>
            <a:cxnLst/>
            <a:rect l="0" t="0" r="r" b="b"/>
            <a:pathLst>
              <a:path w="177800" h="1" fill="none">
                <a:moveTo>
                  <a:pt x="0" y="0"/>
                </a:moveTo>
                <a:lnTo>
                  <a:pt x="177800" y="0"/>
                </a:lnTo>
              </a:path>
            </a:pathLst>
          </a:custGeom>
          <a:noFill/>
          <a:ln w="12700" cap="rnd">
            <a:solidFill>
              <a:srgbClr val="102A4C"/>
            </a:solidFill>
            <a:round/>
          </a:ln>
        </p:spPr>
        <p:txBody>
          <a:bodyPr rtlCol="0" anchor="ctr"/>
          <a:lstStyle/>
          <a:p>
            <a:pPr algn="ctr"/>
            <a:endParaRPr lang="ko-KR" dirty="0"/>
          </a:p>
        </p:txBody>
      </p:sp>
      <p:sp>
        <p:nvSpPr>
          <p:cNvPr id="43" name="svg path"/>
          <p:cNvSpPr/>
          <p:nvPr/>
        </p:nvSpPr>
        <p:spPr>
          <a:xfrm>
            <a:off x="774700" y="4816872"/>
            <a:ext cx="177800" cy="44450"/>
          </a:xfrm>
          <a:custGeom>
            <a:avLst/>
            <a:gdLst/>
            <a:ahLst/>
            <a:cxnLst/>
            <a:rect l="0" t="0" r="r" b="b"/>
            <a:pathLst>
              <a:path w="177800" h="44450" fill="none">
                <a:moveTo>
                  <a:pt x="28575" y="0"/>
                </a:moveTo>
                <a:lnTo>
                  <a:pt x="0" y="22225"/>
                </a:lnTo>
                <a:lnTo>
                  <a:pt x="28575" y="44450"/>
                </a:lnTo>
                <a:moveTo>
                  <a:pt x="149225" y="0"/>
                </a:moveTo>
                <a:lnTo>
                  <a:pt x="177800" y="22225"/>
                </a:lnTo>
                <a:lnTo>
                  <a:pt x="149225" y="44450"/>
                </a:lnTo>
              </a:path>
            </a:pathLst>
          </a:custGeom>
          <a:noFill/>
          <a:ln w="12700" cap="rnd">
            <a:solidFill>
              <a:srgbClr val="102A4C"/>
            </a:solidFill>
            <a:round/>
          </a:ln>
        </p:spPr>
        <p:txBody>
          <a:bodyPr rtlCol="0" anchor="ctr"/>
          <a:lstStyle/>
          <a:p>
            <a:pPr algn="ctr"/>
            <a:endParaRPr lang="ko-KR" dirty="0"/>
          </a:p>
        </p:txBody>
      </p:sp>
      <p:sp>
        <p:nvSpPr>
          <p:cNvPr id="44" name="svg rect"/>
          <p:cNvSpPr/>
          <p:nvPr/>
        </p:nvSpPr>
        <p:spPr>
          <a:xfrm>
            <a:off x="768350" y="4908947"/>
            <a:ext cx="190500" cy="31750"/>
          </a:xfrm>
          <a:prstGeom prst="roundRect">
            <a:avLst>
              <a:gd name="adj" fmla="val 30000"/>
            </a:avLst>
          </a:prstGeom>
          <a:noFill/>
          <a:ln w="12700" cap="rnd">
            <a:solidFill>
              <a:srgbClr val="102A4C"/>
            </a:solidFill>
            <a:round/>
          </a:ln>
        </p:spPr>
        <p:txBody>
          <a:bodyPr rtlCol="0" anchor="ctr"/>
          <a:lstStyle/>
          <a:p>
            <a:pPr algn="ctr"/>
            <a:endParaRPr lang="ko-KR" dirty="0"/>
          </a:p>
        </p:txBody>
      </p:sp>
      <p:sp>
        <p:nvSpPr>
          <p:cNvPr id="45" name="svg path"/>
          <p:cNvSpPr/>
          <p:nvPr/>
        </p:nvSpPr>
        <p:spPr>
          <a:xfrm>
            <a:off x="806450" y="4908947"/>
            <a:ext cx="114300" cy="15875"/>
          </a:xfrm>
          <a:custGeom>
            <a:avLst/>
            <a:gdLst/>
            <a:ahLst/>
            <a:cxnLst/>
            <a:rect l="0" t="0" r="r" b="b"/>
            <a:pathLst>
              <a:path w="114300" h="15875" fill="none">
                <a:moveTo>
                  <a:pt x="0" y="0"/>
                </a:moveTo>
                <a:lnTo>
                  <a:pt x="0" y="15875"/>
                </a:lnTo>
                <a:moveTo>
                  <a:pt x="38100" y="0"/>
                </a:moveTo>
                <a:lnTo>
                  <a:pt x="38100" y="15875"/>
                </a:lnTo>
                <a:moveTo>
                  <a:pt x="76200" y="0"/>
                </a:moveTo>
                <a:lnTo>
                  <a:pt x="76200" y="15875"/>
                </a:lnTo>
                <a:moveTo>
                  <a:pt x="114300" y="0"/>
                </a:moveTo>
                <a:lnTo>
                  <a:pt x="114300" y="15875"/>
                </a:lnTo>
              </a:path>
            </a:pathLst>
          </a:custGeom>
          <a:noFill/>
          <a:ln w="12700" cap="rnd">
            <a:solidFill>
              <a:srgbClr val="102A4C"/>
            </a:solidFill>
            <a:round/>
          </a:ln>
        </p:spPr>
        <p:txBody>
          <a:bodyPr rtlCol="0" anchor="ctr"/>
          <a:lstStyle/>
          <a:p>
            <a:pPr algn="ctr"/>
            <a:endParaRPr lang="ko-KR" dirty="0"/>
          </a:p>
        </p:txBody>
      </p:sp>
      <p:sp>
        <p:nvSpPr>
          <p:cNvPr id="46" name="t2-cell t2-lim r3"/>
          <p:cNvSpPr/>
          <p:nvPr/>
        </p:nvSpPr>
        <p:spPr>
          <a:xfrm>
            <a:off x="2590800" y="4305697"/>
            <a:ext cx="3962400" cy="1066800"/>
          </a:xfrm>
          <a:prstGeom prst="roundRect">
            <a:avLst>
              <a:gd name="adj" fmla="val 11905"/>
            </a:avLst>
          </a:prstGeom>
          <a:solidFill>
            <a:srgbClr val="F3F5F8"/>
          </a:solidFill>
          <a:ln>
            <a:noFill/>
          </a:ln>
        </p:spPr>
        <p:txBody>
          <a:bodyPr rtlCol="0" anchor="ctr"/>
          <a:lstStyle/>
          <a:p>
            <a:pPr algn="ctr"/>
            <a:endParaRPr lang="ko-KR" dirty="0"/>
          </a:p>
        </p:txBody>
      </p:sp>
      <p:sp>
        <p:nvSpPr>
          <p:cNvPr id="47" name="svg path"/>
          <p:cNvSpPr/>
          <p:nvPr/>
        </p:nvSpPr>
        <p:spPr>
          <a:xfrm>
            <a:off x="2851150" y="5030192"/>
            <a:ext cx="69850" cy="82550"/>
          </a:xfrm>
          <a:custGeom>
            <a:avLst/>
            <a:gdLst/>
            <a:ahLst/>
            <a:cxnLst/>
            <a:rect l="0" t="0" r="r" b="b"/>
            <a:pathLst>
              <a:path w="69850" h="82550" fill="none">
                <a:moveTo>
                  <a:pt x="0" y="0"/>
                </a:moveTo>
                <a:lnTo>
                  <a:pt x="0" y="47625"/>
                </a:lnTo>
                <a:cubicBezTo>
                  <a:pt x="0" y="54639"/>
                  <a:pt x="5686" y="60325"/>
                  <a:pt x="12700" y="60325"/>
                </a:cubicBezTo>
                <a:lnTo>
                  <a:pt x="69850" y="60325"/>
                </a:lnTo>
                <a:moveTo>
                  <a:pt x="47625" y="38100"/>
                </a:moveTo>
                <a:lnTo>
                  <a:pt x="69850" y="60325"/>
                </a:lnTo>
                <a:lnTo>
                  <a:pt x="47625" y="82550"/>
                </a:lnTo>
              </a:path>
            </a:pathLst>
          </a:custGeom>
          <a:noFill/>
          <a:ln w="12700" cap="rnd">
            <a:solidFill>
              <a:srgbClr val="8D96A3"/>
            </a:solidFill>
            <a:round/>
          </a:ln>
        </p:spPr>
        <p:txBody>
          <a:bodyPr rtlCol="0" anchor="ctr"/>
          <a:lstStyle/>
          <a:p>
            <a:pPr algn="ctr"/>
            <a:endParaRPr lang="ko-KR" dirty="0"/>
          </a:p>
        </p:txBody>
      </p:sp>
      <p:sp>
        <p:nvSpPr>
          <p:cNvPr id="48" name="t2-go r3::before"/>
          <p:cNvSpPr/>
          <p:nvPr/>
        </p:nvSpPr>
        <p:spPr>
          <a:xfrm>
            <a:off x="6553200" y="4832747"/>
            <a:ext cx="508000" cy="12700"/>
          </a:xfrm>
          <a:prstGeom prst="rect">
            <a:avLst/>
          </a:prstGeom>
          <a:solidFill>
            <a:srgbClr val="C8CFD8"/>
          </a:solidFill>
          <a:ln>
            <a:noFill/>
          </a:ln>
        </p:spPr>
        <p:txBody>
          <a:bodyPr rtlCol="0" anchor="ctr"/>
          <a:lstStyle/>
          <a:p>
            <a:pPr algn="ctr"/>
            <a:endParaRPr lang="ko-KR" dirty="0"/>
          </a:p>
        </p:txBody>
      </p:sp>
      <p:sp>
        <p:nvSpPr>
          <p:cNvPr id="49" name="i"/>
          <p:cNvSpPr/>
          <p:nvPr/>
        </p:nvSpPr>
        <p:spPr>
          <a:xfrm>
            <a:off x="6654800" y="4686697"/>
            <a:ext cx="304800" cy="304800"/>
          </a:xfrm>
          <a:prstGeom prst="ellipse">
            <a:avLst/>
          </a:prstGeom>
          <a:solidFill>
            <a:srgbClr val="102A4C"/>
          </a:solidFill>
          <a:ln>
            <a:noFill/>
          </a:ln>
        </p:spPr>
        <p:txBody>
          <a:bodyPr rtlCol="0" anchor="ctr"/>
          <a:lstStyle/>
          <a:p>
            <a:pPr algn="ctr"/>
            <a:endParaRPr lang="ko-KR" dirty="0"/>
          </a:p>
        </p:txBody>
      </p:sp>
      <p:sp>
        <p:nvSpPr>
          <p:cNvPr id="50" name="svg path"/>
          <p:cNvSpPr/>
          <p:nvPr/>
        </p:nvSpPr>
        <p:spPr>
          <a:xfrm>
            <a:off x="6788150" y="4800997"/>
            <a:ext cx="38100" cy="76200"/>
          </a:xfrm>
          <a:custGeom>
            <a:avLst/>
            <a:gdLst/>
            <a:ahLst/>
            <a:cxnLst/>
            <a:rect l="0" t="0" r="r" b="b"/>
            <a:pathLst>
              <a:path w="38100" h="76200" fill="none">
                <a:moveTo>
                  <a:pt x="0" y="0"/>
                </a:moveTo>
                <a:lnTo>
                  <a:pt x="38100" y="38100"/>
                </a:lnTo>
                <a:lnTo>
                  <a:pt x="0" y="76200"/>
                </a:lnTo>
              </a:path>
            </a:pathLst>
          </a:custGeom>
          <a:noFill/>
          <a:ln w="16510" cap="rnd">
            <a:solidFill>
              <a:srgbClr val="FFFFFF"/>
            </a:solidFill>
            <a:round/>
          </a:ln>
        </p:spPr>
        <p:txBody>
          <a:bodyPr rtlCol="0" anchor="ctr"/>
          <a:lstStyle/>
          <a:p>
            <a:pPr algn="ctr"/>
            <a:endParaRPr lang="ko-KR" dirty="0"/>
          </a:p>
        </p:txBody>
      </p:sp>
      <p:sp>
        <p:nvSpPr>
          <p:cNvPr id="51" name="t2-cell t2-obj r3"/>
          <p:cNvSpPr/>
          <p:nvPr/>
        </p:nvSpPr>
        <p:spPr>
          <a:xfrm>
            <a:off x="7067550" y="4312047"/>
            <a:ext cx="4508500" cy="1054100"/>
          </a:xfrm>
          <a:prstGeom prst="roundRect">
            <a:avLst>
              <a:gd name="adj" fmla="val 1144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52" name="keybar t2-key"/>
          <p:cNvSpPr/>
          <p:nvPr/>
        </p:nvSpPr>
        <p:spPr>
          <a:xfrm>
            <a:off x="609600" y="5628680"/>
            <a:ext cx="10972800" cy="708620"/>
          </a:xfrm>
          <a:prstGeom prst="roundRect">
            <a:avLst>
              <a:gd name="adj" fmla="val 17922"/>
            </a:avLst>
          </a:prstGeom>
          <a:solidFill>
            <a:srgbClr val="102A4C"/>
          </a:solidFill>
          <a:ln>
            <a:noFill/>
          </a:ln>
        </p:spPr>
        <p:txBody>
          <a:bodyPr rtlCol="0" anchor="ctr"/>
          <a:lstStyle/>
          <a:p>
            <a:pPr algn="ctr"/>
            <a:endParaRPr lang="ko-KR" dirty="0"/>
          </a:p>
        </p:txBody>
      </p:sp>
      <p:sp>
        <p:nvSpPr>
          <p:cNvPr id="53" name="02"/>
          <p:cNvSpPr txBox="1"/>
          <p:nvPr/>
        </p:nvSpPr>
        <p:spPr>
          <a:xfrm>
            <a:off x="609600" y="401439"/>
            <a:ext cx="212527"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02</a:t>
            </a:r>
            <a:endParaRPr lang="en-US" sz="950" dirty="0"/>
          </a:p>
        </p:txBody>
      </p:sp>
      <p:sp>
        <p:nvSpPr>
          <p:cNvPr id="54" name="기존 연구 한계 및 연구 목표"/>
          <p:cNvSpPr txBox="1"/>
          <p:nvPr/>
        </p:nvSpPr>
        <p:spPr>
          <a:xfrm>
            <a:off x="860227" y="401439"/>
            <a:ext cx="1337366"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기존 연구 한계 및 연구 목표</a:t>
            </a:r>
            <a:endParaRPr lang="en-US" sz="950" dirty="0"/>
          </a:p>
        </p:txBody>
      </p:sp>
      <p:sp>
        <p:nvSpPr>
          <p:cNvPr id="55" name="기존 연구로는 왜 안 되는가"/>
          <p:cNvSpPr txBox="1"/>
          <p:nvPr/>
        </p:nvSpPr>
        <p:spPr>
          <a:xfrm>
            <a:off x="2306042" y="401439"/>
            <a:ext cx="1313071"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기존 연구로는 왜 안 되는가</a:t>
            </a:r>
            <a:endParaRPr lang="en-US" sz="950" dirty="0"/>
          </a:p>
        </p:txBody>
      </p:sp>
      <p:sp>
        <p:nvSpPr>
          <p:cNvPr id="56" name="기존 연구의 세 가지 한계를세 가지 연구 목표로 하나씩 해결합니다."/>
          <p:cNvSpPr txBox="1"/>
          <p:nvPr/>
        </p:nvSpPr>
        <p:spPr>
          <a:xfrm>
            <a:off x="609600" y="653852"/>
            <a:ext cx="4445826" cy="724297"/>
          </a:xfrm>
          <a:prstGeom prst="rect">
            <a:avLst/>
          </a:prstGeom>
          <a:noFill/>
          <a:ln/>
        </p:spPr>
        <p:txBody>
          <a:bodyPr wrap="none" lIns="0" tIns="0" rIns="0" bIns="0" rtlCol="0" anchor="t"/>
          <a:lstStyle/>
          <a:p>
            <a:pPr algn="l" indent="0" marL="0">
              <a:lnSpc>
                <a:spcPts val="2852"/>
              </a:lnSpc>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기존 연구의 세 가지 한계를</a:t>
            </a:r>
            <a:b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세 가지 연구 목표</a:t>
            </a: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로 하나씩 해결합니다.</a:t>
            </a:r>
            <a:endParaRPr lang="en-US" sz="2300" dirty="0"/>
          </a:p>
        </p:txBody>
      </p:sp>
      <p:sp>
        <p:nvSpPr>
          <p:cNvPr id="57"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01</a:t>
            </a:r>
            <a:endParaRPr lang="en-US" sz="700" dirty="0"/>
          </a:p>
        </p:txBody>
      </p:sp>
      <p:sp>
        <p:nvSpPr>
          <p:cNvPr id="58"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02</a:t>
            </a:r>
            <a:endParaRPr lang="en-US" sz="700" dirty="0"/>
          </a:p>
        </p:txBody>
      </p:sp>
      <p:sp>
        <p:nvSpPr>
          <p:cNvPr id="59"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03</a:t>
            </a:r>
            <a:endParaRPr lang="en-US" sz="700" dirty="0"/>
          </a:p>
        </p:txBody>
      </p:sp>
      <p:sp>
        <p:nvSpPr>
          <p:cNvPr id="60"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04</a:t>
            </a:r>
            <a:endParaRPr lang="en-US" sz="700" dirty="0"/>
          </a:p>
        </p:txBody>
      </p:sp>
      <p:sp>
        <p:nvSpPr>
          <p:cNvPr id="61"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62" name="쟁점"/>
          <p:cNvSpPr txBox="1"/>
          <p:nvPr/>
        </p:nvSpPr>
        <p:spPr>
          <a:xfrm>
            <a:off x="609600" y="1673622"/>
            <a:ext cx="246063" cy="127000"/>
          </a:xfrm>
          <a:prstGeom prst="rect">
            <a:avLst/>
          </a:prstGeom>
          <a:noFill/>
          <a:ln/>
        </p:spPr>
        <p:txBody>
          <a:bodyPr wrap="none" lIns="0" tIns="0" rIns="0" bIns="0" rtlCol="0" anchor="ctr"/>
          <a:lstStyle/>
          <a:p>
            <a:pPr algn="l" indent="0" marL="0">
              <a:buNone/>
            </a:pPr>
            <a:r>
              <a:rPr lang="ko-KR" altLang="en-US" sz="850" b="1" spc="34" kern="0" dirty="0">
                <a:solidFill>
                  <a:srgbClr val="737C8B"/>
                </a:solidFill>
                <a:latin typeface="Pretendard" pitchFamily="34" charset="0"/>
                <a:ea typeface="Pretendard" pitchFamily="34" charset="-127"/>
                <a:cs typeface="Pretendard" pitchFamily="34" charset="-120"/>
              </a:rPr>
              <a:t>쟁점</a:t>
            </a:r>
            <a:endParaRPr lang="en-US" sz="850" dirty="0"/>
          </a:p>
        </p:txBody>
      </p:sp>
      <p:sp>
        <p:nvSpPr>
          <p:cNvPr id="63" name="기존 연구의 한계"/>
          <p:cNvSpPr txBox="1"/>
          <p:nvPr/>
        </p:nvSpPr>
        <p:spPr>
          <a:xfrm>
            <a:off x="2857500" y="1645047"/>
            <a:ext cx="1005969" cy="184150"/>
          </a:xfrm>
          <a:prstGeom prst="rect">
            <a:avLst/>
          </a:prstGeom>
          <a:noFill/>
          <a:ln/>
        </p:spPr>
        <p:txBody>
          <a:bodyPr wrap="none" lIns="0" tIns="0" rIns="0" bIns="0" rtlCol="0" anchor="ctr"/>
          <a:lstStyle/>
          <a:p>
            <a:pPr algn="l" indent="0" marL="0">
              <a:buNone/>
            </a:pPr>
            <a:r>
              <a:rPr lang="ko-KR" altLang="en-US" sz="1200" spc="-36" kern="0" dirty="0">
                <a:solidFill>
                  <a:srgbClr val="737C8B"/>
                </a:solidFill>
                <a:latin typeface="Pretendard ExtraBold" pitchFamily="34" charset="0"/>
                <a:ea typeface="Pretendard ExtraBold" pitchFamily="34" charset="-127"/>
                <a:cs typeface="Pretendard ExtraBold" pitchFamily="34" charset="-120"/>
              </a:rPr>
              <a:t>기존 연구의 한계</a:t>
            </a:r>
            <a:endParaRPr lang="en-US" sz="1200" dirty="0"/>
          </a:p>
        </p:txBody>
      </p:sp>
      <p:sp>
        <p:nvSpPr>
          <p:cNvPr id="64" name="연구 목표"/>
          <p:cNvSpPr txBox="1"/>
          <p:nvPr/>
        </p:nvSpPr>
        <p:spPr>
          <a:xfrm>
            <a:off x="7327900" y="1645047"/>
            <a:ext cx="588963" cy="184150"/>
          </a:xfrm>
          <a:prstGeom prst="rect">
            <a:avLst/>
          </a:prstGeom>
          <a:noFill/>
          <a:ln/>
        </p:spPr>
        <p:txBody>
          <a:bodyPr wrap="none" lIns="0" tIns="0" rIns="0" bIns="0" rtlCol="0" anchor="ctr"/>
          <a:lstStyle/>
          <a:p>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연구 목표</a:t>
            </a:r>
            <a:endParaRPr lang="en-US" sz="1200" dirty="0"/>
          </a:p>
        </p:txBody>
      </p:sp>
      <p:sp>
        <p:nvSpPr>
          <p:cNvPr id="65" name="높이 정보"/>
          <p:cNvSpPr txBox="1"/>
          <p:nvPr/>
        </p:nvSpPr>
        <p:spPr>
          <a:xfrm>
            <a:off x="1270000" y="2387997"/>
            <a:ext cx="718641" cy="228600"/>
          </a:xfrm>
          <a:prstGeom prst="rect">
            <a:avLst/>
          </a:prstGeom>
          <a:noFill/>
          <a:ln/>
        </p:spPr>
        <p:txBody>
          <a:bodyPr wrap="none" lIns="0" tIns="0" rIns="0" bIns="0" rtlCol="0" anchor="ctr"/>
          <a:lstStyle/>
          <a:p>
            <a:pPr algn="l" indent="0" marL="0">
              <a:buNone/>
            </a:pPr>
            <a:r>
              <a:rPr lang="ko-KR" altLang="en-US" sz="1500" spc="-53" kern="0" dirty="0">
                <a:solidFill>
                  <a:srgbClr val="102A4C"/>
                </a:solidFill>
                <a:latin typeface="Pretendard ExtraBold" pitchFamily="34" charset="0"/>
                <a:ea typeface="Pretendard ExtraBold" pitchFamily="34" charset="-127"/>
                <a:cs typeface="Pretendard ExtraBold" pitchFamily="34" charset="-120"/>
              </a:rPr>
              <a:t>높이 정보</a:t>
            </a:r>
            <a:endParaRPr lang="en-US" sz="1500" dirty="0"/>
          </a:p>
        </p:txBody>
      </p:sp>
      <p:sp>
        <p:nvSpPr>
          <p:cNvPr id="66" name="한계 1"/>
          <p:cNvSpPr txBox="1"/>
          <p:nvPr/>
        </p:nvSpPr>
        <p:spPr>
          <a:xfrm>
            <a:off x="2819400" y="2148582"/>
            <a:ext cx="314027" cy="120650"/>
          </a:xfrm>
          <a:prstGeom prst="rect">
            <a:avLst/>
          </a:prstGeom>
          <a:noFill/>
          <a:ln/>
        </p:spPr>
        <p:txBody>
          <a:bodyPr wrap="none" lIns="0" tIns="0" rIns="0" bIns="0" rtlCol="0" anchor="ctr"/>
          <a:lstStyle/>
          <a:p>
            <a:pPr algn="l" indent="0" marL="0">
              <a:buNone/>
            </a:pPr>
            <a:r>
              <a:rPr lang="ko-KR" altLang="en-US" sz="800" spc="32" kern="0" dirty="0">
                <a:solidFill>
                  <a:srgbClr val="737C8B"/>
                </a:solidFill>
                <a:latin typeface="Pretendard ExtraBold" pitchFamily="34" charset="0"/>
                <a:ea typeface="Pretendard ExtraBold" pitchFamily="34" charset="-127"/>
                <a:cs typeface="Pretendard ExtraBold" pitchFamily="34" charset="-120"/>
              </a:rPr>
              <a:t>한계 1</a:t>
            </a:r>
            <a:endParaRPr lang="en-US" sz="800" dirty="0"/>
          </a:p>
        </p:txBody>
      </p:sp>
      <p:sp>
        <p:nvSpPr>
          <p:cNvPr id="67" name="평면도 한 장만 사용"/>
          <p:cNvSpPr txBox="1"/>
          <p:nvPr/>
        </p:nvSpPr>
        <p:spPr>
          <a:xfrm>
            <a:off x="2819400" y="2370832"/>
            <a:ext cx="1260064" cy="196850"/>
          </a:xfrm>
          <a:prstGeom prst="rect">
            <a:avLst/>
          </a:prstGeom>
          <a:noFill/>
          <a:ln/>
        </p:spPr>
        <p:txBody>
          <a:bodyPr wrap="none" lIns="0" tIns="0" rIns="0" bIns="0" rtlCol="0" anchor="ctr"/>
          <a:lstStyle/>
          <a:p>
            <a:pPr algn="l" indent="0" marL="0">
              <a:buNone/>
            </a:pPr>
            <a:r>
              <a:rPr lang="ko-KR" altLang="en-US" sz="1300" spc="-46" kern="0" dirty="0">
                <a:solidFill>
                  <a:srgbClr val="141820"/>
                </a:solidFill>
                <a:latin typeface="Pretendard ExtraBold" pitchFamily="34" charset="0"/>
                <a:ea typeface="Pretendard ExtraBold" pitchFamily="34" charset="-127"/>
                <a:cs typeface="Pretendard ExtraBold" pitchFamily="34" charset="-120"/>
              </a:rPr>
              <a:t>평면도 한 장만 사용</a:t>
            </a:r>
            <a:endParaRPr lang="en-US" sz="1300" dirty="0"/>
          </a:p>
        </p:txBody>
      </p:sp>
      <p:sp>
        <p:nvSpPr>
          <p:cNvPr id="68" name="높이 정보를 알 수 없음 (수동 입력·고정값)"/>
          <p:cNvSpPr txBox="1"/>
          <p:nvPr/>
        </p:nvSpPr>
        <p:spPr>
          <a:xfrm>
            <a:off x="2997200" y="2642592"/>
            <a:ext cx="2507508" cy="184150"/>
          </a:xfrm>
          <a:prstGeom prst="rect">
            <a:avLst/>
          </a:prstGeom>
          <a:noFill/>
          <a:ln/>
        </p:spPr>
        <p:txBody>
          <a:bodyPr wrap="none" lIns="0" tIns="0" rIns="0" bIns="0" rtlCol="0" anchor="ctr"/>
          <a:lstStyle/>
          <a:p>
            <a:pPr algn="l" indent="0" marL="0">
              <a:buNone/>
            </a:pPr>
            <a:r>
              <a:rPr lang="ko-KR" altLang="en-US" sz="1200" spc="-36" kern="0" dirty="0">
                <a:solidFill>
                  <a:srgbClr val="3F4654"/>
                </a:solidFill>
                <a:latin typeface="Pretendard Medium" pitchFamily="34" charset="0"/>
                <a:ea typeface="Pretendard Medium" pitchFamily="34" charset="-127"/>
                <a:cs typeface="Pretendard Medium" pitchFamily="34" charset="-120"/>
              </a:rPr>
              <a:t>높이 정보를 알 수 없음 (수동 입력·고정값)</a:t>
            </a:r>
            <a:endParaRPr lang="en-US" sz="1200" dirty="0"/>
          </a:p>
        </p:txBody>
      </p:sp>
      <p:sp>
        <p:nvSpPr>
          <p:cNvPr id="69" name="목표 1"/>
          <p:cNvSpPr txBox="1"/>
          <p:nvPr/>
        </p:nvSpPr>
        <p:spPr>
          <a:xfrm>
            <a:off x="7302500" y="2144812"/>
            <a:ext cx="314027" cy="120650"/>
          </a:xfrm>
          <a:prstGeom prst="rect">
            <a:avLst/>
          </a:prstGeom>
          <a:noFill/>
          <a:ln/>
        </p:spPr>
        <p:txBody>
          <a:bodyPr wrap="none" lIns="0" tIns="0" rIns="0" bIns="0" rtlCol="0" anchor="ctr"/>
          <a:lstStyle/>
          <a:p>
            <a:pPr algn="l" indent="0" marL="0">
              <a:buNone/>
            </a:pPr>
            <a:r>
              <a:rPr lang="ko-KR" altLang="en-US" sz="800" spc="32" kern="0" dirty="0">
                <a:solidFill>
                  <a:srgbClr val="EA002C"/>
                </a:solidFill>
                <a:latin typeface="Pretendard ExtraBold" pitchFamily="34" charset="0"/>
                <a:ea typeface="Pretendard ExtraBold" pitchFamily="34" charset="-127"/>
                <a:cs typeface="Pretendard ExtraBold" pitchFamily="34" charset="-120"/>
              </a:rPr>
              <a:t>목표 1</a:t>
            </a:r>
            <a:endParaRPr lang="en-US" sz="800" dirty="0"/>
          </a:p>
        </p:txBody>
      </p:sp>
      <p:sp>
        <p:nvSpPr>
          <p:cNvPr id="70" name="평면도와 입면도 정보를 통합해"/>
          <p:cNvSpPr txBox="1"/>
          <p:nvPr/>
        </p:nvSpPr>
        <p:spPr>
          <a:xfrm>
            <a:off x="7302500" y="2367062"/>
            <a:ext cx="2275078" cy="228600"/>
          </a:xfrm>
          <a:prstGeom prst="rect">
            <a:avLst/>
          </a:prstGeom>
          <a:noFill/>
          <a:ln/>
        </p:spPr>
        <p:txBody>
          <a:bodyPr wrap="none" lIns="0" tIns="0" rIns="0" bIns="0" rtlCol="0" anchor="ctr"/>
          <a:lstStyle/>
          <a:p>
            <a:pPr algn="l" indent="0" marL="0">
              <a:buNone/>
            </a:pPr>
            <a:r>
              <a:rPr lang="ko-KR" altLang="en-US" sz="1500" spc="-60" kern="0" dirty="0">
                <a:solidFill>
                  <a:srgbClr val="102A4C"/>
                </a:solidFill>
                <a:latin typeface="Pretendard ExtraBold" pitchFamily="34" charset="0"/>
                <a:ea typeface="Pretendard ExtraBold" pitchFamily="34" charset="-127"/>
                <a:cs typeface="Pretendard ExtraBold" pitchFamily="34" charset="-120"/>
              </a:rPr>
              <a:t>평면도와 입면도 정보를 통합해</a:t>
            </a:r>
            <a:endParaRPr lang="en-US" sz="1500" dirty="0"/>
          </a:p>
        </p:txBody>
      </p:sp>
      <p:sp>
        <p:nvSpPr>
          <p:cNvPr id="71" name="완전한 3차원 BIM 생성"/>
          <p:cNvSpPr txBox="1"/>
          <p:nvPr/>
        </p:nvSpPr>
        <p:spPr>
          <a:xfrm>
            <a:off x="7302500" y="2646462"/>
            <a:ext cx="1409408" cy="184150"/>
          </a:xfrm>
          <a:prstGeom prst="rect">
            <a:avLst/>
          </a:prstGeom>
          <a:noFill/>
          <a:ln/>
        </p:spPr>
        <p:txBody>
          <a:bodyPr wrap="none" lIns="0" tIns="0" rIns="0" bIns="0" rtlCol="0" anchor="ctr"/>
          <a:lstStyle/>
          <a:p>
            <a:pPr algn="l" indent="0" marL="0">
              <a:buNone/>
            </a:pPr>
            <a:r>
              <a:rPr lang="ko-KR" altLang="en-US" sz="1200" spc="-36" kern="0" dirty="0">
                <a:solidFill>
                  <a:srgbClr val="3F4654"/>
                </a:solidFill>
                <a:latin typeface="Pretendard Medium" pitchFamily="34" charset="0"/>
                <a:ea typeface="Pretendard Medium" pitchFamily="34" charset="-127"/>
                <a:cs typeface="Pretendard Medium" pitchFamily="34" charset="-120"/>
              </a:rPr>
              <a:t>완전한 3차원 BIM 생성</a:t>
            </a:r>
            <a:endParaRPr lang="en-US" sz="1200" dirty="0"/>
          </a:p>
        </p:txBody>
      </p:sp>
      <p:sp>
        <p:nvSpPr>
          <p:cNvPr id="72" name="CAD 의존"/>
          <p:cNvSpPr txBox="1"/>
          <p:nvPr/>
        </p:nvSpPr>
        <p:spPr>
          <a:xfrm>
            <a:off x="1270000" y="3556397"/>
            <a:ext cx="795238" cy="228600"/>
          </a:xfrm>
          <a:prstGeom prst="rect">
            <a:avLst/>
          </a:prstGeom>
          <a:noFill/>
          <a:ln/>
        </p:spPr>
        <p:txBody>
          <a:bodyPr wrap="none" lIns="0" tIns="0" rIns="0" bIns="0" rtlCol="0" anchor="ctr"/>
          <a:lstStyle/>
          <a:p>
            <a:pPr algn="l" indent="0" marL="0">
              <a:buNone/>
            </a:pPr>
            <a:r>
              <a:rPr lang="ko-KR" altLang="en-US" sz="1500" spc="-53" kern="0" dirty="0">
                <a:solidFill>
                  <a:srgbClr val="102A4C"/>
                </a:solidFill>
                <a:latin typeface="Pretendard ExtraBold" pitchFamily="34" charset="0"/>
                <a:ea typeface="Pretendard ExtraBold" pitchFamily="34" charset="-127"/>
                <a:cs typeface="Pretendard ExtraBold" pitchFamily="34" charset="-120"/>
              </a:rPr>
              <a:t>CAD 의존</a:t>
            </a:r>
            <a:endParaRPr lang="en-US" sz="1500" dirty="0"/>
          </a:p>
        </p:txBody>
      </p:sp>
      <p:sp>
        <p:nvSpPr>
          <p:cNvPr id="73" name="한계 2"/>
          <p:cNvSpPr txBox="1"/>
          <p:nvPr/>
        </p:nvSpPr>
        <p:spPr>
          <a:xfrm>
            <a:off x="2819400" y="3316982"/>
            <a:ext cx="328216" cy="120650"/>
          </a:xfrm>
          <a:prstGeom prst="rect">
            <a:avLst/>
          </a:prstGeom>
          <a:noFill/>
          <a:ln/>
        </p:spPr>
        <p:txBody>
          <a:bodyPr wrap="none" lIns="0" tIns="0" rIns="0" bIns="0" rtlCol="0" anchor="ctr"/>
          <a:lstStyle/>
          <a:p>
            <a:pPr algn="l" indent="0" marL="0">
              <a:buNone/>
            </a:pPr>
            <a:r>
              <a:rPr lang="ko-KR" altLang="en-US" sz="800" spc="32" kern="0" dirty="0">
                <a:solidFill>
                  <a:srgbClr val="737C8B"/>
                </a:solidFill>
                <a:latin typeface="Pretendard ExtraBold" pitchFamily="34" charset="0"/>
                <a:ea typeface="Pretendard ExtraBold" pitchFamily="34" charset="-127"/>
                <a:cs typeface="Pretendard ExtraBold" pitchFamily="34" charset="-120"/>
              </a:rPr>
              <a:t>한계 2</a:t>
            </a:r>
            <a:endParaRPr lang="en-US" sz="800" dirty="0"/>
          </a:p>
        </p:txBody>
      </p:sp>
      <p:sp>
        <p:nvSpPr>
          <p:cNvPr id="74" name="CAD 레이어·블록 같은 정보에 의존"/>
          <p:cNvSpPr txBox="1"/>
          <p:nvPr/>
        </p:nvSpPr>
        <p:spPr>
          <a:xfrm>
            <a:off x="2819400" y="3539232"/>
            <a:ext cx="2279180" cy="196850"/>
          </a:xfrm>
          <a:prstGeom prst="rect">
            <a:avLst/>
          </a:prstGeom>
          <a:noFill/>
          <a:ln/>
        </p:spPr>
        <p:txBody>
          <a:bodyPr wrap="none" lIns="0" tIns="0" rIns="0" bIns="0" rtlCol="0" anchor="ctr"/>
          <a:lstStyle/>
          <a:p>
            <a:pPr algn="l" indent="0" marL="0">
              <a:buNone/>
            </a:pPr>
            <a:r>
              <a:rPr lang="ko-KR" altLang="en-US" sz="1300" spc="-46" kern="0" dirty="0">
                <a:solidFill>
                  <a:srgbClr val="141820"/>
                </a:solidFill>
                <a:latin typeface="Pretendard ExtraBold" pitchFamily="34" charset="0"/>
                <a:ea typeface="Pretendard ExtraBold" pitchFamily="34" charset="-127"/>
                <a:cs typeface="Pretendard ExtraBold" pitchFamily="34" charset="-120"/>
              </a:rPr>
              <a:t>CAD 레이어·블록 같은 정보에 의존</a:t>
            </a:r>
            <a:endParaRPr lang="en-US" sz="1300" dirty="0"/>
          </a:p>
        </p:txBody>
      </p:sp>
      <p:sp>
        <p:nvSpPr>
          <p:cNvPr id="75" name="이미지로만 남은 실제 도면에는 적용 불가"/>
          <p:cNvSpPr txBox="1"/>
          <p:nvPr/>
        </p:nvSpPr>
        <p:spPr>
          <a:xfrm>
            <a:off x="2997200" y="3810992"/>
            <a:ext cx="2464072" cy="184150"/>
          </a:xfrm>
          <a:prstGeom prst="rect">
            <a:avLst/>
          </a:prstGeom>
          <a:noFill/>
          <a:ln/>
        </p:spPr>
        <p:txBody>
          <a:bodyPr wrap="none" lIns="0" tIns="0" rIns="0" bIns="0" rtlCol="0" anchor="ctr"/>
          <a:lstStyle/>
          <a:p>
            <a:pPr algn="l" indent="0" marL="0">
              <a:buNone/>
            </a:pPr>
            <a:r>
              <a:rPr lang="ko-KR" altLang="en-US" sz="1200" spc="-36" kern="0" dirty="0">
                <a:solidFill>
                  <a:srgbClr val="3F4654"/>
                </a:solidFill>
                <a:latin typeface="Pretendard Medium" pitchFamily="34" charset="0"/>
                <a:ea typeface="Pretendard Medium" pitchFamily="34" charset="-127"/>
                <a:cs typeface="Pretendard Medium" pitchFamily="34" charset="-120"/>
              </a:rPr>
              <a:t>이미지로만 남은 실제 도면에는 적용 불가</a:t>
            </a:r>
            <a:endParaRPr lang="en-US" sz="1200" dirty="0"/>
          </a:p>
        </p:txBody>
      </p:sp>
      <p:sp>
        <p:nvSpPr>
          <p:cNvPr id="76" name="목표 2"/>
          <p:cNvSpPr txBox="1"/>
          <p:nvPr/>
        </p:nvSpPr>
        <p:spPr>
          <a:xfrm>
            <a:off x="7302500" y="3313212"/>
            <a:ext cx="328216" cy="120650"/>
          </a:xfrm>
          <a:prstGeom prst="rect">
            <a:avLst/>
          </a:prstGeom>
          <a:noFill/>
          <a:ln/>
        </p:spPr>
        <p:txBody>
          <a:bodyPr wrap="none" lIns="0" tIns="0" rIns="0" bIns="0" rtlCol="0" anchor="ctr"/>
          <a:lstStyle/>
          <a:p>
            <a:pPr algn="l" indent="0" marL="0">
              <a:buNone/>
            </a:pPr>
            <a:r>
              <a:rPr lang="ko-KR" altLang="en-US" sz="800" spc="32" kern="0" dirty="0">
                <a:solidFill>
                  <a:srgbClr val="EA002C"/>
                </a:solidFill>
                <a:latin typeface="Pretendard ExtraBold" pitchFamily="34" charset="0"/>
                <a:ea typeface="Pretendard ExtraBold" pitchFamily="34" charset="-127"/>
                <a:cs typeface="Pretendard ExtraBold" pitchFamily="34" charset="-120"/>
              </a:rPr>
              <a:t>목표 2</a:t>
            </a:r>
            <a:endParaRPr lang="en-US" sz="800" dirty="0"/>
          </a:p>
        </p:txBody>
      </p:sp>
      <p:sp>
        <p:nvSpPr>
          <p:cNvPr id="77" name="CAD 정보 없이 이미지만으로"/>
          <p:cNvSpPr txBox="1"/>
          <p:nvPr/>
        </p:nvSpPr>
        <p:spPr>
          <a:xfrm>
            <a:off x="7302500" y="3535462"/>
            <a:ext cx="2188732" cy="228600"/>
          </a:xfrm>
          <a:prstGeom prst="rect">
            <a:avLst/>
          </a:prstGeom>
          <a:noFill/>
          <a:ln/>
        </p:spPr>
        <p:txBody>
          <a:bodyPr wrap="none" lIns="0" tIns="0" rIns="0" bIns="0" rtlCol="0" anchor="ctr"/>
          <a:lstStyle/>
          <a:p>
            <a:pPr algn="l" indent="0" marL="0">
              <a:buNone/>
            </a:pPr>
            <a:r>
              <a:rPr lang="ko-KR" altLang="en-US" sz="1500" spc="-60" kern="0" dirty="0">
                <a:solidFill>
                  <a:srgbClr val="102A4C"/>
                </a:solidFill>
                <a:latin typeface="Pretendard ExtraBold" pitchFamily="34" charset="0"/>
                <a:ea typeface="Pretendard ExtraBold" pitchFamily="34" charset="-127"/>
                <a:cs typeface="Pretendard ExtraBold" pitchFamily="34" charset="-120"/>
              </a:rPr>
              <a:t>CAD 정보 없이 이미지만으로</a:t>
            </a:r>
            <a:endParaRPr lang="en-US" sz="1500" dirty="0"/>
          </a:p>
        </p:txBody>
      </p:sp>
      <p:sp>
        <p:nvSpPr>
          <p:cNvPr id="78" name="평면도·입면도 간 대응 객체 정의"/>
          <p:cNvSpPr txBox="1"/>
          <p:nvPr/>
        </p:nvSpPr>
        <p:spPr>
          <a:xfrm>
            <a:off x="7302500" y="3814862"/>
            <a:ext cx="1928221" cy="184150"/>
          </a:xfrm>
          <a:prstGeom prst="rect">
            <a:avLst/>
          </a:prstGeom>
          <a:noFill/>
          <a:ln/>
        </p:spPr>
        <p:txBody>
          <a:bodyPr wrap="none" lIns="0" tIns="0" rIns="0" bIns="0" rtlCol="0" anchor="ctr"/>
          <a:lstStyle/>
          <a:p>
            <a:pPr algn="l" indent="0" marL="0">
              <a:buNone/>
            </a:pPr>
            <a:r>
              <a:rPr lang="ko-KR" altLang="en-US" sz="1200" spc="-36" kern="0" dirty="0">
                <a:solidFill>
                  <a:srgbClr val="3F4654"/>
                </a:solidFill>
                <a:latin typeface="Pretendard Medium" pitchFamily="34" charset="0"/>
                <a:ea typeface="Pretendard Medium" pitchFamily="34" charset="-127"/>
                <a:cs typeface="Pretendard Medium" pitchFamily="34" charset="-120"/>
              </a:rPr>
              <a:t>평면도·입면도 간 대응 객체 정의</a:t>
            </a:r>
            <a:endParaRPr lang="en-US" sz="1200" dirty="0"/>
          </a:p>
        </p:txBody>
      </p:sp>
      <p:sp>
        <p:nvSpPr>
          <p:cNvPr id="79" name="치수 의존"/>
          <p:cNvSpPr txBox="1"/>
          <p:nvPr/>
        </p:nvSpPr>
        <p:spPr>
          <a:xfrm>
            <a:off x="1270000" y="4724797"/>
            <a:ext cx="718641" cy="228600"/>
          </a:xfrm>
          <a:prstGeom prst="rect">
            <a:avLst/>
          </a:prstGeom>
          <a:noFill/>
          <a:ln/>
        </p:spPr>
        <p:txBody>
          <a:bodyPr wrap="none" lIns="0" tIns="0" rIns="0" bIns="0" rtlCol="0" anchor="ctr"/>
          <a:lstStyle/>
          <a:p>
            <a:pPr algn="l" indent="0" marL="0">
              <a:buNone/>
            </a:pPr>
            <a:r>
              <a:rPr lang="ko-KR" altLang="en-US" sz="1500" spc="-53" kern="0" dirty="0">
                <a:solidFill>
                  <a:srgbClr val="102A4C"/>
                </a:solidFill>
                <a:latin typeface="Pretendard ExtraBold" pitchFamily="34" charset="0"/>
                <a:ea typeface="Pretendard ExtraBold" pitchFamily="34" charset="-127"/>
                <a:cs typeface="Pretendard ExtraBold" pitchFamily="34" charset="-120"/>
              </a:rPr>
              <a:t>치수 의존</a:t>
            </a:r>
            <a:endParaRPr lang="en-US" sz="1500" dirty="0"/>
          </a:p>
        </p:txBody>
      </p:sp>
      <p:sp>
        <p:nvSpPr>
          <p:cNvPr id="80" name="한계 3"/>
          <p:cNvSpPr txBox="1"/>
          <p:nvPr/>
        </p:nvSpPr>
        <p:spPr>
          <a:xfrm>
            <a:off x="2819400" y="4485382"/>
            <a:ext cx="331093" cy="120650"/>
          </a:xfrm>
          <a:prstGeom prst="rect">
            <a:avLst/>
          </a:prstGeom>
          <a:noFill/>
          <a:ln/>
        </p:spPr>
        <p:txBody>
          <a:bodyPr wrap="none" lIns="0" tIns="0" rIns="0" bIns="0" rtlCol="0" anchor="ctr"/>
          <a:lstStyle/>
          <a:p>
            <a:pPr algn="l" indent="0" marL="0">
              <a:buNone/>
            </a:pPr>
            <a:r>
              <a:rPr lang="ko-KR" altLang="en-US" sz="800" spc="32" kern="0" dirty="0">
                <a:solidFill>
                  <a:srgbClr val="737C8B"/>
                </a:solidFill>
                <a:latin typeface="Pretendard ExtraBold" pitchFamily="34" charset="0"/>
                <a:ea typeface="Pretendard ExtraBold" pitchFamily="34" charset="-127"/>
                <a:cs typeface="Pretendard ExtraBold" pitchFamily="34" charset="-120"/>
              </a:rPr>
              <a:t>한계 3</a:t>
            </a:r>
            <a:endParaRPr lang="en-US" sz="800" dirty="0"/>
          </a:p>
        </p:txBody>
      </p:sp>
      <p:sp>
        <p:nvSpPr>
          <p:cNvPr id="81" name="치수 글자 인식(OCR)에 의존"/>
          <p:cNvSpPr txBox="1"/>
          <p:nvPr/>
        </p:nvSpPr>
        <p:spPr>
          <a:xfrm>
            <a:off x="2819400" y="4707632"/>
            <a:ext cx="1890570" cy="196850"/>
          </a:xfrm>
          <a:prstGeom prst="rect">
            <a:avLst/>
          </a:prstGeom>
          <a:noFill/>
          <a:ln/>
        </p:spPr>
        <p:txBody>
          <a:bodyPr wrap="none" lIns="0" tIns="0" rIns="0" bIns="0" rtlCol="0" anchor="ctr"/>
          <a:lstStyle/>
          <a:p>
            <a:pPr algn="l" indent="0" marL="0">
              <a:buNone/>
            </a:pPr>
            <a:r>
              <a:rPr lang="ko-KR" altLang="en-US" sz="1300" spc="-46" kern="0" dirty="0">
                <a:solidFill>
                  <a:srgbClr val="141820"/>
                </a:solidFill>
                <a:latin typeface="Pretendard ExtraBold" pitchFamily="34" charset="0"/>
                <a:ea typeface="Pretendard ExtraBold" pitchFamily="34" charset="-127"/>
                <a:cs typeface="Pretendard ExtraBold" pitchFamily="34" charset="-120"/>
              </a:rPr>
              <a:t>치수 글자 인식(OCR)에 의존</a:t>
            </a:r>
            <a:endParaRPr lang="en-US" sz="1300" dirty="0"/>
          </a:p>
        </p:txBody>
      </p:sp>
      <p:sp>
        <p:nvSpPr>
          <p:cNvPr id="82" name="치수가 빠지거나 겹치면 부정확"/>
          <p:cNvSpPr txBox="1"/>
          <p:nvPr/>
        </p:nvSpPr>
        <p:spPr>
          <a:xfrm>
            <a:off x="2997200" y="4979392"/>
            <a:ext cx="1855863" cy="184150"/>
          </a:xfrm>
          <a:prstGeom prst="rect">
            <a:avLst/>
          </a:prstGeom>
          <a:noFill/>
          <a:ln/>
        </p:spPr>
        <p:txBody>
          <a:bodyPr wrap="none" lIns="0" tIns="0" rIns="0" bIns="0" rtlCol="0" anchor="ctr"/>
          <a:lstStyle/>
          <a:p>
            <a:pPr algn="l" indent="0" marL="0">
              <a:buNone/>
            </a:pPr>
            <a:r>
              <a:rPr lang="ko-KR" altLang="en-US" sz="1200" spc="-36" kern="0" dirty="0">
                <a:solidFill>
                  <a:srgbClr val="3F4654"/>
                </a:solidFill>
                <a:latin typeface="Pretendard Medium" pitchFamily="34" charset="0"/>
                <a:ea typeface="Pretendard Medium" pitchFamily="34" charset="-127"/>
                <a:cs typeface="Pretendard Medium" pitchFamily="34" charset="-120"/>
              </a:rPr>
              <a:t>치수가 빠지거나 겹치면 부정확</a:t>
            </a:r>
            <a:endParaRPr lang="en-US" sz="1200" dirty="0"/>
          </a:p>
        </p:txBody>
      </p:sp>
      <p:sp>
        <p:nvSpPr>
          <p:cNvPr id="83" name="목표 3"/>
          <p:cNvSpPr txBox="1"/>
          <p:nvPr/>
        </p:nvSpPr>
        <p:spPr>
          <a:xfrm>
            <a:off x="7302500" y="4481612"/>
            <a:ext cx="331093" cy="120650"/>
          </a:xfrm>
          <a:prstGeom prst="rect">
            <a:avLst/>
          </a:prstGeom>
          <a:noFill/>
          <a:ln/>
        </p:spPr>
        <p:txBody>
          <a:bodyPr wrap="none" lIns="0" tIns="0" rIns="0" bIns="0" rtlCol="0" anchor="ctr"/>
          <a:lstStyle/>
          <a:p>
            <a:pPr algn="l" indent="0" marL="0">
              <a:buNone/>
            </a:pPr>
            <a:r>
              <a:rPr lang="ko-KR" altLang="en-US" sz="800" spc="32" kern="0" dirty="0">
                <a:solidFill>
                  <a:srgbClr val="EA002C"/>
                </a:solidFill>
                <a:latin typeface="Pretendard ExtraBold" pitchFamily="34" charset="0"/>
                <a:ea typeface="Pretendard ExtraBold" pitchFamily="34" charset="-127"/>
                <a:cs typeface="Pretendard ExtraBold" pitchFamily="34" charset="-120"/>
              </a:rPr>
              <a:t>목표 3</a:t>
            </a:r>
            <a:endParaRPr lang="en-US" sz="800" dirty="0"/>
          </a:p>
        </p:txBody>
      </p:sp>
      <p:sp>
        <p:nvSpPr>
          <p:cNvPr id="84" name="LMM(대형 멀티모달 모델)으로 축척을 인식해"/>
          <p:cNvSpPr txBox="1"/>
          <p:nvPr/>
        </p:nvSpPr>
        <p:spPr>
          <a:xfrm>
            <a:off x="7302500" y="4703862"/>
            <a:ext cx="3406622" cy="228600"/>
          </a:xfrm>
          <a:prstGeom prst="rect">
            <a:avLst/>
          </a:prstGeom>
          <a:noFill/>
          <a:ln/>
        </p:spPr>
        <p:txBody>
          <a:bodyPr wrap="none" lIns="0" tIns="0" rIns="0" bIns="0" rtlCol="0" anchor="ctr"/>
          <a:lstStyle/>
          <a:p>
            <a:pPr algn="l" indent="0" marL="0">
              <a:buNone/>
            </a:pPr>
            <a:r>
              <a:rPr lang="ko-KR" altLang="en-US" sz="1500" spc="-60" kern="0" dirty="0">
                <a:solidFill>
                  <a:srgbClr val="102A4C"/>
                </a:solidFill>
                <a:latin typeface="Pretendard ExtraBold" pitchFamily="34" charset="0"/>
                <a:ea typeface="Pretendard ExtraBold" pitchFamily="34" charset="-127"/>
                <a:cs typeface="Pretendard ExtraBold" pitchFamily="34" charset="-120"/>
              </a:rPr>
              <a:t>LMM(대형 멀티모달 모델)으로 축척을 인식해</a:t>
            </a:r>
            <a:endParaRPr lang="en-US" sz="1500" dirty="0"/>
          </a:p>
        </p:txBody>
      </p:sp>
      <p:sp>
        <p:nvSpPr>
          <p:cNvPr id="85" name="안정적으로 치수 보정"/>
          <p:cNvSpPr txBox="1"/>
          <p:nvPr/>
        </p:nvSpPr>
        <p:spPr>
          <a:xfrm>
            <a:off x="7302500" y="4983262"/>
            <a:ext cx="1282150" cy="184150"/>
          </a:xfrm>
          <a:prstGeom prst="rect">
            <a:avLst/>
          </a:prstGeom>
          <a:noFill/>
          <a:ln/>
        </p:spPr>
        <p:txBody>
          <a:bodyPr wrap="none" lIns="0" tIns="0" rIns="0" bIns="0" rtlCol="0" anchor="ctr"/>
          <a:lstStyle/>
          <a:p>
            <a:pPr algn="l" indent="0" marL="0">
              <a:buNone/>
            </a:pPr>
            <a:r>
              <a:rPr lang="ko-KR" altLang="en-US" sz="1200" spc="-36" kern="0" dirty="0">
                <a:solidFill>
                  <a:srgbClr val="3F4654"/>
                </a:solidFill>
                <a:latin typeface="Pretendard Medium" pitchFamily="34" charset="0"/>
                <a:ea typeface="Pretendard Medium" pitchFamily="34" charset="-127"/>
                <a:cs typeface="Pretendard Medium" pitchFamily="34" charset="-120"/>
              </a:rPr>
              <a:t>안정적으로 치수 보정</a:t>
            </a:r>
            <a:endParaRPr lang="en-US" sz="1200" dirty="0"/>
          </a:p>
        </p:txBody>
      </p:sp>
      <p:sp>
        <p:nvSpPr>
          <p:cNvPr id="86" name="KEY MESSAGE"/>
          <p:cNvSpPr txBox="1"/>
          <p:nvPr/>
        </p:nvSpPr>
        <p:spPr>
          <a:xfrm>
            <a:off x="863600" y="5920284"/>
            <a:ext cx="864394" cy="114300"/>
          </a:xfrm>
          <a:prstGeom prst="rect">
            <a:avLst/>
          </a:prstGeom>
          <a:noFill/>
          <a:ln/>
        </p:spPr>
        <p:txBody>
          <a:bodyPr wrap="none" lIns="0" tIns="0" rIns="0" bIns="0" rtlCol="0" anchor="ctr"/>
          <a:lstStyle/>
          <a:p>
            <a:pPr algn="l" indent="0" marL="0">
              <a:buNone/>
            </a:pPr>
            <a:r>
              <a:rPr lang="ko-KR" altLang="en-US" sz="750" spc="105" kern="0" dirty="0">
                <a:solidFill>
                  <a:srgbClr val="FF8FA3"/>
                </a:solidFill>
                <a:latin typeface="Pretendard ExtraBold" pitchFamily="34" charset="0"/>
                <a:ea typeface="Pretendard ExtraBold" pitchFamily="34" charset="-127"/>
                <a:cs typeface="Pretendard ExtraBold" pitchFamily="34" charset="-120"/>
              </a:rPr>
              <a:t>KEY MESSAGE</a:t>
            </a:r>
            <a:endParaRPr lang="en-US" sz="750" dirty="0"/>
          </a:p>
        </p:txBody>
      </p:sp>
      <p:sp>
        <p:nvSpPr>
          <p:cNvPr id="87" name="딥러닝 기반 도면 객체 인식과 평면도·입면도 간 직접 매칭으로,정확한 3"/>
          <p:cNvSpPr txBox="1"/>
          <p:nvPr/>
        </p:nvSpPr>
        <p:spPr>
          <a:xfrm>
            <a:off x="1854994" y="5725220"/>
            <a:ext cx="4142615" cy="480020"/>
          </a:xfrm>
          <a:prstGeom prst="rect">
            <a:avLst/>
          </a:prstGeom>
          <a:noFill/>
          <a:ln/>
        </p:spPr>
        <p:txBody>
          <a:bodyPr wrap="none" lIns="0" tIns="0" rIns="0" bIns="0" rtlCol="0" anchor="t"/>
          <a:lstStyle/>
          <a:p>
            <a:pPr algn="l" indent="0" marL="0">
              <a:lnSpc>
                <a:spcPts val="1890"/>
              </a:lnSpc>
              <a:buNone/>
            </a:pPr>
            <a:r>
              <a:rPr lang="ko-KR" altLang="en-US" sz="1350" b="1" spc="-47" kern="0" dirty="0">
                <a:solidFill>
                  <a:srgbClr val="FFFFFF"/>
                </a:solidFill>
                <a:latin typeface="Pretendard" pitchFamily="34" charset="0"/>
                <a:ea typeface="Pretendard" pitchFamily="34" charset="-127"/>
                <a:cs typeface="Pretendard" pitchFamily="34" charset="-120"/>
              </a:rPr>
              <a:t>딥러닝 기반 도면 객체 인식과 평면도·입면도 간 직접 매칭으로,</a:t>
            </a:r>
            <a:br/>
            <a:r>
              <a:rPr lang="ko-KR" altLang="en-US" sz="1350" b="1" spc="-47" kern="0" dirty="0">
                <a:solidFill>
                  <a:srgbClr val="FFB3C1"/>
                </a:solidFill>
                <a:latin typeface="Pretendard" pitchFamily="34" charset="0"/>
                <a:ea typeface="Pretendard" pitchFamily="34" charset="-127"/>
                <a:cs typeface="Pretendard" pitchFamily="34" charset="-120"/>
              </a:rPr>
              <a:t>정확한 3차원 정보를 가진 BIM 자동 생성 방법</a:t>
            </a:r>
            <a:r>
              <a:rPr lang="ko-KR" altLang="en-US" sz="1350" b="1" spc="-47" kern="0" dirty="0">
                <a:solidFill>
                  <a:srgbClr val="FFFFFF"/>
                </a:solidFill>
                <a:latin typeface="Pretendard" pitchFamily="34" charset="0"/>
                <a:ea typeface="Pretendard" pitchFamily="34" charset="-127"/>
                <a:cs typeface="Pretendard" pitchFamily="34" charset="-120"/>
              </a:rPr>
              <a:t>을 제안합니다.</a:t>
            </a:r>
            <a:endParaRPr lang="en-US" sz="1350" dirty="0"/>
          </a:p>
        </p:txBody>
      </p:sp>
      <p:sp>
        <p:nvSpPr>
          <p:cNvPr id="88" name="석사 연구 발표  ·  평면도와 입면도 객체 인식 및 정보 통합을 통한 "/>
          <p:cNvSpPr txBox="1"/>
          <p:nvPr/>
        </p:nvSpPr>
        <p:spPr>
          <a:xfrm>
            <a:off x="609600" y="6472238"/>
            <a:ext cx="514511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  ·  Utility 기술(건축, BIM/5D) 지원자 ○○○</a:t>
            </a:r>
            <a:endParaRPr lang="en-US" sz="750" dirty="0"/>
          </a:p>
        </p:txBody>
      </p:sp>
      <p:sp>
        <p:nvSpPr>
          <p:cNvPr id="89" name="02 / 05"/>
          <p:cNvSpPr txBox="1"/>
          <p:nvPr/>
        </p:nvSpPr>
        <p:spPr>
          <a:xfrm>
            <a:off x="11219458" y="6472238"/>
            <a:ext cx="413742"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02</a:t>
            </a:r>
            <a:r>
              <a:rPr lang="ko-KR" altLang="en-US" sz="750" spc="45" kern="0" dirty="0">
                <a:solidFill>
                  <a:srgbClr val="737C8B"/>
                </a:solidFill>
                <a:latin typeface="Pretendard SemiBold" pitchFamily="34" charset="0"/>
                <a:ea typeface="Pretendard SemiBold" pitchFamily="34" charset="-127"/>
                <a:cs typeface="Pretendard SemiBold" pitchFamily="34" charset="-120"/>
              </a:rPr>
              <a:t> / 05</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1389856"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done"/>
          <p:cNvSpPr/>
          <p:nvPr/>
        </p:nvSpPr>
        <p:spPr>
          <a:xfrm>
            <a:off x="99695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5" name="done"/>
          <p:cNvSpPr/>
          <p:nvPr/>
        </p:nvSpPr>
        <p:spPr>
          <a:xfrm>
            <a:off x="102997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6" name="on"/>
          <p:cNvSpPr/>
          <p:nvPr/>
        </p:nvSpPr>
        <p:spPr>
          <a:xfrm>
            <a:off x="106299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7" name="i"/>
          <p:cNvSpPr/>
          <p:nvPr/>
        </p:nvSpPr>
        <p:spPr>
          <a:xfrm>
            <a:off x="109601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gh g1::after"/>
          <p:cNvSpPr/>
          <p:nvPr/>
        </p:nvSpPr>
        <p:spPr>
          <a:xfrm>
            <a:off x="1256903" y="1733947"/>
            <a:ext cx="4686697" cy="12700"/>
          </a:xfrm>
          <a:prstGeom prst="roundRect">
            <a:avLst>
              <a:gd name="adj" fmla="val 50000"/>
            </a:avLst>
          </a:prstGeom>
          <a:solidFill>
            <a:srgbClr val="102A4C"/>
          </a:solidFill>
          <a:ln>
            <a:noFill/>
          </a:ln>
        </p:spPr>
        <p:txBody>
          <a:bodyPr rtlCol="0" anchor="ctr"/>
          <a:lstStyle/>
          <a:p>
            <a:pPr algn="ctr"/>
            <a:endParaRPr lang="ko-KR" dirty="0"/>
          </a:p>
        </p:txBody>
      </p:sp>
      <p:sp>
        <p:nvSpPr>
          <p:cNvPr id="10" name="gh g2::after"/>
          <p:cNvSpPr/>
          <p:nvPr/>
        </p:nvSpPr>
        <p:spPr>
          <a:xfrm>
            <a:off x="6967141" y="1733947"/>
            <a:ext cx="4615259" cy="12700"/>
          </a:xfrm>
          <a:prstGeom prst="roundRect">
            <a:avLst>
              <a:gd name="adj" fmla="val 50000"/>
            </a:avLst>
          </a:prstGeom>
          <a:solidFill>
            <a:srgbClr val="102A4C"/>
          </a:solidFill>
          <a:ln>
            <a:noFill/>
          </a:ln>
        </p:spPr>
        <p:txBody>
          <a:bodyPr rtlCol="0" anchor="ctr"/>
          <a:lstStyle/>
          <a:p>
            <a:pPr algn="ctr"/>
            <a:endParaRPr lang="ko-KR" dirty="0"/>
          </a:p>
        </p:txBody>
      </p:sp>
      <p:sp>
        <p:nvSpPr>
          <p:cNvPr id="11" name="st k1"/>
          <p:cNvSpPr/>
          <p:nvPr/>
        </p:nvSpPr>
        <p:spPr>
          <a:xfrm>
            <a:off x="609600" y="1968897"/>
            <a:ext cx="2514600" cy="4368800"/>
          </a:xfrm>
          <a:prstGeom prst="roundRect">
            <a:avLst>
              <a:gd name="adj" fmla="val 5051"/>
            </a:avLst>
          </a:prstGeom>
          <a:solidFill>
            <a:srgbClr val="F3F5F8"/>
          </a:solidFill>
          <a:ln>
            <a:noFill/>
          </a:ln>
        </p:spPr>
        <p:txBody>
          <a:bodyPr rtlCol="0" anchor="ctr"/>
          <a:lstStyle/>
          <a:p>
            <a:pPr algn="ctr"/>
            <a:endParaRPr lang="ko-KR" dirty="0"/>
          </a:p>
        </p:txBody>
      </p:sp>
      <p:sp>
        <p:nvSpPr>
          <p:cNvPr id="12" name="fig"/>
          <p:cNvSpPr/>
          <p:nvPr/>
        </p:nvSpPr>
        <p:spPr>
          <a:xfrm>
            <a:off x="790575" y="2149872"/>
            <a:ext cx="2152650" cy="1543050"/>
          </a:xfrm>
          <a:prstGeom prst="roundRect">
            <a:avLst>
              <a:gd name="adj" fmla="val 4733"/>
            </a:avLst>
          </a:prstGeom>
          <a:solidFill>
            <a:srgbClr val="FFFFFF"/>
          </a:solidFill>
          <a:ln w="6350">
            <a:solidFill>
              <a:srgbClr val="E1E5EB"/>
            </a:solidFill>
            <a:miter lim="800000"/>
          </a:ln>
        </p:spPr>
        <p:txBody>
          <a:bodyPr rtlCol="0" anchor="ctr"/>
          <a:lstStyle/>
          <a:p>
            <a:pPr algn="ctr"/>
            <a:endParaRPr lang="ko-KR" dirty="0"/>
          </a:p>
        </p:txBody>
      </p:sp>
      <p:pic>
        <p:nvPicPr>
          <p:cNvPr id="13" name="seg a" descr="seg a">    </p:cNvPr>
          <p:cNvPicPr>
            <a:picLocks noChangeAspect="1"/>
          </p:cNvPicPr>
          <p:nvPr/>
        </p:nvPicPr>
        <p:blipFill>
          <a:blip r:embed="rId1"/>
          <a:stretch>
            <a:fillRect/>
          </a:stretch>
        </p:blipFill>
        <p:spPr>
          <a:xfrm>
            <a:off x="1047882" y="2204211"/>
            <a:ext cx="1644650" cy="641350"/>
          </a:xfrm>
          <a:prstGeom prst="rect">
            <a:avLst/>
          </a:prstGeom>
        </p:spPr>
      </p:pic>
      <p:pic>
        <p:nvPicPr>
          <p:cNvPr id="14" name="seg b" descr="seg b">    </p:cNvPr>
          <p:cNvPicPr>
            <a:picLocks noChangeAspect="1"/>
          </p:cNvPicPr>
          <p:nvPr/>
        </p:nvPicPr>
        <p:blipFill>
          <a:blip r:embed="rId2"/>
          <a:stretch>
            <a:fillRect/>
          </a:stretch>
        </p:blipFill>
        <p:spPr>
          <a:xfrm>
            <a:off x="1047882" y="2921397"/>
            <a:ext cx="1644650" cy="711200"/>
          </a:xfrm>
          <a:prstGeom prst="rect">
            <a:avLst/>
          </a:prstGeom>
        </p:spPr>
      </p:pic>
      <p:sp>
        <p:nvSpPr>
          <p:cNvPr id="15" name="tq 선"/>
          <p:cNvSpPr/>
          <p:nvPr/>
        </p:nvSpPr>
        <p:spPr>
          <a:xfrm>
            <a:off x="790575" y="5369322"/>
            <a:ext cx="2152650" cy="1"/>
          </a:xfrm>
          <a:custGeom>
            <a:avLst/>
            <a:gdLst/>
            <a:ahLst/>
            <a:cxnLst/>
            <a:rect l="0" t="0" r="r" b="b"/>
            <a:pathLst>
              <a:path w="2152650" h="1" fill="none">
                <a:moveTo>
                  <a:pt x="0" y="0"/>
                </a:moveTo>
                <a:lnTo>
                  <a:pt x="2152650" y="0"/>
                </a:lnTo>
              </a:path>
            </a:pathLst>
          </a:custGeom>
          <a:noFill/>
          <a:ln w="6350">
            <a:solidFill>
              <a:srgbClr val="C8CFD8"/>
            </a:solidFill>
            <a:round/>
          </a:ln>
        </p:spPr>
        <p:txBody>
          <a:bodyPr rtlCol="0" anchor="ctr"/>
          <a:lstStyle/>
          <a:p>
            <a:pPr algn="ctr"/>
            <a:endParaRPr lang="ko-KR" dirty="0"/>
          </a:p>
        </p:txBody>
      </p:sp>
      <p:sp>
        <p:nvSpPr>
          <p:cNvPr id="16" name="chip"/>
          <p:cNvSpPr/>
          <p:nvPr/>
        </p:nvSpPr>
        <p:spPr>
          <a:xfrm>
            <a:off x="790575" y="5604272"/>
            <a:ext cx="1387475"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17" name="i"/>
          <p:cNvSpPr/>
          <p:nvPr/>
        </p:nvSpPr>
        <p:spPr>
          <a:xfrm>
            <a:off x="3149600" y="2794397"/>
            <a:ext cx="254000" cy="254000"/>
          </a:xfrm>
          <a:prstGeom prst="ellipse">
            <a:avLst/>
          </a:prstGeom>
          <a:solidFill>
            <a:srgbClr val="102A4C"/>
          </a:solidFill>
          <a:ln>
            <a:noFill/>
          </a:ln>
          <a:effectLst>
            <a:outerShdw blurRad="63500" dist="25400" dir="5400000" algn="ctr" rotWithShape="0">
              <a:srgbClr val="102A4C">
                <a:alpha val="18000"/>
              </a:srgbClr>
            </a:outerShdw>
          </a:effectLst>
        </p:spPr>
        <p:txBody>
          <a:bodyPr rtlCol="0" anchor="ctr"/>
          <a:lstStyle/>
          <a:p>
            <a:pPr algn="ctr"/>
            <a:endParaRPr lang="ko-KR" dirty="0"/>
          </a:p>
        </p:txBody>
      </p:sp>
      <p:sp>
        <p:nvSpPr>
          <p:cNvPr id="18" name="svg path"/>
          <p:cNvSpPr/>
          <p:nvPr/>
        </p:nvSpPr>
        <p:spPr>
          <a:xfrm>
            <a:off x="3262313" y="2889964"/>
            <a:ext cx="31433" cy="62865"/>
          </a:xfrm>
          <a:custGeom>
            <a:avLst/>
            <a:gdLst/>
            <a:ahLst/>
            <a:cxnLst/>
            <a:rect l="0" t="0" r="r" b="b"/>
            <a:pathLst>
              <a:path w="31433" h="62865" fill="none">
                <a:moveTo>
                  <a:pt x="0" y="0"/>
                </a:moveTo>
                <a:lnTo>
                  <a:pt x="31433" y="31432"/>
                </a:lnTo>
                <a:lnTo>
                  <a:pt x="0" y="62865"/>
                </a:lnTo>
              </a:path>
            </a:pathLst>
          </a:custGeom>
          <a:noFill/>
          <a:ln w="14859" cap="rnd">
            <a:solidFill>
              <a:srgbClr val="FFFFFF"/>
            </a:solidFill>
            <a:round/>
          </a:ln>
        </p:spPr>
        <p:txBody>
          <a:bodyPr rtlCol="0" anchor="ctr"/>
          <a:lstStyle/>
          <a:p>
            <a:pPr algn="ctr"/>
            <a:endParaRPr lang="ko-KR" dirty="0"/>
          </a:p>
        </p:txBody>
      </p:sp>
      <p:sp>
        <p:nvSpPr>
          <p:cNvPr id="19" name="st k2"/>
          <p:cNvSpPr/>
          <p:nvPr/>
        </p:nvSpPr>
        <p:spPr>
          <a:xfrm>
            <a:off x="3429000" y="1968897"/>
            <a:ext cx="2514600" cy="4368800"/>
          </a:xfrm>
          <a:prstGeom prst="roundRect">
            <a:avLst>
              <a:gd name="adj" fmla="val 5051"/>
            </a:avLst>
          </a:prstGeom>
          <a:solidFill>
            <a:srgbClr val="F3F5F8"/>
          </a:solidFill>
          <a:ln>
            <a:noFill/>
          </a:ln>
        </p:spPr>
        <p:txBody>
          <a:bodyPr rtlCol="0" anchor="ctr"/>
          <a:lstStyle/>
          <a:p>
            <a:pPr algn="ctr"/>
            <a:endParaRPr lang="ko-KR" dirty="0"/>
          </a:p>
        </p:txBody>
      </p:sp>
      <p:sp>
        <p:nvSpPr>
          <p:cNvPr id="20" name="fig"/>
          <p:cNvSpPr/>
          <p:nvPr/>
        </p:nvSpPr>
        <p:spPr>
          <a:xfrm>
            <a:off x="3609975" y="2149872"/>
            <a:ext cx="2152650" cy="1543050"/>
          </a:xfrm>
          <a:prstGeom prst="roundRect">
            <a:avLst>
              <a:gd name="adj" fmla="val 4733"/>
            </a:avLst>
          </a:prstGeom>
          <a:solidFill>
            <a:srgbClr val="FFFFFF"/>
          </a:solidFill>
          <a:ln w="6350">
            <a:solidFill>
              <a:srgbClr val="E1E5EB"/>
            </a:solidFill>
            <a:miter lim="800000"/>
          </a:ln>
        </p:spPr>
        <p:txBody>
          <a:bodyPr rtlCol="0" anchor="ctr"/>
          <a:lstStyle/>
          <a:p>
            <a:pPr algn="ctr"/>
            <a:endParaRPr lang="ko-KR" dirty="0"/>
          </a:p>
        </p:txBody>
      </p:sp>
      <p:pic>
        <p:nvPicPr>
          <p:cNvPr id="21" name="seg a" descr="seg a">    </p:cNvPr>
          <p:cNvPicPr>
            <a:picLocks noChangeAspect="1"/>
          </p:cNvPicPr>
          <p:nvPr/>
        </p:nvPicPr>
        <p:blipFill>
          <a:blip r:embed="rId3"/>
          <a:stretch>
            <a:fillRect/>
          </a:stretch>
        </p:blipFill>
        <p:spPr>
          <a:xfrm>
            <a:off x="3867282" y="2204211"/>
            <a:ext cx="1644650" cy="641350"/>
          </a:xfrm>
          <a:prstGeom prst="rect">
            <a:avLst/>
          </a:prstGeom>
        </p:spPr>
      </p:pic>
      <p:pic>
        <p:nvPicPr>
          <p:cNvPr id="22" name="seg b" descr="seg b">    </p:cNvPr>
          <p:cNvPicPr>
            <a:picLocks noChangeAspect="1"/>
          </p:cNvPicPr>
          <p:nvPr/>
        </p:nvPicPr>
        <p:blipFill>
          <a:blip r:embed="rId4"/>
          <a:stretch>
            <a:fillRect/>
          </a:stretch>
        </p:blipFill>
        <p:spPr>
          <a:xfrm>
            <a:off x="3867282" y="2921397"/>
            <a:ext cx="1644650" cy="711200"/>
          </a:xfrm>
          <a:prstGeom prst="rect">
            <a:avLst/>
          </a:prstGeom>
        </p:spPr>
      </p:pic>
      <p:sp>
        <p:nvSpPr>
          <p:cNvPr id="23" name="tq 선"/>
          <p:cNvSpPr/>
          <p:nvPr/>
        </p:nvSpPr>
        <p:spPr>
          <a:xfrm>
            <a:off x="3609975" y="5369322"/>
            <a:ext cx="2152650" cy="1"/>
          </a:xfrm>
          <a:custGeom>
            <a:avLst/>
            <a:gdLst/>
            <a:ahLst/>
            <a:cxnLst/>
            <a:rect l="0" t="0" r="r" b="b"/>
            <a:pathLst>
              <a:path w="2152650" h="1" fill="none">
                <a:moveTo>
                  <a:pt x="0" y="0"/>
                </a:moveTo>
                <a:lnTo>
                  <a:pt x="2152650" y="0"/>
                </a:lnTo>
              </a:path>
            </a:pathLst>
          </a:custGeom>
          <a:noFill/>
          <a:ln w="6350">
            <a:solidFill>
              <a:srgbClr val="C8CFD8"/>
            </a:solidFill>
            <a:round/>
          </a:ln>
        </p:spPr>
        <p:txBody>
          <a:bodyPr rtlCol="0" anchor="ctr"/>
          <a:lstStyle/>
          <a:p>
            <a:pPr algn="ctr"/>
            <a:endParaRPr lang="ko-KR" dirty="0"/>
          </a:p>
        </p:txBody>
      </p:sp>
      <p:sp>
        <p:nvSpPr>
          <p:cNvPr id="24" name="chip"/>
          <p:cNvSpPr/>
          <p:nvPr/>
        </p:nvSpPr>
        <p:spPr>
          <a:xfrm>
            <a:off x="3609975" y="5604272"/>
            <a:ext cx="1922859"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25" name="chip"/>
          <p:cNvSpPr/>
          <p:nvPr/>
        </p:nvSpPr>
        <p:spPr>
          <a:xfrm>
            <a:off x="3609975" y="5909072"/>
            <a:ext cx="1454249"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26" name="i"/>
          <p:cNvSpPr/>
          <p:nvPr/>
        </p:nvSpPr>
        <p:spPr>
          <a:xfrm>
            <a:off x="5969000" y="2794397"/>
            <a:ext cx="254000" cy="254000"/>
          </a:xfrm>
          <a:prstGeom prst="ellipse">
            <a:avLst/>
          </a:prstGeom>
          <a:solidFill>
            <a:srgbClr val="102A4C"/>
          </a:solidFill>
          <a:ln>
            <a:noFill/>
          </a:ln>
          <a:effectLst>
            <a:outerShdw blurRad="63500" dist="25400" dir="5400000" algn="ctr" rotWithShape="0">
              <a:srgbClr val="102A4C">
                <a:alpha val="18000"/>
              </a:srgbClr>
            </a:outerShdw>
          </a:effectLst>
        </p:spPr>
        <p:txBody>
          <a:bodyPr rtlCol="0" anchor="ctr"/>
          <a:lstStyle/>
          <a:p>
            <a:pPr algn="ctr"/>
            <a:endParaRPr lang="ko-KR" dirty="0"/>
          </a:p>
        </p:txBody>
      </p:sp>
      <p:sp>
        <p:nvSpPr>
          <p:cNvPr id="27" name="svg path"/>
          <p:cNvSpPr/>
          <p:nvPr/>
        </p:nvSpPr>
        <p:spPr>
          <a:xfrm>
            <a:off x="6081713" y="2889964"/>
            <a:ext cx="31433" cy="62865"/>
          </a:xfrm>
          <a:custGeom>
            <a:avLst/>
            <a:gdLst/>
            <a:ahLst/>
            <a:cxnLst/>
            <a:rect l="0" t="0" r="r" b="b"/>
            <a:pathLst>
              <a:path w="31433" h="62865" fill="none">
                <a:moveTo>
                  <a:pt x="0" y="0"/>
                </a:moveTo>
                <a:lnTo>
                  <a:pt x="31433" y="31432"/>
                </a:lnTo>
                <a:lnTo>
                  <a:pt x="0" y="62865"/>
                </a:lnTo>
              </a:path>
            </a:pathLst>
          </a:custGeom>
          <a:noFill/>
          <a:ln w="14859" cap="rnd">
            <a:solidFill>
              <a:srgbClr val="FFFFFF"/>
            </a:solidFill>
            <a:round/>
          </a:ln>
        </p:spPr>
        <p:txBody>
          <a:bodyPr rtlCol="0" anchor="ctr"/>
          <a:lstStyle/>
          <a:p>
            <a:pPr algn="ctr"/>
            <a:endParaRPr lang="ko-KR" dirty="0"/>
          </a:p>
        </p:txBody>
      </p:sp>
      <p:sp>
        <p:nvSpPr>
          <p:cNvPr id="28" name="st k3"/>
          <p:cNvSpPr/>
          <p:nvPr/>
        </p:nvSpPr>
        <p:spPr>
          <a:xfrm>
            <a:off x="6248400" y="1968897"/>
            <a:ext cx="2514600" cy="4368800"/>
          </a:xfrm>
          <a:prstGeom prst="roundRect">
            <a:avLst>
              <a:gd name="adj" fmla="val 5051"/>
            </a:avLst>
          </a:prstGeom>
          <a:solidFill>
            <a:srgbClr val="F3F5F8"/>
          </a:solidFill>
          <a:ln>
            <a:noFill/>
          </a:ln>
        </p:spPr>
        <p:txBody>
          <a:bodyPr rtlCol="0" anchor="ctr"/>
          <a:lstStyle/>
          <a:p>
            <a:pPr algn="ctr"/>
            <a:endParaRPr lang="ko-KR" dirty="0"/>
          </a:p>
        </p:txBody>
      </p:sp>
      <p:sp>
        <p:nvSpPr>
          <p:cNvPr id="29" name="fig"/>
          <p:cNvSpPr/>
          <p:nvPr/>
        </p:nvSpPr>
        <p:spPr>
          <a:xfrm>
            <a:off x="6429375" y="2149872"/>
            <a:ext cx="2152650" cy="1543050"/>
          </a:xfrm>
          <a:prstGeom prst="roundRect">
            <a:avLst>
              <a:gd name="adj" fmla="val 4733"/>
            </a:avLst>
          </a:prstGeom>
          <a:solidFill>
            <a:srgbClr val="FFFFFF"/>
          </a:solidFill>
          <a:ln w="6350">
            <a:solidFill>
              <a:srgbClr val="E1E5EB"/>
            </a:solidFill>
            <a:miter lim="800000"/>
          </a:ln>
        </p:spPr>
        <p:txBody>
          <a:bodyPr rtlCol="0" anchor="ctr"/>
          <a:lstStyle/>
          <a:p>
            <a:pPr algn="ctr"/>
            <a:endParaRPr lang="ko-KR" dirty="0"/>
          </a:p>
        </p:txBody>
      </p:sp>
      <p:pic>
        <p:nvPicPr>
          <p:cNvPr id="30" name="fit" descr="fit">    </p:cNvPr>
          <p:cNvPicPr>
            <a:picLocks noChangeAspect="1"/>
          </p:cNvPicPr>
          <p:nvPr/>
        </p:nvPicPr>
        <p:blipFill>
          <a:blip r:embed="rId5"/>
          <a:stretch>
            <a:fillRect/>
          </a:stretch>
        </p:blipFill>
        <p:spPr>
          <a:xfrm>
            <a:off x="6553795" y="2153047"/>
            <a:ext cx="1911350" cy="1536700"/>
          </a:xfrm>
          <a:prstGeom prst="rect">
            <a:avLst/>
          </a:prstGeom>
        </p:spPr>
      </p:pic>
      <p:sp>
        <p:nvSpPr>
          <p:cNvPr id="31" name="tq 선"/>
          <p:cNvSpPr/>
          <p:nvPr/>
        </p:nvSpPr>
        <p:spPr>
          <a:xfrm>
            <a:off x="6429375" y="5369322"/>
            <a:ext cx="2152650" cy="1"/>
          </a:xfrm>
          <a:custGeom>
            <a:avLst/>
            <a:gdLst/>
            <a:ahLst/>
            <a:cxnLst/>
            <a:rect l="0" t="0" r="r" b="b"/>
            <a:pathLst>
              <a:path w="2152650" h="1" fill="none">
                <a:moveTo>
                  <a:pt x="0" y="0"/>
                </a:moveTo>
                <a:lnTo>
                  <a:pt x="2152650" y="0"/>
                </a:lnTo>
              </a:path>
            </a:pathLst>
          </a:custGeom>
          <a:noFill/>
          <a:ln w="6350">
            <a:solidFill>
              <a:srgbClr val="C8CFD8"/>
            </a:solidFill>
            <a:round/>
          </a:ln>
        </p:spPr>
        <p:txBody>
          <a:bodyPr rtlCol="0" anchor="ctr"/>
          <a:lstStyle/>
          <a:p>
            <a:pPr algn="ctr"/>
            <a:endParaRPr lang="ko-KR" dirty="0"/>
          </a:p>
        </p:txBody>
      </p:sp>
      <p:sp>
        <p:nvSpPr>
          <p:cNvPr id="32" name="chip"/>
          <p:cNvSpPr/>
          <p:nvPr/>
        </p:nvSpPr>
        <p:spPr>
          <a:xfrm>
            <a:off x="6429375" y="5604272"/>
            <a:ext cx="1168598"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33" name="chip"/>
          <p:cNvSpPr/>
          <p:nvPr/>
        </p:nvSpPr>
        <p:spPr>
          <a:xfrm>
            <a:off x="6429375" y="5909072"/>
            <a:ext cx="1750913"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34" name="i"/>
          <p:cNvSpPr/>
          <p:nvPr/>
        </p:nvSpPr>
        <p:spPr>
          <a:xfrm>
            <a:off x="8788400" y="2794397"/>
            <a:ext cx="254000" cy="254000"/>
          </a:xfrm>
          <a:prstGeom prst="ellipse">
            <a:avLst/>
          </a:prstGeom>
          <a:solidFill>
            <a:srgbClr val="102A4C"/>
          </a:solidFill>
          <a:ln>
            <a:noFill/>
          </a:ln>
          <a:effectLst>
            <a:outerShdw blurRad="63500" dist="25400" dir="5400000" algn="ctr" rotWithShape="0">
              <a:srgbClr val="102A4C">
                <a:alpha val="18000"/>
              </a:srgbClr>
            </a:outerShdw>
          </a:effectLst>
        </p:spPr>
        <p:txBody>
          <a:bodyPr rtlCol="0" anchor="ctr"/>
          <a:lstStyle/>
          <a:p>
            <a:pPr algn="ctr"/>
            <a:endParaRPr lang="ko-KR" dirty="0"/>
          </a:p>
        </p:txBody>
      </p:sp>
      <p:sp>
        <p:nvSpPr>
          <p:cNvPr id="35" name="svg path"/>
          <p:cNvSpPr/>
          <p:nvPr/>
        </p:nvSpPr>
        <p:spPr>
          <a:xfrm>
            <a:off x="8901113" y="2889964"/>
            <a:ext cx="31433" cy="62865"/>
          </a:xfrm>
          <a:custGeom>
            <a:avLst/>
            <a:gdLst/>
            <a:ahLst/>
            <a:cxnLst/>
            <a:rect l="0" t="0" r="r" b="b"/>
            <a:pathLst>
              <a:path w="31433" h="62865" fill="none">
                <a:moveTo>
                  <a:pt x="0" y="0"/>
                </a:moveTo>
                <a:lnTo>
                  <a:pt x="31433" y="31432"/>
                </a:lnTo>
                <a:lnTo>
                  <a:pt x="0" y="62865"/>
                </a:lnTo>
              </a:path>
            </a:pathLst>
          </a:custGeom>
          <a:noFill/>
          <a:ln w="14859" cap="rnd">
            <a:solidFill>
              <a:srgbClr val="FFFFFF"/>
            </a:solidFill>
            <a:round/>
          </a:ln>
        </p:spPr>
        <p:txBody>
          <a:bodyPr rtlCol="0" anchor="ctr"/>
          <a:lstStyle/>
          <a:p>
            <a:pPr algn="ctr"/>
            <a:endParaRPr lang="ko-KR" dirty="0"/>
          </a:p>
        </p:txBody>
      </p:sp>
      <p:sp>
        <p:nvSpPr>
          <p:cNvPr id="36" name="st k4"/>
          <p:cNvSpPr/>
          <p:nvPr/>
        </p:nvSpPr>
        <p:spPr>
          <a:xfrm>
            <a:off x="9067800" y="1968897"/>
            <a:ext cx="2514600" cy="4368800"/>
          </a:xfrm>
          <a:prstGeom prst="roundRect">
            <a:avLst>
              <a:gd name="adj" fmla="val 5051"/>
            </a:avLst>
          </a:prstGeom>
          <a:solidFill>
            <a:srgbClr val="F3F5F8"/>
          </a:solidFill>
          <a:ln>
            <a:noFill/>
          </a:ln>
        </p:spPr>
        <p:txBody>
          <a:bodyPr rtlCol="0" anchor="ctr"/>
          <a:lstStyle/>
          <a:p>
            <a:pPr algn="ctr"/>
            <a:endParaRPr lang="ko-KR" dirty="0"/>
          </a:p>
        </p:txBody>
      </p:sp>
      <p:sp>
        <p:nvSpPr>
          <p:cNvPr id="37" name="fig"/>
          <p:cNvSpPr/>
          <p:nvPr/>
        </p:nvSpPr>
        <p:spPr>
          <a:xfrm>
            <a:off x="9248775" y="2149872"/>
            <a:ext cx="2152650" cy="1543050"/>
          </a:xfrm>
          <a:prstGeom prst="roundRect">
            <a:avLst>
              <a:gd name="adj" fmla="val 4733"/>
            </a:avLst>
          </a:prstGeom>
          <a:solidFill>
            <a:srgbClr val="FFFFFF"/>
          </a:solidFill>
          <a:ln w="6350">
            <a:solidFill>
              <a:srgbClr val="E1E5EB"/>
            </a:solidFill>
            <a:miter lim="800000"/>
          </a:ln>
        </p:spPr>
        <p:txBody>
          <a:bodyPr rtlCol="0" anchor="ctr"/>
          <a:lstStyle/>
          <a:p>
            <a:pPr algn="ctr"/>
            <a:endParaRPr lang="ko-KR" dirty="0"/>
          </a:p>
        </p:txBody>
      </p:sp>
      <p:pic>
        <p:nvPicPr>
          <p:cNvPr id="38" name="fit" descr="fit">    </p:cNvPr>
          <p:cNvPicPr>
            <a:picLocks noChangeAspect="1"/>
          </p:cNvPicPr>
          <p:nvPr/>
        </p:nvPicPr>
        <p:blipFill>
          <a:blip r:embed="rId6"/>
          <a:stretch>
            <a:fillRect/>
          </a:stretch>
        </p:blipFill>
        <p:spPr>
          <a:xfrm>
            <a:off x="9504892" y="2153047"/>
            <a:ext cx="1587500" cy="1536700"/>
          </a:xfrm>
          <a:prstGeom prst="rect">
            <a:avLst/>
          </a:prstGeom>
        </p:spPr>
      </p:pic>
      <p:sp>
        <p:nvSpPr>
          <p:cNvPr id="39" name="tq 선"/>
          <p:cNvSpPr/>
          <p:nvPr/>
        </p:nvSpPr>
        <p:spPr>
          <a:xfrm>
            <a:off x="9248775" y="5369322"/>
            <a:ext cx="2152650" cy="1"/>
          </a:xfrm>
          <a:custGeom>
            <a:avLst/>
            <a:gdLst/>
            <a:ahLst/>
            <a:cxnLst/>
            <a:rect l="0" t="0" r="r" b="b"/>
            <a:pathLst>
              <a:path w="2152650" h="1" fill="none">
                <a:moveTo>
                  <a:pt x="0" y="0"/>
                </a:moveTo>
                <a:lnTo>
                  <a:pt x="2152650" y="0"/>
                </a:lnTo>
              </a:path>
            </a:pathLst>
          </a:custGeom>
          <a:noFill/>
          <a:ln w="6350">
            <a:solidFill>
              <a:srgbClr val="C8CFD8"/>
            </a:solidFill>
            <a:round/>
          </a:ln>
        </p:spPr>
        <p:txBody>
          <a:bodyPr rtlCol="0" anchor="ctr"/>
          <a:lstStyle/>
          <a:p>
            <a:pPr algn="ctr"/>
            <a:endParaRPr lang="ko-KR" dirty="0"/>
          </a:p>
        </p:txBody>
      </p:sp>
      <p:sp>
        <p:nvSpPr>
          <p:cNvPr id="40" name="chip"/>
          <p:cNvSpPr/>
          <p:nvPr/>
        </p:nvSpPr>
        <p:spPr>
          <a:xfrm>
            <a:off x="9248775" y="5604272"/>
            <a:ext cx="1304330"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41" name="chip"/>
          <p:cNvSpPr/>
          <p:nvPr/>
        </p:nvSpPr>
        <p:spPr>
          <a:xfrm>
            <a:off x="9248775" y="5909072"/>
            <a:ext cx="695722" cy="247650"/>
          </a:xfrm>
          <a:prstGeom prst="roundRect">
            <a:avLst>
              <a:gd name="adj" fmla="val 50000"/>
            </a:avLst>
          </a:prstGeom>
          <a:solidFill>
            <a:srgbClr val="FFFFFF"/>
          </a:solidFill>
          <a:ln w="6350">
            <a:solidFill>
              <a:srgbClr val="C8CFD8"/>
            </a:solidFill>
            <a:miter lim="800000"/>
          </a:ln>
        </p:spPr>
        <p:txBody>
          <a:bodyPr rtlCol="0" anchor="ctr"/>
          <a:lstStyle/>
          <a:p>
            <a:pPr algn="ctr"/>
            <a:endParaRPr lang="ko-KR" dirty="0"/>
          </a:p>
        </p:txBody>
      </p:sp>
      <p:sp>
        <p:nvSpPr>
          <p:cNvPr id="42" name="03"/>
          <p:cNvSpPr txBox="1"/>
          <p:nvPr/>
        </p:nvSpPr>
        <p:spPr>
          <a:xfrm>
            <a:off x="609600" y="401439"/>
            <a:ext cx="215900"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03</a:t>
            </a:r>
            <a:endParaRPr lang="en-US" sz="950" dirty="0"/>
          </a:p>
        </p:txBody>
      </p:sp>
      <p:sp>
        <p:nvSpPr>
          <p:cNvPr id="43" name="연구 방법"/>
          <p:cNvSpPr txBox="1"/>
          <p:nvPr/>
        </p:nvSpPr>
        <p:spPr>
          <a:xfrm>
            <a:off x="863600" y="401439"/>
            <a:ext cx="488156"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연구 방법</a:t>
            </a:r>
            <a:endParaRPr lang="en-US" sz="950" dirty="0"/>
          </a:p>
        </p:txBody>
      </p:sp>
      <p:sp>
        <p:nvSpPr>
          <p:cNvPr id="44" name="어떻게 해결했는가"/>
          <p:cNvSpPr txBox="1"/>
          <p:nvPr/>
        </p:nvSpPr>
        <p:spPr>
          <a:xfrm>
            <a:off x="1485106" y="401439"/>
            <a:ext cx="900061"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어떻게 해결했는가</a:t>
            </a:r>
            <a:endParaRPr lang="en-US" sz="950" dirty="0"/>
          </a:p>
        </p:txBody>
      </p:sp>
      <p:sp>
        <p:nvSpPr>
          <p:cNvPr id="45" name="도면 이미지만으로 객체 인식부터 BIM 생성까지전 과정을 자동화했습니다."/>
          <p:cNvSpPr txBox="1"/>
          <p:nvPr/>
        </p:nvSpPr>
        <p:spPr>
          <a:xfrm>
            <a:off x="609600" y="653852"/>
            <a:ext cx="5400681" cy="724297"/>
          </a:xfrm>
          <a:prstGeom prst="rect">
            <a:avLst/>
          </a:prstGeom>
          <a:noFill/>
          <a:ln/>
        </p:spPr>
        <p:txBody>
          <a:bodyPr wrap="none" lIns="0" tIns="0" rIns="0" bIns="0" rtlCol="0" anchor="t"/>
          <a:lstStyle/>
          <a:p>
            <a:pPr algn="l" indent="0" marL="0">
              <a:lnSpc>
                <a:spcPts val="2852"/>
              </a:lnSpc>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도면 이미지만으로 객체 인식부터 BIM 생성까지</a:t>
            </a:r>
            <a:b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전 과정을 자동화</a:t>
            </a: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했습니다.</a:t>
            </a:r>
            <a:endParaRPr lang="en-US" sz="2300" dirty="0"/>
          </a:p>
        </p:txBody>
      </p:sp>
      <p:sp>
        <p:nvSpPr>
          <p:cNvPr id="46"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01</a:t>
            </a:r>
            <a:endParaRPr lang="en-US" sz="700" dirty="0"/>
          </a:p>
        </p:txBody>
      </p:sp>
      <p:sp>
        <p:nvSpPr>
          <p:cNvPr id="47"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02</a:t>
            </a:r>
            <a:endParaRPr lang="en-US" sz="700" dirty="0"/>
          </a:p>
        </p:txBody>
      </p:sp>
      <p:sp>
        <p:nvSpPr>
          <p:cNvPr id="48"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03</a:t>
            </a:r>
            <a:endParaRPr lang="en-US" sz="700" dirty="0"/>
          </a:p>
        </p:txBody>
      </p:sp>
      <p:sp>
        <p:nvSpPr>
          <p:cNvPr id="49"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04</a:t>
            </a:r>
            <a:endParaRPr lang="en-US" sz="700" dirty="0"/>
          </a:p>
        </p:txBody>
      </p:sp>
      <p:sp>
        <p:nvSpPr>
          <p:cNvPr id="50"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51" name="도면 해석"/>
          <p:cNvSpPr txBox="1"/>
          <p:nvPr/>
        </p:nvSpPr>
        <p:spPr>
          <a:xfrm>
            <a:off x="609600" y="1645047"/>
            <a:ext cx="596503" cy="184150"/>
          </a:xfrm>
          <a:prstGeom prst="rect">
            <a:avLst/>
          </a:prstGeom>
          <a:noFill/>
          <a:ln/>
        </p:spPr>
        <p:txBody>
          <a:bodyPr wrap="none" lIns="0" tIns="0" rIns="0" bIns="0" rtlCol="0" anchor="ctr"/>
          <a:lstStyle/>
          <a:p>
            <a:pPr algn="l" indent="0" marL="0">
              <a:buNone/>
            </a:pPr>
            <a:r>
              <a:rPr lang="ko-KR" altLang="en-US" sz="1200" spc="-24" kern="0" dirty="0">
                <a:solidFill>
                  <a:srgbClr val="102A4C"/>
                </a:solidFill>
                <a:latin typeface="Pretendard ExtraBold" pitchFamily="34" charset="0"/>
                <a:ea typeface="Pretendard ExtraBold" pitchFamily="34" charset="-127"/>
                <a:cs typeface="Pretendard ExtraBold" pitchFamily="34" charset="-120"/>
              </a:rPr>
              <a:t>도면 해석</a:t>
            </a:r>
            <a:endParaRPr lang="en-US" sz="1200" dirty="0"/>
          </a:p>
        </p:txBody>
      </p:sp>
      <p:sp>
        <p:nvSpPr>
          <p:cNvPr id="52" name="3D 재구성"/>
          <p:cNvSpPr txBox="1"/>
          <p:nvPr/>
        </p:nvSpPr>
        <p:spPr>
          <a:xfrm>
            <a:off x="6248400" y="1645047"/>
            <a:ext cx="667941" cy="184150"/>
          </a:xfrm>
          <a:prstGeom prst="rect">
            <a:avLst/>
          </a:prstGeom>
          <a:noFill/>
          <a:ln/>
        </p:spPr>
        <p:txBody>
          <a:bodyPr wrap="none" lIns="0" tIns="0" rIns="0" bIns="0" rtlCol="0" anchor="ctr"/>
          <a:lstStyle/>
          <a:p>
            <a:pPr algn="l" indent="0" marL="0">
              <a:buNone/>
            </a:pPr>
            <a:r>
              <a:rPr lang="ko-KR" altLang="en-US" sz="1200" spc="-24" kern="0" dirty="0">
                <a:solidFill>
                  <a:srgbClr val="102A4C"/>
                </a:solidFill>
                <a:latin typeface="Pretendard ExtraBold" pitchFamily="34" charset="0"/>
                <a:ea typeface="Pretendard ExtraBold" pitchFamily="34" charset="-127"/>
                <a:cs typeface="Pretendard ExtraBold" pitchFamily="34" charset="-120"/>
              </a:rPr>
              <a:t>3D 재구성</a:t>
            </a:r>
            <a:endParaRPr lang="en-US" sz="1200" dirty="0"/>
          </a:p>
        </p:txBody>
      </p:sp>
      <p:sp>
        <p:nvSpPr>
          <p:cNvPr id="53" name="STEP 1"/>
          <p:cNvSpPr txBox="1"/>
          <p:nvPr/>
        </p:nvSpPr>
        <p:spPr>
          <a:xfrm>
            <a:off x="787400" y="3797697"/>
            <a:ext cx="451048" cy="120650"/>
          </a:xfrm>
          <a:prstGeom prst="rect">
            <a:avLst/>
          </a:prstGeom>
          <a:noFill/>
          <a:ln/>
        </p:spPr>
        <p:txBody>
          <a:bodyPr wrap="none" lIns="0" tIns="0" rIns="0" bIns="0" rtlCol="0" anchor="ctr"/>
          <a:lstStyle/>
          <a:p>
            <a:pPr algn="l" indent="0" marL="0">
              <a:buNone/>
            </a:pPr>
            <a:r>
              <a:rPr lang="ko-KR" altLang="en-US" sz="800" spc="96" kern="0" dirty="0">
                <a:solidFill>
                  <a:srgbClr val="2B4A78"/>
                </a:solidFill>
                <a:latin typeface="Pretendard ExtraBold" pitchFamily="34" charset="0"/>
                <a:ea typeface="Pretendard ExtraBold" pitchFamily="34" charset="-127"/>
                <a:cs typeface="Pretendard ExtraBold" pitchFamily="34" charset="-120"/>
              </a:rPr>
              <a:t>STEP 1</a:t>
            </a:r>
            <a:endParaRPr lang="en-US" sz="800" dirty="0"/>
          </a:p>
        </p:txBody>
      </p:sp>
      <p:sp>
        <p:nvSpPr>
          <p:cNvPr id="54" name="도면 이미지 입력"/>
          <p:cNvSpPr txBox="1"/>
          <p:nvPr/>
        </p:nvSpPr>
        <p:spPr>
          <a:xfrm>
            <a:off x="787400" y="3950097"/>
            <a:ext cx="1165199" cy="215900"/>
          </a:xfrm>
          <a:prstGeom prst="rect">
            <a:avLst/>
          </a:prstGeom>
          <a:noFill/>
          <a:ln/>
        </p:spPr>
        <p:txBody>
          <a:bodyPr wrap="none" lIns="0" tIns="0" rIns="0" bIns="0" rtlCol="0" anchor="ctr"/>
          <a:lstStyle/>
          <a:p>
            <a:pPr algn="l" indent="0" marL="0">
              <a:buNone/>
            </a:pPr>
            <a:r>
              <a:rPr lang="ko-KR" altLang="en-US" sz="1400" spc="-49" kern="0" dirty="0">
                <a:solidFill>
                  <a:srgbClr val="102A4C"/>
                </a:solidFill>
                <a:latin typeface="Pretendard ExtraBold" pitchFamily="34" charset="0"/>
                <a:ea typeface="Pretendard ExtraBold" pitchFamily="34" charset="-127"/>
                <a:cs typeface="Pretendard ExtraBold" pitchFamily="34" charset="-120"/>
              </a:rPr>
              <a:t>도면 이미지 입력</a:t>
            </a:r>
            <a:endParaRPr lang="en-US" sz="1400" dirty="0"/>
          </a:p>
        </p:txBody>
      </p:sp>
      <p:sp>
        <p:nvSpPr>
          <p:cNvPr id="55" name="평면도·입면도 이미지만 입력"/>
          <p:cNvSpPr txBox="1"/>
          <p:nvPr/>
        </p:nvSpPr>
        <p:spPr>
          <a:xfrm>
            <a:off x="787400" y="4235847"/>
            <a:ext cx="1373965" cy="146050"/>
          </a:xfrm>
          <a:prstGeom prst="rect">
            <a:avLst/>
          </a:prstGeom>
          <a:noFill/>
          <a:ln/>
        </p:spPr>
        <p:txBody>
          <a:bodyPr wrap="none" lIns="0" tIns="0" rIns="0" bIns="0" rtlCol="0" anchor="ctr"/>
          <a:lstStyle/>
          <a:p>
            <a:pPr algn="l" indent="0" marL="0">
              <a:buNone/>
            </a:pPr>
            <a:r>
              <a:rPr lang="ko-KR" altLang="en-US" sz="950" spc="-24" kern="0" dirty="0">
                <a:solidFill>
                  <a:srgbClr val="2B4A78"/>
                </a:solidFill>
                <a:latin typeface="Pretendard SemiBold" pitchFamily="34" charset="0"/>
                <a:ea typeface="Pretendard SemiBold" pitchFamily="34" charset="-127"/>
                <a:cs typeface="Pretendard SemiBold" pitchFamily="34" charset="-120"/>
              </a:rPr>
              <a:t>평면도·입면도 이미지만 입력</a:t>
            </a:r>
            <a:endParaRPr lang="en-US" sz="950" dirty="0"/>
          </a:p>
        </p:txBody>
      </p:sp>
      <p:sp>
        <p:nvSpPr>
          <p:cNvPr id="56" name="평면도"/>
          <p:cNvSpPr txBox="1"/>
          <p:nvPr/>
        </p:nvSpPr>
        <p:spPr>
          <a:xfrm>
            <a:off x="787400" y="4515247"/>
            <a:ext cx="311249" cy="120650"/>
          </a:xfrm>
          <a:prstGeom prst="rect">
            <a:avLst/>
          </a:prstGeom>
          <a:noFill/>
          <a:ln/>
        </p:spPr>
        <p:txBody>
          <a:bodyPr wrap="none" lIns="0" tIns="0" rIns="0" bIns="0" rtlCol="0" anchor="ctr"/>
          <a:lstStyle/>
          <a:p>
            <a:pPr algn="l" indent="0" marL="0">
              <a:buNone/>
            </a:pPr>
            <a:r>
              <a:rPr lang="ko-KR" altLang="en-US" sz="800" spc="-8" kern="0" dirty="0">
                <a:solidFill>
                  <a:srgbClr val="2B4A78"/>
                </a:solidFill>
                <a:latin typeface="Pretendard ExtraBold" pitchFamily="34" charset="0"/>
                <a:ea typeface="Pretendard ExtraBold" pitchFamily="34" charset="-127"/>
                <a:cs typeface="Pretendard ExtraBold" pitchFamily="34" charset="-120"/>
              </a:rPr>
              <a:t>평면도</a:t>
            </a:r>
            <a:endParaRPr lang="en-US" sz="800" dirty="0"/>
          </a:p>
        </p:txBody>
      </p:sp>
      <p:sp>
        <p:nvSpPr>
          <p:cNvPr id="57" name="창·문의 평면 위치 X·Y"/>
          <p:cNvSpPr txBox="1"/>
          <p:nvPr/>
        </p:nvSpPr>
        <p:spPr>
          <a:xfrm>
            <a:off x="1181100" y="4502547"/>
            <a:ext cx="1048143" cy="146050"/>
          </a:xfrm>
          <a:prstGeom prst="rect">
            <a:avLst/>
          </a:prstGeom>
          <a:noFill/>
          <a:ln/>
        </p:spPr>
        <p:txBody>
          <a:bodyPr wrap="none" lIns="0" tIns="0" rIns="0" bIns="0" rtlCol="0" anchor="ctr"/>
          <a:lstStyle/>
          <a:p>
            <a:pPr algn="l" indent="0" marL="0">
              <a:buNone/>
            </a:pPr>
            <a:r>
              <a:rPr lang="ko-KR" altLang="en-US" sz="950" spc="-28" kern="0" dirty="0">
                <a:solidFill>
                  <a:srgbClr val="3F4654"/>
                </a:solidFill>
                <a:latin typeface="Pretendard Medium" pitchFamily="34" charset="0"/>
                <a:ea typeface="Pretendard Medium" pitchFamily="34" charset="-127"/>
                <a:cs typeface="Pretendard Medium" pitchFamily="34" charset="-120"/>
              </a:rPr>
              <a:t>창·문의 평면 위치 </a:t>
            </a:r>
            <a:r>
              <a:rPr lang="ko-KR" altLang="en-US" sz="950" b="1" spc="-28" kern="0" dirty="0">
                <a:solidFill>
                  <a:srgbClr val="141820"/>
                </a:solidFill>
                <a:latin typeface="Pretendard" pitchFamily="34" charset="0"/>
                <a:ea typeface="Pretendard" pitchFamily="34" charset="-127"/>
                <a:cs typeface="Pretendard" pitchFamily="34" charset="-120"/>
              </a:rPr>
              <a:t>X·Y</a:t>
            </a:r>
            <a:endParaRPr lang="en-US" sz="950" dirty="0"/>
          </a:p>
        </p:txBody>
      </p:sp>
      <p:sp>
        <p:nvSpPr>
          <p:cNvPr id="58" name="입면도"/>
          <p:cNvSpPr txBox="1"/>
          <p:nvPr/>
        </p:nvSpPr>
        <p:spPr>
          <a:xfrm>
            <a:off x="787400" y="4743847"/>
            <a:ext cx="311249" cy="120650"/>
          </a:xfrm>
          <a:prstGeom prst="rect">
            <a:avLst/>
          </a:prstGeom>
          <a:noFill/>
          <a:ln/>
        </p:spPr>
        <p:txBody>
          <a:bodyPr wrap="none" lIns="0" tIns="0" rIns="0" bIns="0" rtlCol="0" anchor="ctr"/>
          <a:lstStyle/>
          <a:p>
            <a:pPr algn="l" indent="0" marL="0">
              <a:buNone/>
            </a:pPr>
            <a:r>
              <a:rPr lang="ko-KR" altLang="en-US" sz="800" spc="-8" kern="0" dirty="0">
                <a:solidFill>
                  <a:srgbClr val="2B4A78"/>
                </a:solidFill>
                <a:latin typeface="Pretendard ExtraBold" pitchFamily="34" charset="0"/>
                <a:ea typeface="Pretendard ExtraBold" pitchFamily="34" charset="-127"/>
                <a:cs typeface="Pretendard ExtraBold" pitchFamily="34" charset="-120"/>
              </a:rPr>
              <a:t>입면도</a:t>
            </a:r>
            <a:endParaRPr lang="en-US" sz="800" dirty="0"/>
          </a:p>
        </p:txBody>
      </p:sp>
      <p:sp>
        <p:nvSpPr>
          <p:cNvPr id="59" name="창·문이 놓인 높이 Z"/>
          <p:cNvSpPr txBox="1"/>
          <p:nvPr/>
        </p:nvSpPr>
        <p:spPr>
          <a:xfrm>
            <a:off x="1181100" y="4731147"/>
            <a:ext cx="937081" cy="146050"/>
          </a:xfrm>
          <a:prstGeom prst="rect">
            <a:avLst/>
          </a:prstGeom>
          <a:noFill/>
          <a:ln/>
        </p:spPr>
        <p:txBody>
          <a:bodyPr wrap="none" lIns="0" tIns="0" rIns="0" bIns="0" rtlCol="0" anchor="ctr"/>
          <a:lstStyle/>
          <a:p>
            <a:pPr algn="l" indent="0" marL="0">
              <a:buNone/>
            </a:pPr>
            <a:r>
              <a:rPr lang="ko-KR" altLang="en-US" sz="950" spc="-28" kern="0" dirty="0">
                <a:solidFill>
                  <a:srgbClr val="3F4654"/>
                </a:solidFill>
                <a:latin typeface="Pretendard Medium" pitchFamily="34" charset="0"/>
                <a:ea typeface="Pretendard Medium" pitchFamily="34" charset="-127"/>
                <a:cs typeface="Pretendard Medium" pitchFamily="34" charset="-120"/>
              </a:rPr>
              <a:t>창·문이 놓인 높이 </a:t>
            </a:r>
            <a:r>
              <a:rPr lang="ko-KR" altLang="en-US" sz="950" b="1" spc="-28" kern="0" dirty="0">
                <a:solidFill>
                  <a:srgbClr val="141820"/>
                </a:solidFill>
                <a:latin typeface="Pretendard" pitchFamily="34" charset="0"/>
                <a:ea typeface="Pretendard" pitchFamily="34" charset="-127"/>
                <a:cs typeface="Pretendard" pitchFamily="34" charset="-120"/>
              </a:rPr>
              <a:t>Z</a:t>
            </a:r>
            <a:endParaRPr lang="en-US" sz="950" dirty="0"/>
          </a:p>
        </p:txBody>
      </p:sp>
      <p:sp>
        <p:nvSpPr>
          <p:cNvPr id="60" name="입력 형식"/>
          <p:cNvSpPr txBox="1"/>
          <p:nvPr/>
        </p:nvSpPr>
        <p:spPr>
          <a:xfrm>
            <a:off x="787400" y="5435997"/>
            <a:ext cx="445790" cy="120650"/>
          </a:xfrm>
          <a:prstGeom prst="rect">
            <a:avLst/>
          </a:prstGeom>
          <a:noFill/>
          <a:ln/>
        </p:spPr>
        <p:txBody>
          <a:bodyPr wrap="none" lIns="0" tIns="0" rIns="0" bIns="0" rtlCol="0" anchor="ctr"/>
          <a:lstStyle/>
          <a:p>
            <a:pPr algn="l" indent="0" marL="0">
              <a:buNone/>
            </a:pPr>
            <a:r>
              <a:rPr lang="ko-KR" altLang="en-US" sz="800" b="1" spc="32" kern="0" dirty="0">
                <a:solidFill>
                  <a:srgbClr val="737C8B"/>
                </a:solidFill>
                <a:latin typeface="Pretendard" pitchFamily="34" charset="0"/>
                <a:ea typeface="Pretendard" pitchFamily="34" charset="-127"/>
                <a:cs typeface="Pretendard" pitchFamily="34" charset="-120"/>
              </a:rPr>
              <a:t>입력 형식</a:t>
            </a:r>
            <a:endParaRPr lang="en-US" sz="800" dirty="0"/>
          </a:p>
        </p:txBody>
      </p:sp>
      <p:sp>
        <p:nvSpPr>
          <p:cNvPr id="61" name="래스터 이미지"/>
          <p:cNvSpPr txBox="1"/>
          <p:nvPr/>
        </p:nvSpPr>
        <p:spPr>
          <a:xfrm>
            <a:off x="895350" y="5653286"/>
            <a:ext cx="687388"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래스터 이미지</a:t>
            </a:r>
            <a:endParaRPr lang="en-US" sz="950" dirty="0"/>
          </a:p>
        </p:txBody>
      </p:sp>
      <p:sp>
        <p:nvSpPr>
          <p:cNvPr id="62" name="(픽셀 기반)"/>
          <p:cNvSpPr txBox="1"/>
          <p:nvPr/>
        </p:nvSpPr>
        <p:spPr>
          <a:xfrm>
            <a:off x="1557338" y="5653286"/>
            <a:ext cx="566738" cy="146050"/>
          </a:xfrm>
          <a:prstGeom prst="rect">
            <a:avLst/>
          </a:prstGeom>
          <a:noFill/>
          <a:ln/>
        </p:spPr>
        <p:txBody>
          <a:bodyPr wrap="none" lIns="0" tIns="0" rIns="0" bIns="0" rtlCol="0" anchor="ctr"/>
          <a:lstStyle/>
          <a:p>
            <a:pPr algn="l" indent="0" marL="0">
              <a:buNone/>
            </a:pPr>
            <a:r>
              <a:rPr lang="ko-KR" altLang="en-US" sz="950" spc="-19" kern="0" dirty="0">
                <a:solidFill>
                  <a:srgbClr val="3F4654"/>
                </a:solidFill>
                <a:latin typeface="Pretendard Medium" pitchFamily="34" charset="0"/>
                <a:ea typeface="Pretendard Medium" pitchFamily="34" charset="-127"/>
                <a:cs typeface="Pretendard Medium" pitchFamily="34" charset="-120"/>
              </a:rPr>
              <a:t>(픽셀 기반)</a:t>
            </a:r>
            <a:endParaRPr lang="en-US" sz="950" dirty="0"/>
          </a:p>
        </p:txBody>
      </p:sp>
      <p:sp>
        <p:nvSpPr>
          <p:cNvPr id="63" name="STEP 2"/>
          <p:cNvSpPr txBox="1"/>
          <p:nvPr/>
        </p:nvSpPr>
        <p:spPr>
          <a:xfrm>
            <a:off x="3606800" y="3797697"/>
            <a:ext cx="465237" cy="120650"/>
          </a:xfrm>
          <a:prstGeom prst="rect">
            <a:avLst/>
          </a:prstGeom>
          <a:noFill/>
          <a:ln/>
        </p:spPr>
        <p:txBody>
          <a:bodyPr wrap="none" lIns="0" tIns="0" rIns="0" bIns="0" rtlCol="0" anchor="ctr"/>
          <a:lstStyle/>
          <a:p>
            <a:pPr algn="l" indent="0" marL="0">
              <a:buNone/>
            </a:pPr>
            <a:r>
              <a:rPr lang="ko-KR" altLang="en-US" sz="800" spc="96" kern="0" dirty="0">
                <a:solidFill>
                  <a:srgbClr val="2B4A78"/>
                </a:solidFill>
                <a:latin typeface="Pretendard ExtraBold" pitchFamily="34" charset="0"/>
                <a:ea typeface="Pretendard ExtraBold" pitchFamily="34" charset="-127"/>
                <a:cs typeface="Pretendard ExtraBold" pitchFamily="34" charset="-120"/>
              </a:rPr>
              <a:t>STEP 2</a:t>
            </a:r>
            <a:endParaRPr lang="en-US" sz="800" dirty="0"/>
          </a:p>
        </p:txBody>
      </p:sp>
      <p:sp>
        <p:nvSpPr>
          <p:cNvPr id="64" name="객체 인식"/>
          <p:cNvSpPr txBox="1"/>
          <p:nvPr/>
        </p:nvSpPr>
        <p:spPr>
          <a:xfrm>
            <a:off x="3606800" y="3950097"/>
            <a:ext cx="674191" cy="215900"/>
          </a:xfrm>
          <a:prstGeom prst="rect">
            <a:avLst/>
          </a:prstGeom>
          <a:noFill/>
          <a:ln/>
        </p:spPr>
        <p:txBody>
          <a:bodyPr wrap="none" lIns="0" tIns="0" rIns="0" bIns="0" rtlCol="0" anchor="ctr"/>
          <a:lstStyle/>
          <a:p>
            <a:pPr algn="l" indent="0" marL="0">
              <a:buNone/>
            </a:pPr>
            <a:r>
              <a:rPr lang="ko-KR" altLang="en-US" sz="1400" spc="-49" kern="0" dirty="0">
                <a:solidFill>
                  <a:srgbClr val="102A4C"/>
                </a:solidFill>
                <a:latin typeface="Pretendard ExtraBold" pitchFamily="34" charset="0"/>
                <a:ea typeface="Pretendard ExtraBold" pitchFamily="34" charset="-127"/>
                <a:cs typeface="Pretendard ExtraBold" pitchFamily="34" charset="-120"/>
              </a:rPr>
              <a:t>객체 인식</a:t>
            </a:r>
            <a:endParaRPr lang="en-US" sz="1400" dirty="0"/>
          </a:p>
        </p:txBody>
      </p:sp>
      <p:sp>
        <p:nvSpPr>
          <p:cNvPr id="65" name="도면 속 벽·창문·문 인식"/>
          <p:cNvSpPr txBox="1"/>
          <p:nvPr/>
        </p:nvSpPr>
        <p:spPr>
          <a:xfrm>
            <a:off x="3606800" y="4235847"/>
            <a:ext cx="1110825" cy="146050"/>
          </a:xfrm>
          <a:prstGeom prst="rect">
            <a:avLst/>
          </a:prstGeom>
          <a:noFill/>
          <a:ln/>
        </p:spPr>
        <p:txBody>
          <a:bodyPr wrap="none" lIns="0" tIns="0" rIns="0" bIns="0" rtlCol="0" anchor="ctr"/>
          <a:lstStyle/>
          <a:p>
            <a:pPr algn="l" indent="0" marL="0">
              <a:buNone/>
            </a:pPr>
            <a:r>
              <a:rPr lang="ko-KR" altLang="en-US" sz="950" spc="-24" kern="0" dirty="0">
                <a:solidFill>
                  <a:srgbClr val="2B4A78"/>
                </a:solidFill>
                <a:latin typeface="Pretendard SemiBold" pitchFamily="34" charset="0"/>
                <a:ea typeface="Pretendard SemiBold" pitchFamily="34" charset="-127"/>
                <a:cs typeface="Pretendard SemiBold" pitchFamily="34" charset="-120"/>
              </a:rPr>
              <a:t>도면 속 벽·창문·문 인식</a:t>
            </a:r>
            <a:endParaRPr lang="en-US" sz="950" dirty="0"/>
          </a:p>
        </p:txBody>
      </p:sp>
      <p:sp>
        <p:nvSpPr>
          <p:cNvPr id="66" name="평면도"/>
          <p:cNvSpPr txBox="1"/>
          <p:nvPr/>
        </p:nvSpPr>
        <p:spPr>
          <a:xfrm>
            <a:off x="3606800" y="4515247"/>
            <a:ext cx="311249" cy="120650"/>
          </a:xfrm>
          <a:prstGeom prst="rect">
            <a:avLst/>
          </a:prstGeom>
          <a:noFill/>
          <a:ln/>
        </p:spPr>
        <p:txBody>
          <a:bodyPr wrap="none" lIns="0" tIns="0" rIns="0" bIns="0" rtlCol="0" anchor="ctr"/>
          <a:lstStyle/>
          <a:p>
            <a:pPr algn="l" indent="0" marL="0">
              <a:buNone/>
            </a:pPr>
            <a:r>
              <a:rPr lang="ko-KR" altLang="en-US" sz="800" spc="-8" kern="0" dirty="0">
                <a:solidFill>
                  <a:srgbClr val="2B4A78"/>
                </a:solidFill>
                <a:latin typeface="Pretendard ExtraBold" pitchFamily="34" charset="0"/>
                <a:ea typeface="Pretendard ExtraBold" pitchFamily="34" charset="-127"/>
                <a:cs typeface="Pretendard ExtraBold" pitchFamily="34" charset="-120"/>
              </a:rPr>
              <a:t>평면도</a:t>
            </a:r>
            <a:endParaRPr lang="en-US" sz="800" dirty="0"/>
          </a:p>
        </p:txBody>
      </p:sp>
      <p:sp>
        <p:nvSpPr>
          <p:cNvPr id="67" name="외벽 창·문을 동·서·남·북방향별로 정리"/>
          <p:cNvSpPr txBox="1"/>
          <p:nvPr/>
        </p:nvSpPr>
        <p:spPr>
          <a:xfrm>
            <a:off x="4000500" y="4470797"/>
            <a:ext cx="1134594" cy="355600"/>
          </a:xfrm>
          <a:prstGeom prst="rect">
            <a:avLst/>
          </a:prstGeom>
          <a:noFill/>
          <a:ln/>
        </p:spPr>
        <p:txBody>
          <a:bodyPr wrap="none" lIns="0" tIns="0" rIns="0" bIns="0" rtlCol="0" anchor="t"/>
          <a:lstStyle/>
          <a:p>
            <a:pPr algn="l" indent="0" marL="0">
              <a:lnSpc>
                <a:spcPts val="1400"/>
              </a:lnSpc>
              <a:buNone/>
            </a:pPr>
            <a:r>
              <a:rPr lang="ko-KR" altLang="en-US" sz="950" spc="-28" kern="0" dirty="0">
                <a:solidFill>
                  <a:srgbClr val="3F4654"/>
                </a:solidFill>
                <a:latin typeface="Pretendard Medium" pitchFamily="34" charset="0"/>
                <a:ea typeface="Pretendard Medium" pitchFamily="34" charset="-127"/>
                <a:cs typeface="Pretendard Medium" pitchFamily="34" charset="-120"/>
              </a:rPr>
              <a:t>외벽 창·문을 동·서·남·북</a:t>
            </a:r>
            <a:br/>
            <a:r>
              <a:rPr lang="ko-KR" altLang="en-US" sz="950" b="1" spc="-28" kern="0" dirty="0">
                <a:solidFill>
                  <a:srgbClr val="141820"/>
                </a:solidFill>
                <a:latin typeface="Pretendard" pitchFamily="34" charset="0"/>
                <a:ea typeface="Pretendard" pitchFamily="34" charset="-127"/>
                <a:cs typeface="Pretendard" pitchFamily="34" charset="-120"/>
              </a:rPr>
              <a:t>방향별로 정리</a:t>
            </a:r>
            <a:endParaRPr lang="en-US" sz="950" dirty="0"/>
          </a:p>
        </p:txBody>
      </p:sp>
      <p:sp>
        <p:nvSpPr>
          <p:cNvPr id="68" name="입면도"/>
          <p:cNvSpPr txBox="1"/>
          <p:nvPr/>
        </p:nvSpPr>
        <p:spPr>
          <a:xfrm>
            <a:off x="3606800" y="4921647"/>
            <a:ext cx="311249" cy="120650"/>
          </a:xfrm>
          <a:prstGeom prst="rect">
            <a:avLst/>
          </a:prstGeom>
          <a:noFill/>
          <a:ln/>
        </p:spPr>
        <p:txBody>
          <a:bodyPr wrap="none" lIns="0" tIns="0" rIns="0" bIns="0" rtlCol="0" anchor="ctr"/>
          <a:lstStyle/>
          <a:p>
            <a:pPr algn="l" indent="0" marL="0">
              <a:buNone/>
            </a:pPr>
            <a:r>
              <a:rPr lang="ko-KR" altLang="en-US" sz="800" spc="-8" kern="0" dirty="0">
                <a:solidFill>
                  <a:srgbClr val="2B4A78"/>
                </a:solidFill>
                <a:latin typeface="Pretendard ExtraBold" pitchFamily="34" charset="0"/>
                <a:ea typeface="Pretendard ExtraBold" pitchFamily="34" charset="-127"/>
                <a:cs typeface="Pretendard ExtraBold" pitchFamily="34" charset="-120"/>
              </a:rPr>
              <a:t>입면도</a:t>
            </a:r>
            <a:endParaRPr lang="en-US" sz="800" dirty="0"/>
          </a:p>
        </p:txBody>
      </p:sp>
      <p:sp>
        <p:nvSpPr>
          <p:cNvPr id="69" name="같은 층 창·문끼리 묶어층 높이 파악"/>
          <p:cNvSpPr txBox="1"/>
          <p:nvPr/>
        </p:nvSpPr>
        <p:spPr>
          <a:xfrm>
            <a:off x="4000500" y="4877197"/>
            <a:ext cx="1072332" cy="355600"/>
          </a:xfrm>
          <a:prstGeom prst="rect">
            <a:avLst/>
          </a:prstGeom>
          <a:noFill/>
          <a:ln/>
        </p:spPr>
        <p:txBody>
          <a:bodyPr wrap="none" lIns="0" tIns="0" rIns="0" bIns="0" rtlCol="0" anchor="t"/>
          <a:lstStyle/>
          <a:p>
            <a:pPr algn="l" indent="0" marL="0">
              <a:lnSpc>
                <a:spcPts val="1400"/>
              </a:lnSpc>
              <a:buNone/>
            </a:pPr>
            <a:r>
              <a:rPr lang="ko-KR" altLang="en-US" sz="950" spc="-28" kern="0" dirty="0">
                <a:solidFill>
                  <a:srgbClr val="3F4654"/>
                </a:solidFill>
                <a:latin typeface="Pretendard Medium" pitchFamily="34" charset="0"/>
                <a:ea typeface="Pretendard Medium" pitchFamily="34" charset="-127"/>
                <a:cs typeface="Pretendard Medium" pitchFamily="34" charset="-120"/>
              </a:rPr>
              <a:t>같은 층 창·문끼리 묶어</a:t>
            </a:r>
            <a:br/>
            <a:r>
              <a:rPr lang="ko-KR" altLang="en-US" sz="950" b="1" spc="-28" kern="0" dirty="0">
                <a:solidFill>
                  <a:srgbClr val="141820"/>
                </a:solidFill>
                <a:latin typeface="Pretendard" pitchFamily="34" charset="0"/>
                <a:ea typeface="Pretendard" pitchFamily="34" charset="-127"/>
                <a:cs typeface="Pretendard" pitchFamily="34" charset="-120"/>
              </a:rPr>
              <a:t>층 높이 파악</a:t>
            </a:r>
            <a:endParaRPr lang="en-US" sz="950" dirty="0"/>
          </a:p>
        </p:txBody>
      </p:sp>
      <p:sp>
        <p:nvSpPr>
          <p:cNvPr id="70" name="핵심 기법"/>
          <p:cNvSpPr txBox="1"/>
          <p:nvPr/>
        </p:nvSpPr>
        <p:spPr>
          <a:xfrm>
            <a:off x="3606800" y="5435997"/>
            <a:ext cx="445790" cy="120650"/>
          </a:xfrm>
          <a:prstGeom prst="rect">
            <a:avLst/>
          </a:prstGeom>
          <a:noFill/>
          <a:ln/>
        </p:spPr>
        <p:txBody>
          <a:bodyPr wrap="none" lIns="0" tIns="0" rIns="0" bIns="0" rtlCol="0" anchor="ctr"/>
          <a:lstStyle/>
          <a:p>
            <a:pPr algn="l" indent="0" marL="0">
              <a:buNone/>
            </a:pPr>
            <a:r>
              <a:rPr lang="ko-KR" altLang="en-US" sz="800" b="1" spc="32" kern="0" dirty="0">
                <a:solidFill>
                  <a:srgbClr val="737C8B"/>
                </a:solidFill>
                <a:latin typeface="Pretendard" pitchFamily="34" charset="0"/>
                <a:ea typeface="Pretendard" pitchFamily="34" charset="-127"/>
                <a:cs typeface="Pretendard" pitchFamily="34" charset="-120"/>
              </a:rPr>
              <a:t>핵심 기법</a:t>
            </a:r>
            <a:endParaRPr lang="en-US" sz="800" dirty="0"/>
          </a:p>
        </p:txBody>
      </p:sp>
      <p:sp>
        <p:nvSpPr>
          <p:cNvPr id="71" name="YOLO + SAHI"/>
          <p:cNvSpPr txBox="1"/>
          <p:nvPr/>
        </p:nvSpPr>
        <p:spPr>
          <a:xfrm>
            <a:off x="3714750" y="5653286"/>
            <a:ext cx="761206"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YOLO + SAHI</a:t>
            </a:r>
            <a:endParaRPr lang="en-US" sz="950" dirty="0"/>
          </a:p>
        </p:txBody>
      </p:sp>
      <p:sp>
        <p:nvSpPr>
          <p:cNvPr id="72" name="(작은 객체 분할 추론)"/>
          <p:cNvSpPr txBox="1"/>
          <p:nvPr/>
        </p:nvSpPr>
        <p:spPr>
          <a:xfrm>
            <a:off x="4450556" y="5653286"/>
            <a:ext cx="1036153" cy="146050"/>
          </a:xfrm>
          <a:prstGeom prst="rect">
            <a:avLst/>
          </a:prstGeom>
          <a:noFill/>
          <a:ln/>
        </p:spPr>
        <p:txBody>
          <a:bodyPr wrap="none" lIns="0" tIns="0" rIns="0" bIns="0" rtlCol="0" anchor="ctr"/>
          <a:lstStyle/>
          <a:p>
            <a:pPr algn="l" indent="0" marL="0">
              <a:buNone/>
            </a:pPr>
            <a:r>
              <a:rPr lang="ko-KR" altLang="en-US" sz="950" spc="-19" kern="0" dirty="0">
                <a:solidFill>
                  <a:srgbClr val="3F4654"/>
                </a:solidFill>
                <a:latin typeface="Pretendard Medium" pitchFamily="34" charset="0"/>
                <a:ea typeface="Pretendard Medium" pitchFamily="34" charset="-127"/>
                <a:cs typeface="Pretendard Medium" pitchFamily="34" charset="-120"/>
              </a:rPr>
              <a:t>(작은 객체 분할 추론)</a:t>
            </a:r>
            <a:endParaRPr lang="en-US" sz="950" dirty="0"/>
          </a:p>
        </p:txBody>
      </p:sp>
      <p:sp>
        <p:nvSpPr>
          <p:cNvPr id="73" name="DBSCAN 층별 클러스터링"/>
          <p:cNvSpPr txBox="1"/>
          <p:nvPr/>
        </p:nvSpPr>
        <p:spPr>
          <a:xfrm>
            <a:off x="3714750" y="5958086"/>
            <a:ext cx="1319381"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DBSCAN 층별 클러스터링</a:t>
            </a:r>
            <a:endParaRPr lang="en-US" sz="950" dirty="0"/>
          </a:p>
        </p:txBody>
      </p:sp>
      <p:sp>
        <p:nvSpPr>
          <p:cNvPr id="74" name="STEP 3"/>
          <p:cNvSpPr txBox="1"/>
          <p:nvPr/>
        </p:nvSpPr>
        <p:spPr>
          <a:xfrm>
            <a:off x="6426200" y="3797697"/>
            <a:ext cx="468114" cy="120650"/>
          </a:xfrm>
          <a:prstGeom prst="rect">
            <a:avLst/>
          </a:prstGeom>
          <a:noFill/>
          <a:ln/>
        </p:spPr>
        <p:txBody>
          <a:bodyPr wrap="none" lIns="0" tIns="0" rIns="0" bIns="0" rtlCol="0" anchor="ctr"/>
          <a:lstStyle/>
          <a:p>
            <a:pPr algn="l" indent="0" marL="0">
              <a:buNone/>
            </a:pPr>
            <a:r>
              <a:rPr lang="ko-KR" altLang="en-US" sz="800" spc="96" kern="0" dirty="0">
                <a:solidFill>
                  <a:srgbClr val="2B4A78"/>
                </a:solidFill>
                <a:latin typeface="Pretendard ExtraBold" pitchFamily="34" charset="0"/>
                <a:ea typeface="Pretendard ExtraBold" pitchFamily="34" charset="-127"/>
                <a:cs typeface="Pretendard ExtraBold" pitchFamily="34" charset="-120"/>
              </a:rPr>
              <a:t>STEP 3</a:t>
            </a:r>
            <a:endParaRPr lang="en-US" sz="800" dirty="0"/>
          </a:p>
        </p:txBody>
      </p:sp>
      <p:sp>
        <p:nvSpPr>
          <p:cNvPr id="75" name="대응 객체 매칭"/>
          <p:cNvSpPr txBox="1"/>
          <p:nvPr/>
        </p:nvSpPr>
        <p:spPr>
          <a:xfrm>
            <a:off x="6426200" y="3950097"/>
            <a:ext cx="1008914" cy="215900"/>
          </a:xfrm>
          <a:prstGeom prst="rect">
            <a:avLst/>
          </a:prstGeom>
          <a:noFill/>
          <a:ln/>
        </p:spPr>
        <p:txBody>
          <a:bodyPr wrap="none" lIns="0" tIns="0" rIns="0" bIns="0" rtlCol="0" anchor="ctr"/>
          <a:lstStyle/>
          <a:p>
            <a:pPr algn="l" indent="0" marL="0">
              <a:buNone/>
            </a:pPr>
            <a:r>
              <a:rPr lang="ko-KR" altLang="en-US" sz="1400" spc="-49" kern="0" dirty="0">
                <a:solidFill>
                  <a:srgbClr val="102A4C"/>
                </a:solidFill>
                <a:latin typeface="Pretendard ExtraBold" pitchFamily="34" charset="0"/>
                <a:ea typeface="Pretendard ExtraBold" pitchFamily="34" charset="-127"/>
                <a:cs typeface="Pretendard ExtraBold" pitchFamily="34" charset="-120"/>
              </a:rPr>
              <a:t>대응 객체 매칭</a:t>
            </a:r>
            <a:endParaRPr lang="en-US" sz="1400" dirty="0"/>
          </a:p>
        </p:txBody>
      </p:sp>
      <p:sp>
        <p:nvSpPr>
          <p:cNvPr id="76" name="평면도·입면도의 같은 객체끼리 짝짓기"/>
          <p:cNvSpPr txBox="1"/>
          <p:nvPr/>
        </p:nvSpPr>
        <p:spPr>
          <a:xfrm>
            <a:off x="6426200" y="4235847"/>
            <a:ext cx="1830516" cy="146050"/>
          </a:xfrm>
          <a:prstGeom prst="rect">
            <a:avLst/>
          </a:prstGeom>
          <a:noFill/>
          <a:ln/>
        </p:spPr>
        <p:txBody>
          <a:bodyPr wrap="none" lIns="0" tIns="0" rIns="0" bIns="0" rtlCol="0" anchor="ctr"/>
          <a:lstStyle/>
          <a:p>
            <a:pPr algn="l" indent="0" marL="0">
              <a:buNone/>
            </a:pPr>
            <a:r>
              <a:rPr lang="ko-KR" altLang="en-US" sz="950" spc="-24" kern="0" dirty="0">
                <a:solidFill>
                  <a:srgbClr val="2B4A78"/>
                </a:solidFill>
                <a:latin typeface="Pretendard SemiBold" pitchFamily="34" charset="0"/>
                <a:ea typeface="Pretendard SemiBold" pitchFamily="34" charset="-127"/>
                <a:cs typeface="Pretendard SemiBold" pitchFamily="34" charset="-120"/>
              </a:rPr>
              <a:t>평면도·입면도의 같은 객체끼리 짝짓기</a:t>
            </a:r>
            <a:endParaRPr lang="en-US" sz="950" dirty="0"/>
          </a:p>
        </p:txBody>
      </p:sp>
      <p:sp>
        <p:nvSpPr>
          <p:cNvPr id="77" name="축척"/>
          <p:cNvSpPr txBox="1"/>
          <p:nvPr/>
        </p:nvSpPr>
        <p:spPr>
          <a:xfrm>
            <a:off x="6426200" y="4515247"/>
            <a:ext cx="224433" cy="120650"/>
          </a:xfrm>
          <a:prstGeom prst="rect">
            <a:avLst/>
          </a:prstGeom>
          <a:noFill/>
          <a:ln/>
        </p:spPr>
        <p:txBody>
          <a:bodyPr wrap="none" lIns="0" tIns="0" rIns="0" bIns="0" rtlCol="0" anchor="ctr"/>
          <a:lstStyle/>
          <a:p>
            <a:pPr algn="l" indent="0" marL="0">
              <a:buNone/>
            </a:pPr>
            <a:r>
              <a:rPr lang="ko-KR" altLang="en-US" sz="800" spc="-8" kern="0" dirty="0">
                <a:solidFill>
                  <a:srgbClr val="2B4A78"/>
                </a:solidFill>
                <a:latin typeface="Pretendard ExtraBold" pitchFamily="34" charset="0"/>
                <a:ea typeface="Pretendard ExtraBold" pitchFamily="34" charset="-127"/>
                <a:cs typeface="Pretendard ExtraBold" pitchFamily="34" charset="-120"/>
              </a:rPr>
              <a:t>축척</a:t>
            </a:r>
            <a:endParaRPr lang="en-US" sz="800" dirty="0"/>
          </a:p>
        </p:txBody>
      </p:sp>
      <p:sp>
        <p:nvSpPr>
          <p:cNvPr id="78" name="LMM(GPT-4o)이 축척을 읽어픽셀 → 실제 길이 환산"/>
          <p:cNvSpPr txBox="1"/>
          <p:nvPr/>
        </p:nvSpPr>
        <p:spPr>
          <a:xfrm>
            <a:off x="6819900" y="4470797"/>
            <a:ext cx="1483765" cy="355600"/>
          </a:xfrm>
          <a:prstGeom prst="rect">
            <a:avLst/>
          </a:prstGeom>
          <a:noFill/>
          <a:ln/>
        </p:spPr>
        <p:txBody>
          <a:bodyPr wrap="none" lIns="0" tIns="0" rIns="0" bIns="0" rtlCol="0" anchor="t"/>
          <a:lstStyle/>
          <a:p>
            <a:pPr algn="l" indent="0" marL="0">
              <a:lnSpc>
                <a:spcPts val="1400"/>
              </a:lnSpc>
              <a:buNone/>
            </a:pPr>
            <a:r>
              <a:rPr lang="ko-KR" altLang="en-US" sz="950" spc="-28" kern="0" dirty="0">
                <a:solidFill>
                  <a:srgbClr val="3F4654"/>
                </a:solidFill>
                <a:latin typeface="Pretendard Medium" pitchFamily="34" charset="0"/>
                <a:ea typeface="Pretendard Medium" pitchFamily="34" charset="-127"/>
                <a:cs typeface="Pretendard Medium" pitchFamily="34" charset="-120"/>
              </a:rPr>
              <a:t>LMM(GPT-4o)이 축척을 읽어</a:t>
            </a:r>
            <a:br/>
            <a:r>
              <a:rPr lang="ko-KR" altLang="en-US" sz="950" b="1" spc="-28" kern="0" dirty="0">
                <a:solidFill>
                  <a:srgbClr val="141820"/>
                </a:solidFill>
                <a:latin typeface="Pretendard" pitchFamily="34" charset="0"/>
                <a:ea typeface="Pretendard" pitchFamily="34" charset="-127"/>
                <a:cs typeface="Pretendard" pitchFamily="34" charset="-120"/>
              </a:rPr>
              <a:t>픽셀 → 실제 길이</a:t>
            </a:r>
            <a:r>
              <a:rPr lang="ko-KR" altLang="en-US" sz="950" spc="-28" kern="0" dirty="0">
                <a:solidFill>
                  <a:srgbClr val="3F4654"/>
                </a:solidFill>
                <a:latin typeface="Pretendard Medium" pitchFamily="34" charset="0"/>
                <a:ea typeface="Pretendard Medium" pitchFamily="34" charset="-127"/>
                <a:cs typeface="Pretendard Medium" pitchFamily="34" charset="-120"/>
              </a:rPr>
              <a:t> 환산</a:t>
            </a:r>
            <a:endParaRPr lang="en-US" sz="950" dirty="0"/>
          </a:p>
        </p:txBody>
      </p:sp>
      <p:sp>
        <p:nvSpPr>
          <p:cNvPr id="79" name="1 px = 33.88 mm 예시"/>
          <p:cNvSpPr txBox="1"/>
          <p:nvPr/>
        </p:nvSpPr>
        <p:spPr>
          <a:xfrm>
            <a:off x="6819900" y="4858147"/>
            <a:ext cx="1187916" cy="146050"/>
          </a:xfrm>
          <a:prstGeom prst="rect">
            <a:avLst/>
          </a:prstGeom>
          <a:noFill/>
          <a:ln/>
        </p:spPr>
        <p:txBody>
          <a:bodyPr wrap="none" lIns="0" tIns="0" rIns="0" bIns="0" rtlCol="0" anchor="ctr"/>
          <a:lstStyle/>
          <a:p>
            <a:pPr algn="l" indent="0" marL="0">
              <a:buNone/>
            </a:pPr>
            <a:r>
              <a:rPr lang="ko-KR" altLang="en-US" sz="950" b="1" spc="-10" kern="0" dirty="0">
                <a:solidFill>
                  <a:srgbClr val="102A4C"/>
                </a:solidFill>
                <a:latin typeface="Pretendard" pitchFamily="34" charset="0"/>
                <a:ea typeface="Pretendard" pitchFamily="34" charset="-127"/>
                <a:cs typeface="Pretendard" pitchFamily="34" charset="-120"/>
              </a:rPr>
              <a:t>1 px = 33.88 mm </a:t>
            </a:r>
            <a:r>
              <a:rPr lang="ko-KR" altLang="en-US" sz="800" spc="-28" kern="0" dirty="0">
                <a:solidFill>
                  <a:srgbClr val="737C8B"/>
                </a:solidFill>
                <a:latin typeface="Pretendard SemiBold" pitchFamily="34" charset="0"/>
                <a:ea typeface="Pretendard SemiBold" pitchFamily="34" charset="-127"/>
                <a:cs typeface="Pretendard SemiBold" pitchFamily="34" charset="-120"/>
              </a:rPr>
              <a:t>예시</a:t>
            </a:r>
            <a:endParaRPr lang="en-US" sz="950" dirty="0"/>
          </a:p>
        </p:txBody>
      </p:sp>
      <p:sp>
        <p:nvSpPr>
          <p:cNvPr id="80" name="매칭"/>
          <p:cNvSpPr txBox="1"/>
          <p:nvPr/>
        </p:nvSpPr>
        <p:spPr>
          <a:xfrm>
            <a:off x="6426200" y="5105797"/>
            <a:ext cx="224433" cy="120650"/>
          </a:xfrm>
          <a:prstGeom prst="rect">
            <a:avLst/>
          </a:prstGeom>
          <a:noFill/>
          <a:ln/>
        </p:spPr>
        <p:txBody>
          <a:bodyPr wrap="none" lIns="0" tIns="0" rIns="0" bIns="0" rtlCol="0" anchor="ctr"/>
          <a:lstStyle/>
          <a:p>
            <a:pPr algn="l" indent="0" marL="0">
              <a:buNone/>
            </a:pPr>
            <a:r>
              <a:rPr lang="ko-KR" altLang="en-US" sz="800" spc="-8" kern="0" dirty="0">
                <a:solidFill>
                  <a:srgbClr val="2B4A78"/>
                </a:solidFill>
                <a:latin typeface="Pretendard ExtraBold" pitchFamily="34" charset="0"/>
                <a:ea typeface="Pretendard ExtraBold" pitchFamily="34" charset="-127"/>
                <a:cs typeface="Pretendard ExtraBold" pitchFamily="34" charset="-120"/>
              </a:rPr>
              <a:t>매칭</a:t>
            </a:r>
            <a:endParaRPr lang="en-US" sz="800" dirty="0"/>
          </a:p>
        </p:txBody>
      </p:sp>
      <p:sp>
        <p:nvSpPr>
          <p:cNvPr id="81" name="X·Y + Z → 3차원 위치 확정"/>
          <p:cNvSpPr txBox="1"/>
          <p:nvPr/>
        </p:nvSpPr>
        <p:spPr>
          <a:xfrm>
            <a:off x="6819900" y="5093097"/>
            <a:ext cx="1319066" cy="146050"/>
          </a:xfrm>
          <a:prstGeom prst="rect">
            <a:avLst/>
          </a:prstGeom>
          <a:noFill/>
          <a:ln/>
        </p:spPr>
        <p:txBody>
          <a:bodyPr wrap="none" lIns="0" tIns="0" rIns="0" bIns="0" rtlCol="0" anchor="ctr"/>
          <a:lstStyle/>
          <a:p>
            <a:pPr algn="l" indent="0" marL="0">
              <a:buNone/>
            </a:pPr>
            <a:r>
              <a:rPr lang="ko-KR" altLang="en-US" sz="950" spc="-28" kern="0" dirty="0">
                <a:solidFill>
                  <a:srgbClr val="3F4654"/>
                </a:solidFill>
                <a:latin typeface="Pretendard Medium" pitchFamily="34" charset="0"/>
                <a:ea typeface="Pretendard Medium" pitchFamily="34" charset="-127"/>
                <a:cs typeface="Pretendard Medium" pitchFamily="34" charset="-120"/>
              </a:rPr>
              <a:t>X·Y + Z → </a:t>
            </a:r>
            <a:r>
              <a:rPr lang="ko-KR" altLang="en-US" sz="950" b="1" spc="-28" kern="0" dirty="0">
                <a:solidFill>
                  <a:srgbClr val="141820"/>
                </a:solidFill>
                <a:latin typeface="Pretendard" pitchFamily="34" charset="0"/>
                <a:ea typeface="Pretendard" pitchFamily="34" charset="-127"/>
                <a:cs typeface="Pretendard" pitchFamily="34" charset="-120"/>
              </a:rPr>
              <a:t>3차원 위치 확정</a:t>
            </a:r>
            <a:endParaRPr lang="en-US" sz="950" dirty="0"/>
          </a:p>
        </p:txBody>
      </p:sp>
      <p:sp>
        <p:nvSpPr>
          <p:cNvPr id="82" name="핵심 기법"/>
          <p:cNvSpPr txBox="1"/>
          <p:nvPr/>
        </p:nvSpPr>
        <p:spPr>
          <a:xfrm>
            <a:off x="6426200" y="5435997"/>
            <a:ext cx="445790" cy="120650"/>
          </a:xfrm>
          <a:prstGeom prst="rect">
            <a:avLst/>
          </a:prstGeom>
          <a:noFill/>
          <a:ln/>
        </p:spPr>
        <p:txBody>
          <a:bodyPr wrap="none" lIns="0" tIns="0" rIns="0" bIns="0" rtlCol="0" anchor="ctr"/>
          <a:lstStyle/>
          <a:p>
            <a:pPr algn="l" indent="0" marL="0">
              <a:buNone/>
            </a:pPr>
            <a:r>
              <a:rPr lang="ko-KR" altLang="en-US" sz="800" b="1" spc="32" kern="0" dirty="0">
                <a:solidFill>
                  <a:srgbClr val="737C8B"/>
                </a:solidFill>
                <a:latin typeface="Pretendard" pitchFamily="34" charset="0"/>
                <a:ea typeface="Pretendard" pitchFamily="34" charset="-127"/>
                <a:cs typeface="Pretendard" pitchFamily="34" charset="-120"/>
              </a:rPr>
              <a:t>핵심 기법</a:t>
            </a:r>
            <a:endParaRPr lang="en-US" sz="800" dirty="0"/>
          </a:p>
        </p:txBody>
      </p:sp>
      <p:sp>
        <p:nvSpPr>
          <p:cNvPr id="83" name="LMM 기반 축척 보정"/>
          <p:cNvSpPr txBox="1"/>
          <p:nvPr/>
        </p:nvSpPr>
        <p:spPr>
          <a:xfrm>
            <a:off x="6534150" y="5653286"/>
            <a:ext cx="1016591"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LMM 기반 축척 보정</a:t>
            </a:r>
            <a:endParaRPr lang="en-US" sz="950" dirty="0"/>
          </a:p>
        </p:txBody>
      </p:sp>
      <p:sp>
        <p:nvSpPr>
          <p:cNvPr id="84" name="헝가리안 알고리즘"/>
          <p:cNvSpPr txBox="1"/>
          <p:nvPr/>
        </p:nvSpPr>
        <p:spPr>
          <a:xfrm>
            <a:off x="6534150" y="5958086"/>
            <a:ext cx="891084"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헝가리안 알고리즘</a:t>
            </a:r>
            <a:endParaRPr lang="en-US" sz="950" dirty="0"/>
          </a:p>
        </p:txBody>
      </p:sp>
      <p:sp>
        <p:nvSpPr>
          <p:cNvPr id="85" name="(최적 1:1 매칭)"/>
          <p:cNvSpPr txBox="1"/>
          <p:nvPr/>
        </p:nvSpPr>
        <p:spPr>
          <a:xfrm>
            <a:off x="7399834" y="5958086"/>
            <a:ext cx="726480" cy="146050"/>
          </a:xfrm>
          <a:prstGeom prst="rect">
            <a:avLst/>
          </a:prstGeom>
          <a:noFill/>
          <a:ln/>
        </p:spPr>
        <p:txBody>
          <a:bodyPr wrap="none" lIns="0" tIns="0" rIns="0" bIns="0" rtlCol="0" anchor="ctr"/>
          <a:lstStyle/>
          <a:p>
            <a:pPr algn="l" indent="0" marL="0">
              <a:buNone/>
            </a:pPr>
            <a:r>
              <a:rPr lang="ko-KR" altLang="en-US" sz="950" spc="-19" kern="0" dirty="0">
                <a:solidFill>
                  <a:srgbClr val="3F4654"/>
                </a:solidFill>
                <a:latin typeface="Pretendard Medium" pitchFamily="34" charset="0"/>
                <a:ea typeface="Pretendard Medium" pitchFamily="34" charset="-127"/>
                <a:cs typeface="Pretendard Medium" pitchFamily="34" charset="-120"/>
              </a:rPr>
              <a:t>(최적 1:1 매칭)</a:t>
            </a:r>
            <a:endParaRPr lang="en-US" sz="950" dirty="0"/>
          </a:p>
        </p:txBody>
      </p:sp>
      <p:sp>
        <p:nvSpPr>
          <p:cNvPr id="86" name="STEP 4"/>
          <p:cNvSpPr txBox="1"/>
          <p:nvPr/>
        </p:nvSpPr>
        <p:spPr>
          <a:xfrm>
            <a:off x="9245600" y="3797697"/>
            <a:ext cx="470297" cy="120650"/>
          </a:xfrm>
          <a:prstGeom prst="rect">
            <a:avLst/>
          </a:prstGeom>
          <a:noFill/>
          <a:ln/>
        </p:spPr>
        <p:txBody>
          <a:bodyPr wrap="none" lIns="0" tIns="0" rIns="0" bIns="0" rtlCol="0" anchor="ctr"/>
          <a:lstStyle/>
          <a:p>
            <a:pPr algn="l" indent="0" marL="0">
              <a:buNone/>
            </a:pPr>
            <a:r>
              <a:rPr lang="ko-KR" altLang="en-US" sz="800" spc="96" kern="0" dirty="0">
                <a:solidFill>
                  <a:srgbClr val="2B4A78"/>
                </a:solidFill>
                <a:latin typeface="Pretendard ExtraBold" pitchFamily="34" charset="0"/>
                <a:ea typeface="Pretendard ExtraBold" pitchFamily="34" charset="-127"/>
                <a:cs typeface="Pretendard ExtraBold" pitchFamily="34" charset="-120"/>
              </a:rPr>
              <a:t>STEP 4</a:t>
            </a:r>
            <a:endParaRPr lang="en-US" sz="800" dirty="0"/>
          </a:p>
        </p:txBody>
      </p:sp>
      <p:sp>
        <p:nvSpPr>
          <p:cNvPr id="87" name="BIM 자동 생성"/>
          <p:cNvSpPr txBox="1"/>
          <p:nvPr/>
        </p:nvSpPr>
        <p:spPr>
          <a:xfrm>
            <a:off x="9245600" y="3950097"/>
            <a:ext cx="1017222" cy="215900"/>
          </a:xfrm>
          <a:prstGeom prst="rect">
            <a:avLst/>
          </a:prstGeom>
          <a:noFill/>
          <a:ln/>
        </p:spPr>
        <p:txBody>
          <a:bodyPr wrap="none" lIns="0" tIns="0" rIns="0" bIns="0" rtlCol="0" anchor="ctr"/>
          <a:lstStyle/>
          <a:p>
            <a:pPr algn="l" indent="0" marL="0">
              <a:buNone/>
            </a:pPr>
            <a:r>
              <a:rPr lang="ko-KR" altLang="en-US" sz="1400" spc="-49" kern="0" dirty="0">
                <a:solidFill>
                  <a:srgbClr val="102A4C"/>
                </a:solidFill>
                <a:latin typeface="Pretendard ExtraBold" pitchFamily="34" charset="0"/>
                <a:ea typeface="Pretendard ExtraBold" pitchFamily="34" charset="-127"/>
                <a:cs typeface="Pretendard ExtraBold" pitchFamily="34" charset="-120"/>
              </a:rPr>
              <a:t>BIM 자동 생성</a:t>
            </a:r>
            <a:endParaRPr lang="en-US" sz="1400" dirty="0"/>
          </a:p>
        </p:txBody>
      </p:sp>
      <p:sp>
        <p:nvSpPr>
          <p:cNvPr id="88" name="높이까지 갖춘 3D BIM 모델"/>
          <p:cNvSpPr txBox="1"/>
          <p:nvPr/>
        </p:nvSpPr>
        <p:spPr>
          <a:xfrm>
            <a:off x="9245600" y="4235847"/>
            <a:ext cx="1346410" cy="146050"/>
          </a:xfrm>
          <a:prstGeom prst="rect">
            <a:avLst/>
          </a:prstGeom>
          <a:noFill/>
          <a:ln/>
        </p:spPr>
        <p:txBody>
          <a:bodyPr wrap="none" lIns="0" tIns="0" rIns="0" bIns="0" rtlCol="0" anchor="ctr"/>
          <a:lstStyle/>
          <a:p>
            <a:pPr algn="l" indent="0" marL="0">
              <a:buNone/>
            </a:pPr>
            <a:r>
              <a:rPr lang="ko-KR" altLang="en-US" sz="950" spc="-24" kern="0" dirty="0">
                <a:solidFill>
                  <a:srgbClr val="2B4A78"/>
                </a:solidFill>
                <a:latin typeface="Pretendard SemiBold" pitchFamily="34" charset="0"/>
                <a:ea typeface="Pretendard SemiBold" pitchFamily="34" charset="-127"/>
                <a:cs typeface="Pretendard SemiBold" pitchFamily="34" charset="-120"/>
              </a:rPr>
              <a:t>높이까지 갖춘 3D BIM 모델</a:t>
            </a:r>
            <a:endParaRPr lang="en-US" sz="950" dirty="0"/>
          </a:p>
        </p:txBody>
      </p:sp>
      <p:sp>
        <p:nvSpPr>
          <p:cNvPr id="89" name="벽체"/>
          <p:cNvSpPr txBox="1"/>
          <p:nvPr/>
        </p:nvSpPr>
        <p:spPr>
          <a:xfrm>
            <a:off x="9245600" y="4515247"/>
            <a:ext cx="224433" cy="120650"/>
          </a:xfrm>
          <a:prstGeom prst="rect">
            <a:avLst/>
          </a:prstGeom>
          <a:noFill/>
          <a:ln/>
        </p:spPr>
        <p:txBody>
          <a:bodyPr wrap="none" lIns="0" tIns="0" rIns="0" bIns="0" rtlCol="0" anchor="ctr"/>
          <a:lstStyle/>
          <a:p>
            <a:pPr algn="l" indent="0" marL="0">
              <a:buNone/>
            </a:pPr>
            <a:r>
              <a:rPr lang="ko-KR" altLang="en-US" sz="800" spc="-8" kern="0" dirty="0">
                <a:solidFill>
                  <a:srgbClr val="2B4A78"/>
                </a:solidFill>
                <a:latin typeface="Pretendard ExtraBold" pitchFamily="34" charset="0"/>
                <a:ea typeface="Pretendard ExtraBold" pitchFamily="34" charset="-127"/>
                <a:cs typeface="Pretendard ExtraBold" pitchFamily="34" charset="-120"/>
              </a:rPr>
              <a:t>벽체</a:t>
            </a:r>
            <a:endParaRPr lang="en-US" sz="800" dirty="0"/>
          </a:p>
        </p:txBody>
      </p:sp>
      <p:sp>
        <p:nvSpPr>
          <p:cNvPr id="90" name="골격선(스켈레톤)으로벽 중심선 추출"/>
          <p:cNvSpPr txBox="1"/>
          <p:nvPr/>
        </p:nvSpPr>
        <p:spPr>
          <a:xfrm>
            <a:off x="9639300" y="4470797"/>
            <a:ext cx="1044041" cy="355600"/>
          </a:xfrm>
          <a:prstGeom prst="rect">
            <a:avLst/>
          </a:prstGeom>
          <a:noFill/>
          <a:ln/>
        </p:spPr>
        <p:txBody>
          <a:bodyPr wrap="none" lIns="0" tIns="0" rIns="0" bIns="0" rtlCol="0" anchor="t"/>
          <a:lstStyle/>
          <a:p>
            <a:pPr algn="l" indent="0" marL="0">
              <a:lnSpc>
                <a:spcPts val="1400"/>
              </a:lnSpc>
              <a:buNone/>
            </a:pPr>
            <a:r>
              <a:rPr lang="ko-KR" altLang="en-US" sz="950" spc="-28" kern="0" dirty="0">
                <a:solidFill>
                  <a:srgbClr val="3F4654"/>
                </a:solidFill>
                <a:latin typeface="Pretendard Medium" pitchFamily="34" charset="0"/>
                <a:ea typeface="Pretendard Medium" pitchFamily="34" charset="-127"/>
                <a:cs typeface="Pretendard Medium" pitchFamily="34" charset="-120"/>
              </a:rPr>
              <a:t>골격선(스켈레톤)으로</a:t>
            </a:r>
            <a:br/>
            <a:r>
              <a:rPr lang="ko-KR" altLang="en-US" sz="950" b="1" spc="-28" kern="0" dirty="0">
                <a:solidFill>
                  <a:srgbClr val="141820"/>
                </a:solidFill>
                <a:latin typeface="Pretendard" pitchFamily="34" charset="0"/>
                <a:ea typeface="Pretendard" pitchFamily="34" charset="-127"/>
                <a:cs typeface="Pretendard" pitchFamily="34" charset="-120"/>
              </a:rPr>
              <a:t>벽 중심선 추출</a:t>
            </a:r>
            <a:endParaRPr lang="en-US" sz="950" dirty="0"/>
          </a:p>
        </p:txBody>
      </p:sp>
      <p:sp>
        <p:nvSpPr>
          <p:cNvPr id="91" name="창·문"/>
          <p:cNvSpPr txBox="1"/>
          <p:nvPr/>
        </p:nvSpPr>
        <p:spPr>
          <a:xfrm>
            <a:off x="9245600" y="4921647"/>
            <a:ext cx="253107" cy="120650"/>
          </a:xfrm>
          <a:prstGeom prst="rect">
            <a:avLst/>
          </a:prstGeom>
          <a:noFill/>
          <a:ln/>
        </p:spPr>
        <p:txBody>
          <a:bodyPr wrap="none" lIns="0" tIns="0" rIns="0" bIns="0" rtlCol="0" anchor="ctr"/>
          <a:lstStyle/>
          <a:p>
            <a:pPr algn="l" indent="0" marL="0">
              <a:buNone/>
            </a:pPr>
            <a:r>
              <a:rPr lang="ko-KR" altLang="en-US" sz="800" spc="-8" kern="0" dirty="0">
                <a:solidFill>
                  <a:srgbClr val="2B4A78"/>
                </a:solidFill>
                <a:latin typeface="Pretendard ExtraBold" pitchFamily="34" charset="0"/>
                <a:ea typeface="Pretendard ExtraBold" pitchFamily="34" charset="-127"/>
                <a:cs typeface="Pretendard ExtraBold" pitchFamily="34" charset="-120"/>
              </a:rPr>
              <a:t>창·문</a:t>
            </a:r>
            <a:endParaRPr lang="en-US" sz="800" dirty="0"/>
          </a:p>
        </p:txBody>
      </p:sp>
      <p:sp>
        <p:nvSpPr>
          <p:cNvPr id="92" name="붙일 벽 결정(호스팅) 후Revit API로 BIM 생성"/>
          <p:cNvSpPr txBox="1"/>
          <p:nvPr/>
        </p:nvSpPr>
        <p:spPr>
          <a:xfrm>
            <a:off x="9639300" y="4877197"/>
            <a:ext cx="1126180" cy="355600"/>
          </a:xfrm>
          <a:prstGeom prst="rect">
            <a:avLst/>
          </a:prstGeom>
          <a:noFill/>
          <a:ln/>
        </p:spPr>
        <p:txBody>
          <a:bodyPr wrap="none" lIns="0" tIns="0" rIns="0" bIns="0" rtlCol="0" anchor="t"/>
          <a:lstStyle/>
          <a:p>
            <a:pPr algn="l" indent="0" marL="0">
              <a:lnSpc>
                <a:spcPts val="1400"/>
              </a:lnSpc>
              <a:buNone/>
            </a:pPr>
            <a:r>
              <a:rPr lang="ko-KR" altLang="en-US" sz="950" spc="-28" kern="0" dirty="0">
                <a:solidFill>
                  <a:srgbClr val="3F4654"/>
                </a:solidFill>
                <a:latin typeface="Pretendard Medium" pitchFamily="34" charset="0"/>
                <a:ea typeface="Pretendard Medium" pitchFamily="34" charset="-127"/>
                <a:cs typeface="Pretendard Medium" pitchFamily="34" charset="-120"/>
              </a:rPr>
              <a:t>붙일 벽 결정(호스팅) 후</a:t>
            </a:r>
            <a:br/>
            <a:r>
              <a:rPr lang="ko-KR" altLang="en-US" sz="950" b="1" spc="-28" kern="0" dirty="0">
                <a:solidFill>
                  <a:srgbClr val="141820"/>
                </a:solidFill>
                <a:latin typeface="Pretendard" pitchFamily="34" charset="0"/>
                <a:ea typeface="Pretendard" pitchFamily="34" charset="-127"/>
                <a:cs typeface="Pretendard" pitchFamily="34" charset="-120"/>
              </a:rPr>
              <a:t>Revit API로 BIM 생성</a:t>
            </a:r>
            <a:endParaRPr lang="en-US" sz="950" dirty="0"/>
          </a:p>
        </p:txBody>
      </p:sp>
      <p:sp>
        <p:nvSpPr>
          <p:cNvPr id="93" name="핵심 기법"/>
          <p:cNvSpPr txBox="1"/>
          <p:nvPr/>
        </p:nvSpPr>
        <p:spPr>
          <a:xfrm>
            <a:off x="9245600" y="5435997"/>
            <a:ext cx="445790" cy="120650"/>
          </a:xfrm>
          <a:prstGeom prst="rect">
            <a:avLst/>
          </a:prstGeom>
          <a:noFill/>
          <a:ln/>
        </p:spPr>
        <p:txBody>
          <a:bodyPr wrap="none" lIns="0" tIns="0" rIns="0" bIns="0" rtlCol="0" anchor="ctr"/>
          <a:lstStyle/>
          <a:p>
            <a:pPr algn="l" indent="0" marL="0">
              <a:buNone/>
            </a:pPr>
            <a:r>
              <a:rPr lang="ko-KR" altLang="en-US" sz="800" b="1" spc="32" kern="0" dirty="0">
                <a:solidFill>
                  <a:srgbClr val="737C8B"/>
                </a:solidFill>
                <a:latin typeface="Pretendard" pitchFamily="34" charset="0"/>
                <a:ea typeface="Pretendard" pitchFamily="34" charset="-127"/>
                <a:cs typeface="Pretendard" pitchFamily="34" charset="-120"/>
              </a:rPr>
              <a:t>핵심 기법</a:t>
            </a:r>
            <a:endParaRPr lang="en-US" sz="800" dirty="0"/>
          </a:p>
        </p:txBody>
      </p:sp>
      <p:sp>
        <p:nvSpPr>
          <p:cNvPr id="94" name="스켈레톤 기반 벽체 추출"/>
          <p:cNvSpPr txBox="1"/>
          <p:nvPr/>
        </p:nvSpPr>
        <p:spPr>
          <a:xfrm>
            <a:off x="9353550" y="5653286"/>
            <a:ext cx="1160466"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스켈레톤 기반 벽체 추출</a:t>
            </a:r>
            <a:endParaRPr lang="en-US" sz="950" dirty="0"/>
          </a:p>
        </p:txBody>
      </p:sp>
      <p:sp>
        <p:nvSpPr>
          <p:cNvPr id="95" name="Revit API"/>
          <p:cNvSpPr txBox="1"/>
          <p:nvPr/>
        </p:nvSpPr>
        <p:spPr>
          <a:xfrm>
            <a:off x="9353550" y="5958086"/>
            <a:ext cx="536972" cy="146050"/>
          </a:xfrm>
          <a:prstGeom prst="rect">
            <a:avLst/>
          </a:prstGeom>
          <a:noFill/>
          <a:ln/>
        </p:spPr>
        <p:txBody>
          <a:bodyPr wrap="none" lIns="0" tIns="0" rIns="0" bIns="0" rtlCol="0" anchor="ctr"/>
          <a:lstStyle/>
          <a:p>
            <a:pPr algn="l" indent="0" marL="0">
              <a:buNone/>
            </a:pPr>
            <a:r>
              <a:rPr lang="ko-KR" altLang="en-US" sz="950" b="1" spc="-19" kern="0" dirty="0">
                <a:solidFill>
                  <a:srgbClr val="102A4C"/>
                </a:solidFill>
                <a:latin typeface="Pretendard" pitchFamily="34" charset="0"/>
                <a:ea typeface="Pretendard" pitchFamily="34" charset="-127"/>
                <a:cs typeface="Pretendard" pitchFamily="34" charset="-120"/>
              </a:rPr>
              <a:t>Revit API</a:t>
            </a:r>
            <a:endParaRPr lang="en-US" sz="950" dirty="0"/>
          </a:p>
        </p:txBody>
      </p:sp>
      <p:sp>
        <p:nvSpPr>
          <p:cNvPr id="96" name="석사 연구 발표  ·  평면도와 입면도 객체 인식 및 정보 통합을 통한 "/>
          <p:cNvSpPr txBox="1"/>
          <p:nvPr/>
        </p:nvSpPr>
        <p:spPr>
          <a:xfrm>
            <a:off x="609600" y="6472238"/>
            <a:ext cx="514511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  ·  Utility 기술(건축, BIM/5D) 지원자 ○○○</a:t>
            </a:r>
            <a:endParaRPr lang="en-US" sz="750" dirty="0"/>
          </a:p>
        </p:txBody>
      </p:sp>
      <p:sp>
        <p:nvSpPr>
          <p:cNvPr id="97" name="03 / 05"/>
          <p:cNvSpPr txBox="1"/>
          <p:nvPr/>
        </p:nvSpPr>
        <p:spPr>
          <a:xfrm>
            <a:off x="11216779" y="6472238"/>
            <a:ext cx="416421"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03</a:t>
            </a:r>
            <a:r>
              <a:rPr lang="ko-KR" altLang="en-US" sz="750" spc="45" kern="0" dirty="0">
                <a:solidFill>
                  <a:srgbClr val="737C8B"/>
                </a:solidFill>
                <a:latin typeface="Pretendard SemiBold" pitchFamily="34" charset="0"/>
                <a:ea typeface="Pretendard SemiBold" pitchFamily="34" charset="-127"/>
                <a:cs typeface="Pretendard SemiBold" pitchFamily="34" charset="-120"/>
              </a:rPr>
              <a:t> / 05</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1753195"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done"/>
          <p:cNvSpPr/>
          <p:nvPr/>
        </p:nvSpPr>
        <p:spPr>
          <a:xfrm>
            <a:off x="99695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5" name="done"/>
          <p:cNvSpPr/>
          <p:nvPr/>
        </p:nvSpPr>
        <p:spPr>
          <a:xfrm>
            <a:off x="102997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6" name="done"/>
          <p:cNvSpPr/>
          <p:nvPr/>
        </p:nvSpPr>
        <p:spPr>
          <a:xfrm>
            <a:off x="106299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7" name="on"/>
          <p:cNvSpPr/>
          <p:nvPr/>
        </p:nvSpPr>
        <p:spPr>
          <a:xfrm>
            <a:off x="109601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8" name="i"/>
          <p:cNvSpPr/>
          <p:nvPr/>
        </p:nvSpPr>
        <p:spPr>
          <a:xfrm>
            <a:off x="11290300" y="381000"/>
            <a:ext cx="292100" cy="190500"/>
          </a:xfrm>
          <a:prstGeom prst="roundRect">
            <a:avLst>
              <a:gd name="adj" fmla="val 26667"/>
            </a:avLst>
          </a:prstGeom>
          <a:solidFill>
            <a:srgbClr val="F3F5F8"/>
          </a:solidFill>
          <a:ln>
            <a:noFill/>
          </a:ln>
        </p:spPr>
        <p:txBody>
          <a:bodyPr rtlCol="0" anchor="ctr"/>
          <a:lstStyle/>
          <a:p>
            <a:pPr algn="ctr"/>
            <a:endParaRPr lang="ko-KR" dirty="0"/>
          </a:p>
        </p:txBody>
      </p:sp>
      <p:sp>
        <p:nvSpPr>
          <p:cNvPr id="9" name="svg path"/>
          <p:cNvSpPr/>
          <p:nvPr/>
        </p:nvSpPr>
        <p:spPr>
          <a:xfrm>
            <a:off x="654050" y="1327348"/>
            <a:ext cx="73025" cy="107950"/>
          </a:xfrm>
          <a:custGeom>
            <a:avLst/>
            <a:gdLst/>
            <a:ahLst/>
            <a:cxnLst/>
            <a:rect l="0" t="0" r="r" b="b"/>
            <a:pathLst>
              <a:path w="73025" h="107950" fill="none">
                <a:moveTo>
                  <a:pt x="0" y="107950"/>
                </a:moveTo>
                <a:lnTo>
                  <a:pt x="0" y="0"/>
                </a:lnTo>
                <a:moveTo>
                  <a:pt x="0" y="3175"/>
                </a:moveTo>
                <a:lnTo>
                  <a:pt x="73025" y="3175"/>
                </a:lnTo>
                <a:lnTo>
                  <a:pt x="57150" y="28575"/>
                </a:lnTo>
                <a:lnTo>
                  <a:pt x="73025" y="53975"/>
                </a:lnTo>
                <a:lnTo>
                  <a:pt x="0" y="53975"/>
                </a:lnTo>
              </a:path>
            </a:pathLst>
          </a:custGeom>
          <a:noFill/>
          <a:ln w="12700" cap="rnd">
            <a:solidFill>
              <a:srgbClr val="102A4C"/>
            </a:solidFill>
            <a:round/>
          </a:ln>
        </p:spPr>
        <p:txBody>
          <a:bodyPr rtlCol="0" anchor="ctr"/>
          <a:lstStyle/>
          <a:p>
            <a:pPr algn="ctr"/>
            <a:endParaRPr lang="ko-KR" dirty="0"/>
          </a:p>
        </p:txBody>
      </p:sp>
      <p:sp>
        <p:nvSpPr>
          <p:cNvPr id="10" name="t4-ch c1::after"/>
          <p:cNvSpPr/>
          <p:nvPr/>
        </p:nvSpPr>
        <p:spPr>
          <a:xfrm>
            <a:off x="1516063" y="1371798"/>
            <a:ext cx="2293938" cy="12700"/>
          </a:xfrm>
          <a:prstGeom prst="roundRect">
            <a:avLst>
              <a:gd name="adj" fmla="val 50000"/>
            </a:avLst>
          </a:prstGeom>
          <a:solidFill>
            <a:srgbClr val="102A4C"/>
          </a:solidFill>
          <a:ln>
            <a:noFill/>
          </a:ln>
        </p:spPr>
        <p:txBody>
          <a:bodyPr rtlCol="0" anchor="ctr"/>
          <a:lstStyle/>
          <a:p>
            <a:pPr algn="ctr"/>
            <a:endParaRPr lang="ko-KR" dirty="0"/>
          </a:p>
        </p:txBody>
      </p:sp>
      <p:sp>
        <p:nvSpPr>
          <p:cNvPr id="11" name="svg path"/>
          <p:cNvSpPr/>
          <p:nvPr/>
        </p:nvSpPr>
        <p:spPr>
          <a:xfrm>
            <a:off x="4191000" y="1340048"/>
            <a:ext cx="114300" cy="95250"/>
          </a:xfrm>
          <a:custGeom>
            <a:avLst/>
            <a:gdLst/>
            <a:ahLst/>
            <a:cxnLst/>
            <a:rect l="0" t="0" r="r" b="b"/>
            <a:pathLst>
              <a:path w="114300" h="95250" fill="none">
                <a:moveTo>
                  <a:pt x="0" y="95250"/>
                </a:moveTo>
                <a:lnTo>
                  <a:pt x="114300" y="95250"/>
                </a:lnTo>
                <a:moveTo>
                  <a:pt x="22225" y="69850"/>
                </a:moveTo>
                <a:lnTo>
                  <a:pt x="22225" y="38100"/>
                </a:lnTo>
                <a:moveTo>
                  <a:pt x="57150" y="69850"/>
                </a:moveTo>
                <a:lnTo>
                  <a:pt x="57150" y="0"/>
                </a:lnTo>
                <a:moveTo>
                  <a:pt x="92075" y="69850"/>
                </a:moveTo>
                <a:lnTo>
                  <a:pt x="92075" y="19050"/>
                </a:lnTo>
              </a:path>
            </a:pathLst>
          </a:custGeom>
          <a:noFill/>
          <a:ln w="12700" cap="rnd">
            <a:solidFill>
              <a:srgbClr val="102A4C"/>
            </a:solidFill>
            <a:miter lim="800000"/>
          </a:ln>
        </p:spPr>
        <p:txBody>
          <a:bodyPr rtlCol="0" anchor="ctr"/>
          <a:lstStyle/>
          <a:p>
            <a:pPr algn="ctr"/>
            <a:endParaRPr lang="ko-KR" dirty="0"/>
          </a:p>
        </p:txBody>
      </p:sp>
      <p:sp>
        <p:nvSpPr>
          <p:cNvPr id="12" name="ln"/>
          <p:cNvSpPr/>
          <p:nvPr/>
        </p:nvSpPr>
        <p:spPr>
          <a:xfrm>
            <a:off x="5072063" y="1371798"/>
            <a:ext cx="2077740" cy="12700"/>
          </a:xfrm>
          <a:prstGeom prst="roundRect">
            <a:avLst>
              <a:gd name="adj" fmla="val 50000"/>
            </a:avLst>
          </a:prstGeom>
          <a:solidFill>
            <a:srgbClr val="102A4C"/>
          </a:solidFill>
          <a:ln>
            <a:noFill/>
          </a:ln>
        </p:spPr>
        <p:txBody>
          <a:bodyPr rtlCol="0" anchor="ctr"/>
          <a:lstStyle/>
          <a:p>
            <a:pPr algn="ctr"/>
            <a:endParaRPr lang="ko-KR" dirty="0"/>
          </a:p>
        </p:txBody>
      </p:sp>
      <p:sp>
        <p:nvSpPr>
          <p:cNvPr id="13" name="g"/>
          <p:cNvSpPr/>
          <p:nvPr/>
        </p:nvSpPr>
        <p:spPr>
          <a:xfrm>
            <a:off x="7251402" y="1352748"/>
            <a:ext cx="152400" cy="50800"/>
          </a:xfrm>
          <a:prstGeom prst="roundRect">
            <a:avLst>
              <a:gd name="adj" fmla="val 50000"/>
            </a:avLst>
          </a:prstGeom>
          <a:solidFill>
            <a:srgbClr val="C3C9D2"/>
          </a:solidFill>
          <a:ln>
            <a:noFill/>
          </a:ln>
        </p:spPr>
        <p:txBody>
          <a:bodyPr rtlCol="0" anchor="ctr"/>
          <a:lstStyle/>
          <a:p>
            <a:pPr algn="ctr"/>
            <a:endParaRPr lang="ko-KR" dirty="0"/>
          </a:p>
        </p:txBody>
      </p:sp>
      <p:sp>
        <p:nvSpPr>
          <p:cNvPr id="14" name="r"/>
          <p:cNvSpPr/>
          <p:nvPr/>
        </p:nvSpPr>
        <p:spPr>
          <a:xfrm>
            <a:off x="7921427" y="1352748"/>
            <a:ext cx="152400" cy="50800"/>
          </a:xfrm>
          <a:prstGeom prst="roundRect">
            <a:avLst>
              <a:gd name="adj" fmla="val 50000"/>
            </a:avLst>
          </a:prstGeom>
          <a:solidFill>
            <a:srgbClr val="EA002C"/>
          </a:solidFill>
          <a:ln>
            <a:noFill/>
          </a:ln>
        </p:spPr>
        <p:txBody>
          <a:bodyPr rtlCol="0" anchor="ctr"/>
          <a:lstStyle/>
          <a:p>
            <a:pPr algn="ctr"/>
            <a:endParaRPr lang="ko-KR" dirty="0"/>
          </a:p>
        </p:txBody>
      </p:sp>
      <p:sp>
        <p:nvSpPr>
          <p:cNvPr id="15" name="t4-con r1"/>
          <p:cNvSpPr/>
          <p:nvPr/>
        </p:nvSpPr>
        <p:spPr>
          <a:xfrm>
            <a:off x="609600" y="1606748"/>
            <a:ext cx="3200400" cy="1422400"/>
          </a:xfrm>
          <a:prstGeom prst="roundRect">
            <a:avLst>
              <a:gd name="adj" fmla="val 8929"/>
            </a:avLst>
          </a:prstGeom>
          <a:solidFill>
            <a:srgbClr val="F3F5F8"/>
          </a:solidFill>
          <a:ln>
            <a:noFill/>
          </a:ln>
        </p:spPr>
        <p:txBody>
          <a:bodyPr rtlCol="0" anchor="ctr"/>
          <a:lstStyle/>
          <a:p>
            <a:pPr algn="ctr"/>
            <a:endParaRPr lang="ko-KR" dirty="0"/>
          </a:p>
        </p:txBody>
      </p:sp>
      <p:sp>
        <p:nvSpPr>
          <p:cNvPr id="16" name="t4-ic"/>
          <p:cNvSpPr/>
          <p:nvPr/>
        </p:nvSpPr>
        <p:spPr>
          <a:xfrm>
            <a:off x="812800" y="2063948"/>
            <a:ext cx="508000" cy="508000"/>
          </a:xfrm>
          <a:prstGeom prst="roundRect">
            <a:avLst>
              <a:gd name="adj" fmla="val 25000"/>
            </a:avLst>
          </a:prstGeom>
          <a:solidFill>
            <a:srgbClr val="FFFFFF"/>
          </a:solidFill>
          <a:ln>
            <a:noFill/>
          </a:ln>
          <a:effectLst>
            <a:outerShdw blurRad="38100" dist="12700" dir="5400000" algn="ctr" rotWithShape="0">
              <a:srgbClr val="102A4C">
                <a:alpha val="6000"/>
              </a:srgbClr>
            </a:outerShdw>
          </a:effectLst>
        </p:spPr>
        <p:txBody>
          <a:bodyPr rtlCol="0" anchor="ctr"/>
          <a:lstStyle/>
          <a:p>
            <a:pPr algn="ctr"/>
            <a:endParaRPr lang="ko-KR" dirty="0"/>
          </a:p>
        </p:txBody>
      </p:sp>
      <p:sp>
        <p:nvSpPr>
          <p:cNvPr id="17" name="svg path"/>
          <p:cNvSpPr/>
          <p:nvPr/>
        </p:nvSpPr>
        <p:spPr>
          <a:xfrm>
            <a:off x="971550" y="2413198"/>
            <a:ext cx="152400" cy="1"/>
          </a:xfrm>
          <a:custGeom>
            <a:avLst/>
            <a:gdLst/>
            <a:ahLst/>
            <a:cxnLst/>
            <a:rect l="0" t="0" r="r" b="b"/>
            <a:pathLst>
              <a:path w="152400" h="1" fill="none">
                <a:moveTo>
                  <a:pt x="0" y="0"/>
                </a:moveTo>
                <a:lnTo>
                  <a:pt x="152400" y="0"/>
                </a:lnTo>
              </a:path>
            </a:pathLst>
          </a:custGeom>
          <a:noFill/>
          <a:ln w="12700" cap="rnd">
            <a:solidFill>
              <a:srgbClr val="102A4C"/>
            </a:solidFill>
            <a:round/>
          </a:ln>
        </p:spPr>
        <p:txBody>
          <a:bodyPr rtlCol="0" anchor="ctr"/>
          <a:lstStyle/>
          <a:p>
            <a:pPr algn="ctr"/>
            <a:endParaRPr lang="ko-KR" dirty="0"/>
          </a:p>
        </p:txBody>
      </p:sp>
      <p:sp>
        <p:nvSpPr>
          <p:cNvPr id="18" name="svg rect"/>
          <p:cNvSpPr/>
          <p:nvPr/>
        </p:nvSpPr>
        <p:spPr>
          <a:xfrm>
            <a:off x="996950" y="2260798"/>
            <a:ext cx="88900" cy="152400"/>
          </a:xfrm>
          <a:prstGeom prst="roundRect">
            <a:avLst>
              <a:gd name="adj" fmla="val 10714"/>
            </a:avLst>
          </a:prstGeom>
          <a:noFill/>
          <a:ln w="12700" cap="rnd">
            <a:solidFill>
              <a:srgbClr val="102A4C"/>
            </a:solidFill>
            <a:round/>
          </a:ln>
        </p:spPr>
        <p:txBody>
          <a:bodyPr rtlCol="0" anchor="ctr"/>
          <a:lstStyle/>
          <a:p>
            <a:pPr algn="ctr"/>
            <a:endParaRPr lang="ko-KR" dirty="0"/>
          </a:p>
        </p:txBody>
      </p:sp>
      <p:sp>
        <p:nvSpPr>
          <p:cNvPr id="19" name="svg path"/>
          <p:cNvSpPr/>
          <p:nvPr/>
        </p:nvSpPr>
        <p:spPr>
          <a:xfrm>
            <a:off x="1022350" y="2298898"/>
            <a:ext cx="38100" cy="76200"/>
          </a:xfrm>
          <a:custGeom>
            <a:avLst/>
            <a:gdLst/>
            <a:ahLst/>
            <a:cxnLst/>
            <a:rect l="0" t="0" r="r" b="b"/>
            <a:pathLst>
              <a:path w="38100" h="76200" fill="none">
                <a:moveTo>
                  <a:pt x="0" y="0"/>
                </a:moveTo>
                <a:lnTo>
                  <a:pt x="38100" y="0"/>
                </a:lnTo>
                <a:moveTo>
                  <a:pt x="0" y="38100"/>
                </a:moveTo>
                <a:lnTo>
                  <a:pt x="38100" y="38100"/>
                </a:lnTo>
                <a:moveTo>
                  <a:pt x="0" y="76200"/>
                </a:moveTo>
                <a:lnTo>
                  <a:pt x="38100" y="76200"/>
                </a:lnTo>
              </a:path>
            </a:pathLst>
          </a:custGeom>
          <a:noFill/>
          <a:ln w="12700" cap="rnd">
            <a:solidFill>
              <a:srgbClr val="102A4C"/>
            </a:solidFill>
            <a:round/>
          </a:ln>
        </p:spPr>
        <p:txBody>
          <a:bodyPr rtlCol="0" anchor="ctr"/>
          <a:lstStyle/>
          <a:p>
            <a:pPr algn="ctr"/>
            <a:endParaRPr lang="ko-KR" dirty="0"/>
          </a:p>
        </p:txBody>
      </p:sp>
      <p:sp>
        <p:nvSpPr>
          <p:cNvPr id="20" name="svg path"/>
          <p:cNvSpPr/>
          <p:nvPr/>
        </p:nvSpPr>
        <p:spPr>
          <a:xfrm>
            <a:off x="1149350" y="2229048"/>
            <a:ext cx="1" cy="184150"/>
          </a:xfrm>
          <a:custGeom>
            <a:avLst/>
            <a:gdLst/>
            <a:ahLst/>
            <a:cxnLst/>
            <a:rect l="0" t="0" r="r" b="b"/>
            <a:pathLst>
              <a:path w="1" h="184150" fill="none">
                <a:moveTo>
                  <a:pt x="0" y="0"/>
                </a:moveTo>
                <a:lnTo>
                  <a:pt x="0" y="184150"/>
                </a:lnTo>
              </a:path>
            </a:pathLst>
          </a:custGeom>
          <a:noFill/>
          <a:ln w="12700" cap="rnd">
            <a:solidFill>
              <a:srgbClr val="102A4C"/>
            </a:solidFill>
            <a:round/>
          </a:ln>
        </p:spPr>
        <p:txBody>
          <a:bodyPr rtlCol="0" anchor="ctr"/>
          <a:lstStyle/>
          <a:p>
            <a:pPr algn="ctr"/>
            <a:endParaRPr lang="ko-KR" dirty="0"/>
          </a:p>
        </p:txBody>
      </p:sp>
      <p:sp>
        <p:nvSpPr>
          <p:cNvPr id="21" name="svg path"/>
          <p:cNvSpPr/>
          <p:nvPr/>
        </p:nvSpPr>
        <p:spPr>
          <a:xfrm>
            <a:off x="1127125" y="2229048"/>
            <a:ext cx="44450" cy="22225"/>
          </a:xfrm>
          <a:custGeom>
            <a:avLst/>
            <a:gdLst/>
            <a:ahLst/>
            <a:cxnLst/>
            <a:rect l="0" t="0" r="r" b="b"/>
            <a:pathLst>
              <a:path w="44450" h="22225" fill="none">
                <a:moveTo>
                  <a:pt x="0" y="22225"/>
                </a:moveTo>
                <a:lnTo>
                  <a:pt x="22225" y="0"/>
                </a:lnTo>
                <a:lnTo>
                  <a:pt x="44450" y="22225"/>
                </a:lnTo>
              </a:path>
            </a:pathLst>
          </a:custGeom>
          <a:noFill/>
          <a:ln w="12700" cap="rnd">
            <a:solidFill>
              <a:srgbClr val="102A4C"/>
            </a:solidFill>
            <a:round/>
          </a:ln>
        </p:spPr>
        <p:txBody>
          <a:bodyPr rtlCol="0" anchor="ctr"/>
          <a:lstStyle/>
          <a:p>
            <a:pPr algn="ctr"/>
            <a:endParaRPr lang="ko-KR" dirty="0"/>
          </a:p>
        </p:txBody>
      </p:sp>
      <p:sp>
        <p:nvSpPr>
          <p:cNvPr id="22" name="svg path"/>
          <p:cNvSpPr/>
          <p:nvPr/>
        </p:nvSpPr>
        <p:spPr>
          <a:xfrm>
            <a:off x="1127125" y="2390973"/>
            <a:ext cx="44450" cy="22225"/>
          </a:xfrm>
          <a:custGeom>
            <a:avLst/>
            <a:gdLst/>
            <a:ahLst/>
            <a:cxnLst/>
            <a:rect l="0" t="0" r="r" b="b"/>
            <a:pathLst>
              <a:path w="44450" h="22225" fill="none">
                <a:moveTo>
                  <a:pt x="0" y="0"/>
                </a:moveTo>
                <a:lnTo>
                  <a:pt x="22225" y="22225"/>
                </a:lnTo>
                <a:lnTo>
                  <a:pt x="44450" y="0"/>
                </a:lnTo>
              </a:path>
            </a:pathLst>
          </a:custGeom>
          <a:noFill/>
          <a:ln w="12700" cap="rnd">
            <a:solidFill>
              <a:srgbClr val="102A4C"/>
            </a:solidFill>
            <a:round/>
          </a:ln>
        </p:spPr>
        <p:txBody>
          <a:bodyPr rtlCol="0" anchor="ctr"/>
          <a:lstStyle/>
          <a:p>
            <a:pPr algn="ctr"/>
            <a:endParaRPr lang="ko-KR" dirty="0"/>
          </a:p>
        </p:txBody>
      </p:sp>
      <p:sp>
        <p:nvSpPr>
          <p:cNvPr id="23" name="t4-go r1::before"/>
          <p:cNvSpPr/>
          <p:nvPr/>
        </p:nvSpPr>
        <p:spPr>
          <a:xfrm>
            <a:off x="3810000" y="2311598"/>
            <a:ext cx="355600" cy="12700"/>
          </a:xfrm>
          <a:prstGeom prst="rect">
            <a:avLst/>
          </a:prstGeom>
          <a:solidFill>
            <a:srgbClr val="C8CFD8"/>
          </a:solidFill>
          <a:ln>
            <a:noFill/>
          </a:ln>
        </p:spPr>
        <p:txBody>
          <a:bodyPr rtlCol="0" anchor="ctr"/>
          <a:lstStyle/>
          <a:p>
            <a:pPr algn="ctr"/>
            <a:endParaRPr lang="ko-KR" dirty="0"/>
          </a:p>
        </p:txBody>
      </p:sp>
      <p:sp>
        <p:nvSpPr>
          <p:cNvPr id="24" name="i"/>
          <p:cNvSpPr/>
          <p:nvPr/>
        </p:nvSpPr>
        <p:spPr>
          <a:xfrm>
            <a:off x="3835400" y="2165548"/>
            <a:ext cx="304800" cy="304800"/>
          </a:xfrm>
          <a:prstGeom prst="ellipse">
            <a:avLst/>
          </a:prstGeom>
          <a:solidFill>
            <a:srgbClr val="102A4C"/>
          </a:solidFill>
          <a:ln>
            <a:noFill/>
          </a:ln>
        </p:spPr>
        <p:txBody>
          <a:bodyPr rtlCol="0" anchor="ctr"/>
          <a:lstStyle/>
          <a:p>
            <a:pPr algn="ctr"/>
            <a:endParaRPr lang="ko-KR" dirty="0"/>
          </a:p>
        </p:txBody>
      </p:sp>
      <p:sp>
        <p:nvSpPr>
          <p:cNvPr id="25" name="svg path"/>
          <p:cNvSpPr/>
          <p:nvPr/>
        </p:nvSpPr>
        <p:spPr>
          <a:xfrm>
            <a:off x="3971925" y="2283023"/>
            <a:ext cx="34925" cy="69850"/>
          </a:xfrm>
          <a:custGeom>
            <a:avLst/>
            <a:gdLst/>
            <a:ahLst/>
            <a:cxnLst/>
            <a:rect l="0" t="0" r="r" b="b"/>
            <a:pathLst>
              <a:path w="34925" h="69850" fill="none">
                <a:moveTo>
                  <a:pt x="0" y="0"/>
                </a:moveTo>
                <a:lnTo>
                  <a:pt x="34925" y="34925"/>
                </a:lnTo>
                <a:lnTo>
                  <a:pt x="0" y="69850"/>
                </a:lnTo>
              </a:path>
            </a:pathLst>
          </a:custGeom>
          <a:noFill/>
          <a:ln w="16510" cap="rnd">
            <a:solidFill>
              <a:srgbClr val="FFFFFF"/>
            </a:solidFill>
            <a:round/>
          </a:ln>
        </p:spPr>
        <p:txBody>
          <a:bodyPr rtlCol="0" anchor="ctr"/>
          <a:lstStyle/>
          <a:p>
            <a:pPr algn="ctr"/>
            <a:endParaRPr lang="ko-KR" dirty="0"/>
          </a:p>
        </p:txBody>
      </p:sp>
      <p:sp>
        <p:nvSpPr>
          <p:cNvPr id="26" name="t4-ev r1"/>
          <p:cNvSpPr/>
          <p:nvPr/>
        </p:nvSpPr>
        <p:spPr>
          <a:xfrm>
            <a:off x="4171950" y="1613098"/>
            <a:ext cx="4203700" cy="1409700"/>
          </a:xfrm>
          <a:prstGeom prst="roundRect">
            <a:avLst>
              <a:gd name="adj" fmla="val 8559"/>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27" name="delta"/>
          <p:cNvSpPr/>
          <p:nvPr/>
        </p:nvSpPr>
        <p:spPr>
          <a:xfrm>
            <a:off x="5485408" y="2365573"/>
            <a:ext cx="645120" cy="203200"/>
          </a:xfrm>
          <a:prstGeom prst="roundRect">
            <a:avLst>
              <a:gd name="adj" fmla="val 25000"/>
            </a:avLst>
          </a:prstGeom>
          <a:solidFill>
            <a:srgbClr val="FDECEF"/>
          </a:solidFill>
          <a:ln>
            <a:noFill/>
          </a:ln>
        </p:spPr>
        <p:txBody>
          <a:bodyPr rtlCol="0" anchor="ctr"/>
          <a:lstStyle/>
          <a:p>
            <a:pPr algn="ctr"/>
            <a:endParaRPr lang="ko-KR" dirty="0"/>
          </a:p>
        </p:txBody>
      </p:sp>
      <p:sp>
        <p:nvSpPr>
          <p:cNvPr id="28" name="t4-bar"/>
          <p:cNvSpPr/>
          <p:nvPr/>
        </p:nvSpPr>
        <p:spPr>
          <a:xfrm>
            <a:off x="4381500" y="2759273"/>
            <a:ext cx="1790700" cy="50800"/>
          </a:xfrm>
          <a:prstGeom prst="roundRect">
            <a:avLst>
              <a:gd name="adj" fmla="val 50000"/>
            </a:avLst>
          </a:prstGeom>
          <a:solidFill>
            <a:srgbClr val="E9EDF2"/>
          </a:solidFill>
          <a:ln>
            <a:noFill/>
          </a:ln>
        </p:spPr>
        <p:txBody>
          <a:bodyPr rtlCol="0" anchor="ctr"/>
          <a:lstStyle/>
          <a:p>
            <a:pPr algn="ctr"/>
            <a:endParaRPr lang="ko-KR" dirty="0"/>
          </a:p>
        </p:txBody>
      </p:sp>
      <p:sp>
        <p:nvSpPr>
          <p:cNvPr id="29" name="b0"/>
          <p:cNvSpPr/>
          <p:nvPr/>
        </p:nvSpPr>
        <p:spPr>
          <a:xfrm>
            <a:off x="4381500" y="2759273"/>
            <a:ext cx="907852" cy="50800"/>
          </a:xfrm>
          <a:custGeom>
            <a:avLst/>
            <a:gdLst/>
            <a:ahLst/>
            <a:cxnLst/>
            <a:rect l="0" t="0" r="r" b="b"/>
            <a:pathLst>
              <a:path w="907852" h="50800" stroke="0">
                <a:moveTo>
                  <a:pt x="25400" y="0"/>
                </a:moveTo>
                <a:lnTo>
                  <a:pt x="907852" y="0"/>
                </a:lnTo>
                <a:cubicBezTo>
                  <a:pt x="907852" y="0"/>
                  <a:pt x="907852" y="0"/>
                  <a:pt x="907852" y="0"/>
                </a:cubicBezTo>
                <a:lnTo>
                  <a:pt x="907852" y="50800"/>
                </a:lnTo>
                <a:cubicBezTo>
                  <a:pt x="907852" y="50800"/>
                  <a:pt x="907852" y="50800"/>
                  <a:pt x="907852" y="50800"/>
                </a:cubicBezTo>
                <a:lnTo>
                  <a:pt x="25400" y="50800"/>
                </a:lnTo>
                <a:cubicBezTo>
                  <a:pt x="11372" y="50800"/>
                  <a:pt x="0" y="39428"/>
                  <a:pt x="0" y="25400"/>
                </a:cubicBezTo>
                <a:lnTo>
                  <a:pt x="0" y="25400"/>
                </a:lnTo>
                <a:cubicBezTo>
                  <a:pt x="0" y="11372"/>
                  <a:pt x="11372" y="0"/>
                  <a:pt x="25400" y="0"/>
                </a:cubicBezTo>
                <a:close/>
              </a:path>
            </a:pathLst>
          </a:custGeom>
          <a:solidFill>
            <a:srgbClr val="C3C9D2"/>
          </a:solidFill>
          <a:ln>
            <a:noFill/>
          </a:ln>
        </p:spPr>
        <p:txBody>
          <a:bodyPr rtlCol="0" anchor="ctr"/>
          <a:lstStyle/>
          <a:p>
            <a:pPr algn="ctr"/>
            <a:endParaRPr lang="ko-KR" dirty="0"/>
          </a:p>
        </p:txBody>
      </p:sp>
      <p:sp>
        <p:nvSpPr>
          <p:cNvPr id="30" name="b1"/>
          <p:cNvSpPr/>
          <p:nvPr/>
        </p:nvSpPr>
        <p:spPr>
          <a:xfrm>
            <a:off x="5289352" y="2759273"/>
            <a:ext cx="764580" cy="50800"/>
          </a:xfrm>
          <a:custGeom>
            <a:avLst/>
            <a:gdLst/>
            <a:ahLst/>
            <a:cxnLst/>
            <a:rect l="0" t="0" r="r" b="b"/>
            <a:pathLst>
              <a:path w="764580" h="50800" stroke="0">
                <a:moveTo>
                  <a:pt x="0" y="0"/>
                </a:moveTo>
                <a:lnTo>
                  <a:pt x="739180" y="0"/>
                </a:lnTo>
                <a:cubicBezTo>
                  <a:pt x="753208" y="0"/>
                  <a:pt x="764580" y="11372"/>
                  <a:pt x="764580" y="25400"/>
                </a:cubicBezTo>
                <a:lnTo>
                  <a:pt x="764580" y="25400"/>
                </a:lnTo>
                <a:cubicBezTo>
                  <a:pt x="764580" y="39428"/>
                  <a:pt x="753208" y="50800"/>
                  <a:pt x="739180" y="50800"/>
                </a:cubicBezTo>
                <a:lnTo>
                  <a:pt x="0" y="50800"/>
                </a:lnTo>
                <a:cubicBezTo>
                  <a:pt x="0" y="50800"/>
                  <a:pt x="0" y="50800"/>
                  <a:pt x="0" y="50800"/>
                </a:cubicBezTo>
                <a:lnTo>
                  <a:pt x="0" y="0"/>
                </a:lnTo>
                <a:cubicBezTo>
                  <a:pt x="0" y="0"/>
                  <a:pt x="0" y="0"/>
                  <a:pt x="0" y="0"/>
                </a:cubicBezTo>
                <a:close/>
              </a:path>
            </a:pathLst>
          </a:custGeom>
          <a:solidFill>
            <a:srgbClr val="EA002C"/>
          </a:solidFill>
          <a:ln>
            <a:noFill/>
          </a:ln>
        </p:spPr>
        <p:txBody>
          <a:bodyPr rtlCol="0" anchor="ctr"/>
          <a:lstStyle/>
          <a:p>
            <a:pPr algn="ctr"/>
            <a:endParaRPr lang="ko-KR" dirty="0"/>
          </a:p>
        </p:txBody>
      </p:sp>
      <p:sp>
        <p:nvSpPr>
          <p:cNvPr id="31" name="delta"/>
          <p:cNvSpPr/>
          <p:nvPr/>
        </p:nvSpPr>
        <p:spPr>
          <a:xfrm>
            <a:off x="7479308" y="2365573"/>
            <a:ext cx="655241" cy="203200"/>
          </a:xfrm>
          <a:prstGeom prst="roundRect">
            <a:avLst>
              <a:gd name="adj" fmla="val 25000"/>
            </a:avLst>
          </a:prstGeom>
          <a:solidFill>
            <a:srgbClr val="FDECEF"/>
          </a:solidFill>
          <a:ln>
            <a:noFill/>
          </a:ln>
        </p:spPr>
        <p:txBody>
          <a:bodyPr rtlCol="0" anchor="ctr"/>
          <a:lstStyle/>
          <a:p>
            <a:pPr algn="ctr"/>
            <a:endParaRPr lang="ko-KR" dirty="0"/>
          </a:p>
        </p:txBody>
      </p:sp>
      <p:sp>
        <p:nvSpPr>
          <p:cNvPr id="32" name="t4-bar"/>
          <p:cNvSpPr/>
          <p:nvPr/>
        </p:nvSpPr>
        <p:spPr>
          <a:xfrm>
            <a:off x="6375400" y="2759273"/>
            <a:ext cx="1790700" cy="50800"/>
          </a:xfrm>
          <a:prstGeom prst="roundRect">
            <a:avLst>
              <a:gd name="adj" fmla="val 50000"/>
            </a:avLst>
          </a:prstGeom>
          <a:solidFill>
            <a:srgbClr val="E9EDF2"/>
          </a:solidFill>
          <a:ln>
            <a:noFill/>
          </a:ln>
        </p:spPr>
        <p:txBody>
          <a:bodyPr rtlCol="0" anchor="ctr"/>
          <a:lstStyle/>
          <a:p>
            <a:pPr algn="ctr"/>
            <a:endParaRPr lang="ko-KR" dirty="0"/>
          </a:p>
        </p:txBody>
      </p:sp>
      <p:sp>
        <p:nvSpPr>
          <p:cNvPr id="33" name="b0"/>
          <p:cNvSpPr/>
          <p:nvPr/>
        </p:nvSpPr>
        <p:spPr>
          <a:xfrm>
            <a:off x="6375400" y="2759273"/>
            <a:ext cx="635695" cy="50800"/>
          </a:xfrm>
          <a:custGeom>
            <a:avLst/>
            <a:gdLst/>
            <a:ahLst/>
            <a:cxnLst/>
            <a:rect l="0" t="0" r="r" b="b"/>
            <a:pathLst>
              <a:path w="635695" h="50800" stroke="0">
                <a:moveTo>
                  <a:pt x="25400" y="0"/>
                </a:moveTo>
                <a:lnTo>
                  <a:pt x="635695" y="0"/>
                </a:lnTo>
                <a:cubicBezTo>
                  <a:pt x="635695" y="0"/>
                  <a:pt x="635695" y="0"/>
                  <a:pt x="635695" y="0"/>
                </a:cubicBezTo>
                <a:lnTo>
                  <a:pt x="635695" y="50800"/>
                </a:lnTo>
                <a:cubicBezTo>
                  <a:pt x="635695" y="50800"/>
                  <a:pt x="635695" y="50800"/>
                  <a:pt x="635695" y="50800"/>
                </a:cubicBezTo>
                <a:lnTo>
                  <a:pt x="25400" y="50800"/>
                </a:lnTo>
                <a:cubicBezTo>
                  <a:pt x="11372" y="50800"/>
                  <a:pt x="0" y="39428"/>
                  <a:pt x="0" y="25400"/>
                </a:cubicBezTo>
                <a:lnTo>
                  <a:pt x="0" y="25400"/>
                </a:lnTo>
                <a:cubicBezTo>
                  <a:pt x="0" y="11372"/>
                  <a:pt x="11372" y="0"/>
                  <a:pt x="25400" y="0"/>
                </a:cubicBezTo>
                <a:close/>
              </a:path>
            </a:pathLst>
          </a:custGeom>
          <a:solidFill>
            <a:srgbClr val="C3C9D2"/>
          </a:solidFill>
          <a:ln>
            <a:noFill/>
          </a:ln>
        </p:spPr>
        <p:txBody>
          <a:bodyPr rtlCol="0" anchor="ctr"/>
          <a:lstStyle/>
          <a:p>
            <a:pPr algn="ctr"/>
            <a:endParaRPr lang="ko-KR" dirty="0"/>
          </a:p>
        </p:txBody>
      </p:sp>
      <p:sp>
        <p:nvSpPr>
          <p:cNvPr id="34" name="b1"/>
          <p:cNvSpPr/>
          <p:nvPr/>
        </p:nvSpPr>
        <p:spPr>
          <a:xfrm>
            <a:off x="7011095" y="2759273"/>
            <a:ext cx="864890" cy="50800"/>
          </a:xfrm>
          <a:custGeom>
            <a:avLst/>
            <a:gdLst/>
            <a:ahLst/>
            <a:cxnLst/>
            <a:rect l="0" t="0" r="r" b="b"/>
            <a:pathLst>
              <a:path w="864890" h="50800" stroke="0">
                <a:moveTo>
                  <a:pt x="0" y="0"/>
                </a:moveTo>
                <a:lnTo>
                  <a:pt x="839490" y="0"/>
                </a:lnTo>
                <a:cubicBezTo>
                  <a:pt x="853518" y="0"/>
                  <a:pt x="864890" y="11372"/>
                  <a:pt x="864890" y="25400"/>
                </a:cubicBezTo>
                <a:lnTo>
                  <a:pt x="864890" y="25400"/>
                </a:lnTo>
                <a:cubicBezTo>
                  <a:pt x="864890" y="39428"/>
                  <a:pt x="853518" y="50800"/>
                  <a:pt x="839490" y="50800"/>
                </a:cubicBezTo>
                <a:lnTo>
                  <a:pt x="0" y="50800"/>
                </a:lnTo>
                <a:cubicBezTo>
                  <a:pt x="0" y="50800"/>
                  <a:pt x="0" y="50800"/>
                  <a:pt x="0" y="50800"/>
                </a:cubicBezTo>
                <a:lnTo>
                  <a:pt x="0" y="0"/>
                </a:lnTo>
                <a:cubicBezTo>
                  <a:pt x="0" y="0"/>
                  <a:pt x="0" y="0"/>
                  <a:pt x="0" y="0"/>
                </a:cubicBezTo>
                <a:close/>
              </a:path>
            </a:pathLst>
          </a:custGeom>
          <a:solidFill>
            <a:srgbClr val="EA002C"/>
          </a:solidFill>
          <a:ln>
            <a:noFill/>
          </a:ln>
        </p:spPr>
        <p:txBody>
          <a:bodyPr rtlCol="0" anchor="ctr"/>
          <a:lstStyle/>
          <a:p>
            <a:pPr algn="ctr"/>
            <a:endParaRPr lang="ko-KR" dirty="0"/>
          </a:p>
        </p:txBody>
      </p:sp>
      <p:sp>
        <p:nvSpPr>
          <p:cNvPr id="35" name="t4-con r2"/>
          <p:cNvSpPr/>
          <p:nvPr/>
        </p:nvSpPr>
        <p:spPr>
          <a:xfrm>
            <a:off x="609600" y="3130748"/>
            <a:ext cx="3200400" cy="1422400"/>
          </a:xfrm>
          <a:prstGeom prst="roundRect">
            <a:avLst>
              <a:gd name="adj" fmla="val 8929"/>
            </a:avLst>
          </a:prstGeom>
          <a:solidFill>
            <a:srgbClr val="F3F5F8"/>
          </a:solidFill>
          <a:ln>
            <a:noFill/>
          </a:ln>
        </p:spPr>
        <p:txBody>
          <a:bodyPr rtlCol="0" anchor="ctr"/>
          <a:lstStyle/>
          <a:p>
            <a:pPr algn="ctr"/>
            <a:endParaRPr lang="ko-KR" dirty="0"/>
          </a:p>
        </p:txBody>
      </p:sp>
      <p:sp>
        <p:nvSpPr>
          <p:cNvPr id="36" name="t4-ic"/>
          <p:cNvSpPr/>
          <p:nvPr/>
        </p:nvSpPr>
        <p:spPr>
          <a:xfrm>
            <a:off x="812800" y="3587948"/>
            <a:ext cx="508000" cy="508000"/>
          </a:xfrm>
          <a:prstGeom prst="roundRect">
            <a:avLst>
              <a:gd name="adj" fmla="val 25000"/>
            </a:avLst>
          </a:prstGeom>
          <a:solidFill>
            <a:srgbClr val="FFFFFF"/>
          </a:solidFill>
          <a:ln>
            <a:noFill/>
          </a:ln>
          <a:effectLst>
            <a:outerShdw blurRad="38100" dist="12700" dir="5400000" algn="ctr" rotWithShape="0">
              <a:srgbClr val="102A4C">
                <a:alpha val="6000"/>
              </a:srgbClr>
            </a:outerShdw>
          </a:effectLst>
        </p:spPr>
        <p:txBody>
          <a:bodyPr rtlCol="0" anchor="ctr"/>
          <a:lstStyle/>
          <a:p>
            <a:pPr algn="ctr"/>
            <a:endParaRPr lang="ko-KR" dirty="0"/>
          </a:p>
        </p:txBody>
      </p:sp>
      <p:sp>
        <p:nvSpPr>
          <p:cNvPr id="37" name="svg path"/>
          <p:cNvSpPr/>
          <p:nvPr/>
        </p:nvSpPr>
        <p:spPr>
          <a:xfrm>
            <a:off x="977900" y="3753048"/>
            <a:ext cx="177800" cy="88900"/>
          </a:xfrm>
          <a:custGeom>
            <a:avLst/>
            <a:gdLst/>
            <a:ahLst/>
            <a:cxnLst/>
            <a:rect l="0" t="0" r="r" b="b"/>
            <a:pathLst>
              <a:path w="177800" h="88900" fill="none">
                <a:moveTo>
                  <a:pt x="88900" y="0"/>
                </a:moveTo>
                <a:lnTo>
                  <a:pt x="177800" y="44450"/>
                </a:lnTo>
                <a:lnTo>
                  <a:pt x="88900" y="88900"/>
                </a:lnTo>
                <a:lnTo>
                  <a:pt x="0" y="44450"/>
                </a:lnTo>
                <a:close/>
              </a:path>
            </a:pathLst>
          </a:custGeom>
          <a:noFill/>
          <a:ln w="12700" cap="rnd">
            <a:solidFill>
              <a:srgbClr val="102A4C"/>
            </a:solidFill>
            <a:round/>
          </a:ln>
        </p:spPr>
        <p:txBody>
          <a:bodyPr rtlCol="0" anchor="ctr"/>
          <a:lstStyle/>
          <a:p>
            <a:pPr algn="ctr"/>
            <a:endParaRPr lang="ko-KR" dirty="0"/>
          </a:p>
        </p:txBody>
      </p:sp>
      <p:sp>
        <p:nvSpPr>
          <p:cNvPr id="38" name="svg path"/>
          <p:cNvSpPr/>
          <p:nvPr/>
        </p:nvSpPr>
        <p:spPr>
          <a:xfrm>
            <a:off x="977900" y="3841948"/>
            <a:ext cx="177800" cy="44450"/>
          </a:xfrm>
          <a:custGeom>
            <a:avLst/>
            <a:gdLst/>
            <a:ahLst/>
            <a:cxnLst/>
            <a:rect l="0" t="0" r="r" b="b"/>
            <a:pathLst>
              <a:path w="177800" h="44450" fill="none">
                <a:moveTo>
                  <a:pt x="0" y="0"/>
                </a:moveTo>
                <a:lnTo>
                  <a:pt x="88900" y="44450"/>
                </a:lnTo>
                <a:lnTo>
                  <a:pt x="177800" y="0"/>
                </a:lnTo>
              </a:path>
            </a:pathLst>
          </a:custGeom>
          <a:noFill/>
          <a:ln w="12700" cap="rnd">
            <a:solidFill>
              <a:srgbClr val="102A4C"/>
            </a:solidFill>
            <a:round/>
          </a:ln>
        </p:spPr>
        <p:txBody>
          <a:bodyPr rtlCol="0" anchor="ctr"/>
          <a:lstStyle/>
          <a:p>
            <a:pPr algn="ctr"/>
            <a:endParaRPr lang="ko-KR" dirty="0"/>
          </a:p>
        </p:txBody>
      </p:sp>
      <p:sp>
        <p:nvSpPr>
          <p:cNvPr id="39" name="svg path"/>
          <p:cNvSpPr/>
          <p:nvPr/>
        </p:nvSpPr>
        <p:spPr>
          <a:xfrm>
            <a:off x="977900" y="3886398"/>
            <a:ext cx="177800" cy="44450"/>
          </a:xfrm>
          <a:custGeom>
            <a:avLst/>
            <a:gdLst/>
            <a:ahLst/>
            <a:cxnLst/>
            <a:rect l="0" t="0" r="r" b="b"/>
            <a:pathLst>
              <a:path w="177800" h="44450" fill="none">
                <a:moveTo>
                  <a:pt x="0" y="0"/>
                </a:moveTo>
                <a:lnTo>
                  <a:pt x="88900" y="44450"/>
                </a:lnTo>
                <a:lnTo>
                  <a:pt x="177800" y="0"/>
                </a:lnTo>
              </a:path>
            </a:pathLst>
          </a:custGeom>
          <a:noFill/>
          <a:ln w="12700" cap="rnd">
            <a:solidFill>
              <a:srgbClr val="102A4C"/>
            </a:solidFill>
            <a:round/>
          </a:ln>
        </p:spPr>
        <p:txBody>
          <a:bodyPr rtlCol="0" anchor="ctr"/>
          <a:lstStyle/>
          <a:p>
            <a:pPr algn="ctr"/>
            <a:endParaRPr lang="ko-KR" dirty="0"/>
          </a:p>
        </p:txBody>
      </p:sp>
      <p:sp>
        <p:nvSpPr>
          <p:cNvPr id="40" name="t4-go r2::before"/>
          <p:cNvSpPr/>
          <p:nvPr/>
        </p:nvSpPr>
        <p:spPr>
          <a:xfrm>
            <a:off x="3810000" y="3835598"/>
            <a:ext cx="355600" cy="12700"/>
          </a:xfrm>
          <a:prstGeom prst="rect">
            <a:avLst/>
          </a:prstGeom>
          <a:solidFill>
            <a:srgbClr val="C8CFD8"/>
          </a:solidFill>
          <a:ln>
            <a:noFill/>
          </a:ln>
        </p:spPr>
        <p:txBody>
          <a:bodyPr rtlCol="0" anchor="ctr"/>
          <a:lstStyle/>
          <a:p>
            <a:pPr algn="ctr"/>
            <a:endParaRPr lang="ko-KR" dirty="0"/>
          </a:p>
        </p:txBody>
      </p:sp>
      <p:sp>
        <p:nvSpPr>
          <p:cNvPr id="41" name="i"/>
          <p:cNvSpPr/>
          <p:nvPr/>
        </p:nvSpPr>
        <p:spPr>
          <a:xfrm>
            <a:off x="3835400" y="3689548"/>
            <a:ext cx="304800" cy="304800"/>
          </a:xfrm>
          <a:prstGeom prst="ellipse">
            <a:avLst/>
          </a:prstGeom>
          <a:solidFill>
            <a:srgbClr val="102A4C"/>
          </a:solidFill>
          <a:ln>
            <a:noFill/>
          </a:ln>
        </p:spPr>
        <p:txBody>
          <a:bodyPr rtlCol="0" anchor="ctr"/>
          <a:lstStyle/>
          <a:p>
            <a:pPr algn="ctr"/>
            <a:endParaRPr lang="ko-KR" dirty="0"/>
          </a:p>
        </p:txBody>
      </p:sp>
      <p:sp>
        <p:nvSpPr>
          <p:cNvPr id="42" name="svg path"/>
          <p:cNvSpPr/>
          <p:nvPr/>
        </p:nvSpPr>
        <p:spPr>
          <a:xfrm>
            <a:off x="3971925" y="3807023"/>
            <a:ext cx="34925" cy="69850"/>
          </a:xfrm>
          <a:custGeom>
            <a:avLst/>
            <a:gdLst/>
            <a:ahLst/>
            <a:cxnLst/>
            <a:rect l="0" t="0" r="r" b="b"/>
            <a:pathLst>
              <a:path w="34925" h="69850" fill="none">
                <a:moveTo>
                  <a:pt x="0" y="0"/>
                </a:moveTo>
                <a:lnTo>
                  <a:pt x="34925" y="34925"/>
                </a:lnTo>
                <a:lnTo>
                  <a:pt x="0" y="69850"/>
                </a:lnTo>
              </a:path>
            </a:pathLst>
          </a:custGeom>
          <a:noFill/>
          <a:ln w="16510" cap="rnd">
            <a:solidFill>
              <a:srgbClr val="FFFFFF"/>
            </a:solidFill>
            <a:round/>
          </a:ln>
        </p:spPr>
        <p:txBody>
          <a:bodyPr rtlCol="0" anchor="ctr"/>
          <a:lstStyle/>
          <a:p>
            <a:pPr algn="ctr"/>
            <a:endParaRPr lang="ko-KR" dirty="0"/>
          </a:p>
        </p:txBody>
      </p:sp>
      <p:sp>
        <p:nvSpPr>
          <p:cNvPr id="43" name="t4-ev r2"/>
          <p:cNvSpPr/>
          <p:nvPr/>
        </p:nvSpPr>
        <p:spPr>
          <a:xfrm>
            <a:off x="4171950" y="3137098"/>
            <a:ext cx="4203700" cy="1409700"/>
          </a:xfrm>
          <a:prstGeom prst="roundRect">
            <a:avLst>
              <a:gd name="adj" fmla="val 8559"/>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44" name="t4-bar"/>
          <p:cNvSpPr/>
          <p:nvPr/>
        </p:nvSpPr>
        <p:spPr>
          <a:xfrm>
            <a:off x="4381500" y="4283273"/>
            <a:ext cx="1790700" cy="50800"/>
          </a:xfrm>
          <a:prstGeom prst="roundRect">
            <a:avLst>
              <a:gd name="adj" fmla="val 50000"/>
            </a:avLst>
          </a:prstGeom>
          <a:solidFill>
            <a:srgbClr val="E9EDF2"/>
          </a:solidFill>
          <a:ln>
            <a:noFill/>
          </a:ln>
        </p:spPr>
        <p:txBody>
          <a:bodyPr rtlCol="0" anchor="ctr"/>
          <a:lstStyle/>
          <a:p>
            <a:pPr algn="ctr"/>
            <a:endParaRPr lang="ko-KR" dirty="0"/>
          </a:p>
        </p:txBody>
      </p:sp>
      <p:sp>
        <p:nvSpPr>
          <p:cNvPr id="45" name="bn"/>
          <p:cNvSpPr/>
          <p:nvPr/>
        </p:nvSpPr>
        <p:spPr>
          <a:xfrm>
            <a:off x="4381500" y="4283273"/>
            <a:ext cx="1665288" cy="50800"/>
          </a:xfrm>
          <a:prstGeom prst="roundRect">
            <a:avLst>
              <a:gd name="adj" fmla="val 50000"/>
            </a:avLst>
          </a:prstGeom>
          <a:solidFill>
            <a:srgbClr val="2B4A78"/>
          </a:solidFill>
          <a:ln>
            <a:noFill/>
          </a:ln>
        </p:spPr>
        <p:txBody>
          <a:bodyPr rtlCol="0" anchor="ctr"/>
          <a:lstStyle/>
          <a:p>
            <a:pPr algn="ctr"/>
            <a:endParaRPr lang="ko-KR" dirty="0"/>
          </a:p>
        </p:txBody>
      </p:sp>
      <p:sp>
        <p:nvSpPr>
          <p:cNvPr id="46" name="t4-bar"/>
          <p:cNvSpPr/>
          <p:nvPr/>
        </p:nvSpPr>
        <p:spPr>
          <a:xfrm>
            <a:off x="6375400" y="4283273"/>
            <a:ext cx="1790700" cy="50800"/>
          </a:xfrm>
          <a:prstGeom prst="roundRect">
            <a:avLst>
              <a:gd name="adj" fmla="val 50000"/>
            </a:avLst>
          </a:prstGeom>
          <a:solidFill>
            <a:srgbClr val="E9EDF2"/>
          </a:solidFill>
          <a:ln>
            <a:noFill/>
          </a:ln>
        </p:spPr>
        <p:txBody>
          <a:bodyPr rtlCol="0" anchor="ctr"/>
          <a:lstStyle/>
          <a:p>
            <a:pPr algn="ctr"/>
            <a:endParaRPr lang="ko-KR" dirty="0"/>
          </a:p>
        </p:txBody>
      </p:sp>
      <p:sp>
        <p:nvSpPr>
          <p:cNvPr id="47" name="bn"/>
          <p:cNvSpPr/>
          <p:nvPr/>
        </p:nvSpPr>
        <p:spPr>
          <a:xfrm>
            <a:off x="6375400" y="4283273"/>
            <a:ext cx="1701105" cy="50800"/>
          </a:xfrm>
          <a:prstGeom prst="roundRect">
            <a:avLst>
              <a:gd name="adj" fmla="val 50000"/>
            </a:avLst>
          </a:prstGeom>
          <a:solidFill>
            <a:srgbClr val="2B4A78"/>
          </a:solidFill>
          <a:ln>
            <a:noFill/>
          </a:ln>
        </p:spPr>
        <p:txBody>
          <a:bodyPr rtlCol="0" anchor="ctr"/>
          <a:lstStyle/>
          <a:p>
            <a:pPr algn="ctr"/>
            <a:endParaRPr lang="ko-KR" dirty="0"/>
          </a:p>
        </p:txBody>
      </p:sp>
      <p:sp>
        <p:nvSpPr>
          <p:cNvPr id="48" name="t4-con r3"/>
          <p:cNvSpPr/>
          <p:nvPr/>
        </p:nvSpPr>
        <p:spPr>
          <a:xfrm>
            <a:off x="609600" y="4654748"/>
            <a:ext cx="3200400" cy="1422400"/>
          </a:xfrm>
          <a:prstGeom prst="roundRect">
            <a:avLst>
              <a:gd name="adj" fmla="val 8929"/>
            </a:avLst>
          </a:prstGeom>
          <a:solidFill>
            <a:srgbClr val="F3F5F8"/>
          </a:solidFill>
          <a:ln>
            <a:noFill/>
          </a:ln>
        </p:spPr>
        <p:txBody>
          <a:bodyPr rtlCol="0" anchor="ctr"/>
          <a:lstStyle/>
          <a:p>
            <a:pPr algn="ctr"/>
            <a:endParaRPr lang="ko-KR" dirty="0"/>
          </a:p>
        </p:txBody>
      </p:sp>
      <p:sp>
        <p:nvSpPr>
          <p:cNvPr id="49" name="t4-ic"/>
          <p:cNvSpPr/>
          <p:nvPr/>
        </p:nvSpPr>
        <p:spPr>
          <a:xfrm>
            <a:off x="812800" y="5111948"/>
            <a:ext cx="508000" cy="508000"/>
          </a:xfrm>
          <a:prstGeom prst="roundRect">
            <a:avLst>
              <a:gd name="adj" fmla="val 25000"/>
            </a:avLst>
          </a:prstGeom>
          <a:solidFill>
            <a:srgbClr val="FFFFFF"/>
          </a:solidFill>
          <a:ln>
            <a:noFill/>
          </a:ln>
          <a:effectLst>
            <a:outerShdw blurRad="38100" dist="12700" dir="5400000" algn="ctr" rotWithShape="0">
              <a:srgbClr val="102A4C">
                <a:alpha val="6000"/>
              </a:srgbClr>
            </a:outerShdw>
          </a:effectLst>
        </p:spPr>
        <p:txBody>
          <a:bodyPr rtlCol="0" anchor="ctr"/>
          <a:lstStyle/>
          <a:p>
            <a:pPr algn="ctr"/>
            <a:endParaRPr lang="ko-KR" dirty="0"/>
          </a:p>
        </p:txBody>
      </p:sp>
      <p:sp>
        <p:nvSpPr>
          <p:cNvPr id="50" name="svg path"/>
          <p:cNvSpPr/>
          <p:nvPr/>
        </p:nvSpPr>
        <p:spPr>
          <a:xfrm>
            <a:off x="977900" y="5315148"/>
            <a:ext cx="177800" cy="101600"/>
          </a:xfrm>
          <a:custGeom>
            <a:avLst/>
            <a:gdLst/>
            <a:ahLst/>
            <a:cxnLst/>
            <a:rect l="0" t="0" r="r" b="b"/>
            <a:pathLst>
              <a:path w="177800" h="101600" fill="none">
                <a:moveTo>
                  <a:pt x="0" y="0"/>
                </a:moveTo>
                <a:lnTo>
                  <a:pt x="0" y="101600"/>
                </a:lnTo>
                <a:moveTo>
                  <a:pt x="177800" y="0"/>
                </a:moveTo>
                <a:lnTo>
                  <a:pt x="177800" y="101600"/>
                </a:lnTo>
              </a:path>
            </a:pathLst>
          </a:custGeom>
          <a:noFill/>
          <a:ln w="12700" cap="rnd">
            <a:solidFill>
              <a:srgbClr val="102A4C"/>
            </a:solidFill>
            <a:round/>
          </a:ln>
        </p:spPr>
        <p:txBody>
          <a:bodyPr rtlCol="0" anchor="ctr"/>
          <a:lstStyle/>
          <a:p>
            <a:pPr algn="ctr"/>
            <a:endParaRPr lang="ko-KR" dirty="0"/>
          </a:p>
        </p:txBody>
      </p:sp>
      <p:sp>
        <p:nvSpPr>
          <p:cNvPr id="51" name="svg path"/>
          <p:cNvSpPr/>
          <p:nvPr/>
        </p:nvSpPr>
        <p:spPr>
          <a:xfrm>
            <a:off x="977900" y="5365948"/>
            <a:ext cx="177800" cy="1"/>
          </a:xfrm>
          <a:custGeom>
            <a:avLst/>
            <a:gdLst/>
            <a:ahLst/>
            <a:cxnLst/>
            <a:rect l="0" t="0" r="r" b="b"/>
            <a:pathLst>
              <a:path w="177800" h="1" fill="none">
                <a:moveTo>
                  <a:pt x="0" y="0"/>
                </a:moveTo>
                <a:lnTo>
                  <a:pt x="177800" y="0"/>
                </a:lnTo>
              </a:path>
            </a:pathLst>
          </a:custGeom>
          <a:noFill/>
          <a:ln w="12700" cap="rnd">
            <a:solidFill>
              <a:srgbClr val="102A4C"/>
            </a:solidFill>
            <a:round/>
          </a:ln>
        </p:spPr>
        <p:txBody>
          <a:bodyPr rtlCol="0" anchor="ctr"/>
          <a:lstStyle/>
          <a:p>
            <a:pPr algn="ctr"/>
            <a:endParaRPr lang="ko-KR" dirty="0"/>
          </a:p>
        </p:txBody>
      </p:sp>
      <p:sp>
        <p:nvSpPr>
          <p:cNvPr id="52" name="svg path"/>
          <p:cNvSpPr/>
          <p:nvPr/>
        </p:nvSpPr>
        <p:spPr>
          <a:xfrm>
            <a:off x="977900" y="5343723"/>
            <a:ext cx="177800" cy="44450"/>
          </a:xfrm>
          <a:custGeom>
            <a:avLst/>
            <a:gdLst/>
            <a:ahLst/>
            <a:cxnLst/>
            <a:rect l="0" t="0" r="r" b="b"/>
            <a:pathLst>
              <a:path w="177800" h="44450" fill="none">
                <a:moveTo>
                  <a:pt x="28575" y="0"/>
                </a:moveTo>
                <a:lnTo>
                  <a:pt x="0" y="22225"/>
                </a:lnTo>
                <a:lnTo>
                  <a:pt x="28575" y="44450"/>
                </a:lnTo>
                <a:moveTo>
                  <a:pt x="149225" y="0"/>
                </a:moveTo>
                <a:lnTo>
                  <a:pt x="177800" y="22225"/>
                </a:lnTo>
                <a:lnTo>
                  <a:pt x="149225" y="44450"/>
                </a:lnTo>
              </a:path>
            </a:pathLst>
          </a:custGeom>
          <a:noFill/>
          <a:ln w="12700" cap="rnd">
            <a:solidFill>
              <a:srgbClr val="102A4C"/>
            </a:solidFill>
            <a:round/>
          </a:ln>
        </p:spPr>
        <p:txBody>
          <a:bodyPr rtlCol="0" anchor="ctr"/>
          <a:lstStyle/>
          <a:p>
            <a:pPr algn="ctr"/>
            <a:endParaRPr lang="ko-KR" dirty="0"/>
          </a:p>
        </p:txBody>
      </p:sp>
      <p:sp>
        <p:nvSpPr>
          <p:cNvPr id="53" name="svg rect"/>
          <p:cNvSpPr/>
          <p:nvPr/>
        </p:nvSpPr>
        <p:spPr>
          <a:xfrm>
            <a:off x="971550" y="5435798"/>
            <a:ext cx="190500" cy="31750"/>
          </a:xfrm>
          <a:prstGeom prst="roundRect">
            <a:avLst>
              <a:gd name="adj" fmla="val 30000"/>
            </a:avLst>
          </a:prstGeom>
          <a:noFill/>
          <a:ln w="12700" cap="rnd">
            <a:solidFill>
              <a:srgbClr val="102A4C"/>
            </a:solidFill>
            <a:round/>
          </a:ln>
        </p:spPr>
        <p:txBody>
          <a:bodyPr rtlCol="0" anchor="ctr"/>
          <a:lstStyle/>
          <a:p>
            <a:pPr algn="ctr"/>
            <a:endParaRPr lang="ko-KR" dirty="0"/>
          </a:p>
        </p:txBody>
      </p:sp>
      <p:sp>
        <p:nvSpPr>
          <p:cNvPr id="54" name="svg path"/>
          <p:cNvSpPr/>
          <p:nvPr/>
        </p:nvSpPr>
        <p:spPr>
          <a:xfrm>
            <a:off x="1009650" y="5435798"/>
            <a:ext cx="114300" cy="15875"/>
          </a:xfrm>
          <a:custGeom>
            <a:avLst/>
            <a:gdLst/>
            <a:ahLst/>
            <a:cxnLst/>
            <a:rect l="0" t="0" r="r" b="b"/>
            <a:pathLst>
              <a:path w="114300" h="15875" fill="none">
                <a:moveTo>
                  <a:pt x="0" y="0"/>
                </a:moveTo>
                <a:lnTo>
                  <a:pt x="0" y="15875"/>
                </a:lnTo>
                <a:moveTo>
                  <a:pt x="38100" y="0"/>
                </a:moveTo>
                <a:lnTo>
                  <a:pt x="38100" y="15875"/>
                </a:lnTo>
                <a:moveTo>
                  <a:pt x="76200" y="0"/>
                </a:moveTo>
                <a:lnTo>
                  <a:pt x="76200" y="15875"/>
                </a:lnTo>
                <a:moveTo>
                  <a:pt x="114300" y="0"/>
                </a:moveTo>
                <a:lnTo>
                  <a:pt x="114300" y="15875"/>
                </a:lnTo>
              </a:path>
            </a:pathLst>
          </a:custGeom>
          <a:noFill/>
          <a:ln w="12700" cap="rnd">
            <a:solidFill>
              <a:srgbClr val="102A4C"/>
            </a:solidFill>
            <a:round/>
          </a:ln>
        </p:spPr>
        <p:txBody>
          <a:bodyPr rtlCol="0" anchor="ctr"/>
          <a:lstStyle/>
          <a:p>
            <a:pPr algn="ctr"/>
            <a:endParaRPr lang="ko-KR" dirty="0"/>
          </a:p>
        </p:txBody>
      </p:sp>
      <p:sp>
        <p:nvSpPr>
          <p:cNvPr id="55" name="t4-go r3::before"/>
          <p:cNvSpPr/>
          <p:nvPr/>
        </p:nvSpPr>
        <p:spPr>
          <a:xfrm>
            <a:off x="3810000" y="5359598"/>
            <a:ext cx="355600" cy="12700"/>
          </a:xfrm>
          <a:prstGeom prst="rect">
            <a:avLst/>
          </a:prstGeom>
          <a:solidFill>
            <a:srgbClr val="C8CFD8"/>
          </a:solidFill>
          <a:ln>
            <a:noFill/>
          </a:ln>
        </p:spPr>
        <p:txBody>
          <a:bodyPr rtlCol="0" anchor="ctr"/>
          <a:lstStyle/>
          <a:p>
            <a:pPr algn="ctr"/>
            <a:endParaRPr lang="ko-KR" dirty="0"/>
          </a:p>
        </p:txBody>
      </p:sp>
      <p:sp>
        <p:nvSpPr>
          <p:cNvPr id="56" name="i"/>
          <p:cNvSpPr/>
          <p:nvPr/>
        </p:nvSpPr>
        <p:spPr>
          <a:xfrm>
            <a:off x="3835400" y="5213548"/>
            <a:ext cx="304800" cy="304800"/>
          </a:xfrm>
          <a:prstGeom prst="ellipse">
            <a:avLst/>
          </a:prstGeom>
          <a:solidFill>
            <a:srgbClr val="102A4C"/>
          </a:solidFill>
          <a:ln>
            <a:noFill/>
          </a:ln>
        </p:spPr>
        <p:txBody>
          <a:bodyPr rtlCol="0" anchor="ctr"/>
          <a:lstStyle/>
          <a:p>
            <a:pPr algn="ctr"/>
            <a:endParaRPr lang="ko-KR" dirty="0"/>
          </a:p>
        </p:txBody>
      </p:sp>
      <p:sp>
        <p:nvSpPr>
          <p:cNvPr id="57" name="svg path"/>
          <p:cNvSpPr/>
          <p:nvPr/>
        </p:nvSpPr>
        <p:spPr>
          <a:xfrm>
            <a:off x="3971925" y="5331023"/>
            <a:ext cx="34925" cy="69850"/>
          </a:xfrm>
          <a:custGeom>
            <a:avLst/>
            <a:gdLst/>
            <a:ahLst/>
            <a:cxnLst/>
            <a:rect l="0" t="0" r="r" b="b"/>
            <a:pathLst>
              <a:path w="34925" h="69850" fill="none">
                <a:moveTo>
                  <a:pt x="0" y="0"/>
                </a:moveTo>
                <a:lnTo>
                  <a:pt x="34925" y="34925"/>
                </a:lnTo>
                <a:lnTo>
                  <a:pt x="0" y="69850"/>
                </a:lnTo>
              </a:path>
            </a:pathLst>
          </a:custGeom>
          <a:noFill/>
          <a:ln w="16510" cap="rnd">
            <a:solidFill>
              <a:srgbClr val="FFFFFF"/>
            </a:solidFill>
            <a:round/>
          </a:ln>
        </p:spPr>
        <p:txBody>
          <a:bodyPr rtlCol="0" anchor="ctr"/>
          <a:lstStyle/>
          <a:p>
            <a:pPr algn="ctr"/>
            <a:endParaRPr lang="ko-KR" dirty="0"/>
          </a:p>
        </p:txBody>
      </p:sp>
      <p:sp>
        <p:nvSpPr>
          <p:cNvPr id="58" name="t4-ev r3"/>
          <p:cNvSpPr/>
          <p:nvPr/>
        </p:nvSpPr>
        <p:spPr>
          <a:xfrm>
            <a:off x="4171950" y="4661098"/>
            <a:ext cx="4203700" cy="1409700"/>
          </a:xfrm>
          <a:prstGeom prst="roundRect">
            <a:avLst>
              <a:gd name="adj" fmla="val 8559"/>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59" name="delta"/>
          <p:cNvSpPr/>
          <p:nvPr/>
        </p:nvSpPr>
        <p:spPr>
          <a:xfrm>
            <a:off x="5485408" y="5413573"/>
            <a:ext cx="651371" cy="203200"/>
          </a:xfrm>
          <a:prstGeom prst="roundRect">
            <a:avLst>
              <a:gd name="adj" fmla="val 25000"/>
            </a:avLst>
          </a:prstGeom>
          <a:solidFill>
            <a:srgbClr val="FDECEF"/>
          </a:solidFill>
          <a:ln>
            <a:noFill/>
          </a:ln>
        </p:spPr>
        <p:txBody>
          <a:bodyPr rtlCol="0" anchor="ctr"/>
          <a:lstStyle/>
          <a:p>
            <a:pPr algn="ctr"/>
            <a:endParaRPr lang="ko-KR" dirty="0"/>
          </a:p>
        </p:txBody>
      </p:sp>
      <p:sp>
        <p:nvSpPr>
          <p:cNvPr id="60" name="t4-bar"/>
          <p:cNvSpPr/>
          <p:nvPr/>
        </p:nvSpPr>
        <p:spPr>
          <a:xfrm>
            <a:off x="4381500" y="5807273"/>
            <a:ext cx="1790700" cy="50800"/>
          </a:xfrm>
          <a:prstGeom prst="roundRect">
            <a:avLst>
              <a:gd name="adj" fmla="val 50000"/>
            </a:avLst>
          </a:prstGeom>
          <a:solidFill>
            <a:srgbClr val="E9EDF2"/>
          </a:solidFill>
          <a:ln>
            <a:noFill/>
          </a:ln>
        </p:spPr>
        <p:txBody>
          <a:bodyPr rtlCol="0" anchor="ctr"/>
          <a:lstStyle/>
          <a:p>
            <a:pPr algn="ctr"/>
            <a:endParaRPr lang="ko-KR" dirty="0"/>
          </a:p>
        </p:txBody>
      </p:sp>
      <p:sp>
        <p:nvSpPr>
          <p:cNvPr id="61" name="b0"/>
          <p:cNvSpPr/>
          <p:nvPr/>
        </p:nvSpPr>
        <p:spPr>
          <a:xfrm>
            <a:off x="4381500" y="5807273"/>
            <a:ext cx="660698" cy="50800"/>
          </a:xfrm>
          <a:custGeom>
            <a:avLst/>
            <a:gdLst/>
            <a:ahLst/>
            <a:cxnLst/>
            <a:rect l="0" t="0" r="r" b="b"/>
            <a:pathLst>
              <a:path w="660698" h="50800" stroke="0">
                <a:moveTo>
                  <a:pt x="25400" y="0"/>
                </a:moveTo>
                <a:lnTo>
                  <a:pt x="660698" y="0"/>
                </a:lnTo>
                <a:cubicBezTo>
                  <a:pt x="660698" y="0"/>
                  <a:pt x="660698" y="0"/>
                  <a:pt x="660698" y="0"/>
                </a:cubicBezTo>
                <a:lnTo>
                  <a:pt x="660698" y="50800"/>
                </a:lnTo>
                <a:cubicBezTo>
                  <a:pt x="660698" y="50800"/>
                  <a:pt x="660698" y="50800"/>
                  <a:pt x="660698" y="50800"/>
                </a:cubicBezTo>
                <a:lnTo>
                  <a:pt x="25400" y="50800"/>
                </a:lnTo>
                <a:cubicBezTo>
                  <a:pt x="11372" y="50800"/>
                  <a:pt x="0" y="39428"/>
                  <a:pt x="0" y="25400"/>
                </a:cubicBezTo>
                <a:lnTo>
                  <a:pt x="0" y="25400"/>
                </a:lnTo>
                <a:cubicBezTo>
                  <a:pt x="0" y="11372"/>
                  <a:pt x="11372" y="0"/>
                  <a:pt x="25400" y="0"/>
                </a:cubicBezTo>
                <a:close/>
              </a:path>
            </a:pathLst>
          </a:custGeom>
          <a:solidFill>
            <a:srgbClr val="C3C9D2"/>
          </a:solidFill>
          <a:ln>
            <a:noFill/>
          </a:ln>
        </p:spPr>
        <p:txBody>
          <a:bodyPr rtlCol="0" anchor="ctr"/>
          <a:lstStyle/>
          <a:p>
            <a:pPr algn="ctr"/>
            <a:endParaRPr lang="ko-KR" dirty="0"/>
          </a:p>
        </p:txBody>
      </p:sp>
      <p:sp>
        <p:nvSpPr>
          <p:cNvPr id="62" name="b1"/>
          <p:cNvSpPr/>
          <p:nvPr/>
        </p:nvSpPr>
        <p:spPr>
          <a:xfrm>
            <a:off x="5042198" y="5807273"/>
            <a:ext cx="605234" cy="50800"/>
          </a:xfrm>
          <a:custGeom>
            <a:avLst/>
            <a:gdLst/>
            <a:ahLst/>
            <a:cxnLst/>
            <a:rect l="0" t="0" r="r" b="b"/>
            <a:pathLst>
              <a:path w="605234" h="50800" stroke="0">
                <a:moveTo>
                  <a:pt x="0" y="0"/>
                </a:moveTo>
                <a:lnTo>
                  <a:pt x="579834" y="0"/>
                </a:lnTo>
                <a:cubicBezTo>
                  <a:pt x="593863" y="0"/>
                  <a:pt x="605234" y="11372"/>
                  <a:pt x="605234" y="25400"/>
                </a:cubicBezTo>
                <a:lnTo>
                  <a:pt x="605234" y="25400"/>
                </a:lnTo>
                <a:cubicBezTo>
                  <a:pt x="605234" y="39428"/>
                  <a:pt x="593863" y="50800"/>
                  <a:pt x="579834" y="50800"/>
                </a:cubicBezTo>
                <a:lnTo>
                  <a:pt x="0" y="50800"/>
                </a:lnTo>
                <a:cubicBezTo>
                  <a:pt x="0" y="50800"/>
                  <a:pt x="0" y="50800"/>
                  <a:pt x="0" y="50800"/>
                </a:cubicBezTo>
                <a:lnTo>
                  <a:pt x="0" y="0"/>
                </a:lnTo>
                <a:cubicBezTo>
                  <a:pt x="0" y="0"/>
                  <a:pt x="0" y="0"/>
                  <a:pt x="0" y="0"/>
                </a:cubicBezTo>
                <a:close/>
              </a:path>
            </a:pathLst>
          </a:custGeom>
          <a:solidFill>
            <a:srgbClr val="EA002C"/>
          </a:solidFill>
          <a:ln>
            <a:noFill/>
          </a:ln>
        </p:spPr>
        <p:txBody>
          <a:bodyPr rtlCol="0" anchor="ctr"/>
          <a:lstStyle/>
          <a:p>
            <a:pPr algn="ctr"/>
            <a:endParaRPr lang="ko-KR" dirty="0"/>
          </a:p>
        </p:txBody>
      </p:sp>
      <p:sp>
        <p:nvSpPr>
          <p:cNvPr id="63" name="t4-bar"/>
          <p:cNvSpPr/>
          <p:nvPr/>
        </p:nvSpPr>
        <p:spPr>
          <a:xfrm>
            <a:off x="6375400" y="5807273"/>
            <a:ext cx="1790700" cy="50800"/>
          </a:xfrm>
          <a:prstGeom prst="roundRect">
            <a:avLst>
              <a:gd name="adj" fmla="val 50000"/>
            </a:avLst>
          </a:prstGeom>
          <a:solidFill>
            <a:srgbClr val="E9EDF2"/>
          </a:solidFill>
          <a:ln>
            <a:noFill/>
          </a:ln>
        </p:spPr>
        <p:txBody>
          <a:bodyPr rtlCol="0" anchor="ctr"/>
          <a:lstStyle/>
          <a:p>
            <a:pPr algn="ctr"/>
            <a:endParaRPr lang="ko-KR" dirty="0"/>
          </a:p>
        </p:txBody>
      </p:sp>
      <p:sp>
        <p:nvSpPr>
          <p:cNvPr id="64" name="b0 solo"/>
          <p:cNvSpPr/>
          <p:nvPr/>
        </p:nvSpPr>
        <p:spPr>
          <a:xfrm>
            <a:off x="6375400" y="5807273"/>
            <a:ext cx="660698" cy="50800"/>
          </a:xfrm>
          <a:prstGeom prst="roundRect">
            <a:avLst>
              <a:gd name="adj" fmla="val 50000"/>
            </a:avLst>
          </a:prstGeom>
          <a:solidFill>
            <a:srgbClr val="C3C9D2"/>
          </a:solidFill>
          <a:ln>
            <a:noFill/>
          </a:ln>
        </p:spPr>
        <p:txBody>
          <a:bodyPr rtlCol="0" anchor="ctr"/>
          <a:lstStyle/>
          <a:p>
            <a:pPr algn="ctr"/>
            <a:endParaRPr lang="ko-KR" dirty="0"/>
          </a:p>
        </p:txBody>
      </p:sp>
      <p:sp>
        <p:nvSpPr>
          <p:cNvPr id="65" name="svg path"/>
          <p:cNvSpPr/>
          <p:nvPr/>
        </p:nvSpPr>
        <p:spPr>
          <a:xfrm>
            <a:off x="8664575" y="1317823"/>
            <a:ext cx="107950" cy="120650"/>
          </a:xfrm>
          <a:custGeom>
            <a:avLst/>
            <a:gdLst/>
            <a:ahLst/>
            <a:cxnLst/>
            <a:rect l="0" t="0" r="r" b="b"/>
            <a:pathLst>
              <a:path w="107950" h="120650" fill="none">
                <a:moveTo>
                  <a:pt x="53975" y="0"/>
                </a:moveTo>
                <a:lnTo>
                  <a:pt x="107950" y="30163"/>
                </a:lnTo>
                <a:lnTo>
                  <a:pt x="107950" y="90488"/>
                </a:lnTo>
                <a:lnTo>
                  <a:pt x="53975" y="120650"/>
                </a:lnTo>
                <a:lnTo>
                  <a:pt x="0" y="90488"/>
                </a:lnTo>
                <a:lnTo>
                  <a:pt x="0" y="30163"/>
                </a:lnTo>
                <a:close/>
              </a:path>
            </a:pathLst>
          </a:custGeom>
          <a:noFill/>
          <a:ln w="12700">
            <a:solidFill>
              <a:srgbClr val="102A4C"/>
            </a:solidFill>
            <a:round/>
          </a:ln>
        </p:spPr>
        <p:txBody>
          <a:bodyPr rtlCol="0" anchor="ctr"/>
          <a:lstStyle/>
          <a:p>
            <a:pPr algn="ctr"/>
            <a:endParaRPr lang="ko-KR" dirty="0"/>
          </a:p>
        </p:txBody>
      </p:sp>
      <p:sp>
        <p:nvSpPr>
          <p:cNvPr id="66" name="svg path"/>
          <p:cNvSpPr/>
          <p:nvPr/>
        </p:nvSpPr>
        <p:spPr>
          <a:xfrm>
            <a:off x="8664575" y="1347986"/>
            <a:ext cx="107950" cy="90488"/>
          </a:xfrm>
          <a:custGeom>
            <a:avLst/>
            <a:gdLst/>
            <a:ahLst/>
            <a:cxnLst/>
            <a:rect l="0" t="0" r="r" b="b"/>
            <a:pathLst>
              <a:path w="107950" h="90488" fill="none">
                <a:moveTo>
                  <a:pt x="0" y="0"/>
                </a:moveTo>
                <a:lnTo>
                  <a:pt x="53975" y="30163"/>
                </a:lnTo>
                <a:lnTo>
                  <a:pt x="107950" y="0"/>
                </a:lnTo>
                <a:moveTo>
                  <a:pt x="53975" y="30163"/>
                </a:moveTo>
                <a:lnTo>
                  <a:pt x="53975" y="90488"/>
                </a:lnTo>
              </a:path>
            </a:pathLst>
          </a:custGeom>
          <a:noFill/>
          <a:ln w="12700">
            <a:solidFill>
              <a:srgbClr val="102A4C"/>
            </a:solidFill>
            <a:round/>
          </a:ln>
        </p:spPr>
        <p:txBody>
          <a:bodyPr rtlCol="0" anchor="ctr"/>
          <a:lstStyle/>
          <a:p>
            <a:pPr algn="ctr"/>
            <a:endParaRPr lang="ko-KR" dirty="0"/>
          </a:p>
        </p:txBody>
      </p:sp>
      <p:sp>
        <p:nvSpPr>
          <p:cNvPr id="67" name="t4-ch c3::after"/>
          <p:cNvSpPr/>
          <p:nvPr/>
        </p:nvSpPr>
        <p:spPr>
          <a:xfrm>
            <a:off x="9542463" y="1371798"/>
            <a:ext cx="2039938" cy="12700"/>
          </a:xfrm>
          <a:prstGeom prst="roundRect">
            <a:avLst>
              <a:gd name="adj" fmla="val 50000"/>
            </a:avLst>
          </a:prstGeom>
          <a:solidFill>
            <a:srgbClr val="102A4C"/>
          </a:solidFill>
          <a:ln>
            <a:noFill/>
          </a:ln>
        </p:spPr>
        <p:txBody>
          <a:bodyPr rtlCol="0" anchor="ctr"/>
          <a:lstStyle/>
          <a:p>
            <a:pPr algn="ctr"/>
            <a:endParaRPr lang="ko-KR" dirty="0"/>
          </a:p>
        </p:txBody>
      </p:sp>
      <p:sp>
        <p:nvSpPr>
          <p:cNvPr id="68" name="t4-hero"/>
          <p:cNvSpPr/>
          <p:nvPr/>
        </p:nvSpPr>
        <p:spPr>
          <a:xfrm>
            <a:off x="8636000" y="1606748"/>
            <a:ext cx="2946400" cy="4730750"/>
          </a:xfrm>
          <a:prstGeom prst="roundRect">
            <a:avLst>
              <a:gd name="adj" fmla="val 4310"/>
            </a:avLst>
          </a:prstGeom>
          <a:solidFill>
            <a:srgbClr val="102A4C"/>
          </a:solidFill>
          <a:ln>
            <a:noFill/>
          </a:ln>
          <a:effectLst>
            <a:outerShdw blurRad="177800" dist="63500" dir="5400000" algn="ctr" rotWithShape="0">
              <a:srgbClr val="102A4C">
                <a:alpha val="18000"/>
              </a:srgbClr>
            </a:outerShdw>
          </a:effectLst>
        </p:spPr>
        <p:txBody>
          <a:bodyPr rtlCol="0" anchor="ctr"/>
          <a:lstStyle/>
          <a:p>
            <a:pPr algn="ctr"/>
            <a:endParaRPr lang="ko-KR" dirty="0"/>
          </a:p>
        </p:txBody>
      </p:sp>
      <p:sp>
        <p:nvSpPr>
          <p:cNvPr id="69" name="t4-tag"/>
          <p:cNvSpPr/>
          <p:nvPr/>
        </p:nvSpPr>
        <p:spPr>
          <a:xfrm>
            <a:off x="10480873" y="1822648"/>
            <a:ext cx="847527" cy="203200"/>
          </a:xfrm>
          <a:prstGeom prst="roundRect">
            <a:avLst>
              <a:gd name="adj" fmla="val 50000"/>
            </a:avLst>
          </a:prstGeom>
          <a:solidFill>
            <a:srgbClr val="FFFFFF">
              <a:alpha val="12000"/>
            </a:srgbClr>
          </a:solidFill>
          <a:ln>
            <a:noFill/>
          </a:ln>
        </p:spPr>
        <p:txBody>
          <a:bodyPr rtlCol="0" anchor="ctr"/>
          <a:lstStyle/>
          <a:p>
            <a:pPr algn="ctr"/>
            <a:endParaRPr lang="ko-KR" dirty="0"/>
          </a:p>
        </p:txBody>
      </p:sp>
      <p:sp>
        <p:nvSpPr>
          <p:cNvPr id="70" name="svg path"/>
          <p:cNvSpPr/>
          <p:nvPr/>
        </p:nvSpPr>
        <p:spPr>
          <a:xfrm>
            <a:off x="10572948" y="1882973"/>
            <a:ext cx="82550" cy="85725"/>
          </a:xfrm>
          <a:custGeom>
            <a:avLst/>
            <a:gdLst/>
            <a:ahLst/>
            <a:cxnLst/>
            <a:rect l="0" t="0" r="r" b="b"/>
            <a:pathLst>
              <a:path w="82550" h="85725" fill="none">
                <a:moveTo>
                  <a:pt x="0" y="85725"/>
                </a:moveTo>
                <a:lnTo>
                  <a:pt x="82550" y="85725"/>
                </a:lnTo>
                <a:moveTo>
                  <a:pt x="12700" y="85725"/>
                </a:moveTo>
                <a:lnTo>
                  <a:pt x="12700" y="19050"/>
                </a:lnTo>
                <a:lnTo>
                  <a:pt x="41275" y="0"/>
                </a:lnTo>
                <a:lnTo>
                  <a:pt x="69850" y="19050"/>
                </a:lnTo>
                <a:lnTo>
                  <a:pt x="69850" y="85725"/>
                </a:lnTo>
              </a:path>
            </a:pathLst>
          </a:custGeom>
          <a:noFill/>
          <a:ln w="12700" cap="rnd">
            <a:solidFill>
              <a:srgbClr val="FFFFFF">
                <a:alpha val="75000"/>
              </a:srgbClr>
            </a:solidFill>
            <a:round/>
          </a:ln>
        </p:spPr>
        <p:txBody>
          <a:bodyPr rtlCol="0" anchor="ctr"/>
          <a:lstStyle/>
          <a:p>
            <a:pPr algn="ctr"/>
            <a:endParaRPr lang="ko-KR" dirty="0"/>
          </a:p>
        </p:txBody>
      </p:sp>
      <p:sp>
        <p:nvSpPr>
          <p:cNvPr id="71" name="svg path"/>
          <p:cNvSpPr/>
          <p:nvPr/>
        </p:nvSpPr>
        <p:spPr>
          <a:xfrm>
            <a:off x="10604698" y="1917898"/>
            <a:ext cx="19050" cy="22225"/>
          </a:xfrm>
          <a:custGeom>
            <a:avLst/>
            <a:gdLst/>
            <a:ahLst/>
            <a:cxnLst/>
            <a:rect l="0" t="0" r="r" b="b"/>
            <a:pathLst>
              <a:path w="19050" h="22225" fill="none">
                <a:moveTo>
                  <a:pt x="0" y="0"/>
                </a:moveTo>
                <a:lnTo>
                  <a:pt x="19050" y="0"/>
                </a:lnTo>
                <a:moveTo>
                  <a:pt x="0" y="22225"/>
                </a:moveTo>
                <a:lnTo>
                  <a:pt x="19050" y="22225"/>
                </a:lnTo>
              </a:path>
            </a:pathLst>
          </a:custGeom>
          <a:noFill/>
          <a:ln w="12700" cap="rnd">
            <a:solidFill>
              <a:srgbClr val="FFFFFF">
                <a:alpha val="75000"/>
              </a:srgbClr>
            </a:solidFill>
            <a:miter lim="800000"/>
          </a:ln>
        </p:spPr>
        <p:txBody>
          <a:bodyPr rtlCol="0" anchor="ctr"/>
          <a:lstStyle/>
          <a:p>
            <a:pPr algn="ctr"/>
            <a:endParaRPr lang="ko-KR" dirty="0"/>
          </a:p>
        </p:txBody>
      </p:sp>
      <p:sp>
        <p:nvSpPr>
          <p:cNvPr id="72" name="t4-hbar"/>
          <p:cNvSpPr/>
          <p:nvPr/>
        </p:nvSpPr>
        <p:spPr>
          <a:xfrm>
            <a:off x="8890000" y="3291979"/>
            <a:ext cx="2438400" cy="76200"/>
          </a:xfrm>
          <a:prstGeom prst="roundRect">
            <a:avLst>
              <a:gd name="adj" fmla="val 50000"/>
            </a:avLst>
          </a:prstGeom>
          <a:solidFill>
            <a:srgbClr val="FFFFFF">
              <a:alpha val="16000"/>
            </a:srgbClr>
          </a:solidFill>
          <a:ln>
            <a:noFill/>
          </a:ln>
        </p:spPr>
        <p:txBody>
          <a:bodyPr rtlCol="0" anchor="ctr"/>
          <a:lstStyle/>
          <a:p>
            <a:pPr algn="ctr"/>
            <a:endParaRPr lang="ko-KR" dirty="0"/>
          </a:p>
        </p:txBody>
      </p:sp>
      <p:sp>
        <p:nvSpPr>
          <p:cNvPr id="73" name="i"/>
          <p:cNvSpPr/>
          <p:nvPr/>
        </p:nvSpPr>
        <p:spPr>
          <a:xfrm>
            <a:off x="8890000" y="3291979"/>
            <a:ext cx="2274987" cy="76200"/>
          </a:xfrm>
          <a:prstGeom prst="roundRect">
            <a:avLst>
              <a:gd name="adj" fmla="val 50000"/>
            </a:avLst>
          </a:prstGeom>
          <a:solidFill>
            <a:srgbClr val="EA002C"/>
          </a:solidFill>
          <a:ln>
            <a:noFill/>
          </a:ln>
        </p:spPr>
        <p:txBody>
          <a:bodyPr rtlCol="0" anchor="ctr"/>
          <a:lstStyle/>
          <a:p>
            <a:pPr algn="ctr"/>
            <a:endParaRPr lang="ko-KR" dirty="0"/>
          </a:p>
        </p:txBody>
      </p:sp>
      <p:sp>
        <p:nvSpPr>
          <p:cNvPr id="74" name="t4-elk::after"/>
          <p:cNvSpPr/>
          <p:nvPr/>
        </p:nvSpPr>
        <p:spPr>
          <a:xfrm>
            <a:off x="9422606" y="3871416"/>
            <a:ext cx="1905794" cy="9525"/>
          </a:xfrm>
          <a:prstGeom prst="rect">
            <a:avLst/>
          </a:prstGeom>
          <a:solidFill>
            <a:srgbClr val="FFFFFF">
              <a:alpha val="16000"/>
            </a:srgbClr>
          </a:solidFill>
          <a:ln>
            <a:noFill/>
          </a:ln>
        </p:spPr>
        <p:txBody>
          <a:bodyPr rtlCol="0" anchor="ctr"/>
          <a:lstStyle/>
          <a:p>
            <a:pPr algn="ctr"/>
            <a:endParaRPr lang="ko-KR" dirty="0"/>
          </a:p>
        </p:txBody>
      </p:sp>
      <p:sp>
        <p:nvSpPr>
          <p:cNvPr id="75" name="i"/>
          <p:cNvSpPr/>
          <p:nvPr/>
        </p:nvSpPr>
        <p:spPr>
          <a:xfrm>
            <a:off x="9677698" y="4025404"/>
            <a:ext cx="9525" cy="101600"/>
          </a:xfrm>
          <a:prstGeom prst="rect">
            <a:avLst/>
          </a:prstGeom>
          <a:solidFill>
            <a:srgbClr val="FFFFFF">
              <a:alpha val="22000"/>
            </a:srgbClr>
          </a:solidFill>
          <a:ln>
            <a:noFill/>
          </a:ln>
        </p:spPr>
        <p:txBody>
          <a:bodyPr rtlCol="0" anchor="ctr"/>
          <a:lstStyle/>
          <a:p>
            <a:pPr algn="ctr"/>
            <a:endParaRPr lang="ko-KR" dirty="0"/>
          </a:p>
        </p:txBody>
      </p:sp>
      <p:sp>
        <p:nvSpPr>
          <p:cNvPr id="76" name="i"/>
          <p:cNvSpPr/>
          <p:nvPr/>
        </p:nvSpPr>
        <p:spPr>
          <a:xfrm>
            <a:off x="10429280" y="4025404"/>
            <a:ext cx="9525" cy="101600"/>
          </a:xfrm>
          <a:prstGeom prst="rect">
            <a:avLst/>
          </a:prstGeom>
          <a:solidFill>
            <a:srgbClr val="FFFFFF">
              <a:alpha val="22000"/>
            </a:srgbClr>
          </a:solidFill>
          <a:ln>
            <a:noFill/>
          </a:ln>
        </p:spPr>
        <p:txBody>
          <a:bodyPr rtlCol="0" anchor="ctr"/>
          <a:lstStyle/>
          <a:p>
            <a:pPr algn="ctr"/>
            <a:endParaRPr lang="ko-KR" dirty="0"/>
          </a:p>
        </p:txBody>
      </p:sp>
      <p:sp>
        <p:nvSpPr>
          <p:cNvPr id="77" name="fig"/>
          <p:cNvSpPr/>
          <p:nvPr/>
        </p:nvSpPr>
        <p:spPr>
          <a:xfrm>
            <a:off x="8890000" y="4263529"/>
            <a:ext cx="2438400" cy="1667570"/>
          </a:xfrm>
          <a:prstGeom prst="roundRect">
            <a:avLst>
              <a:gd name="adj" fmla="val 4570"/>
            </a:avLst>
          </a:prstGeom>
          <a:solidFill>
            <a:srgbClr val="FFFFFF"/>
          </a:solidFill>
          <a:ln>
            <a:noFill/>
          </a:ln>
        </p:spPr>
        <p:txBody>
          <a:bodyPr rtlCol="0" anchor="ctr"/>
          <a:lstStyle/>
          <a:p>
            <a:pPr algn="ctr"/>
            <a:endParaRPr lang="ko-KR" dirty="0"/>
          </a:p>
        </p:txBody>
      </p:sp>
      <p:pic>
        <p:nvPicPr>
          <p:cNvPr id="78" name="img" descr="img">    </p:cNvPr>
          <p:cNvPicPr>
            <a:picLocks noChangeAspect="1"/>
          </p:cNvPicPr>
          <p:nvPr/>
        </p:nvPicPr>
        <p:blipFill>
          <a:blip r:embed="rId1"/>
          <a:stretch>
            <a:fillRect/>
          </a:stretch>
        </p:blipFill>
        <p:spPr>
          <a:xfrm>
            <a:off x="9271000" y="4337612"/>
            <a:ext cx="1625600" cy="1517650"/>
          </a:xfrm>
          <a:prstGeom prst="rect">
            <a:avLst/>
          </a:prstGeom>
        </p:spPr>
      </p:pic>
      <p:sp>
        <p:nvSpPr>
          <p:cNvPr id="79" name="04"/>
          <p:cNvSpPr txBox="1"/>
          <p:nvPr/>
        </p:nvSpPr>
        <p:spPr>
          <a:xfrm>
            <a:off x="609600" y="401439"/>
            <a:ext cx="218480"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04</a:t>
            </a:r>
            <a:endParaRPr lang="en-US" sz="950" dirty="0"/>
          </a:p>
        </p:txBody>
      </p:sp>
      <p:sp>
        <p:nvSpPr>
          <p:cNvPr id="80" name="연구 결과 및 기여"/>
          <p:cNvSpPr txBox="1"/>
          <p:nvPr/>
        </p:nvSpPr>
        <p:spPr>
          <a:xfrm>
            <a:off x="866180" y="401439"/>
            <a:ext cx="848916"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연구 결과 및 기여</a:t>
            </a:r>
            <a:endParaRPr lang="en-US" sz="950" dirty="0"/>
          </a:p>
        </p:txBody>
      </p:sp>
      <p:sp>
        <p:nvSpPr>
          <p:cNvPr id="81" name="얼마나 잘 됐고, 어떤 의미가 있는가"/>
          <p:cNvSpPr txBox="1"/>
          <p:nvPr/>
        </p:nvSpPr>
        <p:spPr>
          <a:xfrm>
            <a:off x="1848445" y="401439"/>
            <a:ext cx="1699577"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얼마나 잘 됐고, 어떤 의미가 있는가</a:t>
            </a:r>
            <a:endParaRPr lang="en-US" sz="950" dirty="0"/>
          </a:p>
        </p:txBody>
      </p:sp>
      <p:sp>
        <p:nvSpPr>
          <p:cNvPr id="82" name="세 가지 기여가 모두 수치로 뒷받침됩니다."/>
          <p:cNvSpPr txBox="1"/>
          <p:nvPr/>
        </p:nvSpPr>
        <p:spPr>
          <a:xfrm>
            <a:off x="609600" y="666750"/>
            <a:ext cx="4701078" cy="349250"/>
          </a:xfrm>
          <a:prstGeom prst="rect">
            <a:avLst/>
          </a:prstGeom>
          <a:noFill/>
          <a:ln/>
        </p:spPr>
        <p:txBody>
          <a:bodyPr wrap="none" lIns="0" tIns="0" rIns="0" bIns="0" rtlCol="0" anchor="ctr"/>
          <a:lstStyle/>
          <a:p>
            <a:pPr algn="l" indent="0" marL="0">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세 가지 기여가 모두 </a:t>
            </a: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수치로</a:t>
            </a: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 뒷받침됩니다.</a:t>
            </a:r>
            <a:endParaRPr lang="en-US" sz="2300" dirty="0"/>
          </a:p>
        </p:txBody>
      </p:sp>
      <p:sp>
        <p:nvSpPr>
          <p:cNvPr id="83"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01</a:t>
            </a:r>
            <a:endParaRPr lang="en-US" sz="700" dirty="0"/>
          </a:p>
        </p:txBody>
      </p:sp>
      <p:sp>
        <p:nvSpPr>
          <p:cNvPr id="84"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02</a:t>
            </a:r>
            <a:endParaRPr lang="en-US" sz="700" dirty="0"/>
          </a:p>
        </p:txBody>
      </p:sp>
      <p:sp>
        <p:nvSpPr>
          <p:cNvPr id="85"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03</a:t>
            </a:r>
            <a:endParaRPr lang="en-US" sz="700" dirty="0"/>
          </a:p>
        </p:txBody>
      </p:sp>
      <p:sp>
        <p:nvSpPr>
          <p:cNvPr id="86"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04</a:t>
            </a:r>
            <a:endParaRPr lang="en-US" sz="700" dirty="0"/>
          </a:p>
        </p:txBody>
      </p:sp>
      <p:sp>
        <p:nvSpPr>
          <p:cNvPr id="87"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737C8B"/>
                </a:solidFill>
                <a:latin typeface="Pretendard" pitchFamily="34" charset="0"/>
                <a:ea typeface="Pretendard" pitchFamily="34" charset="-127"/>
                <a:cs typeface="Pretendard" pitchFamily="34" charset="-120"/>
              </a:rPr>
              <a:t>05</a:t>
            </a:r>
            <a:endParaRPr lang="en-US" sz="700" dirty="0"/>
          </a:p>
        </p:txBody>
      </p:sp>
      <p:sp>
        <p:nvSpPr>
          <p:cNvPr id="88" name="연구 기여"/>
          <p:cNvSpPr txBox="1"/>
          <p:nvPr/>
        </p:nvSpPr>
        <p:spPr>
          <a:xfrm>
            <a:off x="876300" y="1282898"/>
            <a:ext cx="588963" cy="184150"/>
          </a:xfrm>
          <a:prstGeom prst="rect">
            <a:avLst/>
          </a:prstGeom>
          <a:noFill/>
          <a:ln/>
        </p:spPr>
        <p:txBody>
          <a:bodyPr wrap="none" lIns="0" tIns="0" rIns="0" bIns="0" rtlCol="0" anchor="ctr"/>
          <a:lstStyle/>
          <a:p>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연구 기여</a:t>
            </a:r>
            <a:endParaRPr lang="en-US" sz="1200" dirty="0"/>
          </a:p>
        </p:txBody>
      </p:sp>
      <p:sp>
        <p:nvSpPr>
          <p:cNvPr id="89" name="근거 수치"/>
          <p:cNvSpPr txBox="1"/>
          <p:nvPr/>
        </p:nvSpPr>
        <p:spPr>
          <a:xfrm>
            <a:off x="4432300" y="1282898"/>
            <a:ext cx="588963" cy="184150"/>
          </a:xfrm>
          <a:prstGeom prst="rect">
            <a:avLst/>
          </a:prstGeom>
          <a:noFill/>
          <a:ln/>
        </p:spPr>
        <p:txBody>
          <a:bodyPr wrap="none" lIns="0" tIns="0" rIns="0" bIns="0" rtlCol="0" anchor="ctr"/>
          <a:lstStyle/>
          <a:p>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근거 수치</a:t>
            </a:r>
            <a:endParaRPr lang="en-US" sz="1200" dirty="0"/>
          </a:p>
        </p:txBody>
      </p:sp>
      <p:sp>
        <p:nvSpPr>
          <p:cNvPr id="90" name="비교 기준"/>
          <p:cNvSpPr txBox="1"/>
          <p:nvPr/>
        </p:nvSpPr>
        <p:spPr>
          <a:xfrm>
            <a:off x="7454602" y="1314648"/>
            <a:ext cx="416024" cy="120650"/>
          </a:xfrm>
          <a:prstGeom prst="rect">
            <a:avLst/>
          </a:prstGeom>
          <a:noFill/>
          <a:ln/>
        </p:spPr>
        <p:txBody>
          <a:bodyPr wrap="none" lIns="0" tIns="0" rIns="0" bIns="0" rtlCol="0" anchor="ctr"/>
          <a:lstStyle/>
          <a:p>
            <a:pPr algn="l" indent="0" marL="0">
              <a:buNone/>
            </a:pPr>
            <a:r>
              <a:rPr lang="ko-KR" altLang="en-US" sz="800" spc="-16" kern="0" dirty="0">
                <a:solidFill>
                  <a:srgbClr val="737C8B"/>
                </a:solidFill>
                <a:latin typeface="Pretendard SemiBold" pitchFamily="34" charset="0"/>
                <a:ea typeface="Pretendard SemiBold" pitchFamily="34" charset="-127"/>
                <a:cs typeface="Pretendard SemiBold" pitchFamily="34" charset="-120"/>
              </a:rPr>
              <a:t>비교 기준</a:t>
            </a:r>
            <a:endParaRPr lang="en-US" sz="800" dirty="0"/>
          </a:p>
        </p:txBody>
      </p:sp>
      <p:sp>
        <p:nvSpPr>
          <p:cNvPr id="91" name="향상분"/>
          <p:cNvSpPr txBox="1"/>
          <p:nvPr/>
        </p:nvSpPr>
        <p:spPr>
          <a:xfrm>
            <a:off x="8124627" y="1314648"/>
            <a:ext cx="308173" cy="120650"/>
          </a:xfrm>
          <a:prstGeom prst="rect">
            <a:avLst/>
          </a:prstGeom>
          <a:noFill/>
          <a:ln/>
        </p:spPr>
        <p:txBody>
          <a:bodyPr wrap="none" lIns="0" tIns="0" rIns="0" bIns="0" rtlCol="0" anchor="ctr"/>
          <a:lstStyle/>
          <a:p>
            <a:pPr algn="l" indent="0" marL="0">
              <a:buNone/>
            </a:pPr>
            <a:r>
              <a:rPr lang="ko-KR" altLang="en-US" sz="800" spc="-16" kern="0" dirty="0">
                <a:solidFill>
                  <a:srgbClr val="737C8B"/>
                </a:solidFill>
                <a:latin typeface="Pretendard SemiBold" pitchFamily="34" charset="0"/>
                <a:ea typeface="Pretendard SemiBold" pitchFamily="34" charset="-127"/>
                <a:cs typeface="Pretendard SemiBold" pitchFamily="34" charset="-120"/>
              </a:rPr>
              <a:t>향상분</a:t>
            </a:r>
            <a:endParaRPr lang="en-US" sz="800" dirty="0"/>
          </a:p>
        </p:txBody>
      </p:sp>
      <p:sp>
        <p:nvSpPr>
          <p:cNvPr id="92" name="기여 1"/>
          <p:cNvSpPr txBox="1"/>
          <p:nvPr/>
        </p:nvSpPr>
        <p:spPr>
          <a:xfrm>
            <a:off x="1473200" y="1975842"/>
            <a:ext cx="314027" cy="120650"/>
          </a:xfrm>
          <a:prstGeom prst="rect">
            <a:avLst/>
          </a:prstGeom>
          <a:noFill/>
          <a:ln/>
        </p:spPr>
        <p:txBody>
          <a:bodyPr wrap="none" lIns="0" tIns="0" rIns="0" bIns="0" rtlCol="0" anchor="ctr"/>
          <a:lstStyle/>
          <a:p>
            <a:pPr algn="l" indent="0" marL="0">
              <a:buNone/>
            </a:pPr>
            <a:r>
              <a:rPr lang="ko-KR" altLang="en-US" sz="800" spc="32" kern="0" dirty="0">
                <a:solidFill>
                  <a:srgbClr val="EA002C"/>
                </a:solidFill>
                <a:latin typeface="Pretendard ExtraBold" pitchFamily="34" charset="0"/>
                <a:ea typeface="Pretendard ExtraBold" pitchFamily="34" charset="-127"/>
                <a:cs typeface="Pretendard ExtraBold" pitchFamily="34" charset="-120"/>
              </a:rPr>
              <a:t>기여 1</a:t>
            </a:r>
            <a:endParaRPr lang="en-US" sz="800" dirty="0"/>
          </a:p>
        </p:txBody>
      </p:sp>
      <p:sp>
        <p:nvSpPr>
          <p:cNvPr id="93" name="도면 종류별 최적학습·인식 전략 제안"/>
          <p:cNvSpPr txBox="1"/>
          <p:nvPr/>
        </p:nvSpPr>
        <p:spPr>
          <a:xfrm>
            <a:off x="1473200" y="2173486"/>
            <a:ext cx="1262378" cy="455612"/>
          </a:xfrm>
          <a:prstGeom prst="rect">
            <a:avLst/>
          </a:prstGeom>
          <a:noFill/>
          <a:ln/>
        </p:spPr>
        <p:txBody>
          <a:bodyPr wrap="none" lIns="0" tIns="0" rIns="0" bIns="0" rtlCol="0" anchor="t"/>
          <a:lstStyle/>
          <a:p>
            <a:pPr algn="l" indent="0" marL="0">
              <a:lnSpc>
                <a:spcPts val="1794"/>
              </a:lnSpc>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도면 종류별 최적</a:t>
            </a:r>
            <a:b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학습·인식 전략 제안</a:t>
            </a:r>
            <a:endParaRPr lang="en-US" sz="1300" dirty="0"/>
          </a:p>
        </p:txBody>
      </p:sp>
      <p:sp>
        <p:nvSpPr>
          <p:cNvPr id="94" name="도면 객체 인식 mAP@0.5"/>
          <p:cNvSpPr txBox="1"/>
          <p:nvPr/>
        </p:nvSpPr>
        <p:spPr>
          <a:xfrm>
            <a:off x="4381500" y="1813123"/>
            <a:ext cx="1311283" cy="146050"/>
          </a:xfrm>
          <a:prstGeom prst="rect">
            <a:avLst/>
          </a:prstGeom>
          <a:noFill/>
          <a:ln/>
        </p:spPr>
        <p:txBody>
          <a:bodyPr wrap="none" lIns="0" tIns="0" rIns="0" bIns="0" rtlCol="0" anchor="ctr"/>
          <a:lstStyle/>
          <a:p>
            <a:pPr algn="l" indent="0" marL="0">
              <a:buNone/>
            </a:pPr>
            <a:r>
              <a:rPr lang="ko-KR" altLang="en-US" sz="950" spc="-19" kern="0" dirty="0">
                <a:solidFill>
                  <a:srgbClr val="102A4C"/>
                </a:solidFill>
                <a:latin typeface="Pretendard ExtraBold" pitchFamily="34" charset="0"/>
                <a:ea typeface="Pretendard ExtraBold" pitchFamily="34" charset="-127"/>
                <a:cs typeface="Pretendard ExtraBold" pitchFamily="34" charset="-120"/>
              </a:rPr>
              <a:t>도면 객체 인식 mAP@0.5</a:t>
            </a:r>
            <a:endParaRPr lang="en-US" sz="950" dirty="0"/>
          </a:p>
        </p:txBody>
      </p:sp>
      <p:sp>
        <p:nvSpPr>
          <p:cNvPr id="95" name="·  학습 이미지 평면도 72,792장 · 입면도 16,992장"/>
          <p:cNvSpPr txBox="1"/>
          <p:nvPr/>
        </p:nvSpPr>
        <p:spPr>
          <a:xfrm>
            <a:off x="5669359" y="1813123"/>
            <a:ext cx="2480163" cy="146050"/>
          </a:xfrm>
          <a:prstGeom prst="rect">
            <a:avLst/>
          </a:prstGeom>
          <a:noFill/>
          <a:ln/>
        </p:spPr>
        <p:txBody>
          <a:bodyPr wrap="none" lIns="0" tIns="0" rIns="0" bIns="0" rtlCol="0" anchor="ctr"/>
          <a:lstStyle/>
          <a:p>
            <a:pPr algn="l" indent="0" marL="0">
              <a:buNone/>
            </a:pPr>
            <a:r>
              <a:rPr lang="ko-KR" altLang="en-US" sz="950" spc="-19" kern="0" dirty="0">
                <a:solidFill>
                  <a:srgbClr val="737C8B"/>
                </a:solidFill>
                <a:latin typeface="Pretendard SemiBold" pitchFamily="34" charset="0"/>
                <a:ea typeface="Pretendard SemiBold" pitchFamily="34" charset="-127"/>
                <a:cs typeface="Pretendard SemiBold" pitchFamily="34" charset="-120"/>
              </a:rPr>
              <a:t>·  학습 이미지 평면도 72,792장 · 입면도 16,992장</a:t>
            </a:r>
            <a:endParaRPr lang="en-US" sz="950" dirty="0"/>
          </a:p>
        </p:txBody>
      </p:sp>
      <p:sp>
        <p:nvSpPr>
          <p:cNvPr id="96" name="평면도"/>
          <p:cNvSpPr txBox="1"/>
          <p:nvPr/>
        </p:nvSpPr>
        <p:spPr>
          <a:xfrm>
            <a:off x="4381500" y="2092523"/>
            <a:ext cx="359073" cy="146050"/>
          </a:xfrm>
          <a:prstGeom prst="rect">
            <a:avLst/>
          </a:prstGeom>
          <a:noFill/>
          <a:ln/>
        </p:spPr>
        <p:txBody>
          <a:bodyPr wrap="none" lIns="0" tIns="0" rIns="0" bIns="0" rtlCol="0" anchor="ctr"/>
          <a:lstStyle/>
          <a:p>
            <a:pPr algn="l" indent="0" marL="0">
              <a:buNone/>
            </a:pPr>
            <a:r>
              <a:rPr lang="ko-KR" altLang="en-US" sz="950" b="1" spc="-12" kern="0" dirty="0">
                <a:solidFill>
                  <a:srgbClr val="3F4654"/>
                </a:solidFill>
                <a:latin typeface="Pretendard" pitchFamily="34" charset="0"/>
                <a:ea typeface="Pretendard" pitchFamily="34" charset="-127"/>
                <a:cs typeface="Pretendard" pitchFamily="34" charset="-120"/>
              </a:rPr>
              <a:t>평면도</a:t>
            </a:r>
            <a:endParaRPr lang="en-US" sz="950" dirty="0"/>
          </a:p>
        </p:txBody>
      </p:sp>
      <p:sp>
        <p:nvSpPr>
          <p:cNvPr id="97" name="Baseline 0.507"/>
          <p:cNvSpPr txBox="1"/>
          <p:nvPr/>
        </p:nvSpPr>
        <p:spPr>
          <a:xfrm>
            <a:off x="5484416" y="2111573"/>
            <a:ext cx="738584" cy="120650"/>
          </a:xfrm>
          <a:prstGeom prst="rect">
            <a:avLst/>
          </a:prstGeom>
          <a:noFill/>
          <a:ln/>
        </p:spPr>
        <p:txBody>
          <a:bodyPr wrap="none" lIns="0" tIns="0" rIns="0" bIns="0" rtlCol="0" anchor="ctr"/>
          <a:lstStyle/>
          <a:p>
            <a:pPr algn="l" indent="0" marL="0">
              <a:buNone/>
            </a:pPr>
            <a:r>
              <a:rPr lang="ko-KR" altLang="en-US" sz="800" spc="-16" kern="0" dirty="0">
                <a:solidFill>
                  <a:srgbClr val="737C8B"/>
                </a:solidFill>
                <a:latin typeface="Pretendard SemiBold" pitchFamily="34" charset="0"/>
                <a:ea typeface="Pretendard SemiBold" pitchFamily="34" charset="-127"/>
                <a:cs typeface="Pretendard SemiBold" pitchFamily="34" charset="-120"/>
              </a:rPr>
              <a:t>Baseline </a:t>
            </a:r>
            <a:r>
              <a:rPr lang="ko-KR" altLang="en-US" sz="800" b="1" spc="8" kern="0" dirty="0">
                <a:solidFill>
                  <a:srgbClr val="3F4654"/>
                </a:solidFill>
                <a:latin typeface="Pretendard" pitchFamily="34" charset="0"/>
                <a:ea typeface="Pretendard" pitchFamily="34" charset="-127"/>
                <a:cs typeface="Pretendard" pitchFamily="34" charset="-120"/>
              </a:rPr>
              <a:t>0.507</a:t>
            </a:r>
            <a:endParaRPr lang="en-US" sz="800" dirty="0"/>
          </a:p>
        </p:txBody>
      </p:sp>
      <p:sp>
        <p:nvSpPr>
          <p:cNvPr id="98" name="0.934"/>
          <p:cNvSpPr txBox="1"/>
          <p:nvPr/>
        </p:nvSpPr>
        <p:spPr>
          <a:xfrm>
            <a:off x="4381500" y="2238573"/>
            <a:ext cx="1116294" cy="450850"/>
          </a:xfrm>
          <a:prstGeom prst="rect">
            <a:avLst/>
          </a:prstGeom>
          <a:noFill/>
          <a:ln/>
        </p:spPr>
        <p:txBody>
          <a:bodyPr wrap="none" lIns="0" tIns="0" rIns="0" bIns="0" rtlCol="0" anchor="ctr"/>
          <a:lstStyle/>
          <a:p>
            <a:pPr algn="l" indent="0" marL="0">
              <a:buNone/>
            </a:pPr>
            <a:r>
              <a:rPr lang="ko-KR" altLang="en-US" sz="3000" spc="-80" kern="0" dirty="0">
                <a:solidFill>
                  <a:srgbClr val="102A4C"/>
                </a:solidFill>
                <a:latin typeface="Pretendard ExtraBold" pitchFamily="34" charset="0"/>
                <a:ea typeface="Pretendard ExtraBold" pitchFamily="34" charset="-127"/>
                <a:cs typeface="Pretendard ExtraBold" pitchFamily="34" charset="-120"/>
              </a:rPr>
              <a:t>0.934</a:t>
            </a:r>
            <a:endParaRPr lang="en-US" sz="3000" dirty="0"/>
          </a:p>
        </p:txBody>
      </p:sp>
      <p:sp>
        <p:nvSpPr>
          <p:cNvPr id="99" name="+42.7%p"/>
          <p:cNvSpPr txBox="1"/>
          <p:nvPr/>
        </p:nvSpPr>
        <p:spPr>
          <a:xfrm>
            <a:off x="5561608" y="2397026"/>
            <a:ext cx="543520" cy="133350"/>
          </a:xfrm>
          <a:prstGeom prst="rect">
            <a:avLst/>
          </a:prstGeom>
          <a:noFill/>
          <a:ln/>
        </p:spPr>
        <p:txBody>
          <a:bodyPr wrap="none" lIns="0" tIns="0" rIns="0" bIns="0" rtlCol="0" anchor="ctr"/>
          <a:lstStyle/>
          <a:p>
            <a:pPr algn="l" indent="0" marL="0">
              <a:buNone/>
            </a:pPr>
            <a:r>
              <a:rPr lang="ko-KR" altLang="en-US" sz="900" spc="-12" kern="0" dirty="0">
                <a:solidFill>
                  <a:srgbClr val="EA002C"/>
                </a:solidFill>
                <a:latin typeface="Pretendard ExtraBold" pitchFamily="34" charset="0"/>
                <a:ea typeface="Pretendard ExtraBold" pitchFamily="34" charset="-127"/>
                <a:cs typeface="Pretendard ExtraBold" pitchFamily="34" charset="-120"/>
              </a:rPr>
              <a:t>+42.7%p</a:t>
            </a:r>
            <a:endParaRPr lang="en-US" sz="900" dirty="0"/>
          </a:p>
        </p:txBody>
      </p:sp>
      <p:sp>
        <p:nvSpPr>
          <p:cNvPr id="100" name="입면도"/>
          <p:cNvSpPr txBox="1"/>
          <p:nvPr/>
        </p:nvSpPr>
        <p:spPr>
          <a:xfrm>
            <a:off x="6375400" y="2092523"/>
            <a:ext cx="359073" cy="146050"/>
          </a:xfrm>
          <a:prstGeom prst="rect">
            <a:avLst/>
          </a:prstGeom>
          <a:noFill/>
          <a:ln/>
        </p:spPr>
        <p:txBody>
          <a:bodyPr wrap="none" lIns="0" tIns="0" rIns="0" bIns="0" rtlCol="0" anchor="ctr"/>
          <a:lstStyle/>
          <a:p>
            <a:pPr algn="l" indent="0" marL="0">
              <a:buNone/>
            </a:pPr>
            <a:r>
              <a:rPr lang="ko-KR" altLang="en-US" sz="950" b="1" spc="-12" kern="0" dirty="0">
                <a:solidFill>
                  <a:srgbClr val="3F4654"/>
                </a:solidFill>
                <a:latin typeface="Pretendard" pitchFamily="34" charset="0"/>
                <a:ea typeface="Pretendard" pitchFamily="34" charset="-127"/>
                <a:cs typeface="Pretendard" pitchFamily="34" charset="-120"/>
              </a:rPr>
              <a:t>입면도</a:t>
            </a:r>
            <a:endParaRPr lang="en-US" sz="950" dirty="0"/>
          </a:p>
        </p:txBody>
      </p:sp>
      <p:sp>
        <p:nvSpPr>
          <p:cNvPr id="101" name="Baseline 0.355"/>
          <p:cNvSpPr txBox="1"/>
          <p:nvPr/>
        </p:nvSpPr>
        <p:spPr>
          <a:xfrm>
            <a:off x="7478316" y="2111573"/>
            <a:ext cx="738584" cy="120650"/>
          </a:xfrm>
          <a:prstGeom prst="rect">
            <a:avLst/>
          </a:prstGeom>
          <a:noFill/>
          <a:ln/>
        </p:spPr>
        <p:txBody>
          <a:bodyPr wrap="none" lIns="0" tIns="0" rIns="0" bIns="0" rtlCol="0" anchor="ctr"/>
          <a:lstStyle/>
          <a:p>
            <a:pPr algn="l" indent="0" marL="0">
              <a:buNone/>
            </a:pPr>
            <a:r>
              <a:rPr lang="ko-KR" altLang="en-US" sz="800" spc="-16" kern="0" dirty="0">
                <a:solidFill>
                  <a:srgbClr val="737C8B"/>
                </a:solidFill>
                <a:latin typeface="Pretendard SemiBold" pitchFamily="34" charset="0"/>
                <a:ea typeface="Pretendard SemiBold" pitchFamily="34" charset="-127"/>
                <a:cs typeface="Pretendard SemiBold" pitchFamily="34" charset="-120"/>
              </a:rPr>
              <a:t>Baseline </a:t>
            </a:r>
            <a:r>
              <a:rPr lang="ko-KR" altLang="en-US" sz="800" b="1" spc="2" kern="0" dirty="0">
                <a:solidFill>
                  <a:srgbClr val="3F4654"/>
                </a:solidFill>
                <a:latin typeface="Pretendard" pitchFamily="34" charset="0"/>
                <a:ea typeface="Pretendard" pitchFamily="34" charset="-127"/>
                <a:cs typeface="Pretendard" pitchFamily="34" charset="-120"/>
              </a:rPr>
              <a:t>0.355</a:t>
            </a:r>
            <a:endParaRPr lang="en-US" sz="800" dirty="0"/>
          </a:p>
        </p:txBody>
      </p:sp>
      <p:sp>
        <p:nvSpPr>
          <p:cNvPr id="102" name="0.838"/>
          <p:cNvSpPr txBox="1"/>
          <p:nvPr/>
        </p:nvSpPr>
        <p:spPr>
          <a:xfrm>
            <a:off x="6375400" y="2238573"/>
            <a:ext cx="1116294" cy="450850"/>
          </a:xfrm>
          <a:prstGeom prst="rect">
            <a:avLst/>
          </a:prstGeom>
          <a:noFill/>
          <a:ln/>
        </p:spPr>
        <p:txBody>
          <a:bodyPr wrap="none" lIns="0" tIns="0" rIns="0" bIns="0" rtlCol="0" anchor="ctr"/>
          <a:lstStyle/>
          <a:p>
            <a:pPr algn="l" indent="0" marL="0">
              <a:buNone/>
            </a:pPr>
            <a:r>
              <a:rPr lang="ko-KR" altLang="en-US" sz="3000" spc="-64" kern="0" dirty="0">
                <a:solidFill>
                  <a:srgbClr val="102A4C"/>
                </a:solidFill>
                <a:latin typeface="Pretendard ExtraBold" pitchFamily="34" charset="0"/>
                <a:ea typeface="Pretendard ExtraBold" pitchFamily="34" charset="-127"/>
                <a:cs typeface="Pretendard ExtraBold" pitchFamily="34" charset="-120"/>
              </a:rPr>
              <a:t>0.838</a:t>
            </a:r>
            <a:endParaRPr lang="en-US" sz="3000" dirty="0"/>
          </a:p>
        </p:txBody>
      </p:sp>
      <p:sp>
        <p:nvSpPr>
          <p:cNvPr id="103" name="+48.3%p"/>
          <p:cNvSpPr txBox="1"/>
          <p:nvPr/>
        </p:nvSpPr>
        <p:spPr>
          <a:xfrm>
            <a:off x="7555508" y="2397026"/>
            <a:ext cx="553641" cy="133350"/>
          </a:xfrm>
          <a:prstGeom prst="rect">
            <a:avLst/>
          </a:prstGeom>
          <a:noFill/>
          <a:ln/>
        </p:spPr>
        <p:txBody>
          <a:bodyPr wrap="none" lIns="0" tIns="0" rIns="0" bIns="0" rtlCol="0" anchor="ctr"/>
          <a:lstStyle/>
          <a:p>
            <a:pPr algn="l" indent="0" marL="0">
              <a:buNone/>
            </a:pPr>
            <a:r>
              <a:rPr lang="ko-KR" altLang="en-US" sz="900" spc="-12" kern="0" dirty="0">
                <a:solidFill>
                  <a:srgbClr val="EA002C"/>
                </a:solidFill>
                <a:latin typeface="Pretendard ExtraBold" pitchFamily="34" charset="0"/>
                <a:ea typeface="Pretendard ExtraBold" pitchFamily="34" charset="-127"/>
                <a:cs typeface="Pretendard ExtraBold" pitchFamily="34" charset="-120"/>
              </a:rPr>
              <a:t>+48.3%p</a:t>
            </a:r>
            <a:endParaRPr lang="en-US" sz="900" dirty="0"/>
          </a:p>
        </p:txBody>
      </p:sp>
      <p:sp>
        <p:nvSpPr>
          <p:cNvPr id="104" name="기여 2"/>
          <p:cNvSpPr txBox="1"/>
          <p:nvPr/>
        </p:nvSpPr>
        <p:spPr>
          <a:xfrm>
            <a:off x="1473200" y="3499842"/>
            <a:ext cx="328216" cy="120650"/>
          </a:xfrm>
          <a:prstGeom prst="rect">
            <a:avLst/>
          </a:prstGeom>
          <a:noFill/>
          <a:ln/>
        </p:spPr>
        <p:txBody>
          <a:bodyPr wrap="none" lIns="0" tIns="0" rIns="0" bIns="0" rtlCol="0" anchor="ctr"/>
          <a:lstStyle/>
          <a:p>
            <a:pPr algn="l" indent="0" marL="0">
              <a:buNone/>
            </a:pPr>
            <a:r>
              <a:rPr lang="ko-KR" altLang="en-US" sz="800" spc="32" kern="0" dirty="0">
                <a:solidFill>
                  <a:srgbClr val="EA002C"/>
                </a:solidFill>
                <a:latin typeface="Pretendard ExtraBold" pitchFamily="34" charset="0"/>
                <a:ea typeface="Pretendard ExtraBold" pitchFamily="34" charset="-127"/>
                <a:cs typeface="Pretendard ExtraBold" pitchFamily="34" charset="-120"/>
              </a:rPr>
              <a:t>기여 2</a:t>
            </a:r>
            <a:endParaRPr lang="en-US" sz="800" dirty="0"/>
          </a:p>
        </p:txBody>
      </p:sp>
      <p:sp>
        <p:nvSpPr>
          <p:cNvPr id="105" name="CAD 정보 없이 평면도·입면도 간객체 대응 관계 정의"/>
          <p:cNvSpPr txBox="1"/>
          <p:nvPr/>
        </p:nvSpPr>
        <p:spPr>
          <a:xfrm>
            <a:off x="1473200" y="3697486"/>
            <a:ext cx="2117425" cy="455612"/>
          </a:xfrm>
          <a:prstGeom prst="rect">
            <a:avLst/>
          </a:prstGeom>
          <a:noFill/>
          <a:ln/>
        </p:spPr>
        <p:txBody>
          <a:bodyPr wrap="none" lIns="0" tIns="0" rIns="0" bIns="0" rtlCol="0" anchor="t"/>
          <a:lstStyle/>
          <a:p>
            <a:pPr algn="l" indent="0" marL="0">
              <a:lnSpc>
                <a:spcPts val="1794"/>
              </a:lnSpc>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CAD 정보 없이 평면도·입면도 간</a:t>
            </a:r>
            <a:b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객체 대응 관계 정의</a:t>
            </a:r>
            <a:endParaRPr lang="en-US" sz="1300" dirty="0"/>
          </a:p>
        </p:txBody>
      </p:sp>
      <p:sp>
        <p:nvSpPr>
          <p:cNvPr id="106" name="대응 객체 매칭 F1-score"/>
          <p:cNvSpPr txBox="1"/>
          <p:nvPr/>
        </p:nvSpPr>
        <p:spPr>
          <a:xfrm>
            <a:off x="4381500" y="3337123"/>
            <a:ext cx="1241659" cy="146050"/>
          </a:xfrm>
          <a:prstGeom prst="rect">
            <a:avLst/>
          </a:prstGeom>
          <a:noFill/>
          <a:ln/>
        </p:spPr>
        <p:txBody>
          <a:bodyPr wrap="none" lIns="0" tIns="0" rIns="0" bIns="0" rtlCol="0" anchor="ctr"/>
          <a:lstStyle/>
          <a:p>
            <a:pPr algn="l" indent="0" marL="0">
              <a:buNone/>
            </a:pPr>
            <a:r>
              <a:rPr lang="ko-KR" altLang="en-US" sz="950" spc="-19" kern="0" dirty="0">
                <a:solidFill>
                  <a:srgbClr val="102A4C"/>
                </a:solidFill>
                <a:latin typeface="Pretendard ExtraBold" pitchFamily="34" charset="0"/>
                <a:ea typeface="Pretendard ExtraBold" pitchFamily="34" charset="-127"/>
                <a:cs typeface="Pretendard ExtraBold" pitchFamily="34" charset="-120"/>
              </a:rPr>
              <a:t>대응 객체 매칭 F1-score</a:t>
            </a:r>
            <a:endParaRPr lang="en-US" sz="950" dirty="0"/>
          </a:p>
        </p:txBody>
      </p:sp>
      <p:sp>
        <p:nvSpPr>
          <p:cNvPr id="107" name="·  8개 동 BIM, 개구부 3,458개"/>
          <p:cNvSpPr txBox="1"/>
          <p:nvPr/>
        </p:nvSpPr>
        <p:spPr>
          <a:xfrm>
            <a:off x="5603677" y="3337123"/>
            <a:ext cx="1515737" cy="146050"/>
          </a:xfrm>
          <a:prstGeom prst="rect">
            <a:avLst/>
          </a:prstGeom>
          <a:noFill/>
          <a:ln/>
        </p:spPr>
        <p:txBody>
          <a:bodyPr wrap="none" lIns="0" tIns="0" rIns="0" bIns="0" rtlCol="0" anchor="ctr"/>
          <a:lstStyle/>
          <a:p>
            <a:pPr algn="l" indent="0" marL="0">
              <a:buNone/>
            </a:pPr>
            <a:r>
              <a:rPr lang="ko-KR" altLang="en-US" sz="950" spc="-19" kern="0" dirty="0">
                <a:solidFill>
                  <a:srgbClr val="737C8B"/>
                </a:solidFill>
                <a:latin typeface="Pretendard SemiBold" pitchFamily="34" charset="0"/>
                <a:ea typeface="Pretendard SemiBold" pitchFamily="34" charset="-127"/>
                <a:cs typeface="Pretendard SemiBold" pitchFamily="34" charset="-120"/>
              </a:rPr>
              <a:t>·  8개 동 BIM, 개구부 3,458개</a:t>
            </a:r>
            <a:endParaRPr lang="en-US" sz="950" dirty="0"/>
          </a:p>
        </p:txBody>
      </p:sp>
      <p:sp>
        <p:nvSpPr>
          <p:cNvPr id="108" name="창문"/>
          <p:cNvSpPr txBox="1"/>
          <p:nvPr/>
        </p:nvSpPr>
        <p:spPr>
          <a:xfrm>
            <a:off x="4381500" y="3616523"/>
            <a:ext cx="256381" cy="146050"/>
          </a:xfrm>
          <a:prstGeom prst="rect">
            <a:avLst/>
          </a:prstGeom>
          <a:noFill/>
          <a:ln/>
        </p:spPr>
        <p:txBody>
          <a:bodyPr wrap="none" lIns="0" tIns="0" rIns="0" bIns="0" rtlCol="0" anchor="ctr"/>
          <a:lstStyle/>
          <a:p>
            <a:pPr algn="l" indent="0" marL="0">
              <a:buNone/>
            </a:pPr>
            <a:r>
              <a:rPr lang="ko-KR" altLang="en-US" sz="950" b="1" spc="-12" kern="0" dirty="0">
                <a:solidFill>
                  <a:srgbClr val="3F4654"/>
                </a:solidFill>
                <a:latin typeface="Pretendard" pitchFamily="34" charset="0"/>
                <a:ea typeface="Pretendard" pitchFamily="34" charset="-127"/>
                <a:cs typeface="Pretendard" pitchFamily="34" charset="-120"/>
              </a:rPr>
              <a:t>창문</a:t>
            </a:r>
            <a:endParaRPr lang="en-US" sz="950" dirty="0"/>
          </a:p>
        </p:txBody>
      </p:sp>
      <p:sp>
        <p:nvSpPr>
          <p:cNvPr id="109" name="3,410개"/>
          <p:cNvSpPr txBox="1"/>
          <p:nvPr/>
        </p:nvSpPr>
        <p:spPr>
          <a:xfrm>
            <a:off x="5801916" y="3635573"/>
            <a:ext cx="421084" cy="120650"/>
          </a:xfrm>
          <a:prstGeom prst="rect">
            <a:avLst/>
          </a:prstGeom>
          <a:noFill/>
          <a:ln/>
        </p:spPr>
        <p:txBody>
          <a:bodyPr wrap="none" lIns="0" tIns="0" rIns="0" bIns="0" rtlCol="0" anchor="ctr"/>
          <a:lstStyle/>
          <a:p>
            <a:pPr algn="l" indent="0" marL="0">
              <a:buNone/>
            </a:pPr>
            <a:r>
              <a:rPr lang="ko-KR" altLang="en-US" sz="800" b="1" spc="19" kern="0" dirty="0">
                <a:solidFill>
                  <a:srgbClr val="3F4654"/>
                </a:solidFill>
                <a:latin typeface="Pretendard" pitchFamily="34" charset="0"/>
                <a:ea typeface="Pretendard" pitchFamily="34" charset="-127"/>
                <a:cs typeface="Pretendard" pitchFamily="34" charset="-120"/>
              </a:rPr>
              <a:t>3,410</a:t>
            </a:r>
            <a:r>
              <a:rPr lang="ko-KR" altLang="en-US" sz="800" spc="-16" kern="0" dirty="0">
                <a:solidFill>
                  <a:srgbClr val="737C8B"/>
                </a:solidFill>
                <a:latin typeface="Pretendard SemiBold" pitchFamily="34" charset="0"/>
                <a:ea typeface="Pretendard SemiBold" pitchFamily="34" charset="-127"/>
                <a:cs typeface="Pretendard SemiBold" pitchFamily="34" charset="-120"/>
              </a:rPr>
              <a:t>개</a:t>
            </a:r>
            <a:endParaRPr lang="en-US" sz="800" dirty="0"/>
          </a:p>
        </p:txBody>
      </p:sp>
      <p:sp>
        <p:nvSpPr>
          <p:cNvPr id="110" name="0.93"/>
          <p:cNvSpPr txBox="1"/>
          <p:nvPr/>
        </p:nvSpPr>
        <p:spPr>
          <a:xfrm>
            <a:off x="4381500" y="3762573"/>
            <a:ext cx="864592" cy="450850"/>
          </a:xfrm>
          <a:prstGeom prst="rect">
            <a:avLst/>
          </a:prstGeom>
          <a:noFill/>
          <a:ln/>
        </p:spPr>
        <p:txBody>
          <a:bodyPr wrap="none" lIns="0" tIns="0" rIns="0" bIns="0" rtlCol="0" anchor="ctr"/>
          <a:lstStyle/>
          <a:p>
            <a:pPr algn="l" indent="0" marL="0">
              <a:buNone/>
            </a:pPr>
            <a:r>
              <a:rPr lang="ko-KR" altLang="en-US" sz="3000" spc="-70" kern="0" dirty="0">
                <a:solidFill>
                  <a:srgbClr val="102A4C"/>
                </a:solidFill>
                <a:latin typeface="Pretendard ExtraBold" pitchFamily="34" charset="0"/>
                <a:ea typeface="Pretendard ExtraBold" pitchFamily="34" charset="-127"/>
                <a:cs typeface="Pretendard ExtraBold" pitchFamily="34" charset="-120"/>
              </a:rPr>
              <a:t>0.93</a:t>
            </a:r>
            <a:endParaRPr lang="en-US" sz="3000" dirty="0"/>
          </a:p>
        </p:txBody>
      </p:sp>
      <p:sp>
        <p:nvSpPr>
          <p:cNvPr id="111" name="문"/>
          <p:cNvSpPr txBox="1"/>
          <p:nvPr/>
        </p:nvSpPr>
        <p:spPr>
          <a:xfrm>
            <a:off x="6375400" y="3616523"/>
            <a:ext cx="153591" cy="146050"/>
          </a:xfrm>
          <a:prstGeom prst="rect">
            <a:avLst/>
          </a:prstGeom>
          <a:noFill/>
          <a:ln/>
        </p:spPr>
        <p:txBody>
          <a:bodyPr wrap="none" lIns="0" tIns="0" rIns="0" bIns="0" rtlCol="0" anchor="ctr"/>
          <a:lstStyle/>
          <a:p>
            <a:pPr algn="l" indent="0" marL="0">
              <a:buNone/>
            </a:pPr>
            <a:r>
              <a:rPr lang="ko-KR" altLang="en-US" sz="950" b="1" spc="-12" kern="0" dirty="0">
                <a:solidFill>
                  <a:srgbClr val="3F4654"/>
                </a:solidFill>
                <a:latin typeface="Pretendard" pitchFamily="34" charset="0"/>
                <a:ea typeface="Pretendard" pitchFamily="34" charset="-127"/>
                <a:cs typeface="Pretendard" pitchFamily="34" charset="-120"/>
              </a:rPr>
              <a:t>문</a:t>
            </a:r>
            <a:endParaRPr lang="en-US" sz="950" dirty="0"/>
          </a:p>
        </p:txBody>
      </p:sp>
      <p:sp>
        <p:nvSpPr>
          <p:cNvPr id="112" name="48개"/>
          <p:cNvSpPr txBox="1"/>
          <p:nvPr/>
        </p:nvSpPr>
        <p:spPr>
          <a:xfrm>
            <a:off x="7951291" y="3635573"/>
            <a:ext cx="265609" cy="120650"/>
          </a:xfrm>
          <a:prstGeom prst="rect">
            <a:avLst/>
          </a:prstGeom>
          <a:noFill/>
          <a:ln/>
        </p:spPr>
        <p:txBody>
          <a:bodyPr wrap="none" lIns="0" tIns="0" rIns="0" bIns="0" rtlCol="0" anchor="ctr"/>
          <a:lstStyle/>
          <a:p>
            <a:pPr algn="l" indent="0" marL="0">
              <a:buNone/>
            </a:pPr>
            <a:r>
              <a:rPr lang="ko-KR" altLang="en-US" sz="800" b="1" spc="-13" kern="0" dirty="0">
                <a:solidFill>
                  <a:srgbClr val="3F4654"/>
                </a:solidFill>
                <a:latin typeface="Pretendard" pitchFamily="34" charset="0"/>
                <a:ea typeface="Pretendard" pitchFamily="34" charset="-127"/>
                <a:cs typeface="Pretendard" pitchFamily="34" charset="-120"/>
              </a:rPr>
              <a:t>48</a:t>
            </a:r>
            <a:r>
              <a:rPr lang="ko-KR" altLang="en-US" sz="800" spc="-16" kern="0" dirty="0">
                <a:solidFill>
                  <a:srgbClr val="737C8B"/>
                </a:solidFill>
                <a:latin typeface="Pretendard SemiBold" pitchFamily="34" charset="0"/>
                <a:ea typeface="Pretendard SemiBold" pitchFamily="34" charset="-127"/>
                <a:cs typeface="Pretendard SemiBold" pitchFamily="34" charset="-120"/>
              </a:rPr>
              <a:t>개</a:t>
            </a:r>
            <a:endParaRPr lang="en-US" sz="800" dirty="0"/>
          </a:p>
        </p:txBody>
      </p:sp>
      <p:sp>
        <p:nvSpPr>
          <p:cNvPr id="113" name="0.95"/>
          <p:cNvSpPr txBox="1"/>
          <p:nvPr/>
        </p:nvSpPr>
        <p:spPr>
          <a:xfrm>
            <a:off x="6375400" y="3762573"/>
            <a:ext cx="864592" cy="450850"/>
          </a:xfrm>
          <a:prstGeom prst="rect">
            <a:avLst/>
          </a:prstGeom>
          <a:noFill/>
          <a:ln/>
        </p:spPr>
        <p:txBody>
          <a:bodyPr wrap="none" lIns="0" tIns="0" rIns="0" bIns="0" rtlCol="0" anchor="ctr"/>
          <a:lstStyle/>
          <a:p>
            <a:pPr algn="l" indent="0" marL="0">
              <a:buNone/>
            </a:pPr>
            <a:r>
              <a:rPr lang="ko-KR" altLang="en-US" sz="3000" spc="-63" kern="0" dirty="0">
                <a:solidFill>
                  <a:srgbClr val="102A4C"/>
                </a:solidFill>
                <a:latin typeface="Pretendard ExtraBold" pitchFamily="34" charset="0"/>
                <a:ea typeface="Pretendard ExtraBold" pitchFamily="34" charset="-127"/>
                <a:cs typeface="Pretendard ExtraBold" pitchFamily="34" charset="-120"/>
              </a:rPr>
              <a:t>0.95</a:t>
            </a:r>
            <a:endParaRPr lang="en-US" sz="3000" dirty="0"/>
          </a:p>
        </p:txBody>
      </p:sp>
      <p:sp>
        <p:nvSpPr>
          <p:cNvPr id="114" name="기여 3"/>
          <p:cNvSpPr txBox="1"/>
          <p:nvPr/>
        </p:nvSpPr>
        <p:spPr>
          <a:xfrm>
            <a:off x="1473200" y="5023842"/>
            <a:ext cx="331093" cy="120650"/>
          </a:xfrm>
          <a:prstGeom prst="rect">
            <a:avLst/>
          </a:prstGeom>
          <a:noFill/>
          <a:ln/>
        </p:spPr>
        <p:txBody>
          <a:bodyPr wrap="none" lIns="0" tIns="0" rIns="0" bIns="0" rtlCol="0" anchor="ctr"/>
          <a:lstStyle/>
          <a:p>
            <a:pPr algn="l" indent="0" marL="0">
              <a:buNone/>
            </a:pPr>
            <a:r>
              <a:rPr lang="ko-KR" altLang="en-US" sz="800" spc="32" kern="0" dirty="0">
                <a:solidFill>
                  <a:srgbClr val="EA002C"/>
                </a:solidFill>
                <a:latin typeface="Pretendard ExtraBold" pitchFamily="34" charset="0"/>
                <a:ea typeface="Pretendard ExtraBold" pitchFamily="34" charset="-127"/>
                <a:cs typeface="Pretendard ExtraBold" pitchFamily="34" charset="-120"/>
              </a:rPr>
              <a:t>기여 3</a:t>
            </a:r>
            <a:endParaRPr lang="en-US" sz="800" dirty="0"/>
          </a:p>
        </p:txBody>
      </p:sp>
      <p:sp>
        <p:nvSpPr>
          <p:cNvPr id="115" name="LMM 기반 축척 인식으로 불완전한도면에서도 안정적인 치수 보정"/>
          <p:cNvSpPr txBox="1"/>
          <p:nvPr/>
        </p:nvSpPr>
        <p:spPr>
          <a:xfrm>
            <a:off x="1473200" y="5221486"/>
            <a:ext cx="2247207" cy="455612"/>
          </a:xfrm>
          <a:prstGeom prst="rect">
            <a:avLst/>
          </a:prstGeom>
          <a:noFill/>
          <a:ln/>
        </p:spPr>
        <p:txBody>
          <a:bodyPr wrap="none" lIns="0" tIns="0" rIns="0" bIns="0" rtlCol="0" anchor="t"/>
          <a:lstStyle/>
          <a:p>
            <a:pPr algn="l" indent="0" marL="0">
              <a:lnSpc>
                <a:spcPts val="1794"/>
              </a:lnSpc>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LMM 기반 축척 인식으로 불완전한</a:t>
            </a:r>
            <a:b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도면에서도 안정적인 치수 보정</a:t>
            </a:r>
            <a:endParaRPr lang="en-US" sz="1300" dirty="0"/>
          </a:p>
        </p:txBody>
      </p:sp>
      <p:sp>
        <p:nvSpPr>
          <p:cNvPr id="116" name="축척 인식 정확도"/>
          <p:cNvSpPr txBox="1"/>
          <p:nvPr/>
        </p:nvSpPr>
        <p:spPr>
          <a:xfrm>
            <a:off x="4381500" y="4861123"/>
            <a:ext cx="812998" cy="146050"/>
          </a:xfrm>
          <a:prstGeom prst="rect">
            <a:avLst/>
          </a:prstGeom>
          <a:noFill/>
          <a:ln/>
        </p:spPr>
        <p:txBody>
          <a:bodyPr wrap="none" lIns="0" tIns="0" rIns="0" bIns="0" rtlCol="0" anchor="ctr"/>
          <a:lstStyle/>
          <a:p>
            <a:pPr algn="l" indent="0" marL="0">
              <a:buNone/>
            </a:pPr>
            <a:r>
              <a:rPr lang="ko-KR" altLang="en-US" sz="950" spc="-19" kern="0" dirty="0">
                <a:solidFill>
                  <a:srgbClr val="102A4C"/>
                </a:solidFill>
                <a:latin typeface="Pretendard ExtraBold" pitchFamily="34" charset="0"/>
                <a:ea typeface="Pretendard ExtraBold" pitchFamily="34" charset="-127"/>
                <a:cs typeface="Pretendard ExtraBold" pitchFamily="34" charset="-120"/>
              </a:rPr>
              <a:t>축척 인식 정확도</a:t>
            </a:r>
            <a:endParaRPr lang="en-US" sz="950" dirty="0"/>
          </a:p>
        </p:txBody>
      </p:sp>
      <p:sp>
        <p:nvSpPr>
          <p:cNvPr id="117" name="·  Tesseract OCR 대비"/>
          <p:cNvSpPr txBox="1"/>
          <p:nvPr/>
        </p:nvSpPr>
        <p:spPr>
          <a:xfrm>
            <a:off x="5194498" y="4861123"/>
            <a:ext cx="1179292" cy="146050"/>
          </a:xfrm>
          <a:prstGeom prst="rect">
            <a:avLst/>
          </a:prstGeom>
          <a:noFill/>
          <a:ln/>
        </p:spPr>
        <p:txBody>
          <a:bodyPr wrap="none" lIns="0" tIns="0" rIns="0" bIns="0" rtlCol="0" anchor="ctr"/>
          <a:lstStyle/>
          <a:p>
            <a:pPr algn="l" indent="0" marL="0">
              <a:buNone/>
            </a:pPr>
            <a:r>
              <a:rPr lang="ko-KR" altLang="en-US" sz="950" spc="-19" kern="0" dirty="0">
                <a:solidFill>
                  <a:srgbClr val="737C8B"/>
                </a:solidFill>
                <a:latin typeface="Pretendard SemiBold" pitchFamily="34" charset="0"/>
                <a:ea typeface="Pretendard SemiBold" pitchFamily="34" charset="-127"/>
                <a:cs typeface="Pretendard SemiBold" pitchFamily="34" charset="-120"/>
              </a:rPr>
              <a:t>·  Tesseract OCR 대비</a:t>
            </a:r>
            <a:endParaRPr lang="en-US" sz="950" dirty="0"/>
          </a:p>
        </p:txBody>
      </p:sp>
      <p:sp>
        <p:nvSpPr>
          <p:cNvPr id="118" name="LMM(GPT-4o)"/>
          <p:cNvSpPr txBox="1"/>
          <p:nvPr/>
        </p:nvSpPr>
        <p:spPr>
          <a:xfrm>
            <a:off x="4381500" y="5140523"/>
            <a:ext cx="845245" cy="146050"/>
          </a:xfrm>
          <a:prstGeom prst="rect">
            <a:avLst/>
          </a:prstGeom>
          <a:noFill/>
          <a:ln/>
        </p:spPr>
        <p:txBody>
          <a:bodyPr wrap="none" lIns="0" tIns="0" rIns="0" bIns="0" rtlCol="0" anchor="ctr"/>
          <a:lstStyle/>
          <a:p>
            <a:pPr algn="l" indent="0" marL="0">
              <a:buNone/>
            </a:pPr>
            <a:r>
              <a:rPr lang="ko-KR" altLang="en-US" sz="950" b="1" spc="-12" kern="0" dirty="0">
                <a:solidFill>
                  <a:srgbClr val="3F4654"/>
                </a:solidFill>
                <a:latin typeface="Pretendard" pitchFamily="34" charset="0"/>
                <a:ea typeface="Pretendard" pitchFamily="34" charset="-127"/>
                <a:cs typeface="Pretendard" pitchFamily="34" charset="-120"/>
              </a:rPr>
              <a:t>LMM(GPT-4o)</a:t>
            </a:r>
            <a:endParaRPr lang="en-US" sz="950" dirty="0"/>
          </a:p>
        </p:txBody>
      </p:sp>
      <p:sp>
        <p:nvSpPr>
          <p:cNvPr id="119" name="0.707"/>
          <p:cNvSpPr txBox="1"/>
          <p:nvPr/>
        </p:nvSpPr>
        <p:spPr>
          <a:xfrm>
            <a:off x="4381500" y="5286573"/>
            <a:ext cx="1116294" cy="450850"/>
          </a:xfrm>
          <a:prstGeom prst="rect">
            <a:avLst/>
          </a:prstGeom>
          <a:noFill/>
          <a:ln/>
        </p:spPr>
        <p:txBody>
          <a:bodyPr wrap="none" lIns="0" tIns="0" rIns="0" bIns="0" rtlCol="0" anchor="ctr"/>
          <a:lstStyle/>
          <a:p>
            <a:pPr algn="l" indent="0" marL="0">
              <a:buNone/>
            </a:pPr>
            <a:r>
              <a:rPr lang="ko-KR" altLang="en-US" sz="3000" spc="21" kern="0" dirty="0">
                <a:solidFill>
                  <a:srgbClr val="102A4C"/>
                </a:solidFill>
                <a:latin typeface="Pretendard ExtraBold" pitchFamily="34" charset="0"/>
                <a:ea typeface="Pretendard ExtraBold" pitchFamily="34" charset="-127"/>
                <a:cs typeface="Pretendard ExtraBold" pitchFamily="34" charset="-120"/>
              </a:rPr>
              <a:t>0.707</a:t>
            </a:r>
            <a:endParaRPr lang="en-US" sz="3000" dirty="0"/>
          </a:p>
        </p:txBody>
      </p:sp>
      <p:sp>
        <p:nvSpPr>
          <p:cNvPr id="120" name="+33.8%p"/>
          <p:cNvSpPr txBox="1"/>
          <p:nvPr/>
        </p:nvSpPr>
        <p:spPr>
          <a:xfrm>
            <a:off x="5561608" y="5445026"/>
            <a:ext cx="549771" cy="133350"/>
          </a:xfrm>
          <a:prstGeom prst="rect">
            <a:avLst/>
          </a:prstGeom>
          <a:noFill/>
          <a:ln/>
        </p:spPr>
        <p:txBody>
          <a:bodyPr wrap="none" lIns="0" tIns="0" rIns="0" bIns="0" rtlCol="0" anchor="ctr"/>
          <a:lstStyle/>
          <a:p>
            <a:pPr algn="l" indent="0" marL="0">
              <a:buNone/>
            </a:pPr>
            <a:r>
              <a:rPr lang="ko-KR" altLang="en-US" sz="900" spc="-12" kern="0" dirty="0">
                <a:solidFill>
                  <a:srgbClr val="EA002C"/>
                </a:solidFill>
                <a:latin typeface="Pretendard ExtraBold" pitchFamily="34" charset="0"/>
                <a:ea typeface="Pretendard ExtraBold" pitchFamily="34" charset="-127"/>
                <a:cs typeface="Pretendard ExtraBold" pitchFamily="34" charset="-120"/>
              </a:rPr>
              <a:t>+33.8%p</a:t>
            </a:r>
            <a:endParaRPr lang="en-US" sz="900" dirty="0"/>
          </a:p>
        </p:txBody>
      </p:sp>
      <p:sp>
        <p:nvSpPr>
          <p:cNvPr id="121" name="Tesseract OCR"/>
          <p:cNvSpPr txBox="1"/>
          <p:nvPr/>
        </p:nvSpPr>
        <p:spPr>
          <a:xfrm>
            <a:off x="6375400" y="5140523"/>
            <a:ext cx="875209" cy="146050"/>
          </a:xfrm>
          <a:prstGeom prst="rect">
            <a:avLst/>
          </a:prstGeom>
          <a:noFill/>
          <a:ln/>
        </p:spPr>
        <p:txBody>
          <a:bodyPr wrap="none" lIns="0" tIns="0" rIns="0" bIns="0" rtlCol="0" anchor="ctr"/>
          <a:lstStyle/>
          <a:p>
            <a:pPr algn="l" indent="0" marL="0">
              <a:buNone/>
            </a:pPr>
            <a:r>
              <a:rPr lang="ko-KR" altLang="en-US" sz="950" b="1" spc="-12" kern="0" dirty="0">
                <a:solidFill>
                  <a:srgbClr val="737C8B"/>
                </a:solidFill>
                <a:latin typeface="Pretendard" pitchFamily="34" charset="0"/>
                <a:ea typeface="Pretendard" pitchFamily="34" charset="-127"/>
                <a:cs typeface="Pretendard" pitchFamily="34" charset="-120"/>
              </a:rPr>
              <a:t>Tesseract OCR</a:t>
            </a:r>
            <a:endParaRPr lang="en-US" sz="950" dirty="0"/>
          </a:p>
        </p:txBody>
      </p:sp>
      <p:sp>
        <p:nvSpPr>
          <p:cNvPr id="122" name="0.369"/>
          <p:cNvSpPr txBox="1"/>
          <p:nvPr/>
        </p:nvSpPr>
        <p:spPr>
          <a:xfrm>
            <a:off x="6375400" y="5356423"/>
            <a:ext cx="893266" cy="368300"/>
          </a:xfrm>
          <a:prstGeom prst="rect">
            <a:avLst/>
          </a:prstGeom>
          <a:noFill/>
          <a:ln/>
        </p:spPr>
        <p:txBody>
          <a:bodyPr wrap="none" lIns="0" tIns="0" rIns="0" bIns="0" rtlCol="0" anchor="ctr"/>
          <a:lstStyle/>
          <a:p>
            <a:pPr algn="l" indent="0" marL="0">
              <a:buNone/>
            </a:pPr>
            <a:r>
              <a:rPr lang="ko-KR" altLang="en-US" sz="2400" spc="-54" kern="0" dirty="0">
                <a:solidFill>
                  <a:srgbClr val="737C8B"/>
                </a:solidFill>
                <a:latin typeface="Pretendard ExtraBold" pitchFamily="34" charset="0"/>
                <a:ea typeface="Pretendard ExtraBold" pitchFamily="34" charset="-127"/>
                <a:cs typeface="Pretendard ExtraBold" pitchFamily="34" charset="-120"/>
              </a:rPr>
              <a:t>0.369</a:t>
            </a:r>
            <a:endParaRPr lang="en-US" sz="2400" dirty="0"/>
          </a:p>
        </p:txBody>
      </p:sp>
      <p:sp>
        <p:nvSpPr>
          <p:cNvPr id="123" name="mAP@0.5 객체를 맞게 찾아낸 정도  ·  F1-score 정밀도·재"/>
          <p:cNvSpPr txBox="1"/>
          <p:nvPr/>
        </p:nvSpPr>
        <p:spPr>
          <a:xfrm>
            <a:off x="609600" y="6197798"/>
            <a:ext cx="6665793" cy="120650"/>
          </a:xfrm>
          <a:prstGeom prst="rect">
            <a:avLst/>
          </a:prstGeom>
          <a:noFill/>
          <a:ln/>
        </p:spPr>
        <p:txBody>
          <a:bodyPr wrap="none" lIns="0" tIns="0" rIns="0" bIns="0" rtlCol="0" anchor="ctr"/>
          <a:lstStyle/>
          <a:p>
            <a:pPr algn="l" indent="0" marL="0">
              <a:buNone/>
            </a:pPr>
            <a:r>
              <a:rPr lang="ko-KR" altLang="en-US" sz="800" b="1" spc="-12" kern="0" dirty="0">
                <a:solidFill>
                  <a:srgbClr val="3F4654"/>
                </a:solidFill>
                <a:latin typeface="Pretendard" pitchFamily="34" charset="0"/>
                <a:ea typeface="Pretendard" pitchFamily="34" charset="-127"/>
                <a:cs typeface="Pretendard" pitchFamily="34" charset="-120"/>
              </a:rPr>
              <a:t>mAP@0.5</a:t>
            </a:r>
            <a:r>
              <a:rPr lang="ko-KR" altLang="en-US" sz="800" spc="-12" kern="0" dirty="0">
                <a:solidFill>
                  <a:srgbClr val="737C8B"/>
                </a:solidFill>
                <a:latin typeface="Pretendard SemiBold" pitchFamily="34" charset="0"/>
                <a:ea typeface="Pretendard SemiBold" pitchFamily="34" charset="-127"/>
                <a:cs typeface="Pretendard SemiBold" pitchFamily="34" charset="-120"/>
              </a:rPr>
              <a:t> 객체를 맞게 찾아낸 정도  ·  </a:t>
            </a:r>
            <a:r>
              <a:rPr lang="ko-KR" altLang="en-US" sz="800" b="1" spc="-12" kern="0" dirty="0">
                <a:solidFill>
                  <a:srgbClr val="3F4654"/>
                </a:solidFill>
                <a:latin typeface="Pretendard" pitchFamily="34" charset="0"/>
                <a:ea typeface="Pretendard" pitchFamily="34" charset="-127"/>
                <a:cs typeface="Pretendard" pitchFamily="34" charset="-120"/>
              </a:rPr>
              <a:t>F1-score</a:t>
            </a:r>
            <a:r>
              <a:rPr lang="ko-KR" altLang="en-US" sz="800" spc="-12" kern="0" dirty="0">
                <a:solidFill>
                  <a:srgbClr val="737C8B"/>
                </a:solidFill>
                <a:latin typeface="Pretendard SemiBold" pitchFamily="34" charset="0"/>
                <a:ea typeface="Pretendard SemiBold" pitchFamily="34" charset="-127"/>
                <a:cs typeface="Pretendard SemiBold" pitchFamily="34" charset="-120"/>
              </a:rPr>
              <a:t> 정밀도·재현율의 조화평균 (모두 1에 가까울수록 좋음)  ·  </a:t>
            </a:r>
            <a:r>
              <a:rPr lang="ko-KR" altLang="en-US" sz="800" b="1" spc="-12" kern="0" dirty="0">
                <a:solidFill>
                  <a:srgbClr val="3F4654"/>
                </a:solidFill>
                <a:latin typeface="Pretendard" pitchFamily="34" charset="0"/>
                <a:ea typeface="Pretendard" pitchFamily="34" charset="-127"/>
                <a:cs typeface="Pretendard" pitchFamily="34" charset="-120"/>
              </a:rPr>
              <a:t>LMM</a:t>
            </a:r>
            <a:r>
              <a:rPr lang="ko-KR" altLang="en-US" sz="800" spc="-12" kern="0" dirty="0">
                <a:solidFill>
                  <a:srgbClr val="737C8B"/>
                </a:solidFill>
                <a:latin typeface="Pretendard SemiBold" pitchFamily="34" charset="0"/>
                <a:ea typeface="Pretendard SemiBold" pitchFamily="34" charset="-127"/>
                <a:cs typeface="Pretendard SemiBold" pitchFamily="34" charset="-120"/>
              </a:rPr>
              <a:t> 대형 멀티모달 모델  ·  학습 이미지 수는 타일 포함</a:t>
            </a:r>
            <a:endParaRPr lang="en-US" sz="800" dirty="0"/>
          </a:p>
        </p:txBody>
      </p:sp>
      <p:sp>
        <p:nvSpPr>
          <p:cNvPr id="124" name="최종 결과"/>
          <p:cNvSpPr txBox="1"/>
          <p:nvPr/>
        </p:nvSpPr>
        <p:spPr>
          <a:xfrm>
            <a:off x="8902700" y="1282898"/>
            <a:ext cx="588963" cy="184150"/>
          </a:xfrm>
          <a:prstGeom prst="rect">
            <a:avLst/>
          </a:prstGeom>
          <a:noFill/>
          <a:ln/>
        </p:spPr>
        <p:txBody>
          <a:bodyPr wrap="none" lIns="0" tIns="0" rIns="0" bIns="0" rtlCol="0" anchor="ctr"/>
          <a:lstStyle/>
          <a:p>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최종 결과</a:t>
            </a:r>
            <a:endParaRPr lang="en-US" sz="1200" dirty="0"/>
          </a:p>
        </p:txBody>
      </p:sp>
      <p:sp>
        <p:nvSpPr>
          <p:cNvPr id="125" name="최종 BIM 생성"/>
          <p:cNvSpPr txBox="1"/>
          <p:nvPr/>
        </p:nvSpPr>
        <p:spPr>
          <a:xfrm>
            <a:off x="8890000" y="1809948"/>
            <a:ext cx="1080746" cy="228600"/>
          </a:xfrm>
          <a:prstGeom prst="rect">
            <a:avLst/>
          </a:prstGeom>
          <a:noFill/>
          <a:ln/>
        </p:spPr>
        <p:txBody>
          <a:bodyPr wrap="none" lIns="0" tIns="0" rIns="0" bIns="0" rtlCol="0" anchor="ctr"/>
          <a:lstStyle/>
          <a:p>
            <a:pPr algn="l" indent="0" marL="0">
              <a:buNone/>
            </a:pPr>
            <a:r>
              <a:rPr lang="ko-KR" altLang="en-US" sz="1500" spc="-60" kern="0" dirty="0">
                <a:solidFill>
                  <a:srgbClr val="FFFFFF"/>
                </a:solidFill>
                <a:latin typeface="Pretendard ExtraBold" pitchFamily="34" charset="0"/>
                <a:ea typeface="Pretendard ExtraBold" pitchFamily="34" charset="-127"/>
                <a:cs typeface="Pretendard ExtraBold" pitchFamily="34" charset="-120"/>
              </a:rPr>
              <a:t>최종 BIM 생성</a:t>
            </a:r>
            <a:endParaRPr lang="en-US" sz="1500" dirty="0"/>
          </a:p>
        </p:txBody>
      </p:sp>
      <p:sp>
        <p:nvSpPr>
          <p:cNvPr id="126" name="건물 1동 실증"/>
          <p:cNvSpPr txBox="1"/>
          <p:nvPr/>
        </p:nvSpPr>
        <p:spPr>
          <a:xfrm>
            <a:off x="10722173" y="1860748"/>
            <a:ext cx="568127" cy="120650"/>
          </a:xfrm>
          <a:prstGeom prst="rect">
            <a:avLst/>
          </a:prstGeom>
          <a:noFill/>
          <a:ln/>
        </p:spPr>
        <p:txBody>
          <a:bodyPr wrap="none" lIns="0" tIns="0" rIns="0" bIns="0" rtlCol="0" anchor="ctr"/>
          <a:lstStyle/>
          <a:p>
            <a:pPr algn="l" indent="0" marL="0">
              <a:buNone/>
            </a:pPr>
            <a:r>
              <a:rPr lang="ko-KR" altLang="en-US" sz="800" b="1" spc="-16" kern="0" dirty="0">
                <a:solidFill>
                  <a:srgbClr val="FFFFFF">
                    <a:alpha val="88000"/>
                  </a:srgbClr>
                </a:solidFill>
                <a:latin typeface="Pretendard" pitchFamily="34" charset="0"/>
                <a:ea typeface="Pretendard" pitchFamily="34" charset="-127"/>
                <a:cs typeface="Pretendard" pitchFamily="34" charset="-120"/>
              </a:rPr>
              <a:t>건물 1동 실증</a:t>
            </a:r>
            <a:endParaRPr lang="en-US" sz="800" dirty="0"/>
          </a:p>
        </p:txBody>
      </p:sp>
      <p:sp>
        <p:nvSpPr>
          <p:cNvPr id="127" name="379"/>
          <p:cNvSpPr txBox="1"/>
          <p:nvPr/>
        </p:nvSpPr>
        <p:spPr>
          <a:xfrm>
            <a:off x="8890000" y="2006798"/>
            <a:ext cx="1597350" cy="971550"/>
          </a:xfrm>
          <a:prstGeom prst="rect">
            <a:avLst/>
          </a:prstGeom>
          <a:noFill/>
          <a:ln/>
        </p:spPr>
        <p:txBody>
          <a:bodyPr wrap="none" lIns="0" tIns="0" rIns="0" bIns="0" rtlCol="0" anchor="ctr"/>
          <a:lstStyle/>
          <a:p>
            <a:pPr algn="l" indent="0" marL="0">
              <a:buNone/>
            </a:pPr>
            <a:r>
              <a:rPr lang="ko-KR" altLang="en-US" sz="6400" spc="-43" kern="0" dirty="0">
                <a:solidFill>
                  <a:srgbClr val="FFFFFF"/>
                </a:solidFill>
                <a:latin typeface="Pretendard ExtraBold" pitchFamily="34" charset="0"/>
                <a:ea typeface="Pretendard ExtraBold" pitchFamily="34" charset="-127"/>
                <a:cs typeface="Pretendard ExtraBold" pitchFamily="34" charset="-120"/>
              </a:rPr>
              <a:t>379</a:t>
            </a:r>
            <a:endParaRPr lang="en-US" sz="6400" dirty="0"/>
          </a:p>
        </p:txBody>
      </p:sp>
      <p:sp>
        <p:nvSpPr>
          <p:cNvPr id="128" name="/ 406"/>
          <p:cNvSpPr txBox="1"/>
          <p:nvPr/>
        </p:nvSpPr>
        <p:spPr>
          <a:xfrm>
            <a:off x="10498534" y="2540198"/>
            <a:ext cx="664170" cy="304800"/>
          </a:xfrm>
          <a:prstGeom prst="rect">
            <a:avLst/>
          </a:prstGeom>
          <a:noFill/>
          <a:ln/>
        </p:spPr>
        <p:txBody>
          <a:bodyPr wrap="none" lIns="0" tIns="0" rIns="0" bIns="0" rtlCol="0" anchor="ctr"/>
          <a:lstStyle/>
          <a:p>
            <a:pPr algn="l" indent="0" marL="0">
              <a:buNone/>
            </a:pPr>
            <a:r>
              <a:rPr lang="ko-KR" altLang="en-US" sz="2000" b="1" spc="-59" kern="0" dirty="0">
                <a:solidFill>
                  <a:srgbClr val="FFFFFF">
                    <a:alpha val="55000"/>
                  </a:srgbClr>
                </a:solidFill>
                <a:latin typeface="Pretendard" pitchFamily="34" charset="0"/>
                <a:ea typeface="Pretendard" pitchFamily="34" charset="-127"/>
                <a:cs typeface="Pretendard" pitchFamily="34" charset="-120"/>
              </a:rPr>
              <a:t>/ 406</a:t>
            </a:r>
            <a:endParaRPr lang="en-US" sz="2000" dirty="0"/>
          </a:p>
        </p:txBody>
      </p:sp>
      <p:sp>
        <p:nvSpPr>
          <p:cNvPr id="129" name="406개 객체 중 379개 자동 생성"/>
          <p:cNvSpPr txBox="1"/>
          <p:nvPr/>
        </p:nvSpPr>
        <p:spPr>
          <a:xfrm>
            <a:off x="8890000" y="2965648"/>
            <a:ext cx="1763522" cy="158750"/>
          </a:xfrm>
          <a:prstGeom prst="rect">
            <a:avLst/>
          </a:prstGeom>
          <a:noFill/>
          <a:ln/>
        </p:spPr>
        <p:txBody>
          <a:bodyPr wrap="none" lIns="0" tIns="0" rIns="0" bIns="0" rtlCol="0" anchor="ctr"/>
          <a:lstStyle/>
          <a:p>
            <a:pPr algn="l" indent="0" marL="0">
              <a:buNone/>
            </a:pPr>
            <a:r>
              <a:rPr lang="ko-KR" altLang="en-US" sz="1050" spc="-12" kern="0" dirty="0">
                <a:solidFill>
                  <a:srgbClr val="FFFFFF">
                    <a:alpha val="82000"/>
                  </a:srgbClr>
                </a:solidFill>
                <a:latin typeface="Pretendard SemiBold" pitchFamily="34" charset="0"/>
                <a:ea typeface="Pretendard SemiBold" pitchFamily="34" charset="-127"/>
                <a:cs typeface="Pretendard SemiBold" pitchFamily="34" charset="-120"/>
              </a:rPr>
              <a:t>406개 객체 중 379개 자동 생성</a:t>
            </a:r>
            <a:endParaRPr lang="en-US" sz="1050" dirty="0"/>
          </a:p>
        </p:txBody>
      </p:sp>
      <p:sp>
        <p:nvSpPr>
          <p:cNvPr id="130" name="생성 완성도"/>
          <p:cNvSpPr txBox="1"/>
          <p:nvPr/>
        </p:nvSpPr>
        <p:spPr>
          <a:xfrm>
            <a:off x="8890000" y="3526929"/>
            <a:ext cx="590848" cy="146050"/>
          </a:xfrm>
          <a:prstGeom prst="rect">
            <a:avLst/>
          </a:prstGeom>
          <a:noFill/>
          <a:ln/>
        </p:spPr>
        <p:txBody>
          <a:bodyPr wrap="none" lIns="0" tIns="0" rIns="0" bIns="0" rtlCol="0" anchor="ctr"/>
          <a:lstStyle/>
          <a:p>
            <a:pPr algn="l" indent="0" marL="0">
              <a:buNone/>
            </a:pPr>
            <a:r>
              <a:rPr lang="ko-KR" altLang="en-US" sz="950" b="1" spc="-12" kern="0" dirty="0">
                <a:solidFill>
                  <a:srgbClr val="FFFFFF">
                    <a:alpha val="75000"/>
                  </a:srgbClr>
                </a:solidFill>
                <a:latin typeface="Pretendard" pitchFamily="34" charset="0"/>
                <a:ea typeface="Pretendard" pitchFamily="34" charset="-127"/>
                <a:cs typeface="Pretendard" pitchFamily="34" charset="-120"/>
              </a:rPr>
              <a:t>생성 완성도</a:t>
            </a:r>
            <a:endParaRPr lang="en-US" sz="950" dirty="0"/>
          </a:p>
        </p:txBody>
      </p:sp>
      <p:sp>
        <p:nvSpPr>
          <p:cNvPr id="131" name="93.3%"/>
          <p:cNvSpPr txBox="1"/>
          <p:nvPr/>
        </p:nvSpPr>
        <p:spPr>
          <a:xfrm>
            <a:off x="10690721" y="3450729"/>
            <a:ext cx="688479" cy="241300"/>
          </a:xfrm>
          <a:prstGeom prst="rect">
            <a:avLst/>
          </a:prstGeom>
          <a:noFill/>
          <a:ln/>
        </p:spPr>
        <p:txBody>
          <a:bodyPr wrap="none" lIns="0" tIns="0" rIns="0" bIns="0" rtlCol="0" anchor="ctr"/>
          <a:lstStyle/>
          <a:p>
            <a:pPr algn="l" indent="0" marL="0">
              <a:buNone/>
            </a:pPr>
            <a:r>
              <a:rPr lang="ko-KR" altLang="en-US" sz="1600" spc="-16" kern="0" dirty="0">
                <a:solidFill>
                  <a:srgbClr val="FFFFFF"/>
                </a:solidFill>
                <a:latin typeface="Pretendard ExtraBold" pitchFamily="34" charset="0"/>
                <a:ea typeface="Pretendard ExtraBold" pitchFamily="34" charset="-127"/>
                <a:cs typeface="Pretendard ExtraBold" pitchFamily="34" charset="-120"/>
              </a:rPr>
              <a:t>93.3%</a:t>
            </a:r>
            <a:endParaRPr lang="en-US" sz="1600" dirty="0"/>
          </a:p>
        </p:txBody>
      </p:sp>
      <p:sp>
        <p:nvSpPr>
          <p:cNvPr id="132" name="요소별 생성"/>
          <p:cNvSpPr txBox="1"/>
          <p:nvPr/>
        </p:nvSpPr>
        <p:spPr>
          <a:xfrm>
            <a:off x="8890000" y="3812679"/>
            <a:ext cx="507206" cy="120650"/>
          </a:xfrm>
          <a:prstGeom prst="rect">
            <a:avLst/>
          </a:prstGeom>
          <a:noFill/>
          <a:ln/>
        </p:spPr>
        <p:txBody>
          <a:bodyPr wrap="none" lIns="0" tIns="0" rIns="0" bIns="0" rtlCol="0" anchor="ctr"/>
          <a:lstStyle/>
          <a:p>
            <a:pPr algn="l" indent="0" marL="0">
              <a:buNone/>
            </a:pPr>
            <a:r>
              <a:rPr lang="ko-KR" altLang="en-US" sz="800" b="1" spc="-8" kern="0" dirty="0">
                <a:solidFill>
                  <a:srgbClr val="FFFFFF">
                    <a:alpha val="62000"/>
                  </a:srgbClr>
                </a:solidFill>
                <a:latin typeface="Pretendard" pitchFamily="34" charset="0"/>
                <a:ea typeface="Pretendard" pitchFamily="34" charset="-127"/>
                <a:cs typeface="Pretendard" pitchFamily="34" charset="-120"/>
              </a:rPr>
              <a:t>요소별 생성</a:t>
            </a:r>
            <a:endParaRPr lang="en-US" sz="800" dirty="0"/>
          </a:p>
        </p:txBody>
      </p:sp>
      <p:sp>
        <p:nvSpPr>
          <p:cNvPr id="133" name="벽 135 / 153"/>
          <p:cNvSpPr txBox="1"/>
          <p:nvPr/>
        </p:nvSpPr>
        <p:spPr>
          <a:xfrm>
            <a:off x="8890000" y="4003179"/>
            <a:ext cx="730945" cy="146050"/>
          </a:xfrm>
          <a:prstGeom prst="rect">
            <a:avLst/>
          </a:prstGeom>
          <a:noFill/>
          <a:ln/>
        </p:spPr>
        <p:txBody>
          <a:bodyPr wrap="none" lIns="0" tIns="0" rIns="0" bIns="0" rtlCol="0" anchor="ctr"/>
          <a:lstStyle/>
          <a:p>
            <a:pPr algn="l" indent="0" marL="0">
              <a:buNone/>
            </a:pPr>
            <a:r>
              <a:rPr lang="ko-KR" altLang="en-US" sz="950" spc="-19" kern="0" dirty="0">
                <a:solidFill>
                  <a:srgbClr val="FFFFFF">
                    <a:alpha val="60000"/>
                  </a:srgbClr>
                </a:solidFill>
                <a:latin typeface="Pretendard SemiBold" pitchFamily="34" charset="0"/>
                <a:ea typeface="Pretendard SemiBold" pitchFamily="34" charset="-127"/>
                <a:cs typeface="Pretendard SemiBold" pitchFamily="34" charset="-120"/>
              </a:rPr>
              <a:t>벽 </a:t>
            </a:r>
            <a:r>
              <a:rPr lang="ko-KR" altLang="en-US" sz="950" spc="57" kern="0" dirty="0">
                <a:solidFill>
                  <a:srgbClr val="FFFFFF"/>
                </a:solidFill>
                <a:latin typeface="Pretendard ExtraBold" pitchFamily="34" charset="0"/>
                <a:ea typeface="Pretendard ExtraBold" pitchFamily="34" charset="-127"/>
                <a:cs typeface="Pretendard ExtraBold" pitchFamily="34" charset="-120"/>
              </a:rPr>
              <a:t>135</a:t>
            </a:r>
            <a:r>
              <a:rPr lang="ko-KR" altLang="en-US" sz="950" spc="22" kern="0" dirty="0">
                <a:solidFill>
                  <a:srgbClr val="FFFFFF">
                    <a:alpha val="60000"/>
                  </a:srgbClr>
                </a:solidFill>
                <a:latin typeface="Pretendard SemiBold" pitchFamily="34" charset="0"/>
                <a:ea typeface="Pretendard SemiBold" pitchFamily="34" charset="-127"/>
                <a:cs typeface="Pretendard SemiBold" pitchFamily="34" charset="-120"/>
              </a:rPr>
              <a:t> / 153</a:t>
            </a:r>
            <a:endParaRPr lang="en-US" sz="950" dirty="0"/>
          </a:p>
        </p:txBody>
      </p:sp>
      <p:sp>
        <p:nvSpPr>
          <p:cNvPr id="134" name="문 64 / 64"/>
          <p:cNvSpPr txBox="1"/>
          <p:nvPr/>
        </p:nvSpPr>
        <p:spPr>
          <a:xfrm>
            <a:off x="9794776" y="4003179"/>
            <a:ext cx="577751" cy="146050"/>
          </a:xfrm>
          <a:prstGeom prst="rect">
            <a:avLst/>
          </a:prstGeom>
          <a:noFill/>
          <a:ln/>
        </p:spPr>
        <p:txBody>
          <a:bodyPr wrap="none" lIns="0" tIns="0" rIns="0" bIns="0" rtlCol="0" anchor="ctr"/>
          <a:lstStyle/>
          <a:p>
            <a:pPr algn="l" indent="0" marL="0">
              <a:buNone/>
            </a:pPr>
            <a:r>
              <a:rPr lang="ko-KR" altLang="en-US" sz="950" spc="-19" kern="0" dirty="0">
                <a:solidFill>
                  <a:srgbClr val="FFFFFF">
                    <a:alpha val="60000"/>
                  </a:srgbClr>
                </a:solidFill>
                <a:latin typeface="Pretendard SemiBold" pitchFamily="34" charset="0"/>
                <a:ea typeface="Pretendard SemiBold" pitchFamily="34" charset="-127"/>
                <a:cs typeface="Pretendard SemiBold" pitchFamily="34" charset="-120"/>
              </a:rPr>
              <a:t>문 </a:t>
            </a:r>
            <a:r>
              <a:rPr lang="ko-KR" altLang="en-US" sz="950" spc="-12" kern="0" dirty="0">
                <a:solidFill>
                  <a:srgbClr val="FFFFFF"/>
                </a:solidFill>
                <a:latin typeface="Pretendard ExtraBold" pitchFamily="34" charset="0"/>
                <a:ea typeface="Pretendard ExtraBold" pitchFamily="34" charset="-127"/>
                <a:cs typeface="Pretendard ExtraBold" pitchFamily="34" charset="-120"/>
              </a:rPr>
              <a:t>64</a:t>
            </a:r>
            <a:r>
              <a:rPr lang="ko-KR" altLang="en-US" sz="950" spc="-18" kern="0" dirty="0">
                <a:solidFill>
                  <a:srgbClr val="FFFFFF">
                    <a:alpha val="60000"/>
                  </a:srgbClr>
                </a:solidFill>
                <a:latin typeface="Pretendard SemiBold" pitchFamily="34" charset="0"/>
                <a:ea typeface="Pretendard SemiBold" pitchFamily="34" charset="-127"/>
                <a:cs typeface="Pretendard SemiBold" pitchFamily="34" charset="-120"/>
              </a:rPr>
              <a:t> / 64</a:t>
            </a:r>
            <a:endParaRPr lang="en-US" sz="950" dirty="0"/>
          </a:p>
        </p:txBody>
      </p:sp>
      <p:sp>
        <p:nvSpPr>
          <p:cNvPr id="135" name="창문 180 / 189"/>
          <p:cNvSpPr txBox="1"/>
          <p:nvPr/>
        </p:nvSpPr>
        <p:spPr>
          <a:xfrm>
            <a:off x="10546358" y="4003179"/>
            <a:ext cx="832842" cy="146050"/>
          </a:xfrm>
          <a:prstGeom prst="rect">
            <a:avLst/>
          </a:prstGeom>
          <a:noFill/>
          <a:ln/>
        </p:spPr>
        <p:txBody>
          <a:bodyPr wrap="none" lIns="0" tIns="0" rIns="0" bIns="0" rtlCol="0" anchor="ctr"/>
          <a:lstStyle/>
          <a:p>
            <a:pPr algn="l" indent="0" marL="0">
              <a:buNone/>
            </a:pPr>
            <a:r>
              <a:rPr lang="ko-KR" altLang="en-US" sz="950" spc="-19" kern="0" dirty="0">
                <a:solidFill>
                  <a:srgbClr val="FFFFFF">
                    <a:alpha val="60000"/>
                  </a:srgbClr>
                </a:solidFill>
                <a:latin typeface="Pretendard SemiBold" pitchFamily="34" charset="0"/>
                <a:ea typeface="Pretendard SemiBold" pitchFamily="34" charset="-127"/>
                <a:cs typeface="Pretendard SemiBold" pitchFamily="34" charset="-120"/>
              </a:rPr>
              <a:t>창문 </a:t>
            </a:r>
            <a:r>
              <a:rPr lang="ko-KR" altLang="en-US" sz="950" spc="41" kern="0" dirty="0">
                <a:solidFill>
                  <a:srgbClr val="FFFFFF"/>
                </a:solidFill>
                <a:latin typeface="Pretendard ExtraBold" pitchFamily="34" charset="0"/>
                <a:ea typeface="Pretendard ExtraBold" pitchFamily="34" charset="-127"/>
                <a:cs typeface="Pretendard ExtraBold" pitchFamily="34" charset="-120"/>
              </a:rPr>
              <a:t>180</a:t>
            </a:r>
            <a:r>
              <a:rPr lang="ko-KR" altLang="en-US" sz="950" spc="19" kern="0" dirty="0">
                <a:solidFill>
                  <a:srgbClr val="FFFFFF">
                    <a:alpha val="60000"/>
                  </a:srgbClr>
                </a:solidFill>
                <a:latin typeface="Pretendard SemiBold" pitchFamily="34" charset="0"/>
                <a:ea typeface="Pretendard SemiBold" pitchFamily="34" charset="-127"/>
                <a:cs typeface="Pretendard SemiBold" pitchFamily="34" charset="-120"/>
              </a:rPr>
              <a:t> / 189</a:t>
            </a:r>
            <a:endParaRPr lang="en-US" sz="950" dirty="0"/>
          </a:p>
        </p:txBody>
      </p:sp>
      <p:sp>
        <p:nvSpPr>
          <p:cNvPr id="136" name="자동 생성된 3D BIM"/>
          <p:cNvSpPr txBox="1"/>
          <p:nvPr/>
        </p:nvSpPr>
        <p:spPr>
          <a:xfrm>
            <a:off x="8890000" y="6019998"/>
            <a:ext cx="856258" cy="120650"/>
          </a:xfrm>
          <a:prstGeom prst="rect">
            <a:avLst/>
          </a:prstGeom>
          <a:noFill/>
          <a:ln/>
        </p:spPr>
        <p:txBody>
          <a:bodyPr wrap="none" lIns="0" tIns="0" rIns="0" bIns="0" rtlCol="0" anchor="ctr"/>
          <a:lstStyle/>
          <a:p>
            <a:pPr algn="l" indent="0" marL="0">
              <a:buNone/>
            </a:pPr>
            <a:r>
              <a:rPr lang="ko-KR" altLang="en-US" sz="800" spc="-12" kern="0" dirty="0">
                <a:solidFill>
                  <a:srgbClr val="FFFFFF">
                    <a:alpha val="62000"/>
                  </a:srgbClr>
                </a:solidFill>
                <a:latin typeface="Pretendard SemiBold" pitchFamily="34" charset="0"/>
                <a:ea typeface="Pretendard SemiBold" pitchFamily="34" charset="-127"/>
                <a:cs typeface="Pretendard SemiBold" pitchFamily="34" charset="-120"/>
              </a:rPr>
              <a:t>자동 생성된 3D BIM</a:t>
            </a:r>
            <a:endParaRPr lang="en-US" sz="800" dirty="0"/>
          </a:p>
        </p:txBody>
      </p:sp>
      <p:sp>
        <p:nvSpPr>
          <p:cNvPr id="137" name="석사 연구 발표  ·  평면도와 입면도 객체 인식 및 정보 통합을 통한 "/>
          <p:cNvSpPr txBox="1"/>
          <p:nvPr/>
        </p:nvSpPr>
        <p:spPr>
          <a:xfrm>
            <a:off x="609600" y="6472238"/>
            <a:ext cx="514511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  ·  Utility 기술(건축, BIM/5D) 지원자 ○○○</a:t>
            </a:r>
            <a:endParaRPr lang="en-US" sz="750" dirty="0"/>
          </a:p>
        </p:txBody>
      </p:sp>
      <p:sp>
        <p:nvSpPr>
          <p:cNvPr id="138" name="04 / 05"/>
          <p:cNvSpPr txBox="1"/>
          <p:nvPr/>
        </p:nvSpPr>
        <p:spPr>
          <a:xfrm>
            <a:off x="11214795" y="6472238"/>
            <a:ext cx="418405"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04</a:t>
            </a:r>
            <a:r>
              <a:rPr lang="ko-KR" altLang="en-US" sz="750" spc="45" kern="0" dirty="0">
                <a:solidFill>
                  <a:srgbClr val="737C8B"/>
                </a:solidFill>
                <a:latin typeface="Pretendard SemiBold" pitchFamily="34" charset="0"/>
                <a:ea typeface="Pretendard SemiBold" pitchFamily="34" charset="-127"/>
                <a:cs typeface="Pretendard SemiBold" pitchFamily="34" charset="-120"/>
              </a:rPr>
              <a:t> / 05</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sep"/>
          <p:cNvSpPr/>
          <p:nvPr/>
        </p:nvSpPr>
        <p:spPr>
          <a:xfrm>
            <a:off x="3042741" y="425450"/>
            <a:ext cx="6350" cy="101600"/>
          </a:xfrm>
          <a:prstGeom prst="roundRect">
            <a:avLst>
              <a:gd name="adj" fmla="val 0"/>
            </a:avLst>
          </a:prstGeom>
          <a:solidFill>
            <a:srgbClr val="C8CFD8"/>
          </a:solidFill>
          <a:ln>
            <a:noFill/>
          </a:ln>
        </p:spPr>
        <p:txBody>
          <a:bodyPr rtlCol="0" anchor="ctr"/>
          <a:lstStyle/>
          <a:p>
            <a:pPr algn="ctr"/>
            <a:endParaRPr lang="ko-KR" dirty="0"/>
          </a:p>
        </p:txBody>
      </p:sp>
      <p:sp>
        <p:nvSpPr>
          <p:cNvPr id="4" name="done"/>
          <p:cNvSpPr/>
          <p:nvPr/>
        </p:nvSpPr>
        <p:spPr>
          <a:xfrm>
            <a:off x="99695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5" name="done"/>
          <p:cNvSpPr/>
          <p:nvPr/>
        </p:nvSpPr>
        <p:spPr>
          <a:xfrm>
            <a:off x="102997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6" name="done"/>
          <p:cNvSpPr/>
          <p:nvPr/>
        </p:nvSpPr>
        <p:spPr>
          <a:xfrm>
            <a:off x="106299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7" name="done"/>
          <p:cNvSpPr/>
          <p:nvPr/>
        </p:nvSpPr>
        <p:spPr>
          <a:xfrm>
            <a:off x="10960100" y="381000"/>
            <a:ext cx="292100" cy="190500"/>
          </a:xfrm>
          <a:prstGeom prst="roundRect">
            <a:avLst>
              <a:gd name="adj" fmla="val 26667"/>
            </a:avLst>
          </a:prstGeom>
          <a:solidFill>
            <a:srgbClr val="E8EEF6"/>
          </a:solidFill>
          <a:ln>
            <a:noFill/>
          </a:ln>
        </p:spPr>
        <p:txBody>
          <a:bodyPr rtlCol="0" anchor="ctr"/>
          <a:lstStyle/>
          <a:p>
            <a:pPr algn="ctr"/>
            <a:endParaRPr lang="ko-KR" dirty="0"/>
          </a:p>
        </p:txBody>
      </p:sp>
      <p:sp>
        <p:nvSpPr>
          <p:cNvPr id="8" name="on"/>
          <p:cNvSpPr/>
          <p:nvPr/>
        </p:nvSpPr>
        <p:spPr>
          <a:xfrm>
            <a:off x="11290300" y="381000"/>
            <a:ext cx="292100" cy="190500"/>
          </a:xfrm>
          <a:prstGeom prst="roundRect">
            <a:avLst>
              <a:gd name="adj" fmla="val 26667"/>
            </a:avLst>
          </a:prstGeom>
          <a:solidFill>
            <a:srgbClr val="102A4C"/>
          </a:solidFill>
          <a:ln>
            <a:noFill/>
          </a:ln>
        </p:spPr>
        <p:txBody>
          <a:bodyPr rtlCol="0" anchor="ctr"/>
          <a:lstStyle/>
          <a:p>
            <a:pPr algn="ctr"/>
            <a:endParaRPr lang="ko-KR" dirty="0"/>
          </a:p>
        </p:txBody>
      </p:sp>
      <p:sp>
        <p:nvSpPr>
          <p:cNvPr id="9" name="svg rect"/>
          <p:cNvSpPr/>
          <p:nvPr/>
        </p:nvSpPr>
        <p:spPr>
          <a:xfrm>
            <a:off x="628650" y="1708547"/>
            <a:ext cx="127000" cy="88900"/>
          </a:xfrm>
          <a:prstGeom prst="roundRect">
            <a:avLst>
              <a:gd name="adj" fmla="val 17857"/>
            </a:avLst>
          </a:prstGeom>
          <a:noFill/>
          <a:ln w="12700" cap="rnd">
            <a:solidFill>
              <a:srgbClr val="102A4C"/>
            </a:solidFill>
            <a:round/>
          </a:ln>
        </p:spPr>
        <p:txBody>
          <a:bodyPr rtlCol="0" anchor="ctr"/>
          <a:lstStyle/>
          <a:p>
            <a:pPr algn="ctr"/>
            <a:endParaRPr lang="ko-KR" dirty="0"/>
          </a:p>
        </p:txBody>
      </p:sp>
      <p:sp>
        <p:nvSpPr>
          <p:cNvPr id="10" name="svg path"/>
          <p:cNvSpPr/>
          <p:nvPr/>
        </p:nvSpPr>
        <p:spPr>
          <a:xfrm>
            <a:off x="669925" y="1686322"/>
            <a:ext cx="44450" cy="22225"/>
          </a:xfrm>
          <a:custGeom>
            <a:avLst/>
            <a:gdLst/>
            <a:ahLst/>
            <a:cxnLst/>
            <a:rect l="0" t="0" r="r" b="b"/>
            <a:pathLst>
              <a:path w="44450" h="22225" fill="none">
                <a:moveTo>
                  <a:pt x="0" y="22225"/>
                </a:moveTo>
                <a:lnTo>
                  <a:pt x="0" y="9525"/>
                </a:lnTo>
                <a:cubicBezTo>
                  <a:pt x="0" y="4264"/>
                  <a:pt x="4264" y="0"/>
                  <a:pt x="9525" y="0"/>
                </a:cubicBezTo>
                <a:lnTo>
                  <a:pt x="34925" y="0"/>
                </a:lnTo>
                <a:cubicBezTo>
                  <a:pt x="40186" y="0"/>
                  <a:pt x="44450" y="4264"/>
                  <a:pt x="44450" y="9525"/>
                </a:cubicBezTo>
                <a:lnTo>
                  <a:pt x="44450" y="22225"/>
                </a:lnTo>
              </a:path>
            </a:pathLst>
          </a:custGeom>
          <a:noFill/>
          <a:ln w="12700" cap="rnd">
            <a:solidFill>
              <a:srgbClr val="102A4C"/>
            </a:solidFill>
            <a:round/>
          </a:ln>
        </p:spPr>
        <p:txBody>
          <a:bodyPr rtlCol="0" anchor="ctr"/>
          <a:lstStyle/>
          <a:p>
            <a:pPr algn="ctr"/>
            <a:endParaRPr lang="ko-KR" dirty="0"/>
          </a:p>
        </p:txBody>
      </p:sp>
      <p:sp>
        <p:nvSpPr>
          <p:cNvPr id="11" name="svg path"/>
          <p:cNvSpPr/>
          <p:nvPr/>
        </p:nvSpPr>
        <p:spPr>
          <a:xfrm>
            <a:off x="628650" y="1749822"/>
            <a:ext cx="127000" cy="1"/>
          </a:xfrm>
          <a:custGeom>
            <a:avLst/>
            <a:gdLst/>
            <a:ahLst/>
            <a:cxnLst/>
            <a:rect l="0" t="0" r="r" b="b"/>
            <a:pathLst>
              <a:path w="127000" h="1" fill="none">
                <a:moveTo>
                  <a:pt x="0" y="0"/>
                </a:moveTo>
                <a:lnTo>
                  <a:pt x="127000" y="0"/>
                </a:lnTo>
              </a:path>
            </a:pathLst>
          </a:custGeom>
          <a:noFill/>
          <a:ln w="12700" cap="rnd">
            <a:solidFill>
              <a:srgbClr val="102A4C"/>
            </a:solidFill>
            <a:round/>
          </a:ln>
        </p:spPr>
        <p:txBody>
          <a:bodyPr rtlCol="0" anchor="ctr"/>
          <a:lstStyle/>
          <a:p>
            <a:pPr algn="ctr"/>
            <a:endParaRPr lang="ko-KR" dirty="0"/>
          </a:p>
        </p:txBody>
      </p:sp>
      <p:sp>
        <p:nvSpPr>
          <p:cNvPr id="12" name="t5-ch c1::after"/>
          <p:cNvSpPr/>
          <p:nvPr/>
        </p:nvSpPr>
        <p:spPr>
          <a:xfrm>
            <a:off x="1490663" y="1733947"/>
            <a:ext cx="4452938" cy="12700"/>
          </a:xfrm>
          <a:prstGeom prst="roundRect">
            <a:avLst>
              <a:gd name="adj" fmla="val 50000"/>
            </a:avLst>
          </a:prstGeom>
          <a:solidFill>
            <a:srgbClr val="102A4C"/>
          </a:solidFill>
          <a:ln>
            <a:noFill/>
          </a:ln>
        </p:spPr>
        <p:txBody>
          <a:bodyPr rtlCol="0" anchor="ctr"/>
          <a:lstStyle/>
          <a:p>
            <a:pPr algn="ctr"/>
            <a:endParaRPr lang="ko-KR" dirty="0"/>
          </a:p>
        </p:txBody>
      </p:sp>
      <p:sp>
        <p:nvSpPr>
          <p:cNvPr id="13" name="svg path"/>
          <p:cNvSpPr/>
          <p:nvPr/>
        </p:nvSpPr>
        <p:spPr>
          <a:xfrm>
            <a:off x="6394450" y="1679972"/>
            <a:ext cx="82550" cy="120650"/>
          </a:xfrm>
          <a:custGeom>
            <a:avLst/>
            <a:gdLst/>
            <a:ahLst/>
            <a:cxnLst/>
            <a:rect l="0" t="0" r="r" b="b"/>
            <a:pathLst>
              <a:path w="82550" h="120650" fill="none">
                <a:moveTo>
                  <a:pt x="0" y="0"/>
                </a:moveTo>
                <a:lnTo>
                  <a:pt x="53975" y="0"/>
                </a:lnTo>
                <a:lnTo>
                  <a:pt x="82550" y="28575"/>
                </a:lnTo>
                <a:lnTo>
                  <a:pt x="82550" y="120650"/>
                </a:lnTo>
                <a:lnTo>
                  <a:pt x="0" y="120650"/>
                </a:lnTo>
                <a:close/>
              </a:path>
            </a:pathLst>
          </a:custGeom>
          <a:noFill/>
          <a:ln w="12700" cap="rnd">
            <a:solidFill>
              <a:srgbClr val="102A4C"/>
            </a:solidFill>
            <a:round/>
          </a:ln>
        </p:spPr>
        <p:txBody>
          <a:bodyPr rtlCol="0" anchor="ctr"/>
          <a:lstStyle/>
          <a:p>
            <a:pPr algn="ctr"/>
            <a:endParaRPr lang="ko-KR" dirty="0"/>
          </a:p>
        </p:txBody>
      </p:sp>
      <p:sp>
        <p:nvSpPr>
          <p:cNvPr id="14" name="svg path"/>
          <p:cNvSpPr/>
          <p:nvPr/>
        </p:nvSpPr>
        <p:spPr>
          <a:xfrm>
            <a:off x="6448425" y="1679972"/>
            <a:ext cx="28575" cy="28575"/>
          </a:xfrm>
          <a:custGeom>
            <a:avLst/>
            <a:gdLst/>
            <a:ahLst/>
            <a:cxnLst/>
            <a:rect l="0" t="0" r="r" b="b"/>
            <a:pathLst>
              <a:path w="28575" h="28575" fill="none">
                <a:moveTo>
                  <a:pt x="0" y="0"/>
                </a:moveTo>
                <a:lnTo>
                  <a:pt x="0" y="28575"/>
                </a:lnTo>
                <a:lnTo>
                  <a:pt x="28575" y="28575"/>
                </a:lnTo>
              </a:path>
            </a:pathLst>
          </a:custGeom>
          <a:noFill/>
          <a:ln w="12700" cap="rnd">
            <a:solidFill>
              <a:srgbClr val="102A4C"/>
            </a:solidFill>
            <a:round/>
          </a:ln>
        </p:spPr>
        <p:txBody>
          <a:bodyPr rtlCol="0" anchor="ctr"/>
          <a:lstStyle/>
          <a:p>
            <a:pPr algn="ctr"/>
            <a:endParaRPr lang="ko-KR" dirty="0"/>
          </a:p>
        </p:txBody>
      </p:sp>
      <p:sp>
        <p:nvSpPr>
          <p:cNvPr id="15" name="svg path"/>
          <p:cNvSpPr/>
          <p:nvPr/>
        </p:nvSpPr>
        <p:spPr>
          <a:xfrm>
            <a:off x="6416675" y="1740297"/>
            <a:ext cx="38100" cy="28575"/>
          </a:xfrm>
          <a:custGeom>
            <a:avLst/>
            <a:gdLst/>
            <a:ahLst/>
            <a:cxnLst/>
            <a:rect l="0" t="0" r="r" b="b"/>
            <a:pathLst>
              <a:path w="38100" h="28575" fill="none">
                <a:moveTo>
                  <a:pt x="0" y="0"/>
                </a:moveTo>
                <a:lnTo>
                  <a:pt x="38100" y="0"/>
                </a:lnTo>
                <a:moveTo>
                  <a:pt x="0" y="28575"/>
                </a:moveTo>
                <a:lnTo>
                  <a:pt x="38100" y="28575"/>
                </a:lnTo>
              </a:path>
            </a:pathLst>
          </a:custGeom>
          <a:noFill/>
          <a:ln w="12700" cap="rnd">
            <a:solidFill>
              <a:srgbClr val="102A4C"/>
            </a:solidFill>
            <a:round/>
          </a:ln>
        </p:spPr>
        <p:txBody>
          <a:bodyPr rtlCol="0" anchor="ctr"/>
          <a:lstStyle/>
          <a:p>
            <a:pPr algn="ctr"/>
            <a:endParaRPr lang="ko-KR" dirty="0"/>
          </a:p>
        </p:txBody>
      </p:sp>
      <p:sp>
        <p:nvSpPr>
          <p:cNvPr id="16" name="t5-ch c2::after"/>
          <p:cNvSpPr/>
          <p:nvPr/>
        </p:nvSpPr>
        <p:spPr>
          <a:xfrm>
            <a:off x="7231063" y="1733947"/>
            <a:ext cx="4351338" cy="12700"/>
          </a:xfrm>
          <a:prstGeom prst="roundRect">
            <a:avLst>
              <a:gd name="adj" fmla="val 50000"/>
            </a:avLst>
          </a:prstGeom>
          <a:solidFill>
            <a:srgbClr val="102A4C"/>
          </a:solidFill>
          <a:ln>
            <a:noFill/>
          </a:ln>
        </p:spPr>
        <p:txBody>
          <a:bodyPr rtlCol="0" anchor="ctr"/>
          <a:lstStyle/>
          <a:p>
            <a:pPr algn="ctr"/>
            <a:endParaRPr lang="ko-KR" dirty="0"/>
          </a:p>
        </p:txBody>
      </p:sp>
      <p:sp>
        <p:nvSpPr>
          <p:cNvPr id="17" name="t5-task"/>
          <p:cNvSpPr/>
          <p:nvPr/>
        </p:nvSpPr>
        <p:spPr>
          <a:xfrm>
            <a:off x="609600" y="1968897"/>
            <a:ext cx="5334000" cy="1066800"/>
          </a:xfrm>
          <a:prstGeom prst="roundRect">
            <a:avLst>
              <a:gd name="adj" fmla="val 11905"/>
            </a:avLst>
          </a:prstGeom>
          <a:solidFill>
            <a:srgbClr val="F3F5F8"/>
          </a:solidFill>
          <a:ln>
            <a:noFill/>
          </a:ln>
        </p:spPr>
        <p:txBody>
          <a:bodyPr rtlCol="0" anchor="ctr"/>
          <a:lstStyle/>
          <a:p>
            <a:pPr algn="ctr"/>
            <a:endParaRPr lang="ko-KR" dirty="0"/>
          </a:p>
        </p:txBody>
      </p:sp>
      <p:sp>
        <p:nvSpPr>
          <p:cNvPr id="18" name="t5-ic"/>
          <p:cNvSpPr/>
          <p:nvPr/>
        </p:nvSpPr>
        <p:spPr>
          <a:xfrm>
            <a:off x="838200" y="2248297"/>
            <a:ext cx="508000" cy="508000"/>
          </a:xfrm>
          <a:prstGeom prst="roundRect">
            <a:avLst>
              <a:gd name="adj" fmla="val 25000"/>
            </a:avLst>
          </a:prstGeom>
          <a:solidFill>
            <a:srgbClr val="FFFFFF"/>
          </a:solidFill>
          <a:ln>
            <a:noFill/>
          </a:ln>
          <a:effectLst>
            <a:outerShdw blurRad="38100" dist="12700" dir="5400000" algn="ctr" rotWithShape="0">
              <a:srgbClr val="102A4C">
                <a:alpha val="6000"/>
              </a:srgbClr>
            </a:outerShdw>
          </a:effectLst>
        </p:spPr>
        <p:txBody>
          <a:bodyPr rtlCol="0" anchor="ctr"/>
          <a:lstStyle/>
          <a:p>
            <a:pPr algn="ctr"/>
            <a:endParaRPr lang="ko-KR" dirty="0"/>
          </a:p>
        </p:txBody>
      </p:sp>
      <p:sp>
        <p:nvSpPr>
          <p:cNvPr id="19" name="svg path"/>
          <p:cNvSpPr/>
          <p:nvPr/>
        </p:nvSpPr>
        <p:spPr>
          <a:xfrm>
            <a:off x="984250" y="2597547"/>
            <a:ext cx="215900" cy="1"/>
          </a:xfrm>
          <a:custGeom>
            <a:avLst/>
            <a:gdLst/>
            <a:ahLst/>
            <a:cxnLst/>
            <a:rect l="0" t="0" r="r" b="b"/>
            <a:pathLst>
              <a:path w="215900" h="1" fill="none">
                <a:moveTo>
                  <a:pt x="0" y="0"/>
                </a:moveTo>
                <a:lnTo>
                  <a:pt x="215900" y="0"/>
                </a:lnTo>
              </a:path>
            </a:pathLst>
          </a:custGeom>
          <a:noFill/>
          <a:ln w="12700" cap="rnd">
            <a:solidFill>
              <a:srgbClr val="102A4C"/>
            </a:solidFill>
            <a:round/>
          </a:ln>
        </p:spPr>
        <p:txBody>
          <a:bodyPr rtlCol="0" anchor="ctr"/>
          <a:lstStyle/>
          <a:p>
            <a:pPr algn="ctr"/>
            <a:endParaRPr lang="ko-KR" dirty="0"/>
          </a:p>
        </p:txBody>
      </p:sp>
      <p:sp>
        <p:nvSpPr>
          <p:cNvPr id="20" name="svg path"/>
          <p:cNvSpPr/>
          <p:nvPr/>
        </p:nvSpPr>
        <p:spPr>
          <a:xfrm>
            <a:off x="996950" y="2407047"/>
            <a:ext cx="187325" cy="190500"/>
          </a:xfrm>
          <a:custGeom>
            <a:avLst/>
            <a:gdLst/>
            <a:ahLst/>
            <a:cxnLst/>
            <a:rect l="0" t="0" r="r" b="b"/>
            <a:pathLst>
              <a:path w="187325" h="190500" fill="none">
                <a:moveTo>
                  <a:pt x="0" y="190500"/>
                </a:moveTo>
                <a:lnTo>
                  <a:pt x="0" y="88900"/>
                </a:lnTo>
                <a:lnTo>
                  <a:pt x="50800" y="57150"/>
                </a:lnTo>
                <a:lnTo>
                  <a:pt x="50800" y="88900"/>
                </a:lnTo>
                <a:lnTo>
                  <a:pt x="101600" y="57150"/>
                </a:lnTo>
                <a:lnTo>
                  <a:pt x="101600" y="88900"/>
                </a:lnTo>
                <a:lnTo>
                  <a:pt x="152400" y="57150"/>
                </a:lnTo>
                <a:lnTo>
                  <a:pt x="152400" y="0"/>
                </a:lnTo>
                <a:lnTo>
                  <a:pt x="187325" y="0"/>
                </a:lnTo>
                <a:lnTo>
                  <a:pt x="187325" y="190500"/>
                </a:lnTo>
              </a:path>
            </a:pathLst>
          </a:custGeom>
          <a:noFill/>
          <a:ln w="12700" cap="rnd">
            <a:solidFill>
              <a:srgbClr val="102A4C"/>
            </a:solidFill>
            <a:round/>
          </a:ln>
        </p:spPr>
        <p:txBody>
          <a:bodyPr rtlCol="0" anchor="ctr"/>
          <a:lstStyle/>
          <a:p>
            <a:pPr algn="ctr"/>
            <a:endParaRPr lang="ko-KR" dirty="0"/>
          </a:p>
        </p:txBody>
      </p:sp>
      <p:sp>
        <p:nvSpPr>
          <p:cNvPr id="21" name="svg path"/>
          <p:cNvSpPr/>
          <p:nvPr/>
        </p:nvSpPr>
        <p:spPr>
          <a:xfrm>
            <a:off x="1063625" y="2556272"/>
            <a:ext cx="38100" cy="41275"/>
          </a:xfrm>
          <a:custGeom>
            <a:avLst/>
            <a:gdLst/>
            <a:ahLst/>
            <a:cxnLst/>
            <a:rect l="0" t="0" r="r" b="b"/>
            <a:pathLst>
              <a:path w="38100" h="41275" fill="none">
                <a:moveTo>
                  <a:pt x="0" y="41275"/>
                </a:moveTo>
                <a:lnTo>
                  <a:pt x="0" y="0"/>
                </a:lnTo>
                <a:lnTo>
                  <a:pt x="38100" y="0"/>
                </a:lnTo>
                <a:lnTo>
                  <a:pt x="38100" y="41275"/>
                </a:lnTo>
              </a:path>
            </a:pathLst>
          </a:custGeom>
          <a:noFill/>
          <a:ln w="12700" cap="rnd">
            <a:solidFill>
              <a:srgbClr val="102A4C"/>
            </a:solidFill>
            <a:round/>
          </a:ln>
        </p:spPr>
        <p:txBody>
          <a:bodyPr rtlCol="0" anchor="ctr"/>
          <a:lstStyle/>
          <a:p>
            <a:pPr algn="ctr"/>
            <a:endParaRPr lang="ko-KR" dirty="0"/>
          </a:p>
        </p:txBody>
      </p:sp>
      <p:sp>
        <p:nvSpPr>
          <p:cNvPr id="22" name="d 선"/>
          <p:cNvSpPr/>
          <p:nvPr/>
        </p:nvSpPr>
        <p:spPr>
          <a:xfrm>
            <a:off x="3635375" y="2295922"/>
            <a:ext cx="1" cy="412750"/>
          </a:xfrm>
          <a:custGeom>
            <a:avLst/>
            <a:gdLst/>
            <a:ahLst/>
            <a:cxnLst/>
            <a:rect l="0" t="0" r="r" b="b"/>
            <a:pathLst>
              <a:path w="1" h="412750" fill="none">
                <a:moveTo>
                  <a:pt x="0" y="412750"/>
                </a:moveTo>
                <a:lnTo>
                  <a:pt x="0" y="0"/>
                </a:lnTo>
              </a:path>
            </a:pathLst>
          </a:custGeom>
          <a:noFill/>
          <a:ln w="6350">
            <a:solidFill>
              <a:srgbClr val="C8CFD8"/>
            </a:solidFill>
            <a:round/>
          </a:ln>
        </p:spPr>
        <p:txBody>
          <a:bodyPr rtlCol="0" anchor="ctr"/>
          <a:lstStyle/>
          <a:p>
            <a:pPr algn="ctr"/>
            <a:endParaRPr lang="ko-KR" dirty="0"/>
          </a:p>
        </p:txBody>
      </p:sp>
      <p:sp>
        <p:nvSpPr>
          <p:cNvPr id="23" name="t5-link::before"/>
          <p:cNvSpPr/>
          <p:nvPr/>
        </p:nvSpPr>
        <p:spPr>
          <a:xfrm>
            <a:off x="5943600" y="2495947"/>
            <a:ext cx="406400" cy="12700"/>
          </a:xfrm>
          <a:prstGeom prst="rect">
            <a:avLst/>
          </a:prstGeom>
          <a:solidFill>
            <a:srgbClr val="C8CFD8"/>
          </a:solidFill>
          <a:ln>
            <a:noFill/>
          </a:ln>
        </p:spPr>
        <p:txBody>
          <a:bodyPr rtlCol="0" anchor="ctr"/>
          <a:lstStyle/>
          <a:p>
            <a:pPr algn="ctr"/>
            <a:endParaRPr lang="ko-KR" dirty="0"/>
          </a:p>
        </p:txBody>
      </p:sp>
      <p:sp>
        <p:nvSpPr>
          <p:cNvPr id="24" name="i"/>
          <p:cNvSpPr/>
          <p:nvPr/>
        </p:nvSpPr>
        <p:spPr>
          <a:xfrm>
            <a:off x="5994400" y="2349897"/>
            <a:ext cx="304800" cy="304800"/>
          </a:xfrm>
          <a:prstGeom prst="ellipse">
            <a:avLst/>
          </a:prstGeom>
          <a:solidFill>
            <a:srgbClr val="102A4C"/>
          </a:solidFill>
          <a:ln>
            <a:noFill/>
          </a:ln>
        </p:spPr>
        <p:txBody>
          <a:bodyPr rtlCol="0" anchor="ctr"/>
          <a:lstStyle/>
          <a:p>
            <a:pPr algn="ctr"/>
            <a:endParaRPr lang="ko-KR" dirty="0"/>
          </a:p>
        </p:txBody>
      </p:sp>
      <p:sp>
        <p:nvSpPr>
          <p:cNvPr id="25" name="svg path"/>
          <p:cNvSpPr/>
          <p:nvPr/>
        </p:nvSpPr>
        <p:spPr>
          <a:xfrm>
            <a:off x="6135158" y="2441615"/>
            <a:ext cx="72381" cy="78702"/>
          </a:xfrm>
          <a:custGeom>
            <a:avLst/>
            <a:gdLst/>
            <a:ahLst/>
            <a:cxnLst/>
            <a:rect l="0" t="0" r="r" b="b"/>
            <a:pathLst>
              <a:path w="72381" h="78702" fill="none">
                <a:moveTo>
                  <a:pt x="0" y="66502"/>
                </a:moveTo>
                <a:cubicBezTo>
                  <a:pt x="5058" y="73264"/>
                  <a:pt x="12804" y="77496"/>
                  <a:pt x="21227" y="78099"/>
                </a:cubicBezTo>
                <a:cubicBezTo>
                  <a:pt x="29649" y="78702"/>
                  <a:pt x="37919" y="75618"/>
                  <a:pt x="43889" y="69645"/>
                </a:cubicBezTo>
                <a:lnTo>
                  <a:pt x="61352" y="52183"/>
                </a:lnTo>
                <a:cubicBezTo>
                  <a:pt x="72381" y="40763"/>
                  <a:pt x="72224" y="22611"/>
                  <a:pt x="60997" y="11384"/>
                </a:cubicBezTo>
                <a:cubicBezTo>
                  <a:pt x="49771" y="158"/>
                  <a:pt x="31618" y="0"/>
                  <a:pt x="20198" y="11030"/>
                </a:cubicBezTo>
                <a:lnTo>
                  <a:pt x="10186" y="20983"/>
                </a:lnTo>
              </a:path>
            </a:pathLst>
          </a:custGeom>
          <a:noFill/>
          <a:ln w="13970" cap="rnd">
            <a:solidFill>
              <a:srgbClr val="FFFFFF"/>
            </a:solidFill>
            <a:round/>
          </a:ln>
        </p:spPr>
        <p:txBody>
          <a:bodyPr rtlCol="0" anchor="ctr"/>
          <a:lstStyle/>
          <a:p>
            <a:pPr algn="ctr"/>
            <a:endParaRPr lang="ko-KR" dirty="0"/>
          </a:p>
        </p:txBody>
      </p:sp>
      <p:sp>
        <p:nvSpPr>
          <p:cNvPr id="26" name="svg path"/>
          <p:cNvSpPr/>
          <p:nvPr/>
        </p:nvSpPr>
        <p:spPr>
          <a:xfrm>
            <a:off x="6086060" y="2484276"/>
            <a:ext cx="72381" cy="78702"/>
          </a:xfrm>
          <a:custGeom>
            <a:avLst/>
            <a:gdLst/>
            <a:ahLst/>
            <a:cxnLst/>
            <a:rect l="0" t="0" r="r" b="b"/>
            <a:pathLst>
              <a:path w="72381" h="78702" fill="none">
                <a:moveTo>
                  <a:pt x="72381" y="12200"/>
                </a:moveTo>
                <a:cubicBezTo>
                  <a:pt x="67323" y="5438"/>
                  <a:pt x="59578" y="1206"/>
                  <a:pt x="51155" y="603"/>
                </a:cubicBezTo>
                <a:cubicBezTo>
                  <a:pt x="42732" y="0"/>
                  <a:pt x="34462" y="3085"/>
                  <a:pt x="28492" y="9057"/>
                </a:cubicBezTo>
                <a:lnTo>
                  <a:pt x="11030" y="26520"/>
                </a:lnTo>
                <a:cubicBezTo>
                  <a:pt x="0" y="37939"/>
                  <a:pt x="158" y="56092"/>
                  <a:pt x="11384" y="67318"/>
                </a:cubicBezTo>
                <a:cubicBezTo>
                  <a:pt x="22611" y="78545"/>
                  <a:pt x="40763" y="78702"/>
                  <a:pt x="52183" y="67673"/>
                </a:cubicBezTo>
                <a:lnTo>
                  <a:pt x="62137" y="57719"/>
                </a:lnTo>
              </a:path>
            </a:pathLst>
          </a:custGeom>
          <a:noFill/>
          <a:ln w="13970" cap="rnd">
            <a:solidFill>
              <a:srgbClr val="FFFFFF"/>
            </a:solidFill>
            <a:round/>
          </a:ln>
        </p:spPr>
        <p:txBody>
          <a:bodyPr rtlCol="0" anchor="ctr"/>
          <a:lstStyle/>
          <a:p>
            <a:pPr algn="ctr"/>
            <a:endParaRPr lang="ko-KR" dirty="0"/>
          </a:p>
        </p:txBody>
      </p:sp>
      <p:sp>
        <p:nvSpPr>
          <p:cNvPr id="27" name="t5-res"/>
          <p:cNvSpPr/>
          <p:nvPr/>
        </p:nvSpPr>
        <p:spPr>
          <a:xfrm>
            <a:off x="6356350" y="1975247"/>
            <a:ext cx="5219700" cy="1054100"/>
          </a:xfrm>
          <a:prstGeom prst="roundRect">
            <a:avLst>
              <a:gd name="adj" fmla="val 1144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28" name="t5-ar path"/>
          <p:cNvSpPr/>
          <p:nvPr/>
        </p:nvSpPr>
        <p:spPr>
          <a:xfrm>
            <a:off x="8229600" y="2451497"/>
            <a:ext cx="215900" cy="101600"/>
          </a:xfrm>
          <a:custGeom>
            <a:avLst/>
            <a:gdLst/>
            <a:ahLst/>
            <a:cxnLst/>
            <a:rect l="0" t="0" r="r" b="b"/>
            <a:pathLst>
              <a:path w="215900" h="101600" fill="none">
                <a:moveTo>
                  <a:pt x="0" y="50800"/>
                </a:moveTo>
                <a:lnTo>
                  <a:pt x="215900" y="50800"/>
                </a:lnTo>
                <a:moveTo>
                  <a:pt x="158750" y="0"/>
                </a:moveTo>
                <a:lnTo>
                  <a:pt x="215900" y="50800"/>
                </a:lnTo>
                <a:lnTo>
                  <a:pt x="158750" y="101600"/>
                </a:lnTo>
              </a:path>
            </a:pathLst>
          </a:custGeom>
          <a:noFill/>
          <a:ln w="15240" cap="rnd">
            <a:solidFill>
              <a:srgbClr val="2B4A78"/>
            </a:solidFill>
            <a:round/>
          </a:ln>
        </p:spPr>
        <p:txBody>
          <a:bodyPr rtlCol="0" anchor="ctr"/>
          <a:lstStyle/>
          <a:p>
            <a:pPr algn="ctr"/>
            <a:endParaRPr lang="ko-KR" dirty="0"/>
          </a:p>
        </p:txBody>
      </p:sp>
      <p:sp>
        <p:nvSpPr>
          <p:cNvPr id="29" name="t5-out"/>
          <p:cNvSpPr/>
          <p:nvPr/>
        </p:nvSpPr>
        <p:spPr>
          <a:xfrm>
            <a:off x="8724900" y="1981597"/>
            <a:ext cx="2844800" cy="1041400"/>
          </a:xfrm>
          <a:custGeom>
            <a:avLst/>
            <a:gdLst/>
            <a:ahLst/>
            <a:cxnLst/>
            <a:rect l="0" t="0" r="r" b="b"/>
            <a:pathLst>
              <a:path w="2844800" h="1041400" stroke="0">
                <a:moveTo>
                  <a:pt x="0" y="0"/>
                </a:moveTo>
                <a:lnTo>
                  <a:pt x="2730500" y="0"/>
                </a:lnTo>
                <a:cubicBezTo>
                  <a:pt x="2793628" y="0"/>
                  <a:pt x="2844800" y="51172"/>
                  <a:pt x="2844800" y="114300"/>
                </a:cubicBezTo>
                <a:lnTo>
                  <a:pt x="2844800" y="927100"/>
                </a:lnTo>
                <a:cubicBezTo>
                  <a:pt x="2844800" y="990228"/>
                  <a:pt x="2793628" y="1041400"/>
                  <a:pt x="2730500" y="1041400"/>
                </a:cubicBezTo>
                <a:lnTo>
                  <a:pt x="0" y="1041400"/>
                </a:lnTo>
                <a:cubicBezTo>
                  <a:pt x="0" y="1041400"/>
                  <a:pt x="0" y="1041400"/>
                  <a:pt x="0" y="1041400"/>
                </a:cubicBezTo>
                <a:lnTo>
                  <a:pt x="0" y="0"/>
                </a:lnTo>
                <a:cubicBezTo>
                  <a:pt x="0" y="0"/>
                  <a:pt x="0" y="0"/>
                  <a:pt x="0" y="0"/>
                </a:cubicBezTo>
                <a:close/>
              </a:path>
            </a:pathLst>
          </a:custGeom>
          <a:solidFill>
            <a:srgbClr val="E8EEF6"/>
          </a:solidFill>
          <a:ln>
            <a:noFill/>
          </a:ln>
        </p:spPr>
        <p:txBody>
          <a:bodyPr rtlCol="0" anchor="ctr"/>
          <a:lstStyle/>
          <a:p>
            <a:pPr algn="ctr"/>
            <a:endParaRPr lang="ko-KR" dirty="0"/>
          </a:p>
        </p:txBody>
      </p:sp>
      <p:sp>
        <p:nvSpPr>
          <p:cNvPr id="30" name="t5-task"/>
          <p:cNvSpPr/>
          <p:nvPr/>
        </p:nvSpPr>
        <p:spPr>
          <a:xfrm>
            <a:off x="609600" y="3137297"/>
            <a:ext cx="5334000" cy="1066800"/>
          </a:xfrm>
          <a:prstGeom prst="roundRect">
            <a:avLst>
              <a:gd name="adj" fmla="val 11905"/>
            </a:avLst>
          </a:prstGeom>
          <a:solidFill>
            <a:srgbClr val="F3F5F8"/>
          </a:solidFill>
          <a:ln>
            <a:noFill/>
          </a:ln>
        </p:spPr>
        <p:txBody>
          <a:bodyPr rtlCol="0" anchor="ctr"/>
          <a:lstStyle/>
          <a:p>
            <a:pPr algn="ctr"/>
            <a:endParaRPr lang="ko-KR" dirty="0"/>
          </a:p>
        </p:txBody>
      </p:sp>
      <p:sp>
        <p:nvSpPr>
          <p:cNvPr id="31" name="t5-ic"/>
          <p:cNvSpPr/>
          <p:nvPr/>
        </p:nvSpPr>
        <p:spPr>
          <a:xfrm>
            <a:off x="838200" y="3416697"/>
            <a:ext cx="508000" cy="508000"/>
          </a:xfrm>
          <a:prstGeom prst="roundRect">
            <a:avLst>
              <a:gd name="adj" fmla="val 25000"/>
            </a:avLst>
          </a:prstGeom>
          <a:solidFill>
            <a:srgbClr val="FFFFFF"/>
          </a:solidFill>
          <a:ln>
            <a:noFill/>
          </a:ln>
          <a:effectLst>
            <a:outerShdw blurRad="38100" dist="12700" dir="5400000" algn="ctr" rotWithShape="0">
              <a:srgbClr val="102A4C">
                <a:alpha val="6000"/>
              </a:srgbClr>
            </a:outerShdw>
          </a:effectLst>
        </p:spPr>
        <p:txBody>
          <a:bodyPr rtlCol="0" anchor="ctr"/>
          <a:lstStyle/>
          <a:p>
            <a:pPr algn="ctr"/>
            <a:endParaRPr lang="ko-KR" dirty="0"/>
          </a:p>
        </p:txBody>
      </p:sp>
      <p:sp>
        <p:nvSpPr>
          <p:cNvPr id="32" name="svg path"/>
          <p:cNvSpPr/>
          <p:nvPr/>
        </p:nvSpPr>
        <p:spPr>
          <a:xfrm>
            <a:off x="996950" y="3562747"/>
            <a:ext cx="120650" cy="190500"/>
          </a:xfrm>
          <a:custGeom>
            <a:avLst/>
            <a:gdLst/>
            <a:ahLst/>
            <a:cxnLst/>
            <a:rect l="0" t="0" r="r" b="b"/>
            <a:pathLst>
              <a:path w="120650" h="190500" fill="none">
                <a:moveTo>
                  <a:pt x="63500" y="190500"/>
                </a:moveTo>
                <a:lnTo>
                  <a:pt x="0" y="190500"/>
                </a:lnTo>
                <a:lnTo>
                  <a:pt x="0" y="0"/>
                </a:lnTo>
                <a:lnTo>
                  <a:pt x="92075" y="0"/>
                </a:lnTo>
                <a:lnTo>
                  <a:pt x="120650" y="28575"/>
                </a:lnTo>
                <a:lnTo>
                  <a:pt x="120650" y="69850"/>
                </a:lnTo>
              </a:path>
            </a:pathLst>
          </a:custGeom>
          <a:noFill/>
          <a:ln w="12700" cap="rnd">
            <a:solidFill>
              <a:srgbClr val="102A4C"/>
            </a:solidFill>
            <a:round/>
          </a:ln>
        </p:spPr>
        <p:txBody>
          <a:bodyPr rtlCol="0" anchor="ctr"/>
          <a:lstStyle/>
          <a:p>
            <a:pPr algn="ctr"/>
            <a:endParaRPr lang="ko-KR" dirty="0"/>
          </a:p>
        </p:txBody>
      </p:sp>
      <p:sp>
        <p:nvSpPr>
          <p:cNvPr id="33" name="svg path"/>
          <p:cNvSpPr/>
          <p:nvPr/>
        </p:nvSpPr>
        <p:spPr>
          <a:xfrm>
            <a:off x="1089025" y="3562747"/>
            <a:ext cx="28575" cy="28575"/>
          </a:xfrm>
          <a:custGeom>
            <a:avLst/>
            <a:gdLst/>
            <a:ahLst/>
            <a:cxnLst/>
            <a:rect l="0" t="0" r="r" b="b"/>
            <a:pathLst>
              <a:path w="28575" h="28575" fill="none">
                <a:moveTo>
                  <a:pt x="0" y="0"/>
                </a:moveTo>
                <a:lnTo>
                  <a:pt x="0" y="28575"/>
                </a:lnTo>
                <a:lnTo>
                  <a:pt x="28575" y="28575"/>
                </a:lnTo>
              </a:path>
            </a:pathLst>
          </a:custGeom>
          <a:noFill/>
          <a:ln w="12700" cap="rnd">
            <a:solidFill>
              <a:srgbClr val="102A4C"/>
            </a:solidFill>
            <a:round/>
          </a:ln>
        </p:spPr>
        <p:txBody>
          <a:bodyPr rtlCol="0" anchor="ctr"/>
          <a:lstStyle/>
          <a:p>
            <a:pPr algn="ctr"/>
            <a:endParaRPr lang="ko-KR" dirty="0"/>
          </a:p>
        </p:txBody>
      </p:sp>
      <p:sp>
        <p:nvSpPr>
          <p:cNvPr id="34" name="svg path"/>
          <p:cNvSpPr/>
          <p:nvPr/>
        </p:nvSpPr>
        <p:spPr>
          <a:xfrm>
            <a:off x="1022350" y="3607197"/>
            <a:ext cx="57150" cy="63500"/>
          </a:xfrm>
          <a:custGeom>
            <a:avLst/>
            <a:gdLst/>
            <a:ahLst/>
            <a:cxnLst/>
            <a:rect l="0" t="0" r="r" b="b"/>
            <a:pathLst>
              <a:path w="57150" h="63500" fill="none">
                <a:moveTo>
                  <a:pt x="0" y="0"/>
                </a:moveTo>
                <a:lnTo>
                  <a:pt x="57150" y="0"/>
                </a:lnTo>
                <a:moveTo>
                  <a:pt x="0" y="31750"/>
                </a:moveTo>
                <a:lnTo>
                  <a:pt x="57150" y="31750"/>
                </a:lnTo>
                <a:moveTo>
                  <a:pt x="0" y="63500"/>
                </a:moveTo>
                <a:lnTo>
                  <a:pt x="31750" y="63500"/>
                </a:lnTo>
              </a:path>
            </a:pathLst>
          </a:custGeom>
          <a:noFill/>
          <a:ln w="12700" cap="rnd">
            <a:solidFill>
              <a:srgbClr val="102A4C"/>
            </a:solidFill>
            <a:round/>
          </a:ln>
        </p:spPr>
        <p:txBody>
          <a:bodyPr rtlCol="0" anchor="ctr"/>
          <a:lstStyle/>
          <a:p>
            <a:pPr algn="ctr"/>
            <a:endParaRPr lang="ko-KR" dirty="0"/>
          </a:p>
        </p:txBody>
      </p:sp>
      <p:sp>
        <p:nvSpPr>
          <p:cNvPr id="35" name="svg w"/>
          <p:cNvSpPr/>
          <p:nvPr/>
        </p:nvSpPr>
        <p:spPr>
          <a:xfrm>
            <a:off x="1085850" y="3651647"/>
            <a:ext cx="114300" cy="63500"/>
          </a:xfrm>
          <a:custGeom>
            <a:avLst/>
            <a:gdLst/>
            <a:ahLst/>
            <a:cxnLst/>
            <a:rect l="0" t="0" r="r" b="b"/>
            <a:pathLst>
              <a:path w="114300" h="63500">
                <a:moveTo>
                  <a:pt x="57150" y="0"/>
                </a:moveTo>
                <a:lnTo>
                  <a:pt x="114300" y="31750"/>
                </a:lnTo>
                <a:lnTo>
                  <a:pt x="57150" y="63500"/>
                </a:lnTo>
                <a:lnTo>
                  <a:pt x="0" y="31750"/>
                </a:lnTo>
                <a:close/>
              </a:path>
            </a:pathLst>
          </a:custGeom>
          <a:solidFill>
            <a:srgbClr val="FFFFFF"/>
          </a:solidFill>
          <a:ln w="12700" cap="rnd">
            <a:solidFill>
              <a:srgbClr val="102A4C"/>
            </a:solidFill>
            <a:round/>
          </a:ln>
        </p:spPr>
        <p:txBody>
          <a:bodyPr rtlCol="0" anchor="ctr"/>
          <a:lstStyle/>
          <a:p>
            <a:pPr algn="ctr"/>
            <a:endParaRPr lang="ko-KR" dirty="0"/>
          </a:p>
        </p:txBody>
      </p:sp>
      <p:sp>
        <p:nvSpPr>
          <p:cNvPr id="36" name="svg w"/>
          <p:cNvSpPr/>
          <p:nvPr/>
        </p:nvSpPr>
        <p:spPr>
          <a:xfrm>
            <a:off x="1085850" y="3683397"/>
            <a:ext cx="114300" cy="95250"/>
          </a:xfrm>
          <a:custGeom>
            <a:avLst/>
            <a:gdLst/>
            <a:ahLst/>
            <a:cxnLst/>
            <a:rect l="0" t="0" r="r" b="b"/>
            <a:pathLst>
              <a:path w="114300" h="95250">
                <a:moveTo>
                  <a:pt x="0" y="0"/>
                </a:moveTo>
                <a:lnTo>
                  <a:pt x="0" y="63500"/>
                </a:lnTo>
                <a:lnTo>
                  <a:pt x="57150" y="95250"/>
                </a:lnTo>
                <a:lnTo>
                  <a:pt x="114300" y="63500"/>
                </a:lnTo>
                <a:lnTo>
                  <a:pt x="114300" y="0"/>
                </a:lnTo>
              </a:path>
            </a:pathLst>
          </a:custGeom>
          <a:solidFill>
            <a:srgbClr val="FFFFFF"/>
          </a:solidFill>
          <a:ln w="12700" cap="rnd">
            <a:solidFill>
              <a:srgbClr val="102A4C"/>
            </a:solidFill>
            <a:round/>
          </a:ln>
        </p:spPr>
        <p:txBody>
          <a:bodyPr rtlCol="0" anchor="ctr"/>
          <a:lstStyle/>
          <a:p>
            <a:pPr algn="ctr"/>
            <a:endParaRPr lang="ko-KR" dirty="0"/>
          </a:p>
        </p:txBody>
      </p:sp>
      <p:sp>
        <p:nvSpPr>
          <p:cNvPr id="37" name="svg path"/>
          <p:cNvSpPr/>
          <p:nvPr/>
        </p:nvSpPr>
        <p:spPr>
          <a:xfrm>
            <a:off x="1143000" y="3715147"/>
            <a:ext cx="1" cy="63500"/>
          </a:xfrm>
          <a:custGeom>
            <a:avLst/>
            <a:gdLst/>
            <a:ahLst/>
            <a:cxnLst/>
            <a:rect l="0" t="0" r="r" b="b"/>
            <a:pathLst>
              <a:path w="1" h="63500" fill="none">
                <a:moveTo>
                  <a:pt x="0" y="0"/>
                </a:moveTo>
                <a:lnTo>
                  <a:pt x="0" y="63500"/>
                </a:lnTo>
              </a:path>
            </a:pathLst>
          </a:custGeom>
          <a:noFill/>
          <a:ln w="12700" cap="rnd">
            <a:solidFill>
              <a:srgbClr val="102A4C"/>
            </a:solidFill>
            <a:round/>
          </a:ln>
        </p:spPr>
        <p:txBody>
          <a:bodyPr rtlCol="0" anchor="ctr"/>
          <a:lstStyle/>
          <a:p>
            <a:pPr algn="ctr"/>
            <a:endParaRPr lang="ko-KR" dirty="0"/>
          </a:p>
        </p:txBody>
      </p:sp>
      <p:sp>
        <p:nvSpPr>
          <p:cNvPr id="38" name="d 선"/>
          <p:cNvSpPr/>
          <p:nvPr/>
        </p:nvSpPr>
        <p:spPr>
          <a:xfrm>
            <a:off x="3635375" y="3464322"/>
            <a:ext cx="1" cy="412750"/>
          </a:xfrm>
          <a:custGeom>
            <a:avLst/>
            <a:gdLst/>
            <a:ahLst/>
            <a:cxnLst/>
            <a:rect l="0" t="0" r="r" b="b"/>
            <a:pathLst>
              <a:path w="1" h="412750" fill="none">
                <a:moveTo>
                  <a:pt x="0" y="412750"/>
                </a:moveTo>
                <a:lnTo>
                  <a:pt x="0" y="0"/>
                </a:lnTo>
              </a:path>
            </a:pathLst>
          </a:custGeom>
          <a:noFill/>
          <a:ln w="6350">
            <a:solidFill>
              <a:srgbClr val="C8CFD8"/>
            </a:solidFill>
            <a:round/>
          </a:ln>
        </p:spPr>
        <p:txBody>
          <a:bodyPr rtlCol="0" anchor="ctr"/>
          <a:lstStyle/>
          <a:p>
            <a:pPr algn="ctr"/>
            <a:endParaRPr lang="ko-KR" dirty="0"/>
          </a:p>
        </p:txBody>
      </p:sp>
      <p:sp>
        <p:nvSpPr>
          <p:cNvPr id="39" name="t5-link::before"/>
          <p:cNvSpPr/>
          <p:nvPr/>
        </p:nvSpPr>
        <p:spPr>
          <a:xfrm>
            <a:off x="5943600" y="3664347"/>
            <a:ext cx="406400" cy="12700"/>
          </a:xfrm>
          <a:prstGeom prst="rect">
            <a:avLst/>
          </a:prstGeom>
          <a:solidFill>
            <a:srgbClr val="C8CFD8"/>
          </a:solidFill>
          <a:ln>
            <a:noFill/>
          </a:ln>
        </p:spPr>
        <p:txBody>
          <a:bodyPr rtlCol="0" anchor="ctr"/>
          <a:lstStyle/>
          <a:p>
            <a:pPr algn="ctr"/>
            <a:endParaRPr lang="ko-KR" dirty="0"/>
          </a:p>
        </p:txBody>
      </p:sp>
      <p:sp>
        <p:nvSpPr>
          <p:cNvPr id="40" name="i"/>
          <p:cNvSpPr/>
          <p:nvPr/>
        </p:nvSpPr>
        <p:spPr>
          <a:xfrm>
            <a:off x="5994400" y="3518297"/>
            <a:ext cx="304800" cy="304800"/>
          </a:xfrm>
          <a:prstGeom prst="ellipse">
            <a:avLst/>
          </a:prstGeom>
          <a:solidFill>
            <a:srgbClr val="102A4C"/>
          </a:solidFill>
          <a:ln>
            <a:noFill/>
          </a:ln>
        </p:spPr>
        <p:txBody>
          <a:bodyPr rtlCol="0" anchor="ctr"/>
          <a:lstStyle/>
          <a:p>
            <a:pPr algn="ctr"/>
            <a:endParaRPr lang="ko-KR" dirty="0"/>
          </a:p>
        </p:txBody>
      </p:sp>
      <p:sp>
        <p:nvSpPr>
          <p:cNvPr id="41" name="svg path"/>
          <p:cNvSpPr/>
          <p:nvPr/>
        </p:nvSpPr>
        <p:spPr>
          <a:xfrm>
            <a:off x="6135158" y="3610015"/>
            <a:ext cx="72381" cy="78702"/>
          </a:xfrm>
          <a:custGeom>
            <a:avLst/>
            <a:gdLst/>
            <a:ahLst/>
            <a:cxnLst/>
            <a:rect l="0" t="0" r="r" b="b"/>
            <a:pathLst>
              <a:path w="72381" h="78702" fill="none">
                <a:moveTo>
                  <a:pt x="0" y="66502"/>
                </a:moveTo>
                <a:cubicBezTo>
                  <a:pt x="5058" y="73264"/>
                  <a:pt x="12804" y="77496"/>
                  <a:pt x="21227" y="78099"/>
                </a:cubicBezTo>
                <a:cubicBezTo>
                  <a:pt x="29649" y="78702"/>
                  <a:pt x="37919" y="75618"/>
                  <a:pt x="43889" y="69645"/>
                </a:cubicBezTo>
                <a:lnTo>
                  <a:pt x="61352" y="52183"/>
                </a:lnTo>
                <a:cubicBezTo>
                  <a:pt x="72381" y="40763"/>
                  <a:pt x="72224" y="22611"/>
                  <a:pt x="60997" y="11384"/>
                </a:cubicBezTo>
                <a:cubicBezTo>
                  <a:pt x="49771" y="158"/>
                  <a:pt x="31618" y="0"/>
                  <a:pt x="20198" y="11030"/>
                </a:cubicBezTo>
                <a:lnTo>
                  <a:pt x="10186" y="20983"/>
                </a:lnTo>
              </a:path>
            </a:pathLst>
          </a:custGeom>
          <a:noFill/>
          <a:ln w="13970" cap="rnd">
            <a:solidFill>
              <a:srgbClr val="FFFFFF"/>
            </a:solidFill>
            <a:round/>
          </a:ln>
        </p:spPr>
        <p:txBody>
          <a:bodyPr rtlCol="0" anchor="ctr"/>
          <a:lstStyle/>
          <a:p>
            <a:pPr algn="ctr"/>
            <a:endParaRPr lang="ko-KR" dirty="0"/>
          </a:p>
        </p:txBody>
      </p:sp>
      <p:sp>
        <p:nvSpPr>
          <p:cNvPr id="42" name="svg path"/>
          <p:cNvSpPr/>
          <p:nvPr/>
        </p:nvSpPr>
        <p:spPr>
          <a:xfrm>
            <a:off x="6086060" y="3652676"/>
            <a:ext cx="72381" cy="78702"/>
          </a:xfrm>
          <a:custGeom>
            <a:avLst/>
            <a:gdLst/>
            <a:ahLst/>
            <a:cxnLst/>
            <a:rect l="0" t="0" r="r" b="b"/>
            <a:pathLst>
              <a:path w="72381" h="78702" fill="none">
                <a:moveTo>
                  <a:pt x="72381" y="12200"/>
                </a:moveTo>
                <a:cubicBezTo>
                  <a:pt x="67323" y="5438"/>
                  <a:pt x="59578" y="1206"/>
                  <a:pt x="51155" y="603"/>
                </a:cubicBezTo>
                <a:cubicBezTo>
                  <a:pt x="42732" y="0"/>
                  <a:pt x="34462" y="3085"/>
                  <a:pt x="28492" y="9057"/>
                </a:cubicBezTo>
                <a:lnTo>
                  <a:pt x="11030" y="26520"/>
                </a:lnTo>
                <a:cubicBezTo>
                  <a:pt x="0" y="37939"/>
                  <a:pt x="158" y="56092"/>
                  <a:pt x="11384" y="67318"/>
                </a:cubicBezTo>
                <a:cubicBezTo>
                  <a:pt x="22611" y="78545"/>
                  <a:pt x="40763" y="78702"/>
                  <a:pt x="52183" y="67673"/>
                </a:cubicBezTo>
                <a:lnTo>
                  <a:pt x="62137" y="57719"/>
                </a:lnTo>
              </a:path>
            </a:pathLst>
          </a:custGeom>
          <a:noFill/>
          <a:ln w="13970" cap="rnd">
            <a:solidFill>
              <a:srgbClr val="FFFFFF"/>
            </a:solidFill>
            <a:round/>
          </a:ln>
        </p:spPr>
        <p:txBody>
          <a:bodyPr rtlCol="0" anchor="ctr"/>
          <a:lstStyle/>
          <a:p>
            <a:pPr algn="ctr"/>
            <a:endParaRPr lang="ko-KR" dirty="0"/>
          </a:p>
        </p:txBody>
      </p:sp>
      <p:sp>
        <p:nvSpPr>
          <p:cNvPr id="43" name="t5-res"/>
          <p:cNvSpPr/>
          <p:nvPr/>
        </p:nvSpPr>
        <p:spPr>
          <a:xfrm>
            <a:off x="6356350" y="3143647"/>
            <a:ext cx="5219700" cy="1054100"/>
          </a:xfrm>
          <a:prstGeom prst="roundRect">
            <a:avLst>
              <a:gd name="adj" fmla="val 1144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44" name="t5-ar path"/>
          <p:cNvSpPr/>
          <p:nvPr/>
        </p:nvSpPr>
        <p:spPr>
          <a:xfrm>
            <a:off x="8229600" y="3619897"/>
            <a:ext cx="215900" cy="101600"/>
          </a:xfrm>
          <a:custGeom>
            <a:avLst/>
            <a:gdLst/>
            <a:ahLst/>
            <a:cxnLst/>
            <a:rect l="0" t="0" r="r" b="b"/>
            <a:pathLst>
              <a:path w="215900" h="101600" fill="none">
                <a:moveTo>
                  <a:pt x="0" y="50800"/>
                </a:moveTo>
                <a:lnTo>
                  <a:pt x="215900" y="50800"/>
                </a:lnTo>
                <a:moveTo>
                  <a:pt x="158750" y="0"/>
                </a:moveTo>
                <a:lnTo>
                  <a:pt x="215900" y="50800"/>
                </a:lnTo>
                <a:lnTo>
                  <a:pt x="158750" y="101600"/>
                </a:lnTo>
              </a:path>
            </a:pathLst>
          </a:custGeom>
          <a:noFill/>
          <a:ln w="15240" cap="rnd">
            <a:solidFill>
              <a:srgbClr val="2B4A78"/>
            </a:solidFill>
            <a:round/>
          </a:ln>
        </p:spPr>
        <p:txBody>
          <a:bodyPr rtlCol="0" anchor="ctr"/>
          <a:lstStyle/>
          <a:p>
            <a:pPr algn="ctr"/>
            <a:endParaRPr lang="ko-KR" dirty="0"/>
          </a:p>
        </p:txBody>
      </p:sp>
      <p:sp>
        <p:nvSpPr>
          <p:cNvPr id="45" name="t5-out"/>
          <p:cNvSpPr/>
          <p:nvPr/>
        </p:nvSpPr>
        <p:spPr>
          <a:xfrm>
            <a:off x="8724900" y="3149997"/>
            <a:ext cx="2844800" cy="1041400"/>
          </a:xfrm>
          <a:custGeom>
            <a:avLst/>
            <a:gdLst/>
            <a:ahLst/>
            <a:cxnLst/>
            <a:rect l="0" t="0" r="r" b="b"/>
            <a:pathLst>
              <a:path w="2844800" h="1041400" stroke="0">
                <a:moveTo>
                  <a:pt x="0" y="0"/>
                </a:moveTo>
                <a:lnTo>
                  <a:pt x="2730500" y="0"/>
                </a:lnTo>
                <a:cubicBezTo>
                  <a:pt x="2793628" y="0"/>
                  <a:pt x="2844800" y="51172"/>
                  <a:pt x="2844800" y="114300"/>
                </a:cubicBezTo>
                <a:lnTo>
                  <a:pt x="2844800" y="927100"/>
                </a:lnTo>
                <a:cubicBezTo>
                  <a:pt x="2844800" y="990228"/>
                  <a:pt x="2793628" y="1041400"/>
                  <a:pt x="2730500" y="1041400"/>
                </a:cubicBezTo>
                <a:lnTo>
                  <a:pt x="0" y="1041400"/>
                </a:lnTo>
                <a:cubicBezTo>
                  <a:pt x="0" y="1041400"/>
                  <a:pt x="0" y="1041400"/>
                  <a:pt x="0" y="1041400"/>
                </a:cubicBezTo>
                <a:lnTo>
                  <a:pt x="0" y="0"/>
                </a:lnTo>
                <a:cubicBezTo>
                  <a:pt x="0" y="0"/>
                  <a:pt x="0" y="0"/>
                  <a:pt x="0" y="0"/>
                </a:cubicBezTo>
                <a:close/>
              </a:path>
            </a:pathLst>
          </a:custGeom>
          <a:solidFill>
            <a:srgbClr val="E8EEF6"/>
          </a:solidFill>
          <a:ln>
            <a:noFill/>
          </a:ln>
        </p:spPr>
        <p:txBody>
          <a:bodyPr rtlCol="0" anchor="ctr"/>
          <a:lstStyle/>
          <a:p>
            <a:pPr algn="ctr"/>
            <a:endParaRPr lang="ko-KR" dirty="0"/>
          </a:p>
        </p:txBody>
      </p:sp>
      <p:sp>
        <p:nvSpPr>
          <p:cNvPr id="46" name="t5-task"/>
          <p:cNvSpPr/>
          <p:nvPr/>
        </p:nvSpPr>
        <p:spPr>
          <a:xfrm>
            <a:off x="609600" y="4305697"/>
            <a:ext cx="5334000" cy="1066800"/>
          </a:xfrm>
          <a:prstGeom prst="roundRect">
            <a:avLst>
              <a:gd name="adj" fmla="val 11905"/>
            </a:avLst>
          </a:prstGeom>
          <a:solidFill>
            <a:srgbClr val="F3F5F8"/>
          </a:solidFill>
          <a:ln>
            <a:noFill/>
          </a:ln>
        </p:spPr>
        <p:txBody>
          <a:bodyPr rtlCol="0" anchor="ctr"/>
          <a:lstStyle/>
          <a:p>
            <a:pPr algn="ctr"/>
            <a:endParaRPr lang="ko-KR" dirty="0"/>
          </a:p>
        </p:txBody>
      </p:sp>
      <p:sp>
        <p:nvSpPr>
          <p:cNvPr id="47" name="t5-ic"/>
          <p:cNvSpPr/>
          <p:nvPr/>
        </p:nvSpPr>
        <p:spPr>
          <a:xfrm>
            <a:off x="838200" y="4585097"/>
            <a:ext cx="508000" cy="508000"/>
          </a:xfrm>
          <a:prstGeom prst="roundRect">
            <a:avLst>
              <a:gd name="adj" fmla="val 25000"/>
            </a:avLst>
          </a:prstGeom>
          <a:solidFill>
            <a:srgbClr val="FFFFFF"/>
          </a:solidFill>
          <a:ln>
            <a:noFill/>
          </a:ln>
          <a:effectLst>
            <a:outerShdw blurRad="38100" dist="12700" dir="5400000" algn="ctr" rotWithShape="0">
              <a:srgbClr val="102A4C">
                <a:alpha val="6000"/>
              </a:srgbClr>
            </a:outerShdw>
          </a:effectLst>
        </p:spPr>
        <p:txBody>
          <a:bodyPr rtlCol="0" anchor="ctr"/>
          <a:lstStyle/>
          <a:p>
            <a:pPr algn="ctr"/>
            <a:endParaRPr lang="ko-KR" dirty="0"/>
          </a:p>
        </p:txBody>
      </p:sp>
      <p:sp>
        <p:nvSpPr>
          <p:cNvPr id="48" name="svg path"/>
          <p:cNvSpPr/>
          <p:nvPr/>
        </p:nvSpPr>
        <p:spPr>
          <a:xfrm>
            <a:off x="981075" y="4788297"/>
            <a:ext cx="114300" cy="63500"/>
          </a:xfrm>
          <a:custGeom>
            <a:avLst/>
            <a:gdLst/>
            <a:ahLst/>
            <a:cxnLst/>
            <a:rect l="0" t="0" r="r" b="b"/>
            <a:pathLst>
              <a:path w="114300" h="63500" fill="none">
                <a:moveTo>
                  <a:pt x="57150" y="0"/>
                </a:moveTo>
                <a:lnTo>
                  <a:pt x="114300" y="31750"/>
                </a:lnTo>
                <a:lnTo>
                  <a:pt x="57150" y="63500"/>
                </a:lnTo>
                <a:lnTo>
                  <a:pt x="0" y="31750"/>
                </a:lnTo>
                <a:close/>
              </a:path>
            </a:pathLst>
          </a:custGeom>
          <a:noFill/>
          <a:ln w="12700" cap="rnd">
            <a:solidFill>
              <a:srgbClr val="102A4C"/>
            </a:solidFill>
            <a:round/>
          </a:ln>
        </p:spPr>
        <p:txBody>
          <a:bodyPr rtlCol="0" anchor="ctr"/>
          <a:lstStyle/>
          <a:p>
            <a:pPr algn="ctr"/>
            <a:endParaRPr lang="ko-KR" dirty="0"/>
          </a:p>
        </p:txBody>
      </p:sp>
      <p:sp>
        <p:nvSpPr>
          <p:cNvPr id="49" name="svg path"/>
          <p:cNvSpPr/>
          <p:nvPr/>
        </p:nvSpPr>
        <p:spPr>
          <a:xfrm>
            <a:off x="981075" y="4820047"/>
            <a:ext cx="114300" cy="114300"/>
          </a:xfrm>
          <a:custGeom>
            <a:avLst/>
            <a:gdLst/>
            <a:ahLst/>
            <a:cxnLst/>
            <a:rect l="0" t="0" r="r" b="b"/>
            <a:pathLst>
              <a:path w="114300" h="114300" fill="none">
                <a:moveTo>
                  <a:pt x="0" y="0"/>
                </a:moveTo>
                <a:lnTo>
                  <a:pt x="0" y="82550"/>
                </a:lnTo>
                <a:lnTo>
                  <a:pt x="57150" y="114300"/>
                </a:lnTo>
                <a:lnTo>
                  <a:pt x="114300" y="82550"/>
                </a:lnTo>
                <a:lnTo>
                  <a:pt x="114300" y="0"/>
                </a:lnTo>
              </a:path>
            </a:pathLst>
          </a:custGeom>
          <a:noFill/>
          <a:ln w="12700" cap="rnd">
            <a:solidFill>
              <a:srgbClr val="102A4C"/>
            </a:solidFill>
            <a:round/>
          </a:ln>
        </p:spPr>
        <p:txBody>
          <a:bodyPr rtlCol="0" anchor="ctr"/>
          <a:lstStyle/>
          <a:p>
            <a:pPr algn="ctr"/>
            <a:endParaRPr lang="ko-KR" dirty="0"/>
          </a:p>
        </p:txBody>
      </p:sp>
      <p:sp>
        <p:nvSpPr>
          <p:cNvPr id="50" name="svg path"/>
          <p:cNvSpPr/>
          <p:nvPr/>
        </p:nvSpPr>
        <p:spPr>
          <a:xfrm>
            <a:off x="1038225" y="4851797"/>
            <a:ext cx="1" cy="82550"/>
          </a:xfrm>
          <a:custGeom>
            <a:avLst/>
            <a:gdLst/>
            <a:ahLst/>
            <a:cxnLst/>
            <a:rect l="0" t="0" r="r" b="b"/>
            <a:pathLst>
              <a:path w="1" h="82550" fill="none">
                <a:moveTo>
                  <a:pt x="0" y="0"/>
                </a:moveTo>
                <a:lnTo>
                  <a:pt x="0" y="82550"/>
                </a:lnTo>
              </a:path>
            </a:pathLst>
          </a:custGeom>
          <a:noFill/>
          <a:ln w="12700" cap="rnd">
            <a:solidFill>
              <a:srgbClr val="102A4C"/>
            </a:solidFill>
            <a:round/>
          </a:ln>
        </p:spPr>
        <p:txBody>
          <a:bodyPr rtlCol="0" anchor="ctr"/>
          <a:lstStyle/>
          <a:p>
            <a:pPr algn="ctr"/>
            <a:endParaRPr lang="ko-KR" dirty="0"/>
          </a:p>
        </p:txBody>
      </p:sp>
      <p:sp>
        <p:nvSpPr>
          <p:cNvPr id="51" name="svg ellipse"/>
          <p:cNvSpPr/>
          <p:nvPr/>
        </p:nvSpPr>
        <p:spPr>
          <a:xfrm>
            <a:off x="1111250" y="4743847"/>
            <a:ext cx="88900" cy="38100"/>
          </a:xfrm>
          <a:prstGeom prst="ellipse">
            <a:avLst/>
          </a:prstGeom>
          <a:noFill/>
          <a:ln w="12700" cap="rnd">
            <a:solidFill>
              <a:srgbClr val="102A4C"/>
            </a:solidFill>
            <a:round/>
          </a:ln>
        </p:spPr>
        <p:txBody>
          <a:bodyPr rtlCol="0" anchor="ctr"/>
          <a:lstStyle/>
          <a:p>
            <a:pPr algn="ctr"/>
            <a:endParaRPr lang="ko-KR" dirty="0"/>
          </a:p>
        </p:txBody>
      </p:sp>
      <p:sp>
        <p:nvSpPr>
          <p:cNvPr id="52" name="svg path"/>
          <p:cNvSpPr/>
          <p:nvPr/>
        </p:nvSpPr>
        <p:spPr>
          <a:xfrm>
            <a:off x="1111250" y="4762897"/>
            <a:ext cx="88900" cy="171450"/>
          </a:xfrm>
          <a:custGeom>
            <a:avLst/>
            <a:gdLst/>
            <a:ahLst/>
            <a:cxnLst/>
            <a:rect l="0" t="0" r="r" b="b"/>
            <a:pathLst>
              <a:path w="88900" h="171450" fill="none">
                <a:moveTo>
                  <a:pt x="0" y="0"/>
                </a:moveTo>
                <a:lnTo>
                  <a:pt x="0" y="152400"/>
                </a:lnTo>
                <a:cubicBezTo>
                  <a:pt x="0" y="162921"/>
                  <a:pt x="19901" y="171450"/>
                  <a:pt x="44450" y="171450"/>
                </a:cubicBezTo>
                <a:cubicBezTo>
                  <a:pt x="68999" y="171450"/>
                  <a:pt x="88900" y="162921"/>
                  <a:pt x="88900" y="152400"/>
                </a:cubicBezTo>
                <a:lnTo>
                  <a:pt x="88900" y="0"/>
                </a:lnTo>
              </a:path>
            </a:pathLst>
          </a:custGeom>
          <a:noFill/>
          <a:ln w="12700" cap="rnd">
            <a:solidFill>
              <a:srgbClr val="102A4C"/>
            </a:solidFill>
            <a:round/>
          </a:ln>
        </p:spPr>
        <p:txBody>
          <a:bodyPr rtlCol="0" anchor="ctr"/>
          <a:lstStyle/>
          <a:p>
            <a:pPr algn="ctr"/>
            <a:endParaRPr lang="ko-KR" dirty="0"/>
          </a:p>
        </p:txBody>
      </p:sp>
      <p:sp>
        <p:nvSpPr>
          <p:cNvPr id="53" name="svg path"/>
          <p:cNvSpPr/>
          <p:nvPr/>
        </p:nvSpPr>
        <p:spPr>
          <a:xfrm>
            <a:off x="1111250" y="4813697"/>
            <a:ext cx="88900" cy="69850"/>
          </a:xfrm>
          <a:custGeom>
            <a:avLst/>
            <a:gdLst/>
            <a:ahLst/>
            <a:cxnLst/>
            <a:rect l="0" t="0" r="r" b="b"/>
            <a:pathLst>
              <a:path w="88900" h="69850" fill="none">
                <a:moveTo>
                  <a:pt x="0" y="0"/>
                </a:moveTo>
                <a:cubicBezTo>
                  <a:pt x="0" y="10521"/>
                  <a:pt x="19901" y="19050"/>
                  <a:pt x="44450" y="19050"/>
                </a:cubicBezTo>
                <a:cubicBezTo>
                  <a:pt x="68999" y="19050"/>
                  <a:pt x="88900" y="10521"/>
                  <a:pt x="88900" y="0"/>
                </a:cubicBezTo>
                <a:moveTo>
                  <a:pt x="0" y="50800"/>
                </a:moveTo>
                <a:cubicBezTo>
                  <a:pt x="0" y="61321"/>
                  <a:pt x="19901" y="69850"/>
                  <a:pt x="44450" y="69850"/>
                </a:cubicBezTo>
                <a:cubicBezTo>
                  <a:pt x="68999" y="69850"/>
                  <a:pt x="88900" y="61321"/>
                  <a:pt x="88900" y="50800"/>
                </a:cubicBezTo>
              </a:path>
            </a:pathLst>
          </a:custGeom>
          <a:noFill/>
          <a:ln w="12700" cap="rnd">
            <a:solidFill>
              <a:srgbClr val="102A4C"/>
            </a:solidFill>
            <a:round/>
          </a:ln>
        </p:spPr>
        <p:txBody>
          <a:bodyPr rtlCol="0" anchor="ctr"/>
          <a:lstStyle/>
          <a:p>
            <a:pPr algn="ctr"/>
            <a:endParaRPr lang="ko-KR" dirty="0"/>
          </a:p>
        </p:txBody>
      </p:sp>
      <p:sp>
        <p:nvSpPr>
          <p:cNvPr id="54" name="d 선"/>
          <p:cNvSpPr/>
          <p:nvPr/>
        </p:nvSpPr>
        <p:spPr>
          <a:xfrm>
            <a:off x="3635375" y="4632722"/>
            <a:ext cx="1" cy="412750"/>
          </a:xfrm>
          <a:custGeom>
            <a:avLst/>
            <a:gdLst/>
            <a:ahLst/>
            <a:cxnLst/>
            <a:rect l="0" t="0" r="r" b="b"/>
            <a:pathLst>
              <a:path w="1" h="412750" fill="none">
                <a:moveTo>
                  <a:pt x="0" y="412750"/>
                </a:moveTo>
                <a:lnTo>
                  <a:pt x="0" y="0"/>
                </a:lnTo>
              </a:path>
            </a:pathLst>
          </a:custGeom>
          <a:noFill/>
          <a:ln w="6350">
            <a:solidFill>
              <a:srgbClr val="C8CFD8"/>
            </a:solidFill>
            <a:round/>
          </a:ln>
        </p:spPr>
        <p:txBody>
          <a:bodyPr rtlCol="0" anchor="ctr"/>
          <a:lstStyle/>
          <a:p>
            <a:pPr algn="ctr"/>
            <a:endParaRPr lang="ko-KR" dirty="0"/>
          </a:p>
        </p:txBody>
      </p:sp>
      <p:sp>
        <p:nvSpPr>
          <p:cNvPr id="55" name="t5-link::before"/>
          <p:cNvSpPr/>
          <p:nvPr/>
        </p:nvSpPr>
        <p:spPr>
          <a:xfrm>
            <a:off x="5943600" y="4832747"/>
            <a:ext cx="406400" cy="12700"/>
          </a:xfrm>
          <a:prstGeom prst="rect">
            <a:avLst/>
          </a:prstGeom>
          <a:solidFill>
            <a:srgbClr val="C8CFD8"/>
          </a:solidFill>
          <a:ln>
            <a:noFill/>
          </a:ln>
        </p:spPr>
        <p:txBody>
          <a:bodyPr rtlCol="0" anchor="ctr"/>
          <a:lstStyle/>
          <a:p>
            <a:pPr algn="ctr"/>
            <a:endParaRPr lang="ko-KR" dirty="0"/>
          </a:p>
        </p:txBody>
      </p:sp>
      <p:sp>
        <p:nvSpPr>
          <p:cNvPr id="56" name="i"/>
          <p:cNvSpPr/>
          <p:nvPr/>
        </p:nvSpPr>
        <p:spPr>
          <a:xfrm>
            <a:off x="5994400" y="4686697"/>
            <a:ext cx="304800" cy="304800"/>
          </a:xfrm>
          <a:prstGeom prst="ellipse">
            <a:avLst/>
          </a:prstGeom>
          <a:solidFill>
            <a:srgbClr val="102A4C"/>
          </a:solidFill>
          <a:ln>
            <a:noFill/>
          </a:ln>
        </p:spPr>
        <p:txBody>
          <a:bodyPr rtlCol="0" anchor="ctr"/>
          <a:lstStyle/>
          <a:p>
            <a:pPr algn="ctr"/>
            <a:endParaRPr lang="ko-KR" dirty="0"/>
          </a:p>
        </p:txBody>
      </p:sp>
      <p:sp>
        <p:nvSpPr>
          <p:cNvPr id="57" name="svg path"/>
          <p:cNvSpPr/>
          <p:nvPr/>
        </p:nvSpPr>
        <p:spPr>
          <a:xfrm>
            <a:off x="6135158" y="4778415"/>
            <a:ext cx="72381" cy="78702"/>
          </a:xfrm>
          <a:custGeom>
            <a:avLst/>
            <a:gdLst/>
            <a:ahLst/>
            <a:cxnLst/>
            <a:rect l="0" t="0" r="r" b="b"/>
            <a:pathLst>
              <a:path w="72381" h="78702" fill="none">
                <a:moveTo>
                  <a:pt x="0" y="66502"/>
                </a:moveTo>
                <a:cubicBezTo>
                  <a:pt x="5058" y="73264"/>
                  <a:pt x="12804" y="77496"/>
                  <a:pt x="21227" y="78099"/>
                </a:cubicBezTo>
                <a:cubicBezTo>
                  <a:pt x="29649" y="78702"/>
                  <a:pt x="37919" y="75618"/>
                  <a:pt x="43889" y="69645"/>
                </a:cubicBezTo>
                <a:lnTo>
                  <a:pt x="61352" y="52183"/>
                </a:lnTo>
                <a:cubicBezTo>
                  <a:pt x="72381" y="40763"/>
                  <a:pt x="72224" y="22611"/>
                  <a:pt x="60997" y="11384"/>
                </a:cubicBezTo>
                <a:cubicBezTo>
                  <a:pt x="49771" y="158"/>
                  <a:pt x="31618" y="0"/>
                  <a:pt x="20198" y="11030"/>
                </a:cubicBezTo>
                <a:lnTo>
                  <a:pt x="10186" y="20983"/>
                </a:lnTo>
              </a:path>
            </a:pathLst>
          </a:custGeom>
          <a:noFill/>
          <a:ln w="13970" cap="rnd">
            <a:solidFill>
              <a:srgbClr val="FFFFFF"/>
            </a:solidFill>
            <a:round/>
          </a:ln>
        </p:spPr>
        <p:txBody>
          <a:bodyPr rtlCol="0" anchor="ctr"/>
          <a:lstStyle/>
          <a:p>
            <a:pPr algn="ctr"/>
            <a:endParaRPr lang="ko-KR" dirty="0"/>
          </a:p>
        </p:txBody>
      </p:sp>
      <p:sp>
        <p:nvSpPr>
          <p:cNvPr id="58" name="svg path"/>
          <p:cNvSpPr/>
          <p:nvPr/>
        </p:nvSpPr>
        <p:spPr>
          <a:xfrm>
            <a:off x="6086060" y="4821076"/>
            <a:ext cx="72381" cy="78702"/>
          </a:xfrm>
          <a:custGeom>
            <a:avLst/>
            <a:gdLst/>
            <a:ahLst/>
            <a:cxnLst/>
            <a:rect l="0" t="0" r="r" b="b"/>
            <a:pathLst>
              <a:path w="72381" h="78702" fill="none">
                <a:moveTo>
                  <a:pt x="72381" y="12200"/>
                </a:moveTo>
                <a:cubicBezTo>
                  <a:pt x="67323" y="5438"/>
                  <a:pt x="59578" y="1206"/>
                  <a:pt x="51155" y="603"/>
                </a:cubicBezTo>
                <a:cubicBezTo>
                  <a:pt x="42732" y="0"/>
                  <a:pt x="34462" y="3085"/>
                  <a:pt x="28492" y="9057"/>
                </a:cubicBezTo>
                <a:lnTo>
                  <a:pt x="11030" y="26520"/>
                </a:lnTo>
                <a:cubicBezTo>
                  <a:pt x="0" y="37939"/>
                  <a:pt x="158" y="56092"/>
                  <a:pt x="11384" y="67318"/>
                </a:cubicBezTo>
                <a:cubicBezTo>
                  <a:pt x="22611" y="78545"/>
                  <a:pt x="40763" y="78702"/>
                  <a:pt x="52183" y="67673"/>
                </a:cubicBezTo>
                <a:lnTo>
                  <a:pt x="62137" y="57719"/>
                </a:lnTo>
              </a:path>
            </a:pathLst>
          </a:custGeom>
          <a:noFill/>
          <a:ln w="13970" cap="rnd">
            <a:solidFill>
              <a:srgbClr val="FFFFFF"/>
            </a:solidFill>
            <a:round/>
          </a:ln>
        </p:spPr>
        <p:txBody>
          <a:bodyPr rtlCol="0" anchor="ctr"/>
          <a:lstStyle/>
          <a:p>
            <a:pPr algn="ctr"/>
            <a:endParaRPr lang="ko-KR" dirty="0"/>
          </a:p>
        </p:txBody>
      </p:sp>
      <p:sp>
        <p:nvSpPr>
          <p:cNvPr id="59" name="t5-res"/>
          <p:cNvSpPr/>
          <p:nvPr/>
        </p:nvSpPr>
        <p:spPr>
          <a:xfrm>
            <a:off x="6356350" y="4312047"/>
            <a:ext cx="5219700" cy="1054100"/>
          </a:xfrm>
          <a:prstGeom prst="roundRect">
            <a:avLst>
              <a:gd name="adj" fmla="val 11446"/>
            </a:avLst>
          </a:prstGeom>
          <a:solidFill>
            <a:srgbClr val="FFFFFF"/>
          </a:solidFill>
          <a:ln w="12700">
            <a:solidFill>
              <a:srgbClr val="102A4C"/>
            </a:solidFill>
            <a:miter lim="800000"/>
          </a:ln>
          <a:effectLst>
            <a:outerShdw blurRad="114300" dist="38100" dir="5400000" algn="ctr" rotWithShape="0">
              <a:srgbClr val="102A4C">
                <a:alpha val="8000"/>
              </a:srgbClr>
            </a:outerShdw>
          </a:effectLst>
        </p:spPr>
        <p:txBody>
          <a:bodyPr rtlCol="0" anchor="ctr"/>
          <a:lstStyle/>
          <a:p>
            <a:pPr algn="ctr"/>
            <a:endParaRPr lang="ko-KR" dirty="0"/>
          </a:p>
        </p:txBody>
      </p:sp>
      <p:sp>
        <p:nvSpPr>
          <p:cNvPr id="60" name="t5-ar path"/>
          <p:cNvSpPr/>
          <p:nvPr/>
        </p:nvSpPr>
        <p:spPr>
          <a:xfrm>
            <a:off x="8229600" y="4788297"/>
            <a:ext cx="215900" cy="101600"/>
          </a:xfrm>
          <a:custGeom>
            <a:avLst/>
            <a:gdLst/>
            <a:ahLst/>
            <a:cxnLst/>
            <a:rect l="0" t="0" r="r" b="b"/>
            <a:pathLst>
              <a:path w="215900" h="101600" fill="none">
                <a:moveTo>
                  <a:pt x="0" y="50800"/>
                </a:moveTo>
                <a:lnTo>
                  <a:pt x="215900" y="50800"/>
                </a:lnTo>
                <a:moveTo>
                  <a:pt x="158750" y="0"/>
                </a:moveTo>
                <a:lnTo>
                  <a:pt x="215900" y="50800"/>
                </a:lnTo>
                <a:lnTo>
                  <a:pt x="158750" y="101600"/>
                </a:lnTo>
              </a:path>
            </a:pathLst>
          </a:custGeom>
          <a:noFill/>
          <a:ln w="15240" cap="rnd">
            <a:solidFill>
              <a:srgbClr val="2B4A78"/>
            </a:solidFill>
            <a:round/>
          </a:ln>
        </p:spPr>
        <p:txBody>
          <a:bodyPr rtlCol="0" anchor="ctr"/>
          <a:lstStyle/>
          <a:p>
            <a:pPr algn="ctr"/>
            <a:endParaRPr lang="ko-KR" dirty="0"/>
          </a:p>
        </p:txBody>
      </p:sp>
      <p:sp>
        <p:nvSpPr>
          <p:cNvPr id="61" name="t5-out"/>
          <p:cNvSpPr/>
          <p:nvPr/>
        </p:nvSpPr>
        <p:spPr>
          <a:xfrm>
            <a:off x="8724900" y="4318397"/>
            <a:ext cx="2844800" cy="1041400"/>
          </a:xfrm>
          <a:custGeom>
            <a:avLst/>
            <a:gdLst/>
            <a:ahLst/>
            <a:cxnLst/>
            <a:rect l="0" t="0" r="r" b="b"/>
            <a:pathLst>
              <a:path w="2844800" h="1041400" stroke="0">
                <a:moveTo>
                  <a:pt x="0" y="0"/>
                </a:moveTo>
                <a:lnTo>
                  <a:pt x="2730500" y="0"/>
                </a:lnTo>
                <a:cubicBezTo>
                  <a:pt x="2793628" y="0"/>
                  <a:pt x="2844800" y="51172"/>
                  <a:pt x="2844800" y="114300"/>
                </a:cubicBezTo>
                <a:lnTo>
                  <a:pt x="2844800" y="927100"/>
                </a:lnTo>
                <a:cubicBezTo>
                  <a:pt x="2844800" y="990228"/>
                  <a:pt x="2793628" y="1041400"/>
                  <a:pt x="2730500" y="1041400"/>
                </a:cubicBezTo>
                <a:lnTo>
                  <a:pt x="0" y="1041400"/>
                </a:lnTo>
                <a:cubicBezTo>
                  <a:pt x="0" y="1041400"/>
                  <a:pt x="0" y="1041400"/>
                  <a:pt x="0" y="1041400"/>
                </a:cubicBezTo>
                <a:lnTo>
                  <a:pt x="0" y="0"/>
                </a:lnTo>
                <a:cubicBezTo>
                  <a:pt x="0" y="0"/>
                  <a:pt x="0" y="0"/>
                  <a:pt x="0" y="0"/>
                </a:cubicBezTo>
                <a:close/>
              </a:path>
            </a:pathLst>
          </a:custGeom>
          <a:solidFill>
            <a:srgbClr val="E8EEF6"/>
          </a:solidFill>
          <a:ln>
            <a:noFill/>
          </a:ln>
        </p:spPr>
        <p:txBody>
          <a:bodyPr rtlCol="0" anchor="ctr"/>
          <a:lstStyle/>
          <a:p>
            <a:pPr algn="ctr"/>
            <a:endParaRPr lang="ko-KR" dirty="0"/>
          </a:p>
        </p:txBody>
      </p:sp>
      <p:sp>
        <p:nvSpPr>
          <p:cNvPr id="62" name="keybar t5-key"/>
          <p:cNvSpPr/>
          <p:nvPr/>
        </p:nvSpPr>
        <p:spPr>
          <a:xfrm>
            <a:off x="609600" y="5628680"/>
            <a:ext cx="10972800" cy="708620"/>
          </a:xfrm>
          <a:prstGeom prst="roundRect">
            <a:avLst>
              <a:gd name="adj" fmla="val 17922"/>
            </a:avLst>
          </a:prstGeom>
          <a:solidFill>
            <a:srgbClr val="102A4C"/>
          </a:solidFill>
          <a:ln>
            <a:noFill/>
          </a:ln>
        </p:spPr>
        <p:txBody>
          <a:bodyPr rtlCol="0" anchor="ctr"/>
          <a:lstStyle/>
          <a:p>
            <a:pPr algn="ctr"/>
            <a:endParaRPr lang="ko-KR" dirty="0"/>
          </a:p>
        </p:txBody>
      </p:sp>
      <p:sp>
        <p:nvSpPr>
          <p:cNvPr id="63" name="t5-end 선"/>
          <p:cNvSpPr/>
          <p:nvPr/>
        </p:nvSpPr>
        <p:spPr>
          <a:xfrm>
            <a:off x="8826302" y="5746155"/>
            <a:ext cx="1" cy="473670"/>
          </a:xfrm>
          <a:custGeom>
            <a:avLst/>
            <a:gdLst/>
            <a:ahLst/>
            <a:cxnLst/>
            <a:rect l="0" t="0" r="r" b="b"/>
            <a:pathLst>
              <a:path w="1" h="473670" fill="none">
                <a:moveTo>
                  <a:pt x="0" y="473670"/>
                </a:moveTo>
                <a:lnTo>
                  <a:pt x="0" y="0"/>
                </a:lnTo>
              </a:path>
            </a:pathLst>
          </a:custGeom>
          <a:noFill/>
          <a:ln w="6350">
            <a:solidFill>
              <a:srgbClr val="FFFFFF">
                <a:alpha val="18000"/>
              </a:srgbClr>
            </a:solidFill>
            <a:round/>
          </a:ln>
        </p:spPr>
        <p:txBody>
          <a:bodyPr rtlCol="0" anchor="ctr"/>
          <a:lstStyle/>
          <a:p>
            <a:pPr algn="ctr"/>
            <a:endParaRPr lang="ko-KR" dirty="0"/>
          </a:p>
        </p:txBody>
      </p:sp>
      <p:sp>
        <p:nvSpPr>
          <p:cNvPr id="64" name="05"/>
          <p:cNvSpPr txBox="1"/>
          <p:nvPr/>
        </p:nvSpPr>
        <p:spPr>
          <a:xfrm>
            <a:off x="609600" y="401439"/>
            <a:ext cx="214809" cy="146050"/>
          </a:xfrm>
          <a:prstGeom prst="rect">
            <a:avLst/>
          </a:prstGeom>
          <a:noFill/>
          <a:ln/>
        </p:spPr>
        <p:txBody>
          <a:bodyPr wrap="none" lIns="0" tIns="0" rIns="0" bIns="0" rtlCol="0" anchor="ctr"/>
          <a:lstStyle/>
          <a:p>
            <a:pPr algn="l" indent="0" marL="0">
              <a:buNone/>
            </a:pPr>
            <a:r>
              <a:rPr lang="ko-KR" altLang="en-US" sz="950" spc="19" kern="0" dirty="0">
                <a:solidFill>
                  <a:srgbClr val="EA002C"/>
                </a:solidFill>
                <a:latin typeface="Pretendard ExtraBold" pitchFamily="34" charset="0"/>
                <a:ea typeface="Pretendard ExtraBold" pitchFamily="34" charset="-127"/>
                <a:cs typeface="Pretendard ExtraBold" pitchFamily="34" charset="-120"/>
              </a:rPr>
              <a:t>05</a:t>
            </a:r>
            <a:endParaRPr lang="en-US" sz="950" dirty="0"/>
          </a:p>
        </p:txBody>
      </p:sp>
      <p:sp>
        <p:nvSpPr>
          <p:cNvPr id="65" name="Utility 기술(건축, BIM/5D) 직무와의 연관성"/>
          <p:cNvSpPr txBox="1"/>
          <p:nvPr/>
        </p:nvSpPr>
        <p:spPr>
          <a:xfrm>
            <a:off x="862509" y="401439"/>
            <a:ext cx="2216813" cy="146050"/>
          </a:xfrm>
          <a:prstGeom prst="rect">
            <a:avLst/>
          </a:prstGeom>
          <a:noFill/>
          <a:ln/>
        </p:spPr>
        <p:txBody>
          <a:bodyPr wrap="none" lIns="0" tIns="0" rIns="0" bIns="0" rtlCol="0" anchor="ctr"/>
          <a:lstStyle/>
          <a:p>
            <a:pPr algn="l" indent="0" marL="0">
              <a:buNone/>
            </a:pPr>
            <a:r>
              <a:rPr lang="ko-KR" altLang="en-US" sz="950" b="1" spc="-12" kern="0" dirty="0">
                <a:solidFill>
                  <a:srgbClr val="102A4C"/>
                </a:solidFill>
                <a:latin typeface="Pretendard" pitchFamily="34" charset="0"/>
                <a:ea typeface="Pretendard" pitchFamily="34" charset="-127"/>
                <a:cs typeface="Pretendard" pitchFamily="34" charset="-120"/>
              </a:rPr>
              <a:t>Utility 기술(건축, BIM/5D) 직무와의 연관성</a:t>
            </a:r>
            <a:endParaRPr lang="en-US" sz="950" dirty="0"/>
          </a:p>
        </p:txBody>
      </p:sp>
      <p:sp>
        <p:nvSpPr>
          <p:cNvPr id="66" name="SK하이닉스 직무에서 왜 중요한가"/>
          <p:cNvSpPr txBox="1"/>
          <p:nvPr/>
        </p:nvSpPr>
        <p:spPr>
          <a:xfrm>
            <a:off x="3137991" y="401439"/>
            <a:ext cx="1661505" cy="146050"/>
          </a:xfrm>
          <a:prstGeom prst="rect">
            <a:avLst/>
          </a:prstGeom>
          <a:noFill/>
          <a:ln/>
        </p:spPr>
        <p:txBody>
          <a:bodyPr wrap="none" lIns="0" tIns="0" rIns="0" bIns="0" rtlCol="0" anchor="ctr"/>
          <a:lstStyle/>
          <a:p>
            <a:pPr algn="l" indent="0" marL="0">
              <a:buNone/>
            </a:pPr>
            <a:r>
              <a:rPr lang="ko-KR" altLang="en-US" sz="950" spc="-12" kern="0" dirty="0">
                <a:solidFill>
                  <a:srgbClr val="737C8B"/>
                </a:solidFill>
                <a:latin typeface="Pretendard SemiBold" pitchFamily="34" charset="0"/>
                <a:ea typeface="Pretendard SemiBold" pitchFamily="34" charset="-127"/>
                <a:cs typeface="Pretendard SemiBold" pitchFamily="34" charset="-120"/>
              </a:rPr>
              <a:t>SK하이닉스 직무에서 왜 중요한가</a:t>
            </a:r>
            <a:endParaRPr lang="en-US" sz="950" dirty="0"/>
          </a:p>
        </p:txBody>
      </p:sp>
      <p:sp>
        <p:nvSpPr>
          <p:cNvPr id="67" name="직무에서 마주할 세 가지 과제가제 연구와 맞닿아 있습니다."/>
          <p:cNvSpPr txBox="1"/>
          <p:nvPr/>
        </p:nvSpPr>
        <p:spPr>
          <a:xfrm>
            <a:off x="609600" y="653852"/>
            <a:ext cx="3545239" cy="724297"/>
          </a:xfrm>
          <a:prstGeom prst="rect">
            <a:avLst/>
          </a:prstGeom>
          <a:noFill/>
          <a:ln/>
        </p:spPr>
        <p:txBody>
          <a:bodyPr wrap="none" lIns="0" tIns="0" rIns="0" bIns="0" rtlCol="0" anchor="t"/>
          <a:lstStyle/>
          <a:p>
            <a:pPr algn="l" indent="0" marL="0">
              <a:lnSpc>
                <a:spcPts val="2852"/>
              </a:lnSpc>
              <a:buNone/>
            </a:pP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직무에서 마주할 세 가지 과제가</a:t>
            </a:r>
            <a:br/>
            <a:r>
              <a:rPr lang="ko-KR" altLang="en-US" sz="2300" spc="-92" kern="0" dirty="0">
                <a:solidFill>
                  <a:srgbClr val="EA002C"/>
                </a:solidFill>
                <a:latin typeface="Pretendard ExtraBold" pitchFamily="34" charset="0"/>
                <a:ea typeface="Pretendard ExtraBold" pitchFamily="34" charset="-127"/>
                <a:cs typeface="Pretendard ExtraBold" pitchFamily="34" charset="-120"/>
              </a:rPr>
              <a:t>제 연구와 맞닿아</a:t>
            </a:r>
            <a:r>
              <a:rPr lang="ko-KR" altLang="en-US" sz="2300" spc="-92" kern="0" dirty="0">
                <a:solidFill>
                  <a:srgbClr val="102A4C"/>
                </a:solidFill>
                <a:latin typeface="Pretendard ExtraBold" pitchFamily="34" charset="0"/>
                <a:ea typeface="Pretendard ExtraBold" pitchFamily="34" charset="-127"/>
                <a:cs typeface="Pretendard ExtraBold" pitchFamily="34" charset="-120"/>
              </a:rPr>
              <a:t> 있습니다.</a:t>
            </a:r>
            <a:endParaRPr lang="en-US" sz="2300" dirty="0"/>
          </a:p>
        </p:txBody>
      </p:sp>
      <p:sp>
        <p:nvSpPr>
          <p:cNvPr id="68" name="01"/>
          <p:cNvSpPr txBox="1"/>
          <p:nvPr/>
        </p:nvSpPr>
        <p:spPr>
          <a:xfrm>
            <a:off x="10063559" y="424458"/>
            <a:ext cx="154781"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01</a:t>
            </a:r>
            <a:endParaRPr lang="en-US" sz="700" dirty="0"/>
          </a:p>
        </p:txBody>
      </p:sp>
      <p:sp>
        <p:nvSpPr>
          <p:cNvPr id="69" name="02"/>
          <p:cNvSpPr txBox="1"/>
          <p:nvPr/>
        </p:nvSpPr>
        <p:spPr>
          <a:xfrm>
            <a:off x="10387409" y="424458"/>
            <a:ext cx="16738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02</a:t>
            </a:r>
            <a:endParaRPr lang="en-US" sz="700" dirty="0"/>
          </a:p>
        </p:txBody>
      </p:sp>
      <p:sp>
        <p:nvSpPr>
          <p:cNvPr id="70" name="03"/>
          <p:cNvSpPr txBox="1"/>
          <p:nvPr/>
        </p:nvSpPr>
        <p:spPr>
          <a:xfrm>
            <a:off x="10716419" y="424458"/>
            <a:ext cx="169862"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03</a:t>
            </a:r>
            <a:endParaRPr lang="en-US" sz="700" dirty="0"/>
          </a:p>
        </p:txBody>
      </p:sp>
      <p:sp>
        <p:nvSpPr>
          <p:cNvPr id="71" name="04"/>
          <p:cNvSpPr txBox="1"/>
          <p:nvPr/>
        </p:nvSpPr>
        <p:spPr>
          <a:xfrm>
            <a:off x="11045726" y="424458"/>
            <a:ext cx="171549" cy="101600"/>
          </a:xfrm>
          <a:prstGeom prst="rect">
            <a:avLst/>
          </a:prstGeom>
          <a:noFill/>
          <a:ln/>
        </p:spPr>
        <p:txBody>
          <a:bodyPr wrap="none" lIns="0" tIns="0" rIns="0" bIns="0" rtlCol="0" anchor="ctr"/>
          <a:lstStyle/>
          <a:p>
            <a:pPr algn="l" indent="0" marL="0">
              <a:buNone/>
            </a:pPr>
            <a:r>
              <a:rPr lang="ko-KR" altLang="en-US" sz="700" b="1" spc="14" kern="0" dirty="0">
                <a:solidFill>
                  <a:srgbClr val="2B4A78"/>
                </a:solidFill>
                <a:latin typeface="Pretendard" pitchFamily="34" charset="0"/>
                <a:ea typeface="Pretendard" pitchFamily="34" charset="-127"/>
                <a:cs typeface="Pretendard" pitchFamily="34" charset="-120"/>
              </a:rPr>
              <a:t>04</a:t>
            </a:r>
            <a:endParaRPr lang="en-US" sz="700" dirty="0"/>
          </a:p>
        </p:txBody>
      </p:sp>
      <p:sp>
        <p:nvSpPr>
          <p:cNvPr id="72" name="05"/>
          <p:cNvSpPr txBox="1"/>
          <p:nvPr/>
        </p:nvSpPr>
        <p:spPr>
          <a:xfrm>
            <a:off x="11377315" y="424458"/>
            <a:ext cx="168870" cy="101600"/>
          </a:xfrm>
          <a:prstGeom prst="rect">
            <a:avLst/>
          </a:prstGeom>
          <a:noFill/>
          <a:ln/>
        </p:spPr>
        <p:txBody>
          <a:bodyPr wrap="none" lIns="0" tIns="0" rIns="0" bIns="0" rtlCol="0" anchor="ctr"/>
          <a:lstStyle/>
          <a:p>
            <a:pPr algn="l" indent="0" marL="0">
              <a:buNone/>
            </a:pPr>
            <a:r>
              <a:rPr lang="ko-KR" altLang="en-US" sz="700" b="1" spc="14" kern="0" dirty="0">
                <a:solidFill>
                  <a:srgbClr val="FFFFFF"/>
                </a:solidFill>
                <a:latin typeface="Pretendard" pitchFamily="34" charset="0"/>
                <a:ea typeface="Pretendard" pitchFamily="34" charset="-127"/>
                <a:cs typeface="Pretendard" pitchFamily="34" charset="-120"/>
              </a:rPr>
              <a:t>05</a:t>
            </a:r>
            <a:endParaRPr lang="en-US" sz="700" dirty="0"/>
          </a:p>
        </p:txBody>
      </p:sp>
      <p:sp>
        <p:nvSpPr>
          <p:cNvPr id="73" name="직무 과제"/>
          <p:cNvSpPr txBox="1"/>
          <p:nvPr/>
        </p:nvSpPr>
        <p:spPr>
          <a:xfrm>
            <a:off x="863600" y="1645047"/>
            <a:ext cx="588963" cy="184150"/>
          </a:xfrm>
          <a:prstGeom prst="rect">
            <a:avLst/>
          </a:prstGeom>
          <a:noFill/>
          <a:ln/>
        </p:spPr>
        <p:txBody>
          <a:bodyPr wrap="none" lIns="0" tIns="0" rIns="0" bIns="0" rtlCol="0" anchor="ctr"/>
          <a:lstStyle/>
          <a:p>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직무 과제</a:t>
            </a:r>
            <a:endParaRPr lang="en-US" sz="1200" dirty="0"/>
          </a:p>
        </p:txBody>
      </p:sp>
      <p:sp>
        <p:nvSpPr>
          <p:cNvPr id="74" name="연구 접점"/>
          <p:cNvSpPr txBox="1"/>
          <p:nvPr/>
        </p:nvSpPr>
        <p:spPr>
          <a:xfrm>
            <a:off x="6604000" y="1645047"/>
            <a:ext cx="588963" cy="184150"/>
          </a:xfrm>
          <a:prstGeom prst="rect">
            <a:avLst/>
          </a:prstGeom>
          <a:noFill/>
          <a:ln/>
        </p:spPr>
        <p:txBody>
          <a:bodyPr wrap="none" lIns="0" tIns="0" rIns="0" bIns="0" rtlCol="0" anchor="ctr"/>
          <a:lstStyle/>
          <a:p>
            <a:pPr algn="l" indent="0" marL="0">
              <a:buNone/>
            </a:pPr>
            <a:r>
              <a:rPr lang="ko-KR" altLang="en-US" sz="1200" spc="-36" kern="0" dirty="0">
                <a:solidFill>
                  <a:srgbClr val="102A4C"/>
                </a:solidFill>
                <a:latin typeface="Pretendard ExtraBold" pitchFamily="34" charset="0"/>
                <a:ea typeface="Pretendard ExtraBold" pitchFamily="34" charset="-127"/>
                <a:cs typeface="Pretendard ExtraBold" pitchFamily="34" charset="-120"/>
              </a:rPr>
              <a:t>연구 접점</a:t>
            </a:r>
            <a:endParaRPr lang="en-US" sz="1200" dirty="0"/>
          </a:p>
        </p:txBody>
      </p:sp>
      <p:sp>
        <p:nvSpPr>
          <p:cNvPr id="75" name="과제 1"/>
          <p:cNvSpPr txBox="1"/>
          <p:nvPr/>
        </p:nvSpPr>
        <p:spPr>
          <a:xfrm>
            <a:off x="1549400" y="2285107"/>
            <a:ext cx="346571" cy="120650"/>
          </a:xfrm>
          <a:prstGeom prst="rect">
            <a:avLst/>
          </a:prstGeom>
          <a:noFill/>
          <a:ln/>
        </p:spPr>
        <p:txBody>
          <a:bodyPr wrap="none" lIns="0" tIns="0" rIns="0" bIns="0" rtlCol="0" anchor="ctr"/>
          <a:lstStyle/>
          <a:p>
            <a:pPr algn="l" indent="0" marL="0">
              <a:buNone/>
            </a:pPr>
            <a:r>
              <a:rPr lang="ko-KR" altLang="en-US" sz="800" spc="96" kern="0" dirty="0">
                <a:solidFill>
                  <a:srgbClr val="737C8B"/>
                </a:solidFill>
                <a:latin typeface="Pretendard ExtraBold" pitchFamily="34" charset="0"/>
                <a:ea typeface="Pretendard ExtraBold" pitchFamily="34" charset="-127"/>
                <a:cs typeface="Pretendard ExtraBold" pitchFamily="34" charset="-120"/>
              </a:rPr>
              <a:t>과제 1</a:t>
            </a:r>
            <a:endParaRPr lang="en-US" sz="800" dirty="0"/>
          </a:p>
        </p:txBody>
      </p:sp>
      <p:sp>
        <p:nvSpPr>
          <p:cNvPr id="76" name="Virtual FAB 구축"/>
          <p:cNvSpPr txBox="1"/>
          <p:nvPr/>
        </p:nvSpPr>
        <p:spPr>
          <a:xfrm>
            <a:off x="1549400" y="2481957"/>
            <a:ext cx="1271423" cy="215900"/>
          </a:xfrm>
          <a:prstGeom prst="rect">
            <a:avLst/>
          </a:prstGeom>
          <a:noFill/>
          <a:ln/>
        </p:spPr>
        <p:txBody>
          <a:bodyPr wrap="none" lIns="0" tIns="0" rIns="0" bIns="0" rtlCol="0" anchor="ctr"/>
          <a:lstStyle/>
          <a:p>
            <a:pPr algn="l" indent="0" marL="0">
              <a:buNone/>
            </a:pPr>
            <a:r>
              <a:rPr lang="ko-KR" altLang="en-US" sz="1400" spc="-56" kern="0" dirty="0">
                <a:solidFill>
                  <a:srgbClr val="102A4C"/>
                </a:solidFill>
                <a:latin typeface="Pretendard ExtraBold" pitchFamily="34" charset="0"/>
                <a:ea typeface="Pretendard ExtraBold" pitchFamily="34" charset="-127"/>
                <a:cs typeface="Pretendard ExtraBold" pitchFamily="34" charset="-120"/>
              </a:rPr>
              <a:t>Virtual FAB 구축</a:t>
            </a:r>
            <a:endParaRPr lang="en-US" sz="1400" dirty="0"/>
          </a:p>
        </p:txBody>
      </p:sp>
      <p:sp>
        <p:nvSpPr>
          <p:cNvPr id="77" name="여러 출처의 도면·모델 데이터를하나로 통합"/>
          <p:cNvSpPr txBox="1"/>
          <p:nvPr/>
        </p:nvSpPr>
        <p:spPr>
          <a:xfrm>
            <a:off x="3841750" y="2267347"/>
            <a:ext cx="1748377" cy="419100"/>
          </a:xfrm>
          <a:prstGeom prst="rect">
            <a:avLst/>
          </a:prstGeom>
          <a:noFill/>
          <a:ln/>
        </p:spPr>
        <p:txBody>
          <a:bodyPr wrap="none" lIns="0" tIns="0" rIns="0" bIns="0" rtlCol="0" anchor="t"/>
          <a:lstStyle/>
          <a:p>
            <a:pPr algn="l" indent="0" marL="0">
              <a:lnSpc>
                <a:spcPts val="1650"/>
              </a:lnSpc>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여러 출처의 도면·모델 데이터를</a:t>
            </a:r>
            <a:br/>
            <a:r>
              <a:rPr lang="ko-KR" altLang="en-US" sz="1100" spc="-28" kern="0" dirty="0">
                <a:solidFill>
                  <a:srgbClr val="3F4654"/>
                </a:solidFill>
                <a:latin typeface="Pretendard Medium" pitchFamily="34" charset="0"/>
                <a:ea typeface="Pretendard Medium" pitchFamily="34" charset="-127"/>
                <a:cs typeface="Pretendard Medium" pitchFamily="34" charset="-120"/>
              </a:rPr>
              <a:t>하나로 통합</a:t>
            </a:r>
            <a:endParaRPr lang="en-US" sz="1100" dirty="0"/>
          </a:p>
        </p:txBody>
      </p:sp>
      <p:sp>
        <p:nvSpPr>
          <p:cNvPr id="78" name="서로 다른 도면의불완전한 정보를 짝지어"/>
          <p:cNvSpPr txBox="1"/>
          <p:nvPr/>
        </p:nvSpPr>
        <p:spPr>
          <a:xfrm>
            <a:off x="6604000" y="2269331"/>
            <a:ext cx="1344412" cy="423466"/>
          </a:xfrm>
          <a:prstGeom prst="rect">
            <a:avLst/>
          </a:prstGeom>
          <a:noFill/>
          <a:ln/>
        </p:spPr>
        <p:txBody>
          <a:bodyPr wrap="none" lIns="0" tIns="0" rIns="0" bIns="0" rtlCol="0" anchor="t"/>
          <a:lstStyle/>
          <a:p>
            <a:pPr algn="l" indent="0" marL="0">
              <a:lnSpc>
                <a:spcPts val="1667"/>
              </a:lnSpc>
              <a:buNone/>
            </a:pPr>
            <a:r>
              <a:rPr lang="ko-KR" altLang="en-US" sz="1150" b="1" spc="-40" kern="0" dirty="0">
                <a:solidFill>
                  <a:srgbClr val="141820"/>
                </a:solidFill>
                <a:latin typeface="Pretendard" pitchFamily="34" charset="0"/>
                <a:ea typeface="Pretendard" pitchFamily="34" charset="-127"/>
                <a:cs typeface="Pretendard" pitchFamily="34" charset="-120"/>
              </a:rPr>
              <a:t>서로 다른 도면의</a:t>
            </a:r>
            <a:br/>
            <a:r>
              <a:rPr lang="ko-KR" altLang="en-US" sz="1150" b="1" spc="-40" kern="0" dirty="0">
                <a:solidFill>
                  <a:srgbClr val="141820"/>
                </a:solidFill>
                <a:latin typeface="Pretendard" pitchFamily="34" charset="0"/>
                <a:ea typeface="Pretendard" pitchFamily="34" charset="-127"/>
                <a:cs typeface="Pretendard" pitchFamily="34" charset="-120"/>
              </a:rPr>
              <a:t>불완전한 정보를 짝지어</a:t>
            </a:r>
            <a:endParaRPr lang="en-US" sz="1150" dirty="0"/>
          </a:p>
        </p:txBody>
      </p:sp>
      <p:sp>
        <p:nvSpPr>
          <p:cNvPr id="79" name="하나의 3D 모델로 통합"/>
          <p:cNvSpPr txBox="1"/>
          <p:nvPr/>
        </p:nvSpPr>
        <p:spPr>
          <a:xfrm>
            <a:off x="8978900" y="2399407"/>
            <a:ext cx="1473142" cy="196850"/>
          </a:xfrm>
          <a:prstGeom prst="rect">
            <a:avLst/>
          </a:prstGeom>
          <a:noFill/>
          <a:ln/>
        </p:spPr>
        <p:txBody>
          <a:bodyPr wrap="none" lIns="0" tIns="0" rIns="0" bIns="0" rtlCol="0" anchor="ctr"/>
          <a:lstStyle/>
          <a:p>
            <a:pPr algn="l" indent="0" marL="0">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하나의 3D 모델로 통합</a:t>
            </a:r>
            <a:endParaRPr lang="en-US" sz="1300" dirty="0"/>
          </a:p>
        </p:txBody>
      </p:sp>
      <p:sp>
        <p:nvSpPr>
          <p:cNvPr id="80" name="과제 2"/>
          <p:cNvSpPr txBox="1"/>
          <p:nvPr/>
        </p:nvSpPr>
        <p:spPr>
          <a:xfrm>
            <a:off x="1549400" y="3453507"/>
            <a:ext cx="360759" cy="120650"/>
          </a:xfrm>
          <a:prstGeom prst="rect">
            <a:avLst/>
          </a:prstGeom>
          <a:noFill/>
          <a:ln/>
        </p:spPr>
        <p:txBody>
          <a:bodyPr wrap="none" lIns="0" tIns="0" rIns="0" bIns="0" rtlCol="0" anchor="ctr"/>
          <a:lstStyle/>
          <a:p>
            <a:pPr algn="l" indent="0" marL="0">
              <a:buNone/>
            </a:pPr>
            <a:r>
              <a:rPr lang="ko-KR" altLang="en-US" sz="800" spc="96" kern="0" dirty="0">
                <a:solidFill>
                  <a:srgbClr val="737C8B"/>
                </a:solidFill>
                <a:latin typeface="Pretendard ExtraBold" pitchFamily="34" charset="0"/>
                <a:ea typeface="Pretendard ExtraBold" pitchFamily="34" charset="-127"/>
                <a:cs typeface="Pretendard ExtraBold" pitchFamily="34" charset="-120"/>
              </a:rPr>
              <a:t>과제 2</a:t>
            </a:r>
            <a:endParaRPr lang="en-US" sz="800" dirty="0"/>
          </a:p>
        </p:txBody>
      </p:sp>
      <p:sp>
        <p:nvSpPr>
          <p:cNvPr id="81" name="기존 시설의 디지털 전환"/>
          <p:cNvSpPr txBox="1"/>
          <p:nvPr/>
        </p:nvSpPr>
        <p:spPr>
          <a:xfrm>
            <a:off x="1549400" y="3650357"/>
            <a:ext cx="1657298" cy="215900"/>
          </a:xfrm>
          <a:prstGeom prst="rect">
            <a:avLst/>
          </a:prstGeom>
          <a:noFill/>
          <a:ln/>
        </p:spPr>
        <p:txBody>
          <a:bodyPr wrap="none" lIns="0" tIns="0" rIns="0" bIns="0" rtlCol="0" anchor="ctr"/>
          <a:lstStyle/>
          <a:p>
            <a:pPr algn="l" indent="0" marL="0">
              <a:buNone/>
            </a:pPr>
            <a:r>
              <a:rPr lang="ko-KR" altLang="en-US" sz="1400" spc="-56" kern="0" dirty="0">
                <a:solidFill>
                  <a:srgbClr val="102A4C"/>
                </a:solidFill>
                <a:latin typeface="Pretendard ExtraBold" pitchFamily="34" charset="0"/>
                <a:ea typeface="Pretendard ExtraBold" pitchFamily="34" charset="-127"/>
                <a:cs typeface="Pretendard ExtraBold" pitchFamily="34" charset="-120"/>
              </a:rPr>
              <a:t>기존 시설의 디지털 전환</a:t>
            </a:r>
            <a:endParaRPr lang="en-US" sz="1400" dirty="0"/>
          </a:p>
        </p:txBody>
      </p:sp>
      <p:sp>
        <p:nvSpPr>
          <p:cNvPr id="82" name="이미지 도면만 남은기존 시설이 많음"/>
          <p:cNvSpPr txBox="1"/>
          <p:nvPr/>
        </p:nvSpPr>
        <p:spPr>
          <a:xfrm>
            <a:off x="3841750" y="3435747"/>
            <a:ext cx="1059186" cy="419100"/>
          </a:xfrm>
          <a:prstGeom prst="rect">
            <a:avLst/>
          </a:prstGeom>
          <a:noFill/>
          <a:ln/>
        </p:spPr>
        <p:txBody>
          <a:bodyPr wrap="none" lIns="0" tIns="0" rIns="0" bIns="0" rtlCol="0" anchor="t"/>
          <a:lstStyle/>
          <a:p>
            <a:pPr algn="l" indent="0" marL="0">
              <a:lnSpc>
                <a:spcPts val="1650"/>
              </a:lnSpc>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이미지 도면만 남은</a:t>
            </a:r>
            <a:br/>
            <a:r>
              <a:rPr lang="ko-KR" altLang="en-US" sz="1100" spc="-28" kern="0" dirty="0">
                <a:solidFill>
                  <a:srgbClr val="3F4654"/>
                </a:solidFill>
                <a:latin typeface="Pretendard Medium" pitchFamily="34" charset="0"/>
                <a:ea typeface="Pretendard Medium" pitchFamily="34" charset="-127"/>
                <a:cs typeface="Pretendard Medium" pitchFamily="34" charset="-120"/>
              </a:rPr>
              <a:t>기존 시설이 많음</a:t>
            </a:r>
            <a:endParaRPr lang="en-US" sz="1100" dirty="0"/>
          </a:p>
        </p:txBody>
      </p:sp>
      <p:sp>
        <p:nvSpPr>
          <p:cNvPr id="83" name="CAD 정보 없이이미지 도면에서 BIM 생성"/>
          <p:cNvSpPr txBox="1"/>
          <p:nvPr/>
        </p:nvSpPr>
        <p:spPr>
          <a:xfrm>
            <a:off x="6604000" y="3437731"/>
            <a:ext cx="1506377" cy="423466"/>
          </a:xfrm>
          <a:prstGeom prst="rect">
            <a:avLst/>
          </a:prstGeom>
          <a:noFill/>
          <a:ln/>
        </p:spPr>
        <p:txBody>
          <a:bodyPr wrap="none" lIns="0" tIns="0" rIns="0" bIns="0" rtlCol="0" anchor="t"/>
          <a:lstStyle/>
          <a:p>
            <a:pPr algn="l" indent="0" marL="0">
              <a:lnSpc>
                <a:spcPts val="1667"/>
              </a:lnSpc>
              <a:buNone/>
            </a:pPr>
            <a:r>
              <a:rPr lang="ko-KR" altLang="en-US" sz="1150" b="1" spc="-40" kern="0" dirty="0">
                <a:solidFill>
                  <a:srgbClr val="141820"/>
                </a:solidFill>
                <a:latin typeface="Pretendard" pitchFamily="34" charset="0"/>
                <a:ea typeface="Pretendard" pitchFamily="34" charset="-127"/>
                <a:cs typeface="Pretendard" pitchFamily="34" charset="-120"/>
              </a:rPr>
              <a:t>CAD 정보 없이</a:t>
            </a:r>
            <a:br/>
            <a:r>
              <a:rPr lang="ko-KR" altLang="en-US" sz="1150" b="1" spc="-40" kern="0" dirty="0">
                <a:solidFill>
                  <a:srgbClr val="141820"/>
                </a:solidFill>
                <a:latin typeface="Pretendard" pitchFamily="34" charset="0"/>
                <a:ea typeface="Pretendard" pitchFamily="34" charset="-127"/>
                <a:cs typeface="Pretendard" pitchFamily="34" charset="-120"/>
              </a:rPr>
              <a:t>이미지 도면에서 BIM 생성</a:t>
            </a:r>
            <a:endParaRPr lang="en-US" sz="1150" dirty="0"/>
          </a:p>
        </p:txBody>
      </p:sp>
      <p:sp>
        <p:nvSpPr>
          <p:cNvPr id="84" name="디지털 전환 기간 단축"/>
          <p:cNvSpPr txBox="1"/>
          <p:nvPr/>
        </p:nvSpPr>
        <p:spPr>
          <a:xfrm>
            <a:off x="8978900" y="3567807"/>
            <a:ext cx="1394684" cy="196850"/>
          </a:xfrm>
          <a:prstGeom prst="rect">
            <a:avLst/>
          </a:prstGeom>
          <a:noFill/>
          <a:ln/>
        </p:spPr>
        <p:txBody>
          <a:bodyPr wrap="none" lIns="0" tIns="0" rIns="0" bIns="0" rtlCol="0" anchor="ctr"/>
          <a:lstStyle/>
          <a:p>
            <a:pPr algn="l" indent="0" marL="0">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디지털 전환 기간 단축</a:t>
            </a:r>
            <a:endParaRPr lang="en-US" sz="1300" dirty="0"/>
          </a:p>
        </p:txBody>
      </p:sp>
      <p:sp>
        <p:nvSpPr>
          <p:cNvPr id="85" name="과제 3"/>
          <p:cNvSpPr txBox="1"/>
          <p:nvPr/>
        </p:nvSpPr>
        <p:spPr>
          <a:xfrm>
            <a:off x="1549400" y="4621907"/>
            <a:ext cx="363637" cy="120650"/>
          </a:xfrm>
          <a:prstGeom prst="rect">
            <a:avLst/>
          </a:prstGeom>
          <a:noFill/>
          <a:ln/>
        </p:spPr>
        <p:txBody>
          <a:bodyPr wrap="none" lIns="0" tIns="0" rIns="0" bIns="0" rtlCol="0" anchor="ctr"/>
          <a:lstStyle/>
          <a:p>
            <a:pPr algn="l" indent="0" marL="0">
              <a:buNone/>
            </a:pPr>
            <a:r>
              <a:rPr lang="ko-KR" altLang="en-US" sz="800" spc="96" kern="0" dirty="0">
                <a:solidFill>
                  <a:srgbClr val="737C8B"/>
                </a:solidFill>
                <a:latin typeface="Pretendard ExtraBold" pitchFamily="34" charset="0"/>
                <a:ea typeface="Pretendard ExtraBold" pitchFamily="34" charset="-127"/>
                <a:cs typeface="Pretendard ExtraBold" pitchFamily="34" charset="-120"/>
              </a:rPr>
              <a:t>과제 3</a:t>
            </a:r>
            <a:endParaRPr lang="en-US" sz="800" dirty="0"/>
          </a:p>
        </p:txBody>
      </p:sp>
      <p:sp>
        <p:nvSpPr>
          <p:cNvPr id="86" name="5D(물량·원가) 관리"/>
          <p:cNvSpPr txBox="1"/>
          <p:nvPr/>
        </p:nvSpPr>
        <p:spPr>
          <a:xfrm>
            <a:off x="1549400" y="4818757"/>
            <a:ext cx="1390477" cy="215900"/>
          </a:xfrm>
          <a:prstGeom prst="rect">
            <a:avLst/>
          </a:prstGeom>
          <a:noFill/>
          <a:ln/>
        </p:spPr>
        <p:txBody>
          <a:bodyPr wrap="none" lIns="0" tIns="0" rIns="0" bIns="0" rtlCol="0" anchor="ctr"/>
          <a:lstStyle/>
          <a:p>
            <a:pPr algn="l" indent="0" marL="0">
              <a:buNone/>
            </a:pPr>
            <a:r>
              <a:rPr lang="ko-KR" altLang="en-US" sz="1400" spc="-56" kern="0" dirty="0">
                <a:solidFill>
                  <a:srgbClr val="102A4C"/>
                </a:solidFill>
                <a:latin typeface="Pretendard ExtraBold" pitchFamily="34" charset="0"/>
                <a:ea typeface="Pretendard ExtraBold" pitchFamily="34" charset="-127"/>
                <a:cs typeface="Pretendard ExtraBold" pitchFamily="34" charset="-120"/>
              </a:rPr>
              <a:t>5D(물량·원가) 관리</a:t>
            </a:r>
            <a:endParaRPr lang="en-US" sz="1400" dirty="0"/>
          </a:p>
        </p:txBody>
      </p:sp>
      <p:sp>
        <p:nvSpPr>
          <p:cNvPr id="87" name="BIM 데이터가 정확해야물량·원가 관리가 의미 있음"/>
          <p:cNvSpPr txBox="1"/>
          <p:nvPr/>
        </p:nvSpPr>
        <p:spPr>
          <a:xfrm>
            <a:off x="3841750" y="4604147"/>
            <a:ext cx="1499856" cy="419100"/>
          </a:xfrm>
          <a:prstGeom prst="rect">
            <a:avLst/>
          </a:prstGeom>
          <a:noFill/>
          <a:ln/>
        </p:spPr>
        <p:txBody>
          <a:bodyPr wrap="none" lIns="0" tIns="0" rIns="0" bIns="0" rtlCol="0" anchor="t"/>
          <a:lstStyle/>
          <a:p>
            <a:pPr algn="l" indent="0" marL="0">
              <a:lnSpc>
                <a:spcPts val="1650"/>
              </a:lnSpc>
              <a:buNone/>
            </a:pPr>
            <a:r>
              <a:rPr lang="ko-KR" altLang="en-US" sz="1100" spc="-28" kern="0" dirty="0">
                <a:solidFill>
                  <a:srgbClr val="3F4654"/>
                </a:solidFill>
                <a:latin typeface="Pretendard Medium" pitchFamily="34" charset="0"/>
                <a:ea typeface="Pretendard Medium" pitchFamily="34" charset="-127"/>
                <a:cs typeface="Pretendard Medium" pitchFamily="34" charset="-120"/>
              </a:rPr>
              <a:t>BIM 데이터가 정확해야</a:t>
            </a:r>
            <a:br/>
            <a:r>
              <a:rPr lang="ko-KR" altLang="en-US" sz="1100" spc="-28" kern="0" dirty="0">
                <a:solidFill>
                  <a:srgbClr val="3F4654"/>
                </a:solidFill>
                <a:latin typeface="Pretendard Medium" pitchFamily="34" charset="0"/>
                <a:ea typeface="Pretendard Medium" pitchFamily="34" charset="-127"/>
                <a:cs typeface="Pretendard Medium" pitchFamily="34" charset="-120"/>
              </a:rPr>
              <a:t>물량·원가 관리가 의미 있음</a:t>
            </a:r>
            <a:endParaRPr lang="en-US" sz="1100" dirty="0"/>
          </a:p>
        </p:txBody>
      </p:sp>
      <p:sp>
        <p:nvSpPr>
          <p:cNvPr id="88" name="축척 보정·생성 완성도검증 경험"/>
          <p:cNvSpPr txBox="1"/>
          <p:nvPr/>
        </p:nvSpPr>
        <p:spPr>
          <a:xfrm>
            <a:off x="6604000" y="4606131"/>
            <a:ext cx="1254280" cy="423466"/>
          </a:xfrm>
          <a:prstGeom prst="rect">
            <a:avLst/>
          </a:prstGeom>
          <a:noFill/>
          <a:ln/>
        </p:spPr>
        <p:txBody>
          <a:bodyPr wrap="none" lIns="0" tIns="0" rIns="0" bIns="0" rtlCol="0" anchor="t"/>
          <a:lstStyle/>
          <a:p>
            <a:pPr algn="l" indent="0" marL="0">
              <a:lnSpc>
                <a:spcPts val="1667"/>
              </a:lnSpc>
              <a:buNone/>
            </a:pPr>
            <a:r>
              <a:rPr lang="ko-KR" altLang="en-US" sz="1150" b="1" spc="-40" kern="0" dirty="0">
                <a:solidFill>
                  <a:srgbClr val="141820"/>
                </a:solidFill>
                <a:latin typeface="Pretendard" pitchFamily="34" charset="0"/>
                <a:ea typeface="Pretendard" pitchFamily="34" charset="-127"/>
                <a:cs typeface="Pretendard" pitchFamily="34" charset="-120"/>
              </a:rPr>
              <a:t>축척 보정·생성 완성도</a:t>
            </a:r>
            <a:br/>
            <a:r>
              <a:rPr lang="ko-KR" altLang="en-US" sz="1150" b="1" spc="-40" kern="0" dirty="0">
                <a:solidFill>
                  <a:srgbClr val="141820"/>
                </a:solidFill>
                <a:latin typeface="Pretendard" pitchFamily="34" charset="0"/>
                <a:ea typeface="Pretendard" pitchFamily="34" charset="-127"/>
                <a:cs typeface="Pretendard" pitchFamily="34" charset="-120"/>
              </a:rPr>
              <a:t>검증 경험</a:t>
            </a:r>
            <a:endParaRPr lang="en-US" sz="1150" dirty="0"/>
          </a:p>
        </p:txBody>
      </p:sp>
      <p:sp>
        <p:nvSpPr>
          <p:cNvPr id="89" name="모델 데이터 품질 검증에바로 활용"/>
          <p:cNvSpPr txBox="1"/>
          <p:nvPr/>
        </p:nvSpPr>
        <p:spPr>
          <a:xfrm>
            <a:off x="8978900" y="4586486"/>
            <a:ext cx="1538980" cy="462161"/>
          </a:xfrm>
          <a:prstGeom prst="rect">
            <a:avLst/>
          </a:prstGeom>
          <a:noFill/>
          <a:ln/>
        </p:spPr>
        <p:txBody>
          <a:bodyPr wrap="none" lIns="0" tIns="0" rIns="0" bIns="0" rtlCol="0" anchor="t"/>
          <a:lstStyle/>
          <a:p>
            <a:pPr algn="l" indent="0" marL="0">
              <a:lnSpc>
                <a:spcPts val="1820"/>
              </a:lnSpc>
              <a:buNone/>
            </a:pP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모델 데이터 품질 검증에</a:t>
            </a:r>
            <a:br/>
            <a:r>
              <a:rPr lang="ko-KR" altLang="en-US" sz="1300" spc="-52" kern="0" dirty="0">
                <a:solidFill>
                  <a:srgbClr val="102A4C"/>
                </a:solidFill>
                <a:latin typeface="Pretendard ExtraBold" pitchFamily="34" charset="0"/>
                <a:ea typeface="Pretendard ExtraBold" pitchFamily="34" charset="-127"/>
                <a:cs typeface="Pretendard ExtraBold" pitchFamily="34" charset="-120"/>
              </a:rPr>
              <a:t>바로 활용</a:t>
            </a:r>
            <a:endParaRPr lang="en-US" sz="1300" dirty="0"/>
          </a:p>
        </p:txBody>
      </p:sp>
      <p:sp>
        <p:nvSpPr>
          <p:cNvPr id="90" name="KEY MESSAGE"/>
          <p:cNvSpPr txBox="1"/>
          <p:nvPr/>
        </p:nvSpPr>
        <p:spPr>
          <a:xfrm>
            <a:off x="863600" y="5920284"/>
            <a:ext cx="864394" cy="114300"/>
          </a:xfrm>
          <a:prstGeom prst="rect">
            <a:avLst/>
          </a:prstGeom>
          <a:noFill/>
          <a:ln/>
        </p:spPr>
        <p:txBody>
          <a:bodyPr wrap="none" lIns="0" tIns="0" rIns="0" bIns="0" rtlCol="0" anchor="ctr"/>
          <a:lstStyle/>
          <a:p>
            <a:pPr algn="l" indent="0" marL="0">
              <a:buNone/>
            </a:pPr>
            <a:r>
              <a:rPr lang="ko-KR" altLang="en-US" sz="750" spc="105" kern="0" dirty="0">
                <a:solidFill>
                  <a:srgbClr val="FF8FA3"/>
                </a:solidFill>
                <a:latin typeface="Pretendard ExtraBold" pitchFamily="34" charset="0"/>
                <a:ea typeface="Pretendard ExtraBold" pitchFamily="34" charset="-127"/>
                <a:cs typeface="Pretendard ExtraBold" pitchFamily="34" charset="-120"/>
              </a:rPr>
              <a:t>KEY MESSAGE</a:t>
            </a:r>
            <a:endParaRPr lang="en-US" sz="750" dirty="0"/>
          </a:p>
        </p:txBody>
      </p:sp>
      <p:sp>
        <p:nvSpPr>
          <p:cNvPr id="91" name="도면 속 불완전한 정보를 정확한 3D 데이터로 잇는 경험으로,SK하이닉스"/>
          <p:cNvSpPr txBox="1"/>
          <p:nvPr/>
        </p:nvSpPr>
        <p:spPr>
          <a:xfrm>
            <a:off x="1854994" y="5725220"/>
            <a:ext cx="4027136" cy="480020"/>
          </a:xfrm>
          <a:prstGeom prst="rect">
            <a:avLst/>
          </a:prstGeom>
          <a:noFill/>
          <a:ln/>
        </p:spPr>
        <p:txBody>
          <a:bodyPr wrap="none" lIns="0" tIns="0" rIns="0" bIns="0" rtlCol="0" anchor="t"/>
          <a:lstStyle/>
          <a:p>
            <a:pPr algn="l" indent="0" marL="0">
              <a:lnSpc>
                <a:spcPts val="1890"/>
              </a:lnSpc>
              <a:buNone/>
            </a:pPr>
            <a:r>
              <a:rPr lang="ko-KR" altLang="en-US" sz="1350" b="1" spc="-47" kern="0" dirty="0">
                <a:solidFill>
                  <a:srgbClr val="FFFFFF"/>
                </a:solidFill>
                <a:latin typeface="Pretendard" pitchFamily="34" charset="0"/>
                <a:ea typeface="Pretendard" pitchFamily="34" charset="-127"/>
                <a:cs typeface="Pretendard" pitchFamily="34" charset="-120"/>
              </a:rPr>
              <a:t>도면 속 불완전한 정보를 </a:t>
            </a:r>
            <a:r>
              <a:rPr lang="ko-KR" altLang="en-US" sz="1350" b="1" spc="-47" kern="0" dirty="0">
                <a:solidFill>
                  <a:srgbClr val="FFB3C1"/>
                </a:solidFill>
                <a:latin typeface="Pretendard" pitchFamily="34" charset="0"/>
                <a:ea typeface="Pretendard" pitchFamily="34" charset="-127"/>
                <a:cs typeface="Pretendard" pitchFamily="34" charset="-120"/>
              </a:rPr>
              <a:t>정확한 3D 데이터</a:t>
            </a:r>
            <a:r>
              <a:rPr lang="ko-KR" altLang="en-US" sz="1350" b="1" spc="-47" kern="0" dirty="0">
                <a:solidFill>
                  <a:srgbClr val="FFFFFF"/>
                </a:solidFill>
                <a:latin typeface="Pretendard" pitchFamily="34" charset="0"/>
                <a:ea typeface="Pretendard" pitchFamily="34" charset="-127"/>
                <a:cs typeface="Pretendard" pitchFamily="34" charset="-120"/>
              </a:rPr>
              <a:t>로 잇는 경험으로,</a:t>
            </a:r>
            <a:br/>
            <a:r>
              <a:rPr lang="ko-KR" altLang="en-US" sz="1350" b="1" spc="-47" kern="0" dirty="0">
                <a:solidFill>
                  <a:srgbClr val="FFFFFF"/>
                </a:solidFill>
                <a:latin typeface="Pretendard" pitchFamily="34" charset="0"/>
                <a:ea typeface="Pretendard" pitchFamily="34" charset="-127"/>
                <a:cs typeface="Pretendard" pitchFamily="34" charset="-120"/>
              </a:rPr>
              <a:t>SK하이닉스 Virtual FAB의 데이터 품질을 높이겠습니다.</a:t>
            </a:r>
            <a:endParaRPr lang="en-US" sz="1350" dirty="0"/>
          </a:p>
        </p:txBody>
      </p:sp>
      <p:sp>
        <p:nvSpPr>
          <p:cNvPr id="92" name="감사합니다"/>
          <p:cNvSpPr txBox="1"/>
          <p:nvPr/>
        </p:nvSpPr>
        <p:spPr>
          <a:xfrm>
            <a:off x="9083477" y="5807770"/>
            <a:ext cx="633611" cy="165100"/>
          </a:xfrm>
          <a:prstGeom prst="rect">
            <a:avLst/>
          </a:prstGeom>
          <a:noFill/>
          <a:ln/>
        </p:spPr>
        <p:txBody>
          <a:bodyPr wrap="none" lIns="0" tIns="0" rIns="0" bIns="0" rtlCol="0" anchor="ctr"/>
          <a:lstStyle/>
          <a:p>
            <a:pPr algn="l" indent="0" marL="0">
              <a:buNone/>
            </a:pPr>
            <a:r>
              <a:rPr lang="ko-KR" altLang="en-US" sz="1100" b="1" spc="-33" kern="0" dirty="0">
                <a:solidFill>
                  <a:srgbClr val="DCE3EE"/>
                </a:solidFill>
                <a:latin typeface="Pretendard" pitchFamily="34" charset="0"/>
                <a:ea typeface="Pretendard" pitchFamily="34" charset="-127"/>
                <a:cs typeface="Pretendard" pitchFamily="34" charset="-120"/>
              </a:rPr>
              <a:t>감사합니다</a:t>
            </a:r>
            <a:endParaRPr lang="en-US" sz="1100" dirty="0"/>
          </a:p>
        </p:txBody>
      </p:sp>
      <p:sp>
        <p:nvSpPr>
          <p:cNvPr id="93" name="· Q&amp;A"/>
          <p:cNvSpPr txBox="1"/>
          <p:nvPr/>
        </p:nvSpPr>
        <p:spPr>
          <a:xfrm>
            <a:off x="9729788" y="5845870"/>
            <a:ext cx="338634" cy="120650"/>
          </a:xfrm>
          <a:prstGeom prst="rect">
            <a:avLst/>
          </a:prstGeom>
          <a:noFill/>
          <a:ln/>
        </p:spPr>
        <p:txBody>
          <a:bodyPr wrap="none" lIns="0" tIns="0" rIns="0" bIns="0" rtlCol="0" anchor="ctr"/>
          <a:lstStyle/>
          <a:p>
            <a:pPr algn="l" indent="0" marL="0">
              <a:buNone/>
            </a:pPr>
            <a:r>
              <a:rPr lang="ko-KR" altLang="en-US" sz="800" b="1" spc="32" kern="0" dirty="0">
                <a:solidFill>
                  <a:srgbClr val="A9B7CB"/>
                </a:solidFill>
                <a:latin typeface="Pretendard" pitchFamily="34" charset="0"/>
                <a:ea typeface="Pretendard" pitchFamily="34" charset="-127"/>
                <a:cs typeface="Pretendard" pitchFamily="34" charset="-120"/>
              </a:rPr>
              <a:t>· Q&amp;A</a:t>
            </a:r>
            <a:endParaRPr lang="en-US" sz="800" dirty="0"/>
          </a:p>
        </p:txBody>
      </p:sp>
      <p:sp>
        <p:nvSpPr>
          <p:cNvPr id="94" name="Automation in Construction · Vol. 187 · "/>
          <p:cNvSpPr txBox="1"/>
          <p:nvPr/>
        </p:nvSpPr>
        <p:spPr>
          <a:xfrm>
            <a:off x="9083477" y="6026150"/>
            <a:ext cx="2379619" cy="120650"/>
          </a:xfrm>
          <a:prstGeom prst="rect">
            <a:avLst/>
          </a:prstGeom>
          <a:noFill/>
          <a:ln/>
        </p:spPr>
        <p:txBody>
          <a:bodyPr wrap="none" lIns="0" tIns="0" rIns="0" bIns="0" rtlCol="0" anchor="ctr"/>
          <a:lstStyle/>
          <a:p>
            <a:pPr algn="l" indent="0" marL="0">
              <a:buNone/>
            </a:pPr>
            <a:r>
              <a:rPr lang="ko-KR" altLang="en-US" sz="800" b="1" spc="-8" kern="0" dirty="0">
                <a:solidFill>
                  <a:srgbClr val="DCE3EE"/>
                </a:solidFill>
                <a:latin typeface="Pretendard" pitchFamily="34" charset="0"/>
                <a:ea typeface="Pretendard" pitchFamily="34" charset="-127"/>
                <a:cs typeface="Pretendard" pitchFamily="34" charset="-120"/>
              </a:rPr>
              <a:t>Automation in Construction</a:t>
            </a:r>
            <a:r>
              <a:rPr lang="ko-KR" altLang="en-US" sz="800" spc="-8" kern="0" dirty="0">
                <a:solidFill>
                  <a:srgbClr val="A9B7CB"/>
                </a:solidFill>
                <a:latin typeface="Pretendard SemiBold" pitchFamily="34" charset="0"/>
                <a:ea typeface="Pretendard SemiBold" pitchFamily="34" charset="-127"/>
                <a:cs typeface="Pretendard SemiBold" pitchFamily="34" charset="-120"/>
              </a:rPr>
              <a:t> · Vol. 187 · 2026 게재</a:t>
            </a:r>
            <a:endParaRPr lang="en-US" sz="800" dirty="0"/>
          </a:p>
        </p:txBody>
      </p:sp>
      <p:sp>
        <p:nvSpPr>
          <p:cNvPr id="95" name="석사 연구 발표  ·  평면도와 입면도 객체 인식 및 정보 통합을 통한 "/>
          <p:cNvSpPr txBox="1"/>
          <p:nvPr/>
        </p:nvSpPr>
        <p:spPr>
          <a:xfrm>
            <a:off x="609600" y="6472238"/>
            <a:ext cx="5145113" cy="114300"/>
          </a:xfrm>
          <a:prstGeom prst="rect">
            <a:avLst/>
          </a:prstGeom>
          <a:noFill/>
          <a:ln/>
        </p:spPr>
        <p:txBody>
          <a:bodyPr wrap="none" lIns="0" tIns="0" rIns="0" bIns="0" rtlCol="0" anchor="ctr"/>
          <a:lstStyle/>
          <a:p>
            <a:pPr algn="l" indent="0" marL="0">
              <a:buNone/>
            </a:pPr>
            <a:r>
              <a:rPr lang="ko-KR" altLang="en-US" sz="750" spc="-12" kern="0" dirty="0">
                <a:solidFill>
                  <a:srgbClr val="737C8B"/>
                </a:solidFill>
                <a:latin typeface="Pretendard Medium" pitchFamily="34" charset="0"/>
                <a:ea typeface="Pretendard Medium" pitchFamily="34" charset="-127"/>
                <a:cs typeface="Pretendard Medium" pitchFamily="34" charset="-120"/>
              </a:rPr>
              <a:t>석사 연구 발표  ·  평면도와 입면도 객체 인식 및 정보 통합을 통한 3D BIM 자동 생성 연구  ·  Utility 기술(건축, BIM/5D) 지원자 ○○○</a:t>
            </a:r>
            <a:endParaRPr lang="en-US" sz="750" dirty="0"/>
          </a:p>
        </p:txBody>
      </p:sp>
      <p:sp>
        <p:nvSpPr>
          <p:cNvPr id="96" name="05 / 05"/>
          <p:cNvSpPr txBox="1"/>
          <p:nvPr/>
        </p:nvSpPr>
        <p:spPr>
          <a:xfrm>
            <a:off x="11217672" y="6472238"/>
            <a:ext cx="415528" cy="114300"/>
          </a:xfrm>
          <a:prstGeom prst="rect">
            <a:avLst/>
          </a:prstGeom>
          <a:noFill/>
          <a:ln/>
        </p:spPr>
        <p:txBody>
          <a:bodyPr wrap="none" lIns="0" tIns="0" rIns="0" bIns="0" rtlCol="0" anchor="ctr"/>
          <a:lstStyle/>
          <a:p>
            <a:pPr algn="l" indent="0" marL="0">
              <a:buNone/>
            </a:pPr>
            <a:r>
              <a:rPr lang="ko-KR" altLang="en-US" sz="750" spc="45" kern="0" dirty="0">
                <a:solidFill>
                  <a:srgbClr val="102A4C"/>
                </a:solidFill>
                <a:latin typeface="Pretendard ExtraBold" pitchFamily="34" charset="0"/>
                <a:ea typeface="Pretendard ExtraBold" pitchFamily="34" charset="-127"/>
                <a:cs typeface="Pretendard ExtraBold" pitchFamily="34" charset="-120"/>
              </a:rPr>
              <a:t>05</a:t>
            </a:r>
            <a:r>
              <a:rPr lang="ko-KR" altLang="en-US" sz="750" spc="45" kern="0" dirty="0">
                <a:solidFill>
                  <a:srgbClr val="737C8B"/>
                </a:solidFill>
                <a:latin typeface="Pretendard SemiBold" pitchFamily="34" charset="0"/>
                <a:ea typeface="Pretendard SemiBold" pitchFamily="34" charset="-127"/>
                <a:cs typeface="Pretendard SemiBold" pitchFamily="34" charset="-120"/>
              </a:rPr>
              <a:t> / 05</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ExtraBold"/>
        <a:ea typeface="Pretendard Medium"/>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Medium"/>
        <a:ea typeface="Pretendard Medium"/>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BIM 자동 생성 연구 (5장)</dc:title>
  <dc:subject>PptxGenJS Presentation</dc:subject>
  <dc:creator>PptxGenJS</dc:creator>
  <cp:lastModifiedBy>PptxGenJS</cp:lastModifiedBy>
  <cp:revision>1</cp:revision>
  <dcterms:created xsi:type="dcterms:W3CDTF">2026-10-30T14:55:07Z</dcterms:created>
  <dcterms:modified xsi:type="dcterms:W3CDTF">2026-10-30T14:55:07Z</dcterms:modified>
</cp:coreProperties>
</file>