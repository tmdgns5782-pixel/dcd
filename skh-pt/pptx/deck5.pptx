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국토교통부는 공공공사 BIM 의무화를 단계적으로 넓히고 있습니다. 2022년 하반기 도로를 시작으로 2023년 철도·건축, 2024년 하천·항만까지 1,000억원 이상 신규 사업에 적용했고, 2026년에는 500억원 이상, 2028년에는 300억원 이상 사업으로 확대합니다. 2030 건축BIM 로드맵도 2025년 BIM 설계 기반 구축을 거쳐 2030년 디지털 건축서비스 완전 구현을 목표로 합니다. 하지만 현실은 다릅니다. 신규 건설은 2D 도면을 먼저 그린 뒤 BIM으로 옮기는 'BIM 전환설계'가 대부분이라 설계 후반에 투입 인력이 늘고 추가 비용이 생기고, 기존 건축물은 2D 도면만 남아 있어 3D BIM을 새로 구축해야 합니다. 결국 두 경우 모두 사람이 평면도와 입면도를 한 장씩 해석해서 직접 모델링해야 합니다. 오른쪽 사무동 모델이 이렇게 수작업으로 만든 예시이고, 이 방식은 벽·창·문을 일일이 입력해야 하는 노동집약적 작업인 데다 건물 규모에 비례해 시간과 비용이 늘고, 해석·입력 과정에서 누락과 오류가 생길 수 있습니다. 그래서 2차원 도면에 기반한 3차원 BIM 모델 자동 생성 프로세스가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연구에는 세 가지 한계가 있었습니다. 첫째, 평면도 한 장만 사용해서 높이 정보를 알 수 없었고, 그래서 높이는 수동으로 입력하거나 고정값을 써야 했습니다. 둘째, CAD 레이어나 블록 같은 정보에 의존해 이미지로만 남은 실제 도면에는 적용할 수 없었고, 셋째, 치수 글자 인식, 즉 OCR에 의존해 치수가 빠지거나 겹치면 결과가 부정확했습니다. 그래서 이 한계에 하나씩 대응하는 세 가지 목표를 세웠습니다. 평면도와 입면도 정보를 통합해 완전한 3차원 BIM을 생성하고, CAD 정보 없이 이미지만으로 두 도면 간 대응 객체를 정의하며, 대형 멀티모달 모델인 LMM으로 축척을 인식해 치수를 안정적으로 보정하는 것입니다. 정리하면, 딥러닝 기반 도면 객체 인식과 평면도·입면도 간 직접 매칭으로 정확한 3차원 정보를 가진 BIM 자동 생성 방법을 제안합니다.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 방법은 네 단계로, 도면 이미지만으로 객체 인식부터 BIM 생성까지 전 과정을 자동화했습니다. 1단계에서는 평면도와 입면도의 래스터 이미지, 즉 도면 이미지만 입력하는데, 평면도에서는 창·문의 평면 위치인 X·Y 좌표를, 입면도에서는 높이인 Z 좌표를 얻습니다. 2단계에서는 YOLO와 작은 객체를 나눠서 추론하는 SAHI로 벽·창문·문을 인식하고, 평면도에서는 외벽의 창·문을 동·서·남·북 방향별로 정리하며, 입면도에서는 DBSCAN 층별 클러스터링으로 같은 층의 창·문끼리 묶어 층 높이를 파악합니다. 3단계에서는 먼저 LMM인 GPT-4o가 도면의 축척과 용지 크기를 읽어 픽셀을 실제 길이로 바꾸는데, 예를 들어 4,963×3,509픽셀 도면이 축척 1/200, A3 용지라면 1픽셀은 33.88mm가 됩니다. 이어서 헝가리안 알고리즘으로 평면도의 X·Y와 입면도의 Z를 같은 창·문끼리 최적의 1:1로 짝지어 3차원 위치를 확정합니다. 마지막 4단계에서는 골격선, 즉 스켈레톤으로 벽 중심선을 뽑고, 창·문을 어느 벽에 붙일지 정하는 호스팅 관계를 정의한 뒤, Revit API로 높이까지 갖춘 3D BIM을 자동 생성합니다.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장에서는 세 가지 연구 기여를 각각의 근거 수치와 짝지어 보여 드립니다. 첫째, 도면 종류별 최적 학습·인식 전략을 썼고, 객체 인식 mAP@0.5가 평면도 0.934, 입면도 0.838로 Baseline보다 각각 42.7%p, 48.3%p 높았습니다. 학습에는 타일을 포함해 평면도 72,792장, 입면도 16,992장의 이미지를 사용했습니다. 둘째, CAD 정보 없이 평면도와 입면도 사이의 객체 대응 관계를 정의했고, 8개 동 개구부 3,458개를 대상으로 한 대응 객체 매칭 F1-score는 창문 0.93, 문 0.95였습니다. 셋째, LMM 기반 축척 인식은 축척 인식 정확도 0.707로 Tesseract OCR보다 33.8%p 높았습니다. 그 결과 건물 1동 실증에서 406개 객체 중 379개를 자동으로 만들어 생성 완성도 93.3%를 달성했습니다. 요소별로는 벽 153개 중 135개, 문 64개 전부, 창문 189개 중 180개입니다.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제 연구가 Utility 기술 직무와 어떻게 맞닿아 있는지 말씀드리겠습니다. 첫째, Virtual FAB 구축은 여러 출처의 도면·모델 데이터를 하나로 통합하는 일이고, 제 연구도 서로 다른 도면의 불완전한 정보를 짝지어 하나의 3D 모델로 통합했습니다. 둘째, 기존 시설에는 이미지 도면만 남은 곳이 많은데, CAD 정보 없이 이미지 도면에서 BIM을 생성하는 방법으로 디지털 전환 기간을 줄일 수 있습니다. 셋째, 5D, 즉 물량·원가 관리는 BIM 데이터가 정확해야 의미가 있고, 축척 보정과 생성 완성도를 검증한 경험을 모델 데이터 품질 검증에 바로 활용하겠습니다. 도면 속 불완전한 정보를 정확한 3D 데이터로 잇는 경험으로, SK하이닉스 Virtual FAB의 데이터 품질을 높이겠습니다. 오늘 말씀드린 연구는 Automation in Construction 187권에 2026년 게재되었습니다. 이상으로 발표를 마치며,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t1-flowarrow line"/>
          <p:cNvSpPr/>
          <p:nvPr/>
        </p:nvSpPr>
        <p:spPr>
          <a:xfrm>
            <a:off x="3949700" y="1740297"/>
            <a:ext cx="228600" cy="1"/>
          </a:xfrm>
          <a:custGeom>
            <a:avLst/>
            <a:gdLst/>
            <a:ahLst/>
            <a:cxnLst/>
            <a:rect l="0" t="0" r="r" b="b"/>
            <a:pathLst>
              <a:path w="228600" h="1">
                <a:moveTo>
                  <a:pt x="0" y="0"/>
                </a:moveTo>
                <a:lnTo>
                  <a:pt x="228600" y="0"/>
                </a:lnTo>
              </a:path>
            </a:pathLst>
          </a:custGeom>
          <a:solidFill>
            <a:srgbClr val="000000"/>
          </a:solidFill>
          <a:ln w="12700">
            <a:solidFill>
              <a:srgbClr val="102A4C"/>
            </a:solidFill>
            <a:miter lim="800000"/>
          </a:ln>
        </p:spPr>
        <p:txBody>
          <a:bodyPr rtlCol="0" anchor="ctr"/>
          <a:lstStyle/>
          <a:p>
            <a:pPr algn="ctr"/>
            <a:endParaRPr lang="ko-KR" dirty="0"/>
          </a:p>
        </p:txBody>
      </p:sp>
      <p:sp>
        <p:nvSpPr>
          <p:cNvPr id="10" name="t1-flowarrow polygon"/>
          <p:cNvSpPr/>
          <p:nvPr/>
        </p:nvSpPr>
        <p:spPr>
          <a:xfrm>
            <a:off x="4171950" y="1705372"/>
            <a:ext cx="63500" cy="69850"/>
          </a:xfrm>
          <a:custGeom>
            <a:avLst/>
            <a:gdLst/>
            <a:ahLst/>
            <a:cxnLst/>
            <a:rect l="0" t="0" r="r" b="b"/>
            <a:pathLst>
              <a:path w="63500" h="69850" stroke="0">
                <a:moveTo>
                  <a:pt x="63500" y="34925"/>
                </a:moveTo>
                <a:lnTo>
                  <a:pt x="0" y="0"/>
                </a:lnTo>
                <a:lnTo>
                  <a:pt x="0" y="69850"/>
                </a:lnTo>
                <a:close/>
              </a:path>
            </a:pathLst>
          </a:custGeom>
          <a:solidFill>
            <a:srgbClr val="102A4C"/>
          </a:solidFill>
          <a:ln>
            <a:noFill/>
          </a:ln>
        </p:spPr>
        <p:txBody>
          <a:bodyPr rtlCol="0" anchor="ctr"/>
          <a:lstStyle/>
          <a:p>
            <a:pPr algn="ctr"/>
            <a:endParaRPr lang="ko-KR" dirty="0"/>
          </a:p>
        </p:txBody>
      </p:sp>
      <p:sp>
        <p:nvSpPr>
          <p:cNvPr id="11" name="t1-flowarrow line"/>
          <p:cNvSpPr/>
          <p:nvPr/>
        </p:nvSpPr>
        <p:spPr>
          <a:xfrm>
            <a:off x="7607300" y="1740297"/>
            <a:ext cx="228600" cy="1"/>
          </a:xfrm>
          <a:custGeom>
            <a:avLst/>
            <a:gdLst/>
            <a:ahLst/>
            <a:cxnLst/>
            <a:rect l="0" t="0" r="r" b="b"/>
            <a:pathLst>
              <a:path w="228600" h="1">
                <a:moveTo>
                  <a:pt x="0" y="0"/>
                </a:moveTo>
                <a:lnTo>
                  <a:pt x="228600" y="0"/>
                </a:lnTo>
              </a:path>
            </a:pathLst>
          </a:custGeom>
          <a:solidFill>
            <a:srgbClr val="000000"/>
          </a:solidFill>
          <a:ln w="12700">
            <a:solidFill>
              <a:srgbClr val="102A4C"/>
            </a:solidFill>
            <a:miter lim="800000"/>
          </a:ln>
        </p:spPr>
        <p:txBody>
          <a:bodyPr rtlCol="0" anchor="ctr"/>
          <a:lstStyle/>
          <a:p>
            <a:pPr algn="ctr"/>
            <a:endParaRPr lang="ko-KR" dirty="0"/>
          </a:p>
        </p:txBody>
      </p:sp>
      <p:sp>
        <p:nvSpPr>
          <p:cNvPr id="12" name="t1-flowarrow polygon"/>
          <p:cNvSpPr/>
          <p:nvPr/>
        </p:nvSpPr>
        <p:spPr>
          <a:xfrm>
            <a:off x="7829550" y="1705372"/>
            <a:ext cx="63500" cy="69850"/>
          </a:xfrm>
          <a:custGeom>
            <a:avLst/>
            <a:gdLst/>
            <a:ahLst/>
            <a:cxnLst/>
            <a:rect l="0" t="0" r="r" b="b"/>
            <a:pathLst>
              <a:path w="63500" h="69850" stroke="0">
                <a:moveTo>
                  <a:pt x="63500" y="34925"/>
                </a:moveTo>
                <a:lnTo>
                  <a:pt x="0" y="0"/>
                </a:lnTo>
                <a:lnTo>
                  <a:pt x="0" y="69850"/>
                </a:lnTo>
                <a:close/>
              </a:path>
            </a:pathLst>
          </a:custGeom>
          <a:solidFill>
            <a:srgbClr val="102A4C"/>
          </a:solidFill>
          <a:ln>
            <a:noFill/>
          </a:ln>
        </p:spPr>
        <p:txBody>
          <a:bodyPr rtlCol="0" anchor="ctr"/>
          <a:lstStyle/>
          <a:p>
            <a:pPr algn="ctr"/>
            <a:endParaRPr lang="ko-KR" dirty="0"/>
          </a:p>
        </p:txBody>
      </p:sp>
      <p:sp>
        <p:nvSpPr>
          <p:cNvPr id="13" name="chip tint"/>
          <p:cNvSpPr/>
          <p:nvPr/>
        </p:nvSpPr>
        <p:spPr>
          <a:xfrm>
            <a:off x="612775" y="16291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4" name="t1-hd::after"/>
          <p:cNvSpPr/>
          <p:nvPr/>
        </p:nvSpPr>
        <p:spPr>
          <a:xfrm>
            <a:off x="3159125" y="1733947"/>
            <a:ext cx="803275" cy="12700"/>
          </a:xfrm>
          <a:prstGeom prst="roundRect">
            <a:avLst>
              <a:gd name="adj" fmla="val 50000"/>
            </a:avLst>
          </a:prstGeom>
          <a:solidFill>
            <a:srgbClr val="102A4C"/>
          </a:solidFill>
          <a:ln>
            <a:noFill/>
          </a:ln>
        </p:spPr>
        <p:txBody>
          <a:bodyPr rtlCol="0" anchor="ctr"/>
          <a:lstStyle/>
          <a:p>
            <a:pPr algn="ctr"/>
            <a:endParaRPr lang="ko-KR" dirty="0"/>
          </a:p>
        </p:txBody>
      </p:sp>
      <p:sp>
        <p:nvSpPr>
          <p:cNvPr id="15" name="t1-card r1"/>
          <p:cNvSpPr/>
          <p:nvPr/>
        </p:nvSpPr>
        <p:spPr>
          <a:xfrm>
            <a:off x="609600" y="1968897"/>
            <a:ext cx="3352800" cy="1930400"/>
          </a:xfrm>
          <a:prstGeom prst="roundRect">
            <a:avLst>
              <a:gd name="adj" fmla="val 6579"/>
            </a:avLst>
          </a:prstGeom>
          <a:solidFill>
            <a:srgbClr val="F3F5F8"/>
          </a:solidFill>
          <a:ln>
            <a:noFill/>
          </a:ln>
        </p:spPr>
        <p:txBody>
          <a:bodyPr rtlCol="0" anchor="ctr"/>
          <a:lstStyle/>
          <a:p>
            <a:pPr algn="ctr"/>
            <a:endParaRPr lang="ko-KR" dirty="0"/>
          </a:p>
        </p:txBody>
      </p:sp>
      <p:sp>
        <p:nvSpPr>
          <p:cNvPr id="16" name="svg line"/>
          <p:cNvSpPr/>
          <p:nvPr/>
        </p:nvSpPr>
        <p:spPr>
          <a:xfrm>
            <a:off x="1447800" y="2729607"/>
            <a:ext cx="1" cy="819150"/>
          </a:xfrm>
          <a:custGeom>
            <a:avLst/>
            <a:gdLst/>
            <a:ahLst/>
            <a:cxnLst/>
            <a:rect l="0" t="0" r="r" b="b"/>
            <a:pathLst>
              <a:path w="1" h="819150">
                <a:moveTo>
                  <a:pt x="0" y="0"/>
                </a:moveTo>
                <a:lnTo>
                  <a:pt x="0" y="819150"/>
                </a:lnTo>
              </a:path>
            </a:pathLst>
          </a:custGeom>
          <a:solidFill>
            <a:srgbClr val="000000"/>
          </a:solidFill>
          <a:ln w="12700">
            <a:solidFill>
              <a:srgbClr val="C8CFD8"/>
            </a:solidFill>
            <a:miter lim="800000"/>
          </a:ln>
        </p:spPr>
        <p:txBody>
          <a:bodyPr rtlCol="0" anchor="ctr"/>
          <a:lstStyle/>
          <a:p>
            <a:pPr algn="ctr"/>
            <a:endParaRPr lang="ko-KR" dirty="0"/>
          </a:p>
        </p:txBody>
      </p:sp>
      <p:sp>
        <p:nvSpPr>
          <p:cNvPr id="17" name="svg circle"/>
          <p:cNvSpPr/>
          <p:nvPr/>
        </p:nvSpPr>
        <p:spPr>
          <a:xfrm>
            <a:off x="1409700" y="2691507"/>
            <a:ext cx="76200" cy="76200"/>
          </a:xfrm>
          <a:prstGeom prst="ellipse">
            <a:avLst/>
          </a:prstGeom>
          <a:solidFill>
            <a:srgbClr val="2B4A78"/>
          </a:solidFill>
          <a:ln>
            <a:noFill/>
          </a:ln>
        </p:spPr>
        <p:txBody>
          <a:bodyPr rtlCol="0" anchor="ctr"/>
          <a:lstStyle/>
          <a:p>
            <a:pPr algn="ctr"/>
            <a:endParaRPr lang="ko-KR" dirty="0"/>
          </a:p>
        </p:txBody>
      </p:sp>
      <p:sp>
        <p:nvSpPr>
          <p:cNvPr id="18" name="svg circle"/>
          <p:cNvSpPr/>
          <p:nvPr/>
        </p:nvSpPr>
        <p:spPr>
          <a:xfrm>
            <a:off x="1409700" y="3155057"/>
            <a:ext cx="76200" cy="76200"/>
          </a:xfrm>
          <a:prstGeom prst="ellipse">
            <a:avLst/>
          </a:prstGeom>
          <a:solidFill>
            <a:srgbClr val="2B4A78"/>
          </a:solidFill>
          <a:ln>
            <a:noFill/>
          </a:ln>
        </p:spPr>
        <p:txBody>
          <a:bodyPr rtlCol="0" anchor="ctr"/>
          <a:lstStyle/>
          <a:p>
            <a:pPr algn="ctr"/>
            <a:endParaRPr lang="ko-KR" dirty="0"/>
          </a:p>
        </p:txBody>
      </p:sp>
      <p:sp>
        <p:nvSpPr>
          <p:cNvPr id="19" name="svg circle"/>
          <p:cNvSpPr/>
          <p:nvPr/>
        </p:nvSpPr>
        <p:spPr>
          <a:xfrm>
            <a:off x="1409700" y="3510657"/>
            <a:ext cx="76200" cy="76200"/>
          </a:xfrm>
          <a:prstGeom prst="ellipse">
            <a:avLst/>
          </a:prstGeom>
          <a:solidFill>
            <a:srgbClr val="2B4A78"/>
          </a:solidFill>
          <a:ln>
            <a:noFill/>
          </a:ln>
        </p:spPr>
        <p:txBody>
          <a:bodyPr rtlCol="0" anchor="ctr"/>
          <a:lstStyle/>
          <a:p>
            <a:pPr algn="ctr"/>
            <a:endParaRPr lang="ko-KR" dirty="0"/>
          </a:p>
        </p:txBody>
      </p:sp>
      <p:sp>
        <p:nvSpPr>
          <p:cNvPr id="20" name="t1-bar b1"/>
          <p:cNvSpPr/>
          <p:nvPr/>
        </p:nvSpPr>
        <p:spPr>
          <a:xfrm>
            <a:off x="1600200" y="2475607"/>
            <a:ext cx="2159000" cy="508000"/>
          </a:xfrm>
          <a:prstGeom prst="roundRect">
            <a:avLst>
              <a:gd name="adj" fmla="val 15000"/>
            </a:avLst>
          </a:prstGeom>
          <a:solidFill>
            <a:srgbClr val="E1E6EC"/>
          </a:solidFill>
          <a:ln>
            <a:noFill/>
          </a:ln>
        </p:spPr>
        <p:txBody>
          <a:bodyPr rtlCol="0" anchor="ctr"/>
          <a:lstStyle/>
          <a:p>
            <a:pPr algn="ctr"/>
            <a:endParaRPr lang="ko-KR" dirty="0"/>
          </a:p>
        </p:txBody>
      </p:sp>
      <p:sp>
        <p:nvSpPr>
          <p:cNvPr id="21" name="t1-bar b2"/>
          <p:cNvSpPr/>
          <p:nvPr/>
        </p:nvSpPr>
        <p:spPr>
          <a:xfrm>
            <a:off x="1600200" y="3047107"/>
            <a:ext cx="2159000" cy="292100"/>
          </a:xfrm>
          <a:prstGeom prst="roundRect">
            <a:avLst>
              <a:gd name="adj" fmla="val 26087"/>
            </a:avLst>
          </a:prstGeom>
          <a:solidFill>
            <a:srgbClr val="BFC9D7"/>
          </a:solidFill>
          <a:ln>
            <a:noFill/>
          </a:ln>
        </p:spPr>
        <p:txBody>
          <a:bodyPr rtlCol="0" anchor="ctr"/>
          <a:lstStyle/>
          <a:p>
            <a:pPr algn="ctr"/>
            <a:endParaRPr lang="ko-KR" dirty="0"/>
          </a:p>
        </p:txBody>
      </p:sp>
      <p:sp>
        <p:nvSpPr>
          <p:cNvPr id="22" name="t1-bar b3"/>
          <p:cNvSpPr/>
          <p:nvPr/>
        </p:nvSpPr>
        <p:spPr>
          <a:xfrm>
            <a:off x="1600200" y="3402707"/>
            <a:ext cx="2159000" cy="292100"/>
          </a:xfrm>
          <a:prstGeom prst="roundRect">
            <a:avLst>
              <a:gd name="adj" fmla="val 26087"/>
            </a:avLst>
          </a:prstGeom>
          <a:solidFill>
            <a:srgbClr val="2B4A78"/>
          </a:solidFill>
          <a:ln>
            <a:noFill/>
          </a:ln>
        </p:spPr>
        <p:txBody>
          <a:bodyPr rtlCol="0" anchor="ctr"/>
          <a:lstStyle/>
          <a:p>
            <a:pPr algn="ctr"/>
            <a:endParaRPr lang="ko-KR" dirty="0"/>
          </a:p>
        </p:txBody>
      </p:sp>
      <p:sp>
        <p:nvSpPr>
          <p:cNvPr id="23" name="t1-card r2 t1-rm"/>
          <p:cNvSpPr/>
          <p:nvPr/>
        </p:nvSpPr>
        <p:spPr>
          <a:xfrm>
            <a:off x="609600" y="4000897"/>
            <a:ext cx="3352800" cy="1498600"/>
          </a:xfrm>
          <a:prstGeom prst="roundRect">
            <a:avLst>
              <a:gd name="adj" fmla="val 8475"/>
            </a:avLst>
          </a:prstGeom>
          <a:solidFill>
            <a:srgbClr val="F3F5F8"/>
          </a:solidFill>
          <a:ln>
            <a:noFill/>
          </a:ln>
        </p:spPr>
        <p:txBody>
          <a:bodyPr rtlCol="0" anchor="ctr"/>
          <a:lstStyle/>
          <a:p>
            <a:pPr algn="ctr"/>
            <a:endParaRPr lang="ko-KR" dirty="0"/>
          </a:p>
        </p:txBody>
      </p:sp>
      <p:sp>
        <p:nvSpPr>
          <p:cNvPr id="24" name="svg line"/>
          <p:cNvSpPr/>
          <p:nvPr/>
        </p:nvSpPr>
        <p:spPr>
          <a:xfrm>
            <a:off x="901700" y="4736207"/>
            <a:ext cx="1117600" cy="1"/>
          </a:xfrm>
          <a:custGeom>
            <a:avLst/>
            <a:gdLst/>
            <a:ahLst/>
            <a:cxnLst/>
            <a:rect l="0" t="0" r="r" b="b"/>
            <a:pathLst>
              <a:path w="1117600" h="1">
                <a:moveTo>
                  <a:pt x="0" y="0"/>
                </a:moveTo>
                <a:lnTo>
                  <a:pt x="1117600" y="0"/>
                </a:lnTo>
              </a:path>
            </a:pathLst>
          </a:custGeom>
          <a:solidFill>
            <a:srgbClr val="000000"/>
          </a:solidFill>
          <a:ln w="12700">
            <a:solidFill>
              <a:srgbClr val="2B4A78"/>
            </a:solidFill>
            <a:miter lim="800000"/>
          </a:ln>
        </p:spPr>
        <p:txBody>
          <a:bodyPr rtlCol="0" anchor="ctr"/>
          <a:lstStyle/>
          <a:p>
            <a:pPr algn="ctr"/>
            <a:endParaRPr lang="ko-KR" dirty="0"/>
          </a:p>
        </p:txBody>
      </p:sp>
      <p:sp>
        <p:nvSpPr>
          <p:cNvPr id="25" name="svg polygon"/>
          <p:cNvSpPr/>
          <p:nvPr/>
        </p:nvSpPr>
        <p:spPr>
          <a:xfrm>
            <a:off x="2019300" y="4704457"/>
            <a:ext cx="63500" cy="63500"/>
          </a:xfrm>
          <a:custGeom>
            <a:avLst/>
            <a:gdLst/>
            <a:ahLst/>
            <a:cxnLst/>
            <a:rect l="0" t="0" r="r" b="b"/>
            <a:pathLst>
              <a:path w="63500" h="63500" stroke="0">
                <a:moveTo>
                  <a:pt x="63500" y="31750"/>
                </a:moveTo>
                <a:lnTo>
                  <a:pt x="0" y="0"/>
                </a:lnTo>
                <a:lnTo>
                  <a:pt x="0" y="63500"/>
                </a:lnTo>
                <a:close/>
              </a:path>
            </a:pathLst>
          </a:custGeom>
          <a:solidFill>
            <a:srgbClr val="2B4A78"/>
          </a:solidFill>
          <a:ln>
            <a:noFill/>
          </a:ln>
        </p:spPr>
        <p:txBody>
          <a:bodyPr rtlCol="0" anchor="ctr"/>
          <a:lstStyle/>
          <a:p>
            <a:pPr algn="ctr"/>
            <a:endParaRPr lang="ko-KR" dirty="0"/>
          </a:p>
        </p:txBody>
      </p:sp>
      <p:sp>
        <p:nvSpPr>
          <p:cNvPr id="26" name="svg circle"/>
          <p:cNvSpPr/>
          <p:nvPr/>
        </p:nvSpPr>
        <p:spPr>
          <a:xfrm>
            <a:off x="825500" y="4698107"/>
            <a:ext cx="76200" cy="76200"/>
          </a:xfrm>
          <a:prstGeom prst="ellipse">
            <a:avLst/>
          </a:prstGeom>
          <a:solidFill>
            <a:srgbClr val="FFFFFF"/>
          </a:solidFill>
          <a:ln w="15875">
            <a:solidFill>
              <a:srgbClr val="2B4A78"/>
            </a:solidFill>
            <a:miter lim="800000"/>
          </a:ln>
        </p:spPr>
        <p:txBody>
          <a:bodyPr rtlCol="0" anchor="ctr"/>
          <a:lstStyle/>
          <a:p>
            <a:pPr algn="ctr"/>
            <a:endParaRPr lang="ko-KR" dirty="0"/>
          </a:p>
        </p:txBody>
      </p:sp>
      <p:sp>
        <p:nvSpPr>
          <p:cNvPr id="27" name="svg circle"/>
          <p:cNvSpPr/>
          <p:nvPr/>
        </p:nvSpPr>
        <p:spPr>
          <a:xfrm>
            <a:off x="2108200" y="4698107"/>
            <a:ext cx="76200" cy="76200"/>
          </a:xfrm>
          <a:prstGeom prst="ellipse">
            <a:avLst/>
          </a:prstGeom>
          <a:solidFill>
            <a:srgbClr val="2B4A78"/>
          </a:solidFill>
          <a:ln>
            <a:noFill/>
          </a:ln>
        </p:spPr>
        <p:txBody>
          <a:bodyPr rtlCol="0" anchor="ctr"/>
          <a:lstStyle/>
          <a:p>
            <a:pPr algn="ctr"/>
            <a:endParaRPr lang="ko-KR" dirty="0"/>
          </a:p>
        </p:txBody>
      </p:sp>
      <p:sp>
        <p:nvSpPr>
          <p:cNvPr id="28" name="chip tint"/>
          <p:cNvSpPr/>
          <p:nvPr/>
        </p:nvSpPr>
        <p:spPr>
          <a:xfrm>
            <a:off x="4270375" y="16291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9" name="t1-hd::after"/>
          <p:cNvSpPr/>
          <p:nvPr/>
        </p:nvSpPr>
        <p:spPr>
          <a:xfrm>
            <a:off x="6987480" y="1733947"/>
            <a:ext cx="632520" cy="12700"/>
          </a:xfrm>
          <a:prstGeom prst="roundRect">
            <a:avLst>
              <a:gd name="adj" fmla="val 50000"/>
            </a:avLst>
          </a:prstGeom>
          <a:solidFill>
            <a:srgbClr val="102A4C"/>
          </a:solidFill>
          <a:ln>
            <a:noFill/>
          </a:ln>
        </p:spPr>
        <p:txBody>
          <a:bodyPr rtlCol="0" anchor="ctr"/>
          <a:lstStyle/>
          <a:p>
            <a:pPr algn="ctr"/>
            <a:endParaRPr lang="ko-KR" dirty="0"/>
          </a:p>
        </p:txBody>
      </p:sp>
      <p:sp>
        <p:nvSpPr>
          <p:cNvPr id="30" name="t1-card r1 t1-real t1-new"/>
          <p:cNvSpPr/>
          <p:nvPr/>
        </p:nvSpPr>
        <p:spPr>
          <a:xfrm>
            <a:off x="4267200" y="1968897"/>
            <a:ext cx="3352800" cy="1930400"/>
          </a:xfrm>
          <a:prstGeom prst="roundRect">
            <a:avLst>
              <a:gd name="adj" fmla="val 6579"/>
            </a:avLst>
          </a:prstGeom>
          <a:solidFill>
            <a:srgbClr val="F3F5F8"/>
          </a:solidFill>
          <a:ln>
            <a:noFill/>
          </a:ln>
        </p:spPr>
        <p:txBody>
          <a:bodyPr rtlCol="0" anchor="ctr"/>
          <a:lstStyle/>
          <a:p>
            <a:pPr algn="ctr"/>
            <a:endParaRPr lang="ko-KR" dirty="0"/>
          </a:p>
        </p:txBody>
      </p:sp>
      <p:sp>
        <p:nvSpPr>
          <p:cNvPr id="31" name="t1-ico"/>
          <p:cNvSpPr/>
          <p:nvPr/>
        </p:nvSpPr>
        <p:spPr>
          <a:xfrm>
            <a:off x="4470400" y="2121297"/>
            <a:ext cx="330200" cy="330200"/>
          </a:xfrm>
          <a:prstGeom prst="roundRect">
            <a:avLst>
              <a:gd name="adj" fmla="val 26923"/>
            </a:avLst>
          </a:prstGeom>
          <a:solidFill>
            <a:srgbClr val="FFFFFF"/>
          </a:solidFill>
          <a:ln>
            <a:noFill/>
          </a:ln>
        </p:spPr>
        <p:txBody>
          <a:bodyPr rtlCol="0" anchor="ctr"/>
          <a:lstStyle/>
          <a:p>
            <a:pPr algn="ctr"/>
            <a:endParaRPr lang="ko-KR" dirty="0"/>
          </a:p>
        </p:txBody>
      </p:sp>
      <p:sp>
        <p:nvSpPr>
          <p:cNvPr id="32" name="svg path"/>
          <p:cNvSpPr/>
          <p:nvPr/>
        </p:nvSpPr>
        <p:spPr>
          <a:xfrm>
            <a:off x="4559300" y="2203847"/>
            <a:ext cx="101600" cy="146050"/>
          </a:xfrm>
          <a:custGeom>
            <a:avLst/>
            <a:gdLst/>
            <a:ahLst/>
            <a:cxnLst/>
            <a:rect l="0" t="0" r="r" b="b"/>
            <a:pathLst>
              <a:path w="101600" h="146050" fill="none">
                <a:moveTo>
                  <a:pt x="0" y="0"/>
                </a:moveTo>
                <a:lnTo>
                  <a:pt x="69850" y="0"/>
                </a:lnTo>
                <a:lnTo>
                  <a:pt x="101600" y="31750"/>
                </a:lnTo>
                <a:lnTo>
                  <a:pt x="101600" y="146050"/>
                </a:lnTo>
                <a:lnTo>
                  <a:pt x="0" y="146050"/>
                </a:lnTo>
                <a:close/>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4629150" y="2203847"/>
            <a:ext cx="31750" cy="31750"/>
          </a:xfrm>
          <a:custGeom>
            <a:avLst/>
            <a:gdLst/>
            <a:ahLst/>
            <a:cxnLst/>
            <a:rect l="0" t="0" r="r" b="b"/>
            <a:pathLst>
              <a:path w="31750" h="31750" fill="none">
                <a:moveTo>
                  <a:pt x="0" y="0"/>
                </a:moveTo>
                <a:lnTo>
                  <a:pt x="0" y="31750"/>
                </a:lnTo>
                <a:lnTo>
                  <a:pt x="31750" y="31750"/>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4584700" y="2260997"/>
            <a:ext cx="31750" cy="28575"/>
          </a:xfrm>
          <a:custGeom>
            <a:avLst/>
            <a:gdLst/>
            <a:ahLst/>
            <a:cxnLst/>
            <a:rect l="0" t="0" r="r" b="b"/>
            <a:pathLst>
              <a:path w="31750" h="28575" fill="none">
                <a:moveTo>
                  <a:pt x="0" y="0"/>
                </a:moveTo>
                <a:lnTo>
                  <a:pt x="31750" y="0"/>
                </a:lnTo>
                <a:moveTo>
                  <a:pt x="0" y="28575"/>
                </a:moveTo>
                <a:lnTo>
                  <a:pt x="19050" y="28575"/>
                </a:lnTo>
              </a:path>
            </a:pathLst>
          </a:custGeom>
          <a:noFill/>
          <a:ln w="12700" cap="rnd">
            <a:solidFill>
              <a:srgbClr val="102A4C"/>
            </a:solidFill>
            <a:round/>
          </a:ln>
        </p:spPr>
        <p:txBody>
          <a:bodyPr rtlCol="0" anchor="ctr"/>
          <a:lstStyle/>
          <a:p>
            <a:pPr algn="ctr"/>
            <a:endParaRPr lang="ko-KR" dirty="0"/>
          </a:p>
        </p:txBody>
      </p:sp>
      <p:sp>
        <p:nvSpPr>
          <p:cNvPr id="35" name="svg path"/>
          <p:cNvSpPr/>
          <p:nvPr/>
        </p:nvSpPr>
        <p:spPr>
          <a:xfrm>
            <a:off x="4632325" y="2267347"/>
            <a:ext cx="95250" cy="104775"/>
          </a:xfrm>
          <a:custGeom>
            <a:avLst/>
            <a:gdLst/>
            <a:ahLst/>
            <a:cxnLst/>
            <a:rect l="0" t="0" r="r" b="b"/>
            <a:pathLst>
              <a:path w="95250" h="104775">
                <a:moveTo>
                  <a:pt x="47625" y="0"/>
                </a:moveTo>
                <a:lnTo>
                  <a:pt x="95250" y="25400"/>
                </a:lnTo>
                <a:lnTo>
                  <a:pt x="95250" y="79375"/>
                </a:lnTo>
                <a:lnTo>
                  <a:pt x="47625" y="104775"/>
                </a:lnTo>
                <a:lnTo>
                  <a:pt x="0" y="79375"/>
                </a:lnTo>
                <a:lnTo>
                  <a:pt x="0" y="2540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path"/>
          <p:cNvSpPr/>
          <p:nvPr/>
        </p:nvSpPr>
        <p:spPr>
          <a:xfrm>
            <a:off x="4632325" y="2292747"/>
            <a:ext cx="95250" cy="79375"/>
          </a:xfrm>
          <a:custGeom>
            <a:avLst/>
            <a:gdLst/>
            <a:ahLst/>
            <a:cxnLst/>
            <a:rect l="0" t="0" r="r" b="b"/>
            <a:pathLst>
              <a:path w="95250" h="79375" fill="none">
                <a:moveTo>
                  <a:pt x="0" y="0"/>
                </a:moveTo>
                <a:lnTo>
                  <a:pt x="47625" y="25400"/>
                </a:lnTo>
                <a:lnTo>
                  <a:pt x="95250" y="0"/>
                </a:lnTo>
                <a:moveTo>
                  <a:pt x="47625" y="25400"/>
                </a:moveTo>
                <a:lnTo>
                  <a:pt x="47625" y="79375"/>
                </a:lnTo>
              </a:path>
            </a:pathLst>
          </a:custGeom>
          <a:noFill/>
          <a:ln w="12700" cap="rnd">
            <a:solidFill>
              <a:srgbClr val="102A4C"/>
            </a:solidFill>
            <a:round/>
          </a:ln>
        </p:spPr>
        <p:txBody>
          <a:bodyPr rtlCol="0" anchor="ctr"/>
          <a:lstStyle/>
          <a:p>
            <a:pPr algn="ctr"/>
            <a:endParaRPr lang="ko-KR" dirty="0"/>
          </a:p>
        </p:txBody>
      </p:sp>
      <p:sp>
        <p:nvSpPr>
          <p:cNvPr id="37" name="t1-so"/>
          <p:cNvSpPr/>
          <p:nvPr/>
        </p:nvSpPr>
        <p:spPr>
          <a:xfrm>
            <a:off x="4470400" y="3225006"/>
            <a:ext cx="2946400" cy="330200"/>
          </a:xfrm>
          <a:prstGeom prst="roundRect">
            <a:avLst>
              <a:gd name="adj" fmla="val 23077"/>
            </a:avLst>
          </a:prstGeom>
          <a:solidFill>
            <a:srgbClr val="FFFFFF"/>
          </a:solidFill>
          <a:ln>
            <a:noFill/>
          </a:ln>
        </p:spPr>
        <p:txBody>
          <a:bodyPr rtlCol="0" anchor="ctr"/>
          <a:lstStyle/>
          <a:p>
            <a:pPr algn="ctr"/>
            <a:endParaRPr lang="ko-KR" dirty="0"/>
          </a:p>
        </p:txBody>
      </p:sp>
      <p:sp>
        <p:nvSpPr>
          <p:cNvPr id="38" name="svg path"/>
          <p:cNvSpPr/>
          <p:nvPr/>
        </p:nvSpPr>
        <p:spPr>
          <a:xfrm>
            <a:off x="4603750" y="3358356"/>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39" name="t1-card r2 t1-real"/>
          <p:cNvSpPr/>
          <p:nvPr/>
        </p:nvSpPr>
        <p:spPr>
          <a:xfrm>
            <a:off x="4267200" y="4000897"/>
            <a:ext cx="3352800" cy="1498600"/>
          </a:xfrm>
          <a:prstGeom prst="roundRect">
            <a:avLst>
              <a:gd name="adj" fmla="val 8475"/>
            </a:avLst>
          </a:prstGeom>
          <a:solidFill>
            <a:srgbClr val="F3F5F8"/>
          </a:solidFill>
          <a:ln>
            <a:noFill/>
          </a:ln>
        </p:spPr>
        <p:txBody>
          <a:bodyPr rtlCol="0" anchor="ctr"/>
          <a:lstStyle/>
          <a:p>
            <a:pPr algn="ctr"/>
            <a:endParaRPr lang="ko-KR" dirty="0"/>
          </a:p>
        </p:txBody>
      </p:sp>
      <p:sp>
        <p:nvSpPr>
          <p:cNvPr id="40" name="t1-ico"/>
          <p:cNvSpPr/>
          <p:nvPr/>
        </p:nvSpPr>
        <p:spPr>
          <a:xfrm>
            <a:off x="4470400" y="4140597"/>
            <a:ext cx="330200" cy="330200"/>
          </a:xfrm>
          <a:prstGeom prst="roundRect">
            <a:avLst>
              <a:gd name="adj" fmla="val 26923"/>
            </a:avLst>
          </a:prstGeom>
          <a:solidFill>
            <a:srgbClr val="FFFFFF"/>
          </a:solidFill>
          <a:ln>
            <a:noFill/>
          </a:ln>
        </p:spPr>
        <p:txBody>
          <a:bodyPr rtlCol="0" anchor="ctr"/>
          <a:lstStyle/>
          <a:p>
            <a:pPr algn="ctr"/>
            <a:endParaRPr lang="ko-KR" dirty="0"/>
          </a:p>
        </p:txBody>
      </p:sp>
      <p:sp>
        <p:nvSpPr>
          <p:cNvPr id="41" name="svg path"/>
          <p:cNvSpPr/>
          <p:nvPr/>
        </p:nvSpPr>
        <p:spPr>
          <a:xfrm>
            <a:off x="4572000" y="4235847"/>
            <a:ext cx="95250" cy="152400"/>
          </a:xfrm>
          <a:custGeom>
            <a:avLst/>
            <a:gdLst/>
            <a:ahLst/>
            <a:cxnLst/>
            <a:rect l="0" t="0" r="r" b="b"/>
            <a:pathLst>
              <a:path w="95250" h="152400" fill="none">
                <a:moveTo>
                  <a:pt x="0" y="152400"/>
                </a:moveTo>
                <a:lnTo>
                  <a:pt x="0" y="0"/>
                </a:lnTo>
                <a:lnTo>
                  <a:pt x="95250" y="0"/>
                </a:lnTo>
                <a:lnTo>
                  <a:pt x="95250" y="1524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4667250" y="4286647"/>
            <a:ext cx="38100" cy="101600"/>
          </a:xfrm>
          <a:custGeom>
            <a:avLst/>
            <a:gdLst/>
            <a:ahLst/>
            <a:cxnLst/>
            <a:rect l="0" t="0" r="r" b="b"/>
            <a:pathLst>
              <a:path w="38100" h="101600" fill="none">
                <a:moveTo>
                  <a:pt x="0" y="0"/>
                </a:moveTo>
                <a:lnTo>
                  <a:pt x="38100" y="0"/>
                </a:lnTo>
                <a:lnTo>
                  <a:pt x="38100" y="10160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4552950" y="4388247"/>
            <a:ext cx="171450" cy="1"/>
          </a:xfrm>
          <a:custGeom>
            <a:avLst/>
            <a:gdLst/>
            <a:ahLst/>
            <a:cxnLst/>
            <a:rect l="0" t="0" r="r" b="b"/>
            <a:pathLst>
              <a:path w="171450" h="1" fill="none">
                <a:moveTo>
                  <a:pt x="0" y="0"/>
                </a:moveTo>
                <a:lnTo>
                  <a:pt x="171450" y="0"/>
                </a:lnTo>
              </a:path>
            </a:pathLst>
          </a:custGeom>
          <a:noFill/>
          <a:ln w="12700" cap="rnd">
            <a:solidFill>
              <a:srgbClr val="102A4C"/>
            </a:solidFill>
            <a:round/>
          </a:ln>
        </p:spPr>
        <p:txBody>
          <a:bodyPr rtlCol="0" anchor="ctr"/>
          <a:lstStyle/>
          <a:p>
            <a:pPr algn="ctr"/>
            <a:endParaRPr lang="ko-KR" dirty="0"/>
          </a:p>
        </p:txBody>
      </p:sp>
      <p:sp>
        <p:nvSpPr>
          <p:cNvPr id="44" name="svg path"/>
          <p:cNvSpPr/>
          <p:nvPr/>
        </p:nvSpPr>
        <p:spPr>
          <a:xfrm>
            <a:off x="4597400" y="4267597"/>
            <a:ext cx="44450" cy="63500"/>
          </a:xfrm>
          <a:custGeom>
            <a:avLst/>
            <a:gdLst/>
            <a:ahLst/>
            <a:cxnLst/>
            <a:rect l="0" t="0" r="r" b="b"/>
            <a:pathLst>
              <a:path w="44450" h="63500" fill="none">
                <a:moveTo>
                  <a:pt x="0" y="0"/>
                </a:moveTo>
                <a:lnTo>
                  <a:pt x="12700" y="0"/>
                </a:lnTo>
                <a:moveTo>
                  <a:pt x="31750" y="0"/>
                </a:moveTo>
                <a:lnTo>
                  <a:pt x="44450" y="0"/>
                </a:lnTo>
                <a:moveTo>
                  <a:pt x="0" y="31750"/>
                </a:moveTo>
                <a:lnTo>
                  <a:pt x="12700" y="31750"/>
                </a:lnTo>
                <a:moveTo>
                  <a:pt x="31750" y="31750"/>
                </a:moveTo>
                <a:lnTo>
                  <a:pt x="44450" y="31750"/>
                </a:lnTo>
                <a:moveTo>
                  <a:pt x="0" y="63500"/>
                </a:moveTo>
                <a:lnTo>
                  <a:pt x="12700" y="63500"/>
                </a:lnTo>
                <a:moveTo>
                  <a:pt x="31750" y="63500"/>
                </a:moveTo>
                <a:lnTo>
                  <a:pt x="44450" y="63500"/>
                </a:lnTo>
              </a:path>
            </a:pathLst>
          </a:custGeom>
          <a:noFill/>
          <a:ln w="12700" cap="rnd">
            <a:solidFill>
              <a:srgbClr val="102A4C"/>
            </a:solidFill>
            <a:round/>
          </a:ln>
        </p:spPr>
        <p:txBody>
          <a:bodyPr rtlCol="0" anchor="ctr"/>
          <a:lstStyle/>
          <a:p>
            <a:pPr algn="ctr"/>
            <a:endParaRPr lang="ko-KR" dirty="0"/>
          </a:p>
        </p:txBody>
      </p:sp>
      <p:sp>
        <p:nvSpPr>
          <p:cNvPr id="45" name="svg path"/>
          <p:cNvSpPr/>
          <p:nvPr/>
        </p:nvSpPr>
        <p:spPr>
          <a:xfrm>
            <a:off x="4610100" y="4362847"/>
            <a:ext cx="19050" cy="25400"/>
          </a:xfrm>
          <a:custGeom>
            <a:avLst/>
            <a:gdLst/>
            <a:ahLst/>
            <a:cxnLst/>
            <a:rect l="0" t="0" r="r" b="b"/>
            <a:pathLst>
              <a:path w="19050" h="25400" fill="none">
                <a:moveTo>
                  <a:pt x="0" y="25400"/>
                </a:moveTo>
                <a:lnTo>
                  <a:pt x="0" y="0"/>
                </a:lnTo>
                <a:lnTo>
                  <a:pt x="19050" y="0"/>
                </a:lnTo>
                <a:lnTo>
                  <a:pt x="19050" y="25400"/>
                </a:lnTo>
              </a:path>
            </a:pathLst>
          </a:custGeom>
          <a:noFill/>
          <a:ln w="12700" cap="rnd">
            <a:solidFill>
              <a:srgbClr val="102A4C"/>
            </a:solidFill>
            <a:round/>
          </a:ln>
        </p:spPr>
        <p:txBody>
          <a:bodyPr rtlCol="0" anchor="ctr"/>
          <a:lstStyle/>
          <a:p>
            <a:pPr algn="ctr"/>
            <a:endParaRPr lang="ko-KR" dirty="0"/>
          </a:p>
        </p:txBody>
      </p:sp>
      <p:sp>
        <p:nvSpPr>
          <p:cNvPr id="46" name="t1-so"/>
          <p:cNvSpPr/>
          <p:nvPr/>
        </p:nvSpPr>
        <p:spPr>
          <a:xfrm>
            <a:off x="4470400" y="4991497"/>
            <a:ext cx="2946400" cy="330200"/>
          </a:xfrm>
          <a:prstGeom prst="roundRect">
            <a:avLst>
              <a:gd name="adj" fmla="val 23077"/>
            </a:avLst>
          </a:prstGeom>
          <a:solidFill>
            <a:srgbClr val="FFFFFF"/>
          </a:solidFill>
          <a:ln>
            <a:noFill/>
          </a:ln>
        </p:spPr>
        <p:txBody>
          <a:bodyPr rtlCol="0" anchor="ctr"/>
          <a:lstStyle/>
          <a:p>
            <a:pPr algn="ctr"/>
            <a:endParaRPr lang="ko-KR" dirty="0"/>
          </a:p>
        </p:txBody>
      </p:sp>
      <p:sp>
        <p:nvSpPr>
          <p:cNvPr id="47" name="svg path"/>
          <p:cNvSpPr/>
          <p:nvPr/>
        </p:nvSpPr>
        <p:spPr>
          <a:xfrm>
            <a:off x="4603750" y="512484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48" name="chip navy"/>
          <p:cNvSpPr/>
          <p:nvPr/>
        </p:nvSpPr>
        <p:spPr>
          <a:xfrm>
            <a:off x="7927975" y="1629172"/>
            <a:ext cx="391914" cy="222250"/>
          </a:xfrm>
          <a:prstGeom prst="roundRect">
            <a:avLst>
              <a:gd name="adj" fmla="val 50000"/>
            </a:avLst>
          </a:prstGeom>
          <a:solidFill>
            <a:srgbClr val="102A4C"/>
          </a:solidFill>
          <a:ln w="6350">
            <a:solidFill>
              <a:srgbClr val="102A4C"/>
            </a:solidFill>
            <a:miter lim="800000"/>
          </a:ln>
        </p:spPr>
        <p:txBody>
          <a:bodyPr rtlCol="0" anchor="ctr"/>
          <a:lstStyle/>
          <a:p>
            <a:pPr algn="ctr"/>
            <a:endParaRPr lang="ko-KR" dirty="0"/>
          </a:p>
        </p:txBody>
      </p:sp>
      <p:sp>
        <p:nvSpPr>
          <p:cNvPr id="49" name="t1-hd::after"/>
          <p:cNvSpPr/>
          <p:nvPr/>
        </p:nvSpPr>
        <p:spPr>
          <a:xfrm>
            <a:off x="10430768" y="1733947"/>
            <a:ext cx="1151632" cy="12700"/>
          </a:xfrm>
          <a:prstGeom prst="roundRect">
            <a:avLst>
              <a:gd name="adj" fmla="val 50000"/>
            </a:avLst>
          </a:prstGeom>
          <a:solidFill>
            <a:srgbClr val="102A4C"/>
          </a:solidFill>
          <a:ln>
            <a:noFill/>
          </a:ln>
        </p:spPr>
        <p:txBody>
          <a:bodyPr rtlCol="0" anchor="ctr"/>
          <a:lstStyle/>
          <a:p>
            <a:pPr algn="ctr"/>
            <a:endParaRPr lang="ko-KR" dirty="0"/>
          </a:p>
        </p:txBody>
      </p:sp>
      <p:sp>
        <p:nvSpPr>
          <p:cNvPr id="50" name="t1-card full t1-prob"/>
          <p:cNvSpPr/>
          <p:nvPr/>
        </p:nvSpPr>
        <p:spPr>
          <a:xfrm>
            <a:off x="7931150" y="1975247"/>
            <a:ext cx="3644900" cy="3517900"/>
          </a:xfrm>
          <a:prstGeom prst="roundRect">
            <a:avLst>
              <a:gd name="adj" fmla="val 3430"/>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1" name="t1-sheet"/>
          <p:cNvSpPr/>
          <p:nvPr/>
        </p:nvSpPr>
        <p:spPr>
          <a:xfrm>
            <a:off x="8385175" y="2175272"/>
            <a:ext cx="628650" cy="628650"/>
          </a:xfrm>
          <a:prstGeom prst="roundRect">
            <a:avLst>
              <a:gd name="adj" fmla="val 5556"/>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52" name="img" descr="img">    </p:cNvPr>
          <p:cNvPicPr>
            <a:picLocks noChangeAspect="1"/>
          </p:cNvPicPr>
          <p:nvPr/>
        </p:nvPicPr>
        <p:blipFill>
          <a:blip r:embed="rId1"/>
          <a:stretch>
            <a:fillRect/>
          </a:stretch>
        </p:blipFill>
        <p:spPr>
          <a:xfrm>
            <a:off x="8388350" y="2178447"/>
            <a:ext cx="622300" cy="622300"/>
          </a:xfrm>
          <a:prstGeom prst="rect">
            <a:avLst/>
          </a:prstGeom>
        </p:spPr>
      </p:pic>
      <p:sp>
        <p:nvSpPr>
          <p:cNvPr id="53" name="t1-sheet"/>
          <p:cNvSpPr/>
          <p:nvPr/>
        </p:nvSpPr>
        <p:spPr>
          <a:xfrm>
            <a:off x="8131175" y="2365772"/>
            <a:ext cx="628650" cy="628650"/>
          </a:xfrm>
          <a:prstGeom prst="roundRect">
            <a:avLst>
              <a:gd name="adj" fmla="val 5556"/>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54" name="img" descr="img">    </p:cNvPr>
          <p:cNvPicPr>
            <a:picLocks noChangeAspect="1"/>
          </p:cNvPicPr>
          <p:nvPr/>
        </p:nvPicPr>
        <p:blipFill>
          <a:blip r:embed="rId2"/>
          <a:stretch>
            <a:fillRect/>
          </a:stretch>
        </p:blipFill>
        <p:spPr>
          <a:xfrm>
            <a:off x="8134350" y="2368947"/>
            <a:ext cx="622300" cy="622300"/>
          </a:xfrm>
          <a:prstGeom prst="rect">
            <a:avLst/>
          </a:prstGeom>
        </p:spPr>
      </p:pic>
      <p:sp>
        <p:nvSpPr>
          <p:cNvPr id="55" name="svg line"/>
          <p:cNvSpPr/>
          <p:nvPr/>
        </p:nvSpPr>
        <p:spPr>
          <a:xfrm>
            <a:off x="9118600" y="2584847"/>
            <a:ext cx="165100" cy="1"/>
          </a:xfrm>
          <a:custGeom>
            <a:avLst/>
            <a:gdLst/>
            <a:ahLst/>
            <a:cxnLst/>
            <a:rect l="0" t="0" r="r" b="b"/>
            <a:pathLst>
              <a:path w="165100" h="1">
                <a:moveTo>
                  <a:pt x="0" y="0"/>
                </a:moveTo>
                <a:lnTo>
                  <a:pt x="1651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56" name="svg polygon"/>
          <p:cNvSpPr/>
          <p:nvPr/>
        </p:nvSpPr>
        <p:spPr>
          <a:xfrm>
            <a:off x="9277350" y="254674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57" name="svg line"/>
          <p:cNvSpPr/>
          <p:nvPr/>
        </p:nvSpPr>
        <p:spPr>
          <a:xfrm>
            <a:off x="10147300" y="2584847"/>
            <a:ext cx="165100" cy="1"/>
          </a:xfrm>
          <a:custGeom>
            <a:avLst/>
            <a:gdLst/>
            <a:ahLst/>
            <a:cxnLst/>
            <a:rect l="0" t="0" r="r" b="b"/>
            <a:pathLst>
              <a:path w="165100" h="1">
                <a:moveTo>
                  <a:pt x="0" y="0"/>
                </a:moveTo>
                <a:lnTo>
                  <a:pt x="1651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58" name="svg polygon"/>
          <p:cNvSpPr/>
          <p:nvPr/>
        </p:nvSpPr>
        <p:spPr>
          <a:xfrm>
            <a:off x="10306050" y="254674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59" name="svg circle"/>
          <p:cNvSpPr/>
          <p:nvPr/>
        </p:nvSpPr>
        <p:spPr>
          <a:xfrm>
            <a:off x="9417050" y="2254647"/>
            <a:ext cx="660400" cy="660400"/>
          </a:xfrm>
          <a:prstGeom prst="ellipse">
            <a:avLst/>
          </a:prstGeom>
          <a:solidFill>
            <a:srgbClr val="102A4C"/>
          </a:solidFill>
          <a:ln>
            <a:noFill/>
          </a:ln>
        </p:spPr>
        <p:txBody>
          <a:bodyPr rtlCol="0" anchor="ctr"/>
          <a:lstStyle/>
          <a:p>
            <a:pPr algn="ctr"/>
            <a:endParaRPr lang="ko-KR" dirty="0"/>
          </a:p>
        </p:txBody>
      </p:sp>
      <p:sp>
        <p:nvSpPr>
          <p:cNvPr id="60" name="svg rect"/>
          <p:cNvSpPr/>
          <p:nvPr/>
        </p:nvSpPr>
        <p:spPr>
          <a:xfrm>
            <a:off x="9683115" y="2438797"/>
            <a:ext cx="265430" cy="182880"/>
          </a:xfrm>
          <a:prstGeom prst="roundRect">
            <a:avLst>
              <a:gd name="adj" fmla="val 10417"/>
            </a:avLst>
          </a:prstGeom>
          <a:noFill/>
          <a:ln w="13970" cap="rnd">
            <a:solidFill>
              <a:srgbClr val="FFFFFF"/>
            </a:solidFill>
            <a:round/>
          </a:ln>
        </p:spPr>
        <p:txBody>
          <a:bodyPr rtlCol="0" anchor="ctr"/>
          <a:lstStyle/>
          <a:p>
            <a:pPr algn="ctr"/>
            <a:endParaRPr lang="ko-KR" dirty="0"/>
          </a:p>
        </p:txBody>
      </p:sp>
      <p:sp>
        <p:nvSpPr>
          <p:cNvPr id="61" name="svg path"/>
          <p:cNvSpPr/>
          <p:nvPr/>
        </p:nvSpPr>
        <p:spPr>
          <a:xfrm>
            <a:off x="9765665" y="2621677"/>
            <a:ext cx="100330" cy="45720"/>
          </a:xfrm>
          <a:custGeom>
            <a:avLst/>
            <a:gdLst/>
            <a:ahLst/>
            <a:cxnLst/>
            <a:rect l="0" t="0" r="r" b="b"/>
            <a:pathLst>
              <a:path w="100330" h="45720" fill="none">
                <a:moveTo>
                  <a:pt x="50165" y="0"/>
                </a:moveTo>
                <a:lnTo>
                  <a:pt x="50165" y="45720"/>
                </a:lnTo>
                <a:moveTo>
                  <a:pt x="0" y="45720"/>
                </a:moveTo>
                <a:lnTo>
                  <a:pt x="100330" y="45720"/>
                </a:lnTo>
              </a:path>
            </a:pathLst>
          </a:custGeom>
          <a:noFill/>
          <a:ln w="13970" cap="rnd">
            <a:solidFill>
              <a:srgbClr val="FFFFFF"/>
            </a:solidFill>
            <a:round/>
          </a:ln>
        </p:spPr>
        <p:txBody>
          <a:bodyPr rtlCol="0" anchor="ctr"/>
          <a:lstStyle/>
          <a:p>
            <a:pPr algn="ctr"/>
            <a:endParaRPr lang="ko-KR" dirty="0"/>
          </a:p>
        </p:txBody>
      </p:sp>
      <p:sp>
        <p:nvSpPr>
          <p:cNvPr id="62" name="svg path"/>
          <p:cNvSpPr/>
          <p:nvPr/>
        </p:nvSpPr>
        <p:spPr>
          <a:xfrm>
            <a:off x="9765665" y="2479437"/>
            <a:ext cx="100330" cy="109855"/>
          </a:xfrm>
          <a:custGeom>
            <a:avLst/>
            <a:gdLst/>
            <a:ahLst/>
            <a:cxnLst/>
            <a:rect l="0" t="0" r="r" b="b"/>
            <a:pathLst>
              <a:path w="100330" h="109855" fill="none">
                <a:moveTo>
                  <a:pt x="50165" y="0"/>
                </a:moveTo>
                <a:lnTo>
                  <a:pt x="100330" y="27940"/>
                </a:lnTo>
                <a:lnTo>
                  <a:pt x="50165" y="55245"/>
                </a:lnTo>
                <a:lnTo>
                  <a:pt x="0" y="27940"/>
                </a:lnTo>
                <a:close/>
                <a:moveTo>
                  <a:pt x="0" y="27940"/>
                </a:moveTo>
                <a:lnTo>
                  <a:pt x="0" y="82550"/>
                </a:lnTo>
                <a:lnTo>
                  <a:pt x="50165" y="109855"/>
                </a:lnTo>
                <a:lnTo>
                  <a:pt x="50165" y="55245"/>
                </a:lnTo>
                <a:moveTo>
                  <a:pt x="100330" y="27940"/>
                </a:moveTo>
                <a:lnTo>
                  <a:pt x="100330" y="82550"/>
                </a:lnTo>
                <a:lnTo>
                  <a:pt x="50165" y="109855"/>
                </a:lnTo>
              </a:path>
            </a:pathLst>
          </a:custGeom>
          <a:noFill/>
          <a:ln w="13970" cap="rnd">
            <a:solidFill>
              <a:srgbClr val="FFFFFF"/>
            </a:solidFill>
            <a:round/>
          </a:ln>
        </p:spPr>
        <p:txBody>
          <a:bodyPr rtlCol="0" anchor="ctr"/>
          <a:lstStyle/>
          <a:p>
            <a:pPr algn="ctr"/>
            <a:endParaRPr lang="ko-KR" dirty="0"/>
          </a:p>
        </p:txBody>
      </p:sp>
      <p:sp>
        <p:nvSpPr>
          <p:cNvPr id="63" name="svg circle"/>
          <p:cNvSpPr/>
          <p:nvPr/>
        </p:nvSpPr>
        <p:spPr>
          <a:xfrm>
            <a:off x="9587230" y="2534682"/>
            <a:ext cx="82550" cy="82550"/>
          </a:xfrm>
          <a:prstGeom prst="ellipse">
            <a:avLst/>
          </a:prstGeom>
          <a:noFill/>
          <a:ln w="13970" cap="rnd">
            <a:solidFill>
              <a:srgbClr val="FFFFFF"/>
            </a:solidFill>
            <a:round/>
          </a:ln>
        </p:spPr>
        <p:txBody>
          <a:bodyPr rtlCol="0" anchor="ctr"/>
          <a:lstStyle/>
          <a:p>
            <a:pPr algn="ctr"/>
            <a:endParaRPr lang="ko-KR" dirty="0"/>
          </a:p>
        </p:txBody>
      </p:sp>
      <p:sp>
        <p:nvSpPr>
          <p:cNvPr id="64" name="svg path"/>
          <p:cNvSpPr/>
          <p:nvPr/>
        </p:nvSpPr>
        <p:spPr>
          <a:xfrm>
            <a:off x="9545955" y="2657872"/>
            <a:ext cx="164465" cy="109855"/>
          </a:xfrm>
          <a:custGeom>
            <a:avLst/>
            <a:gdLst/>
            <a:ahLst/>
            <a:cxnLst/>
            <a:rect l="0" t="0" r="r" b="b"/>
            <a:pathLst>
              <a:path w="164465" h="109855" fill="none">
                <a:moveTo>
                  <a:pt x="0" y="109855"/>
                </a:moveTo>
                <a:cubicBezTo>
                  <a:pt x="0" y="36830"/>
                  <a:pt x="36830" y="0"/>
                  <a:pt x="82550" y="0"/>
                </a:cubicBezTo>
                <a:cubicBezTo>
                  <a:pt x="128270" y="0"/>
                  <a:pt x="164465" y="36830"/>
                  <a:pt x="164465" y="109855"/>
                </a:cubicBezTo>
              </a:path>
            </a:pathLst>
          </a:custGeom>
          <a:noFill/>
          <a:ln w="13970" cap="rnd">
            <a:solidFill>
              <a:srgbClr val="FFFFFF"/>
            </a:solidFill>
            <a:round/>
          </a:ln>
        </p:spPr>
        <p:txBody>
          <a:bodyPr rtlCol="0" anchor="ctr"/>
          <a:lstStyle/>
          <a:p>
            <a:pPr algn="ctr"/>
            <a:endParaRPr lang="ko-KR" dirty="0"/>
          </a:p>
        </p:txBody>
      </p:sp>
      <p:sp>
        <p:nvSpPr>
          <p:cNvPr id="65" name="svg path"/>
          <p:cNvSpPr/>
          <p:nvPr/>
        </p:nvSpPr>
        <p:spPr>
          <a:xfrm>
            <a:off x="9527540" y="2767727"/>
            <a:ext cx="439420" cy="1"/>
          </a:xfrm>
          <a:custGeom>
            <a:avLst/>
            <a:gdLst/>
            <a:ahLst/>
            <a:cxnLst/>
            <a:rect l="0" t="0" r="r" b="b"/>
            <a:pathLst>
              <a:path w="439420" h="1" fill="none">
                <a:moveTo>
                  <a:pt x="0" y="0"/>
                </a:moveTo>
                <a:lnTo>
                  <a:pt x="439420" y="0"/>
                </a:lnTo>
              </a:path>
            </a:pathLst>
          </a:custGeom>
          <a:noFill/>
          <a:ln w="13970" cap="rnd">
            <a:solidFill>
              <a:srgbClr val="FFFFFF"/>
            </a:solidFill>
            <a:round/>
          </a:ln>
        </p:spPr>
        <p:txBody>
          <a:bodyPr rtlCol="0" anchor="ctr"/>
          <a:lstStyle/>
          <a:p>
            <a:pPr algn="ctr"/>
            <a:endParaRPr lang="ko-KR" dirty="0"/>
          </a:p>
        </p:txBody>
      </p:sp>
      <p:sp>
        <p:nvSpPr>
          <p:cNvPr id="66" name="fig t1-bim"/>
          <p:cNvSpPr/>
          <p:nvPr/>
        </p:nvSpPr>
        <p:spPr>
          <a:xfrm>
            <a:off x="10429875" y="2175272"/>
            <a:ext cx="946150" cy="819150"/>
          </a:xfrm>
          <a:prstGeom prst="roundRect">
            <a:avLst>
              <a:gd name="adj" fmla="val 8915"/>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67" name="img" descr="img">    </p:cNvPr>
          <p:cNvPicPr>
            <a:picLocks noChangeAspect="1"/>
          </p:cNvPicPr>
          <p:nvPr/>
        </p:nvPicPr>
        <p:blipFill>
          <a:blip r:embed="rId3"/>
          <a:stretch>
            <a:fillRect/>
          </a:stretch>
        </p:blipFill>
        <p:spPr>
          <a:xfrm>
            <a:off x="10433050" y="2178447"/>
            <a:ext cx="939800" cy="812800"/>
          </a:xfrm>
          <a:prstGeom prst="rect">
            <a:avLst/>
          </a:prstGeom>
        </p:spPr>
      </p:pic>
      <p:sp>
        <p:nvSpPr>
          <p:cNvPr id="68" name="t1-div"/>
          <p:cNvSpPr/>
          <p:nvPr/>
        </p:nvSpPr>
        <p:spPr>
          <a:xfrm>
            <a:off x="8128000" y="3334147"/>
            <a:ext cx="3251200" cy="9525"/>
          </a:xfrm>
          <a:prstGeom prst="rect">
            <a:avLst/>
          </a:prstGeom>
          <a:solidFill>
            <a:srgbClr val="C8CFD8"/>
          </a:solidFill>
          <a:ln>
            <a:noFill/>
          </a:ln>
        </p:spPr>
        <p:txBody>
          <a:bodyPr rtlCol="0" anchor="ctr"/>
          <a:lstStyle/>
          <a:p>
            <a:pPr algn="ctr"/>
            <a:endParaRPr lang="ko-KR" dirty="0"/>
          </a:p>
        </p:txBody>
      </p:sp>
      <p:sp>
        <p:nvSpPr>
          <p:cNvPr id="69" name="no"/>
          <p:cNvSpPr/>
          <p:nvPr/>
        </p:nvSpPr>
        <p:spPr>
          <a:xfrm>
            <a:off x="8128000" y="3489722"/>
            <a:ext cx="254000" cy="254000"/>
          </a:xfrm>
          <a:prstGeom prst="ellipse">
            <a:avLst/>
          </a:prstGeom>
          <a:solidFill>
            <a:srgbClr val="102A4C"/>
          </a:solidFill>
          <a:ln>
            <a:noFill/>
          </a:ln>
        </p:spPr>
        <p:txBody>
          <a:bodyPr rtlCol="0" anchor="ctr"/>
          <a:lstStyle/>
          <a:p>
            <a:pPr algn="ctr"/>
            <a:endParaRPr lang="ko-KR" dirty="0"/>
          </a:p>
        </p:txBody>
      </p:sp>
      <p:sp>
        <p:nvSpPr>
          <p:cNvPr id="70" name="svg path"/>
          <p:cNvSpPr/>
          <p:nvPr/>
        </p:nvSpPr>
        <p:spPr>
          <a:xfrm>
            <a:off x="11188700" y="3521472"/>
            <a:ext cx="127000" cy="190500"/>
          </a:xfrm>
          <a:custGeom>
            <a:avLst/>
            <a:gdLst/>
            <a:ahLst/>
            <a:cxnLst/>
            <a:rect l="0" t="0" r="r" b="b"/>
            <a:pathLst>
              <a:path w="127000" h="190500" fill="none">
                <a:moveTo>
                  <a:pt x="0" y="0"/>
                </a:moveTo>
                <a:lnTo>
                  <a:pt x="88900" y="0"/>
                </a:lnTo>
                <a:lnTo>
                  <a:pt x="127000" y="38100"/>
                </a:lnTo>
                <a:lnTo>
                  <a:pt x="127000" y="190500"/>
                </a:lnTo>
                <a:lnTo>
                  <a:pt x="0" y="190500"/>
                </a:lnTo>
                <a:close/>
              </a:path>
            </a:pathLst>
          </a:custGeom>
          <a:noFill/>
          <a:ln w="12700" cap="rnd">
            <a:solidFill>
              <a:srgbClr val="102A4C"/>
            </a:solidFill>
            <a:round/>
          </a:ln>
        </p:spPr>
        <p:txBody>
          <a:bodyPr rtlCol="0" anchor="ctr"/>
          <a:lstStyle/>
          <a:p>
            <a:pPr algn="ctr"/>
            <a:endParaRPr lang="ko-KR" dirty="0"/>
          </a:p>
        </p:txBody>
      </p:sp>
      <p:sp>
        <p:nvSpPr>
          <p:cNvPr id="71" name="svg path"/>
          <p:cNvSpPr/>
          <p:nvPr/>
        </p:nvSpPr>
        <p:spPr>
          <a:xfrm>
            <a:off x="11277600" y="3521472"/>
            <a:ext cx="38100" cy="38100"/>
          </a:xfrm>
          <a:custGeom>
            <a:avLst/>
            <a:gdLst/>
            <a:ahLst/>
            <a:cxnLst/>
            <a:rect l="0" t="0" r="r" b="b"/>
            <a:pathLst>
              <a:path w="38100" h="38100" fill="none">
                <a:moveTo>
                  <a:pt x="0" y="0"/>
                </a:moveTo>
                <a:lnTo>
                  <a:pt x="0" y="38100"/>
                </a:lnTo>
                <a:lnTo>
                  <a:pt x="38100" y="38100"/>
                </a:lnTo>
              </a:path>
            </a:pathLst>
          </a:custGeom>
          <a:noFill/>
          <a:ln w="12700" cap="rnd">
            <a:solidFill>
              <a:srgbClr val="102A4C"/>
            </a:solidFill>
            <a:round/>
          </a:ln>
        </p:spPr>
        <p:txBody>
          <a:bodyPr rtlCol="0" anchor="ctr"/>
          <a:lstStyle/>
          <a:p>
            <a:pPr algn="ctr"/>
            <a:endParaRPr lang="ko-KR" dirty="0"/>
          </a:p>
        </p:txBody>
      </p:sp>
      <p:sp>
        <p:nvSpPr>
          <p:cNvPr id="72" name="svg path"/>
          <p:cNvSpPr/>
          <p:nvPr/>
        </p:nvSpPr>
        <p:spPr>
          <a:xfrm>
            <a:off x="11214100" y="3597672"/>
            <a:ext cx="63500" cy="31750"/>
          </a:xfrm>
          <a:custGeom>
            <a:avLst/>
            <a:gdLst/>
            <a:ahLst/>
            <a:cxnLst/>
            <a:rect l="0" t="0" r="r" b="b"/>
            <a:pathLst>
              <a:path w="63500" h="31750" fill="none">
                <a:moveTo>
                  <a:pt x="0" y="0"/>
                </a:moveTo>
                <a:lnTo>
                  <a:pt x="63500" y="0"/>
                </a:lnTo>
                <a:moveTo>
                  <a:pt x="0" y="31750"/>
                </a:moveTo>
                <a:lnTo>
                  <a:pt x="38100" y="31750"/>
                </a:lnTo>
              </a:path>
            </a:pathLst>
          </a:custGeom>
          <a:noFill/>
          <a:ln w="12700" cap="rnd">
            <a:solidFill>
              <a:srgbClr val="102A4C"/>
            </a:solidFill>
            <a:round/>
          </a:ln>
        </p:spPr>
        <p:txBody>
          <a:bodyPr rtlCol="0" anchor="ctr"/>
          <a:lstStyle/>
          <a:p>
            <a:pPr algn="ctr"/>
            <a:endParaRPr lang="ko-KR" dirty="0"/>
          </a:p>
        </p:txBody>
      </p:sp>
      <p:sp>
        <p:nvSpPr>
          <p:cNvPr id="73" name="svg path"/>
          <p:cNvSpPr/>
          <p:nvPr/>
        </p:nvSpPr>
        <p:spPr>
          <a:xfrm>
            <a:off x="11258550" y="3623072"/>
            <a:ext cx="107950" cy="107950"/>
          </a:xfrm>
          <a:custGeom>
            <a:avLst/>
            <a:gdLst/>
            <a:ahLst/>
            <a:cxnLst/>
            <a:rect l="0" t="0" r="r" b="b"/>
            <a:pathLst>
              <a:path w="107950" h="107950">
                <a:moveTo>
                  <a:pt x="0" y="82550"/>
                </a:moveTo>
                <a:lnTo>
                  <a:pt x="82550" y="0"/>
                </a:lnTo>
                <a:lnTo>
                  <a:pt x="107950" y="25400"/>
                </a:lnTo>
                <a:lnTo>
                  <a:pt x="25400" y="107950"/>
                </a:lnTo>
                <a:lnTo>
                  <a:pt x="0" y="1079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74" name="t1-pi 선"/>
          <p:cNvSpPr/>
          <p:nvPr/>
        </p:nvSpPr>
        <p:spPr>
          <a:xfrm>
            <a:off x="8131175" y="4060825"/>
            <a:ext cx="3244850" cy="1"/>
          </a:xfrm>
          <a:custGeom>
            <a:avLst/>
            <a:gdLst/>
            <a:ahLst/>
            <a:cxnLst/>
            <a:rect l="0" t="0" r="r" b="b"/>
            <a:pathLst>
              <a:path w="3244850" h="1" fill="none">
                <a:moveTo>
                  <a:pt x="0" y="0"/>
                </a:moveTo>
                <a:lnTo>
                  <a:pt x="3244850" y="0"/>
                </a:lnTo>
              </a:path>
            </a:pathLst>
          </a:custGeom>
          <a:noFill/>
          <a:ln w="6350">
            <a:solidFill>
              <a:srgbClr val="E1E5EB"/>
            </a:solidFill>
            <a:round/>
          </a:ln>
        </p:spPr>
        <p:txBody>
          <a:bodyPr rtlCol="0" anchor="ctr"/>
          <a:lstStyle/>
          <a:p>
            <a:pPr algn="ctr"/>
            <a:endParaRPr lang="ko-KR" dirty="0"/>
          </a:p>
        </p:txBody>
      </p:sp>
      <p:sp>
        <p:nvSpPr>
          <p:cNvPr id="75" name="no"/>
          <p:cNvSpPr/>
          <p:nvPr/>
        </p:nvSpPr>
        <p:spPr>
          <a:xfrm>
            <a:off x="8128000" y="4171950"/>
            <a:ext cx="254000" cy="254000"/>
          </a:xfrm>
          <a:prstGeom prst="ellipse">
            <a:avLst/>
          </a:prstGeom>
          <a:solidFill>
            <a:srgbClr val="102A4C"/>
          </a:solidFill>
          <a:ln>
            <a:noFill/>
          </a:ln>
        </p:spPr>
        <p:txBody>
          <a:bodyPr rtlCol="0" anchor="ctr"/>
          <a:lstStyle/>
          <a:p>
            <a:pPr algn="ctr"/>
            <a:endParaRPr lang="ko-KR" dirty="0"/>
          </a:p>
        </p:txBody>
      </p:sp>
      <p:sp>
        <p:nvSpPr>
          <p:cNvPr id="76" name="svg circle"/>
          <p:cNvSpPr/>
          <p:nvPr/>
        </p:nvSpPr>
        <p:spPr>
          <a:xfrm>
            <a:off x="11176000" y="4210050"/>
            <a:ext cx="177800" cy="177800"/>
          </a:xfrm>
          <a:prstGeom prst="ellipse">
            <a:avLst/>
          </a:prstGeom>
          <a:noFill/>
          <a:ln w="12700" cap="rnd">
            <a:solidFill>
              <a:srgbClr val="102A4C"/>
            </a:solidFill>
            <a:round/>
          </a:ln>
        </p:spPr>
        <p:txBody>
          <a:bodyPr rtlCol="0" anchor="ctr"/>
          <a:lstStyle/>
          <a:p>
            <a:pPr algn="ctr"/>
            <a:endParaRPr lang="ko-KR" dirty="0"/>
          </a:p>
        </p:txBody>
      </p:sp>
      <p:sp>
        <p:nvSpPr>
          <p:cNvPr id="77" name="svg path"/>
          <p:cNvSpPr/>
          <p:nvPr/>
        </p:nvSpPr>
        <p:spPr>
          <a:xfrm>
            <a:off x="11264900" y="4248150"/>
            <a:ext cx="38100" cy="76200"/>
          </a:xfrm>
          <a:custGeom>
            <a:avLst/>
            <a:gdLst/>
            <a:ahLst/>
            <a:cxnLst/>
            <a:rect l="0" t="0" r="r" b="b"/>
            <a:pathLst>
              <a:path w="38100" h="76200" fill="none">
                <a:moveTo>
                  <a:pt x="0" y="0"/>
                </a:moveTo>
                <a:lnTo>
                  <a:pt x="0" y="50800"/>
                </a:lnTo>
                <a:lnTo>
                  <a:pt x="38100" y="76200"/>
                </a:lnTo>
              </a:path>
            </a:pathLst>
          </a:custGeom>
          <a:noFill/>
          <a:ln w="12700" cap="rnd">
            <a:solidFill>
              <a:srgbClr val="102A4C"/>
            </a:solidFill>
            <a:round/>
          </a:ln>
        </p:spPr>
        <p:txBody>
          <a:bodyPr rtlCol="0" anchor="ctr"/>
          <a:lstStyle/>
          <a:p>
            <a:pPr algn="ctr"/>
            <a:endParaRPr lang="ko-KR" dirty="0"/>
          </a:p>
        </p:txBody>
      </p:sp>
      <p:sp>
        <p:nvSpPr>
          <p:cNvPr id="78" name="t1-pi 선"/>
          <p:cNvSpPr/>
          <p:nvPr/>
        </p:nvSpPr>
        <p:spPr>
          <a:xfrm>
            <a:off x="8131175" y="4743053"/>
            <a:ext cx="3244850" cy="1"/>
          </a:xfrm>
          <a:custGeom>
            <a:avLst/>
            <a:gdLst/>
            <a:ahLst/>
            <a:cxnLst/>
            <a:rect l="0" t="0" r="r" b="b"/>
            <a:pathLst>
              <a:path w="3244850" h="1" fill="none">
                <a:moveTo>
                  <a:pt x="0" y="0"/>
                </a:moveTo>
                <a:lnTo>
                  <a:pt x="3244850" y="0"/>
                </a:lnTo>
              </a:path>
            </a:pathLst>
          </a:custGeom>
          <a:noFill/>
          <a:ln w="6350">
            <a:solidFill>
              <a:srgbClr val="E1E5EB"/>
            </a:solidFill>
            <a:round/>
          </a:ln>
        </p:spPr>
        <p:txBody>
          <a:bodyPr rtlCol="0" anchor="ctr"/>
          <a:lstStyle/>
          <a:p>
            <a:pPr algn="ctr"/>
            <a:endParaRPr lang="ko-KR" dirty="0"/>
          </a:p>
        </p:txBody>
      </p:sp>
      <p:sp>
        <p:nvSpPr>
          <p:cNvPr id="79" name="no"/>
          <p:cNvSpPr/>
          <p:nvPr/>
        </p:nvSpPr>
        <p:spPr>
          <a:xfrm>
            <a:off x="8128000" y="4854178"/>
            <a:ext cx="254000" cy="254000"/>
          </a:xfrm>
          <a:prstGeom prst="ellipse">
            <a:avLst/>
          </a:prstGeom>
          <a:solidFill>
            <a:srgbClr val="102A4C"/>
          </a:solidFill>
          <a:ln>
            <a:noFill/>
          </a:ln>
        </p:spPr>
        <p:txBody>
          <a:bodyPr rtlCol="0" anchor="ctr"/>
          <a:lstStyle/>
          <a:p>
            <a:pPr algn="ctr"/>
            <a:endParaRPr lang="ko-KR" dirty="0"/>
          </a:p>
        </p:txBody>
      </p:sp>
      <p:sp>
        <p:nvSpPr>
          <p:cNvPr id="80" name="svg path"/>
          <p:cNvSpPr/>
          <p:nvPr/>
        </p:nvSpPr>
        <p:spPr>
          <a:xfrm>
            <a:off x="11169650" y="4892278"/>
            <a:ext cx="190500" cy="171450"/>
          </a:xfrm>
          <a:custGeom>
            <a:avLst/>
            <a:gdLst/>
            <a:ahLst/>
            <a:cxnLst/>
            <a:rect l="0" t="0" r="r" b="b"/>
            <a:pathLst>
              <a:path w="190500" h="171450" fill="none">
                <a:moveTo>
                  <a:pt x="95250" y="0"/>
                </a:moveTo>
                <a:lnTo>
                  <a:pt x="190500" y="171450"/>
                </a:lnTo>
                <a:lnTo>
                  <a:pt x="0" y="171450"/>
                </a:lnTo>
                <a:close/>
              </a:path>
            </a:pathLst>
          </a:custGeom>
          <a:noFill/>
          <a:ln w="12700" cap="rnd">
            <a:solidFill>
              <a:srgbClr val="102A4C"/>
            </a:solidFill>
            <a:round/>
          </a:ln>
        </p:spPr>
        <p:txBody>
          <a:bodyPr rtlCol="0" anchor="ctr"/>
          <a:lstStyle/>
          <a:p>
            <a:pPr algn="ctr"/>
            <a:endParaRPr lang="ko-KR" dirty="0"/>
          </a:p>
        </p:txBody>
      </p:sp>
      <p:sp>
        <p:nvSpPr>
          <p:cNvPr id="81" name="svg path"/>
          <p:cNvSpPr/>
          <p:nvPr/>
        </p:nvSpPr>
        <p:spPr>
          <a:xfrm>
            <a:off x="11264900" y="4955778"/>
            <a:ext cx="1" cy="44450"/>
          </a:xfrm>
          <a:custGeom>
            <a:avLst/>
            <a:gdLst/>
            <a:ahLst/>
            <a:cxnLst/>
            <a:rect l="0" t="0" r="r" b="b"/>
            <a:pathLst>
              <a:path w="1" h="44450" fill="none">
                <a:moveTo>
                  <a:pt x="0" y="0"/>
                </a:moveTo>
                <a:lnTo>
                  <a:pt x="0" y="44450"/>
                </a:lnTo>
              </a:path>
            </a:pathLst>
          </a:custGeom>
          <a:noFill/>
          <a:ln w="12700" cap="rnd">
            <a:solidFill>
              <a:srgbClr val="102A4C"/>
            </a:solidFill>
            <a:round/>
          </a:ln>
        </p:spPr>
        <p:txBody>
          <a:bodyPr rtlCol="0" anchor="ctr"/>
          <a:lstStyle/>
          <a:p>
            <a:pPr algn="ctr"/>
            <a:endParaRPr lang="ko-KR" dirty="0"/>
          </a:p>
        </p:txBody>
      </p:sp>
      <p:sp>
        <p:nvSpPr>
          <p:cNvPr id="82" name="svg circle"/>
          <p:cNvSpPr/>
          <p:nvPr/>
        </p:nvSpPr>
        <p:spPr>
          <a:xfrm>
            <a:off x="11257280" y="5024358"/>
            <a:ext cx="15240" cy="15240"/>
          </a:xfrm>
          <a:prstGeom prst="ellipse">
            <a:avLst/>
          </a:prstGeom>
          <a:solidFill>
            <a:srgbClr val="102A4C"/>
          </a:solidFill>
          <a:ln w="12700" cap="rnd">
            <a:solidFill>
              <a:srgbClr val="102A4C"/>
            </a:solidFill>
            <a:round/>
          </a:ln>
        </p:spPr>
        <p:txBody>
          <a:bodyPr rtlCol="0" anchor="ctr"/>
          <a:lstStyle/>
          <a:p>
            <a:pPr algn="ctr"/>
            <a:endParaRPr lang="ko-KR" dirty="0"/>
          </a:p>
        </p:txBody>
      </p:sp>
      <p:sp>
        <p:nvSpPr>
          <p:cNvPr id="83" name="keybar t1-key"/>
          <p:cNvSpPr/>
          <p:nvPr/>
        </p:nvSpPr>
        <p:spPr>
          <a:xfrm>
            <a:off x="609600" y="5753497"/>
            <a:ext cx="10972800" cy="584200"/>
          </a:xfrm>
          <a:prstGeom prst="roundRect">
            <a:avLst>
              <a:gd name="adj" fmla="val 21739"/>
            </a:avLst>
          </a:prstGeom>
          <a:solidFill>
            <a:srgbClr val="102A4C"/>
          </a:solidFill>
          <a:ln>
            <a:noFill/>
          </a:ln>
        </p:spPr>
        <p:txBody>
          <a:bodyPr rtlCol="0" anchor="ctr"/>
          <a:lstStyle/>
          <a:p>
            <a:pPr algn="ctr"/>
            <a:endParaRPr lang="ko-KR" dirty="0"/>
          </a:p>
        </p:txBody>
      </p:sp>
      <p:sp>
        <p:nvSpPr>
          <p:cNvPr id="84"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85"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86" name="왜 이 연구가 필요한가"/>
          <p:cNvSpPr txBox="1"/>
          <p:nvPr/>
        </p:nvSpPr>
        <p:spPr>
          <a:xfrm>
            <a:off x="2057400" y="401439"/>
            <a:ext cx="106644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왜 이 연구가 필요한가</a:t>
            </a:r>
            <a:endParaRPr lang="en-US" sz="950" dirty="0"/>
          </a:p>
        </p:txBody>
      </p:sp>
      <p:sp>
        <p:nvSpPr>
          <p:cNvPr id="87" name="BIM 전면 도입이 추진되지만, BIM은 여전히"/>
          <p:cNvSpPr txBox="1"/>
          <p:nvPr/>
        </p:nvSpPr>
        <p:spPr>
          <a:xfrm>
            <a:off x="609600" y="666750"/>
            <a:ext cx="4968845"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BIM 전면 도입이 추진되지만, BIM은 여전히</a:t>
            </a:r>
            <a:endParaRPr lang="en-US" sz="2300" dirty="0"/>
          </a:p>
        </p:txBody>
      </p:sp>
      <p:sp>
        <p:nvSpPr>
          <p:cNvPr id="88" name="사람이 2D 도면을 보고 직접 만들고 있습니다."/>
          <p:cNvSpPr txBox="1"/>
          <p:nvPr/>
        </p:nvSpPr>
        <p:spPr>
          <a:xfrm>
            <a:off x="609600" y="1028898"/>
            <a:ext cx="5143115" cy="349250"/>
          </a:xfrm>
          <a:prstGeom prst="rect">
            <a:avLst/>
          </a:prstGeom>
          <a:noFill/>
          <a:ln/>
        </p:spPr>
        <p:txBody>
          <a:bodyPr wrap="none" lIns="0" tIns="0" rIns="0" bIns="0" rtlCol="0" anchor="ctr"/>
          <a:lstStyle/>
          <a:p>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사람이 2D 도면을 보고 직접</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만들고 있습니다.</a:t>
            </a:r>
            <a:endParaRPr lang="en-US" sz="2300" dirty="0"/>
          </a:p>
        </p:txBody>
      </p:sp>
      <p:sp>
        <p:nvSpPr>
          <p:cNvPr id="89"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90"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91"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92"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93"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94" name="정책"/>
          <p:cNvSpPr txBox="1"/>
          <p:nvPr/>
        </p:nvSpPr>
        <p:spPr>
          <a:xfrm>
            <a:off x="7175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정책</a:t>
            </a:r>
            <a:endParaRPr lang="en-US" sz="850" dirty="0"/>
          </a:p>
        </p:txBody>
      </p:sp>
      <p:sp>
        <p:nvSpPr>
          <p:cNvPr id="95" name="국토교통부, BIM 전면 도입 추진"/>
          <p:cNvSpPr txBox="1"/>
          <p:nvPr/>
        </p:nvSpPr>
        <p:spPr>
          <a:xfrm>
            <a:off x="1109464" y="1641277"/>
            <a:ext cx="2064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국토교통부, BIM 전면 도입 추진</a:t>
            </a:r>
            <a:endParaRPr lang="en-US" sz="1300" dirty="0"/>
          </a:p>
        </p:txBody>
      </p:sp>
      <p:sp>
        <p:nvSpPr>
          <p:cNvPr id="96" name="공공공사 BIM 의무화 단계적 확대"/>
          <p:cNvSpPr txBox="1"/>
          <p:nvPr/>
        </p:nvSpPr>
        <p:spPr>
          <a:xfrm>
            <a:off x="812800" y="2178447"/>
            <a:ext cx="217158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공공공사 BIM 의무화 단계적 확대</a:t>
            </a:r>
            <a:endParaRPr lang="en-US" sz="1300" dirty="0"/>
          </a:p>
        </p:txBody>
      </p:sp>
      <p:sp>
        <p:nvSpPr>
          <p:cNvPr id="97" name="'22~'24"/>
          <p:cNvSpPr txBox="1"/>
          <p:nvPr/>
        </p:nvSpPr>
        <p:spPr>
          <a:xfrm>
            <a:off x="812800" y="2647057"/>
            <a:ext cx="528935"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'22~'24</a:t>
            </a:r>
            <a:endParaRPr lang="en-US" sz="1100" dirty="0"/>
          </a:p>
        </p:txBody>
      </p:sp>
      <p:sp>
        <p:nvSpPr>
          <p:cNvPr id="98" name="'26"/>
          <p:cNvSpPr txBox="1"/>
          <p:nvPr/>
        </p:nvSpPr>
        <p:spPr>
          <a:xfrm>
            <a:off x="812800" y="3110607"/>
            <a:ext cx="247551"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'26</a:t>
            </a:r>
            <a:endParaRPr lang="en-US" sz="1100" dirty="0"/>
          </a:p>
        </p:txBody>
      </p:sp>
      <p:sp>
        <p:nvSpPr>
          <p:cNvPr id="99" name="'28"/>
          <p:cNvSpPr txBox="1"/>
          <p:nvPr/>
        </p:nvSpPr>
        <p:spPr>
          <a:xfrm>
            <a:off x="812800" y="3466207"/>
            <a:ext cx="24774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'28</a:t>
            </a:r>
            <a:endParaRPr lang="en-US" sz="1100" dirty="0"/>
          </a:p>
        </p:txBody>
      </p:sp>
      <p:sp>
        <p:nvSpPr>
          <p:cNvPr id="100" name="1,000억원 이상 신규 사업"/>
          <p:cNvSpPr txBox="1"/>
          <p:nvPr/>
        </p:nvSpPr>
        <p:spPr>
          <a:xfrm>
            <a:off x="1739900" y="2558157"/>
            <a:ext cx="1393633" cy="158750"/>
          </a:xfrm>
          <a:prstGeom prst="rect">
            <a:avLst/>
          </a:prstGeom>
          <a:noFill/>
          <a:ln/>
        </p:spPr>
        <p:txBody>
          <a:bodyPr wrap="none" lIns="0" tIns="0" rIns="0" bIns="0" rtlCol="0" anchor="ctr"/>
          <a:lstStyle/>
          <a:p>
            <a:pPr algn="l" indent="0" marL="0">
              <a:buNone/>
            </a:pPr>
            <a:r>
              <a:rPr lang="ko-KR" altLang="en-US" sz="1050" spc="-32" kern="0" dirty="0">
                <a:solidFill>
                  <a:srgbClr val="102A4C"/>
                </a:solidFill>
                <a:latin typeface="Pretendard ExtraBold" pitchFamily="34" charset="0"/>
                <a:ea typeface="Pretendard ExtraBold" pitchFamily="34" charset="-127"/>
                <a:cs typeface="Pretendard ExtraBold" pitchFamily="34" charset="-120"/>
              </a:rPr>
              <a:t>1,000억원 이상 신규 사업</a:t>
            </a:r>
            <a:endParaRPr lang="en-US" sz="1050" dirty="0"/>
          </a:p>
        </p:txBody>
      </p:sp>
      <p:sp>
        <p:nvSpPr>
          <p:cNvPr id="101" name="도로 → 철도·건축 → 하천·항만"/>
          <p:cNvSpPr txBox="1"/>
          <p:nvPr/>
        </p:nvSpPr>
        <p:spPr>
          <a:xfrm>
            <a:off x="1739900" y="2749848"/>
            <a:ext cx="148544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SemiBold" pitchFamily="34" charset="0"/>
                <a:ea typeface="Pretendard SemiBold" pitchFamily="34" charset="-127"/>
                <a:cs typeface="Pretendard SemiBold" pitchFamily="34" charset="-120"/>
              </a:rPr>
              <a:t>도로 → 철도·건축 → 하천·항만</a:t>
            </a:r>
            <a:endParaRPr lang="en-US" sz="950" dirty="0"/>
          </a:p>
        </p:txBody>
      </p:sp>
      <p:sp>
        <p:nvSpPr>
          <p:cNvPr id="102" name="500억원 이상"/>
          <p:cNvSpPr txBox="1"/>
          <p:nvPr/>
        </p:nvSpPr>
        <p:spPr>
          <a:xfrm>
            <a:off x="1739900" y="3113187"/>
            <a:ext cx="776486" cy="158750"/>
          </a:xfrm>
          <a:prstGeom prst="rect">
            <a:avLst/>
          </a:prstGeom>
          <a:noFill/>
          <a:ln/>
        </p:spPr>
        <p:txBody>
          <a:bodyPr wrap="none" lIns="0" tIns="0" rIns="0" bIns="0" rtlCol="0" anchor="ctr"/>
          <a:lstStyle/>
          <a:p>
            <a:pPr algn="l" indent="0" marL="0">
              <a:buNone/>
            </a:pPr>
            <a:r>
              <a:rPr lang="ko-KR" altLang="en-US" sz="1050" spc="-32" kern="0" dirty="0">
                <a:solidFill>
                  <a:srgbClr val="102A4C"/>
                </a:solidFill>
                <a:latin typeface="Pretendard ExtraBold" pitchFamily="34" charset="0"/>
                <a:ea typeface="Pretendard ExtraBold" pitchFamily="34" charset="-127"/>
                <a:cs typeface="Pretendard ExtraBold" pitchFamily="34" charset="-120"/>
              </a:rPr>
              <a:t>500억원 이상</a:t>
            </a:r>
            <a:endParaRPr lang="en-US" sz="1050" dirty="0"/>
          </a:p>
        </p:txBody>
      </p:sp>
      <p:sp>
        <p:nvSpPr>
          <p:cNvPr id="103" name="300억원 이상"/>
          <p:cNvSpPr txBox="1"/>
          <p:nvPr/>
        </p:nvSpPr>
        <p:spPr>
          <a:xfrm>
            <a:off x="1739900" y="3468787"/>
            <a:ext cx="777677" cy="158750"/>
          </a:xfrm>
          <a:prstGeom prst="rect">
            <a:avLst/>
          </a:prstGeom>
          <a:noFill/>
          <a:ln/>
        </p:spPr>
        <p:txBody>
          <a:bodyPr wrap="none" lIns="0" tIns="0" rIns="0" bIns="0" rtlCol="0" anchor="ctr"/>
          <a:lstStyle/>
          <a:p>
            <a:pPr algn="l" indent="0" marL="0">
              <a:buNone/>
            </a:pPr>
            <a:r>
              <a:rPr lang="ko-KR" altLang="en-US" sz="1050" spc="-32" kern="0" dirty="0">
                <a:solidFill>
                  <a:srgbClr val="FFFFFF"/>
                </a:solidFill>
                <a:latin typeface="Pretendard ExtraBold" pitchFamily="34" charset="0"/>
                <a:ea typeface="Pretendard ExtraBold" pitchFamily="34" charset="-127"/>
                <a:cs typeface="Pretendard ExtraBold" pitchFamily="34" charset="-120"/>
              </a:rPr>
              <a:t>300억원 이상</a:t>
            </a:r>
            <a:endParaRPr lang="en-US" sz="1050" dirty="0"/>
          </a:p>
        </p:txBody>
      </p:sp>
      <p:sp>
        <p:nvSpPr>
          <p:cNvPr id="104" name="2030 건축BIM 로드맵"/>
          <p:cNvSpPr txBox="1"/>
          <p:nvPr/>
        </p:nvSpPr>
        <p:spPr>
          <a:xfrm>
            <a:off x="812800" y="4197747"/>
            <a:ext cx="1525097"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2030 건축BIM 로드맵</a:t>
            </a:r>
            <a:endParaRPr lang="en-US" sz="1300" dirty="0"/>
          </a:p>
        </p:txBody>
      </p:sp>
      <p:sp>
        <p:nvSpPr>
          <p:cNvPr id="105" name="'25"/>
          <p:cNvSpPr txBox="1"/>
          <p:nvPr/>
        </p:nvSpPr>
        <p:spPr>
          <a:xfrm>
            <a:off x="812800" y="4482207"/>
            <a:ext cx="249138"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'25</a:t>
            </a:r>
            <a:endParaRPr lang="en-US" sz="1100" dirty="0"/>
          </a:p>
        </p:txBody>
      </p:sp>
      <p:sp>
        <p:nvSpPr>
          <p:cNvPr id="106" name="BIM 설계 기반 구축"/>
          <p:cNvSpPr txBox="1"/>
          <p:nvPr/>
        </p:nvSpPr>
        <p:spPr>
          <a:xfrm>
            <a:off x="812800" y="4856857"/>
            <a:ext cx="960219"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BIM 설계 기반 구축</a:t>
            </a:r>
            <a:endParaRPr lang="en-US" sz="950" dirty="0"/>
          </a:p>
        </p:txBody>
      </p:sp>
      <p:sp>
        <p:nvSpPr>
          <p:cNvPr id="107" name="'30"/>
          <p:cNvSpPr txBox="1"/>
          <p:nvPr/>
        </p:nvSpPr>
        <p:spPr>
          <a:xfrm>
            <a:off x="2108200" y="4482207"/>
            <a:ext cx="259259"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'30</a:t>
            </a:r>
            <a:endParaRPr lang="en-US" sz="1100" dirty="0"/>
          </a:p>
        </p:txBody>
      </p:sp>
      <p:sp>
        <p:nvSpPr>
          <p:cNvPr id="108" name="디지털 건축서비스 완전 구현"/>
          <p:cNvSpPr txBox="1"/>
          <p:nvPr/>
        </p:nvSpPr>
        <p:spPr>
          <a:xfrm>
            <a:off x="2108200" y="4856857"/>
            <a:ext cx="139058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디지털 건축서비스 완전 구현</a:t>
            </a:r>
            <a:endParaRPr lang="en-US" sz="950" dirty="0"/>
          </a:p>
        </p:txBody>
      </p:sp>
      <p:sp>
        <p:nvSpPr>
          <p:cNvPr id="109" name="출처: 국토교통부 「스마트 건설 활성화 방안」, 「2030 건축BIM 로"/>
          <p:cNvSpPr txBox="1"/>
          <p:nvPr/>
        </p:nvSpPr>
        <p:spPr>
          <a:xfrm>
            <a:off x="812800" y="5212556"/>
            <a:ext cx="2302633"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국토교통부 「스마트 건설 활성화 방안」, 「2030 건축BIM 로드맵」</a:t>
            </a:r>
            <a:endParaRPr lang="en-US" sz="650" dirty="0"/>
          </a:p>
        </p:txBody>
      </p:sp>
      <p:sp>
        <p:nvSpPr>
          <p:cNvPr id="110" name="현실"/>
          <p:cNvSpPr txBox="1"/>
          <p:nvPr/>
        </p:nvSpPr>
        <p:spPr>
          <a:xfrm>
            <a:off x="43751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현실</a:t>
            </a:r>
            <a:endParaRPr lang="en-US" sz="850" dirty="0"/>
          </a:p>
        </p:txBody>
      </p:sp>
      <p:sp>
        <p:nvSpPr>
          <p:cNvPr id="111" name="대부분의 BIM은 2D 도면에서 출발"/>
          <p:cNvSpPr txBox="1"/>
          <p:nvPr/>
        </p:nvSpPr>
        <p:spPr>
          <a:xfrm>
            <a:off x="4767064" y="1641277"/>
            <a:ext cx="2245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대부분의 BIM은 2D 도면에서 출발</a:t>
            </a:r>
            <a:endParaRPr lang="en-US" sz="1300" dirty="0"/>
          </a:p>
        </p:txBody>
      </p:sp>
      <p:sp>
        <p:nvSpPr>
          <p:cNvPr id="112" name="신규 건설 프로젝트"/>
          <p:cNvSpPr txBox="1"/>
          <p:nvPr/>
        </p:nvSpPr>
        <p:spPr>
          <a:xfrm>
            <a:off x="4902200" y="2185392"/>
            <a:ext cx="122704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신규 건설 프로젝트</a:t>
            </a:r>
            <a:endParaRPr lang="en-US" sz="1300" dirty="0"/>
          </a:p>
        </p:txBody>
      </p:sp>
      <p:sp>
        <p:nvSpPr>
          <p:cNvPr id="113" name="2D 도면을 먼저 그린 뒤 BIM으로 옮기는"/>
          <p:cNvSpPr txBox="1"/>
          <p:nvPr/>
        </p:nvSpPr>
        <p:spPr>
          <a:xfrm>
            <a:off x="4470400" y="2718197"/>
            <a:ext cx="2239635"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2D 도면을 먼저 그린 뒤 BIM으로 옮기는</a:t>
            </a:r>
            <a:endParaRPr lang="en-US" sz="1100" dirty="0"/>
          </a:p>
        </p:txBody>
      </p:sp>
      <p:sp>
        <p:nvSpPr>
          <p:cNvPr id="114" name="'BIM 전환설계'가 대부분"/>
          <p:cNvSpPr txBox="1"/>
          <p:nvPr/>
        </p:nvSpPr>
        <p:spPr>
          <a:xfrm>
            <a:off x="4470400" y="2927747"/>
            <a:ext cx="1363553" cy="165100"/>
          </a:xfrm>
          <a:prstGeom prst="rect">
            <a:avLst/>
          </a:prstGeom>
          <a:noFill/>
          <a:ln/>
        </p:spPr>
        <p:txBody>
          <a:bodyPr wrap="none" lIns="0" tIns="0" rIns="0" bIns="0" rtlCol="0" anchor="ctr"/>
          <a:lstStyle/>
          <a:p>
            <a:pPr algn="l" indent="0" marL="0">
              <a:buNone/>
            </a:pP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'BIM 전환설계'</a:t>
            </a:r>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가 대부분</a:t>
            </a:r>
            <a:endParaRPr lang="en-US" sz="1100" dirty="0"/>
          </a:p>
        </p:txBody>
      </p:sp>
      <p:sp>
        <p:nvSpPr>
          <p:cNvPr id="115" name="설계 후반 투입 인력 증가·추가 비용"/>
          <p:cNvSpPr txBox="1"/>
          <p:nvPr/>
        </p:nvSpPr>
        <p:spPr>
          <a:xfrm>
            <a:off x="4775200" y="3310731"/>
            <a:ext cx="1741226"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설계 후반 투입 인력 증가·추가 비용</a:t>
            </a:r>
            <a:endParaRPr lang="en-US" sz="1000" dirty="0"/>
          </a:p>
        </p:txBody>
      </p:sp>
      <p:sp>
        <p:nvSpPr>
          <p:cNvPr id="116" name="출처: 진상윤, 「BIM은 독일까? 득일까?」, 건축문화신문, 2015"/>
          <p:cNvSpPr txBox="1"/>
          <p:nvPr/>
        </p:nvSpPr>
        <p:spPr>
          <a:xfrm>
            <a:off x="4470400" y="3586956"/>
            <a:ext cx="2017197"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진상윤, 「BIM은 독일까? 득일까?」, 건축문화신문, 2015</a:t>
            </a:r>
            <a:endParaRPr lang="en-US" sz="650" dirty="0"/>
          </a:p>
        </p:txBody>
      </p:sp>
      <p:sp>
        <p:nvSpPr>
          <p:cNvPr id="117" name="기존 건축물"/>
          <p:cNvSpPr txBox="1"/>
          <p:nvPr/>
        </p:nvSpPr>
        <p:spPr>
          <a:xfrm>
            <a:off x="4902200" y="4204692"/>
            <a:ext cx="76656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기존 건축물</a:t>
            </a:r>
            <a:endParaRPr lang="en-US" sz="1300" dirty="0"/>
          </a:p>
        </p:txBody>
      </p:sp>
      <p:sp>
        <p:nvSpPr>
          <p:cNvPr id="118" name="BIM 없이 2D 도면만 남아 있음"/>
          <p:cNvSpPr txBox="1"/>
          <p:nvPr/>
        </p:nvSpPr>
        <p:spPr>
          <a:xfrm>
            <a:off x="4470400" y="4645422"/>
            <a:ext cx="1712829"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없이 </a:t>
            </a:r>
            <a:pPr algn="l" indent="0" marL="0">
              <a:buNone/>
            </a:pP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2D 도면만</a:t>
            </a:r>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 남아 있음</a:t>
            </a:r>
            <a:endParaRPr lang="en-US" sz="1100" dirty="0"/>
          </a:p>
        </p:txBody>
      </p:sp>
      <p:sp>
        <p:nvSpPr>
          <p:cNvPr id="119" name="2D 도면으로 3D BIM을 새로 구축해야 함"/>
          <p:cNvSpPr txBox="1"/>
          <p:nvPr/>
        </p:nvSpPr>
        <p:spPr>
          <a:xfrm>
            <a:off x="4775200" y="5077222"/>
            <a:ext cx="2078617"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2D 도면으로 3D BIM을 새로 구축해야 함</a:t>
            </a:r>
            <a:endParaRPr lang="en-US" sz="1000" dirty="0"/>
          </a:p>
        </p:txBody>
      </p:sp>
      <p:sp>
        <p:nvSpPr>
          <p:cNvPr id="120" name="문제"/>
          <p:cNvSpPr txBox="1"/>
          <p:nvPr/>
        </p:nvSpPr>
        <p:spPr>
          <a:xfrm>
            <a:off x="80327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FFFFFF"/>
                </a:solidFill>
                <a:latin typeface="Pretendard" pitchFamily="34" charset="0"/>
                <a:ea typeface="Pretendard" pitchFamily="34" charset="-127"/>
                <a:cs typeface="Pretendard" pitchFamily="34" charset="-120"/>
              </a:rPr>
              <a:t>문제</a:t>
            </a:r>
            <a:endParaRPr lang="en-US" sz="850" dirty="0"/>
          </a:p>
        </p:txBody>
      </p:sp>
      <p:sp>
        <p:nvSpPr>
          <p:cNvPr id="121" name="사람이 도면을 보고 직접 모델링"/>
          <p:cNvSpPr txBox="1"/>
          <p:nvPr/>
        </p:nvSpPr>
        <p:spPr>
          <a:xfrm>
            <a:off x="8424664" y="1641277"/>
            <a:ext cx="201877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사람이 도면을 보고 직접 모델링</a:t>
            </a:r>
            <a:endParaRPr lang="en-US" sz="1300" dirty="0"/>
          </a:p>
        </p:txBody>
      </p:sp>
      <p:sp>
        <p:nvSpPr>
          <p:cNvPr id="122" name="평면도 · 입면도"/>
          <p:cNvSpPr txBox="1"/>
          <p:nvPr/>
        </p:nvSpPr>
        <p:spPr>
          <a:xfrm>
            <a:off x="8259316" y="3073797"/>
            <a:ext cx="677168" cy="127000"/>
          </a:xfrm>
          <a:prstGeom prst="rect">
            <a:avLst/>
          </a:prstGeom>
          <a:noFill/>
          <a:ln/>
        </p:spPr>
        <p:txBody>
          <a:bodyPr wrap="none" lIns="0" tIns="0" rIns="0" bIns="0" rtlCol="0" anchor="ctr"/>
          <a:lstStyle/>
          <a:p>
            <a:pPr algn="l" indent="0" marL="0">
              <a:buNone/>
            </a:pPr>
            <a:r>
              <a:rPr lang="ko-KR" altLang="en-US" sz="850" b="1" spc="-12" kern="0" dirty="0">
                <a:solidFill>
                  <a:srgbClr val="3F4654"/>
                </a:solidFill>
                <a:latin typeface="Pretendard" pitchFamily="34" charset="0"/>
                <a:ea typeface="Pretendard" pitchFamily="34" charset="-127"/>
                <a:cs typeface="Pretendard" pitchFamily="34" charset="-120"/>
              </a:rPr>
              <a:t>평면도 · 입면도</a:t>
            </a:r>
            <a:endParaRPr lang="en-US" sz="850" dirty="0"/>
          </a:p>
        </p:txBody>
      </p:sp>
      <p:sp>
        <p:nvSpPr>
          <p:cNvPr id="123" name="도면 해석 · 직접 입력"/>
          <p:cNvSpPr txBox="1"/>
          <p:nvPr/>
        </p:nvSpPr>
        <p:spPr>
          <a:xfrm>
            <a:off x="9319915" y="3073797"/>
            <a:ext cx="905951" cy="127000"/>
          </a:xfrm>
          <a:prstGeom prst="rect">
            <a:avLst/>
          </a:prstGeom>
          <a:noFill/>
          <a:ln/>
        </p:spPr>
        <p:txBody>
          <a:bodyPr wrap="none" lIns="0" tIns="0" rIns="0" bIns="0" rtlCol="0" anchor="ctr"/>
          <a:lstStyle/>
          <a:p>
            <a:pPr algn="l" indent="0" marL="0">
              <a:buNone/>
            </a:pPr>
            <a:r>
              <a:rPr lang="ko-KR" altLang="en-US" sz="850" spc="-12" kern="0" dirty="0">
                <a:solidFill>
                  <a:srgbClr val="102A4C"/>
                </a:solidFill>
                <a:latin typeface="Pretendard ExtraBold" pitchFamily="34" charset="0"/>
                <a:ea typeface="Pretendard ExtraBold" pitchFamily="34" charset="-127"/>
                <a:cs typeface="Pretendard ExtraBold" pitchFamily="34" charset="-120"/>
              </a:rPr>
              <a:t>도면 해석 · 직접 입력</a:t>
            </a:r>
            <a:endParaRPr lang="en-US" sz="850" dirty="0"/>
          </a:p>
        </p:txBody>
      </p:sp>
      <p:sp>
        <p:nvSpPr>
          <p:cNvPr id="124" name="수작업 모델링 예시"/>
          <p:cNvSpPr txBox="1"/>
          <p:nvPr/>
        </p:nvSpPr>
        <p:spPr>
          <a:xfrm>
            <a:off x="10512475" y="3073797"/>
            <a:ext cx="831751" cy="127000"/>
          </a:xfrm>
          <a:prstGeom prst="rect">
            <a:avLst/>
          </a:prstGeom>
          <a:noFill/>
          <a:ln/>
        </p:spPr>
        <p:txBody>
          <a:bodyPr wrap="none" lIns="0" tIns="0" rIns="0" bIns="0" rtlCol="0" anchor="ctr"/>
          <a:lstStyle/>
          <a:p>
            <a:pPr algn="l" indent="0" marL="0">
              <a:buNone/>
            </a:pPr>
            <a:r>
              <a:rPr lang="ko-KR" altLang="en-US" sz="850" b="1" spc="-12" kern="0" dirty="0">
                <a:solidFill>
                  <a:srgbClr val="3F4654"/>
                </a:solidFill>
                <a:latin typeface="Pretendard" pitchFamily="34" charset="0"/>
                <a:ea typeface="Pretendard" pitchFamily="34" charset="-127"/>
                <a:cs typeface="Pretendard" pitchFamily="34" charset="-120"/>
              </a:rPr>
              <a:t>수작업 모델링 예시</a:t>
            </a:r>
            <a:endParaRPr lang="en-US" sz="850" dirty="0"/>
          </a:p>
        </p:txBody>
      </p:sp>
      <p:sp>
        <p:nvSpPr>
          <p:cNvPr id="125" name="1"/>
          <p:cNvSpPr txBox="1"/>
          <p:nvPr/>
        </p:nvSpPr>
        <p:spPr>
          <a:xfrm>
            <a:off x="8228409" y="3546574"/>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126" name="노동집약적 작업"/>
          <p:cNvSpPr txBox="1"/>
          <p:nvPr/>
        </p:nvSpPr>
        <p:spPr>
          <a:xfrm>
            <a:off x="8483600" y="3524052"/>
            <a:ext cx="968212"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노동집약적 작업</a:t>
            </a:r>
            <a:endParaRPr lang="en-US" sz="1200" dirty="0"/>
          </a:p>
        </p:txBody>
      </p:sp>
      <p:sp>
        <p:nvSpPr>
          <p:cNvPr id="127" name="도면을 한 장씩 보며 벽·창·문을 직접 입력"/>
          <p:cNvSpPr txBox="1"/>
          <p:nvPr/>
        </p:nvSpPr>
        <p:spPr>
          <a:xfrm>
            <a:off x="8483600" y="3769122"/>
            <a:ext cx="215150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도면을 한 장씩 보며 벽·창·문을 직접 입력</a:t>
            </a:r>
            <a:endParaRPr lang="en-US" sz="1050" dirty="0"/>
          </a:p>
        </p:txBody>
      </p:sp>
      <p:sp>
        <p:nvSpPr>
          <p:cNvPr id="128" name="2"/>
          <p:cNvSpPr txBox="1"/>
          <p:nvPr/>
        </p:nvSpPr>
        <p:spPr>
          <a:xfrm>
            <a:off x="8220373" y="4228802"/>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129" name="긴 작업 시간 · 높은 비용"/>
          <p:cNvSpPr txBox="1"/>
          <p:nvPr/>
        </p:nvSpPr>
        <p:spPr>
          <a:xfrm>
            <a:off x="8483600" y="4206280"/>
            <a:ext cx="1399627"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긴 작업 시간 · 높은 비용</a:t>
            </a:r>
            <a:endParaRPr lang="en-US" sz="1200" dirty="0"/>
          </a:p>
        </p:txBody>
      </p:sp>
      <p:sp>
        <p:nvSpPr>
          <p:cNvPr id="130" name="건물 규모에 비례해 모델링 시간과 비용 증가"/>
          <p:cNvSpPr txBox="1"/>
          <p:nvPr/>
        </p:nvSpPr>
        <p:spPr>
          <a:xfrm>
            <a:off x="8483600" y="4451350"/>
            <a:ext cx="2321248"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건물 규모에 비례해 모델링 시간과 비용 증가</a:t>
            </a:r>
            <a:endParaRPr lang="en-US" sz="1050" dirty="0"/>
          </a:p>
        </p:txBody>
      </p:sp>
      <p:sp>
        <p:nvSpPr>
          <p:cNvPr id="131" name="3"/>
          <p:cNvSpPr txBox="1"/>
          <p:nvPr/>
        </p:nvSpPr>
        <p:spPr>
          <a:xfrm>
            <a:off x="8218785" y="4911030"/>
            <a:ext cx="123230"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3</a:t>
            </a:r>
            <a:endParaRPr lang="en-US" sz="900" dirty="0"/>
          </a:p>
        </p:txBody>
      </p:sp>
      <p:sp>
        <p:nvSpPr>
          <p:cNvPr id="132" name="휴먼 에러 가능성"/>
          <p:cNvSpPr txBox="1"/>
          <p:nvPr/>
        </p:nvSpPr>
        <p:spPr>
          <a:xfrm>
            <a:off x="8483600" y="4888508"/>
            <a:ext cx="998712"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휴먼 에러 가능성</a:t>
            </a:r>
            <a:endParaRPr lang="en-US" sz="1200" dirty="0"/>
          </a:p>
        </p:txBody>
      </p:sp>
      <p:sp>
        <p:nvSpPr>
          <p:cNvPr id="133" name="도면 해석·입력 과정에서 누락과 오류 발생"/>
          <p:cNvSpPr txBox="1"/>
          <p:nvPr/>
        </p:nvSpPr>
        <p:spPr>
          <a:xfrm>
            <a:off x="8483600" y="5133578"/>
            <a:ext cx="2205349"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도면 해석·입력 과정에서 누락과 오류 발생</a:t>
            </a:r>
            <a:endParaRPr lang="en-US" sz="1050" dirty="0"/>
          </a:p>
        </p:txBody>
      </p:sp>
      <p:sp>
        <p:nvSpPr>
          <p:cNvPr id="134" name="KEY MESSAGE"/>
          <p:cNvSpPr txBox="1"/>
          <p:nvPr/>
        </p:nvSpPr>
        <p:spPr>
          <a:xfrm>
            <a:off x="863600" y="5982891"/>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135" name="2차원 도면에 기반한 3차원 BIM 모델 자동 생성 프로세스가 필요합니다"/>
          <p:cNvSpPr txBox="1"/>
          <p:nvPr/>
        </p:nvSpPr>
        <p:spPr>
          <a:xfrm>
            <a:off x="1854994" y="5938242"/>
            <a:ext cx="4802779"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2차원 도면에 기반한 </a:t>
            </a:r>
            <a:pPr algn="l" indent="0" marL="0">
              <a:buNone/>
            </a:pPr>
            <a:r>
              <a:rPr lang="ko-KR" altLang="en-US" sz="1350" b="1" spc="-47" kern="0" dirty="0">
                <a:solidFill>
                  <a:srgbClr val="FFB3C1"/>
                </a:solidFill>
                <a:latin typeface="Pretendard" pitchFamily="34" charset="0"/>
                <a:ea typeface="Pretendard" pitchFamily="34" charset="-127"/>
                <a:cs typeface="Pretendard" pitchFamily="34" charset="-120"/>
              </a:rPr>
              <a:t>3차원 BIM 모델 자동 생성 프로세스</a:t>
            </a:r>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가 필요합니다.</a:t>
            </a:r>
            <a:endParaRPr lang="en-US" sz="1350" dirty="0"/>
          </a:p>
        </p:txBody>
      </p:sp>
      <p:sp>
        <p:nvSpPr>
          <p:cNvPr id="136"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37" name="01 / 05"/>
          <p:cNvSpPr txBox="1"/>
          <p:nvPr/>
        </p:nvSpPr>
        <p:spPr>
          <a:xfrm>
            <a:off x="11232852" y="6472238"/>
            <a:ext cx="400348"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01</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2210792"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on"/>
          <p:cNvSpPr/>
          <p:nvPr/>
        </p:nvSpPr>
        <p:spPr>
          <a:xfrm>
            <a:off x="102997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t2-ch c0::after"/>
          <p:cNvSpPr/>
          <p:nvPr/>
        </p:nvSpPr>
        <p:spPr>
          <a:xfrm>
            <a:off x="906463" y="1733947"/>
            <a:ext cx="1481138" cy="12700"/>
          </a:xfrm>
          <a:prstGeom prst="roundRect">
            <a:avLst>
              <a:gd name="adj" fmla="val 50000"/>
            </a:avLst>
          </a:prstGeom>
          <a:solidFill>
            <a:srgbClr val="C8CFD8"/>
          </a:solidFill>
          <a:ln>
            <a:noFill/>
          </a:ln>
        </p:spPr>
        <p:txBody>
          <a:bodyPr rtlCol="0" anchor="ctr"/>
          <a:lstStyle/>
          <a:p>
            <a:pPr algn="ctr"/>
            <a:endParaRPr lang="ko-KR" dirty="0"/>
          </a:p>
        </p:txBody>
      </p:sp>
      <p:sp>
        <p:nvSpPr>
          <p:cNvPr id="10" name="svg circle"/>
          <p:cNvSpPr/>
          <p:nvPr/>
        </p:nvSpPr>
        <p:spPr>
          <a:xfrm>
            <a:off x="2609850" y="1676797"/>
            <a:ext cx="127000" cy="127000"/>
          </a:xfrm>
          <a:prstGeom prst="ellipse">
            <a:avLst/>
          </a:prstGeom>
          <a:noFill/>
          <a:ln w="12700">
            <a:solidFill>
              <a:srgbClr val="8D96A3"/>
            </a:solidFill>
            <a:miter lim="800000"/>
          </a:ln>
        </p:spPr>
        <p:txBody>
          <a:bodyPr rtlCol="0" anchor="ctr"/>
          <a:lstStyle/>
          <a:p>
            <a:pPr algn="ctr"/>
            <a:endParaRPr lang="ko-KR" dirty="0"/>
          </a:p>
        </p:txBody>
      </p:sp>
      <p:sp>
        <p:nvSpPr>
          <p:cNvPr id="11" name="svg path"/>
          <p:cNvSpPr/>
          <p:nvPr/>
        </p:nvSpPr>
        <p:spPr>
          <a:xfrm>
            <a:off x="2651125" y="1718072"/>
            <a:ext cx="44450" cy="44450"/>
          </a:xfrm>
          <a:custGeom>
            <a:avLst/>
            <a:gdLst/>
            <a:ahLst/>
            <a:cxnLst/>
            <a:rect l="0" t="0" r="r" b="b"/>
            <a:pathLst>
              <a:path w="44450" h="44450" fill="none">
                <a:moveTo>
                  <a:pt x="0" y="0"/>
                </a:moveTo>
                <a:lnTo>
                  <a:pt x="44450" y="44450"/>
                </a:lnTo>
                <a:moveTo>
                  <a:pt x="44450" y="0"/>
                </a:moveTo>
                <a:lnTo>
                  <a:pt x="0" y="44450"/>
                </a:lnTo>
              </a:path>
            </a:pathLst>
          </a:custGeom>
          <a:noFill/>
          <a:ln w="12700" cap="rnd">
            <a:solidFill>
              <a:srgbClr val="8D96A3"/>
            </a:solidFill>
            <a:miter lim="800000"/>
          </a:ln>
        </p:spPr>
        <p:txBody>
          <a:bodyPr rtlCol="0" anchor="ctr"/>
          <a:lstStyle/>
          <a:p>
            <a:pPr algn="ctr"/>
            <a:endParaRPr lang="ko-KR" dirty="0"/>
          </a:p>
        </p:txBody>
      </p:sp>
      <p:sp>
        <p:nvSpPr>
          <p:cNvPr id="12" name="t2-ch c1::after"/>
          <p:cNvSpPr/>
          <p:nvPr/>
        </p:nvSpPr>
        <p:spPr>
          <a:xfrm>
            <a:off x="3908127" y="1733947"/>
            <a:ext cx="2645073" cy="12700"/>
          </a:xfrm>
          <a:prstGeom prst="roundRect">
            <a:avLst>
              <a:gd name="adj" fmla="val 50000"/>
            </a:avLst>
          </a:prstGeom>
          <a:solidFill>
            <a:srgbClr val="C8CFD8"/>
          </a:solidFill>
          <a:ln>
            <a:noFill/>
          </a:ln>
        </p:spPr>
        <p:txBody>
          <a:bodyPr rtlCol="0" anchor="ctr"/>
          <a:lstStyle/>
          <a:p>
            <a:pPr algn="ctr"/>
            <a:endParaRPr lang="ko-KR" dirty="0"/>
          </a:p>
        </p:txBody>
      </p:sp>
      <p:sp>
        <p:nvSpPr>
          <p:cNvPr id="13" name="svg circle"/>
          <p:cNvSpPr/>
          <p:nvPr/>
        </p:nvSpPr>
        <p:spPr>
          <a:xfrm>
            <a:off x="7080250" y="1676797"/>
            <a:ext cx="127000" cy="127000"/>
          </a:xfrm>
          <a:prstGeom prst="ellipse">
            <a:avLst/>
          </a:prstGeom>
          <a:noFill/>
          <a:ln w="12700">
            <a:solidFill>
              <a:srgbClr val="102A4C"/>
            </a:solidFill>
            <a:miter lim="800000"/>
          </a:ln>
        </p:spPr>
        <p:txBody>
          <a:bodyPr rtlCol="0" anchor="ctr"/>
          <a:lstStyle/>
          <a:p>
            <a:pPr algn="ctr"/>
            <a:endParaRPr lang="ko-KR" dirty="0"/>
          </a:p>
        </p:txBody>
      </p:sp>
      <p:sp>
        <p:nvSpPr>
          <p:cNvPr id="14" name="svg circle"/>
          <p:cNvSpPr/>
          <p:nvPr/>
        </p:nvSpPr>
        <p:spPr>
          <a:xfrm>
            <a:off x="7112000" y="1708547"/>
            <a:ext cx="63500" cy="63500"/>
          </a:xfrm>
          <a:prstGeom prst="ellipse">
            <a:avLst/>
          </a:prstGeom>
          <a:noFill/>
          <a:ln w="12700">
            <a:solidFill>
              <a:srgbClr val="102A4C"/>
            </a:solidFill>
            <a:miter lim="800000"/>
          </a:ln>
        </p:spPr>
        <p:txBody>
          <a:bodyPr rtlCol="0" anchor="ctr"/>
          <a:lstStyle/>
          <a:p>
            <a:pPr algn="ctr"/>
            <a:endParaRPr lang="ko-KR" dirty="0"/>
          </a:p>
        </p:txBody>
      </p:sp>
      <p:sp>
        <p:nvSpPr>
          <p:cNvPr id="15" name="svg circle"/>
          <p:cNvSpPr/>
          <p:nvPr/>
        </p:nvSpPr>
        <p:spPr>
          <a:xfrm>
            <a:off x="7134225" y="1730772"/>
            <a:ext cx="19050" cy="19050"/>
          </a:xfrm>
          <a:prstGeom prst="ellipse">
            <a:avLst/>
          </a:prstGeom>
          <a:solidFill>
            <a:srgbClr val="102A4C"/>
          </a:solidFill>
          <a:ln>
            <a:noFill/>
          </a:ln>
        </p:spPr>
        <p:txBody>
          <a:bodyPr rtlCol="0" anchor="ctr"/>
          <a:lstStyle/>
          <a:p>
            <a:pPr algn="ctr"/>
            <a:endParaRPr lang="ko-KR" dirty="0"/>
          </a:p>
        </p:txBody>
      </p:sp>
      <p:sp>
        <p:nvSpPr>
          <p:cNvPr id="16" name="t2-ch c2::after"/>
          <p:cNvSpPr/>
          <p:nvPr/>
        </p:nvSpPr>
        <p:spPr>
          <a:xfrm>
            <a:off x="7967663" y="1733947"/>
            <a:ext cx="36147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2-ic"/>
          <p:cNvSpPr/>
          <p:nvPr/>
        </p:nvSpPr>
        <p:spPr>
          <a:xfrm>
            <a:off x="609600" y="22482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18" name="svg path"/>
          <p:cNvSpPr/>
          <p:nvPr/>
        </p:nvSpPr>
        <p:spPr>
          <a:xfrm>
            <a:off x="768350" y="2597547"/>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9" name="svg rect"/>
          <p:cNvSpPr/>
          <p:nvPr/>
        </p:nvSpPr>
        <p:spPr>
          <a:xfrm>
            <a:off x="793750" y="2445147"/>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20" name="svg path"/>
          <p:cNvSpPr/>
          <p:nvPr/>
        </p:nvSpPr>
        <p:spPr>
          <a:xfrm>
            <a:off x="819150" y="2483247"/>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946150" y="2413397"/>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923925" y="2413397"/>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3" name="svg path"/>
          <p:cNvSpPr/>
          <p:nvPr/>
        </p:nvSpPr>
        <p:spPr>
          <a:xfrm>
            <a:off x="923925" y="2575322"/>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4" name="t2-cell t2-lim r1"/>
          <p:cNvSpPr/>
          <p:nvPr/>
        </p:nvSpPr>
        <p:spPr>
          <a:xfrm>
            <a:off x="2590800" y="19688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25" name="svg path"/>
          <p:cNvSpPr/>
          <p:nvPr/>
        </p:nvSpPr>
        <p:spPr>
          <a:xfrm>
            <a:off x="2851150" y="26933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26" name="t2-go r1::before"/>
          <p:cNvSpPr/>
          <p:nvPr/>
        </p:nvSpPr>
        <p:spPr>
          <a:xfrm>
            <a:off x="6553200" y="2495947"/>
            <a:ext cx="508000" cy="12700"/>
          </a:xfrm>
          <a:prstGeom prst="rect">
            <a:avLst/>
          </a:prstGeom>
          <a:solidFill>
            <a:srgbClr val="C8CFD8"/>
          </a:solidFill>
          <a:ln>
            <a:noFill/>
          </a:ln>
        </p:spPr>
        <p:txBody>
          <a:bodyPr rtlCol="0" anchor="ctr"/>
          <a:lstStyle/>
          <a:p>
            <a:pPr algn="ctr"/>
            <a:endParaRPr lang="ko-KR" dirty="0"/>
          </a:p>
        </p:txBody>
      </p:sp>
      <p:sp>
        <p:nvSpPr>
          <p:cNvPr id="27" name="i"/>
          <p:cNvSpPr/>
          <p:nvPr/>
        </p:nvSpPr>
        <p:spPr>
          <a:xfrm>
            <a:off x="6654800" y="2349897"/>
            <a:ext cx="304800" cy="304800"/>
          </a:xfrm>
          <a:prstGeom prst="ellipse">
            <a:avLst/>
          </a:prstGeom>
          <a:solidFill>
            <a:srgbClr val="102A4C"/>
          </a:solidFill>
          <a:ln>
            <a:noFill/>
          </a:ln>
        </p:spPr>
        <p:txBody>
          <a:bodyPr rtlCol="0" anchor="ctr"/>
          <a:lstStyle/>
          <a:p>
            <a:pPr algn="ctr"/>
            <a:endParaRPr lang="ko-KR" dirty="0"/>
          </a:p>
        </p:txBody>
      </p:sp>
      <p:sp>
        <p:nvSpPr>
          <p:cNvPr id="28" name="svg path"/>
          <p:cNvSpPr/>
          <p:nvPr/>
        </p:nvSpPr>
        <p:spPr>
          <a:xfrm>
            <a:off x="6788150" y="24641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29" name="t2-cell t2-obj r1"/>
          <p:cNvSpPr/>
          <p:nvPr/>
        </p:nvSpPr>
        <p:spPr>
          <a:xfrm>
            <a:off x="7067550" y="19752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30" name="t2-ic"/>
          <p:cNvSpPr/>
          <p:nvPr/>
        </p:nvSpPr>
        <p:spPr>
          <a:xfrm>
            <a:off x="609600" y="34166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31" name="svg path"/>
          <p:cNvSpPr/>
          <p:nvPr/>
        </p:nvSpPr>
        <p:spPr>
          <a:xfrm>
            <a:off x="774700" y="3581797"/>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2" name="svg path"/>
          <p:cNvSpPr/>
          <p:nvPr/>
        </p:nvSpPr>
        <p:spPr>
          <a:xfrm>
            <a:off x="774700" y="367069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774700" y="371514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4" name="t2-cell t2-lim r2"/>
          <p:cNvSpPr/>
          <p:nvPr/>
        </p:nvSpPr>
        <p:spPr>
          <a:xfrm>
            <a:off x="2590800" y="31372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5" name="svg path"/>
          <p:cNvSpPr/>
          <p:nvPr/>
        </p:nvSpPr>
        <p:spPr>
          <a:xfrm>
            <a:off x="2851150" y="38617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36" name="t2-go r2::before"/>
          <p:cNvSpPr/>
          <p:nvPr/>
        </p:nvSpPr>
        <p:spPr>
          <a:xfrm>
            <a:off x="6553200" y="3664347"/>
            <a:ext cx="508000" cy="12700"/>
          </a:xfrm>
          <a:prstGeom prst="rect">
            <a:avLst/>
          </a:prstGeom>
          <a:solidFill>
            <a:srgbClr val="C8CFD8"/>
          </a:solidFill>
          <a:ln>
            <a:noFill/>
          </a:ln>
        </p:spPr>
        <p:txBody>
          <a:bodyPr rtlCol="0" anchor="ctr"/>
          <a:lstStyle/>
          <a:p>
            <a:pPr algn="ctr"/>
            <a:endParaRPr lang="ko-KR" dirty="0"/>
          </a:p>
        </p:txBody>
      </p:sp>
      <p:sp>
        <p:nvSpPr>
          <p:cNvPr id="37" name="i"/>
          <p:cNvSpPr/>
          <p:nvPr/>
        </p:nvSpPr>
        <p:spPr>
          <a:xfrm>
            <a:off x="6654800" y="3518297"/>
            <a:ext cx="304800" cy="304800"/>
          </a:xfrm>
          <a:prstGeom prst="ellipse">
            <a:avLst/>
          </a:prstGeom>
          <a:solidFill>
            <a:srgbClr val="102A4C"/>
          </a:solidFill>
          <a:ln>
            <a:noFill/>
          </a:ln>
        </p:spPr>
        <p:txBody>
          <a:bodyPr rtlCol="0" anchor="ctr"/>
          <a:lstStyle/>
          <a:p>
            <a:pPr algn="ctr"/>
            <a:endParaRPr lang="ko-KR" dirty="0"/>
          </a:p>
        </p:txBody>
      </p:sp>
      <p:sp>
        <p:nvSpPr>
          <p:cNvPr id="38" name="svg path"/>
          <p:cNvSpPr/>
          <p:nvPr/>
        </p:nvSpPr>
        <p:spPr>
          <a:xfrm>
            <a:off x="6788150" y="36325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39" name="t2-cell t2-obj r2"/>
          <p:cNvSpPr/>
          <p:nvPr/>
        </p:nvSpPr>
        <p:spPr>
          <a:xfrm>
            <a:off x="7067550" y="31436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0" name="t2-ic"/>
          <p:cNvSpPr/>
          <p:nvPr/>
        </p:nvSpPr>
        <p:spPr>
          <a:xfrm>
            <a:off x="609600" y="45850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41" name="svg path"/>
          <p:cNvSpPr/>
          <p:nvPr/>
        </p:nvSpPr>
        <p:spPr>
          <a:xfrm>
            <a:off x="774700" y="4788297"/>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774700" y="4839097"/>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774700" y="4816872"/>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44" name="svg rect"/>
          <p:cNvSpPr/>
          <p:nvPr/>
        </p:nvSpPr>
        <p:spPr>
          <a:xfrm>
            <a:off x="768350" y="4908947"/>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45" name="svg path"/>
          <p:cNvSpPr/>
          <p:nvPr/>
        </p:nvSpPr>
        <p:spPr>
          <a:xfrm>
            <a:off x="806450" y="4908947"/>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46" name="t2-cell t2-lim r3"/>
          <p:cNvSpPr/>
          <p:nvPr/>
        </p:nvSpPr>
        <p:spPr>
          <a:xfrm>
            <a:off x="2590800" y="43056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svg path"/>
          <p:cNvSpPr/>
          <p:nvPr/>
        </p:nvSpPr>
        <p:spPr>
          <a:xfrm>
            <a:off x="2851150" y="50301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48" name="t2-go r3::before"/>
          <p:cNvSpPr/>
          <p:nvPr/>
        </p:nvSpPr>
        <p:spPr>
          <a:xfrm>
            <a:off x="6553200" y="4832747"/>
            <a:ext cx="508000" cy="12700"/>
          </a:xfrm>
          <a:prstGeom prst="rect">
            <a:avLst/>
          </a:prstGeom>
          <a:solidFill>
            <a:srgbClr val="C8CFD8"/>
          </a:solidFill>
          <a:ln>
            <a:noFill/>
          </a:ln>
        </p:spPr>
        <p:txBody>
          <a:bodyPr rtlCol="0" anchor="ctr"/>
          <a:lstStyle/>
          <a:p>
            <a:pPr algn="ctr"/>
            <a:endParaRPr lang="ko-KR" dirty="0"/>
          </a:p>
        </p:txBody>
      </p:sp>
      <p:sp>
        <p:nvSpPr>
          <p:cNvPr id="49" name="i"/>
          <p:cNvSpPr/>
          <p:nvPr/>
        </p:nvSpPr>
        <p:spPr>
          <a:xfrm>
            <a:off x="6654800" y="4686697"/>
            <a:ext cx="304800" cy="3048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6788150" y="48009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51" name="t2-cell t2-obj r3"/>
          <p:cNvSpPr/>
          <p:nvPr/>
        </p:nvSpPr>
        <p:spPr>
          <a:xfrm>
            <a:off x="7067550" y="43120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2" name="keybar t2-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53" name="02"/>
          <p:cNvSpPr txBox="1"/>
          <p:nvPr/>
        </p:nvSpPr>
        <p:spPr>
          <a:xfrm>
            <a:off x="609600" y="401439"/>
            <a:ext cx="212527"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02</a:t>
            </a:r>
            <a:endParaRPr lang="en-US" sz="950" dirty="0"/>
          </a:p>
        </p:txBody>
      </p:sp>
      <p:sp>
        <p:nvSpPr>
          <p:cNvPr id="54" name="기존 연구 한계 및 연구 목표"/>
          <p:cNvSpPr txBox="1"/>
          <p:nvPr/>
        </p:nvSpPr>
        <p:spPr>
          <a:xfrm>
            <a:off x="860227" y="401439"/>
            <a:ext cx="133736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기존 연구 한계 및 연구 목표</a:t>
            </a:r>
            <a:endParaRPr lang="en-US" sz="950" dirty="0"/>
          </a:p>
        </p:txBody>
      </p:sp>
      <p:sp>
        <p:nvSpPr>
          <p:cNvPr id="55" name="기존 연구로는 왜 안 되는가"/>
          <p:cNvSpPr txBox="1"/>
          <p:nvPr/>
        </p:nvSpPr>
        <p:spPr>
          <a:xfrm>
            <a:off x="2306042" y="401439"/>
            <a:ext cx="131307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기존 연구로는 왜 안 되는가</a:t>
            </a:r>
            <a:endParaRPr lang="en-US" sz="950" dirty="0"/>
          </a:p>
        </p:txBody>
      </p:sp>
      <p:sp>
        <p:nvSpPr>
          <p:cNvPr id="56" name="기존 연구의 세 가지 한계를"/>
          <p:cNvSpPr txBox="1"/>
          <p:nvPr/>
        </p:nvSpPr>
        <p:spPr>
          <a:xfrm>
            <a:off x="609600" y="666750"/>
            <a:ext cx="3034840"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기존 연구의 세 가지 한계를</a:t>
            </a:r>
            <a:endParaRPr lang="en-US" sz="2300" dirty="0"/>
          </a:p>
        </p:txBody>
      </p:sp>
      <p:sp>
        <p:nvSpPr>
          <p:cNvPr id="57" name="세 가지 연구 목표로 하나씩 해결합니다."/>
          <p:cNvSpPr txBox="1"/>
          <p:nvPr/>
        </p:nvSpPr>
        <p:spPr>
          <a:xfrm>
            <a:off x="609600" y="1028898"/>
            <a:ext cx="4445826" cy="349250"/>
          </a:xfrm>
          <a:prstGeom prst="rect">
            <a:avLst/>
          </a:prstGeom>
          <a:noFill/>
          <a:ln/>
        </p:spPr>
        <p:txBody>
          <a:bodyPr wrap="none" lIns="0" tIns="0" rIns="0" bIns="0" rtlCol="0" anchor="ctr"/>
          <a:lstStyle/>
          <a:p>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세 가지 연구 목표</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로 하나씩 해결합니다.</a:t>
            </a:r>
            <a:endParaRPr lang="en-US" sz="2300" dirty="0"/>
          </a:p>
        </p:txBody>
      </p:sp>
      <p:sp>
        <p:nvSpPr>
          <p:cNvPr id="5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02</a:t>
            </a:r>
            <a:endParaRPr lang="en-US" sz="700" dirty="0"/>
          </a:p>
        </p:txBody>
      </p:sp>
      <p:sp>
        <p:nvSpPr>
          <p:cNvPr id="6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3" name="쟁점"/>
          <p:cNvSpPr txBox="1"/>
          <p:nvPr/>
        </p:nvSpPr>
        <p:spPr>
          <a:xfrm>
            <a:off x="609600" y="1673622"/>
            <a:ext cx="246063" cy="127000"/>
          </a:xfrm>
          <a:prstGeom prst="rect">
            <a:avLst/>
          </a:prstGeom>
          <a:noFill/>
          <a:ln/>
        </p:spPr>
        <p:txBody>
          <a:bodyPr wrap="none" lIns="0" tIns="0" rIns="0" bIns="0" rtlCol="0" anchor="ctr"/>
          <a:lstStyle/>
          <a:p>
            <a:pPr algn="l" indent="0" marL="0">
              <a:buNone/>
            </a:pPr>
            <a:r>
              <a:rPr lang="ko-KR" altLang="en-US" sz="850" b="1" spc="34" kern="0" dirty="0">
                <a:solidFill>
                  <a:srgbClr val="737C8B"/>
                </a:solidFill>
                <a:latin typeface="Pretendard" pitchFamily="34" charset="0"/>
                <a:ea typeface="Pretendard" pitchFamily="34" charset="-127"/>
                <a:cs typeface="Pretendard" pitchFamily="34" charset="-120"/>
              </a:rPr>
              <a:t>쟁점</a:t>
            </a:r>
            <a:endParaRPr lang="en-US" sz="850" dirty="0"/>
          </a:p>
        </p:txBody>
      </p:sp>
      <p:sp>
        <p:nvSpPr>
          <p:cNvPr id="64" name="기존 연구의 한계"/>
          <p:cNvSpPr txBox="1"/>
          <p:nvPr/>
        </p:nvSpPr>
        <p:spPr>
          <a:xfrm>
            <a:off x="2857500" y="1645047"/>
            <a:ext cx="1005969" cy="184150"/>
          </a:xfrm>
          <a:prstGeom prst="rect">
            <a:avLst/>
          </a:prstGeom>
          <a:noFill/>
          <a:ln/>
        </p:spPr>
        <p:txBody>
          <a:bodyPr wrap="none" lIns="0" tIns="0" rIns="0" bIns="0" rtlCol="0" anchor="ctr"/>
          <a:lstStyle/>
          <a:p>
            <a:pPr algn="l" indent="0" marL="0">
              <a:buNone/>
            </a:pPr>
            <a:r>
              <a:rPr lang="ko-KR" altLang="en-US" sz="1200" spc="-36" kern="0" dirty="0">
                <a:solidFill>
                  <a:srgbClr val="737C8B"/>
                </a:solidFill>
                <a:latin typeface="Pretendard ExtraBold" pitchFamily="34" charset="0"/>
                <a:ea typeface="Pretendard ExtraBold" pitchFamily="34" charset="-127"/>
                <a:cs typeface="Pretendard ExtraBold" pitchFamily="34" charset="-120"/>
              </a:rPr>
              <a:t>기존 연구의 한계</a:t>
            </a:r>
            <a:endParaRPr lang="en-US" sz="1200" dirty="0"/>
          </a:p>
        </p:txBody>
      </p:sp>
      <p:sp>
        <p:nvSpPr>
          <p:cNvPr id="65" name="연구 목표"/>
          <p:cNvSpPr txBox="1"/>
          <p:nvPr/>
        </p:nvSpPr>
        <p:spPr>
          <a:xfrm>
            <a:off x="73279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200" dirty="0"/>
          </a:p>
        </p:txBody>
      </p:sp>
      <p:sp>
        <p:nvSpPr>
          <p:cNvPr id="66" name="높이 정보"/>
          <p:cNvSpPr txBox="1"/>
          <p:nvPr/>
        </p:nvSpPr>
        <p:spPr>
          <a:xfrm>
            <a:off x="1270000" y="23879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높이 정보</a:t>
            </a:r>
            <a:endParaRPr lang="en-US" sz="1500" dirty="0"/>
          </a:p>
        </p:txBody>
      </p:sp>
      <p:sp>
        <p:nvSpPr>
          <p:cNvPr id="67" name="한계 1"/>
          <p:cNvSpPr txBox="1"/>
          <p:nvPr/>
        </p:nvSpPr>
        <p:spPr>
          <a:xfrm>
            <a:off x="2819400" y="214858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1</a:t>
            </a:r>
            <a:endParaRPr lang="en-US" sz="800" dirty="0"/>
          </a:p>
        </p:txBody>
      </p:sp>
      <p:sp>
        <p:nvSpPr>
          <p:cNvPr id="68" name="평면도 한 장만 사용"/>
          <p:cNvSpPr txBox="1"/>
          <p:nvPr/>
        </p:nvSpPr>
        <p:spPr>
          <a:xfrm>
            <a:off x="2819400" y="2370832"/>
            <a:ext cx="1260064"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평면도 한 장만 사용</a:t>
            </a:r>
            <a:endParaRPr lang="en-US" sz="1300" dirty="0"/>
          </a:p>
        </p:txBody>
      </p:sp>
      <p:sp>
        <p:nvSpPr>
          <p:cNvPr id="69" name="높이 정보를 알 수 없음 (수동 입력·고정값)"/>
          <p:cNvSpPr txBox="1"/>
          <p:nvPr/>
        </p:nvSpPr>
        <p:spPr>
          <a:xfrm>
            <a:off x="2997200" y="2642592"/>
            <a:ext cx="25075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높이 정보를 알 수 없음 (수동 입력·고정값)</a:t>
            </a:r>
            <a:endParaRPr lang="en-US" sz="1200" dirty="0"/>
          </a:p>
        </p:txBody>
      </p:sp>
      <p:sp>
        <p:nvSpPr>
          <p:cNvPr id="70" name="목표 1"/>
          <p:cNvSpPr txBox="1"/>
          <p:nvPr/>
        </p:nvSpPr>
        <p:spPr>
          <a:xfrm>
            <a:off x="7302500" y="214481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1</a:t>
            </a:r>
            <a:endParaRPr lang="en-US" sz="800" dirty="0"/>
          </a:p>
        </p:txBody>
      </p:sp>
      <p:sp>
        <p:nvSpPr>
          <p:cNvPr id="71" name="평면도와 입면도 정보를 통합해"/>
          <p:cNvSpPr txBox="1"/>
          <p:nvPr/>
        </p:nvSpPr>
        <p:spPr>
          <a:xfrm>
            <a:off x="7302500" y="2367062"/>
            <a:ext cx="2275078"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평면도와 입면도 정보를 통합해</a:t>
            </a:r>
            <a:endParaRPr lang="en-US" sz="1500" dirty="0"/>
          </a:p>
        </p:txBody>
      </p:sp>
      <p:sp>
        <p:nvSpPr>
          <p:cNvPr id="72" name="완전한 3차원 BIM 생성"/>
          <p:cNvSpPr txBox="1"/>
          <p:nvPr/>
        </p:nvSpPr>
        <p:spPr>
          <a:xfrm>
            <a:off x="7302500" y="2646462"/>
            <a:ext cx="14094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완전한 3차원 BIM 생성</a:t>
            </a:r>
            <a:endParaRPr lang="en-US" sz="1200" dirty="0"/>
          </a:p>
        </p:txBody>
      </p:sp>
      <p:sp>
        <p:nvSpPr>
          <p:cNvPr id="73" name="CAD 의존"/>
          <p:cNvSpPr txBox="1"/>
          <p:nvPr/>
        </p:nvSpPr>
        <p:spPr>
          <a:xfrm>
            <a:off x="1270000" y="3556397"/>
            <a:ext cx="795238"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CAD 의존</a:t>
            </a:r>
            <a:endParaRPr lang="en-US" sz="1500" dirty="0"/>
          </a:p>
        </p:txBody>
      </p:sp>
      <p:sp>
        <p:nvSpPr>
          <p:cNvPr id="74" name="한계 2"/>
          <p:cNvSpPr txBox="1"/>
          <p:nvPr/>
        </p:nvSpPr>
        <p:spPr>
          <a:xfrm>
            <a:off x="2819400" y="331698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2</a:t>
            </a:r>
            <a:endParaRPr lang="en-US" sz="800" dirty="0"/>
          </a:p>
        </p:txBody>
      </p:sp>
      <p:sp>
        <p:nvSpPr>
          <p:cNvPr id="75" name="CAD 레이어·블록 같은 정보에 의존"/>
          <p:cNvSpPr txBox="1"/>
          <p:nvPr/>
        </p:nvSpPr>
        <p:spPr>
          <a:xfrm>
            <a:off x="2819400" y="3539232"/>
            <a:ext cx="227918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CAD 레이어·블록 같은 정보에 의존</a:t>
            </a:r>
            <a:endParaRPr lang="en-US" sz="1300" dirty="0"/>
          </a:p>
        </p:txBody>
      </p:sp>
      <p:sp>
        <p:nvSpPr>
          <p:cNvPr id="76" name="이미지로만 남은 실제 도면에는 적용 불가"/>
          <p:cNvSpPr txBox="1"/>
          <p:nvPr/>
        </p:nvSpPr>
        <p:spPr>
          <a:xfrm>
            <a:off x="2997200" y="3810992"/>
            <a:ext cx="2464072"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이미지로만 남은 실제 도면에는 적용 불가</a:t>
            </a:r>
            <a:endParaRPr lang="en-US" sz="1200" dirty="0"/>
          </a:p>
        </p:txBody>
      </p:sp>
      <p:sp>
        <p:nvSpPr>
          <p:cNvPr id="77" name="목표 2"/>
          <p:cNvSpPr txBox="1"/>
          <p:nvPr/>
        </p:nvSpPr>
        <p:spPr>
          <a:xfrm>
            <a:off x="7302500" y="331321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2</a:t>
            </a:r>
            <a:endParaRPr lang="en-US" sz="800" dirty="0"/>
          </a:p>
        </p:txBody>
      </p:sp>
      <p:sp>
        <p:nvSpPr>
          <p:cNvPr id="78" name="CAD 정보 없이 이미지만으로"/>
          <p:cNvSpPr txBox="1"/>
          <p:nvPr/>
        </p:nvSpPr>
        <p:spPr>
          <a:xfrm>
            <a:off x="7302500" y="3535462"/>
            <a:ext cx="218873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CAD 정보 없이 이미지만으로</a:t>
            </a:r>
            <a:endParaRPr lang="en-US" sz="1500" dirty="0"/>
          </a:p>
        </p:txBody>
      </p:sp>
      <p:sp>
        <p:nvSpPr>
          <p:cNvPr id="79" name="평면도·입면도 간 대응 객체 정의"/>
          <p:cNvSpPr txBox="1"/>
          <p:nvPr/>
        </p:nvSpPr>
        <p:spPr>
          <a:xfrm>
            <a:off x="7302500" y="3814862"/>
            <a:ext cx="1928221"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평면도·입면도 간 대응 객체 정의</a:t>
            </a:r>
            <a:endParaRPr lang="en-US" sz="1200" dirty="0"/>
          </a:p>
        </p:txBody>
      </p:sp>
      <p:sp>
        <p:nvSpPr>
          <p:cNvPr id="80" name="치수 의존"/>
          <p:cNvSpPr txBox="1"/>
          <p:nvPr/>
        </p:nvSpPr>
        <p:spPr>
          <a:xfrm>
            <a:off x="1270000" y="47247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치수 의존</a:t>
            </a:r>
            <a:endParaRPr lang="en-US" sz="1500" dirty="0"/>
          </a:p>
        </p:txBody>
      </p:sp>
      <p:sp>
        <p:nvSpPr>
          <p:cNvPr id="81" name="한계 3"/>
          <p:cNvSpPr txBox="1"/>
          <p:nvPr/>
        </p:nvSpPr>
        <p:spPr>
          <a:xfrm>
            <a:off x="2819400" y="448538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3</a:t>
            </a:r>
            <a:endParaRPr lang="en-US" sz="800" dirty="0"/>
          </a:p>
        </p:txBody>
      </p:sp>
      <p:sp>
        <p:nvSpPr>
          <p:cNvPr id="82" name="치수 글자 인식(OCR)에 의존"/>
          <p:cNvSpPr txBox="1"/>
          <p:nvPr/>
        </p:nvSpPr>
        <p:spPr>
          <a:xfrm>
            <a:off x="2819400" y="4707632"/>
            <a:ext cx="189057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치수 글자 인식(OCR)에 의존</a:t>
            </a:r>
            <a:endParaRPr lang="en-US" sz="1300" dirty="0"/>
          </a:p>
        </p:txBody>
      </p:sp>
      <p:sp>
        <p:nvSpPr>
          <p:cNvPr id="83" name="치수가 빠지거나 겹치면 부정확"/>
          <p:cNvSpPr txBox="1"/>
          <p:nvPr/>
        </p:nvSpPr>
        <p:spPr>
          <a:xfrm>
            <a:off x="2997200" y="4979392"/>
            <a:ext cx="1855863"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치수가 빠지거나 겹치면 부정확</a:t>
            </a:r>
            <a:endParaRPr lang="en-US" sz="1200" dirty="0"/>
          </a:p>
        </p:txBody>
      </p:sp>
      <p:sp>
        <p:nvSpPr>
          <p:cNvPr id="84" name="목표 3"/>
          <p:cNvSpPr txBox="1"/>
          <p:nvPr/>
        </p:nvSpPr>
        <p:spPr>
          <a:xfrm>
            <a:off x="7302500" y="448161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3</a:t>
            </a:r>
            <a:endParaRPr lang="en-US" sz="800" dirty="0"/>
          </a:p>
        </p:txBody>
      </p:sp>
      <p:sp>
        <p:nvSpPr>
          <p:cNvPr id="85" name="LMM(대형 멀티모달 모델)으로 축척을 인식해"/>
          <p:cNvSpPr txBox="1"/>
          <p:nvPr/>
        </p:nvSpPr>
        <p:spPr>
          <a:xfrm>
            <a:off x="7302500" y="4703862"/>
            <a:ext cx="340662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LMM(대형 멀티모달 모델)으로 축척을 인식해</a:t>
            </a:r>
            <a:endParaRPr lang="en-US" sz="1500" dirty="0"/>
          </a:p>
        </p:txBody>
      </p:sp>
      <p:sp>
        <p:nvSpPr>
          <p:cNvPr id="86" name="안정적으로 치수 보정"/>
          <p:cNvSpPr txBox="1"/>
          <p:nvPr/>
        </p:nvSpPr>
        <p:spPr>
          <a:xfrm>
            <a:off x="7302500" y="4983262"/>
            <a:ext cx="1282150"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안정적으로 치수 보정</a:t>
            </a:r>
            <a:endParaRPr lang="en-US" sz="1200" dirty="0"/>
          </a:p>
        </p:txBody>
      </p:sp>
      <p:sp>
        <p:nvSpPr>
          <p:cNvPr id="87"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88" name="딥러닝 기반 도면 객체 인식과 평면도·입면도 간 직접 매칭으로,"/>
          <p:cNvSpPr txBox="1"/>
          <p:nvPr/>
        </p:nvSpPr>
        <p:spPr>
          <a:xfrm>
            <a:off x="1854994" y="5755680"/>
            <a:ext cx="4142615"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딥러닝 기반 도면 객체 인식과 평면도·입면도 간 직접 매칭으로,</a:t>
            </a:r>
            <a:endParaRPr lang="en-US" sz="1350" dirty="0"/>
          </a:p>
        </p:txBody>
      </p:sp>
      <p:sp>
        <p:nvSpPr>
          <p:cNvPr id="89" name="정확한 3차원 정보를 가진 BIM 자동 생성 방법을 제안합니다."/>
          <p:cNvSpPr txBox="1"/>
          <p:nvPr/>
        </p:nvSpPr>
        <p:spPr>
          <a:xfrm>
            <a:off x="1854994" y="5995690"/>
            <a:ext cx="4059845" cy="209550"/>
          </a:xfrm>
          <a:prstGeom prst="rect">
            <a:avLst/>
          </a:prstGeom>
          <a:noFill/>
          <a:ln/>
        </p:spPr>
        <p:txBody>
          <a:bodyPr wrap="none" lIns="0" tIns="0" rIns="0" bIns="0" rtlCol="0" anchor="ctr"/>
          <a:lstStyle/>
          <a:p>
            <a:pPr algn="l" indent="0" marL="0">
              <a:buNone/>
            </a:pPr>
            <a:r>
              <a:rPr lang="ko-KR" altLang="en-US" sz="1350" b="1" spc="-47" kern="0" dirty="0">
                <a:solidFill>
                  <a:srgbClr val="FFB3C1"/>
                </a:solidFill>
                <a:latin typeface="Pretendard" pitchFamily="34" charset="0"/>
                <a:ea typeface="Pretendard" pitchFamily="34" charset="-127"/>
                <a:cs typeface="Pretendard" pitchFamily="34" charset="-120"/>
              </a:rPr>
              <a:t>정확한 3차원 정보를 가진 BIM 자동 생성 방법</a:t>
            </a:r>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을 제안합니다.</a:t>
            </a:r>
            <a:endParaRPr lang="en-US" sz="1350" dirty="0"/>
          </a:p>
        </p:txBody>
      </p:sp>
      <p:sp>
        <p:nvSpPr>
          <p:cNvPr id="90"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1" name="02 / 05"/>
          <p:cNvSpPr txBox="1"/>
          <p:nvPr/>
        </p:nvSpPr>
        <p:spPr>
          <a:xfrm>
            <a:off x="11219458" y="6472238"/>
            <a:ext cx="413742"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02</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gh g1::after"/>
          <p:cNvSpPr/>
          <p:nvPr/>
        </p:nvSpPr>
        <p:spPr>
          <a:xfrm>
            <a:off x="1256903" y="1733947"/>
            <a:ext cx="4686697"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gh g2::after"/>
          <p:cNvSpPr/>
          <p:nvPr/>
        </p:nvSpPr>
        <p:spPr>
          <a:xfrm>
            <a:off x="6967141" y="1733947"/>
            <a:ext cx="4615259"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t k1"/>
          <p:cNvSpPr/>
          <p:nvPr/>
        </p:nvSpPr>
        <p:spPr>
          <a:xfrm>
            <a:off x="6096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12" name="fig"/>
          <p:cNvSpPr/>
          <p:nvPr/>
        </p:nvSpPr>
        <p:spPr>
          <a:xfrm>
            <a:off x="7905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13" name="seg a" descr="seg a">    </p:cNvPr>
          <p:cNvPicPr>
            <a:picLocks noChangeAspect="1"/>
          </p:cNvPicPr>
          <p:nvPr/>
        </p:nvPicPr>
        <p:blipFill>
          <a:blip r:embed="rId1"/>
          <a:stretch>
            <a:fillRect/>
          </a:stretch>
        </p:blipFill>
        <p:spPr>
          <a:xfrm>
            <a:off x="1047882" y="2204211"/>
            <a:ext cx="1644650" cy="641350"/>
          </a:xfrm>
          <a:prstGeom prst="rect">
            <a:avLst/>
          </a:prstGeom>
        </p:spPr>
      </p:pic>
      <p:pic>
        <p:nvPicPr>
          <p:cNvPr id="14" name="seg b" descr="seg b">    </p:cNvPr>
          <p:cNvPicPr>
            <a:picLocks noChangeAspect="1"/>
          </p:cNvPicPr>
          <p:nvPr/>
        </p:nvPicPr>
        <p:blipFill>
          <a:blip r:embed="rId2"/>
          <a:stretch>
            <a:fillRect/>
          </a:stretch>
        </p:blipFill>
        <p:spPr>
          <a:xfrm>
            <a:off x="1047882" y="2921397"/>
            <a:ext cx="1644650" cy="711200"/>
          </a:xfrm>
          <a:prstGeom prst="rect">
            <a:avLst/>
          </a:prstGeom>
        </p:spPr>
      </p:pic>
      <p:sp>
        <p:nvSpPr>
          <p:cNvPr id="15" name="tq 선"/>
          <p:cNvSpPr/>
          <p:nvPr/>
        </p:nvSpPr>
        <p:spPr>
          <a:xfrm>
            <a:off x="7905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16" name="chip"/>
          <p:cNvSpPr/>
          <p:nvPr/>
        </p:nvSpPr>
        <p:spPr>
          <a:xfrm>
            <a:off x="790575" y="5604272"/>
            <a:ext cx="1387475"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17" name="i"/>
          <p:cNvSpPr/>
          <p:nvPr/>
        </p:nvSpPr>
        <p:spPr>
          <a:xfrm>
            <a:off x="31496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18" name="svg path"/>
          <p:cNvSpPr/>
          <p:nvPr/>
        </p:nvSpPr>
        <p:spPr>
          <a:xfrm>
            <a:off x="32623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19" name="st k2"/>
          <p:cNvSpPr/>
          <p:nvPr/>
        </p:nvSpPr>
        <p:spPr>
          <a:xfrm>
            <a:off x="34290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20" name="fig"/>
          <p:cNvSpPr/>
          <p:nvPr/>
        </p:nvSpPr>
        <p:spPr>
          <a:xfrm>
            <a:off x="36099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21" name="seg a" descr="seg a">    </p:cNvPr>
          <p:cNvPicPr>
            <a:picLocks noChangeAspect="1"/>
          </p:cNvPicPr>
          <p:nvPr/>
        </p:nvPicPr>
        <p:blipFill>
          <a:blip r:embed="rId3"/>
          <a:stretch>
            <a:fillRect/>
          </a:stretch>
        </p:blipFill>
        <p:spPr>
          <a:xfrm>
            <a:off x="3867282" y="2204211"/>
            <a:ext cx="1644650" cy="641350"/>
          </a:xfrm>
          <a:prstGeom prst="rect">
            <a:avLst/>
          </a:prstGeom>
        </p:spPr>
      </p:pic>
      <p:pic>
        <p:nvPicPr>
          <p:cNvPr id="22" name="seg b" descr="seg b">    </p:cNvPr>
          <p:cNvPicPr>
            <a:picLocks noChangeAspect="1"/>
          </p:cNvPicPr>
          <p:nvPr/>
        </p:nvPicPr>
        <p:blipFill>
          <a:blip r:embed="rId4"/>
          <a:stretch>
            <a:fillRect/>
          </a:stretch>
        </p:blipFill>
        <p:spPr>
          <a:xfrm>
            <a:off x="3867282" y="2921397"/>
            <a:ext cx="1644650" cy="711200"/>
          </a:xfrm>
          <a:prstGeom prst="rect">
            <a:avLst/>
          </a:prstGeom>
        </p:spPr>
      </p:pic>
      <p:sp>
        <p:nvSpPr>
          <p:cNvPr id="23" name="tq 선"/>
          <p:cNvSpPr/>
          <p:nvPr/>
        </p:nvSpPr>
        <p:spPr>
          <a:xfrm>
            <a:off x="36099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24" name="chip"/>
          <p:cNvSpPr/>
          <p:nvPr/>
        </p:nvSpPr>
        <p:spPr>
          <a:xfrm>
            <a:off x="3609975" y="5604272"/>
            <a:ext cx="192285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5" name="chip"/>
          <p:cNvSpPr/>
          <p:nvPr/>
        </p:nvSpPr>
        <p:spPr>
          <a:xfrm>
            <a:off x="3609975" y="5909072"/>
            <a:ext cx="145424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6" name="i"/>
          <p:cNvSpPr/>
          <p:nvPr/>
        </p:nvSpPr>
        <p:spPr>
          <a:xfrm>
            <a:off x="59690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27" name="svg path"/>
          <p:cNvSpPr/>
          <p:nvPr/>
        </p:nvSpPr>
        <p:spPr>
          <a:xfrm>
            <a:off x="60817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28" name="st k3"/>
          <p:cNvSpPr/>
          <p:nvPr/>
        </p:nvSpPr>
        <p:spPr>
          <a:xfrm>
            <a:off x="62484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29" name="fig"/>
          <p:cNvSpPr/>
          <p:nvPr/>
        </p:nvSpPr>
        <p:spPr>
          <a:xfrm>
            <a:off x="64293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30" name="fit" descr="fit">    </p:cNvPr>
          <p:cNvPicPr>
            <a:picLocks noChangeAspect="1"/>
          </p:cNvPicPr>
          <p:nvPr/>
        </p:nvPicPr>
        <p:blipFill>
          <a:blip r:embed="rId5"/>
          <a:stretch>
            <a:fillRect/>
          </a:stretch>
        </p:blipFill>
        <p:spPr>
          <a:xfrm>
            <a:off x="6553795" y="2153047"/>
            <a:ext cx="1911350" cy="1536700"/>
          </a:xfrm>
          <a:prstGeom prst="rect">
            <a:avLst/>
          </a:prstGeom>
        </p:spPr>
      </p:pic>
      <p:sp>
        <p:nvSpPr>
          <p:cNvPr id="31" name="tq 선"/>
          <p:cNvSpPr/>
          <p:nvPr/>
        </p:nvSpPr>
        <p:spPr>
          <a:xfrm>
            <a:off x="64293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32" name="chip"/>
          <p:cNvSpPr/>
          <p:nvPr/>
        </p:nvSpPr>
        <p:spPr>
          <a:xfrm>
            <a:off x="6429375" y="5604272"/>
            <a:ext cx="1168598"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3" name="chip"/>
          <p:cNvSpPr/>
          <p:nvPr/>
        </p:nvSpPr>
        <p:spPr>
          <a:xfrm>
            <a:off x="6429375" y="5909072"/>
            <a:ext cx="1750913"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4" name="i"/>
          <p:cNvSpPr/>
          <p:nvPr/>
        </p:nvSpPr>
        <p:spPr>
          <a:xfrm>
            <a:off x="87884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35" name="svg path"/>
          <p:cNvSpPr/>
          <p:nvPr/>
        </p:nvSpPr>
        <p:spPr>
          <a:xfrm>
            <a:off x="89011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36" name="st k4"/>
          <p:cNvSpPr/>
          <p:nvPr/>
        </p:nvSpPr>
        <p:spPr>
          <a:xfrm>
            <a:off x="90678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37" name="fig"/>
          <p:cNvSpPr/>
          <p:nvPr/>
        </p:nvSpPr>
        <p:spPr>
          <a:xfrm>
            <a:off x="92487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38" name="fit" descr="fit">    </p:cNvPr>
          <p:cNvPicPr>
            <a:picLocks noChangeAspect="1"/>
          </p:cNvPicPr>
          <p:nvPr/>
        </p:nvPicPr>
        <p:blipFill>
          <a:blip r:embed="rId6"/>
          <a:stretch>
            <a:fillRect/>
          </a:stretch>
        </p:blipFill>
        <p:spPr>
          <a:xfrm>
            <a:off x="9504892" y="2153047"/>
            <a:ext cx="1587500" cy="1536700"/>
          </a:xfrm>
          <a:prstGeom prst="rect">
            <a:avLst/>
          </a:prstGeom>
        </p:spPr>
      </p:pic>
      <p:sp>
        <p:nvSpPr>
          <p:cNvPr id="39" name="tq 선"/>
          <p:cNvSpPr/>
          <p:nvPr/>
        </p:nvSpPr>
        <p:spPr>
          <a:xfrm>
            <a:off x="92487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40" name="chip"/>
          <p:cNvSpPr/>
          <p:nvPr/>
        </p:nvSpPr>
        <p:spPr>
          <a:xfrm>
            <a:off x="9248775" y="5604272"/>
            <a:ext cx="1304330"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1" name="chip"/>
          <p:cNvSpPr/>
          <p:nvPr/>
        </p:nvSpPr>
        <p:spPr>
          <a:xfrm>
            <a:off x="9248775" y="5909072"/>
            <a:ext cx="695722"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2"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43"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44" name="어떻게 해결했는가"/>
          <p:cNvSpPr txBox="1"/>
          <p:nvPr/>
        </p:nvSpPr>
        <p:spPr>
          <a:xfrm>
            <a:off x="1485106" y="401439"/>
            <a:ext cx="90006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어떻게 해결했는가</a:t>
            </a:r>
            <a:endParaRPr lang="en-US" sz="950" dirty="0"/>
          </a:p>
        </p:txBody>
      </p:sp>
      <p:sp>
        <p:nvSpPr>
          <p:cNvPr id="45" name="도면 이미지만으로 객체 인식부터 BIM 생성까지"/>
          <p:cNvSpPr txBox="1"/>
          <p:nvPr/>
        </p:nvSpPr>
        <p:spPr>
          <a:xfrm>
            <a:off x="609600" y="666750"/>
            <a:ext cx="5400681"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이미지만으로 객체 인식부터 BIM 생성까지</a:t>
            </a:r>
            <a:endParaRPr lang="en-US" sz="2300" dirty="0"/>
          </a:p>
        </p:txBody>
      </p:sp>
      <p:sp>
        <p:nvSpPr>
          <p:cNvPr id="46" name="전 과정을 자동화했습니다."/>
          <p:cNvSpPr txBox="1"/>
          <p:nvPr/>
        </p:nvSpPr>
        <p:spPr>
          <a:xfrm>
            <a:off x="609600" y="1028898"/>
            <a:ext cx="2999186" cy="349250"/>
          </a:xfrm>
          <a:prstGeom prst="rect">
            <a:avLst/>
          </a:prstGeom>
          <a:noFill/>
          <a:ln/>
        </p:spPr>
        <p:txBody>
          <a:bodyPr wrap="none" lIns="0" tIns="0" rIns="0" bIns="0" rtlCol="0" anchor="ctr"/>
          <a:lstStyle/>
          <a:p>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전 과정을 자동화</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했습니다.</a:t>
            </a:r>
            <a:endParaRPr lang="en-US" sz="2300" dirty="0"/>
          </a:p>
        </p:txBody>
      </p:sp>
      <p:sp>
        <p:nvSpPr>
          <p:cNvPr id="4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4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4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5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5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52" name="도면 해석"/>
          <p:cNvSpPr txBox="1"/>
          <p:nvPr/>
        </p:nvSpPr>
        <p:spPr>
          <a:xfrm>
            <a:off x="609600" y="1645047"/>
            <a:ext cx="59650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도면 해석</a:t>
            </a:r>
            <a:endParaRPr lang="en-US" sz="1200" dirty="0"/>
          </a:p>
        </p:txBody>
      </p:sp>
      <p:sp>
        <p:nvSpPr>
          <p:cNvPr id="53" name="3D 재구성"/>
          <p:cNvSpPr txBox="1"/>
          <p:nvPr/>
        </p:nvSpPr>
        <p:spPr>
          <a:xfrm>
            <a:off x="6248400" y="1645047"/>
            <a:ext cx="667941"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3D 재구성</a:t>
            </a:r>
            <a:endParaRPr lang="en-US" sz="1200" dirty="0"/>
          </a:p>
        </p:txBody>
      </p:sp>
      <p:sp>
        <p:nvSpPr>
          <p:cNvPr id="54" name="STEP 1"/>
          <p:cNvSpPr txBox="1"/>
          <p:nvPr/>
        </p:nvSpPr>
        <p:spPr>
          <a:xfrm>
            <a:off x="787400" y="3797697"/>
            <a:ext cx="451048"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1</a:t>
            </a:r>
            <a:endParaRPr lang="en-US" sz="800" dirty="0"/>
          </a:p>
        </p:txBody>
      </p:sp>
      <p:sp>
        <p:nvSpPr>
          <p:cNvPr id="55" name="도면 이미지 입력"/>
          <p:cNvSpPr txBox="1"/>
          <p:nvPr/>
        </p:nvSpPr>
        <p:spPr>
          <a:xfrm>
            <a:off x="787400" y="3950097"/>
            <a:ext cx="1165199"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도면 이미지 입력</a:t>
            </a:r>
            <a:endParaRPr lang="en-US" sz="1400" dirty="0"/>
          </a:p>
        </p:txBody>
      </p:sp>
      <p:sp>
        <p:nvSpPr>
          <p:cNvPr id="56" name="평면도·입면도 이미지만 입력"/>
          <p:cNvSpPr txBox="1"/>
          <p:nvPr/>
        </p:nvSpPr>
        <p:spPr>
          <a:xfrm>
            <a:off x="787400" y="4235847"/>
            <a:ext cx="1373965"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평면도·입면도 이미지만 입력</a:t>
            </a:r>
            <a:endParaRPr lang="en-US" sz="950" dirty="0"/>
          </a:p>
        </p:txBody>
      </p:sp>
      <p:sp>
        <p:nvSpPr>
          <p:cNvPr id="57" name="평면도"/>
          <p:cNvSpPr txBox="1"/>
          <p:nvPr/>
        </p:nvSpPr>
        <p:spPr>
          <a:xfrm>
            <a:off x="787400" y="45152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평면도</a:t>
            </a:r>
            <a:endParaRPr lang="en-US" sz="800" dirty="0"/>
          </a:p>
        </p:txBody>
      </p:sp>
      <p:sp>
        <p:nvSpPr>
          <p:cNvPr id="58" name="창·문의 평면 위치 X·Y"/>
          <p:cNvSpPr txBox="1"/>
          <p:nvPr/>
        </p:nvSpPr>
        <p:spPr>
          <a:xfrm>
            <a:off x="1181100" y="4502547"/>
            <a:ext cx="1048143"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창·문의 평면 위치 </a:t>
            </a:r>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X·Y</a:t>
            </a:r>
            <a:endParaRPr lang="en-US" sz="950" dirty="0"/>
          </a:p>
        </p:txBody>
      </p:sp>
      <p:sp>
        <p:nvSpPr>
          <p:cNvPr id="59" name="입면도"/>
          <p:cNvSpPr txBox="1"/>
          <p:nvPr/>
        </p:nvSpPr>
        <p:spPr>
          <a:xfrm>
            <a:off x="787400" y="47438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입면도</a:t>
            </a:r>
            <a:endParaRPr lang="en-US" sz="800" dirty="0"/>
          </a:p>
        </p:txBody>
      </p:sp>
      <p:sp>
        <p:nvSpPr>
          <p:cNvPr id="60" name="창·문이 놓인 높이 Z"/>
          <p:cNvSpPr txBox="1"/>
          <p:nvPr/>
        </p:nvSpPr>
        <p:spPr>
          <a:xfrm>
            <a:off x="1181100" y="4731147"/>
            <a:ext cx="937081"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창·문이 놓인 높이 </a:t>
            </a:r>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Z</a:t>
            </a:r>
            <a:endParaRPr lang="en-US" sz="950" dirty="0"/>
          </a:p>
        </p:txBody>
      </p:sp>
      <p:sp>
        <p:nvSpPr>
          <p:cNvPr id="61" name="입력 형식"/>
          <p:cNvSpPr txBox="1"/>
          <p:nvPr/>
        </p:nvSpPr>
        <p:spPr>
          <a:xfrm>
            <a:off x="7874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입력 형식</a:t>
            </a:r>
            <a:endParaRPr lang="en-US" sz="800" dirty="0"/>
          </a:p>
        </p:txBody>
      </p:sp>
      <p:sp>
        <p:nvSpPr>
          <p:cNvPr id="62" name="래스터 이미지"/>
          <p:cNvSpPr txBox="1"/>
          <p:nvPr/>
        </p:nvSpPr>
        <p:spPr>
          <a:xfrm>
            <a:off x="895350" y="5653286"/>
            <a:ext cx="687388"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래스터 이미지</a:t>
            </a:r>
            <a:endParaRPr lang="en-US" sz="950" dirty="0"/>
          </a:p>
        </p:txBody>
      </p:sp>
      <p:sp>
        <p:nvSpPr>
          <p:cNvPr id="63" name="(픽셀 기반)"/>
          <p:cNvSpPr txBox="1"/>
          <p:nvPr/>
        </p:nvSpPr>
        <p:spPr>
          <a:xfrm>
            <a:off x="1557338" y="5653286"/>
            <a:ext cx="56673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(픽셀 기반)</a:t>
            </a:r>
            <a:endParaRPr lang="en-US" sz="950" dirty="0"/>
          </a:p>
        </p:txBody>
      </p:sp>
      <p:sp>
        <p:nvSpPr>
          <p:cNvPr id="64" name="STEP 2"/>
          <p:cNvSpPr txBox="1"/>
          <p:nvPr/>
        </p:nvSpPr>
        <p:spPr>
          <a:xfrm>
            <a:off x="3606800" y="3797697"/>
            <a:ext cx="465237"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2</a:t>
            </a:r>
            <a:endParaRPr lang="en-US" sz="800" dirty="0"/>
          </a:p>
        </p:txBody>
      </p:sp>
      <p:sp>
        <p:nvSpPr>
          <p:cNvPr id="65" name="객체 인식"/>
          <p:cNvSpPr txBox="1"/>
          <p:nvPr/>
        </p:nvSpPr>
        <p:spPr>
          <a:xfrm>
            <a:off x="3606800" y="3950097"/>
            <a:ext cx="674191"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400" dirty="0"/>
          </a:p>
        </p:txBody>
      </p:sp>
      <p:sp>
        <p:nvSpPr>
          <p:cNvPr id="66" name="도면 속 벽·창문·문 인식"/>
          <p:cNvSpPr txBox="1"/>
          <p:nvPr/>
        </p:nvSpPr>
        <p:spPr>
          <a:xfrm>
            <a:off x="3606800" y="4235847"/>
            <a:ext cx="1110825"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도면 속 벽·창문·문 인식</a:t>
            </a:r>
            <a:endParaRPr lang="en-US" sz="950" dirty="0"/>
          </a:p>
        </p:txBody>
      </p:sp>
      <p:sp>
        <p:nvSpPr>
          <p:cNvPr id="67" name="평면도"/>
          <p:cNvSpPr txBox="1"/>
          <p:nvPr/>
        </p:nvSpPr>
        <p:spPr>
          <a:xfrm>
            <a:off x="3606800" y="45152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평면도</a:t>
            </a:r>
            <a:endParaRPr lang="en-US" sz="800" dirty="0"/>
          </a:p>
        </p:txBody>
      </p:sp>
      <p:sp>
        <p:nvSpPr>
          <p:cNvPr id="68" name="외벽 창·문을 동·서·남·북"/>
          <p:cNvSpPr txBox="1"/>
          <p:nvPr/>
        </p:nvSpPr>
        <p:spPr>
          <a:xfrm>
            <a:off x="4000500" y="4502547"/>
            <a:ext cx="1134594"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외벽 창·문을 동·서·남·북</a:t>
            </a:r>
            <a:endParaRPr lang="en-US" sz="950" dirty="0"/>
          </a:p>
        </p:txBody>
      </p:sp>
      <p:sp>
        <p:nvSpPr>
          <p:cNvPr id="69" name="방향별로 정리"/>
          <p:cNvSpPr txBox="1"/>
          <p:nvPr/>
        </p:nvSpPr>
        <p:spPr>
          <a:xfrm>
            <a:off x="4000500" y="4680347"/>
            <a:ext cx="678954" cy="146050"/>
          </a:xfrm>
          <a:prstGeom prst="rect">
            <a:avLst/>
          </a:prstGeom>
          <a:noFill/>
          <a:ln/>
        </p:spPr>
        <p:txBody>
          <a:bodyPr wrap="none" lIns="0" tIns="0" rIns="0" bIns="0" rtlCol="0" anchor="ctr"/>
          <a:lstStyle/>
          <a:p>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방향별로 정리</a:t>
            </a:r>
            <a:endParaRPr lang="en-US" sz="950" dirty="0"/>
          </a:p>
        </p:txBody>
      </p:sp>
      <p:sp>
        <p:nvSpPr>
          <p:cNvPr id="70" name="입면도"/>
          <p:cNvSpPr txBox="1"/>
          <p:nvPr/>
        </p:nvSpPr>
        <p:spPr>
          <a:xfrm>
            <a:off x="3606800" y="49216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입면도</a:t>
            </a:r>
            <a:endParaRPr lang="en-US" sz="800" dirty="0"/>
          </a:p>
        </p:txBody>
      </p:sp>
      <p:sp>
        <p:nvSpPr>
          <p:cNvPr id="71" name="같은 층 창·문끼리 묶어"/>
          <p:cNvSpPr txBox="1"/>
          <p:nvPr/>
        </p:nvSpPr>
        <p:spPr>
          <a:xfrm>
            <a:off x="4000500" y="4908947"/>
            <a:ext cx="1072332"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같은 층 창·문끼리 묶어</a:t>
            </a:r>
            <a:endParaRPr lang="en-US" sz="950" dirty="0"/>
          </a:p>
        </p:txBody>
      </p:sp>
      <p:sp>
        <p:nvSpPr>
          <p:cNvPr id="72" name="층 높이 파악"/>
          <p:cNvSpPr txBox="1"/>
          <p:nvPr/>
        </p:nvSpPr>
        <p:spPr>
          <a:xfrm>
            <a:off x="4000500" y="5086747"/>
            <a:ext cx="602456" cy="146050"/>
          </a:xfrm>
          <a:prstGeom prst="rect">
            <a:avLst/>
          </a:prstGeom>
          <a:noFill/>
          <a:ln/>
        </p:spPr>
        <p:txBody>
          <a:bodyPr wrap="none" lIns="0" tIns="0" rIns="0" bIns="0" rtlCol="0" anchor="ctr"/>
          <a:lstStyle/>
          <a:p>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층 높이 파악</a:t>
            </a:r>
            <a:endParaRPr lang="en-US" sz="950" dirty="0"/>
          </a:p>
        </p:txBody>
      </p:sp>
      <p:sp>
        <p:nvSpPr>
          <p:cNvPr id="73" name="핵심 기법"/>
          <p:cNvSpPr txBox="1"/>
          <p:nvPr/>
        </p:nvSpPr>
        <p:spPr>
          <a:xfrm>
            <a:off x="36068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74" name="YOLO + SAHI"/>
          <p:cNvSpPr txBox="1"/>
          <p:nvPr/>
        </p:nvSpPr>
        <p:spPr>
          <a:xfrm>
            <a:off x="3714750" y="5653286"/>
            <a:ext cx="76120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YOLO + SAHI</a:t>
            </a:r>
            <a:endParaRPr lang="en-US" sz="950" dirty="0"/>
          </a:p>
        </p:txBody>
      </p:sp>
      <p:sp>
        <p:nvSpPr>
          <p:cNvPr id="75" name="(작은 객체 분할 추론)"/>
          <p:cNvSpPr txBox="1"/>
          <p:nvPr/>
        </p:nvSpPr>
        <p:spPr>
          <a:xfrm>
            <a:off x="4450556" y="5653286"/>
            <a:ext cx="1036153"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(작은 객체 분할 추론)</a:t>
            </a:r>
            <a:endParaRPr lang="en-US" sz="950" dirty="0"/>
          </a:p>
        </p:txBody>
      </p:sp>
      <p:sp>
        <p:nvSpPr>
          <p:cNvPr id="76" name="DBSCAN 층별 클러스터링"/>
          <p:cNvSpPr txBox="1"/>
          <p:nvPr/>
        </p:nvSpPr>
        <p:spPr>
          <a:xfrm>
            <a:off x="3714750" y="5958086"/>
            <a:ext cx="131938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DBSCAN 층별 클러스터링</a:t>
            </a:r>
            <a:endParaRPr lang="en-US" sz="950" dirty="0"/>
          </a:p>
        </p:txBody>
      </p:sp>
      <p:sp>
        <p:nvSpPr>
          <p:cNvPr id="77" name="STEP 3"/>
          <p:cNvSpPr txBox="1"/>
          <p:nvPr/>
        </p:nvSpPr>
        <p:spPr>
          <a:xfrm>
            <a:off x="6426200" y="3797697"/>
            <a:ext cx="468114"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3</a:t>
            </a:r>
            <a:endParaRPr lang="en-US" sz="800" dirty="0"/>
          </a:p>
        </p:txBody>
      </p:sp>
      <p:sp>
        <p:nvSpPr>
          <p:cNvPr id="78" name="대응 객체 매칭"/>
          <p:cNvSpPr txBox="1"/>
          <p:nvPr/>
        </p:nvSpPr>
        <p:spPr>
          <a:xfrm>
            <a:off x="6426200" y="3950097"/>
            <a:ext cx="1008914"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400" dirty="0"/>
          </a:p>
        </p:txBody>
      </p:sp>
      <p:sp>
        <p:nvSpPr>
          <p:cNvPr id="79" name="평면도·입면도의 같은 객체끼리 짝짓기"/>
          <p:cNvSpPr txBox="1"/>
          <p:nvPr/>
        </p:nvSpPr>
        <p:spPr>
          <a:xfrm>
            <a:off x="6426200" y="4235847"/>
            <a:ext cx="1830516"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평면도·입면도의 같은 객체끼리 짝짓기</a:t>
            </a:r>
            <a:endParaRPr lang="en-US" sz="950" dirty="0"/>
          </a:p>
        </p:txBody>
      </p:sp>
      <p:sp>
        <p:nvSpPr>
          <p:cNvPr id="80" name="축척"/>
          <p:cNvSpPr txBox="1"/>
          <p:nvPr/>
        </p:nvSpPr>
        <p:spPr>
          <a:xfrm>
            <a:off x="6426200" y="451524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축척</a:t>
            </a:r>
            <a:endParaRPr lang="en-US" sz="800" dirty="0"/>
          </a:p>
        </p:txBody>
      </p:sp>
      <p:sp>
        <p:nvSpPr>
          <p:cNvPr id="81" name="LMM(GPT-4o)이 축척을 읽어"/>
          <p:cNvSpPr txBox="1"/>
          <p:nvPr/>
        </p:nvSpPr>
        <p:spPr>
          <a:xfrm>
            <a:off x="6819900" y="4502547"/>
            <a:ext cx="1483765"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LMM(GPT-4o)이 축척을 읽어</a:t>
            </a:r>
            <a:endParaRPr lang="en-US" sz="950" dirty="0"/>
          </a:p>
        </p:txBody>
      </p:sp>
      <p:sp>
        <p:nvSpPr>
          <p:cNvPr id="82" name="픽셀 → 실제 길이 환산"/>
          <p:cNvSpPr txBox="1"/>
          <p:nvPr/>
        </p:nvSpPr>
        <p:spPr>
          <a:xfrm>
            <a:off x="6819900" y="4680347"/>
            <a:ext cx="1072017" cy="146050"/>
          </a:xfrm>
          <a:prstGeom prst="rect">
            <a:avLst/>
          </a:prstGeom>
          <a:noFill/>
          <a:ln/>
        </p:spPr>
        <p:txBody>
          <a:bodyPr wrap="none" lIns="0" tIns="0" rIns="0" bIns="0" rtlCol="0" anchor="ctr"/>
          <a:lstStyle/>
          <a:p>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픽셀 → 실제 길이</a:t>
            </a:r>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 환산</a:t>
            </a:r>
            <a:endParaRPr lang="en-US" sz="950" dirty="0"/>
          </a:p>
        </p:txBody>
      </p:sp>
      <p:sp>
        <p:nvSpPr>
          <p:cNvPr id="83" name="1 px = 33.88 mm"/>
          <p:cNvSpPr txBox="1"/>
          <p:nvPr/>
        </p:nvSpPr>
        <p:spPr>
          <a:xfrm>
            <a:off x="6819900" y="4858147"/>
            <a:ext cx="968948" cy="146050"/>
          </a:xfrm>
          <a:prstGeom prst="rect">
            <a:avLst/>
          </a:prstGeom>
          <a:noFill/>
          <a:ln/>
        </p:spPr>
        <p:txBody>
          <a:bodyPr wrap="none" lIns="0" tIns="0" rIns="0" bIns="0" rtlCol="0" anchor="ctr"/>
          <a:lstStyle/>
          <a:p>
            <a:pPr algn="l" indent="0" marL="0">
              <a:buNone/>
            </a:pPr>
            <a:r>
              <a:rPr lang="ko-KR" altLang="en-US" sz="950" b="1" spc="-28" kern="0" dirty="0">
                <a:solidFill>
                  <a:srgbClr val="102A4C"/>
                </a:solidFill>
                <a:latin typeface="Pretendard" pitchFamily="34" charset="0"/>
                <a:ea typeface="Pretendard" pitchFamily="34" charset="-127"/>
                <a:cs typeface="Pretendard" pitchFamily="34" charset="-120"/>
              </a:rPr>
              <a:t>1 px = 33.88 mm</a:t>
            </a:r>
            <a:endParaRPr lang="en-US" sz="950" dirty="0"/>
          </a:p>
        </p:txBody>
      </p:sp>
      <p:sp>
        <p:nvSpPr>
          <p:cNvPr id="84" name="예시"/>
          <p:cNvSpPr txBox="1"/>
          <p:nvPr/>
        </p:nvSpPr>
        <p:spPr>
          <a:xfrm>
            <a:off x="7772102" y="4877197"/>
            <a:ext cx="219273" cy="120650"/>
          </a:xfrm>
          <a:prstGeom prst="rect">
            <a:avLst/>
          </a:prstGeom>
          <a:noFill/>
          <a:ln/>
        </p:spPr>
        <p:txBody>
          <a:bodyPr wrap="none" lIns="0" tIns="0" rIns="0" bIns="0" rtlCol="0" anchor="ctr"/>
          <a:lstStyle/>
          <a:p>
            <a:pPr algn="l" indent="0" marL="0">
              <a:buNone/>
            </a:pPr>
            <a:r>
              <a:rPr lang="ko-KR" altLang="en-US" sz="800" spc="-28" kern="0" dirty="0">
                <a:solidFill>
                  <a:srgbClr val="737C8B"/>
                </a:solidFill>
                <a:latin typeface="Pretendard SemiBold" pitchFamily="34" charset="0"/>
                <a:ea typeface="Pretendard SemiBold" pitchFamily="34" charset="-127"/>
                <a:cs typeface="Pretendard SemiBold" pitchFamily="34" charset="-120"/>
              </a:rPr>
              <a:t>예시</a:t>
            </a:r>
            <a:endParaRPr lang="en-US" sz="800" dirty="0"/>
          </a:p>
        </p:txBody>
      </p:sp>
      <p:sp>
        <p:nvSpPr>
          <p:cNvPr id="85" name="매칭"/>
          <p:cNvSpPr txBox="1"/>
          <p:nvPr/>
        </p:nvSpPr>
        <p:spPr>
          <a:xfrm>
            <a:off x="6426200" y="510579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매칭</a:t>
            </a:r>
            <a:endParaRPr lang="en-US" sz="800" dirty="0"/>
          </a:p>
        </p:txBody>
      </p:sp>
      <p:sp>
        <p:nvSpPr>
          <p:cNvPr id="86" name="X·Y + Z → 3차원 위치 확정"/>
          <p:cNvSpPr txBox="1"/>
          <p:nvPr/>
        </p:nvSpPr>
        <p:spPr>
          <a:xfrm>
            <a:off x="6819900" y="5093097"/>
            <a:ext cx="1319066"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X·Y + Z → </a:t>
            </a:r>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3차원 위치 확정</a:t>
            </a:r>
            <a:endParaRPr lang="en-US" sz="950" dirty="0"/>
          </a:p>
        </p:txBody>
      </p:sp>
      <p:sp>
        <p:nvSpPr>
          <p:cNvPr id="87" name="핵심 기법"/>
          <p:cNvSpPr txBox="1"/>
          <p:nvPr/>
        </p:nvSpPr>
        <p:spPr>
          <a:xfrm>
            <a:off x="64262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88" name="LMM 기반 축척 보정"/>
          <p:cNvSpPr txBox="1"/>
          <p:nvPr/>
        </p:nvSpPr>
        <p:spPr>
          <a:xfrm>
            <a:off x="6534150" y="5653286"/>
            <a:ext cx="101659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LMM 기반 축척 보정</a:t>
            </a:r>
            <a:endParaRPr lang="en-US" sz="950" dirty="0"/>
          </a:p>
        </p:txBody>
      </p:sp>
      <p:sp>
        <p:nvSpPr>
          <p:cNvPr id="89" name="헝가리안 알고리즘"/>
          <p:cNvSpPr txBox="1"/>
          <p:nvPr/>
        </p:nvSpPr>
        <p:spPr>
          <a:xfrm>
            <a:off x="6534150" y="5958086"/>
            <a:ext cx="891084"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헝가리안 알고리즘</a:t>
            </a:r>
            <a:endParaRPr lang="en-US" sz="950" dirty="0"/>
          </a:p>
        </p:txBody>
      </p:sp>
      <p:sp>
        <p:nvSpPr>
          <p:cNvPr id="90" name="(최적 1:1 매칭)"/>
          <p:cNvSpPr txBox="1"/>
          <p:nvPr/>
        </p:nvSpPr>
        <p:spPr>
          <a:xfrm>
            <a:off x="7399834" y="5958086"/>
            <a:ext cx="726480"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(최적 1:1 매칭)</a:t>
            </a:r>
            <a:endParaRPr lang="en-US" sz="950" dirty="0"/>
          </a:p>
        </p:txBody>
      </p:sp>
      <p:sp>
        <p:nvSpPr>
          <p:cNvPr id="91" name="STEP 4"/>
          <p:cNvSpPr txBox="1"/>
          <p:nvPr/>
        </p:nvSpPr>
        <p:spPr>
          <a:xfrm>
            <a:off x="9245600" y="3797697"/>
            <a:ext cx="470297"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4</a:t>
            </a:r>
            <a:endParaRPr lang="en-US" sz="800" dirty="0"/>
          </a:p>
        </p:txBody>
      </p:sp>
      <p:sp>
        <p:nvSpPr>
          <p:cNvPr id="92" name="BIM 자동 생성"/>
          <p:cNvSpPr txBox="1"/>
          <p:nvPr/>
        </p:nvSpPr>
        <p:spPr>
          <a:xfrm>
            <a:off x="9245600" y="3950097"/>
            <a:ext cx="1017222"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400" dirty="0"/>
          </a:p>
        </p:txBody>
      </p:sp>
      <p:sp>
        <p:nvSpPr>
          <p:cNvPr id="93" name="높이까지 갖춘 3D BIM 모델"/>
          <p:cNvSpPr txBox="1"/>
          <p:nvPr/>
        </p:nvSpPr>
        <p:spPr>
          <a:xfrm>
            <a:off x="9245600" y="4235847"/>
            <a:ext cx="1346410"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높이까지 갖춘 3D BIM 모델</a:t>
            </a:r>
            <a:endParaRPr lang="en-US" sz="950" dirty="0"/>
          </a:p>
        </p:txBody>
      </p:sp>
      <p:sp>
        <p:nvSpPr>
          <p:cNvPr id="94" name="벽체"/>
          <p:cNvSpPr txBox="1"/>
          <p:nvPr/>
        </p:nvSpPr>
        <p:spPr>
          <a:xfrm>
            <a:off x="9245600" y="451524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벽체</a:t>
            </a:r>
            <a:endParaRPr lang="en-US" sz="800" dirty="0"/>
          </a:p>
        </p:txBody>
      </p:sp>
      <p:sp>
        <p:nvSpPr>
          <p:cNvPr id="95" name="골격선(스켈레톤)으로"/>
          <p:cNvSpPr txBox="1"/>
          <p:nvPr/>
        </p:nvSpPr>
        <p:spPr>
          <a:xfrm>
            <a:off x="9639300" y="4502547"/>
            <a:ext cx="1044041"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골격선(스켈레톤)으로</a:t>
            </a:r>
            <a:endParaRPr lang="en-US" sz="950" dirty="0"/>
          </a:p>
        </p:txBody>
      </p:sp>
      <p:sp>
        <p:nvSpPr>
          <p:cNvPr id="96" name="벽 중심선 추출"/>
          <p:cNvSpPr txBox="1"/>
          <p:nvPr/>
        </p:nvSpPr>
        <p:spPr>
          <a:xfrm>
            <a:off x="9639300" y="4680347"/>
            <a:ext cx="703163" cy="146050"/>
          </a:xfrm>
          <a:prstGeom prst="rect">
            <a:avLst/>
          </a:prstGeom>
          <a:noFill/>
          <a:ln/>
        </p:spPr>
        <p:txBody>
          <a:bodyPr wrap="none" lIns="0" tIns="0" rIns="0" bIns="0" rtlCol="0" anchor="ctr"/>
          <a:lstStyle/>
          <a:p>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벽 중심선 추출</a:t>
            </a:r>
            <a:endParaRPr lang="en-US" sz="950" dirty="0"/>
          </a:p>
        </p:txBody>
      </p:sp>
      <p:sp>
        <p:nvSpPr>
          <p:cNvPr id="97" name="창·문"/>
          <p:cNvSpPr txBox="1"/>
          <p:nvPr/>
        </p:nvSpPr>
        <p:spPr>
          <a:xfrm>
            <a:off x="9245600" y="4921647"/>
            <a:ext cx="253107"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창·문</a:t>
            </a:r>
            <a:endParaRPr lang="en-US" sz="800" dirty="0"/>
          </a:p>
        </p:txBody>
      </p:sp>
      <p:sp>
        <p:nvSpPr>
          <p:cNvPr id="98" name="붙일 벽 결정(호스팅) 후"/>
          <p:cNvSpPr txBox="1"/>
          <p:nvPr/>
        </p:nvSpPr>
        <p:spPr>
          <a:xfrm>
            <a:off x="9639300" y="4908947"/>
            <a:ext cx="1126180"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붙일 벽 결정(호스팅) 후</a:t>
            </a:r>
            <a:endParaRPr lang="en-US" sz="950" dirty="0"/>
          </a:p>
        </p:txBody>
      </p:sp>
      <p:sp>
        <p:nvSpPr>
          <p:cNvPr id="99" name="Revit API로 BIM 생성"/>
          <p:cNvSpPr txBox="1"/>
          <p:nvPr/>
        </p:nvSpPr>
        <p:spPr>
          <a:xfrm>
            <a:off x="9639300" y="5086747"/>
            <a:ext cx="1092000" cy="146050"/>
          </a:xfrm>
          <a:prstGeom prst="rect">
            <a:avLst/>
          </a:prstGeom>
          <a:noFill/>
          <a:ln/>
        </p:spPr>
        <p:txBody>
          <a:bodyPr wrap="none" lIns="0" tIns="0" rIns="0" bIns="0" rtlCol="0" anchor="ctr"/>
          <a:lstStyle/>
          <a:p>
            <a:pPr algn="l" indent="0" marL="0">
              <a:buNone/>
            </a:pPr>
            <a:r>
              <a:rPr lang="ko-KR" altLang="en-US" sz="950" b="1" spc="-28" kern="0" dirty="0">
                <a:solidFill>
                  <a:srgbClr val="141820"/>
                </a:solidFill>
                <a:latin typeface="Pretendard" pitchFamily="34" charset="0"/>
                <a:ea typeface="Pretendard" pitchFamily="34" charset="-127"/>
                <a:cs typeface="Pretendard" pitchFamily="34" charset="-120"/>
              </a:rPr>
              <a:t>Revit API로 BIM 생성</a:t>
            </a:r>
            <a:endParaRPr lang="en-US" sz="950" dirty="0"/>
          </a:p>
        </p:txBody>
      </p:sp>
      <p:sp>
        <p:nvSpPr>
          <p:cNvPr id="100" name="핵심 기법"/>
          <p:cNvSpPr txBox="1"/>
          <p:nvPr/>
        </p:nvSpPr>
        <p:spPr>
          <a:xfrm>
            <a:off x="92456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101" name="스켈레톤 기반 벽체 추출"/>
          <p:cNvSpPr txBox="1"/>
          <p:nvPr/>
        </p:nvSpPr>
        <p:spPr>
          <a:xfrm>
            <a:off x="9353550" y="5653286"/>
            <a:ext cx="116046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스켈레톤 기반 벽체 추출</a:t>
            </a:r>
            <a:endParaRPr lang="en-US" sz="950" dirty="0"/>
          </a:p>
        </p:txBody>
      </p:sp>
      <p:sp>
        <p:nvSpPr>
          <p:cNvPr id="102" name="Revit API"/>
          <p:cNvSpPr txBox="1"/>
          <p:nvPr/>
        </p:nvSpPr>
        <p:spPr>
          <a:xfrm>
            <a:off x="9353550" y="5958086"/>
            <a:ext cx="536972"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Revit API</a:t>
            </a:r>
            <a:endParaRPr lang="en-US" sz="950" dirty="0"/>
          </a:p>
        </p:txBody>
      </p:sp>
      <p:sp>
        <p:nvSpPr>
          <p:cNvPr id="103"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04" name="03 / 05"/>
          <p:cNvSpPr txBox="1"/>
          <p:nvPr/>
        </p:nvSpPr>
        <p:spPr>
          <a:xfrm>
            <a:off x="11216779" y="6472238"/>
            <a:ext cx="416421"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03</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vg path"/>
          <p:cNvSpPr/>
          <p:nvPr/>
        </p:nvSpPr>
        <p:spPr>
          <a:xfrm>
            <a:off x="654050" y="1327348"/>
            <a:ext cx="73025" cy="107950"/>
          </a:xfrm>
          <a:custGeom>
            <a:avLst/>
            <a:gdLst/>
            <a:ahLst/>
            <a:cxnLst/>
            <a:rect l="0" t="0" r="r" b="b"/>
            <a:pathLst>
              <a:path w="73025" h="107950" fill="none">
                <a:moveTo>
                  <a:pt x="0" y="107950"/>
                </a:moveTo>
                <a:lnTo>
                  <a:pt x="0" y="0"/>
                </a:lnTo>
                <a:moveTo>
                  <a:pt x="0" y="3175"/>
                </a:moveTo>
                <a:lnTo>
                  <a:pt x="73025" y="3175"/>
                </a:lnTo>
                <a:lnTo>
                  <a:pt x="57150" y="28575"/>
                </a:lnTo>
                <a:lnTo>
                  <a:pt x="73025" y="53975"/>
                </a:lnTo>
                <a:lnTo>
                  <a:pt x="0" y="53975"/>
                </a:lnTo>
              </a:path>
            </a:pathLst>
          </a:custGeom>
          <a:noFill/>
          <a:ln w="12700" cap="rnd">
            <a:solidFill>
              <a:srgbClr val="102A4C"/>
            </a:solidFill>
            <a:round/>
          </a:ln>
        </p:spPr>
        <p:txBody>
          <a:bodyPr rtlCol="0" anchor="ctr"/>
          <a:lstStyle/>
          <a:p>
            <a:pPr algn="ctr"/>
            <a:endParaRPr lang="ko-KR" dirty="0"/>
          </a:p>
        </p:txBody>
      </p:sp>
      <p:sp>
        <p:nvSpPr>
          <p:cNvPr id="10" name="t4-ch c1::after"/>
          <p:cNvSpPr/>
          <p:nvPr/>
        </p:nvSpPr>
        <p:spPr>
          <a:xfrm>
            <a:off x="1516063" y="1371798"/>
            <a:ext cx="2293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vg path"/>
          <p:cNvSpPr/>
          <p:nvPr/>
        </p:nvSpPr>
        <p:spPr>
          <a:xfrm>
            <a:off x="4191000" y="1340048"/>
            <a:ext cx="114300" cy="95250"/>
          </a:xfrm>
          <a:custGeom>
            <a:avLst/>
            <a:gdLst/>
            <a:ahLst/>
            <a:cxnLst/>
            <a:rect l="0" t="0" r="r" b="b"/>
            <a:pathLst>
              <a:path w="114300" h="95250" fill="none">
                <a:moveTo>
                  <a:pt x="0" y="95250"/>
                </a:moveTo>
                <a:lnTo>
                  <a:pt x="114300" y="95250"/>
                </a:lnTo>
                <a:moveTo>
                  <a:pt x="22225" y="69850"/>
                </a:moveTo>
                <a:lnTo>
                  <a:pt x="22225" y="38100"/>
                </a:lnTo>
                <a:moveTo>
                  <a:pt x="57150" y="69850"/>
                </a:moveTo>
                <a:lnTo>
                  <a:pt x="57150" y="0"/>
                </a:lnTo>
                <a:moveTo>
                  <a:pt x="92075" y="69850"/>
                </a:moveTo>
                <a:lnTo>
                  <a:pt x="92075" y="19050"/>
                </a:lnTo>
              </a:path>
            </a:pathLst>
          </a:custGeom>
          <a:noFill/>
          <a:ln w="12700" cap="rnd">
            <a:solidFill>
              <a:srgbClr val="102A4C"/>
            </a:solidFill>
            <a:miter lim="800000"/>
          </a:ln>
        </p:spPr>
        <p:txBody>
          <a:bodyPr rtlCol="0" anchor="ctr"/>
          <a:lstStyle/>
          <a:p>
            <a:pPr algn="ctr"/>
            <a:endParaRPr lang="ko-KR" dirty="0"/>
          </a:p>
        </p:txBody>
      </p:sp>
      <p:sp>
        <p:nvSpPr>
          <p:cNvPr id="12" name="ln"/>
          <p:cNvSpPr/>
          <p:nvPr/>
        </p:nvSpPr>
        <p:spPr>
          <a:xfrm>
            <a:off x="5072063" y="1371798"/>
            <a:ext cx="2077740"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g"/>
          <p:cNvSpPr/>
          <p:nvPr/>
        </p:nvSpPr>
        <p:spPr>
          <a:xfrm>
            <a:off x="7251402" y="1352748"/>
            <a:ext cx="152400" cy="50800"/>
          </a:xfrm>
          <a:prstGeom prst="roundRect">
            <a:avLst>
              <a:gd name="adj" fmla="val 50000"/>
            </a:avLst>
          </a:prstGeom>
          <a:solidFill>
            <a:srgbClr val="C3C9D2"/>
          </a:solidFill>
          <a:ln>
            <a:noFill/>
          </a:ln>
        </p:spPr>
        <p:txBody>
          <a:bodyPr rtlCol="0" anchor="ctr"/>
          <a:lstStyle/>
          <a:p>
            <a:pPr algn="ctr"/>
            <a:endParaRPr lang="ko-KR" dirty="0"/>
          </a:p>
        </p:txBody>
      </p:sp>
      <p:sp>
        <p:nvSpPr>
          <p:cNvPr id="14" name="r"/>
          <p:cNvSpPr/>
          <p:nvPr/>
        </p:nvSpPr>
        <p:spPr>
          <a:xfrm>
            <a:off x="7921427" y="1352748"/>
            <a:ext cx="152400" cy="50800"/>
          </a:xfrm>
          <a:prstGeom prst="roundRect">
            <a:avLst>
              <a:gd name="adj" fmla="val 50000"/>
            </a:avLst>
          </a:prstGeom>
          <a:solidFill>
            <a:srgbClr val="EA002C"/>
          </a:solidFill>
          <a:ln>
            <a:noFill/>
          </a:ln>
        </p:spPr>
        <p:txBody>
          <a:bodyPr rtlCol="0" anchor="ctr"/>
          <a:lstStyle/>
          <a:p>
            <a:pPr algn="ctr"/>
            <a:endParaRPr lang="ko-KR" dirty="0"/>
          </a:p>
        </p:txBody>
      </p:sp>
      <p:sp>
        <p:nvSpPr>
          <p:cNvPr id="15" name="t4-con r1"/>
          <p:cNvSpPr/>
          <p:nvPr/>
        </p:nvSpPr>
        <p:spPr>
          <a:xfrm>
            <a:off x="609600" y="1606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16" name="t4-ic"/>
          <p:cNvSpPr/>
          <p:nvPr/>
        </p:nvSpPr>
        <p:spPr>
          <a:xfrm>
            <a:off x="812800" y="2063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7" name="svg path"/>
          <p:cNvSpPr/>
          <p:nvPr/>
        </p:nvSpPr>
        <p:spPr>
          <a:xfrm>
            <a:off x="971550" y="2413198"/>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8" name="svg rect"/>
          <p:cNvSpPr/>
          <p:nvPr/>
        </p:nvSpPr>
        <p:spPr>
          <a:xfrm>
            <a:off x="996950" y="2260798"/>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19" name="svg path"/>
          <p:cNvSpPr/>
          <p:nvPr/>
        </p:nvSpPr>
        <p:spPr>
          <a:xfrm>
            <a:off x="1022350" y="2298898"/>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1149350" y="2229048"/>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127125" y="2229048"/>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1127125" y="2390973"/>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3" name="t4-go r1::before"/>
          <p:cNvSpPr/>
          <p:nvPr/>
        </p:nvSpPr>
        <p:spPr>
          <a:xfrm>
            <a:off x="3810000" y="2311598"/>
            <a:ext cx="3556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3835400" y="2165548"/>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3971925" y="2283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t4-ev r1"/>
          <p:cNvSpPr/>
          <p:nvPr/>
        </p:nvSpPr>
        <p:spPr>
          <a:xfrm>
            <a:off x="4171950" y="1613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7" name="delta"/>
          <p:cNvSpPr/>
          <p:nvPr/>
        </p:nvSpPr>
        <p:spPr>
          <a:xfrm>
            <a:off x="5485408" y="2365573"/>
            <a:ext cx="645120" cy="203200"/>
          </a:xfrm>
          <a:prstGeom prst="roundRect">
            <a:avLst>
              <a:gd name="adj" fmla="val 25000"/>
            </a:avLst>
          </a:prstGeom>
          <a:solidFill>
            <a:srgbClr val="FDECEF"/>
          </a:solidFill>
          <a:ln>
            <a:noFill/>
          </a:ln>
        </p:spPr>
        <p:txBody>
          <a:bodyPr rtlCol="0" anchor="ctr"/>
          <a:lstStyle/>
          <a:p>
            <a:pPr algn="ctr"/>
            <a:endParaRPr lang="ko-KR" dirty="0"/>
          </a:p>
        </p:txBody>
      </p:sp>
      <p:sp>
        <p:nvSpPr>
          <p:cNvPr id="28" name="t4-bar"/>
          <p:cNvSpPr/>
          <p:nvPr/>
        </p:nvSpPr>
        <p:spPr>
          <a:xfrm>
            <a:off x="4381500" y="2759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29" name="b0"/>
          <p:cNvSpPr/>
          <p:nvPr/>
        </p:nvSpPr>
        <p:spPr>
          <a:xfrm>
            <a:off x="4381500" y="2759273"/>
            <a:ext cx="907852" cy="50800"/>
          </a:xfrm>
          <a:custGeom>
            <a:avLst/>
            <a:gdLst/>
            <a:ahLst/>
            <a:cxnLst/>
            <a:rect l="0" t="0" r="r" b="b"/>
            <a:pathLst>
              <a:path w="907852" h="50800" stroke="0">
                <a:moveTo>
                  <a:pt x="25400" y="0"/>
                </a:moveTo>
                <a:lnTo>
                  <a:pt x="907852" y="0"/>
                </a:lnTo>
                <a:cubicBezTo>
                  <a:pt x="907852" y="0"/>
                  <a:pt x="907852" y="0"/>
                  <a:pt x="907852" y="0"/>
                </a:cubicBezTo>
                <a:lnTo>
                  <a:pt x="907852" y="50800"/>
                </a:lnTo>
                <a:cubicBezTo>
                  <a:pt x="907852" y="50800"/>
                  <a:pt x="907852" y="50800"/>
                  <a:pt x="907852"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0" name="b1"/>
          <p:cNvSpPr/>
          <p:nvPr/>
        </p:nvSpPr>
        <p:spPr>
          <a:xfrm>
            <a:off x="5289352" y="2759273"/>
            <a:ext cx="764580" cy="50800"/>
          </a:xfrm>
          <a:custGeom>
            <a:avLst/>
            <a:gdLst/>
            <a:ahLst/>
            <a:cxnLst/>
            <a:rect l="0" t="0" r="r" b="b"/>
            <a:pathLst>
              <a:path w="764580" h="50800" stroke="0">
                <a:moveTo>
                  <a:pt x="0" y="0"/>
                </a:moveTo>
                <a:lnTo>
                  <a:pt x="739180" y="0"/>
                </a:lnTo>
                <a:cubicBezTo>
                  <a:pt x="753208" y="0"/>
                  <a:pt x="764580" y="11372"/>
                  <a:pt x="764580" y="25400"/>
                </a:cubicBezTo>
                <a:lnTo>
                  <a:pt x="764580" y="25400"/>
                </a:lnTo>
                <a:cubicBezTo>
                  <a:pt x="764580" y="39428"/>
                  <a:pt x="753208" y="50800"/>
                  <a:pt x="739180"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1" name="delta"/>
          <p:cNvSpPr/>
          <p:nvPr/>
        </p:nvSpPr>
        <p:spPr>
          <a:xfrm>
            <a:off x="7479308" y="2365573"/>
            <a:ext cx="655241" cy="203200"/>
          </a:xfrm>
          <a:prstGeom prst="roundRect">
            <a:avLst>
              <a:gd name="adj" fmla="val 25000"/>
            </a:avLst>
          </a:prstGeom>
          <a:solidFill>
            <a:srgbClr val="FDECEF"/>
          </a:solidFill>
          <a:ln>
            <a:noFill/>
          </a:ln>
        </p:spPr>
        <p:txBody>
          <a:bodyPr rtlCol="0" anchor="ctr"/>
          <a:lstStyle/>
          <a:p>
            <a:pPr algn="ctr"/>
            <a:endParaRPr lang="ko-KR" dirty="0"/>
          </a:p>
        </p:txBody>
      </p:sp>
      <p:sp>
        <p:nvSpPr>
          <p:cNvPr id="32" name="t4-bar"/>
          <p:cNvSpPr/>
          <p:nvPr/>
        </p:nvSpPr>
        <p:spPr>
          <a:xfrm>
            <a:off x="6375400" y="2759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33" name="b0"/>
          <p:cNvSpPr/>
          <p:nvPr/>
        </p:nvSpPr>
        <p:spPr>
          <a:xfrm>
            <a:off x="6375400" y="2759273"/>
            <a:ext cx="635695" cy="50800"/>
          </a:xfrm>
          <a:custGeom>
            <a:avLst/>
            <a:gdLst/>
            <a:ahLst/>
            <a:cxnLst/>
            <a:rect l="0" t="0" r="r" b="b"/>
            <a:pathLst>
              <a:path w="635695" h="50800" stroke="0">
                <a:moveTo>
                  <a:pt x="25400" y="0"/>
                </a:moveTo>
                <a:lnTo>
                  <a:pt x="635695" y="0"/>
                </a:lnTo>
                <a:cubicBezTo>
                  <a:pt x="635695" y="0"/>
                  <a:pt x="635695" y="0"/>
                  <a:pt x="635695" y="0"/>
                </a:cubicBezTo>
                <a:lnTo>
                  <a:pt x="635695" y="50800"/>
                </a:lnTo>
                <a:cubicBezTo>
                  <a:pt x="635695" y="50800"/>
                  <a:pt x="635695" y="50800"/>
                  <a:pt x="635695"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4" name="b1"/>
          <p:cNvSpPr/>
          <p:nvPr/>
        </p:nvSpPr>
        <p:spPr>
          <a:xfrm>
            <a:off x="7011095" y="2759273"/>
            <a:ext cx="864890" cy="50800"/>
          </a:xfrm>
          <a:custGeom>
            <a:avLst/>
            <a:gdLst/>
            <a:ahLst/>
            <a:cxnLst/>
            <a:rect l="0" t="0" r="r" b="b"/>
            <a:pathLst>
              <a:path w="864890" h="50800" stroke="0">
                <a:moveTo>
                  <a:pt x="0" y="0"/>
                </a:moveTo>
                <a:lnTo>
                  <a:pt x="839490" y="0"/>
                </a:lnTo>
                <a:cubicBezTo>
                  <a:pt x="853518" y="0"/>
                  <a:pt x="864890" y="11372"/>
                  <a:pt x="864890" y="25400"/>
                </a:cubicBezTo>
                <a:lnTo>
                  <a:pt x="864890" y="25400"/>
                </a:lnTo>
                <a:cubicBezTo>
                  <a:pt x="864890" y="39428"/>
                  <a:pt x="853518" y="50800"/>
                  <a:pt x="839490"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5" name="t4-con r2"/>
          <p:cNvSpPr/>
          <p:nvPr/>
        </p:nvSpPr>
        <p:spPr>
          <a:xfrm>
            <a:off x="609600" y="3130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36" name="t4-ic"/>
          <p:cNvSpPr/>
          <p:nvPr/>
        </p:nvSpPr>
        <p:spPr>
          <a:xfrm>
            <a:off x="812800" y="3587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7" name="svg path"/>
          <p:cNvSpPr/>
          <p:nvPr/>
        </p:nvSpPr>
        <p:spPr>
          <a:xfrm>
            <a:off x="977900" y="3753048"/>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8" name="svg path"/>
          <p:cNvSpPr/>
          <p:nvPr/>
        </p:nvSpPr>
        <p:spPr>
          <a:xfrm>
            <a:off x="977900" y="3841948"/>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9" name="svg path"/>
          <p:cNvSpPr/>
          <p:nvPr/>
        </p:nvSpPr>
        <p:spPr>
          <a:xfrm>
            <a:off x="977900" y="3886398"/>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40" name="t4-go r2::before"/>
          <p:cNvSpPr/>
          <p:nvPr/>
        </p:nvSpPr>
        <p:spPr>
          <a:xfrm>
            <a:off x="3810000" y="3835598"/>
            <a:ext cx="355600" cy="12700"/>
          </a:xfrm>
          <a:prstGeom prst="rect">
            <a:avLst/>
          </a:prstGeom>
          <a:solidFill>
            <a:srgbClr val="C8CFD8"/>
          </a:solidFill>
          <a:ln>
            <a:noFill/>
          </a:ln>
        </p:spPr>
        <p:txBody>
          <a:bodyPr rtlCol="0" anchor="ctr"/>
          <a:lstStyle/>
          <a:p>
            <a:pPr algn="ctr"/>
            <a:endParaRPr lang="ko-KR" dirty="0"/>
          </a:p>
        </p:txBody>
      </p:sp>
      <p:sp>
        <p:nvSpPr>
          <p:cNvPr id="41" name="i"/>
          <p:cNvSpPr/>
          <p:nvPr/>
        </p:nvSpPr>
        <p:spPr>
          <a:xfrm>
            <a:off x="3835400" y="3689548"/>
            <a:ext cx="304800" cy="304800"/>
          </a:xfrm>
          <a:prstGeom prst="ellipse">
            <a:avLst/>
          </a:prstGeom>
          <a:solidFill>
            <a:srgbClr val="102A4C"/>
          </a:solidFill>
          <a:ln>
            <a:noFill/>
          </a:ln>
        </p:spPr>
        <p:txBody>
          <a:bodyPr rtlCol="0" anchor="ctr"/>
          <a:lstStyle/>
          <a:p>
            <a:pPr algn="ctr"/>
            <a:endParaRPr lang="ko-KR" dirty="0"/>
          </a:p>
        </p:txBody>
      </p:sp>
      <p:sp>
        <p:nvSpPr>
          <p:cNvPr id="42" name="svg path"/>
          <p:cNvSpPr/>
          <p:nvPr/>
        </p:nvSpPr>
        <p:spPr>
          <a:xfrm>
            <a:off x="3971925" y="3807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43" name="t4-ev r2"/>
          <p:cNvSpPr/>
          <p:nvPr/>
        </p:nvSpPr>
        <p:spPr>
          <a:xfrm>
            <a:off x="4171950" y="3137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4-bar"/>
          <p:cNvSpPr/>
          <p:nvPr/>
        </p:nvSpPr>
        <p:spPr>
          <a:xfrm>
            <a:off x="4381500" y="4283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45" name="bn"/>
          <p:cNvSpPr/>
          <p:nvPr/>
        </p:nvSpPr>
        <p:spPr>
          <a:xfrm>
            <a:off x="4381500" y="4283273"/>
            <a:ext cx="1665288" cy="50800"/>
          </a:xfrm>
          <a:prstGeom prst="roundRect">
            <a:avLst>
              <a:gd name="adj" fmla="val 50000"/>
            </a:avLst>
          </a:prstGeom>
          <a:solidFill>
            <a:srgbClr val="2B4A78"/>
          </a:solidFill>
          <a:ln>
            <a:noFill/>
          </a:ln>
        </p:spPr>
        <p:txBody>
          <a:bodyPr rtlCol="0" anchor="ctr"/>
          <a:lstStyle/>
          <a:p>
            <a:pPr algn="ctr"/>
            <a:endParaRPr lang="ko-KR" dirty="0"/>
          </a:p>
        </p:txBody>
      </p:sp>
      <p:sp>
        <p:nvSpPr>
          <p:cNvPr id="46" name="t4-bar"/>
          <p:cNvSpPr/>
          <p:nvPr/>
        </p:nvSpPr>
        <p:spPr>
          <a:xfrm>
            <a:off x="6375400" y="4283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47" name="bn"/>
          <p:cNvSpPr/>
          <p:nvPr/>
        </p:nvSpPr>
        <p:spPr>
          <a:xfrm>
            <a:off x="6375400" y="4283273"/>
            <a:ext cx="1701105" cy="50800"/>
          </a:xfrm>
          <a:prstGeom prst="roundRect">
            <a:avLst>
              <a:gd name="adj" fmla="val 50000"/>
            </a:avLst>
          </a:prstGeom>
          <a:solidFill>
            <a:srgbClr val="2B4A78"/>
          </a:solidFill>
          <a:ln>
            <a:noFill/>
          </a:ln>
        </p:spPr>
        <p:txBody>
          <a:bodyPr rtlCol="0" anchor="ctr"/>
          <a:lstStyle/>
          <a:p>
            <a:pPr algn="ctr"/>
            <a:endParaRPr lang="ko-KR" dirty="0"/>
          </a:p>
        </p:txBody>
      </p:sp>
      <p:sp>
        <p:nvSpPr>
          <p:cNvPr id="48" name="t4-con r3"/>
          <p:cNvSpPr/>
          <p:nvPr/>
        </p:nvSpPr>
        <p:spPr>
          <a:xfrm>
            <a:off x="609600" y="4654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49" name="t4-ic"/>
          <p:cNvSpPr/>
          <p:nvPr/>
        </p:nvSpPr>
        <p:spPr>
          <a:xfrm>
            <a:off x="812800" y="5111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50" name="svg path"/>
          <p:cNvSpPr/>
          <p:nvPr/>
        </p:nvSpPr>
        <p:spPr>
          <a:xfrm>
            <a:off x="977900" y="5315148"/>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51" name="svg path"/>
          <p:cNvSpPr/>
          <p:nvPr/>
        </p:nvSpPr>
        <p:spPr>
          <a:xfrm>
            <a:off x="977900" y="5365948"/>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52" name="svg path"/>
          <p:cNvSpPr/>
          <p:nvPr/>
        </p:nvSpPr>
        <p:spPr>
          <a:xfrm>
            <a:off x="977900" y="5343723"/>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53" name="svg rect"/>
          <p:cNvSpPr/>
          <p:nvPr/>
        </p:nvSpPr>
        <p:spPr>
          <a:xfrm>
            <a:off x="971550" y="5435798"/>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54" name="svg path"/>
          <p:cNvSpPr/>
          <p:nvPr/>
        </p:nvSpPr>
        <p:spPr>
          <a:xfrm>
            <a:off x="1009650" y="5435798"/>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55" name="t4-go r3::before"/>
          <p:cNvSpPr/>
          <p:nvPr/>
        </p:nvSpPr>
        <p:spPr>
          <a:xfrm>
            <a:off x="3810000" y="5359598"/>
            <a:ext cx="3556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3835400" y="5213548"/>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3971925" y="5331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58" name="t4-ev r3"/>
          <p:cNvSpPr/>
          <p:nvPr/>
        </p:nvSpPr>
        <p:spPr>
          <a:xfrm>
            <a:off x="4171950" y="4661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9" name="delta"/>
          <p:cNvSpPr/>
          <p:nvPr/>
        </p:nvSpPr>
        <p:spPr>
          <a:xfrm>
            <a:off x="5485408" y="5413573"/>
            <a:ext cx="651371" cy="203200"/>
          </a:xfrm>
          <a:prstGeom prst="roundRect">
            <a:avLst>
              <a:gd name="adj" fmla="val 25000"/>
            </a:avLst>
          </a:prstGeom>
          <a:solidFill>
            <a:srgbClr val="FDECEF"/>
          </a:solidFill>
          <a:ln>
            <a:noFill/>
          </a:ln>
        </p:spPr>
        <p:txBody>
          <a:bodyPr rtlCol="0" anchor="ctr"/>
          <a:lstStyle/>
          <a:p>
            <a:pPr algn="ctr"/>
            <a:endParaRPr lang="ko-KR" dirty="0"/>
          </a:p>
        </p:txBody>
      </p:sp>
      <p:sp>
        <p:nvSpPr>
          <p:cNvPr id="60" name="t4-bar"/>
          <p:cNvSpPr/>
          <p:nvPr/>
        </p:nvSpPr>
        <p:spPr>
          <a:xfrm>
            <a:off x="4381500" y="5807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61" name="b0"/>
          <p:cNvSpPr/>
          <p:nvPr/>
        </p:nvSpPr>
        <p:spPr>
          <a:xfrm>
            <a:off x="4381500" y="5807273"/>
            <a:ext cx="660698" cy="50800"/>
          </a:xfrm>
          <a:custGeom>
            <a:avLst/>
            <a:gdLst/>
            <a:ahLst/>
            <a:cxnLst/>
            <a:rect l="0" t="0" r="r" b="b"/>
            <a:pathLst>
              <a:path w="660698" h="50800" stroke="0">
                <a:moveTo>
                  <a:pt x="25400" y="0"/>
                </a:moveTo>
                <a:lnTo>
                  <a:pt x="660698" y="0"/>
                </a:lnTo>
                <a:cubicBezTo>
                  <a:pt x="660698" y="0"/>
                  <a:pt x="660698" y="0"/>
                  <a:pt x="660698" y="0"/>
                </a:cubicBezTo>
                <a:lnTo>
                  <a:pt x="660698" y="50800"/>
                </a:lnTo>
                <a:cubicBezTo>
                  <a:pt x="660698" y="50800"/>
                  <a:pt x="660698" y="50800"/>
                  <a:pt x="660698"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62" name="b1"/>
          <p:cNvSpPr/>
          <p:nvPr/>
        </p:nvSpPr>
        <p:spPr>
          <a:xfrm>
            <a:off x="5042198" y="5807273"/>
            <a:ext cx="605234" cy="50800"/>
          </a:xfrm>
          <a:custGeom>
            <a:avLst/>
            <a:gdLst/>
            <a:ahLst/>
            <a:cxnLst/>
            <a:rect l="0" t="0" r="r" b="b"/>
            <a:pathLst>
              <a:path w="605234" h="50800" stroke="0">
                <a:moveTo>
                  <a:pt x="0" y="0"/>
                </a:moveTo>
                <a:lnTo>
                  <a:pt x="579834" y="0"/>
                </a:lnTo>
                <a:cubicBezTo>
                  <a:pt x="593863" y="0"/>
                  <a:pt x="605234" y="11372"/>
                  <a:pt x="605234" y="25400"/>
                </a:cubicBezTo>
                <a:lnTo>
                  <a:pt x="605234" y="25400"/>
                </a:lnTo>
                <a:cubicBezTo>
                  <a:pt x="605234" y="39428"/>
                  <a:pt x="593863" y="50800"/>
                  <a:pt x="579834"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63" name="t4-bar"/>
          <p:cNvSpPr/>
          <p:nvPr/>
        </p:nvSpPr>
        <p:spPr>
          <a:xfrm>
            <a:off x="6375400" y="5807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64" name="b0 solo"/>
          <p:cNvSpPr/>
          <p:nvPr/>
        </p:nvSpPr>
        <p:spPr>
          <a:xfrm>
            <a:off x="6375400" y="5807273"/>
            <a:ext cx="660698" cy="50800"/>
          </a:xfrm>
          <a:prstGeom prst="roundRect">
            <a:avLst>
              <a:gd name="adj" fmla="val 50000"/>
            </a:avLst>
          </a:prstGeom>
          <a:solidFill>
            <a:srgbClr val="C3C9D2"/>
          </a:solidFill>
          <a:ln>
            <a:noFill/>
          </a:ln>
        </p:spPr>
        <p:txBody>
          <a:bodyPr rtlCol="0" anchor="ctr"/>
          <a:lstStyle/>
          <a:p>
            <a:pPr algn="ctr"/>
            <a:endParaRPr lang="ko-KR" dirty="0"/>
          </a:p>
        </p:txBody>
      </p:sp>
      <p:sp>
        <p:nvSpPr>
          <p:cNvPr id="65" name="svg path"/>
          <p:cNvSpPr/>
          <p:nvPr/>
        </p:nvSpPr>
        <p:spPr>
          <a:xfrm>
            <a:off x="8664575" y="1317823"/>
            <a:ext cx="107950" cy="120650"/>
          </a:xfrm>
          <a:custGeom>
            <a:avLst/>
            <a:gdLst/>
            <a:ahLst/>
            <a:cxnLst/>
            <a:rect l="0" t="0" r="r" b="b"/>
            <a:pathLst>
              <a:path w="107950" h="120650" fill="none">
                <a:moveTo>
                  <a:pt x="53975" y="0"/>
                </a:moveTo>
                <a:lnTo>
                  <a:pt x="107950" y="30163"/>
                </a:lnTo>
                <a:lnTo>
                  <a:pt x="107950" y="90488"/>
                </a:lnTo>
                <a:lnTo>
                  <a:pt x="53975" y="120650"/>
                </a:lnTo>
                <a:lnTo>
                  <a:pt x="0" y="90488"/>
                </a:lnTo>
                <a:lnTo>
                  <a:pt x="0" y="30163"/>
                </a:lnTo>
                <a:close/>
              </a:path>
            </a:pathLst>
          </a:custGeom>
          <a:noFill/>
          <a:ln w="12700">
            <a:solidFill>
              <a:srgbClr val="102A4C"/>
            </a:solidFill>
            <a:round/>
          </a:ln>
        </p:spPr>
        <p:txBody>
          <a:bodyPr rtlCol="0" anchor="ctr"/>
          <a:lstStyle/>
          <a:p>
            <a:pPr algn="ctr"/>
            <a:endParaRPr lang="ko-KR" dirty="0"/>
          </a:p>
        </p:txBody>
      </p:sp>
      <p:sp>
        <p:nvSpPr>
          <p:cNvPr id="66" name="svg path"/>
          <p:cNvSpPr/>
          <p:nvPr/>
        </p:nvSpPr>
        <p:spPr>
          <a:xfrm>
            <a:off x="8664575" y="1347986"/>
            <a:ext cx="107950" cy="90488"/>
          </a:xfrm>
          <a:custGeom>
            <a:avLst/>
            <a:gdLst/>
            <a:ahLst/>
            <a:cxnLst/>
            <a:rect l="0" t="0" r="r" b="b"/>
            <a:pathLst>
              <a:path w="107950" h="90488" fill="none">
                <a:moveTo>
                  <a:pt x="0" y="0"/>
                </a:moveTo>
                <a:lnTo>
                  <a:pt x="53975" y="30163"/>
                </a:lnTo>
                <a:lnTo>
                  <a:pt x="107950" y="0"/>
                </a:lnTo>
                <a:moveTo>
                  <a:pt x="53975" y="30163"/>
                </a:moveTo>
                <a:lnTo>
                  <a:pt x="53975" y="90488"/>
                </a:lnTo>
              </a:path>
            </a:pathLst>
          </a:custGeom>
          <a:noFill/>
          <a:ln w="12700">
            <a:solidFill>
              <a:srgbClr val="102A4C"/>
            </a:solidFill>
            <a:round/>
          </a:ln>
        </p:spPr>
        <p:txBody>
          <a:bodyPr rtlCol="0" anchor="ctr"/>
          <a:lstStyle/>
          <a:p>
            <a:pPr algn="ctr"/>
            <a:endParaRPr lang="ko-KR" dirty="0"/>
          </a:p>
        </p:txBody>
      </p:sp>
      <p:sp>
        <p:nvSpPr>
          <p:cNvPr id="67" name="t4-ch c3::after"/>
          <p:cNvSpPr/>
          <p:nvPr/>
        </p:nvSpPr>
        <p:spPr>
          <a:xfrm>
            <a:off x="9542463" y="1371798"/>
            <a:ext cx="2039938" cy="12700"/>
          </a:xfrm>
          <a:prstGeom prst="roundRect">
            <a:avLst>
              <a:gd name="adj" fmla="val 50000"/>
            </a:avLst>
          </a:prstGeom>
          <a:solidFill>
            <a:srgbClr val="102A4C"/>
          </a:solidFill>
          <a:ln>
            <a:noFill/>
          </a:ln>
        </p:spPr>
        <p:txBody>
          <a:bodyPr rtlCol="0" anchor="ctr"/>
          <a:lstStyle/>
          <a:p>
            <a:pPr algn="ctr"/>
            <a:endParaRPr lang="ko-KR" dirty="0"/>
          </a:p>
        </p:txBody>
      </p:sp>
      <p:sp>
        <p:nvSpPr>
          <p:cNvPr id="68" name="t4-hero"/>
          <p:cNvSpPr/>
          <p:nvPr/>
        </p:nvSpPr>
        <p:spPr>
          <a:xfrm>
            <a:off x="8636000" y="1606748"/>
            <a:ext cx="2946400" cy="4730750"/>
          </a:xfrm>
          <a:prstGeom prst="roundRect">
            <a:avLst>
              <a:gd name="adj" fmla="val 4310"/>
            </a:avLst>
          </a:prstGeom>
          <a:solidFill>
            <a:srgbClr val="102A4C"/>
          </a:solidFill>
          <a:ln>
            <a:noFill/>
          </a:ln>
          <a:effectLst>
            <a:outerShdw blurRad="177800" dist="63500" dir="5400000" algn="ctr" rotWithShape="0">
              <a:srgbClr val="102A4C">
                <a:alpha val="18000"/>
              </a:srgbClr>
            </a:outerShdw>
          </a:effectLst>
        </p:spPr>
        <p:txBody>
          <a:bodyPr rtlCol="0" anchor="ctr"/>
          <a:lstStyle/>
          <a:p>
            <a:pPr algn="ctr"/>
            <a:endParaRPr lang="ko-KR" dirty="0"/>
          </a:p>
        </p:txBody>
      </p:sp>
      <p:sp>
        <p:nvSpPr>
          <p:cNvPr id="69" name="t4-tag"/>
          <p:cNvSpPr/>
          <p:nvPr/>
        </p:nvSpPr>
        <p:spPr>
          <a:xfrm>
            <a:off x="10480873" y="1822648"/>
            <a:ext cx="847527" cy="203200"/>
          </a:xfrm>
          <a:prstGeom prst="roundRect">
            <a:avLst>
              <a:gd name="adj" fmla="val 50000"/>
            </a:avLst>
          </a:prstGeom>
          <a:solidFill>
            <a:srgbClr val="FFFFFF">
              <a:alpha val="12000"/>
            </a:srgbClr>
          </a:solidFill>
          <a:ln>
            <a:noFill/>
          </a:ln>
        </p:spPr>
        <p:txBody>
          <a:bodyPr rtlCol="0" anchor="ctr"/>
          <a:lstStyle/>
          <a:p>
            <a:pPr algn="ctr"/>
            <a:endParaRPr lang="ko-KR" dirty="0"/>
          </a:p>
        </p:txBody>
      </p:sp>
      <p:sp>
        <p:nvSpPr>
          <p:cNvPr id="70" name="svg path"/>
          <p:cNvSpPr/>
          <p:nvPr/>
        </p:nvSpPr>
        <p:spPr>
          <a:xfrm>
            <a:off x="10572948" y="18829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FFFFFF">
                <a:alpha val="75000"/>
              </a:srgbClr>
            </a:solidFill>
            <a:round/>
          </a:ln>
        </p:spPr>
        <p:txBody>
          <a:bodyPr rtlCol="0" anchor="ctr"/>
          <a:lstStyle/>
          <a:p>
            <a:pPr algn="ctr"/>
            <a:endParaRPr lang="ko-KR" dirty="0"/>
          </a:p>
        </p:txBody>
      </p:sp>
      <p:sp>
        <p:nvSpPr>
          <p:cNvPr id="71" name="svg path"/>
          <p:cNvSpPr/>
          <p:nvPr/>
        </p:nvSpPr>
        <p:spPr>
          <a:xfrm>
            <a:off x="10604698" y="19178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FFFFFF">
                <a:alpha val="75000"/>
              </a:srgbClr>
            </a:solidFill>
            <a:miter lim="800000"/>
          </a:ln>
        </p:spPr>
        <p:txBody>
          <a:bodyPr rtlCol="0" anchor="ctr"/>
          <a:lstStyle/>
          <a:p>
            <a:pPr algn="ctr"/>
            <a:endParaRPr lang="ko-KR" dirty="0"/>
          </a:p>
        </p:txBody>
      </p:sp>
      <p:sp>
        <p:nvSpPr>
          <p:cNvPr id="72" name="t4-hbar"/>
          <p:cNvSpPr/>
          <p:nvPr/>
        </p:nvSpPr>
        <p:spPr>
          <a:xfrm>
            <a:off x="8890000" y="3291979"/>
            <a:ext cx="2438400" cy="76200"/>
          </a:xfrm>
          <a:prstGeom prst="roundRect">
            <a:avLst>
              <a:gd name="adj" fmla="val 50000"/>
            </a:avLst>
          </a:prstGeom>
          <a:solidFill>
            <a:srgbClr val="FFFFFF">
              <a:alpha val="16000"/>
            </a:srgbClr>
          </a:solidFill>
          <a:ln>
            <a:noFill/>
          </a:ln>
        </p:spPr>
        <p:txBody>
          <a:bodyPr rtlCol="0" anchor="ctr"/>
          <a:lstStyle/>
          <a:p>
            <a:pPr algn="ctr"/>
            <a:endParaRPr lang="ko-KR" dirty="0"/>
          </a:p>
        </p:txBody>
      </p:sp>
      <p:sp>
        <p:nvSpPr>
          <p:cNvPr id="73" name="i"/>
          <p:cNvSpPr/>
          <p:nvPr/>
        </p:nvSpPr>
        <p:spPr>
          <a:xfrm>
            <a:off x="8890000" y="3291979"/>
            <a:ext cx="2274987" cy="76200"/>
          </a:xfrm>
          <a:prstGeom prst="roundRect">
            <a:avLst>
              <a:gd name="adj" fmla="val 50000"/>
            </a:avLst>
          </a:prstGeom>
          <a:solidFill>
            <a:srgbClr val="EA002C"/>
          </a:solidFill>
          <a:ln>
            <a:noFill/>
          </a:ln>
        </p:spPr>
        <p:txBody>
          <a:bodyPr rtlCol="0" anchor="ctr"/>
          <a:lstStyle/>
          <a:p>
            <a:pPr algn="ctr"/>
            <a:endParaRPr lang="ko-KR" dirty="0"/>
          </a:p>
        </p:txBody>
      </p:sp>
      <p:sp>
        <p:nvSpPr>
          <p:cNvPr id="74" name="t4-elk::after"/>
          <p:cNvSpPr/>
          <p:nvPr/>
        </p:nvSpPr>
        <p:spPr>
          <a:xfrm>
            <a:off x="9422606" y="3871416"/>
            <a:ext cx="1905794" cy="9525"/>
          </a:xfrm>
          <a:prstGeom prst="rect">
            <a:avLst/>
          </a:prstGeom>
          <a:solidFill>
            <a:srgbClr val="FFFFFF">
              <a:alpha val="16000"/>
            </a:srgbClr>
          </a:solidFill>
          <a:ln>
            <a:noFill/>
          </a:ln>
        </p:spPr>
        <p:txBody>
          <a:bodyPr rtlCol="0" anchor="ctr"/>
          <a:lstStyle/>
          <a:p>
            <a:pPr algn="ctr"/>
            <a:endParaRPr lang="ko-KR" dirty="0"/>
          </a:p>
        </p:txBody>
      </p:sp>
      <p:sp>
        <p:nvSpPr>
          <p:cNvPr id="75" name="i"/>
          <p:cNvSpPr/>
          <p:nvPr/>
        </p:nvSpPr>
        <p:spPr>
          <a:xfrm>
            <a:off x="9677698" y="4025404"/>
            <a:ext cx="9525" cy="101600"/>
          </a:xfrm>
          <a:prstGeom prst="rect">
            <a:avLst/>
          </a:prstGeom>
          <a:solidFill>
            <a:srgbClr val="FFFFFF">
              <a:alpha val="22000"/>
            </a:srgbClr>
          </a:solidFill>
          <a:ln>
            <a:noFill/>
          </a:ln>
        </p:spPr>
        <p:txBody>
          <a:bodyPr rtlCol="0" anchor="ctr"/>
          <a:lstStyle/>
          <a:p>
            <a:pPr algn="ctr"/>
            <a:endParaRPr lang="ko-KR" dirty="0"/>
          </a:p>
        </p:txBody>
      </p:sp>
      <p:sp>
        <p:nvSpPr>
          <p:cNvPr id="76" name="i"/>
          <p:cNvSpPr/>
          <p:nvPr/>
        </p:nvSpPr>
        <p:spPr>
          <a:xfrm>
            <a:off x="10429280" y="4025404"/>
            <a:ext cx="9525" cy="101600"/>
          </a:xfrm>
          <a:prstGeom prst="rect">
            <a:avLst/>
          </a:prstGeom>
          <a:solidFill>
            <a:srgbClr val="FFFFFF">
              <a:alpha val="22000"/>
            </a:srgbClr>
          </a:solidFill>
          <a:ln>
            <a:noFill/>
          </a:ln>
        </p:spPr>
        <p:txBody>
          <a:bodyPr rtlCol="0" anchor="ctr"/>
          <a:lstStyle/>
          <a:p>
            <a:pPr algn="ctr"/>
            <a:endParaRPr lang="ko-KR" dirty="0"/>
          </a:p>
        </p:txBody>
      </p:sp>
      <p:sp>
        <p:nvSpPr>
          <p:cNvPr id="77" name="fig"/>
          <p:cNvSpPr/>
          <p:nvPr/>
        </p:nvSpPr>
        <p:spPr>
          <a:xfrm>
            <a:off x="8890000" y="4263529"/>
            <a:ext cx="2438400" cy="1667570"/>
          </a:xfrm>
          <a:prstGeom prst="roundRect">
            <a:avLst>
              <a:gd name="adj" fmla="val 4570"/>
            </a:avLst>
          </a:prstGeom>
          <a:solidFill>
            <a:srgbClr val="FFFFFF"/>
          </a:solidFill>
          <a:ln>
            <a:noFill/>
          </a:ln>
        </p:spPr>
        <p:txBody>
          <a:bodyPr rtlCol="0" anchor="ctr"/>
          <a:lstStyle/>
          <a:p>
            <a:pPr algn="ctr"/>
            <a:endParaRPr lang="ko-KR" dirty="0"/>
          </a:p>
        </p:txBody>
      </p:sp>
      <p:pic>
        <p:nvPicPr>
          <p:cNvPr id="78" name="img" descr="img">    </p:cNvPr>
          <p:cNvPicPr>
            <a:picLocks noChangeAspect="1"/>
          </p:cNvPicPr>
          <p:nvPr/>
        </p:nvPicPr>
        <p:blipFill>
          <a:blip r:embed="rId1"/>
          <a:stretch>
            <a:fillRect/>
          </a:stretch>
        </p:blipFill>
        <p:spPr>
          <a:xfrm>
            <a:off x="9271000" y="4337612"/>
            <a:ext cx="1625600" cy="1517650"/>
          </a:xfrm>
          <a:prstGeom prst="rect">
            <a:avLst/>
          </a:prstGeom>
        </p:spPr>
      </p:pic>
      <p:sp>
        <p:nvSpPr>
          <p:cNvPr id="79"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80"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81" name="얼마나 잘 됐고, 어떤 의미가 있는가"/>
          <p:cNvSpPr txBox="1"/>
          <p:nvPr/>
        </p:nvSpPr>
        <p:spPr>
          <a:xfrm>
            <a:off x="1848445" y="401439"/>
            <a:ext cx="1699577"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얼마나 잘 됐고, 어떤 의미가 있는가</a:t>
            </a:r>
            <a:endParaRPr lang="en-US" sz="950" dirty="0"/>
          </a:p>
        </p:txBody>
      </p:sp>
      <p:sp>
        <p:nvSpPr>
          <p:cNvPr id="82" name="세 가지 기여가 모두 수치로 뒷받침됩니다."/>
          <p:cNvSpPr txBox="1"/>
          <p:nvPr/>
        </p:nvSpPr>
        <p:spPr>
          <a:xfrm>
            <a:off x="609600" y="666750"/>
            <a:ext cx="4701078"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세 가지 기여가 모두 </a:t>
            </a:r>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수치로</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뒷받침됩니다.</a:t>
            </a:r>
            <a:endParaRPr lang="en-US" sz="2300" dirty="0"/>
          </a:p>
        </p:txBody>
      </p:sp>
      <p:sp>
        <p:nvSpPr>
          <p:cNvPr id="83"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84"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85"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6"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7"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8" name="연구 기여"/>
          <p:cNvSpPr txBox="1"/>
          <p:nvPr/>
        </p:nvSpPr>
        <p:spPr>
          <a:xfrm>
            <a:off x="876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기여</a:t>
            </a:r>
            <a:endParaRPr lang="en-US" sz="1200" dirty="0"/>
          </a:p>
        </p:txBody>
      </p:sp>
      <p:sp>
        <p:nvSpPr>
          <p:cNvPr id="89" name="근거 수치"/>
          <p:cNvSpPr txBox="1"/>
          <p:nvPr/>
        </p:nvSpPr>
        <p:spPr>
          <a:xfrm>
            <a:off x="4432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근거 수치</a:t>
            </a:r>
            <a:endParaRPr lang="en-US" sz="1200" dirty="0"/>
          </a:p>
        </p:txBody>
      </p:sp>
      <p:sp>
        <p:nvSpPr>
          <p:cNvPr id="90" name="비교 기준"/>
          <p:cNvSpPr txBox="1"/>
          <p:nvPr/>
        </p:nvSpPr>
        <p:spPr>
          <a:xfrm>
            <a:off x="7454602" y="1314648"/>
            <a:ext cx="41602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비교 기준</a:t>
            </a:r>
            <a:endParaRPr lang="en-US" sz="800" dirty="0"/>
          </a:p>
        </p:txBody>
      </p:sp>
      <p:sp>
        <p:nvSpPr>
          <p:cNvPr id="91" name="향상분"/>
          <p:cNvSpPr txBox="1"/>
          <p:nvPr/>
        </p:nvSpPr>
        <p:spPr>
          <a:xfrm>
            <a:off x="8124627" y="1314648"/>
            <a:ext cx="308173"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향상분</a:t>
            </a:r>
            <a:endParaRPr lang="en-US" sz="800" dirty="0"/>
          </a:p>
        </p:txBody>
      </p:sp>
      <p:sp>
        <p:nvSpPr>
          <p:cNvPr id="92" name="기여 1"/>
          <p:cNvSpPr txBox="1"/>
          <p:nvPr/>
        </p:nvSpPr>
        <p:spPr>
          <a:xfrm>
            <a:off x="1473200" y="197584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1</a:t>
            </a:r>
            <a:endParaRPr lang="en-US" sz="800" dirty="0"/>
          </a:p>
        </p:txBody>
      </p:sp>
      <p:sp>
        <p:nvSpPr>
          <p:cNvPr id="93" name="도면 종류별 최적"/>
          <p:cNvSpPr txBox="1"/>
          <p:nvPr/>
        </p:nvSpPr>
        <p:spPr>
          <a:xfrm>
            <a:off x="1473200" y="2204442"/>
            <a:ext cx="1074120"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 종류별 최적</a:t>
            </a:r>
            <a:endParaRPr lang="en-US" sz="1300" dirty="0"/>
          </a:p>
        </p:txBody>
      </p:sp>
      <p:sp>
        <p:nvSpPr>
          <p:cNvPr id="94" name="학습·인식 전략 제안"/>
          <p:cNvSpPr txBox="1"/>
          <p:nvPr/>
        </p:nvSpPr>
        <p:spPr>
          <a:xfrm>
            <a:off x="1473200" y="2432248"/>
            <a:ext cx="1262378"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학습·인식 전략 제안</a:t>
            </a:r>
            <a:endParaRPr lang="en-US" sz="1300" dirty="0"/>
          </a:p>
        </p:txBody>
      </p:sp>
      <p:sp>
        <p:nvSpPr>
          <p:cNvPr id="95" name="도면 객체 인식 mAP@0.5"/>
          <p:cNvSpPr txBox="1"/>
          <p:nvPr/>
        </p:nvSpPr>
        <p:spPr>
          <a:xfrm>
            <a:off x="4381500" y="1813123"/>
            <a:ext cx="1311283"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도면 객체 인식 mAP@0.5</a:t>
            </a:r>
            <a:endParaRPr lang="en-US" sz="950" dirty="0"/>
          </a:p>
        </p:txBody>
      </p:sp>
      <p:sp>
        <p:nvSpPr>
          <p:cNvPr id="96" name="·  학습 이미지 평면도 72,792장 · 입면도 16,992장"/>
          <p:cNvSpPr txBox="1"/>
          <p:nvPr/>
        </p:nvSpPr>
        <p:spPr>
          <a:xfrm>
            <a:off x="5669359" y="1813123"/>
            <a:ext cx="2480163"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학습 이미지 평면도 72,792장 · 입면도 16,992장</a:t>
            </a:r>
            <a:endParaRPr lang="en-US" sz="950" dirty="0"/>
          </a:p>
        </p:txBody>
      </p:sp>
      <p:sp>
        <p:nvSpPr>
          <p:cNvPr id="97" name="평면도"/>
          <p:cNvSpPr txBox="1"/>
          <p:nvPr/>
        </p:nvSpPr>
        <p:spPr>
          <a:xfrm>
            <a:off x="4381500" y="20925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98" name="Baseline 0.507"/>
          <p:cNvSpPr txBox="1"/>
          <p:nvPr/>
        </p:nvSpPr>
        <p:spPr>
          <a:xfrm>
            <a:off x="5484416" y="2111573"/>
            <a:ext cx="73858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Baseline </a:t>
            </a:r>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0.507</a:t>
            </a:r>
            <a:endParaRPr lang="en-US" sz="800" dirty="0"/>
          </a:p>
        </p:txBody>
      </p:sp>
      <p:sp>
        <p:nvSpPr>
          <p:cNvPr id="99" name="0.934"/>
          <p:cNvSpPr txBox="1"/>
          <p:nvPr/>
        </p:nvSpPr>
        <p:spPr>
          <a:xfrm>
            <a:off x="4381500" y="22385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0.934</a:t>
            </a:r>
            <a:endParaRPr lang="en-US" sz="3000" dirty="0"/>
          </a:p>
        </p:txBody>
      </p:sp>
      <p:sp>
        <p:nvSpPr>
          <p:cNvPr id="100" name="+42.7%p"/>
          <p:cNvSpPr txBox="1"/>
          <p:nvPr/>
        </p:nvSpPr>
        <p:spPr>
          <a:xfrm>
            <a:off x="5561608" y="2397026"/>
            <a:ext cx="543520"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+42.7%p</a:t>
            </a:r>
            <a:endParaRPr lang="en-US" sz="900" dirty="0"/>
          </a:p>
        </p:txBody>
      </p:sp>
      <p:sp>
        <p:nvSpPr>
          <p:cNvPr id="101" name="입면도"/>
          <p:cNvSpPr txBox="1"/>
          <p:nvPr/>
        </p:nvSpPr>
        <p:spPr>
          <a:xfrm>
            <a:off x="6375400" y="20925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102" name="Baseline 0.355"/>
          <p:cNvSpPr txBox="1"/>
          <p:nvPr/>
        </p:nvSpPr>
        <p:spPr>
          <a:xfrm>
            <a:off x="7478316" y="2111573"/>
            <a:ext cx="73858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Baseline </a:t>
            </a:r>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0.355</a:t>
            </a:r>
            <a:endParaRPr lang="en-US" sz="800" dirty="0"/>
          </a:p>
        </p:txBody>
      </p:sp>
      <p:sp>
        <p:nvSpPr>
          <p:cNvPr id="103" name="0.838"/>
          <p:cNvSpPr txBox="1"/>
          <p:nvPr/>
        </p:nvSpPr>
        <p:spPr>
          <a:xfrm>
            <a:off x="6375400" y="22385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0.838</a:t>
            </a:r>
            <a:endParaRPr lang="en-US" sz="3000" dirty="0"/>
          </a:p>
        </p:txBody>
      </p:sp>
      <p:sp>
        <p:nvSpPr>
          <p:cNvPr id="104" name="+48.3%p"/>
          <p:cNvSpPr txBox="1"/>
          <p:nvPr/>
        </p:nvSpPr>
        <p:spPr>
          <a:xfrm>
            <a:off x="7555508" y="2397026"/>
            <a:ext cx="55364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+48.3%p</a:t>
            </a:r>
            <a:endParaRPr lang="en-US" sz="900" dirty="0"/>
          </a:p>
        </p:txBody>
      </p:sp>
      <p:sp>
        <p:nvSpPr>
          <p:cNvPr id="105" name="기여 2"/>
          <p:cNvSpPr txBox="1"/>
          <p:nvPr/>
        </p:nvSpPr>
        <p:spPr>
          <a:xfrm>
            <a:off x="1473200" y="349984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2</a:t>
            </a:r>
            <a:endParaRPr lang="en-US" sz="800" dirty="0"/>
          </a:p>
        </p:txBody>
      </p:sp>
      <p:sp>
        <p:nvSpPr>
          <p:cNvPr id="106" name="CAD 정보 없이 평면도·입면도 간"/>
          <p:cNvSpPr txBox="1"/>
          <p:nvPr/>
        </p:nvSpPr>
        <p:spPr>
          <a:xfrm>
            <a:off x="1473200" y="3728442"/>
            <a:ext cx="2117425"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CAD 정보 없이 평면도·입면도 간</a:t>
            </a:r>
            <a:endParaRPr lang="en-US" sz="1300" dirty="0"/>
          </a:p>
        </p:txBody>
      </p:sp>
      <p:sp>
        <p:nvSpPr>
          <p:cNvPr id="107" name="객체 대응 관계 정의"/>
          <p:cNvSpPr txBox="1"/>
          <p:nvPr/>
        </p:nvSpPr>
        <p:spPr>
          <a:xfrm>
            <a:off x="1473200" y="3956248"/>
            <a:ext cx="1250494"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객체 대응 관계 정의</a:t>
            </a:r>
            <a:endParaRPr lang="en-US" sz="1300" dirty="0"/>
          </a:p>
        </p:txBody>
      </p:sp>
      <p:sp>
        <p:nvSpPr>
          <p:cNvPr id="108" name="대응 객체 매칭 F1-score"/>
          <p:cNvSpPr txBox="1"/>
          <p:nvPr/>
        </p:nvSpPr>
        <p:spPr>
          <a:xfrm>
            <a:off x="4381500" y="3337123"/>
            <a:ext cx="1241659"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대응 객체 매칭 F1-score</a:t>
            </a:r>
            <a:endParaRPr lang="en-US" sz="950" dirty="0"/>
          </a:p>
        </p:txBody>
      </p:sp>
      <p:sp>
        <p:nvSpPr>
          <p:cNvPr id="109" name="·  8개 동 BIM, 개구부 3,458개"/>
          <p:cNvSpPr txBox="1"/>
          <p:nvPr/>
        </p:nvSpPr>
        <p:spPr>
          <a:xfrm>
            <a:off x="5603677" y="3337123"/>
            <a:ext cx="1515737"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8개 동 BIM, 개구부 3,458개</a:t>
            </a:r>
            <a:endParaRPr lang="en-US" sz="950" dirty="0"/>
          </a:p>
        </p:txBody>
      </p:sp>
      <p:sp>
        <p:nvSpPr>
          <p:cNvPr id="110" name="창문"/>
          <p:cNvSpPr txBox="1"/>
          <p:nvPr/>
        </p:nvSpPr>
        <p:spPr>
          <a:xfrm>
            <a:off x="4381500" y="3616523"/>
            <a:ext cx="25638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창문</a:t>
            </a:r>
            <a:endParaRPr lang="en-US" sz="950" dirty="0"/>
          </a:p>
        </p:txBody>
      </p:sp>
      <p:sp>
        <p:nvSpPr>
          <p:cNvPr id="111" name="3,410개"/>
          <p:cNvSpPr txBox="1"/>
          <p:nvPr/>
        </p:nvSpPr>
        <p:spPr>
          <a:xfrm>
            <a:off x="5801916" y="3635573"/>
            <a:ext cx="421084"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3,410</a:t>
            </a:r>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개</a:t>
            </a:r>
            <a:endParaRPr lang="en-US" sz="800" dirty="0"/>
          </a:p>
        </p:txBody>
      </p:sp>
      <p:sp>
        <p:nvSpPr>
          <p:cNvPr id="112" name="0.93"/>
          <p:cNvSpPr txBox="1"/>
          <p:nvPr/>
        </p:nvSpPr>
        <p:spPr>
          <a:xfrm>
            <a:off x="4381500" y="3762573"/>
            <a:ext cx="864592"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0.93</a:t>
            </a:r>
            <a:endParaRPr lang="en-US" sz="3000" dirty="0"/>
          </a:p>
        </p:txBody>
      </p:sp>
      <p:sp>
        <p:nvSpPr>
          <p:cNvPr id="113" name="문"/>
          <p:cNvSpPr txBox="1"/>
          <p:nvPr/>
        </p:nvSpPr>
        <p:spPr>
          <a:xfrm>
            <a:off x="6375400" y="3616523"/>
            <a:ext cx="15359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문</a:t>
            </a:r>
            <a:endParaRPr lang="en-US" sz="950" dirty="0"/>
          </a:p>
        </p:txBody>
      </p:sp>
      <p:sp>
        <p:nvSpPr>
          <p:cNvPr id="114" name="48개"/>
          <p:cNvSpPr txBox="1"/>
          <p:nvPr/>
        </p:nvSpPr>
        <p:spPr>
          <a:xfrm>
            <a:off x="7951291" y="3635573"/>
            <a:ext cx="265609" cy="120650"/>
          </a:xfrm>
          <a:prstGeom prst="rect">
            <a:avLst/>
          </a:prstGeom>
          <a:noFill/>
          <a:ln/>
        </p:spPr>
        <p:txBody>
          <a:bodyPr wrap="none" lIns="0" tIns="0" rIns="0" bIns="0" rtlCol="0" anchor="ctr"/>
          <a:lstStyle/>
          <a:p>
            <a:pPr algn="l" indent="0" marL="0">
              <a:buNone/>
            </a:pPr>
            <a:r>
              <a:rPr lang="ko-KR" altLang="en-US" sz="800" b="1" spc="-16" kern="0" dirty="0">
                <a:solidFill>
                  <a:srgbClr val="3F4654"/>
                </a:solidFill>
                <a:latin typeface="Pretendard" pitchFamily="34" charset="0"/>
                <a:ea typeface="Pretendard" pitchFamily="34" charset="-127"/>
                <a:cs typeface="Pretendard" pitchFamily="34" charset="-120"/>
              </a:rPr>
              <a:t>48</a:t>
            </a:r>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개</a:t>
            </a:r>
            <a:endParaRPr lang="en-US" sz="800" dirty="0"/>
          </a:p>
        </p:txBody>
      </p:sp>
      <p:sp>
        <p:nvSpPr>
          <p:cNvPr id="115" name="0.95"/>
          <p:cNvSpPr txBox="1"/>
          <p:nvPr/>
        </p:nvSpPr>
        <p:spPr>
          <a:xfrm>
            <a:off x="6375400" y="3762573"/>
            <a:ext cx="864592"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0.95</a:t>
            </a:r>
            <a:endParaRPr lang="en-US" sz="3000" dirty="0"/>
          </a:p>
        </p:txBody>
      </p:sp>
      <p:sp>
        <p:nvSpPr>
          <p:cNvPr id="116" name="기여 3"/>
          <p:cNvSpPr txBox="1"/>
          <p:nvPr/>
        </p:nvSpPr>
        <p:spPr>
          <a:xfrm>
            <a:off x="1473200" y="502384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3</a:t>
            </a:r>
            <a:endParaRPr lang="en-US" sz="800" dirty="0"/>
          </a:p>
        </p:txBody>
      </p:sp>
      <p:sp>
        <p:nvSpPr>
          <p:cNvPr id="117" name="LMM 기반 축척 인식으로 불완전한"/>
          <p:cNvSpPr txBox="1"/>
          <p:nvPr/>
        </p:nvSpPr>
        <p:spPr>
          <a:xfrm>
            <a:off x="1473200" y="5252442"/>
            <a:ext cx="2247207"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LMM 기반 축척 인식으로 불완전한</a:t>
            </a:r>
            <a:endParaRPr lang="en-US" sz="1300" dirty="0"/>
          </a:p>
        </p:txBody>
      </p:sp>
      <p:sp>
        <p:nvSpPr>
          <p:cNvPr id="118" name="도면에서도 안정적인 치수 보정"/>
          <p:cNvSpPr txBox="1"/>
          <p:nvPr/>
        </p:nvSpPr>
        <p:spPr>
          <a:xfrm>
            <a:off x="1473200" y="5480248"/>
            <a:ext cx="1971762"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도면에서도 안정적인 치수 보정</a:t>
            </a:r>
            <a:endParaRPr lang="en-US" sz="1300" dirty="0"/>
          </a:p>
        </p:txBody>
      </p:sp>
      <p:sp>
        <p:nvSpPr>
          <p:cNvPr id="119" name="축척 인식 정확도"/>
          <p:cNvSpPr txBox="1"/>
          <p:nvPr/>
        </p:nvSpPr>
        <p:spPr>
          <a:xfrm>
            <a:off x="4381500" y="4861123"/>
            <a:ext cx="812998"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축척 인식 정확도</a:t>
            </a:r>
            <a:endParaRPr lang="en-US" sz="950" dirty="0"/>
          </a:p>
        </p:txBody>
      </p:sp>
      <p:sp>
        <p:nvSpPr>
          <p:cNvPr id="120" name="·  Tesseract OCR 대비"/>
          <p:cNvSpPr txBox="1"/>
          <p:nvPr/>
        </p:nvSpPr>
        <p:spPr>
          <a:xfrm>
            <a:off x="5194498" y="4861123"/>
            <a:ext cx="117929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Tesseract OCR 대비</a:t>
            </a:r>
            <a:endParaRPr lang="en-US" sz="950" dirty="0"/>
          </a:p>
        </p:txBody>
      </p:sp>
      <p:sp>
        <p:nvSpPr>
          <p:cNvPr id="121" name="LMM(GPT-4o)"/>
          <p:cNvSpPr txBox="1"/>
          <p:nvPr/>
        </p:nvSpPr>
        <p:spPr>
          <a:xfrm>
            <a:off x="4381500" y="5140523"/>
            <a:ext cx="845245"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LMM(GPT-4o)</a:t>
            </a:r>
            <a:endParaRPr lang="en-US" sz="950" dirty="0"/>
          </a:p>
        </p:txBody>
      </p:sp>
      <p:sp>
        <p:nvSpPr>
          <p:cNvPr id="122" name="0.707"/>
          <p:cNvSpPr txBox="1"/>
          <p:nvPr/>
        </p:nvSpPr>
        <p:spPr>
          <a:xfrm>
            <a:off x="4381500" y="5286573"/>
            <a:ext cx="1116294" cy="450850"/>
          </a:xfrm>
          <a:prstGeom prst="rect">
            <a:avLst/>
          </a:prstGeom>
          <a:noFill/>
          <a:ln/>
        </p:spPr>
        <p:txBody>
          <a:bodyPr wrap="none" lIns="0" tIns="0" rIns="0" bIns="0" rtlCol="0" anchor="ctr"/>
          <a:lstStyle/>
          <a:p>
            <a:pPr algn="l" indent="0" marL="0">
              <a:buNone/>
            </a:pPr>
            <a:r>
              <a:rPr lang="ko-KR" altLang="en-US" sz="3000" spc="-120" kern="0" dirty="0">
                <a:solidFill>
                  <a:srgbClr val="102A4C"/>
                </a:solidFill>
                <a:latin typeface="Pretendard ExtraBold" pitchFamily="34" charset="0"/>
                <a:ea typeface="Pretendard ExtraBold" pitchFamily="34" charset="-127"/>
                <a:cs typeface="Pretendard ExtraBold" pitchFamily="34" charset="-120"/>
              </a:rPr>
              <a:t>0.707</a:t>
            </a:r>
            <a:endParaRPr lang="en-US" sz="3000" dirty="0"/>
          </a:p>
        </p:txBody>
      </p:sp>
      <p:sp>
        <p:nvSpPr>
          <p:cNvPr id="123" name="+33.8%p"/>
          <p:cNvSpPr txBox="1"/>
          <p:nvPr/>
        </p:nvSpPr>
        <p:spPr>
          <a:xfrm>
            <a:off x="5561608" y="5445026"/>
            <a:ext cx="54977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+33.8%p</a:t>
            </a:r>
            <a:endParaRPr lang="en-US" sz="900" dirty="0"/>
          </a:p>
        </p:txBody>
      </p:sp>
      <p:sp>
        <p:nvSpPr>
          <p:cNvPr id="124" name="Tesseract OCR"/>
          <p:cNvSpPr txBox="1"/>
          <p:nvPr/>
        </p:nvSpPr>
        <p:spPr>
          <a:xfrm>
            <a:off x="6375400" y="5140523"/>
            <a:ext cx="875209"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Tesseract OCR</a:t>
            </a:r>
            <a:endParaRPr lang="en-US" sz="950" dirty="0"/>
          </a:p>
        </p:txBody>
      </p:sp>
      <p:sp>
        <p:nvSpPr>
          <p:cNvPr id="125" name="0.369"/>
          <p:cNvSpPr txBox="1"/>
          <p:nvPr/>
        </p:nvSpPr>
        <p:spPr>
          <a:xfrm>
            <a:off x="6375400" y="5356423"/>
            <a:ext cx="893266" cy="368300"/>
          </a:xfrm>
          <a:prstGeom prst="rect">
            <a:avLst/>
          </a:prstGeom>
          <a:noFill/>
          <a:ln/>
        </p:spPr>
        <p:txBody>
          <a:bodyPr wrap="none" lIns="0" tIns="0" rIns="0" bIns="0" rtlCol="0" anchor="ctr"/>
          <a:lstStyle/>
          <a:p>
            <a:pPr algn="l" indent="0" marL="0">
              <a:buNone/>
            </a:pPr>
            <a:r>
              <a:rPr lang="ko-KR" altLang="en-US" sz="2400" spc="-96" kern="0" dirty="0">
                <a:solidFill>
                  <a:srgbClr val="737C8B"/>
                </a:solidFill>
                <a:latin typeface="Pretendard ExtraBold" pitchFamily="34" charset="0"/>
                <a:ea typeface="Pretendard ExtraBold" pitchFamily="34" charset="-127"/>
                <a:cs typeface="Pretendard ExtraBold" pitchFamily="34" charset="-120"/>
              </a:rPr>
              <a:t>0.369</a:t>
            </a:r>
            <a:endParaRPr lang="en-US" sz="2400" dirty="0"/>
          </a:p>
        </p:txBody>
      </p:sp>
      <p:sp>
        <p:nvSpPr>
          <p:cNvPr id="126" name="mAP@0.5 객체를 맞게 찾아낸 정도  ·  F1-score 정밀도·재"/>
          <p:cNvSpPr txBox="1"/>
          <p:nvPr/>
        </p:nvSpPr>
        <p:spPr>
          <a:xfrm>
            <a:off x="609600" y="6197798"/>
            <a:ext cx="6665793"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mAP@0.5</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객체를 맞게 찾아낸 정도  ·  </a:t>
            </a:r>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F1-score</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정밀도·재현율의 조화평균 (모두 1에 가까울수록 좋음)  ·  </a:t>
            </a:r>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LMM</a:t>
            </a:r>
            <a:pPr algn="l" indent="0" marL="0">
              <a:buNone/>
            </a:pPr>
            <a:r>
              <a:rPr lang="ko-KR" altLang="en-US" sz="800" spc="-12" kern="0" dirty="0">
                <a:solidFill>
                  <a:srgbClr val="737C8B"/>
                </a:solidFill>
                <a:latin typeface="Pretendard SemiBold" pitchFamily="34" charset="0"/>
                <a:ea typeface="Pretendard SemiBold" pitchFamily="34" charset="-127"/>
                <a:cs typeface="Pretendard SemiBold" pitchFamily="34" charset="-120"/>
              </a:rPr>
              <a:t> 대형 멀티모달 모델  ·  학습 이미지 수는 타일 포함</a:t>
            </a:r>
            <a:endParaRPr lang="en-US" sz="800" dirty="0"/>
          </a:p>
        </p:txBody>
      </p:sp>
      <p:sp>
        <p:nvSpPr>
          <p:cNvPr id="127" name="최종 결과"/>
          <p:cNvSpPr txBox="1"/>
          <p:nvPr/>
        </p:nvSpPr>
        <p:spPr>
          <a:xfrm>
            <a:off x="89027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최종 결과</a:t>
            </a:r>
            <a:endParaRPr lang="en-US" sz="1200" dirty="0"/>
          </a:p>
        </p:txBody>
      </p:sp>
      <p:sp>
        <p:nvSpPr>
          <p:cNvPr id="128" name="최종 BIM 생성"/>
          <p:cNvSpPr txBox="1"/>
          <p:nvPr/>
        </p:nvSpPr>
        <p:spPr>
          <a:xfrm>
            <a:off x="8890000" y="1809948"/>
            <a:ext cx="1080746" cy="228600"/>
          </a:xfrm>
          <a:prstGeom prst="rect">
            <a:avLst/>
          </a:prstGeom>
          <a:noFill/>
          <a:ln/>
        </p:spPr>
        <p:txBody>
          <a:bodyPr wrap="none" lIns="0" tIns="0" rIns="0" bIns="0" rtlCol="0" anchor="ctr"/>
          <a:lstStyle/>
          <a:p>
            <a:pPr algn="l" indent="0" marL="0">
              <a:buNone/>
            </a:pPr>
            <a:r>
              <a:rPr lang="ko-KR" altLang="en-US" sz="1500" spc="-60" kern="0" dirty="0">
                <a:solidFill>
                  <a:srgbClr val="FFFFFF"/>
                </a:solidFill>
                <a:latin typeface="Pretendard ExtraBold" pitchFamily="34" charset="0"/>
                <a:ea typeface="Pretendard ExtraBold" pitchFamily="34" charset="-127"/>
                <a:cs typeface="Pretendard ExtraBold" pitchFamily="34" charset="-120"/>
              </a:rPr>
              <a:t>최종 BIM 생성</a:t>
            </a:r>
            <a:endParaRPr lang="en-US" sz="1500" dirty="0"/>
          </a:p>
        </p:txBody>
      </p:sp>
      <p:sp>
        <p:nvSpPr>
          <p:cNvPr id="129" name="건물 1동 실증"/>
          <p:cNvSpPr txBox="1"/>
          <p:nvPr/>
        </p:nvSpPr>
        <p:spPr>
          <a:xfrm>
            <a:off x="10722173" y="1860748"/>
            <a:ext cx="568127" cy="120650"/>
          </a:xfrm>
          <a:prstGeom prst="rect">
            <a:avLst/>
          </a:prstGeom>
          <a:noFill/>
          <a:ln/>
        </p:spPr>
        <p:txBody>
          <a:bodyPr wrap="none" lIns="0" tIns="0" rIns="0" bIns="0" rtlCol="0" anchor="ctr"/>
          <a:lstStyle/>
          <a:p>
            <a:pPr algn="l" indent="0" marL="0">
              <a:buNone/>
            </a:pPr>
            <a:r>
              <a:rPr lang="ko-KR" altLang="en-US" sz="800" b="1" spc="-16" kern="0" dirty="0">
                <a:solidFill>
                  <a:srgbClr val="FFFFFF">
                    <a:alpha val="88000"/>
                  </a:srgbClr>
                </a:solidFill>
                <a:latin typeface="Pretendard" pitchFamily="34" charset="0"/>
                <a:ea typeface="Pretendard" pitchFamily="34" charset="-127"/>
                <a:cs typeface="Pretendard" pitchFamily="34" charset="-120"/>
              </a:rPr>
              <a:t>건물 1동 실증</a:t>
            </a:r>
            <a:endParaRPr lang="en-US" sz="800" dirty="0"/>
          </a:p>
        </p:txBody>
      </p:sp>
      <p:sp>
        <p:nvSpPr>
          <p:cNvPr id="130" name="379"/>
          <p:cNvSpPr txBox="1"/>
          <p:nvPr/>
        </p:nvSpPr>
        <p:spPr>
          <a:xfrm>
            <a:off x="8890000" y="2006798"/>
            <a:ext cx="1597350" cy="971550"/>
          </a:xfrm>
          <a:prstGeom prst="rect">
            <a:avLst/>
          </a:prstGeom>
          <a:noFill/>
          <a:ln/>
        </p:spPr>
        <p:txBody>
          <a:bodyPr wrap="none" lIns="0" tIns="0" rIns="0" bIns="0" rtlCol="0" anchor="ctr"/>
          <a:lstStyle/>
          <a:p>
            <a:pPr algn="l" indent="0" marL="0">
              <a:buNone/>
            </a:pPr>
            <a:r>
              <a:rPr lang="ko-KR" altLang="en-US" sz="6400" spc="-320" kern="0" dirty="0">
                <a:solidFill>
                  <a:srgbClr val="FFFFFF"/>
                </a:solidFill>
                <a:latin typeface="Pretendard ExtraBold" pitchFamily="34" charset="0"/>
                <a:ea typeface="Pretendard ExtraBold" pitchFamily="34" charset="-127"/>
                <a:cs typeface="Pretendard ExtraBold" pitchFamily="34" charset="-120"/>
              </a:rPr>
              <a:t>379</a:t>
            </a:r>
            <a:endParaRPr lang="en-US" sz="6400" dirty="0"/>
          </a:p>
        </p:txBody>
      </p:sp>
      <p:sp>
        <p:nvSpPr>
          <p:cNvPr id="131" name="/ 406"/>
          <p:cNvSpPr txBox="1"/>
          <p:nvPr/>
        </p:nvSpPr>
        <p:spPr>
          <a:xfrm>
            <a:off x="10498534" y="2540198"/>
            <a:ext cx="664170" cy="304800"/>
          </a:xfrm>
          <a:prstGeom prst="rect">
            <a:avLst/>
          </a:prstGeom>
          <a:noFill/>
          <a:ln/>
        </p:spPr>
        <p:txBody>
          <a:bodyPr wrap="none" lIns="0" tIns="0" rIns="0" bIns="0" rtlCol="0" anchor="ctr"/>
          <a:lstStyle/>
          <a:p>
            <a:pPr algn="l" indent="0" marL="0">
              <a:buNone/>
            </a:pPr>
            <a:r>
              <a:rPr lang="ko-KR" altLang="en-US" sz="2000" b="1" spc="-60" kern="0" dirty="0">
                <a:solidFill>
                  <a:srgbClr val="FFFFFF">
                    <a:alpha val="55000"/>
                  </a:srgbClr>
                </a:solidFill>
                <a:latin typeface="Pretendard" pitchFamily="34" charset="0"/>
                <a:ea typeface="Pretendard" pitchFamily="34" charset="-127"/>
                <a:cs typeface="Pretendard" pitchFamily="34" charset="-120"/>
              </a:rPr>
              <a:t>/ 406</a:t>
            </a:r>
            <a:endParaRPr lang="en-US" sz="2000" dirty="0"/>
          </a:p>
        </p:txBody>
      </p:sp>
      <p:sp>
        <p:nvSpPr>
          <p:cNvPr id="132" name="406개 객체 중 379개 자동 생성"/>
          <p:cNvSpPr txBox="1"/>
          <p:nvPr/>
        </p:nvSpPr>
        <p:spPr>
          <a:xfrm>
            <a:off x="8890000" y="2965648"/>
            <a:ext cx="1763522" cy="158750"/>
          </a:xfrm>
          <a:prstGeom prst="rect">
            <a:avLst/>
          </a:prstGeom>
          <a:noFill/>
          <a:ln/>
        </p:spPr>
        <p:txBody>
          <a:bodyPr wrap="none" lIns="0" tIns="0" rIns="0" bIns="0" rtlCol="0" anchor="ctr"/>
          <a:lstStyle/>
          <a:p>
            <a:pPr algn="l" indent="0" marL="0">
              <a:buNone/>
            </a:pPr>
            <a:r>
              <a:rPr lang="ko-KR" altLang="en-US" sz="1050" spc="-12" kern="0" dirty="0">
                <a:solidFill>
                  <a:srgbClr val="FFFFFF">
                    <a:alpha val="82000"/>
                  </a:srgbClr>
                </a:solidFill>
                <a:latin typeface="Pretendard SemiBold" pitchFamily="34" charset="0"/>
                <a:ea typeface="Pretendard SemiBold" pitchFamily="34" charset="-127"/>
                <a:cs typeface="Pretendard SemiBold" pitchFamily="34" charset="-120"/>
              </a:rPr>
              <a:t>406개 객체 중 379개 자동 생성</a:t>
            </a:r>
            <a:endParaRPr lang="en-US" sz="1050" dirty="0"/>
          </a:p>
        </p:txBody>
      </p:sp>
      <p:sp>
        <p:nvSpPr>
          <p:cNvPr id="133" name="생성 완성도"/>
          <p:cNvSpPr txBox="1"/>
          <p:nvPr/>
        </p:nvSpPr>
        <p:spPr>
          <a:xfrm>
            <a:off x="8890000" y="3526929"/>
            <a:ext cx="590848" cy="146050"/>
          </a:xfrm>
          <a:prstGeom prst="rect">
            <a:avLst/>
          </a:prstGeom>
          <a:noFill/>
          <a:ln/>
        </p:spPr>
        <p:txBody>
          <a:bodyPr wrap="none" lIns="0" tIns="0" rIns="0" bIns="0" rtlCol="0" anchor="ctr"/>
          <a:lstStyle/>
          <a:p>
            <a:pPr algn="l" indent="0" marL="0">
              <a:buNone/>
            </a:pPr>
            <a:r>
              <a:rPr lang="ko-KR" altLang="en-US" sz="950" b="1" spc="-12" kern="0" dirty="0">
                <a:solidFill>
                  <a:srgbClr val="FFFFFF">
                    <a:alpha val="75000"/>
                  </a:srgbClr>
                </a:solidFill>
                <a:latin typeface="Pretendard" pitchFamily="34" charset="0"/>
                <a:ea typeface="Pretendard" pitchFamily="34" charset="-127"/>
                <a:cs typeface="Pretendard" pitchFamily="34" charset="-120"/>
              </a:rPr>
              <a:t>생성 완성도</a:t>
            </a:r>
            <a:endParaRPr lang="en-US" sz="950" dirty="0"/>
          </a:p>
        </p:txBody>
      </p:sp>
      <p:sp>
        <p:nvSpPr>
          <p:cNvPr id="134" name="93.3%"/>
          <p:cNvSpPr txBox="1"/>
          <p:nvPr/>
        </p:nvSpPr>
        <p:spPr>
          <a:xfrm>
            <a:off x="10690721" y="3450729"/>
            <a:ext cx="688479" cy="241300"/>
          </a:xfrm>
          <a:prstGeom prst="rect">
            <a:avLst/>
          </a:prstGeom>
          <a:noFill/>
          <a:ln/>
        </p:spPr>
        <p:txBody>
          <a:bodyPr wrap="none" lIns="0" tIns="0" rIns="0" bIns="0" rtlCol="0" anchor="ctr"/>
          <a:lstStyle/>
          <a:p>
            <a:pPr algn="l" indent="0" marL="0">
              <a:buNone/>
            </a:pPr>
            <a:r>
              <a:rPr lang="ko-KR" altLang="en-US" sz="1600" spc="-48" kern="0" dirty="0">
                <a:solidFill>
                  <a:srgbClr val="FFFFFF"/>
                </a:solidFill>
                <a:latin typeface="Pretendard ExtraBold" pitchFamily="34" charset="0"/>
                <a:ea typeface="Pretendard ExtraBold" pitchFamily="34" charset="-127"/>
                <a:cs typeface="Pretendard ExtraBold" pitchFamily="34" charset="-120"/>
              </a:rPr>
              <a:t>93.3%</a:t>
            </a:r>
            <a:endParaRPr lang="en-US" sz="1600" dirty="0"/>
          </a:p>
        </p:txBody>
      </p:sp>
      <p:sp>
        <p:nvSpPr>
          <p:cNvPr id="135" name="요소별 생성"/>
          <p:cNvSpPr txBox="1"/>
          <p:nvPr/>
        </p:nvSpPr>
        <p:spPr>
          <a:xfrm>
            <a:off x="8890000" y="3812679"/>
            <a:ext cx="507206" cy="120650"/>
          </a:xfrm>
          <a:prstGeom prst="rect">
            <a:avLst/>
          </a:prstGeom>
          <a:noFill/>
          <a:ln/>
        </p:spPr>
        <p:txBody>
          <a:bodyPr wrap="none" lIns="0" tIns="0" rIns="0" bIns="0" rtlCol="0" anchor="ctr"/>
          <a:lstStyle/>
          <a:p>
            <a:pPr algn="l" indent="0" marL="0">
              <a:buNone/>
            </a:pPr>
            <a:r>
              <a:rPr lang="ko-KR" altLang="en-US" sz="800" b="1" spc="-8" kern="0" dirty="0">
                <a:solidFill>
                  <a:srgbClr val="FFFFFF">
                    <a:alpha val="62000"/>
                  </a:srgbClr>
                </a:solidFill>
                <a:latin typeface="Pretendard" pitchFamily="34" charset="0"/>
                <a:ea typeface="Pretendard" pitchFamily="34" charset="-127"/>
                <a:cs typeface="Pretendard" pitchFamily="34" charset="-120"/>
              </a:rPr>
              <a:t>요소별 생성</a:t>
            </a:r>
            <a:endParaRPr lang="en-US" sz="800" dirty="0"/>
          </a:p>
        </p:txBody>
      </p:sp>
      <p:sp>
        <p:nvSpPr>
          <p:cNvPr id="136" name="벽"/>
          <p:cNvSpPr txBox="1"/>
          <p:nvPr/>
        </p:nvSpPr>
        <p:spPr>
          <a:xfrm>
            <a:off x="8890000" y="4003179"/>
            <a:ext cx="152698"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벽</a:t>
            </a:r>
            <a:endParaRPr lang="en-US" sz="950" dirty="0"/>
          </a:p>
        </p:txBody>
      </p:sp>
      <p:sp>
        <p:nvSpPr>
          <p:cNvPr id="137" name="135 / 153"/>
          <p:cNvSpPr txBox="1"/>
          <p:nvPr/>
        </p:nvSpPr>
        <p:spPr>
          <a:xfrm>
            <a:off x="9017298" y="4003179"/>
            <a:ext cx="603647" cy="146050"/>
          </a:xfrm>
          <a:prstGeom prst="rect">
            <a:avLst/>
          </a:prstGeom>
          <a:noFill/>
          <a:ln/>
        </p:spPr>
        <p:txBody>
          <a:bodyPr wrap="none" lIns="0" tIns="0" rIns="0" bIns="0" rtlCol="0" anchor="ctr"/>
          <a:lstStyle/>
          <a:p>
            <a:pPr algn="l" indent="0" marL="0">
              <a:buNone/>
            </a:pPr>
            <a:r>
              <a:rPr lang="ko-KR" altLang="en-US" sz="950" spc="-19" kern="0" dirty="0">
                <a:solidFill>
                  <a:srgbClr val="FFFFFF"/>
                </a:solidFill>
                <a:latin typeface="Pretendard ExtraBold" pitchFamily="34" charset="0"/>
                <a:ea typeface="Pretendard ExtraBold" pitchFamily="34" charset="-127"/>
                <a:cs typeface="Pretendard ExtraBold" pitchFamily="34" charset="-120"/>
              </a:rPr>
              <a:t>135</a:t>
            </a:r>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153</a:t>
            </a:r>
            <a:endParaRPr lang="en-US" sz="950" dirty="0"/>
          </a:p>
        </p:txBody>
      </p:sp>
      <p:sp>
        <p:nvSpPr>
          <p:cNvPr id="138" name="문"/>
          <p:cNvSpPr txBox="1"/>
          <p:nvPr/>
        </p:nvSpPr>
        <p:spPr>
          <a:xfrm>
            <a:off x="9794776" y="4003179"/>
            <a:ext cx="152698"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문</a:t>
            </a:r>
            <a:endParaRPr lang="en-US" sz="950" dirty="0"/>
          </a:p>
        </p:txBody>
      </p:sp>
      <p:sp>
        <p:nvSpPr>
          <p:cNvPr id="139" name="64 / 64"/>
          <p:cNvSpPr txBox="1"/>
          <p:nvPr/>
        </p:nvSpPr>
        <p:spPr>
          <a:xfrm>
            <a:off x="9922073" y="4003179"/>
            <a:ext cx="450453" cy="146050"/>
          </a:xfrm>
          <a:prstGeom prst="rect">
            <a:avLst/>
          </a:prstGeom>
          <a:noFill/>
          <a:ln/>
        </p:spPr>
        <p:txBody>
          <a:bodyPr wrap="none" lIns="0" tIns="0" rIns="0" bIns="0" rtlCol="0" anchor="ctr"/>
          <a:lstStyle/>
          <a:p>
            <a:pPr algn="l" indent="0" marL="0">
              <a:buNone/>
            </a:pPr>
            <a:r>
              <a:rPr lang="ko-KR" altLang="en-US" sz="950" spc="-19" kern="0" dirty="0">
                <a:solidFill>
                  <a:srgbClr val="FFFFFF"/>
                </a:solidFill>
                <a:latin typeface="Pretendard ExtraBold" pitchFamily="34" charset="0"/>
                <a:ea typeface="Pretendard ExtraBold" pitchFamily="34" charset="-127"/>
                <a:cs typeface="Pretendard ExtraBold" pitchFamily="34" charset="-120"/>
              </a:rPr>
              <a:t>64</a:t>
            </a:r>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64</a:t>
            </a:r>
            <a:endParaRPr lang="en-US" sz="950" dirty="0"/>
          </a:p>
        </p:txBody>
      </p:sp>
      <p:sp>
        <p:nvSpPr>
          <p:cNvPr id="140" name="창문"/>
          <p:cNvSpPr txBox="1"/>
          <p:nvPr/>
        </p:nvSpPr>
        <p:spPr>
          <a:xfrm>
            <a:off x="10546358" y="4003179"/>
            <a:ext cx="254595"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창문</a:t>
            </a:r>
            <a:endParaRPr lang="en-US" sz="950" dirty="0"/>
          </a:p>
        </p:txBody>
      </p:sp>
      <p:sp>
        <p:nvSpPr>
          <p:cNvPr id="141" name="180 / 189"/>
          <p:cNvSpPr txBox="1"/>
          <p:nvPr/>
        </p:nvSpPr>
        <p:spPr>
          <a:xfrm>
            <a:off x="10775553" y="4003179"/>
            <a:ext cx="603647" cy="146050"/>
          </a:xfrm>
          <a:prstGeom prst="rect">
            <a:avLst/>
          </a:prstGeom>
          <a:noFill/>
          <a:ln/>
        </p:spPr>
        <p:txBody>
          <a:bodyPr wrap="none" lIns="0" tIns="0" rIns="0" bIns="0" rtlCol="0" anchor="ctr"/>
          <a:lstStyle/>
          <a:p>
            <a:pPr algn="l" indent="0" marL="0">
              <a:buNone/>
            </a:pPr>
            <a:r>
              <a:rPr lang="ko-KR" altLang="en-US" sz="950" spc="-19" kern="0" dirty="0">
                <a:solidFill>
                  <a:srgbClr val="FFFFFF"/>
                </a:solidFill>
                <a:latin typeface="Pretendard ExtraBold" pitchFamily="34" charset="0"/>
                <a:ea typeface="Pretendard ExtraBold" pitchFamily="34" charset="-127"/>
                <a:cs typeface="Pretendard ExtraBold" pitchFamily="34" charset="-120"/>
              </a:rPr>
              <a:t>180</a:t>
            </a:r>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189</a:t>
            </a:r>
            <a:endParaRPr lang="en-US" sz="950" dirty="0"/>
          </a:p>
        </p:txBody>
      </p:sp>
      <p:sp>
        <p:nvSpPr>
          <p:cNvPr id="142" name="자동 생성된 3D BIM"/>
          <p:cNvSpPr txBox="1"/>
          <p:nvPr/>
        </p:nvSpPr>
        <p:spPr>
          <a:xfrm>
            <a:off x="8890000" y="6019998"/>
            <a:ext cx="856258" cy="120650"/>
          </a:xfrm>
          <a:prstGeom prst="rect">
            <a:avLst/>
          </a:prstGeom>
          <a:noFill/>
          <a:ln/>
        </p:spPr>
        <p:txBody>
          <a:bodyPr wrap="none" lIns="0" tIns="0" rIns="0" bIns="0" rtlCol="0" anchor="ctr"/>
          <a:lstStyle/>
          <a:p>
            <a:pPr algn="l" indent="0" marL="0">
              <a:buNone/>
            </a:pPr>
            <a:r>
              <a:rPr lang="ko-KR" altLang="en-US" sz="800" spc="-12" kern="0" dirty="0">
                <a:solidFill>
                  <a:srgbClr val="FFFFFF">
                    <a:alpha val="62000"/>
                  </a:srgbClr>
                </a:solidFill>
                <a:latin typeface="Pretendard SemiBold" pitchFamily="34" charset="0"/>
                <a:ea typeface="Pretendard SemiBold" pitchFamily="34" charset="-127"/>
                <a:cs typeface="Pretendard SemiBold" pitchFamily="34" charset="-120"/>
              </a:rPr>
              <a:t>자동 생성된 3D BIM</a:t>
            </a:r>
            <a:endParaRPr lang="en-US" sz="800" dirty="0"/>
          </a:p>
        </p:txBody>
      </p:sp>
      <p:sp>
        <p:nvSpPr>
          <p:cNvPr id="143"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44" name="04 / 05"/>
          <p:cNvSpPr txBox="1"/>
          <p:nvPr/>
        </p:nvSpPr>
        <p:spPr>
          <a:xfrm>
            <a:off x="11214795" y="6472238"/>
            <a:ext cx="41840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04</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3042741"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done"/>
          <p:cNvSpPr/>
          <p:nvPr/>
        </p:nvSpPr>
        <p:spPr>
          <a:xfrm>
            <a:off x="109601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8" name="on"/>
          <p:cNvSpPr/>
          <p:nvPr/>
        </p:nvSpPr>
        <p:spPr>
          <a:xfrm>
            <a:off x="112903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9" name="svg rect"/>
          <p:cNvSpPr/>
          <p:nvPr/>
        </p:nvSpPr>
        <p:spPr>
          <a:xfrm>
            <a:off x="628650" y="1708547"/>
            <a:ext cx="127000" cy="88900"/>
          </a:xfrm>
          <a:prstGeom prst="roundRect">
            <a:avLst>
              <a:gd name="adj" fmla="val 17857"/>
            </a:avLst>
          </a:prstGeom>
          <a:noFill/>
          <a:ln w="12700" cap="rnd">
            <a:solidFill>
              <a:srgbClr val="102A4C"/>
            </a:solidFill>
            <a:round/>
          </a:ln>
        </p:spPr>
        <p:txBody>
          <a:bodyPr rtlCol="0" anchor="ctr"/>
          <a:lstStyle/>
          <a:p>
            <a:pPr algn="ctr"/>
            <a:endParaRPr lang="ko-KR" dirty="0"/>
          </a:p>
        </p:txBody>
      </p:sp>
      <p:sp>
        <p:nvSpPr>
          <p:cNvPr id="10" name="svg path"/>
          <p:cNvSpPr/>
          <p:nvPr/>
        </p:nvSpPr>
        <p:spPr>
          <a:xfrm>
            <a:off x="669925" y="1686322"/>
            <a:ext cx="44450" cy="22225"/>
          </a:xfrm>
          <a:custGeom>
            <a:avLst/>
            <a:gdLst/>
            <a:ahLst/>
            <a:cxnLst/>
            <a:rect l="0" t="0" r="r" b="b"/>
            <a:pathLst>
              <a:path w="44450" h="22225" fill="none">
                <a:moveTo>
                  <a:pt x="0" y="22225"/>
                </a:moveTo>
                <a:lnTo>
                  <a:pt x="0" y="9525"/>
                </a:lnTo>
                <a:cubicBezTo>
                  <a:pt x="0" y="4264"/>
                  <a:pt x="4264" y="0"/>
                  <a:pt x="9525" y="0"/>
                </a:cubicBezTo>
                <a:lnTo>
                  <a:pt x="34925" y="0"/>
                </a:lnTo>
                <a:cubicBezTo>
                  <a:pt x="40186" y="0"/>
                  <a:pt x="44450" y="4264"/>
                  <a:pt x="44450" y="9525"/>
                </a:cubicBezTo>
                <a:lnTo>
                  <a:pt x="44450" y="22225"/>
                </a:lnTo>
              </a:path>
            </a:pathLst>
          </a:custGeom>
          <a:noFill/>
          <a:ln w="12700" cap="rnd">
            <a:solidFill>
              <a:srgbClr val="102A4C"/>
            </a:solidFill>
            <a:round/>
          </a:ln>
        </p:spPr>
        <p:txBody>
          <a:bodyPr rtlCol="0" anchor="ctr"/>
          <a:lstStyle/>
          <a:p>
            <a:pPr algn="ctr"/>
            <a:endParaRPr lang="ko-KR" dirty="0"/>
          </a:p>
        </p:txBody>
      </p:sp>
      <p:sp>
        <p:nvSpPr>
          <p:cNvPr id="11" name="svg path"/>
          <p:cNvSpPr/>
          <p:nvPr/>
        </p:nvSpPr>
        <p:spPr>
          <a:xfrm>
            <a:off x="628650" y="1749822"/>
            <a:ext cx="127000" cy="1"/>
          </a:xfrm>
          <a:custGeom>
            <a:avLst/>
            <a:gdLst/>
            <a:ahLst/>
            <a:cxnLst/>
            <a:rect l="0" t="0" r="r" b="b"/>
            <a:pathLst>
              <a:path w="127000" h="1" fill="none">
                <a:moveTo>
                  <a:pt x="0" y="0"/>
                </a:moveTo>
                <a:lnTo>
                  <a:pt x="127000" y="0"/>
                </a:lnTo>
              </a:path>
            </a:pathLst>
          </a:custGeom>
          <a:noFill/>
          <a:ln w="12700" cap="rnd">
            <a:solidFill>
              <a:srgbClr val="102A4C"/>
            </a:solidFill>
            <a:round/>
          </a:ln>
        </p:spPr>
        <p:txBody>
          <a:bodyPr rtlCol="0" anchor="ctr"/>
          <a:lstStyle/>
          <a:p>
            <a:pPr algn="ctr"/>
            <a:endParaRPr lang="ko-KR" dirty="0"/>
          </a:p>
        </p:txBody>
      </p:sp>
      <p:sp>
        <p:nvSpPr>
          <p:cNvPr id="12" name="t5-ch c1::after"/>
          <p:cNvSpPr/>
          <p:nvPr/>
        </p:nvSpPr>
        <p:spPr>
          <a:xfrm>
            <a:off x="1490663" y="1733947"/>
            <a:ext cx="4452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svg path"/>
          <p:cNvSpPr/>
          <p:nvPr/>
        </p:nvSpPr>
        <p:spPr>
          <a:xfrm>
            <a:off x="6394450" y="1679972"/>
            <a:ext cx="82550" cy="120650"/>
          </a:xfrm>
          <a:custGeom>
            <a:avLst/>
            <a:gdLst/>
            <a:ahLst/>
            <a:cxnLst/>
            <a:rect l="0" t="0" r="r" b="b"/>
            <a:pathLst>
              <a:path w="82550" h="120650" fill="none">
                <a:moveTo>
                  <a:pt x="0" y="0"/>
                </a:moveTo>
                <a:lnTo>
                  <a:pt x="53975" y="0"/>
                </a:lnTo>
                <a:lnTo>
                  <a:pt x="82550" y="28575"/>
                </a:lnTo>
                <a:lnTo>
                  <a:pt x="82550" y="120650"/>
                </a:lnTo>
                <a:lnTo>
                  <a:pt x="0" y="120650"/>
                </a:lnTo>
                <a:close/>
              </a:path>
            </a:pathLst>
          </a:custGeom>
          <a:noFill/>
          <a:ln w="12700" cap="rnd">
            <a:solidFill>
              <a:srgbClr val="102A4C"/>
            </a:solidFill>
            <a:round/>
          </a:ln>
        </p:spPr>
        <p:txBody>
          <a:bodyPr rtlCol="0" anchor="ctr"/>
          <a:lstStyle/>
          <a:p>
            <a:pPr algn="ctr"/>
            <a:endParaRPr lang="ko-KR" dirty="0"/>
          </a:p>
        </p:txBody>
      </p:sp>
      <p:sp>
        <p:nvSpPr>
          <p:cNvPr id="14" name="svg path"/>
          <p:cNvSpPr/>
          <p:nvPr/>
        </p:nvSpPr>
        <p:spPr>
          <a:xfrm>
            <a:off x="6448425" y="1679972"/>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15" name="svg path"/>
          <p:cNvSpPr/>
          <p:nvPr/>
        </p:nvSpPr>
        <p:spPr>
          <a:xfrm>
            <a:off x="6416675" y="1740297"/>
            <a:ext cx="38100" cy="28575"/>
          </a:xfrm>
          <a:custGeom>
            <a:avLst/>
            <a:gdLst/>
            <a:ahLst/>
            <a:cxnLst/>
            <a:rect l="0" t="0" r="r" b="b"/>
            <a:pathLst>
              <a:path w="38100" h="28575" fill="none">
                <a:moveTo>
                  <a:pt x="0" y="0"/>
                </a:moveTo>
                <a:lnTo>
                  <a:pt x="38100" y="0"/>
                </a:lnTo>
                <a:moveTo>
                  <a:pt x="0" y="28575"/>
                </a:moveTo>
                <a:lnTo>
                  <a:pt x="38100" y="28575"/>
                </a:lnTo>
              </a:path>
            </a:pathLst>
          </a:custGeom>
          <a:noFill/>
          <a:ln w="12700" cap="rnd">
            <a:solidFill>
              <a:srgbClr val="102A4C"/>
            </a:solidFill>
            <a:round/>
          </a:ln>
        </p:spPr>
        <p:txBody>
          <a:bodyPr rtlCol="0" anchor="ctr"/>
          <a:lstStyle/>
          <a:p>
            <a:pPr algn="ctr"/>
            <a:endParaRPr lang="ko-KR" dirty="0"/>
          </a:p>
        </p:txBody>
      </p:sp>
      <p:sp>
        <p:nvSpPr>
          <p:cNvPr id="16" name="t5-ch c2::after"/>
          <p:cNvSpPr/>
          <p:nvPr/>
        </p:nvSpPr>
        <p:spPr>
          <a:xfrm>
            <a:off x="7231063" y="1733947"/>
            <a:ext cx="43513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5-task"/>
          <p:cNvSpPr/>
          <p:nvPr/>
        </p:nvSpPr>
        <p:spPr>
          <a:xfrm>
            <a:off x="609600" y="19688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18" name="t5-ic"/>
          <p:cNvSpPr/>
          <p:nvPr/>
        </p:nvSpPr>
        <p:spPr>
          <a:xfrm>
            <a:off x="838200" y="22482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9" name="svg path"/>
          <p:cNvSpPr/>
          <p:nvPr/>
        </p:nvSpPr>
        <p:spPr>
          <a:xfrm>
            <a:off x="984250" y="2597547"/>
            <a:ext cx="215900" cy="1"/>
          </a:xfrm>
          <a:custGeom>
            <a:avLst/>
            <a:gdLst/>
            <a:ahLst/>
            <a:cxnLst/>
            <a:rect l="0" t="0" r="r" b="b"/>
            <a:pathLst>
              <a:path w="215900" h="1" fill="none">
                <a:moveTo>
                  <a:pt x="0" y="0"/>
                </a:moveTo>
                <a:lnTo>
                  <a:pt x="215900" y="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996950" y="2407047"/>
            <a:ext cx="187325" cy="190500"/>
          </a:xfrm>
          <a:custGeom>
            <a:avLst/>
            <a:gdLst/>
            <a:ahLst/>
            <a:cxnLst/>
            <a:rect l="0" t="0" r="r" b="b"/>
            <a:pathLst>
              <a:path w="187325" h="190500" fill="none">
                <a:moveTo>
                  <a:pt x="0" y="190500"/>
                </a:moveTo>
                <a:lnTo>
                  <a:pt x="0" y="88900"/>
                </a:lnTo>
                <a:lnTo>
                  <a:pt x="50800" y="57150"/>
                </a:lnTo>
                <a:lnTo>
                  <a:pt x="50800" y="88900"/>
                </a:lnTo>
                <a:lnTo>
                  <a:pt x="101600" y="57150"/>
                </a:lnTo>
                <a:lnTo>
                  <a:pt x="101600" y="88900"/>
                </a:lnTo>
                <a:lnTo>
                  <a:pt x="152400" y="57150"/>
                </a:lnTo>
                <a:lnTo>
                  <a:pt x="152400" y="0"/>
                </a:lnTo>
                <a:lnTo>
                  <a:pt x="187325" y="0"/>
                </a:lnTo>
                <a:lnTo>
                  <a:pt x="187325" y="1905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063625" y="2556272"/>
            <a:ext cx="38100" cy="41275"/>
          </a:xfrm>
          <a:custGeom>
            <a:avLst/>
            <a:gdLst/>
            <a:ahLst/>
            <a:cxnLst/>
            <a:rect l="0" t="0" r="r" b="b"/>
            <a:pathLst>
              <a:path w="38100" h="41275" fill="none">
                <a:moveTo>
                  <a:pt x="0" y="41275"/>
                </a:moveTo>
                <a:lnTo>
                  <a:pt x="0" y="0"/>
                </a:lnTo>
                <a:lnTo>
                  <a:pt x="38100" y="0"/>
                </a:lnTo>
                <a:lnTo>
                  <a:pt x="38100" y="41275"/>
                </a:lnTo>
              </a:path>
            </a:pathLst>
          </a:custGeom>
          <a:noFill/>
          <a:ln w="12700" cap="rnd">
            <a:solidFill>
              <a:srgbClr val="102A4C"/>
            </a:solidFill>
            <a:round/>
          </a:ln>
        </p:spPr>
        <p:txBody>
          <a:bodyPr rtlCol="0" anchor="ctr"/>
          <a:lstStyle/>
          <a:p>
            <a:pPr algn="ctr"/>
            <a:endParaRPr lang="ko-KR" dirty="0"/>
          </a:p>
        </p:txBody>
      </p:sp>
      <p:sp>
        <p:nvSpPr>
          <p:cNvPr id="22" name="d 선"/>
          <p:cNvSpPr/>
          <p:nvPr/>
        </p:nvSpPr>
        <p:spPr>
          <a:xfrm>
            <a:off x="3635375" y="22959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23" name="t5-link::before"/>
          <p:cNvSpPr/>
          <p:nvPr/>
        </p:nvSpPr>
        <p:spPr>
          <a:xfrm>
            <a:off x="5943600" y="2495947"/>
            <a:ext cx="4064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5994400" y="2349897"/>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6135158" y="24416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26" name="svg path"/>
          <p:cNvSpPr/>
          <p:nvPr/>
        </p:nvSpPr>
        <p:spPr>
          <a:xfrm>
            <a:off x="6086060" y="24842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27" name="t5-res"/>
          <p:cNvSpPr/>
          <p:nvPr/>
        </p:nvSpPr>
        <p:spPr>
          <a:xfrm>
            <a:off x="6356350" y="19752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8" name="t5-ar path"/>
          <p:cNvSpPr/>
          <p:nvPr/>
        </p:nvSpPr>
        <p:spPr>
          <a:xfrm>
            <a:off x="8229600" y="24514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29" name="t5-out"/>
          <p:cNvSpPr/>
          <p:nvPr/>
        </p:nvSpPr>
        <p:spPr>
          <a:xfrm>
            <a:off x="8724900" y="19815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0" name="t5-task"/>
          <p:cNvSpPr/>
          <p:nvPr/>
        </p:nvSpPr>
        <p:spPr>
          <a:xfrm>
            <a:off x="609600" y="31372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1" name="t5-ic"/>
          <p:cNvSpPr/>
          <p:nvPr/>
        </p:nvSpPr>
        <p:spPr>
          <a:xfrm>
            <a:off x="838200" y="34166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2" name="svg path"/>
          <p:cNvSpPr/>
          <p:nvPr/>
        </p:nvSpPr>
        <p:spPr>
          <a:xfrm>
            <a:off x="996950" y="3562747"/>
            <a:ext cx="120650" cy="190500"/>
          </a:xfrm>
          <a:custGeom>
            <a:avLst/>
            <a:gdLst/>
            <a:ahLst/>
            <a:cxnLst/>
            <a:rect l="0" t="0" r="r" b="b"/>
            <a:pathLst>
              <a:path w="120650" h="190500" fill="none">
                <a:moveTo>
                  <a:pt x="63500" y="190500"/>
                </a:moveTo>
                <a:lnTo>
                  <a:pt x="0" y="190500"/>
                </a:lnTo>
                <a:lnTo>
                  <a:pt x="0" y="0"/>
                </a:lnTo>
                <a:lnTo>
                  <a:pt x="92075" y="0"/>
                </a:lnTo>
                <a:lnTo>
                  <a:pt x="120650" y="28575"/>
                </a:lnTo>
                <a:lnTo>
                  <a:pt x="120650" y="6985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1089025" y="3562747"/>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1022350" y="3607197"/>
            <a:ext cx="57150" cy="63500"/>
          </a:xfrm>
          <a:custGeom>
            <a:avLst/>
            <a:gdLst/>
            <a:ahLst/>
            <a:cxnLst/>
            <a:rect l="0" t="0" r="r" b="b"/>
            <a:pathLst>
              <a:path w="57150" h="63500" fill="none">
                <a:moveTo>
                  <a:pt x="0" y="0"/>
                </a:moveTo>
                <a:lnTo>
                  <a:pt x="57150" y="0"/>
                </a:lnTo>
                <a:moveTo>
                  <a:pt x="0" y="31750"/>
                </a:moveTo>
                <a:lnTo>
                  <a:pt x="57150" y="31750"/>
                </a:lnTo>
                <a:moveTo>
                  <a:pt x="0" y="63500"/>
                </a:moveTo>
                <a:lnTo>
                  <a:pt x="31750" y="63500"/>
                </a:lnTo>
              </a:path>
            </a:pathLst>
          </a:custGeom>
          <a:noFill/>
          <a:ln w="12700" cap="rnd">
            <a:solidFill>
              <a:srgbClr val="102A4C"/>
            </a:solidFill>
            <a:round/>
          </a:ln>
        </p:spPr>
        <p:txBody>
          <a:bodyPr rtlCol="0" anchor="ctr"/>
          <a:lstStyle/>
          <a:p>
            <a:pPr algn="ctr"/>
            <a:endParaRPr lang="ko-KR" dirty="0"/>
          </a:p>
        </p:txBody>
      </p:sp>
      <p:sp>
        <p:nvSpPr>
          <p:cNvPr id="35" name="svg w"/>
          <p:cNvSpPr/>
          <p:nvPr/>
        </p:nvSpPr>
        <p:spPr>
          <a:xfrm>
            <a:off x="1085850" y="3651647"/>
            <a:ext cx="114300" cy="63500"/>
          </a:xfrm>
          <a:custGeom>
            <a:avLst/>
            <a:gdLst/>
            <a:ahLst/>
            <a:cxnLst/>
            <a:rect l="0" t="0" r="r" b="b"/>
            <a:pathLst>
              <a:path w="114300" h="63500">
                <a:moveTo>
                  <a:pt x="57150" y="0"/>
                </a:moveTo>
                <a:lnTo>
                  <a:pt x="114300" y="31750"/>
                </a:lnTo>
                <a:lnTo>
                  <a:pt x="57150" y="63500"/>
                </a:lnTo>
                <a:lnTo>
                  <a:pt x="0" y="317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w"/>
          <p:cNvSpPr/>
          <p:nvPr/>
        </p:nvSpPr>
        <p:spPr>
          <a:xfrm>
            <a:off x="1085850" y="3683397"/>
            <a:ext cx="114300" cy="95250"/>
          </a:xfrm>
          <a:custGeom>
            <a:avLst/>
            <a:gdLst/>
            <a:ahLst/>
            <a:cxnLst/>
            <a:rect l="0" t="0" r="r" b="b"/>
            <a:pathLst>
              <a:path w="114300" h="95250">
                <a:moveTo>
                  <a:pt x="0" y="0"/>
                </a:moveTo>
                <a:lnTo>
                  <a:pt x="0" y="63500"/>
                </a:lnTo>
                <a:lnTo>
                  <a:pt x="57150" y="95250"/>
                </a:lnTo>
                <a:lnTo>
                  <a:pt x="114300" y="63500"/>
                </a:lnTo>
                <a:lnTo>
                  <a:pt x="114300" y="0"/>
                </a:lnTo>
              </a:path>
            </a:pathLst>
          </a:custGeom>
          <a:solidFill>
            <a:srgbClr val="FFFFFF"/>
          </a:solidFill>
          <a:ln w="12700" cap="rnd">
            <a:solidFill>
              <a:srgbClr val="102A4C"/>
            </a:solidFill>
            <a:round/>
          </a:ln>
        </p:spPr>
        <p:txBody>
          <a:bodyPr rtlCol="0" anchor="ctr"/>
          <a:lstStyle/>
          <a:p>
            <a:pPr algn="ctr"/>
            <a:endParaRPr lang="ko-KR" dirty="0"/>
          </a:p>
        </p:txBody>
      </p:sp>
      <p:sp>
        <p:nvSpPr>
          <p:cNvPr id="37" name="svg path"/>
          <p:cNvSpPr/>
          <p:nvPr/>
        </p:nvSpPr>
        <p:spPr>
          <a:xfrm>
            <a:off x="1143000" y="3715147"/>
            <a:ext cx="1" cy="63500"/>
          </a:xfrm>
          <a:custGeom>
            <a:avLst/>
            <a:gdLst/>
            <a:ahLst/>
            <a:cxnLst/>
            <a:rect l="0" t="0" r="r" b="b"/>
            <a:pathLst>
              <a:path w="1" h="63500" fill="none">
                <a:moveTo>
                  <a:pt x="0" y="0"/>
                </a:moveTo>
                <a:lnTo>
                  <a:pt x="0" y="63500"/>
                </a:lnTo>
              </a:path>
            </a:pathLst>
          </a:custGeom>
          <a:noFill/>
          <a:ln w="12700" cap="rnd">
            <a:solidFill>
              <a:srgbClr val="102A4C"/>
            </a:solidFill>
            <a:round/>
          </a:ln>
        </p:spPr>
        <p:txBody>
          <a:bodyPr rtlCol="0" anchor="ctr"/>
          <a:lstStyle/>
          <a:p>
            <a:pPr algn="ctr"/>
            <a:endParaRPr lang="ko-KR" dirty="0"/>
          </a:p>
        </p:txBody>
      </p:sp>
      <p:sp>
        <p:nvSpPr>
          <p:cNvPr id="38" name="d 선"/>
          <p:cNvSpPr/>
          <p:nvPr/>
        </p:nvSpPr>
        <p:spPr>
          <a:xfrm>
            <a:off x="3635375" y="34643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39" name="t5-link::before"/>
          <p:cNvSpPr/>
          <p:nvPr/>
        </p:nvSpPr>
        <p:spPr>
          <a:xfrm>
            <a:off x="5943600" y="3664347"/>
            <a:ext cx="406400" cy="12700"/>
          </a:xfrm>
          <a:prstGeom prst="rect">
            <a:avLst/>
          </a:prstGeom>
          <a:solidFill>
            <a:srgbClr val="C8CFD8"/>
          </a:solidFill>
          <a:ln>
            <a:noFill/>
          </a:ln>
        </p:spPr>
        <p:txBody>
          <a:bodyPr rtlCol="0" anchor="ctr"/>
          <a:lstStyle/>
          <a:p>
            <a:pPr algn="ctr"/>
            <a:endParaRPr lang="ko-KR" dirty="0"/>
          </a:p>
        </p:txBody>
      </p:sp>
      <p:sp>
        <p:nvSpPr>
          <p:cNvPr id="40" name="i"/>
          <p:cNvSpPr/>
          <p:nvPr/>
        </p:nvSpPr>
        <p:spPr>
          <a:xfrm>
            <a:off x="5994400" y="3518297"/>
            <a:ext cx="304800" cy="304800"/>
          </a:xfrm>
          <a:prstGeom prst="ellipse">
            <a:avLst/>
          </a:prstGeom>
          <a:solidFill>
            <a:srgbClr val="102A4C"/>
          </a:solidFill>
          <a:ln>
            <a:noFill/>
          </a:ln>
        </p:spPr>
        <p:txBody>
          <a:bodyPr rtlCol="0" anchor="ctr"/>
          <a:lstStyle/>
          <a:p>
            <a:pPr algn="ctr"/>
            <a:endParaRPr lang="ko-KR" dirty="0"/>
          </a:p>
        </p:txBody>
      </p:sp>
      <p:sp>
        <p:nvSpPr>
          <p:cNvPr id="41" name="svg path"/>
          <p:cNvSpPr/>
          <p:nvPr/>
        </p:nvSpPr>
        <p:spPr>
          <a:xfrm>
            <a:off x="6135158" y="36100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42" name="svg path"/>
          <p:cNvSpPr/>
          <p:nvPr/>
        </p:nvSpPr>
        <p:spPr>
          <a:xfrm>
            <a:off x="6086060" y="36526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43" name="t5-res"/>
          <p:cNvSpPr/>
          <p:nvPr/>
        </p:nvSpPr>
        <p:spPr>
          <a:xfrm>
            <a:off x="6356350" y="31436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5-ar path"/>
          <p:cNvSpPr/>
          <p:nvPr/>
        </p:nvSpPr>
        <p:spPr>
          <a:xfrm>
            <a:off x="8229600" y="36198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45" name="t5-out"/>
          <p:cNvSpPr/>
          <p:nvPr/>
        </p:nvSpPr>
        <p:spPr>
          <a:xfrm>
            <a:off x="8724900" y="31499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46" name="t5-task"/>
          <p:cNvSpPr/>
          <p:nvPr/>
        </p:nvSpPr>
        <p:spPr>
          <a:xfrm>
            <a:off x="609600" y="43056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t5-ic"/>
          <p:cNvSpPr/>
          <p:nvPr/>
        </p:nvSpPr>
        <p:spPr>
          <a:xfrm>
            <a:off x="838200" y="45850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48" name="svg path"/>
          <p:cNvSpPr/>
          <p:nvPr/>
        </p:nvSpPr>
        <p:spPr>
          <a:xfrm>
            <a:off x="981075" y="4788297"/>
            <a:ext cx="114300" cy="63500"/>
          </a:xfrm>
          <a:custGeom>
            <a:avLst/>
            <a:gdLst/>
            <a:ahLst/>
            <a:cxnLst/>
            <a:rect l="0" t="0" r="r" b="b"/>
            <a:pathLst>
              <a:path w="114300" h="63500" fill="none">
                <a:moveTo>
                  <a:pt x="57150" y="0"/>
                </a:moveTo>
                <a:lnTo>
                  <a:pt x="114300" y="31750"/>
                </a:lnTo>
                <a:lnTo>
                  <a:pt x="57150" y="63500"/>
                </a:lnTo>
                <a:lnTo>
                  <a:pt x="0" y="31750"/>
                </a:lnTo>
                <a:close/>
              </a:path>
            </a:pathLst>
          </a:custGeom>
          <a:noFill/>
          <a:ln w="12700" cap="rnd">
            <a:solidFill>
              <a:srgbClr val="102A4C"/>
            </a:solidFill>
            <a:round/>
          </a:ln>
        </p:spPr>
        <p:txBody>
          <a:bodyPr rtlCol="0" anchor="ctr"/>
          <a:lstStyle/>
          <a:p>
            <a:pPr algn="ctr"/>
            <a:endParaRPr lang="ko-KR" dirty="0"/>
          </a:p>
        </p:txBody>
      </p:sp>
      <p:sp>
        <p:nvSpPr>
          <p:cNvPr id="49" name="svg path"/>
          <p:cNvSpPr/>
          <p:nvPr/>
        </p:nvSpPr>
        <p:spPr>
          <a:xfrm>
            <a:off x="981075" y="4820047"/>
            <a:ext cx="114300" cy="114300"/>
          </a:xfrm>
          <a:custGeom>
            <a:avLst/>
            <a:gdLst/>
            <a:ahLst/>
            <a:cxnLst/>
            <a:rect l="0" t="0" r="r" b="b"/>
            <a:pathLst>
              <a:path w="114300" h="114300" fill="none">
                <a:moveTo>
                  <a:pt x="0" y="0"/>
                </a:moveTo>
                <a:lnTo>
                  <a:pt x="0" y="82550"/>
                </a:lnTo>
                <a:lnTo>
                  <a:pt x="57150" y="114300"/>
                </a:lnTo>
                <a:lnTo>
                  <a:pt x="114300" y="82550"/>
                </a:lnTo>
                <a:lnTo>
                  <a:pt x="114300" y="0"/>
                </a:lnTo>
              </a:path>
            </a:pathLst>
          </a:custGeom>
          <a:noFill/>
          <a:ln w="12700" cap="rnd">
            <a:solidFill>
              <a:srgbClr val="102A4C"/>
            </a:solidFill>
            <a:round/>
          </a:ln>
        </p:spPr>
        <p:txBody>
          <a:bodyPr rtlCol="0" anchor="ctr"/>
          <a:lstStyle/>
          <a:p>
            <a:pPr algn="ctr"/>
            <a:endParaRPr lang="ko-KR" dirty="0"/>
          </a:p>
        </p:txBody>
      </p:sp>
      <p:sp>
        <p:nvSpPr>
          <p:cNvPr id="50" name="svg path"/>
          <p:cNvSpPr/>
          <p:nvPr/>
        </p:nvSpPr>
        <p:spPr>
          <a:xfrm>
            <a:off x="1038225" y="4851797"/>
            <a:ext cx="1" cy="82550"/>
          </a:xfrm>
          <a:custGeom>
            <a:avLst/>
            <a:gdLst/>
            <a:ahLst/>
            <a:cxnLst/>
            <a:rect l="0" t="0" r="r" b="b"/>
            <a:pathLst>
              <a:path w="1" h="82550" fill="none">
                <a:moveTo>
                  <a:pt x="0" y="0"/>
                </a:moveTo>
                <a:lnTo>
                  <a:pt x="0" y="82550"/>
                </a:lnTo>
              </a:path>
            </a:pathLst>
          </a:custGeom>
          <a:noFill/>
          <a:ln w="12700" cap="rnd">
            <a:solidFill>
              <a:srgbClr val="102A4C"/>
            </a:solidFill>
            <a:round/>
          </a:ln>
        </p:spPr>
        <p:txBody>
          <a:bodyPr rtlCol="0" anchor="ctr"/>
          <a:lstStyle/>
          <a:p>
            <a:pPr algn="ctr"/>
            <a:endParaRPr lang="ko-KR" dirty="0"/>
          </a:p>
        </p:txBody>
      </p:sp>
      <p:sp>
        <p:nvSpPr>
          <p:cNvPr id="51" name="svg ellipse"/>
          <p:cNvSpPr/>
          <p:nvPr/>
        </p:nvSpPr>
        <p:spPr>
          <a:xfrm>
            <a:off x="1111250" y="4743847"/>
            <a:ext cx="88900" cy="38100"/>
          </a:xfrm>
          <a:prstGeom prst="ellipse">
            <a:avLst/>
          </a:prstGeom>
          <a:noFill/>
          <a:ln w="12700" cap="rnd">
            <a:solidFill>
              <a:srgbClr val="102A4C"/>
            </a:solidFill>
            <a:round/>
          </a:ln>
        </p:spPr>
        <p:txBody>
          <a:bodyPr rtlCol="0" anchor="ctr"/>
          <a:lstStyle/>
          <a:p>
            <a:pPr algn="ctr"/>
            <a:endParaRPr lang="ko-KR" dirty="0"/>
          </a:p>
        </p:txBody>
      </p:sp>
      <p:sp>
        <p:nvSpPr>
          <p:cNvPr id="52" name="svg path"/>
          <p:cNvSpPr/>
          <p:nvPr/>
        </p:nvSpPr>
        <p:spPr>
          <a:xfrm>
            <a:off x="1111250" y="4762897"/>
            <a:ext cx="88900" cy="171450"/>
          </a:xfrm>
          <a:custGeom>
            <a:avLst/>
            <a:gdLst/>
            <a:ahLst/>
            <a:cxnLst/>
            <a:rect l="0" t="0" r="r" b="b"/>
            <a:pathLst>
              <a:path w="88900" h="171450" fill="none">
                <a:moveTo>
                  <a:pt x="0" y="0"/>
                </a:moveTo>
                <a:lnTo>
                  <a:pt x="0" y="152400"/>
                </a:lnTo>
                <a:cubicBezTo>
                  <a:pt x="0" y="162921"/>
                  <a:pt x="19901" y="171450"/>
                  <a:pt x="44450" y="171450"/>
                </a:cubicBezTo>
                <a:cubicBezTo>
                  <a:pt x="68999" y="171450"/>
                  <a:pt x="88900" y="162921"/>
                  <a:pt x="88900" y="152400"/>
                </a:cubicBezTo>
                <a:lnTo>
                  <a:pt x="88900" y="0"/>
                </a:lnTo>
              </a:path>
            </a:pathLst>
          </a:custGeom>
          <a:noFill/>
          <a:ln w="12700" cap="rnd">
            <a:solidFill>
              <a:srgbClr val="102A4C"/>
            </a:solidFill>
            <a:round/>
          </a:ln>
        </p:spPr>
        <p:txBody>
          <a:bodyPr rtlCol="0" anchor="ctr"/>
          <a:lstStyle/>
          <a:p>
            <a:pPr algn="ctr"/>
            <a:endParaRPr lang="ko-KR" dirty="0"/>
          </a:p>
        </p:txBody>
      </p:sp>
      <p:sp>
        <p:nvSpPr>
          <p:cNvPr id="53" name="svg path"/>
          <p:cNvSpPr/>
          <p:nvPr/>
        </p:nvSpPr>
        <p:spPr>
          <a:xfrm>
            <a:off x="1111250" y="4813697"/>
            <a:ext cx="88900" cy="69850"/>
          </a:xfrm>
          <a:custGeom>
            <a:avLst/>
            <a:gdLst/>
            <a:ahLst/>
            <a:cxnLst/>
            <a:rect l="0" t="0" r="r" b="b"/>
            <a:pathLst>
              <a:path w="88900" h="69850" fill="none">
                <a:moveTo>
                  <a:pt x="0" y="0"/>
                </a:moveTo>
                <a:cubicBezTo>
                  <a:pt x="0" y="10521"/>
                  <a:pt x="19901" y="19050"/>
                  <a:pt x="44450" y="19050"/>
                </a:cubicBezTo>
                <a:cubicBezTo>
                  <a:pt x="68999" y="19050"/>
                  <a:pt x="88900" y="10521"/>
                  <a:pt x="88900" y="0"/>
                </a:cubicBezTo>
                <a:moveTo>
                  <a:pt x="0" y="50800"/>
                </a:moveTo>
                <a:cubicBezTo>
                  <a:pt x="0" y="61321"/>
                  <a:pt x="19901" y="69850"/>
                  <a:pt x="44450" y="69850"/>
                </a:cubicBezTo>
                <a:cubicBezTo>
                  <a:pt x="68999" y="69850"/>
                  <a:pt x="88900" y="61321"/>
                  <a:pt x="88900" y="50800"/>
                </a:cubicBezTo>
              </a:path>
            </a:pathLst>
          </a:custGeom>
          <a:noFill/>
          <a:ln w="12700" cap="rnd">
            <a:solidFill>
              <a:srgbClr val="102A4C"/>
            </a:solidFill>
            <a:round/>
          </a:ln>
        </p:spPr>
        <p:txBody>
          <a:bodyPr rtlCol="0" anchor="ctr"/>
          <a:lstStyle/>
          <a:p>
            <a:pPr algn="ctr"/>
            <a:endParaRPr lang="ko-KR" dirty="0"/>
          </a:p>
        </p:txBody>
      </p:sp>
      <p:sp>
        <p:nvSpPr>
          <p:cNvPr id="54" name="d 선"/>
          <p:cNvSpPr/>
          <p:nvPr/>
        </p:nvSpPr>
        <p:spPr>
          <a:xfrm>
            <a:off x="3635375" y="46327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55" name="t5-link::before"/>
          <p:cNvSpPr/>
          <p:nvPr/>
        </p:nvSpPr>
        <p:spPr>
          <a:xfrm>
            <a:off x="5943600" y="4832747"/>
            <a:ext cx="4064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5994400" y="4686697"/>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6135158" y="47784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58" name="svg path"/>
          <p:cNvSpPr/>
          <p:nvPr/>
        </p:nvSpPr>
        <p:spPr>
          <a:xfrm>
            <a:off x="6086060" y="48210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59" name="t5-res"/>
          <p:cNvSpPr/>
          <p:nvPr/>
        </p:nvSpPr>
        <p:spPr>
          <a:xfrm>
            <a:off x="6356350" y="43120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60" name="t5-ar path"/>
          <p:cNvSpPr/>
          <p:nvPr/>
        </p:nvSpPr>
        <p:spPr>
          <a:xfrm>
            <a:off x="8229600" y="47882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61" name="t5-out"/>
          <p:cNvSpPr/>
          <p:nvPr/>
        </p:nvSpPr>
        <p:spPr>
          <a:xfrm>
            <a:off x="8724900" y="43183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62" name="keybar t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63" name="t5-end 선"/>
          <p:cNvSpPr/>
          <p:nvPr/>
        </p:nvSpPr>
        <p:spPr>
          <a:xfrm>
            <a:off x="8826302" y="5746155"/>
            <a:ext cx="1" cy="473670"/>
          </a:xfrm>
          <a:custGeom>
            <a:avLst/>
            <a:gdLst/>
            <a:ahLst/>
            <a:cxnLst/>
            <a:rect l="0" t="0" r="r" b="b"/>
            <a:pathLst>
              <a:path w="1" h="473670" fill="none">
                <a:moveTo>
                  <a:pt x="0" y="473670"/>
                </a:moveTo>
                <a:lnTo>
                  <a:pt x="0" y="0"/>
                </a:lnTo>
              </a:path>
            </a:pathLst>
          </a:custGeom>
          <a:noFill/>
          <a:ln w="6350">
            <a:solidFill>
              <a:srgbClr val="FFFFFF">
                <a:alpha val="18000"/>
              </a:srgbClr>
            </a:solidFill>
            <a:round/>
          </a:ln>
        </p:spPr>
        <p:txBody>
          <a:bodyPr rtlCol="0" anchor="ctr"/>
          <a:lstStyle/>
          <a:p>
            <a:pPr algn="ctr"/>
            <a:endParaRPr lang="ko-KR" dirty="0"/>
          </a:p>
        </p:txBody>
      </p:sp>
      <p:sp>
        <p:nvSpPr>
          <p:cNvPr id="64" name="05"/>
          <p:cNvSpPr txBox="1"/>
          <p:nvPr/>
        </p:nvSpPr>
        <p:spPr>
          <a:xfrm>
            <a:off x="609600" y="401439"/>
            <a:ext cx="21480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05</a:t>
            </a:r>
            <a:endParaRPr lang="en-US" sz="950" dirty="0"/>
          </a:p>
        </p:txBody>
      </p:sp>
      <p:sp>
        <p:nvSpPr>
          <p:cNvPr id="65" name="Utility 기술(건축, BIM/5D) 직무와의 연관성"/>
          <p:cNvSpPr txBox="1"/>
          <p:nvPr/>
        </p:nvSpPr>
        <p:spPr>
          <a:xfrm>
            <a:off x="862509" y="401439"/>
            <a:ext cx="221681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Utility 기술(건축, BIM/5D) 직무와의 연관성</a:t>
            </a:r>
            <a:endParaRPr lang="en-US" sz="950" dirty="0"/>
          </a:p>
        </p:txBody>
      </p:sp>
      <p:sp>
        <p:nvSpPr>
          <p:cNvPr id="66" name="SK하이닉스 직무에서 왜 중요한가"/>
          <p:cNvSpPr txBox="1"/>
          <p:nvPr/>
        </p:nvSpPr>
        <p:spPr>
          <a:xfrm>
            <a:off x="3137991" y="401439"/>
            <a:ext cx="1661505"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SK하이닉스 직무에서 왜 중요한가</a:t>
            </a:r>
            <a:endParaRPr lang="en-US" sz="950" dirty="0"/>
          </a:p>
        </p:txBody>
      </p:sp>
      <p:sp>
        <p:nvSpPr>
          <p:cNvPr id="67" name="직무에서 마주할 세 가지 과제가"/>
          <p:cNvSpPr txBox="1"/>
          <p:nvPr/>
        </p:nvSpPr>
        <p:spPr>
          <a:xfrm>
            <a:off x="609600" y="666750"/>
            <a:ext cx="3545239"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직무에서 마주할 세 가지 과제가</a:t>
            </a:r>
            <a:endParaRPr lang="en-US" sz="2300" dirty="0"/>
          </a:p>
        </p:txBody>
      </p:sp>
      <p:sp>
        <p:nvSpPr>
          <p:cNvPr id="68" name="제 연구와 맞닿아 있습니다."/>
          <p:cNvSpPr txBox="1"/>
          <p:nvPr/>
        </p:nvSpPr>
        <p:spPr>
          <a:xfrm>
            <a:off x="609600" y="1028898"/>
            <a:ext cx="3055979" cy="349250"/>
          </a:xfrm>
          <a:prstGeom prst="rect">
            <a:avLst/>
          </a:prstGeom>
          <a:noFill/>
          <a:ln/>
        </p:spPr>
        <p:txBody>
          <a:bodyPr wrap="none" lIns="0" tIns="0" rIns="0" bIns="0" rtlCol="0" anchor="ctr"/>
          <a:lstStyle/>
          <a:p>
            <a:pPr algn="l" indent="0" marL="0">
              <a:buNone/>
            </a:pP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제 연구와 맞닿아</a:t>
            </a:r>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있습니다.</a:t>
            </a:r>
            <a:endParaRPr lang="en-US" sz="2300" dirty="0"/>
          </a:p>
        </p:txBody>
      </p:sp>
      <p:sp>
        <p:nvSpPr>
          <p:cNvPr id="69"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70"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1"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72"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04</a:t>
            </a:r>
            <a:endParaRPr lang="en-US" sz="700" dirty="0"/>
          </a:p>
        </p:txBody>
      </p:sp>
      <p:sp>
        <p:nvSpPr>
          <p:cNvPr id="73"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05</a:t>
            </a:r>
            <a:endParaRPr lang="en-US" sz="700" dirty="0"/>
          </a:p>
        </p:txBody>
      </p:sp>
      <p:sp>
        <p:nvSpPr>
          <p:cNvPr id="74" name="직무 과제"/>
          <p:cNvSpPr txBox="1"/>
          <p:nvPr/>
        </p:nvSpPr>
        <p:spPr>
          <a:xfrm>
            <a:off x="8636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직무 과제</a:t>
            </a:r>
            <a:endParaRPr lang="en-US" sz="1200" dirty="0"/>
          </a:p>
        </p:txBody>
      </p:sp>
      <p:sp>
        <p:nvSpPr>
          <p:cNvPr id="75" name="연구 접점"/>
          <p:cNvSpPr txBox="1"/>
          <p:nvPr/>
        </p:nvSpPr>
        <p:spPr>
          <a:xfrm>
            <a:off x="66040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접점</a:t>
            </a:r>
            <a:endParaRPr lang="en-US" sz="1200" dirty="0"/>
          </a:p>
        </p:txBody>
      </p:sp>
      <p:sp>
        <p:nvSpPr>
          <p:cNvPr id="76" name="과제 1"/>
          <p:cNvSpPr txBox="1"/>
          <p:nvPr/>
        </p:nvSpPr>
        <p:spPr>
          <a:xfrm>
            <a:off x="1549400" y="2285107"/>
            <a:ext cx="346571"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1</a:t>
            </a:r>
            <a:endParaRPr lang="en-US" sz="800" dirty="0"/>
          </a:p>
        </p:txBody>
      </p:sp>
      <p:sp>
        <p:nvSpPr>
          <p:cNvPr id="77" name="Virtual FAB 구축"/>
          <p:cNvSpPr txBox="1"/>
          <p:nvPr/>
        </p:nvSpPr>
        <p:spPr>
          <a:xfrm>
            <a:off x="1549400" y="2481957"/>
            <a:ext cx="1271423"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Virtual FAB 구축</a:t>
            </a:r>
            <a:endParaRPr lang="en-US" sz="1400" dirty="0"/>
          </a:p>
        </p:txBody>
      </p:sp>
      <p:sp>
        <p:nvSpPr>
          <p:cNvPr id="78" name="여러 출처의 도면·모델 데이터를"/>
          <p:cNvSpPr txBox="1"/>
          <p:nvPr/>
        </p:nvSpPr>
        <p:spPr>
          <a:xfrm>
            <a:off x="3841750" y="2311797"/>
            <a:ext cx="1748377"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여러 출처의 도면·모델 데이터를</a:t>
            </a:r>
            <a:endParaRPr lang="en-US" sz="1100" dirty="0"/>
          </a:p>
        </p:txBody>
      </p:sp>
      <p:sp>
        <p:nvSpPr>
          <p:cNvPr id="79" name="하나로 통합"/>
          <p:cNvSpPr txBox="1"/>
          <p:nvPr/>
        </p:nvSpPr>
        <p:spPr>
          <a:xfrm>
            <a:off x="3841750" y="2521347"/>
            <a:ext cx="667643"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하나로 통합</a:t>
            </a:r>
            <a:endParaRPr lang="en-US" sz="1100" dirty="0"/>
          </a:p>
        </p:txBody>
      </p:sp>
      <p:sp>
        <p:nvSpPr>
          <p:cNvPr id="80" name="서로 다른 도면의"/>
          <p:cNvSpPr txBox="1"/>
          <p:nvPr/>
        </p:nvSpPr>
        <p:spPr>
          <a:xfrm>
            <a:off x="6604000" y="2303264"/>
            <a:ext cx="959273" cy="177800"/>
          </a:xfrm>
          <a:prstGeom prst="rect">
            <a:avLst/>
          </a:prstGeom>
          <a:noFill/>
          <a:ln/>
        </p:spPr>
        <p:txBody>
          <a:bodyPr wrap="none" lIns="0" tIns="0" rIns="0" bIns="0" rtlCol="0" anchor="ctr"/>
          <a:lstStyle/>
          <a:p>
            <a:pPr algn="l" indent="0" marL="0">
              <a:buNone/>
            </a:pPr>
            <a:r>
              <a:rPr lang="ko-KR" altLang="en-US" sz="1150" b="1" spc="-40" kern="0" dirty="0">
                <a:solidFill>
                  <a:srgbClr val="141820"/>
                </a:solidFill>
                <a:latin typeface="Pretendard" pitchFamily="34" charset="0"/>
                <a:ea typeface="Pretendard" pitchFamily="34" charset="-127"/>
                <a:cs typeface="Pretendard" pitchFamily="34" charset="-120"/>
              </a:rPr>
              <a:t>서로 다른 도면의</a:t>
            </a:r>
            <a:endParaRPr lang="en-US" sz="1150" dirty="0"/>
          </a:p>
        </p:txBody>
      </p:sp>
      <p:sp>
        <p:nvSpPr>
          <p:cNvPr id="81" name="불완전한 정보를 짝지어"/>
          <p:cNvSpPr txBox="1"/>
          <p:nvPr/>
        </p:nvSpPr>
        <p:spPr>
          <a:xfrm>
            <a:off x="6604000" y="2514997"/>
            <a:ext cx="1344412" cy="177800"/>
          </a:xfrm>
          <a:prstGeom prst="rect">
            <a:avLst/>
          </a:prstGeom>
          <a:noFill/>
          <a:ln/>
        </p:spPr>
        <p:txBody>
          <a:bodyPr wrap="none" lIns="0" tIns="0" rIns="0" bIns="0" rtlCol="0" anchor="ctr"/>
          <a:lstStyle/>
          <a:p>
            <a:pPr algn="l" indent="0" marL="0">
              <a:buNone/>
            </a:pPr>
            <a:r>
              <a:rPr lang="ko-KR" altLang="en-US" sz="1150" b="1" spc="-40" kern="0" dirty="0">
                <a:solidFill>
                  <a:srgbClr val="141820"/>
                </a:solidFill>
                <a:latin typeface="Pretendard" pitchFamily="34" charset="0"/>
                <a:ea typeface="Pretendard" pitchFamily="34" charset="-127"/>
                <a:cs typeface="Pretendard" pitchFamily="34" charset="-120"/>
              </a:rPr>
              <a:t>불완전한 정보를 짝지어</a:t>
            </a:r>
            <a:endParaRPr lang="en-US" sz="1150" dirty="0"/>
          </a:p>
        </p:txBody>
      </p:sp>
      <p:sp>
        <p:nvSpPr>
          <p:cNvPr id="82" name="하나의 3D 모델로 통합"/>
          <p:cNvSpPr txBox="1"/>
          <p:nvPr/>
        </p:nvSpPr>
        <p:spPr>
          <a:xfrm>
            <a:off x="8978900" y="2399407"/>
            <a:ext cx="1473142"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하나의 3D 모델로 통합</a:t>
            </a:r>
            <a:endParaRPr lang="en-US" sz="1300" dirty="0"/>
          </a:p>
        </p:txBody>
      </p:sp>
      <p:sp>
        <p:nvSpPr>
          <p:cNvPr id="83" name="과제 2"/>
          <p:cNvSpPr txBox="1"/>
          <p:nvPr/>
        </p:nvSpPr>
        <p:spPr>
          <a:xfrm>
            <a:off x="1549400" y="3453507"/>
            <a:ext cx="360759"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2</a:t>
            </a:r>
            <a:endParaRPr lang="en-US" sz="800" dirty="0"/>
          </a:p>
        </p:txBody>
      </p:sp>
      <p:sp>
        <p:nvSpPr>
          <p:cNvPr id="84" name="기존 시설의 디지털 전환"/>
          <p:cNvSpPr txBox="1"/>
          <p:nvPr/>
        </p:nvSpPr>
        <p:spPr>
          <a:xfrm>
            <a:off x="1549400" y="3650357"/>
            <a:ext cx="1657298"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기존 시설의 디지털 전환</a:t>
            </a:r>
            <a:endParaRPr lang="en-US" sz="1400" dirty="0"/>
          </a:p>
        </p:txBody>
      </p:sp>
      <p:sp>
        <p:nvSpPr>
          <p:cNvPr id="85" name="이미지 도면만 남은"/>
          <p:cNvSpPr txBox="1"/>
          <p:nvPr/>
        </p:nvSpPr>
        <p:spPr>
          <a:xfrm>
            <a:off x="3841750" y="3480197"/>
            <a:ext cx="1059186"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이미지 도면만 남은</a:t>
            </a:r>
            <a:endParaRPr lang="en-US" sz="1100" dirty="0"/>
          </a:p>
        </p:txBody>
      </p:sp>
      <p:sp>
        <p:nvSpPr>
          <p:cNvPr id="86" name="기존 시설이 많음"/>
          <p:cNvSpPr txBox="1"/>
          <p:nvPr/>
        </p:nvSpPr>
        <p:spPr>
          <a:xfrm>
            <a:off x="3841750" y="3689747"/>
            <a:ext cx="934873"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기존 시설이 많음</a:t>
            </a:r>
            <a:endParaRPr lang="en-US" sz="1100" dirty="0"/>
          </a:p>
        </p:txBody>
      </p:sp>
      <p:sp>
        <p:nvSpPr>
          <p:cNvPr id="87" name="CAD 정보 없이"/>
          <p:cNvSpPr txBox="1"/>
          <p:nvPr/>
        </p:nvSpPr>
        <p:spPr>
          <a:xfrm>
            <a:off x="6604000" y="3471664"/>
            <a:ext cx="888107" cy="177800"/>
          </a:xfrm>
          <a:prstGeom prst="rect">
            <a:avLst/>
          </a:prstGeom>
          <a:noFill/>
          <a:ln/>
        </p:spPr>
        <p:txBody>
          <a:bodyPr wrap="none" lIns="0" tIns="0" rIns="0" bIns="0" rtlCol="0" anchor="ctr"/>
          <a:lstStyle/>
          <a:p>
            <a:pPr algn="l" indent="0" marL="0">
              <a:buNone/>
            </a:pPr>
            <a:r>
              <a:rPr lang="ko-KR" altLang="en-US" sz="1150" b="1" spc="-40" kern="0" dirty="0">
                <a:solidFill>
                  <a:srgbClr val="141820"/>
                </a:solidFill>
                <a:latin typeface="Pretendard" pitchFamily="34" charset="0"/>
                <a:ea typeface="Pretendard" pitchFamily="34" charset="-127"/>
                <a:cs typeface="Pretendard" pitchFamily="34" charset="-120"/>
              </a:rPr>
              <a:t>CAD 정보 없이</a:t>
            </a:r>
            <a:endParaRPr lang="en-US" sz="1150" dirty="0"/>
          </a:p>
        </p:txBody>
      </p:sp>
      <p:sp>
        <p:nvSpPr>
          <p:cNvPr id="88" name="이미지 도면에서 BIM 생성"/>
          <p:cNvSpPr txBox="1"/>
          <p:nvPr/>
        </p:nvSpPr>
        <p:spPr>
          <a:xfrm>
            <a:off x="6604000" y="3683397"/>
            <a:ext cx="1506377" cy="177800"/>
          </a:xfrm>
          <a:prstGeom prst="rect">
            <a:avLst/>
          </a:prstGeom>
          <a:noFill/>
          <a:ln/>
        </p:spPr>
        <p:txBody>
          <a:bodyPr wrap="none" lIns="0" tIns="0" rIns="0" bIns="0" rtlCol="0" anchor="ctr"/>
          <a:lstStyle/>
          <a:p>
            <a:pPr algn="l" indent="0" marL="0">
              <a:buNone/>
            </a:pPr>
            <a:r>
              <a:rPr lang="ko-KR" altLang="en-US" sz="1150" b="1" spc="-40" kern="0" dirty="0">
                <a:solidFill>
                  <a:srgbClr val="141820"/>
                </a:solidFill>
                <a:latin typeface="Pretendard" pitchFamily="34" charset="0"/>
                <a:ea typeface="Pretendard" pitchFamily="34" charset="-127"/>
                <a:cs typeface="Pretendard" pitchFamily="34" charset="-120"/>
              </a:rPr>
              <a:t>이미지 도면에서 BIM 생성</a:t>
            </a:r>
            <a:endParaRPr lang="en-US" sz="1150" dirty="0"/>
          </a:p>
        </p:txBody>
      </p:sp>
      <p:sp>
        <p:nvSpPr>
          <p:cNvPr id="89" name="디지털 전환 기간 단축"/>
          <p:cNvSpPr txBox="1"/>
          <p:nvPr/>
        </p:nvSpPr>
        <p:spPr>
          <a:xfrm>
            <a:off x="8978900" y="3567807"/>
            <a:ext cx="1394684"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디지털 전환 기간 단축</a:t>
            </a:r>
            <a:endParaRPr lang="en-US" sz="1300" dirty="0"/>
          </a:p>
        </p:txBody>
      </p:sp>
      <p:sp>
        <p:nvSpPr>
          <p:cNvPr id="90" name="과제 3"/>
          <p:cNvSpPr txBox="1"/>
          <p:nvPr/>
        </p:nvSpPr>
        <p:spPr>
          <a:xfrm>
            <a:off x="1549400" y="4621907"/>
            <a:ext cx="363637"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3</a:t>
            </a:r>
            <a:endParaRPr lang="en-US" sz="800" dirty="0"/>
          </a:p>
        </p:txBody>
      </p:sp>
      <p:sp>
        <p:nvSpPr>
          <p:cNvPr id="91" name="5D(물량·원가) 관리"/>
          <p:cNvSpPr txBox="1"/>
          <p:nvPr/>
        </p:nvSpPr>
        <p:spPr>
          <a:xfrm>
            <a:off x="1549400" y="4818757"/>
            <a:ext cx="1390477"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5D(물량·원가) 관리</a:t>
            </a:r>
            <a:endParaRPr lang="en-US" sz="1400" dirty="0"/>
          </a:p>
        </p:txBody>
      </p:sp>
      <p:sp>
        <p:nvSpPr>
          <p:cNvPr id="92" name="BIM 데이터가 정확해야"/>
          <p:cNvSpPr txBox="1"/>
          <p:nvPr/>
        </p:nvSpPr>
        <p:spPr>
          <a:xfrm>
            <a:off x="3841750" y="4648597"/>
            <a:ext cx="1305498"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데이터가 정확해야</a:t>
            </a:r>
            <a:endParaRPr lang="en-US" sz="1100" dirty="0"/>
          </a:p>
        </p:txBody>
      </p:sp>
      <p:sp>
        <p:nvSpPr>
          <p:cNvPr id="93" name="물량·원가 관리가 의미 있음"/>
          <p:cNvSpPr txBox="1"/>
          <p:nvPr/>
        </p:nvSpPr>
        <p:spPr>
          <a:xfrm>
            <a:off x="3841750" y="4858147"/>
            <a:ext cx="1499856"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물량·원가 관리가 의미 있음</a:t>
            </a:r>
            <a:endParaRPr lang="en-US" sz="1100" dirty="0"/>
          </a:p>
        </p:txBody>
      </p:sp>
      <p:sp>
        <p:nvSpPr>
          <p:cNvPr id="94" name="축척 보정·생성 완성도"/>
          <p:cNvSpPr txBox="1"/>
          <p:nvPr/>
        </p:nvSpPr>
        <p:spPr>
          <a:xfrm>
            <a:off x="6604000" y="4640064"/>
            <a:ext cx="1254280" cy="177800"/>
          </a:xfrm>
          <a:prstGeom prst="rect">
            <a:avLst/>
          </a:prstGeom>
          <a:noFill/>
          <a:ln/>
        </p:spPr>
        <p:txBody>
          <a:bodyPr wrap="none" lIns="0" tIns="0" rIns="0" bIns="0" rtlCol="0" anchor="ctr"/>
          <a:lstStyle/>
          <a:p>
            <a:pPr algn="l" indent="0" marL="0">
              <a:buNone/>
            </a:pPr>
            <a:r>
              <a:rPr lang="ko-KR" altLang="en-US" sz="1150" b="1" spc="-40" kern="0" dirty="0">
                <a:solidFill>
                  <a:srgbClr val="141820"/>
                </a:solidFill>
                <a:latin typeface="Pretendard" pitchFamily="34" charset="0"/>
                <a:ea typeface="Pretendard" pitchFamily="34" charset="-127"/>
                <a:cs typeface="Pretendard" pitchFamily="34" charset="-120"/>
              </a:rPr>
              <a:t>축척 보정·생성 완성도</a:t>
            </a:r>
            <a:endParaRPr lang="en-US" sz="1150" dirty="0"/>
          </a:p>
        </p:txBody>
      </p:sp>
      <p:sp>
        <p:nvSpPr>
          <p:cNvPr id="95" name="검증 경험"/>
          <p:cNvSpPr txBox="1"/>
          <p:nvPr/>
        </p:nvSpPr>
        <p:spPr>
          <a:xfrm>
            <a:off x="6604000" y="4851797"/>
            <a:ext cx="563860" cy="177800"/>
          </a:xfrm>
          <a:prstGeom prst="rect">
            <a:avLst/>
          </a:prstGeom>
          <a:noFill/>
          <a:ln/>
        </p:spPr>
        <p:txBody>
          <a:bodyPr wrap="none" lIns="0" tIns="0" rIns="0" bIns="0" rtlCol="0" anchor="ctr"/>
          <a:lstStyle/>
          <a:p>
            <a:pPr algn="l" indent="0" marL="0">
              <a:buNone/>
            </a:pPr>
            <a:r>
              <a:rPr lang="ko-KR" altLang="en-US" sz="1150" b="1" spc="-40" kern="0" dirty="0">
                <a:solidFill>
                  <a:srgbClr val="141820"/>
                </a:solidFill>
                <a:latin typeface="Pretendard" pitchFamily="34" charset="0"/>
                <a:ea typeface="Pretendard" pitchFamily="34" charset="-127"/>
                <a:cs typeface="Pretendard" pitchFamily="34" charset="-120"/>
              </a:rPr>
              <a:t>검증 경험</a:t>
            </a:r>
            <a:endParaRPr lang="en-US" sz="1150" dirty="0"/>
          </a:p>
        </p:txBody>
      </p:sp>
      <p:sp>
        <p:nvSpPr>
          <p:cNvPr id="96" name="모델 데이터 품질 검증에"/>
          <p:cNvSpPr txBox="1"/>
          <p:nvPr/>
        </p:nvSpPr>
        <p:spPr>
          <a:xfrm>
            <a:off x="8978900" y="4620716"/>
            <a:ext cx="1538980"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모델 데이터 품질 검증에</a:t>
            </a:r>
            <a:endParaRPr lang="en-US" sz="1300" dirty="0"/>
          </a:p>
        </p:txBody>
      </p:sp>
      <p:sp>
        <p:nvSpPr>
          <p:cNvPr id="97" name="바로 활용"/>
          <p:cNvSpPr txBox="1"/>
          <p:nvPr/>
        </p:nvSpPr>
        <p:spPr>
          <a:xfrm>
            <a:off x="8978900" y="4851797"/>
            <a:ext cx="625475"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바로 활용</a:t>
            </a:r>
            <a:endParaRPr lang="en-US" sz="1300" dirty="0"/>
          </a:p>
        </p:txBody>
      </p:sp>
      <p:sp>
        <p:nvSpPr>
          <p:cNvPr id="98"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99" name="도면 속 불완전한 정보를 정확한 3D 데이터로 잇는 경험으로,"/>
          <p:cNvSpPr txBox="1"/>
          <p:nvPr/>
        </p:nvSpPr>
        <p:spPr>
          <a:xfrm>
            <a:off x="1854994" y="5755680"/>
            <a:ext cx="4027136"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도면 속 불완전한 정보를 </a:t>
            </a:r>
            <a:pPr algn="l" indent="0" marL="0">
              <a:buNone/>
            </a:pPr>
            <a:r>
              <a:rPr lang="ko-KR" altLang="en-US" sz="1350" b="1" spc="-47" kern="0" dirty="0">
                <a:solidFill>
                  <a:srgbClr val="FFB3C1"/>
                </a:solidFill>
                <a:latin typeface="Pretendard" pitchFamily="34" charset="0"/>
                <a:ea typeface="Pretendard" pitchFamily="34" charset="-127"/>
                <a:cs typeface="Pretendard" pitchFamily="34" charset="-120"/>
              </a:rPr>
              <a:t>정확한 3D 데이터</a:t>
            </a:r>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로 잇는 경험으로,</a:t>
            </a:r>
            <a:endParaRPr lang="en-US" sz="1350" dirty="0"/>
          </a:p>
        </p:txBody>
      </p:sp>
      <p:sp>
        <p:nvSpPr>
          <p:cNvPr id="100" name="SK하이닉스 Virtual FAB의 데이터 품질을 높이겠습니다."/>
          <p:cNvSpPr txBox="1"/>
          <p:nvPr/>
        </p:nvSpPr>
        <p:spPr>
          <a:xfrm>
            <a:off x="1854994" y="5995690"/>
            <a:ext cx="3852025"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SK하이닉스 Virtual FAB의 데이터 품질을 높이겠습니다.</a:t>
            </a:r>
            <a:endParaRPr lang="en-US" sz="1350" dirty="0"/>
          </a:p>
        </p:txBody>
      </p:sp>
      <p:sp>
        <p:nvSpPr>
          <p:cNvPr id="101" name="감사합니다"/>
          <p:cNvSpPr txBox="1"/>
          <p:nvPr/>
        </p:nvSpPr>
        <p:spPr>
          <a:xfrm>
            <a:off x="9083477" y="5807770"/>
            <a:ext cx="633611" cy="165100"/>
          </a:xfrm>
          <a:prstGeom prst="rect">
            <a:avLst/>
          </a:prstGeom>
          <a:noFill/>
          <a:ln/>
        </p:spPr>
        <p:txBody>
          <a:bodyPr wrap="none" lIns="0" tIns="0" rIns="0" bIns="0" rtlCol="0" anchor="ctr"/>
          <a:lstStyle/>
          <a:p>
            <a:pPr algn="l" indent="0" marL="0">
              <a:buNone/>
            </a:pPr>
            <a:r>
              <a:rPr lang="ko-KR" altLang="en-US" sz="1100" b="1" spc="-33" kern="0" dirty="0">
                <a:solidFill>
                  <a:srgbClr val="DCE3EE"/>
                </a:solidFill>
                <a:latin typeface="Pretendard" pitchFamily="34" charset="0"/>
                <a:ea typeface="Pretendard" pitchFamily="34" charset="-127"/>
                <a:cs typeface="Pretendard" pitchFamily="34" charset="-120"/>
              </a:rPr>
              <a:t>감사합니다</a:t>
            </a:r>
            <a:endParaRPr lang="en-US" sz="1100" dirty="0"/>
          </a:p>
        </p:txBody>
      </p:sp>
      <p:sp>
        <p:nvSpPr>
          <p:cNvPr id="102" name="· Q&amp;A"/>
          <p:cNvSpPr txBox="1"/>
          <p:nvPr/>
        </p:nvSpPr>
        <p:spPr>
          <a:xfrm>
            <a:off x="9729788" y="5845870"/>
            <a:ext cx="338634" cy="120650"/>
          </a:xfrm>
          <a:prstGeom prst="rect">
            <a:avLst/>
          </a:prstGeom>
          <a:noFill/>
          <a:ln/>
        </p:spPr>
        <p:txBody>
          <a:bodyPr wrap="none" lIns="0" tIns="0" rIns="0" bIns="0" rtlCol="0" anchor="ctr"/>
          <a:lstStyle/>
          <a:p>
            <a:pPr algn="l" indent="0" marL="0">
              <a:buNone/>
            </a:pPr>
            <a:r>
              <a:rPr lang="ko-KR" altLang="en-US" sz="800" b="1" spc="32" kern="0" dirty="0">
                <a:solidFill>
                  <a:srgbClr val="A9B7CB"/>
                </a:solidFill>
                <a:latin typeface="Pretendard" pitchFamily="34" charset="0"/>
                <a:ea typeface="Pretendard" pitchFamily="34" charset="-127"/>
                <a:cs typeface="Pretendard" pitchFamily="34" charset="-120"/>
              </a:rPr>
              <a:t>· Q&amp;A</a:t>
            </a:r>
            <a:endParaRPr lang="en-US" sz="800" dirty="0"/>
          </a:p>
        </p:txBody>
      </p:sp>
      <p:sp>
        <p:nvSpPr>
          <p:cNvPr id="103" name="Automation in Construction · Vol. 187 · "/>
          <p:cNvSpPr txBox="1"/>
          <p:nvPr/>
        </p:nvSpPr>
        <p:spPr>
          <a:xfrm>
            <a:off x="9083477" y="6026150"/>
            <a:ext cx="2379619" cy="120650"/>
          </a:xfrm>
          <a:prstGeom prst="rect">
            <a:avLst/>
          </a:prstGeom>
          <a:noFill/>
          <a:ln/>
        </p:spPr>
        <p:txBody>
          <a:bodyPr wrap="none" lIns="0" tIns="0" rIns="0" bIns="0" rtlCol="0" anchor="ctr"/>
          <a:lstStyle/>
          <a:p>
            <a:pPr algn="l" indent="0" marL="0">
              <a:buNone/>
            </a:pPr>
            <a:r>
              <a:rPr lang="ko-KR" altLang="en-US" sz="800" b="1" spc="-8" kern="0" dirty="0">
                <a:solidFill>
                  <a:srgbClr val="DCE3EE"/>
                </a:solidFill>
                <a:latin typeface="Pretendard" pitchFamily="34" charset="0"/>
                <a:ea typeface="Pretendard" pitchFamily="34" charset="-127"/>
                <a:cs typeface="Pretendard" pitchFamily="34" charset="-120"/>
              </a:rPr>
              <a:t>Automation in Construction</a:t>
            </a:r>
            <a:pPr algn="l" indent="0" marL="0">
              <a:buNone/>
            </a:pPr>
            <a:r>
              <a:rPr lang="ko-KR" altLang="en-US" sz="800" spc="-8" kern="0" dirty="0">
                <a:solidFill>
                  <a:srgbClr val="A9B7CB"/>
                </a:solidFill>
                <a:latin typeface="Pretendard SemiBold" pitchFamily="34" charset="0"/>
                <a:ea typeface="Pretendard SemiBold" pitchFamily="34" charset="-127"/>
                <a:cs typeface="Pretendard SemiBold" pitchFamily="34" charset="-120"/>
              </a:rPr>
              <a:t> · Vol. 187 · 2026 게재</a:t>
            </a:r>
            <a:endParaRPr lang="en-US" sz="800" dirty="0"/>
          </a:p>
        </p:txBody>
      </p:sp>
      <p:sp>
        <p:nvSpPr>
          <p:cNvPr id="104"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05" name="05 / 05"/>
          <p:cNvSpPr txBox="1"/>
          <p:nvPr/>
        </p:nvSpPr>
        <p:spPr>
          <a:xfrm>
            <a:off x="11217672" y="6472238"/>
            <a:ext cx="415528"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05</a:t>
            </a:r>
            <a:pPr algn="l" indent="0" marL="0">
              <a:buNone/>
            </a:pP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ExtraBold"/>
        <a:ea typeface="Pretendard Medium"/>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Medium"/>
        <a:ea typeface="Pretendard Medium"/>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BIM 자동 생성 연구 (5장)</dc:title>
  <dc:subject>PptxGenJS Presentation</dc:subject>
  <dc:creator>PptxGenJS</dc:creator>
  <cp:lastModifiedBy>PptxGenJS</cp:lastModifiedBy>
  <cp:revision>1</cp:revision>
  <dcterms:created xsi:type="dcterms:W3CDTF">2026-10-29T14:00:20Z</dcterms:created>
  <dcterms:modified xsi:type="dcterms:W3CDTF">2026-10-29T14:00:20Z</dcterms:modified>
</cp:coreProperties>
</file>