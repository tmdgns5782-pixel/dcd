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발표할 연구는 「평면도와 입면도 객체 인식 및 정보 통합을 통한 3D BIM 자동 생성 연구」입니다. 평면도와 입면도 이미지만으로 높이까지 갖춘 3D BIM 모델을 자동으로 만드는 연구이고, Automation in Construction 187권에 2026년 게재되었습니다. 오른쪽 그림처럼 2D 도면 묶음을 넣으면 3D BIM 모델이 자동으로 생성되는 흐름입니다. Utility 기술(건축, BIM/5D) 직무에 지원한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다섯 장으로 구성했습니다. 1장과 2장은 '문제' 부분으로, 왜 이 연구가 필요한지, 그리고 기존 연구로는 왜 안 되는지와 그래서 무엇을 목표로 했는지 말씀드립니다. 3장과 4장은 '해결' 부분으로, 어떻게 해결했는지와 얼마나 잘 됐고 어떤 의미가 있는지를 보여 드립니다. 마지막 5장에서는 이 연구가 SK하이닉스 Utility 기술(건축, BIM/5D) 직무에서 왜 중요한지, 그 의미를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국토교통부는 공공공사 BIM 의무화를 단계적으로 넓히고 있습니다. 2022년 하반기 도로를 시작으로 2023년 철도·건축, 2024년 하천·항만까지 1,000억원 이상 신규 사업에 적용했고, 2026년에는 500억원 이상, 2028년에는 300억원 이상 사업으로 확대합니다. 2030 건축BIM 로드맵도 2025년 BIM 설계 기반 구축, 2030년 디지털 건축서비스 완전 구현을 목표로 하고, LH 공동주택은 BIM 의무화를 2020년 25%, 2022년 50%, 2024년 100%로 늘렸습니다. 하지만 현실을 보면, 신규 건설은 2D 도면을 먼저 그린 뒤 BIM으로 옮기는 'BIM 전환설계'가 대부분이라 설계 후반에 투입 인력이 늘고 추가 비용이 생깁니다. 기존 건축물은 2D 도면만 남아 있어서, 결국 두 경우 모두 사람이 도면을 보고 직접 모델링해야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2D 도면을 BIM으로 옮기려면, 사람이 평면도와 입면도를 한 장씩 해석해서 직접 모델링해야 합니다. 오른쪽 사무동 모델은 이렇게 수작업으로 모델링한 예시입니다. 이 방식에는 세 가지 문제가 있습니다. 도면을 보며 벽·창·문을 일일이 입력하는 노동집약적 작업이고, 건물 규모에 비례해 모델링 시간과 비용이 늘어나며, 도면 해석·입력 과정에서 누락과 오류가 생길 수 있습니다. 그래서 2차원 도면에 기반한 3차원 BIM 모델 자동 생성 프로세스가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연구에는 세 가지 한계가 있었습니다. 첫째, 평면도 한 장만 사용해서 높이 정보를 알 수 없었고, 그래서 높이는 수동으로 입력하거나 고정값을 써야 했습니다. 둘째, CAD 레이어나 블록 같은 정보에 의존해서 이미지로만 남은 실제 도면에는 적용할 수 없었고, 셋째, 치수 글자 인식, 즉 OCR에 의존해서 치수가 빠지거나 겹치면 결과가 부정확했습니다. 그래서 저는 평면도와 입면도 정보를 통합해 완전한 3차원 BIM을 생성하고, CAD 정보 없이 이미지만으로 두 도면 간 대응 객체를 정의하고, 대형 멀티모달 모델인 LMM으로 축척을 인식해 치수를 안정적으로 보정하는 것을 목표로 했습니다. 정리하면, 딥러닝 기반 도면 객체 인식과 평면도·입면도 간 직접 매칭으로 정확한 3차원 정보를 가진 BIM 자동 생성 방법을 제안합니다.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프레임워크는 네 단계로 이루어져 있습니다. 먼저 평면도와 입면도의 래스터 이미지, 즉 도면 이미지만 입력하면, 2단계에서 YOLO와 작은 객체를 나눠서 추론하는 SAHI로 도면 속 벽·창문·문을 인식하고, DBSCAN으로 층별 클러스터링을 합니다. 3단계에서는 LMM 기반으로 축척을 보정하고, 헝가리안 알고리즘으로 평면도와 입면도에서 같은 객체끼리 최적의 1:1로 짝짓습니다. 마지막 4단계에서 스켈레톤 기반으로 벽체를 추출하고 Revit API를 이용해 높이까지 갖춘 3D BIM 모델을 자동 생성합니다. 객체 인식과 축척 보정은 다음 장에서, 대응 객체 매칭과 BIM 생성은 그다음 장에서 자세히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STEP 2, 도면 객체 인식입니다. 평면도에서는 YOLO와 SAHI, 즉 작은 객체를 나눠서 추론하는 방식으로 벽·창문·문을 인식합니다. 이어서 최외곽 윤곽선을 뽑고, 외벽의 창·문을 동·서·남·북 방향별로 정리해 입면도와 짝지을 준비를 합니다. 입면도에서는 창·문을 인식한 뒤 DBSCAN 층별 클러스터링으로 같은 층의 창·문끼리 묶어 층 높이를 파악합니다. 오른쪽은 STEP 3에서 쓰는 축척 보정 기법입니다. LMM인 GPT-4o가 도면의 축척과 용지 크기를 읽어 픽셀을 실제 길이로 바꾸는데, 예를 들어 4,963×3,509픽셀 도면이 축척 1/200, A3 용지라면 1픽셀은 33.88mm가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STEP 3, 대응 객체 매칭입니다. 평면도에서는 창·문의 X·Y 좌표를, 입면도에서는 높이인 Z 좌표를 얻습니다. 객체 위치와 상대 정렬로 짝 후보마다 점수를 매긴 비용 행렬을 만들고, 헝가리안 알고리즘으로 최적의 1:1 매칭을 찾아 같은 창·문의 3차원 위치를 확정합니다. STEP 4에서는 평면도 인식 결과에서 골격선을 추출해 벽체 중심선과 코너점을 뽑고, 창문과 문을 어느 벽에 붙일지 정하는 호스팅 관계를 정의합니다. 이렇게 추출한 벽체와 호스팅 관계로 Revit API를 통해 벽·창문·문 BIM 요소를 생성하면, 오른쪽처럼 높이까지 갖춘 3D BIM이 자동으로 만들어집니다.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장에서는 세 가지 연구 기여를 각각의 근거 수치와 짝지어 보여 드립니다. 첫째, 도면 종류별 최적 학습·인식 전략을 썼고, 객체 인식 mAP@0.5가 평면도 0.934, 입면도 0.838입니다. Baseline보다 각각 42.7%p, 48.3%p 높습니다. 둘째, CAD 정보 없이 평면도와 입면도 사이의 객체 대응 관계를 정의했고, 대응 객체 매칭 F1-score는 창문 0.93, 문 0.95였습니다. 셋째, LMM 기반 축척 인식은 축척 인식 정확도 0.707로, Tesseract OCR 대비 33.8%p 높았습니다. 그 결과 최종 BIM 생성에서 406개 객체 중 379개를 자동으로 만들어 생성 완성도 93.3%를 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단계마다 성능을 검증한 결과를 모은 근거 자료입니다. 도면 객체 인식은 mAP@0.5 기준으로 평면도 0.934, 입면도 0.838을 기록해 Baseline보다 각각 42.7%p, 48.3%p 높았습니다. 입면도 100장으로 측정한 층별 클러스터링은 ARI 0.952, NMI 0.966, Homogeneity 0.965였습니다. 축척 인식 정확도는 LMM(GPT-4o)이 0.707로 Tesseract OCR보다 33.8%p 높았고, 8개 동 개구부 3,458개를 대상으로 한 대응 객체 매칭 F1-score는 창문 0.93, 문 0.95였습니다. 마지막으로 건물 1동에서 객체 406개 중 379개를 자동 생성해 생성 완성도 93.3%를 얻었고, 생성 모델과 정답 모델의 체적 IoU는 0.693이었습니다.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제 연구가 Utility 기술 직무와 어떻게 맞닿아 있는지 말씀드리겠습니다. 첫째, Virtual FAB 구축은 여러 출처의 도면·모델 데이터를 하나로 통합하는 일입니다. 제 연구도 서로 다른 도면의 불완전한 정보를 짝지어 하나의 3D 모델로 통합했습니다. 둘째, 기존 시설 중에는 이미지 도면만 남은 곳이 많습니다. CAD 정보 없이 이미지 도면에서 BIM을 생성하는 방법으로 디지털 전환 기간을 줄일 수 있습니다. 셋째, 5D, 즉 물량·원가 관리는 BIM 데이터가 정확해야 의미가 있습니다. 축척 보정과 생성 완성도를 검증한 경험을 모델 데이터 품질 검증에 바로 활용하겠습니다. 도면 속 불완전한 정보를 정확한 3D 데이터로 잇는 경험으로, SK하이닉스 Virtual FAB의 데이터 품질을 높이겠습니다.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들어 주셔서 감사합니다. 오늘 말씀드린 연구는 Automation in Construction 187권 106971번 논문으로 2026년에 게재되었습니다. 궁금하신 점이 있으시면 편하게 질문해 주십시오.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body::before"/>
          <p:cNvSpPr/>
          <p:nvPr/>
        </p:nvSpPr>
        <p:spPr>
          <a:xfrm>
            <a:off x="7112000" y="0"/>
            <a:ext cx="5080000" cy="6858000"/>
          </a:xfrm>
          <a:prstGeom prst="rect">
            <a:avLst/>
          </a:prstGeom>
          <a:gradFill rotWithShape="1">
            <a:gsLst>
              <a:gs pos="0">
                <a:srgbClr val="F5F7FA"/>
              </a:gs>
              <a:gs pos="100000">
                <a:srgbClr val="E6ECF4"/>
              </a:gs>
            </a:gsLst>
            <a:lin ang="5400000" scaled="0"/>
          </a:gradFill>
          <a:ln>
            <a:noFill/>
          </a:ln>
        </p:spPr>
        <p:txBody>
          <a:bodyPr rtlCol="0" anchor="ctr"/>
          <a:lstStyle/>
          <a:p>
            <a:pPr algn="ctr"/>
            <a:endParaRPr lang="ko-KR" dirty="0"/>
          </a:p>
        </p:txBody>
      </p:sp>
      <p:sp>
        <p:nvSpPr>
          <p:cNvPr id="4" name="i"/>
          <p:cNvSpPr/>
          <p:nvPr/>
        </p:nvSpPr>
        <p:spPr>
          <a:xfrm>
            <a:off x="609600" y="615950"/>
            <a:ext cx="177800" cy="25400"/>
          </a:xfrm>
          <a:prstGeom prst="roundRect">
            <a:avLst>
              <a:gd name="adj" fmla="val 50000"/>
            </a:avLst>
          </a:prstGeom>
          <a:solidFill>
            <a:srgbClr val="EA002C"/>
          </a:solidFill>
          <a:ln>
            <a:noFill/>
          </a:ln>
        </p:spPr>
        <p:txBody>
          <a:bodyPr rtlCol="0" anchor="ctr"/>
          <a:lstStyle/>
          <a:p>
            <a:pPr algn="ctr"/>
            <a:endParaRPr lang="ko-KR" dirty="0"/>
          </a:p>
        </p:txBody>
      </p:sp>
      <p:sp>
        <p:nvSpPr>
          <p:cNvPr id="5" name="s1-pub"/>
          <p:cNvSpPr/>
          <p:nvPr/>
        </p:nvSpPr>
        <p:spPr>
          <a:xfrm>
            <a:off x="612775" y="4070152"/>
            <a:ext cx="3089771" cy="2984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6" name="i"/>
          <p:cNvSpPr/>
          <p:nvPr/>
        </p:nvSpPr>
        <p:spPr>
          <a:xfrm>
            <a:off x="742950" y="4187627"/>
            <a:ext cx="63500" cy="63500"/>
          </a:xfrm>
          <a:prstGeom prst="ellipse">
            <a:avLst/>
          </a:prstGeom>
          <a:solidFill>
            <a:srgbClr val="EA002C"/>
          </a:solidFill>
          <a:ln>
            <a:noFill/>
          </a:ln>
        </p:spPr>
        <p:txBody>
          <a:bodyPr rtlCol="0" anchor="ctr"/>
          <a:lstStyle/>
          <a:p>
            <a:pPr algn="ctr"/>
            <a:endParaRPr lang="ko-KR" dirty="0"/>
          </a:p>
        </p:txBody>
      </p:sp>
      <p:sp>
        <p:nvSpPr>
          <p:cNvPr id="7" name="s1-meta 선"/>
          <p:cNvSpPr/>
          <p:nvPr/>
        </p:nvSpPr>
        <p:spPr>
          <a:xfrm>
            <a:off x="612775" y="5781080"/>
            <a:ext cx="5734050" cy="1"/>
          </a:xfrm>
          <a:custGeom>
            <a:avLst/>
            <a:gdLst/>
            <a:ahLst/>
            <a:cxnLst/>
            <a:rect l="0" t="0" r="r" b="b"/>
            <a:pathLst>
              <a:path w="5734050" h="1" fill="none">
                <a:moveTo>
                  <a:pt x="0" y="0"/>
                </a:moveTo>
                <a:lnTo>
                  <a:pt x="5734050" y="0"/>
                </a:lnTo>
              </a:path>
            </a:pathLst>
          </a:custGeom>
          <a:noFill/>
          <a:ln w="6350">
            <a:solidFill>
              <a:srgbClr val="E1E5EB"/>
            </a:solidFill>
            <a:round/>
          </a:ln>
        </p:spPr>
        <p:txBody>
          <a:bodyPr rtlCol="0" anchor="ctr"/>
          <a:lstStyle/>
          <a:p>
            <a:pPr algn="ctr"/>
            <a:endParaRPr lang="ko-KR" dirty="0"/>
          </a:p>
        </p:txBody>
      </p:sp>
      <p:sp>
        <p:nvSpPr>
          <p:cNvPr id="8" name="div 선"/>
          <p:cNvSpPr/>
          <p:nvPr/>
        </p:nvSpPr>
        <p:spPr>
          <a:xfrm>
            <a:off x="2430661"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sp>
        <p:nvSpPr>
          <p:cNvPr id="9" name="div 선"/>
          <p:cNvSpPr/>
          <p:nvPr/>
        </p:nvSpPr>
        <p:spPr>
          <a:xfrm>
            <a:off x="3749278"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pic>
        <p:nvPicPr>
          <p:cNvPr id="10" name="s1-logo" descr="s1-logo">    </p:cNvPr>
          <p:cNvPicPr>
            <a:picLocks noChangeAspect="1"/>
          </p:cNvPicPr>
          <p:nvPr/>
        </p:nvPicPr>
        <p:blipFill>
          <a:blip r:embed="rId1"/>
          <a:stretch>
            <a:fillRect/>
          </a:stretch>
        </p:blipFill>
        <p:spPr>
          <a:xfrm>
            <a:off x="10733617" y="412750"/>
            <a:ext cx="802217" cy="423333"/>
          </a:xfrm>
          <a:prstGeom prst="rect">
            <a:avLst/>
          </a:prstGeom>
        </p:spPr>
      </p:pic>
      <p:pic>
        <p:nvPicPr>
          <p:cNvPr id="11" name="img" descr="img">    </p:cNvPr>
          <p:cNvPicPr>
            <a:picLocks noChangeAspect="1"/>
          </p:cNvPicPr>
          <p:nvPr/>
        </p:nvPicPr>
        <p:blipFill>
          <a:blip r:embed="rId2"/>
          <a:stretch>
            <a:fillRect/>
          </a:stretch>
        </p:blipFill>
        <p:spPr>
          <a:xfrm>
            <a:off x="7431617" y="548217"/>
            <a:ext cx="2207683" cy="2205567"/>
          </a:xfrm>
          <a:prstGeom prst="rect">
            <a:avLst/>
          </a:prstGeom>
        </p:spPr>
      </p:pic>
      <p:sp>
        <p:nvSpPr>
          <p:cNvPr id="12" name="s1-shadow"/>
          <p:cNvSpPr/>
          <p:nvPr/>
        </p:nvSpPr>
        <p:spPr>
          <a:xfrm>
            <a:off x="8229600" y="5791200"/>
            <a:ext cx="3352800" cy="558800"/>
          </a:xfrm>
          <a:prstGeom prst="ellipse">
            <a:avLst/>
          </a:prstGeom>
          <a:gradFill rotWithShape="1">
            <a:gsLst>
              <a:gs pos="0">
                <a:srgbClr val="102A4C">
                  <a:alpha val="16000"/>
                </a:srgbClr>
              </a:gs>
              <a:gs pos="100000">
                <a:srgbClr val="102A4C">
                  <a:alpha val="0"/>
                </a:srgbClr>
              </a:gs>
            </a:gsLst>
            <a:path path="circle">
              <a:fillToRect l="50000" t="50000" r="50000" b="50000"/>
            </a:path>
          </a:gradFill>
          <a:ln>
            <a:noFill/>
          </a:ln>
        </p:spPr>
        <p:txBody>
          <a:bodyPr rtlCol="0" anchor="ctr"/>
          <a:lstStyle/>
          <a:p>
            <a:pPr algn="ctr"/>
            <a:endParaRPr lang="ko-KR" dirty="0"/>
          </a:p>
        </p:txBody>
      </p:sp>
      <p:pic>
        <p:nvPicPr>
          <p:cNvPr id="13" name="img" descr="img">    </p:cNvPr>
          <p:cNvPicPr>
            <a:picLocks noChangeAspect="1"/>
          </p:cNvPicPr>
          <p:nvPr/>
        </p:nvPicPr>
        <p:blipFill>
          <a:blip r:embed="rId3"/>
          <a:stretch>
            <a:fillRect/>
          </a:stretch>
        </p:blipFill>
        <p:spPr>
          <a:xfrm>
            <a:off x="8123767" y="3007783"/>
            <a:ext cx="3437467" cy="3308350"/>
          </a:xfrm>
          <a:prstGeom prst="rect">
            <a:avLst/>
          </a:prstGeom>
        </p:spPr>
      </p:pic>
      <p:sp>
        <p:nvSpPr>
          <p:cNvPr id="14" name="s1-link path"/>
          <p:cNvSpPr/>
          <p:nvPr/>
        </p:nvSpPr>
        <p:spPr>
          <a:xfrm>
            <a:off x="9702800" y="571500"/>
            <a:ext cx="50800" cy="2159000"/>
          </a:xfrm>
          <a:custGeom>
            <a:avLst/>
            <a:gdLst/>
            <a:ahLst/>
            <a:cxnLst/>
            <a:rect l="0" t="0" r="r" b="b"/>
            <a:pathLst>
              <a:path w="50800" h="2159000" fill="none">
                <a:moveTo>
                  <a:pt x="0" y="0"/>
                </a:moveTo>
                <a:lnTo>
                  <a:pt x="50800" y="0"/>
                </a:lnTo>
                <a:lnTo>
                  <a:pt x="50800" y="2159000"/>
                </a:lnTo>
                <a:lnTo>
                  <a:pt x="0" y="2159000"/>
                </a:lnTo>
              </a:path>
            </a:pathLst>
          </a:custGeom>
          <a:noFill/>
          <a:ln w="12700" cap="rnd">
            <a:solidFill>
              <a:srgbClr val="2B4A78"/>
            </a:solidFill>
            <a:round/>
          </a:ln>
        </p:spPr>
        <p:txBody>
          <a:bodyPr rtlCol="0" anchor="ctr"/>
          <a:lstStyle/>
          <a:p>
            <a:pPr algn="ctr"/>
            <a:endParaRPr lang="ko-KR" dirty="0"/>
          </a:p>
        </p:txBody>
      </p:sp>
      <p:sp>
        <p:nvSpPr>
          <p:cNvPr id="15" name="s1-link path"/>
          <p:cNvSpPr/>
          <p:nvPr/>
        </p:nvSpPr>
        <p:spPr>
          <a:xfrm>
            <a:off x="9753600" y="1651000"/>
            <a:ext cx="1168400" cy="1841500"/>
          </a:xfrm>
          <a:custGeom>
            <a:avLst/>
            <a:gdLst/>
            <a:ahLst/>
            <a:cxnLst/>
            <a:rect l="0" t="0" r="r" b="b"/>
            <a:pathLst>
              <a:path w="1168400" h="1841500" fill="none">
                <a:moveTo>
                  <a:pt x="0" y="0"/>
                </a:moveTo>
                <a:lnTo>
                  <a:pt x="1168400" y="0"/>
                </a:lnTo>
                <a:lnTo>
                  <a:pt x="1168400" y="1841500"/>
                </a:lnTo>
              </a:path>
            </a:pathLst>
          </a:custGeom>
          <a:noFill/>
          <a:ln w="12700" cap="rnd">
            <a:solidFill>
              <a:srgbClr val="2B4A78"/>
            </a:solidFill>
            <a:custDash>
              <a:ds d="300000" sp="300000"/>
            </a:custDash>
            <a:miter lim="800000"/>
          </a:ln>
        </p:spPr>
        <p:txBody>
          <a:bodyPr rtlCol="0" anchor="ctr"/>
          <a:lstStyle/>
          <a:p>
            <a:pPr algn="ctr"/>
            <a:endParaRPr lang="ko-KR" dirty="0"/>
          </a:p>
        </p:txBody>
      </p:sp>
      <p:sp>
        <p:nvSpPr>
          <p:cNvPr id="16" name="s1-link path"/>
          <p:cNvSpPr/>
          <p:nvPr/>
        </p:nvSpPr>
        <p:spPr>
          <a:xfrm>
            <a:off x="10864850" y="3448050"/>
            <a:ext cx="114300" cy="69850"/>
          </a:xfrm>
          <a:custGeom>
            <a:avLst/>
            <a:gdLst/>
            <a:ahLst/>
            <a:cxnLst/>
            <a:rect l="0" t="0" r="r" b="b"/>
            <a:pathLst>
              <a:path w="114300" h="69850" fill="none">
                <a:moveTo>
                  <a:pt x="0" y="0"/>
                </a:moveTo>
                <a:lnTo>
                  <a:pt x="57150" y="69850"/>
                </a:lnTo>
                <a:lnTo>
                  <a:pt x="114300" y="0"/>
                </a:lnTo>
              </a:path>
            </a:pathLst>
          </a:custGeom>
          <a:noFill/>
          <a:ln w="12700" cap="rnd">
            <a:solidFill>
              <a:srgbClr val="2B4A78"/>
            </a:solidFill>
            <a:round/>
          </a:ln>
        </p:spPr>
        <p:txBody>
          <a:bodyPr rtlCol="0" anchor="ctr"/>
          <a:lstStyle/>
          <a:p>
            <a:pPr algn="ctr"/>
            <a:endParaRPr lang="ko-KR" dirty="0"/>
          </a:p>
        </p:txBody>
      </p:sp>
      <p:sp>
        <p:nvSpPr>
          <p:cNvPr id="17" name="s1-auto"/>
          <p:cNvSpPr/>
          <p:nvPr/>
        </p:nvSpPr>
        <p:spPr>
          <a:xfrm>
            <a:off x="10062170" y="1546225"/>
            <a:ext cx="551259" cy="2095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18" name="b"/>
          <p:cNvSpPr/>
          <p:nvPr/>
        </p:nvSpPr>
        <p:spPr>
          <a:xfrm>
            <a:off x="7416800" y="2895600"/>
            <a:ext cx="222945" cy="165100"/>
          </a:xfrm>
          <a:prstGeom prst="roundRect">
            <a:avLst>
              <a:gd name="adj" fmla="val 23077"/>
            </a:avLst>
          </a:prstGeom>
          <a:solidFill>
            <a:srgbClr val="102A4C"/>
          </a:solidFill>
          <a:ln>
            <a:noFill/>
          </a:ln>
        </p:spPr>
        <p:txBody>
          <a:bodyPr rtlCol="0" anchor="ctr"/>
          <a:lstStyle/>
          <a:p>
            <a:pPr algn="ctr"/>
            <a:endParaRPr lang="ko-KR" dirty="0"/>
          </a:p>
        </p:txBody>
      </p:sp>
      <p:sp>
        <p:nvSpPr>
          <p:cNvPr id="19" name="b"/>
          <p:cNvSpPr/>
          <p:nvPr/>
        </p:nvSpPr>
        <p:spPr>
          <a:xfrm>
            <a:off x="7416800" y="6108700"/>
            <a:ext cx="225425" cy="165100"/>
          </a:xfrm>
          <a:prstGeom prst="roundRect">
            <a:avLst>
              <a:gd name="adj" fmla="val 23077"/>
            </a:avLst>
          </a:prstGeom>
          <a:solidFill>
            <a:srgbClr val="102A4C"/>
          </a:solidFill>
          <a:ln>
            <a:noFill/>
          </a:ln>
        </p:spPr>
        <p:txBody>
          <a:bodyPr rtlCol="0" anchor="ctr"/>
          <a:lstStyle/>
          <a:p>
            <a:pPr algn="ctr"/>
            <a:endParaRPr lang="ko-KR" dirty="0"/>
          </a:p>
        </p:txBody>
      </p:sp>
      <p:sp>
        <p:nvSpPr>
          <p:cNvPr id="20" name="석사 연구 발표"/>
          <p:cNvSpPr txBox="1"/>
          <p:nvPr/>
        </p:nvSpPr>
        <p:spPr>
          <a:xfrm>
            <a:off x="876300" y="553839"/>
            <a:ext cx="7513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석사 연구 발표</a:t>
            </a:r>
            <a:endParaRPr lang="en-US" sz="950" dirty="0"/>
          </a:p>
        </p:txBody>
      </p:sp>
      <p:sp>
        <p:nvSpPr>
          <p:cNvPr id="21" name="평면도와 입면도 객체 인식 및 정보 통합을 통한"/>
          <p:cNvSpPr txBox="1"/>
          <p:nvPr/>
        </p:nvSpPr>
        <p:spPr>
          <a:xfrm>
            <a:off x="609600" y="2142728"/>
            <a:ext cx="4610525" cy="304800"/>
          </a:xfrm>
          <a:prstGeom prst="rect">
            <a:avLst/>
          </a:prstGeom>
          <a:noFill/>
          <a:ln/>
        </p:spPr>
        <p:txBody>
          <a:bodyPr wrap="none" lIns="0" tIns="0" rIns="0" bIns="0" rtlCol="0" anchor="ctr"/>
          <a:lstStyle/>
          <a:p>
            <a:pPr algn="l" indent="0" marL="0">
              <a:buNone/>
            </a:pPr>
            <a:r>
              <a:rPr lang="ko-KR" altLang="en-US" sz="2000" b="1" spc="-70" kern="0" dirty="0">
                <a:solidFill>
                  <a:srgbClr val="3F4654"/>
                </a:solidFill>
                <a:latin typeface="Pretendard" pitchFamily="34" charset="0"/>
                <a:ea typeface="Pretendard" pitchFamily="34" charset="-127"/>
                <a:cs typeface="Pretendard" pitchFamily="34" charset="-120"/>
              </a:rPr>
              <a:t>평면도와 입면도 객체 인식 및 정보 통합을 통한</a:t>
            </a:r>
            <a:endParaRPr lang="en-US" sz="2000" dirty="0"/>
          </a:p>
        </p:txBody>
      </p:sp>
      <p:sp>
        <p:nvSpPr>
          <p:cNvPr id="22" name="3D BIM 자동 생성 연구"/>
          <p:cNvSpPr txBox="1"/>
          <p:nvPr/>
        </p:nvSpPr>
        <p:spPr>
          <a:xfrm>
            <a:off x="609600" y="2511028"/>
            <a:ext cx="5304238" cy="698500"/>
          </a:xfrm>
          <a:prstGeom prst="rect">
            <a:avLst/>
          </a:prstGeom>
          <a:noFill/>
          <a:ln/>
        </p:spPr>
        <p:txBody>
          <a:bodyPr wrap="none" lIns="0" tIns="0" rIns="0" bIns="0" rtlCol="0" anchor="ctr"/>
          <a:lstStyle/>
          <a:p>
            <a:pPr algn="l" indent="0" marL="0">
              <a:buNone/>
            </a:pPr>
            <a:r>
              <a:rPr lang="ko-KR" altLang="en-US" sz="4600" spc="-207" kern="0" dirty="0">
                <a:solidFill>
                  <a:srgbClr val="102A4C"/>
                </a:solidFill>
                <a:latin typeface="Pretendard ExtraBold" pitchFamily="34" charset="0"/>
                <a:ea typeface="Pretendard ExtraBold" pitchFamily="34" charset="-127"/>
                <a:cs typeface="Pretendard ExtraBold" pitchFamily="34" charset="-120"/>
              </a:rPr>
              <a:t>3D BIM 자동 생성 연구</a:t>
            </a:r>
            <a:endParaRPr lang="en-US" sz="4600" dirty="0"/>
          </a:p>
        </p:txBody>
      </p:sp>
      <p:sp>
        <p:nvSpPr>
          <p:cNvPr id="23" name="Automated BIM generation from inconsiste"/>
          <p:cNvSpPr txBox="1"/>
          <p:nvPr/>
        </p:nvSpPr>
        <p:spPr>
          <a:xfrm>
            <a:off x="609600" y="3412927"/>
            <a:ext cx="5610078" cy="165100"/>
          </a:xfrm>
          <a:prstGeom prst="rect">
            <a:avLst/>
          </a:prstGeom>
          <a:noFill/>
          <a:ln/>
        </p:spPr>
        <p:txBody>
          <a:bodyPr wrap="none" lIns="0" tIns="0" rIns="0" bIns="0" rtlCol="0" anchor="ctr"/>
          <a:lstStyle/>
          <a:p>
            <a:pPr algn="l" indent="0" marL="0">
              <a:buNone/>
            </a:pPr>
            <a:r>
              <a:rPr lang="ko-KR" altLang="en-US" sz="1100" spc="-11" kern="0" dirty="0">
                <a:solidFill>
                  <a:srgbClr val="737C8B"/>
                </a:solidFill>
                <a:latin typeface="Pretendard Medium" pitchFamily="34" charset="0"/>
                <a:ea typeface="Pretendard Medium" pitchFamily="34" charset="-127"/>
                <a:cs typeface="Pretendard Medium" pitchFamily="34" charset="-120"/>
              </a:rPr>
              <a:t>Automated BIM generation from inconsistent multi-view raster architectural drawings</a:t>
            </a:r>
            <a:endParaRPr lang="en-US" sz="1100" dirty="0"/>
          </a:p>
        </p:txBody>
      </p:sp>
      <p:sp>
        <p:nvSpPr>
          <p:cNvPr id="24" name="with missing dimensions"/>
          <p:cNvSpPr txBox="1"/>
          <p:nvPr/>
        </p:nvSpPr>
        <p:spPr>
          <a:xfrm>
            <a:off x="609600" y="3622477"/>
            <a:ext cx="1615650" cy="165100"/>
          </a:xfrm>
          <a:prstGeom prst="rect">
            <a:avLst/>
          </a:prstGeom>
          <a:noFill/>
          <a:ln/>
        </p:spPr>
        <p:txBody>
          <a:bodyPr wrap="none" lIns="0" tIns="0" rIns="0" bIns="0" rtlCol="0" anchor="ctr"/>
          <a:lstStyle/>
          <a:p>
            <a:pPr algn="l" indent="0" marL="0">
              <a:buNone/>
            </a:pPr>
            <a:r>
              <a:rPr lang="ko-KR" altLang="en-US" sz="1100" spc="-11" kern="0" dirty="0">
                <a:solidFill>
                  <a:srgbClr val="737C8B"/>
                </a:solidFill>
                <a:latin typeface="Pretendard Medium" pitchFamily="34" charset="0"/>
                <a:ea typeface="Pretendard Medium" pitchFamily="34" charset="-127"/>
                <a:cs typeface="Pretendard Medium" pitchFamily="34" charset="-120"/>
              </a:rPr>
              <a:t>with missing dimensions</a:t>
            </a:r>
            <a:endParaRPr lang="en-US" sz="1100" dirty="0"/>
          </a:p>
        </p:txBody>
      </p:sp>
      <p:sp>
        <p:nvSpPr>
          <p:cNvPr id="25" name="Automation in Construction · Vol. 187 · "/>
          <p:cNvSpPr txBox="1"/>
          <p:nvPr/>
        </p:nvSpPr>
        <p:spPr>
          <a:xfrm>
            <a:off x="882650" y="4144566"/>
            <a:ext cx="2824180" cy="146050"/>
          </a:xfrm>
          <a:prstGeom prst="rect">
            <a:avLst/>
          </a:prstGeom>
          <a:noFill/>
          <a:ln/>
        </p:spPr>
        <p:txBody>
          <a:bodyPr wrap="none" lIns="0" tIns="0" rIns="0" bIns="0" rtlCol="0" anchor="ctr"/>
          <a:lstStyle/>
          <a:p>
            <a:pPr algn="l" indent="0" marL="0">
              <a:buNone/>
            </a:pPr>
            <a:r>
              <a:rPr lang="ko-KR" altLang="en-US" sz="950" b="1" spc="-10" kern="0" dirty="0">
                <a:solidFill>
                  <a:srgbClr val="102A4C"/>
                </a:solidFill>
                <a:latin typeface="Pretendard" pitchFamily="34" charset="0"/>
                <a:ea typeface="Pretendard" pitchFamily="34" charset="-127"/>
                <a:cs typeface="Pretendard" pitchFamily="34" charset="-120"/>
              </a:rPr>
              <a:t>Automation in Construction </a:t>
            </a:r>
            <a:pPr algn="l" indent="0" marL="0">
              <a:buNone/>
            </a:pPr>
            <a:r>
              <a:rPr lang="ko-KR" altLang="en-US" sz="950" spc="-10" kern="0" dirty="0">
                <a:solidFill>
                  <a:srgbClr val="737C8B"/>
                </a:solidFill>
                <a:latin typeface="Pretendard SemiBold" pitchFamily="34" charset="0"/>
                <a:ea typeface="Pretendard SemiBold" pitchFamily="34" charset="-127"/>
                <a:cs typeface="Pretendard SemiBold" pitchFamily="34" charset="-120"/>
              </a:rPr>
              <a:t>· Vol. 187 · 2026</a:t>
            </a:r>
            <a:pPr algn="l" indent="0" marL="0">
              <a:buNone/>
            </a:pPr>
            <a:r>
              <a:rPr lang="ko-KR" altLang="en-US" sz="950" b="1" spc="-10" kern="0" dirty="0">
                <a:solidFill>
                  <a:srgbClr val="102A4C"/>
                </a:solidFill>
                <a:latin typeface="Pretendard" pitchFamily="34" charset="0"/>
                <a:ea typeface="Pretendard" pitchFamily="34" charset="-127"/>
                <a:cs typeface="Pretendard" pitchFamily="34" charset="-120"/>
              </a:rPr>
              <a:t> </a:t>
            </a:r>
            <a:pPr algn="l" indent="0" marL="0">
              <a:buNone/>
            </a:pPr>
            <a:r>
              <a:rPr lang="ko-KR" altLang="en-US" sz="950" spc="-10" kern="0" dirty="0">
                <a:solidFill>
                  <a:srgbClr val="102A4C"/>
                </a:solidFill>
                <a:latin typeface="Pretendard ExtraBold" pitchFamily="34" charset="0"/>
                <a:ea typeface="Pretendard ExtraBold" pitchFamily="34" charset="-127"/>
                <a:cs typeface="Pretendard ExtraBold" pitchFamily="34" charset="-120"/>
              </a:rPr>
              <a:t>게재</a:t>
            </a:r>
            <a:endParaRPr lang="en-US" sz="950" dirty="0"/>
          </a:p>
        </p:txBody>
      </p:sp>
      <p:sp>
        <p:nvSpPr>
          <p:cNvPr id="26" name="지원 직무"/>
          <p:cNvSpPr txBox="1"/>
          <p:nvPr/>
        </p:nvSpPr>
        <p:spPr>
          <a:xfrm>
            <a:off x="609600" y="5949355"/>
            <a:ext cx="435670"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 직무</a:t>
            </a:r>
            <a:endParaRPr lang="en-US" sz="800" dirty="0"/>
          </a:p>
        </p:txBody>
      </p:sp>
      <p:sp>
        <p:nvSpPr>
          <p:cNvPr id="27" name="Utility 기술 (건축, BIM/5D)"/>
          <p:cNvSpPr txBox="1"/>
          <p:nvPr/>
        </p:nvSpPr>
        <p:spPr>
          <a:xfrm>
            <a:off x="609600" y="6134695"/>
            <a:ext cx="1657719"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Utility 기술 (건축, BIM/5D)</a:t>
            </a:r>
            <a:endParaRPr lang="en-US" sz="1100" dirty="0"/>
          </a:p>
        </p:txBody>
      </p:sp>
      <p:sp>
        <p:nvSpPr>
          <p:cNvPr id="28" name="발표일"/>
          <p:cNvSpPr txBox="1"/>
          <p:nvPr/>
        </p:nvSpPr>
        <p:spPr>
          <a:xfrm>
            <a:off x="2687836"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발표일</a:t>
            </a:r>
            <a:endParaRPr lang="en-US" sz="800" dirty="0"/>
          </a:p>
        </p:txBody>
      </p:sp>
      <p:sp>
        <p:nvSpPr>
          <p:cNvPr id="29" name="2026. 12. 3."/>
          <p:cNvSpPr txBox="1"/>
          <p:nvPr/>
        </p:nvSpPr>
        <p:spPr>
          <a:xfrm>
            <a:off x="2687836" y="6134695"/>
            <a:ext cx="855067"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2026. 12. 3.</a:t>
            </a:r>
            <a:endParaRPr lang="en-US" sz="1100" dirty="0"/>
          </a:p>
        </p:txBody>
      </p:sp>
      <p:sp>
        <p:nvSpPr>
          <p:cNvPr id="30" name="지원자"/>
          <p:cNvSpPr txBox="1"/>
          <p:nvPr/>
        </p:nvSpPr>
        <p:spPr>
          <a:xfrm>
            <a:off x="4006453"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지원자</a:t>
            </a:r>
            <a:endParaRPr lang="en-US" sz="800" dirty="0"/>
          </a:p>
        </p:txBody>
      </p:sp>
      <p:sp>
        <p:nvSpPr>
          <p:cNvPr id="31" name="○○○"/>
          <p:cNvSpPr txBox="1"/>
          <p:nvPr/>
        </p:nvSpPr>
        <p:spPr>
          <a:xfrm>
            <a:off x="4006453" y="6134695"/>
            <a:ext cx="421184"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a:t>
            </a:r>
            <a:endParaRPr lang="en-US" sz="1100" dirty="0"/>
          </a:p>
        </p:txBody>
      </p:sp>
      <p:sp>
        <p:nvSpPr>
          <p:cNvPr id="32" name="자동 생성"/>
          <p:cNvSpPr txBox="1"/>
          <p:nvPr/>
        </p:nvSpPr>
        <p:spPr>
          <a:xfrm>
            <a:off x="10154245" y="1590080"/>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102A4C"/>
                </a:solidFill>
                <a:latin typeface="Pretendard" pitchFamily="34" charset="0"/>
                <a:ea typeface="Pretendard" pitchFamily="34" charset="-127"/>
                <a:cs typeface="Pretendard" pitchFamily="34" charset="-120"/>
              </a:rPr>
              <a:t>자동 생성</a:t>
            </a:r>
            <a:endParaRPr lang="en-US" sz="800" dirty="0"/>
          </a:p>
        </p:txBody>
      </p:sp>
      <p:sp>
        <p:nvSpPr>
          <p:cNvPr id="33" name="2D"/>
          <p:cNvSpPr txBox="1"/>
          <p:nvPr/>
        </p:nvSpPr>
        <p:spPr>
          <a:xfrm>
            <a:off x="7467600" y="2926358"/>
            <a:ext cx="172145" cy="101600"/>
          </a:xfrm>
          <a:prstGeom prst="rect">
            <a:avLst/>
          </a:prstGeom>
          <a:noFill/>
          <a:ln/>
        </p:spPr>
        <p:txBody>
          <a:bodyPr wrap="none" lIns="0" tIns="0" rIns="0" bIns="0" rtlCol="0" anchor="ctr"/>
          <a:lstStyle/>
          <a:p>
            <a:pPr algn="l" indent="0" marL="0">
              <a:buNone/>
            </a:pPr>
            <a:r>
              <a:rPr lang="ko-KR" altLang="en-US" sz="700" spc="14" kern="0" dirty="0">
                <a:solidFill>
                  <a:srgbClr val="FFFFFF"/>
                </a:solidFill>
                <a:latin typeface="Pretendard ExtraBold" pitchFamily="34" charset="0"/>
                <a:ea typeface="Pretendard ExtraBold" pitchFamily="34" charset="-127"/>
                <a:cs typeface="Pretendard ExtraBold" pitchFamily="34" charset="-120"/>
              </a:rPr>
              <a:t>2D</a:t>
            </a:r>
            <a:endParaRPr lang="en-US" sz="700" dirty="0"/>
          </a:p>
        </p:txBody>
      </p:sp>
      <p:sp>
        <p:nvSpPr>
          <p:cNvPr id="34" name="평면도 · 입면도 이미지"/>
          <p:cNvSpPr txBox="1"/>
          <p:nvPr/>
        </p:nvSpPr>
        <p:spPr>
          <a:xfrm>
            <a:off x="7703245" y="2917230"/>
            <a:ext cx="922778" cy="120650"/>
          </a:xfrm>
          <a:prstGeom prst="rect">
            <a:avLst/>
          </a:prstGeom>
          <a:noFill/>
          <a:ln/>
        </p:spPr>
        <p:txBody>
          <a:bodyPr wrap="none" lIns="0" tIns="0" rIns="0" bIns="0" rtlCol="0" anchor="ctr"/>
          <a:lstStyle/>
          <a:p>
            <a:pPr algn="l"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 입면도 이미지</a:t>
            </a:r>
            <a:endParaRPr lang="en-US" sz="800" dirty="0"/>
          </a:p>
        </p:txBody>
      </p:sp>
      <p:sp>
        <p:nvSpPr>
          <p:cNvPr id="35" name="3D"/>
          <p:cNvSpPr txBox="1"/>
          <p:nvPr/>
        </p:nvSpPr>
        <p:spPr>
          <a:xfrm>
            <a:off x="7467600" y="6139458"/>
            <a:ext cx="174625" cy="101600"/>
          </a:xfrm>
          <a:prstGeom prst="rect">
            <a:avLst/>
          </a:prstGeom>
          <a:noFill/>
          <a:ln/>
        </p:spPr>
        <p:txBody>
          <a:bodyPr wrap="none" lIns="0" tIns="0" rIns="0" bIns="0" rtlCol="0" anchor="ctr"/>
          <a:lstStyle/>
          <a:p>
            <a:pPr algn="l" indent="0" marL="0">
              <a:buNone/>
            </a:pPr>
            <a:r>
              <a:rPr lang="ko-KR" altLang="en-US" sz="700" spc="14" kern="0" dirty="0">
                <a:solidFill>
                  <a:srgbClr val="FFFFFF"/>
                </a:solidFill>
                <a:latin typeface="Pretendard ExtraBold" pitchFamily="34" charset="0"/>
                <a:ea typeface="Pretendard ExtraBold" pitchFamily="34" charset="-127"/>
                <a:cs typeface="Pretendard ExtraBold" pitchFamily="34" charset="-120"/>
              </a:rPr>
              <a:t>3D</a:t>
            </a:r>
            <a:endParaRPr lang="en-US" sz="700" dirty="0"/>
          </a:p>
        </p:txBody>
      </p:sp>
      <p:sp>
        <p:nvSpPr>
          <p:cNvPr id="36" name="BIM 모델"/>
          <p:cNvSpPr txBox="1"/>
          <p:nvPr/>
        </p:nvSpPr>
        <p:spPr>
          <a:xfrm>
            <a:off x="7705725" y="6130330"/>
            <a:ext cx="420390" cy="120650"/>
          </a:xfrm>
          <a:prstGeom prst="rect">
            <a:avLst/>
          </a:prstGeom>
          <a:noFill/>
          <a:ln/>
        </p:spPr>
        <p:txBody>
          <a:bodyPr wrap="none" lIns="0" tIns="0" rIns="0" bIns="0" rtlCol="0" anchor="ctr"/>
          <a:lstStyle/>
          <a:p>
            <a:pPr algn="l"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BIM 모델</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595934"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gh c1::after"/>
          <p:cNvSpPr/>
          <p:nvPr/>
        </p:nvSpPr>
        <p:spPr>
          <a:xfrm>
            <a:off x="968573" y="2067024"/>
            <a:ext cx="3730427" cy="12700"/>
          </a:xfrm>
          <a:prstGeom prst="roundRect">
            <a:avLst>
              <a:gd name="adj" fmla="val 50000"/>
            </a:avLst>
          </a:prstGeom>
          <a:solidFill>
            <a:srgbClr val="102A4C"/>
          </a:solidFill>
          <a:ln>
            <a:noFill/>
          </a:ln>
        </p:spPr>
        <p:txBody>
          <a:bodyPr rtlCol="0" anchor="ctr"/>
          <a:lstStyle/>
          <a:p>
            <a:pPr algn="ctr"/>
            <a:endParaRPr lang="ko-KR" dirty="0"/>
          </a:p>
        </p:txBody>
      </p:sp>
      <p:sp>
        <p:nvSpPr>
          <p:cNvPr id="5" name="svg path"/>
          <p:cNvSpPr/>
          <p:nvPr/>
        </p:nvSpPr>
        <p:spPr>
          <a:xfrm>
            <a:off x="4876800" y="2028924"/>
            <a:ext cx="44450" cy="88900"/>
          </a:xfrm>
          <a:custGeom>
            <a:avLst/>
            <a:gdLst/>
            <a:ahLst/>
            <a:cxnLst/>
            <a:rect l="0" t="0" r="r" b="b"/>
            <a:pathLst>
              <a:path w="44450" h="88900" fill="none">
                <a:moveTo>
                  <a:pt x="0" y="0"/>
                </a:moveTo>
                <a:lnTo>
                  <a:pt x="44450" y="44450"/>
                </a:lnTo>
                <a:lnTo>
                  <a:pt x="0" y="88900"/>
                </a:lnTo>
              </a:path>
            </a:pathLst>
          </a:custGeom>
          <a:noFill/>
          <a:ln w="15875" cap="rnd">
            <a:solidFill>
              <a:srgbClr val="102A4C"/>
            </a:solidFill>
            <a:round/>
          </a:ln>
        </p:spPr>
        <p:txBody>
          <a:bodyPr rtlCol="0" anchor="ctr"/>
          <a:lstStyle/>
          <a:p>
            <a:pPr algn="ctr"/>
            <a:endParaRPr lang="ko-KR" dirty="0"/>
          </a:p>
        </p:txBody>
      </p:sp>
      <p:sp>
        <p:nvSpPr>
          <p:cNvPr id="6" name="gh c2::after"/>
          <p:cNvSpPr/>
          <p:nvPr/>
        </p:nvSpPr>
        <p:spPr>
          <a:xfrm>
            <a:off x="5464373" y="2067024"/>
            <a:ext cx="3730427" cy="12700"/>
          </a:xfrm>
          <a:prstGeom prst="roundRect">
            <a:avLst>
              <a:gd name="adj" fmla="val 50000"/>
            </a:avLst>
          </a:prstGeom>
          <a:solidFill>
            <a:srgbClr val="102A4C"/>
          </a:solidFill>
          <a:ln>
            <a:noFill/>
          </a:ln>
        </p:spPr>
        <p:txBody>
          <a:bodyPr rtlCol="0" anchor="ctr"/>
          <a:lstStyle/>
          <a:p>
            <a:pPr algn="ctr"/>
            <a:endParaRPr lang="ko-KR" dirty="0"/>
          </a:p>
        </p:txBody>
      </p:sp>
      <p:sp>
        <p:nvSpPr>
          <p:cNvPr id="7" name="svg path"/>
          <p:cNvSpPr/>
          <p:nvPr/>
        </p:nvSpPr>
        <p:spPr>
          <a:xfrm>
            <a:off x="9372600" y="2028924"/>
            <a:ext cx="44450" cy="88900"/>
          </a:xfrm>
          <a:custGeom>
            <a:avLst/>
            <a:gdLst/>
            <a:ahLst/>
            <a:cxnLst/>
            <a:rect l="0" t="0" r="r" b="b"/>
            <a:pathLst>
              <a:path w="44450" h="88900" fill="none">
                <a:moveTo>
                  <a:pt x="0" y="0"/>
                </a:moveTo>
                <a:lnTo>
                  <a:pt x="44450" y="44450"/>
                </a:lnTo>
                <a:lnTo>
                  <a:pt x="0" y="88900"/>
                </a:lnTo>
              </a:path>
            </a:pathLst>
          </a:custGeom>
          <a:noFill/>
          <a:ln w="15875" cap="rnd">
            <a:solidFill>
              <a:srgbClr val="102A4C"/>
            </a:solidFill>
            <a:round/>
          </a:ln>
        </p:spPr>
        <p:txBody>
          <a:bodyPr rtlCol="0" anchor="ctr"/>
          <a:lstStyle/>
          <a:p>
            <a:pPr algn="ctr"/>
            <a:endParaRPr lang="ko-KR" dirty="0"/>
          </a:p>
        </p:txBody>
      </p:sp>
      <p:sp>
        <p:nvSpPr>
          <p:cNvPr id="8" name="gh c3::after"/>
          <p:cNvSpPr/>
          <p:nvPr/>
        </p:nvSpPr>
        <p:spPr>
          <a:xfrm>
            <a:off x="9960173" y="2067024"/>
            <a:ext cx="1622227" cy="12700"/>
          </a:xfrm>
          <a:prstGeom prst="roundRect">
            <a:avLst>
              <a:gd name="adj" fmla="val 50000"/>
            </a:avLst>
          </a:prstGeom>
          <a:solidFill>
            <a:srgbClr val="102A4C"/>
          </a:solidFill>
          <a:ln>
            <a:noFill/>
          </a:ln>
        </p:spPr>
        <p:txBody>
          <a:bodyPr rtlCol="0" anchor="ctr"/>
          <a:lstStyle/>
          <a:p>
            <a:pPr algn="ctr"/>
            <a:endParaRPr lang="ko-KR" dirty="0"/>
          </a:p>
        </p:txBody>
      </p:sp>
      <p:sp>
        <p:nvSpPr>
          <p:cNvPr id="9" name="ch k1"/>
          <p:cNvSpPr/>
          <p:nvPr/>
        </p:nvSpPr>
        <p:spPr>
          <a:xfrm>
            <a:off x="609600" y="2378174"/>
            <a:ext cx="1981200" cy="2946400"/>
          </a:xfrm>
          <a:prstGeom prst="roundRect">
            <a:avLst>
              <a:gd name="adj" fmla="val 6410"/>
            </a:avLst>
          </a:prstGeom>
          <a:solidFill>
            <a:srgbClr val="F3F5F8"/>
          </a:solidFill>
          <a:ln>
            <a:noFill/>
          </a:ln>
        </p:spPr>
        <p:txBody>
          <a:bodyPr rtlCol="0" anchor="ctr"/>
          <a:lstStyle/>
          <a:p>
            <a:pPr algn="ctr"/>
            <a:endParaRPr lang="ko-KR" dirty="0"/>
          </a:p>
        </p:txBody>
      </p:sp>
      <p:sp>
        <p:nvSpPr>
          <p:cNvPr id="10" name="svg circle"/>
          <p:cNvSpPr/>
          <p:nvPr/>
        </p:nvSpPr>
        <p:spPr>
          <a:xfrm>
            <a:off x="2203450" y="2702024"/>
            <a:ext cx="127000" cy="127000"/>
          </a:xfrm>
          <a:prstGeom prst="ellipse">
            <a:avLst/>
          </a:prstGeom>
          <a:noFill/>
          <a:ln w="12700" cap="rnd">
            <a:solidFill>
              <a:srgbClr val="2B4A78"/>
            </a:solidFill>
            <a:round/>
          </a:ln>
        </p:spPr>
        <p:txBody>
          <a:bodyPr rtlCol="0" anchor="ctr"/>
          <a:lstStyle/>
          <a:p>
            <a:pPr algn="ctr"/>
            <a:endParaRPr lang="ko-KR" dirty="0"/>
          </a:p>
        </p:txBody>
      </p:sp>
      <p:sp>
        <p:nvSpPr>
          <p:cNvPr id="11" name="svg path"/>
          <p:cNvSpPr/>
          <p:nvPr/>
        </p:nvSpPr>
        <p:spPr>
          <a:xfrm>
            <a:off x="2314575" y="2813149"/>
            <a:ext cx="60325" cy="60325"/>
          </a:xfrm>
          <a:custGeom>
            <a:avLst/>
            <a:gdLst/>
            <a:ahLst/>
            <a:cxnLst/>
            <a:rect l="0" t="0" r="r" b="b"/>
            <a:pathLst>
              <a:path w="60325" h="60325" fill="none">
                <a:moveTo>
                  <a:pt x="0" y="0"/>
                </a:moveTo>
                <a:lnTo>
                  <a:pt x="60325" y="60325"/>
                </a:lnTo>
              </a:path>
            </a:pathLst>
          </a:custGeom>
          <a:noFill/>
          <a:ln w="12700" cap="rnd">
            <a:solidFill>
              <a:srgbClr val="2B4A78"/>
            </a:solidFill>
            <a:round/>
          </a:ln>
        </p:spPr>
        <p:txBody>
          <a:bodyPr rtlCol="0" anchor="ctr"/>
          <a:lstStyle/>
          <a:p>
            <a:pPr algn="ctr"/>
            <a:endParaRPr lang="ko-KR" dirty="0"/>
          </a:p>
        </p:txBody>
      </p:sp>
      <p:sp>
        <p:nvSpPr>
          <p:cNvPr id="12" name="svg path"/>
          <p:cNvSpPr/>
          <p:nvPr/>
        </p:nvSpPr>
        <p:spPr>
          <a:xfrm>
            <a:off x="2241550" y="2740124"/>
            <a:ext cx="50800" cy="50800"/>
          </a:xfrm>
          <a:custGeom>
            <a:avLst/>
            <a:gdLst/>
            <a:ahLst/>
            <a:cxnLst/>
            <a:rect l="0" t="0" r="r" b="b"/>
            <a:pathLst>
              <a:path w="50800" h="50800" fill="none">
                <a:moveTo>
                  <a:pt x="0" y="25400"/>
                </a:moveTo>
                <a:lnTo>
                  <a:pt x="50800" y="25400"/>
                </a:lnTo>
                <a:moveTo>
                  <a:pt x="25400" y="0"/>
                </a:moveTo>
                <a:lnTo>
                  <a:pt x="25400" y="50800"/>
                </a:lnTo>
              </a:path>
            </a:pathLst>
          </a:custGeom>
          <a:noFill/>
          <a:ln w="12700" cap="rnd">
            <a:solidFill>
              <a:srgbClr val="2B4A78"/>
            </a:solidFill>
            <a:round/>
          </a:ln>
        </p:spPr>
        <p:txBody>
          <a:bodyPr rtlCol="0" anchor="ctr"/>
          <a:lstStyle/>
          <a:p>
            <a:pPr algn="ctr"/>
            <a:endParaRPr lang="ko-KR" dirty="0"/>
          </a:p>
        </p:txBody>
      </p:sp>
      <p:sp>
        <p:nvSpPr>
          <p:cNvPr id="13" name="bar"/>
          <p:cNvSpPr/>
          <p:nvPr/>
        </p:nvSpPr>
        <p:spPr>
          <a:xfrm>
            <a:off x="812800" y="3267174"/>
            <a:ext cx="203200" cy="19050"/>
          </a:xfrm>
          <a:prstGeom prst="roundRect">
            <a:avLst>
              <a:gd name="adj" fmla="val 50000"/>
            </a:avLst>
          </a:prstGeom>
          <a:solidFill>
            <a:srgbClr val="102A4C"/>
          </a:solidFill>
          <a:ln>
            <a:noFill/>
          </a:ln>
        </p:spPr>
        <p:txBody>
          <a:bodyPr rtlCol="0" anchor="ctr"/>
          <a:lstStyle/>
          <a:p>
            <a:pPr algn="ctr"/>
            <a:endParaRPr lang="ko-KR" dirty="0"/>
          </a:p>
        </p:txBody>
      </p:sp>
      <p:sp>
        <p:nvSpPr>
          <p:cNvPr id="14" name="q"/>
          <p:cNvSpPr/>
          <p:nvPr/>
        </p:nvSpPr>
        <p:spPr>
          <a:xfrm>
            <a:off x="609600" y="4410174"/>
            <a:ext cx="1981200" cy="914400"/>
          </a:xfrm>
          <a:custGeom>
            <a:avLst/>
            <a:gdLst/>
            <a:ahLst/>
            <a:cxnLst/>
            <a:rect l="0" t="0" r="r" b="b"/>
            <a:pathLst>
              <a:path w="1981200" h="914400" stroke="0">
                <a:moveTo>
                  <a:pt x="0" y="0"/>
                </a:moveTo>
                <a:lnTo>
                  <a:pt x="1981200" y="0"/>
                </a:lnTo>
                <a:cubicBezTo>
                  <a:pt x="1981200" y="0"/>
                  <a:pt x="1981200" y="0"/>
                  <a:pt x="1981200" y="0"/>
                </a:cubicBezTo>
                <a:lnTo>
                  <a:pt x="1981200" y="787400"/>
                </a:lnTo>
                <a:cubicBezTo>
                  <a:pt x="1981200" y="857542"/>
                  <a:pt x="1924342" y="914400"/>
                  <a:pt x="1854200" y="914400"/>
                </a:cubicBezTo>
                <a:lnTo>
                  <a:pt x="127000" y="914400"/>
                </a:lnTo>
                <a:cubicBezTo>
                  <a:pt x="56858" y="914400"/>
                  <a:pt x="0" y="857542"/>
                  <a:pt x="0" y="787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15" name="ch k2"/>
          <p:cNvSpPr/>
          <p:nvPr/>
        </p:nvSpPr>
        <p:spPr>
          <a:xfrm>
            <a:off x="2717800" y="2378174"/>
            <a:ext cx="1981200" cy="2946400"/>
          </a:xfrm>
          <a:prstGeom prst="roundRect">
            <a:avLst>
              <a:gd name="adj" fmla="val 6410"/>
            </a:avLst>
          </a:prstGeom>
          <a:solidFill>
            <a:srgbClr val="F3F5F8"/>
          </a:solidFill>
          <a:ln>
            <a:noFill/>
          </a:ln>
        </p:spPr>
        <p:txBody>
          <a:bodyPr rtlCol="0" anchor="ctr"/>
          <a:lstStyle/>
          <a:p>
            <a:pPr algn="ctr"/>
            <a:endParaRPr lang="ko-KR" dirty="0"/>
          </a:p>
        </p:txBody>
      </p:sp>
      <p:sp>
        <p:nvSpPr>
          <p:cNvPr id="16" name="svg circle"/>
          <p:cNvSpPr/>
          <p:nvPr/>
        </p:nvSpPr>
        <p:spPr>
          <a:xfrm>
            <a:off x="4305300" y="2695674"/>
            <a:ext cx="177800" cy="177800"/>
          </a:xfrm>
          <a:prstGeom prst="ellipse">
            <a:avLst/>
          </a:prstGeom>
          <a:noFill/>
          <a:ln w="12700" cap="rnd">
            <a:solidFill>
              <a:srgbClr val="2B4A78"/>
            </a:solidFill>
            <a:round/>
          </a:ln>
        </p:spPr>
        <p:txBody>
          <a:bodyPr rtlCol="0" anchor="ctr"/>
          <a:lstStyle/>
          <a:p>
            <a:pPr algn="ctr"/>
            <a:endParaRPr lang="ko-KR" dirty="0"/>
          </a:p>
        </p:txBody>
      </p:sp>
      <p:sp>
        <p:nvSpPr>
          <p:cNvPr id="17" name="svg circle"/>
          <p:cNvSpPr/>
          <p:nvPr/>
        </p:nvSpPr>
        <p:spPr>
          <a:xfrm>
            <a:off x="4343400" y="2733774"/>
            <a:ext cx="101600" cy="101600"/>
          </a:xfrm>
          <a:prstGeom prst="ellipse">
            <a:avLst/>
          </a:prstGeom>
          <a:noFill/>
          <a:ln w="12700" cap="rnd">
            <a:solidFill>
              <a:srgbClr val="2B4A78"/>
            </a:solidFill>
            <a:round/>
          </a:ln>
        </p:spPr>
        <p:txBody>
          <a:bodyPr rtlCol="0" anchor="ctr"/>
          <a:lstStyle/>
          <a:p>
            <a:pPr algn="ctr"/>
            <a:endParaRPr lang="ko-KR" dirty="0"/>
          </a:p>
        </p:txBody>
      </p:sp>
      <p:sp>
        <p:nvSpPr>
          <p:cNvPr id="18" name="svg circle"/>
          <p:cNvSpPr/>
          <p:nvPr/>
        </p:nvSpPr>
        <p:spPr>
          <a:xfrm>
            <a:off x="4381500" y="2771874"/>
            <a:ext cx="25400" cy="25400"/>
          </a:xfrm>
          <a:prstGeom prst="ellipse">
            <a:avLst/>
          </a:prstGeom>
          <a:noFill/>
          <a:ln w="12700" cap="rnd">
            <a:solidFill>
              <a:srgbClr val="2B4A78"/>
            </a:solidFill>
            <a:round/>
          </a:ln>
        </p:spPr>
        <p:txBody>
          <a:bodyPr rtlCol="0" anchor="ctr"/>
          <a:lstStyle/>
          <a:p>
            <a:pPr algn="ctr"/>
            <a:endParaRPr lang="ko-KR" dirty="0"/>
          </a:p>
        </p:txBody>
      </p:sp>
      <p:sp>
        <p:nvSpPr>
          <p:cNvPr id="19" name="bar"/>
          <p:cNvSpPr/>
          <p:nvPr/>
        </p:nvSpPr>
        <p:spPr>
          <a:xfrm>
            <a:off x="2921000" y="3267174"/>
            <a:ext cx="203200" cy="19050"/>
          </a:xfrm>
          <a:prstGeom prst="roundRect">
            <a:avLst>
              <a:gd name="adj" fmla="val 50000"/>
            </a:avLst>
          </a:prstGeom>
          <a:solidFill>
            <a:srgbClr val="102A4C"/>
          </a:solidFill>
          <a:ln>
            <a:noFill/>
          </a:ln>
        </p:spPr>
        <p:txBody>
          <a:bodyPr rtlCol="0" anchor="ctr"/>
          <a:lstStyle/>
          <a:p>
            <a:pPr algn="ctr"/>
            <a:endParaRPr lang="ko-KR" dirty="0"/>
          </a:p>
        </p:txBody>
      </p:sp>
      <p:sp>
        <p:nvSpPr>
          <p:cNvPr id="20" name="q"/>
          <p:cNvSpPr/>
          <p:nvPr/>
        </p:nvSpPr>
        <p:spPr>
          <a:xfrm>
            <a:off x="2717800" y="4410174"/>
            <a:ext cx="1981200" cy="914400"/>
          </a:xfrm>
          <a:custGeom>
            <a:avLst/>
            <a:gdLst/>
            <a:ahLst/>
            <a:cxnLst/>
            <a:rect l="0" t="0" r="r" b="b"/>
            <a:pathLst>
              <a:path w="1981200" h="914400" stroke="0">
                <a:moveTo>
                  <a:pt x="0" y="0"/>
                </a:moveTo>
                <a:lnTo>
                  <a:pt x="1981200" y="0"/>
                </a:lnTo>
                <a:cubicBezTo>
                  <a:pt x="1981200" y="0"/>
                  <a:pt x="1981200" y="0"/>
                  <a:pt x="1981200" y="0"/>
                </a:cubicBezTo>
                <a:lnTo>
                  <a:pt x="1981200" y="787400"/>
                </a:lnTo>
                <a:cubicBezTo>
                  <a:pt x="1981200" y="857542"/>
                  <a:pt x="1924342" y="914400"/>
                  <a:pt x="1854200" y="914400"/>
                </a:cubicBezTo>
                <a:lnTo>
                  <a:pt x="127000" y="914400"/>
                </a:lnTo>
                <a:cubicBezTo>
                  <a:pt x="56858" y="914400"/>
                  <a:pt x="0" y="857542"/>
                  <a:pt x="0" y="787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21" name="ch k3"/>
          <p:cNvSpPr/>
          <p:nvPr/>
        </p:nvSpPr>
        <p:spPr>
          <a:xfrm>
            <a:off x="5105400" y="2378174"/>
            <a:ext cx="1981200" cy="2946400"/>
          </a:xfrm>
          <a:prstGeom prst="roundRect">
            <a:avLst>
              <a:gd name="adj" fmla="val 6410"/>
            </a:avLst>
          </a:prstGeom>
          <a:solidFill>
            <a:srgbClr val="F3F5F8"/>
          </a:solidFill>
          <a:ln>
            <a:noFill/>
          </a:ln>
        </p:spPr>
        <p:txBody>
          <a:bodyPr rtlCol="0" anchor="ctr"/>
          <a:lstStyle/>
          <a:p>
            <a:pPr algn="ctr"/>
            <a:endParaRPr lang="ko-KR" dirty="0"/>
          </a:p>
        </p:txBody>
      </p:sp>
      <p:sp>
        <p:nvSpPr>
          <p:cNvPr id="22" name="svg rect"/>
          <p:cNvSpPr/>
          <p:nvPr/>
        </p:nvSpPr>
        <p:spPr>
          <a:xfrm>
            <a:off x="6680200" y="2752824"/>
            <a:ext cx="63500" cy="63500"/>
          </a:xfrm>
          <a:prstGeom prst="roundRect">
            <a:avLst>
              <a:gd name="adj" fmla="val 20000"/>
            </a:avLst>
          </a:prstGeom>
          <a:noFill/>
          <a:ln w="12700" cap="rnd">
            <a:solidFill>
              <a:srgbClr val="2B4A78"/>
            </a:solidFill>
            <a:round/>
          </a:ln>
        </p:spPr>
        <p:txBody>
          <a:bodyPr rtlCol="0" anchor="ctr"/>
          <a:lstStyle/>
          <a:p>
            <a:pPr algn="ctr"/>
            <a:endParaRPr lang="ko-KR" dirty="0"/>
          </a:p>
        </p:txBody>
      </p:sp>
      <p:sp>
        <p:nvSpPr>
          <p:cNvPr id="23" name="svg rect"/>
          <p:cNvSpPr/>
          <p:nvPr/>
        </p:nvSpPr>
        <p:spPr>
          <a:xfrm>
            <a:off x="6819900" y="2689324"/>
            <a:ext cx="63500" cy="63500"/>
          </a:xfrm>
          <a:prstGeom prst="roundRect">
            <a:avLst>
              <a:gd name="adj" fmla="val 20000"/>
            </a:avLst>
          </a:prstGeom>
          <a:noFill/>
          <a:ln w="12700" cap="rnd">
            <a:solidFill>
              <a:srgbClr val="2B4A78"/>
            </a:solidFill>
            <a:round/>
          </a:ln>
        </p:spPr>
        <p:txBody>
          <a:bodyPr rtlCol="0" anchor="ctr"/>
          <a:lstStyle/>
          <a:p>
            <a:pPr algn="ctr"/>
            <a:endParaRPr lang="ko-KR" dirty="0"/>
          </a:p>
        </p:txBody>
      </p:sp>
      <p:sp>
        <p:nvSpPr>
          <p:cNvPr id="24" name="svg rect"/>
          <p:cNvSpPr/>
          <p:nvPr/>
        </p:nvSpPr>
        <p:spPr>
          <a:xfrm>
            <a:off x="6819900" y="2816324"/>
            <a:ext cx="63500" cy="63500"/>
          </a:xfrm>
          <a:prstGeom prst="roundRect">
            <a:avLst>
              <a:gd name="adj" fmla="val 20000"/>
            </a:avLst>
          </a:prstGeom>
          <a:noFill/>
          <a:ln w="12700" cap="rnd">
            <a:solidFill>
              <a:srgbClr val="2B4A78"/>
            </a:solidFill>
            <a:round/>
          </a:ln>
        </p:spPr>
        <p:txBody>
          <a:bodyPr rtlCol="0" anchor="ctr"/>
          <a:lstStyle/>
          <a:p>
            <a:pPr algn="ctr"/>
            <a:endParaRPr lang="ko-KR" dirty="0"/>
          </a:p>
        </p:txBody>
      </p:sp>
      <p:sp>
        <p:nvSpPr>
          <p:cNvPr id="25" name="svg path"/>
          <p:cNvSpPr/>
          <p:nvPr/>
        </p:nvSpPr>
        <p:spPr>
          <a:xfrm>
            <a:off x="6743700" y="2721074"/>
            <a:ext cx="76200" cy="127000"/>
          </a:xfrm>
          <a:custGeom>
            <a:avLst/>
            <a:gdLst/>
            <a:ahLst/>
            <a:cxnLst/>
            <a:rect l="0" t="0" r="r" b="b"/>
            <a:pathLst>
              <a:path w="76200" h="127000" fill="none">
                <a:moveTo>
                  <a:pt x="0" y="63500"/>
                </a:moveTo>
                <a:lnTo>
                  <a:pt x="38100" y="63500"/>
                </a:lnTo>
                <a:moveTo>
                  <a:pt x="38100" y="0"/>
                </a:moveTo>
                <a:lnTo>
                  <a:pt x="38100" y="127000"/>
                </a:lnTo>
                <a:moveTo>
                  <a:pt x="38100" y="0"/>
                </a:moveTo>
                <a:lnTo>
                  <a:pt x="76200" y="0"/>
                </a:lnTo>
                <a:moveTo>
                  <a:pt x="38100" y="127000"/>
                </a:moveTo>
                <a:lnTo>
                  <a:pt x="76200" y="127000"/>
                </a:lnTo>
              </a:path>
            </a:pathLst>
          </a:custGeom>
          <a:noFill/>
          <a:ln w="12700" cap="rnd">
            <a:solidFill>
              <a:srgbClr val="2B4A78"/>
            </a:solidFill>
            <a:round/>
          </a:ln>
        </p:spPr>
        <p:txBody>
          <a:bodyPr rtlCol="0" anchor="ctr"/>
          <a:lstStyle/>
          <a:p>
            <a:pPr algn="ctr"/>
            <a:endParaRPr lang="ko-KR" dirty="0"/>
          </a:p>
        </p:txBody>
      </p:sp>
      <p:sp>
        <p:nvSpPr>
          <p:cNvPr id="26" name="bar"/>
          <p:cNvSpPr/>
          <p:nvPr/>
        </p:nvSpPr>
        <p:spPr>
          <a:xfrm>
            <a:off x="5308600" y="3267174"/>
            <a:ext cx="203200" cy="19050"/>
          </a:xfrm>
          <a:prstGeom prst="roundRect">
            <a:avLst>
              <a:gd name="adj" fmla="val 50000"/>
            </a:avLst>
          </a:prstGeom>
          <a:solidFill>
            <a:srgbClr val="102A4C"/>
          </a:solidFill>
          <a:ln>
            <a:noFill/>
          </a:ln>
        </p:spPr>
        <p:txBody>
          <a:bodyPr rtlCol="0" anchor="ctr"/>
          <a:lstStyle/>
          <a:p>
            <a:pPr algn="ctr"/>
            <a:endParaRPr lang="ko-KR" dirty="0"/>
          </a:p>
        </p:txBody>
      </p:sp>
      <p:sp>
        <p:nvSpPr>
          <p:cNvPr id="27" name="q"/>
          <p:cNvSpPr/>
          <p:nvPr/>
        </p:nvSpPr>
        <p:spPr>
          <a:xfrm>
            <a:off x="5105400" y="4410174"/>
            <a:ext cx="1981200" cy="914400"/>
          </a:xfrm>
          <a:custGeom>
            <a:avLst/>
            <a:gdLst/>
            <a:ahLst/>
            <a:cxnLst/>
            <a:rect l="0" t="0" r="r" b="b"/>
            <a:pathLst>
              <a:path w="1981200" h="914400" stroke="0">
                <a:moveTo>
                  <a:pt x="0" y="0"/>
                </a:moveTo>
                <a:lnTo>
                  <a:pt x="1981200" y="0"/>
                </a:lnTo>
                <a:cubicBezTo>
                  <a:pt x="1981200" y="0"/>
                  <a:pt x="1981200" y="0"/>
                  <a:pt x="1981200" y="0"/>
                </a:cubicBezTo>
                <a:lnTo>
                  <a:pt x="1981200" y="787400"/>
                </a:lnTo>
                <a:cubicBezTo>
                  <a:pt x="1981200" y="857542"/>
                  <a:pt x="1924342" y="914400"/>
                  <a:pt x="1854200" y="914400"/>
                </a:cubicBezTo>
                <a:lnTo>
                  <a:pt x="127000" y="914400"/>
                </a:lnTo>
                <a:cubicBezTo>
                  <a:pt x="56858" y="914400"/>
                  <a:pt x="0" y="857542"/>
                  <a:pt x="0" y="787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28" name="ch k4"/>
          <p:cNvSpPr/>
          <p:nvPr/>
        </p:nvSpPr>
        <p:spPr>
          <a:xfrm>
            <a:off x="7213600" y="2378174"/>
            <a:ext cx="1981200" cy="2946400"/>
          </a:xfrm>
          <a:prstGeom prst="roundRect">
            <a:avLst>
              <a:gd name="adj" fmla="val 6410"/>
            </a:avLst>
          </a:prstGeom>
          <a:solidFill>
            <a:srgbClr val="F3F5F8"/>
          </a:solidFill>
          <a:ln>
            <a:noFill/>
          </a:ln>
        </p:spPr>
        <p:txBody>
          <a:bodyPr rtlCol="0" anchor="ctr"/>
          <a:lstStyle/>
          <a:p>
            <a:pPr algn="ctr"/>
            <a:endParaRPr lang="ko-KR" dirty="0"/>
          </a:p>
        </p:txBody>
      </p:sp>
      <p:sp>
        <p:nvSpPr>
          <p:cNvPr id="29" name="svg path"/>
          <p:cNvSpPr/>
          <p:nvPr/>
        </p:nvSpPr>
        <p:spPr>
          <a:xfrm>
            <a:off x="8794750" y="2879824"/>
            <a:ext cx="190500" cy="1"/>
          </a:xfrm>
          <a:custGeom>
            <a:avLst/>
            <a:gdLst/>
            <a:ahLst/>
            <a:cxnLst/>
            <a:rect l="0" t="0" r="r" b="b"/>
            <a:pathLst>
              <a:path w="190500" h="1" fill="none">
                <a:moveTo>
                  <a:pt x="0" y="0"/>
                </a:moveTo>
                <a:lnTo>
                  <a:pt x="190500" y="0"/>
                </a:lnTo>
              </a:path>
            </a:pathLst>
          </a:custGeom>
          <a:noFill/>
          <a:ln w="12700" cap="rnd">
            <a:solidFill>
              <a:srgbClr val="2B4A78"/>
            </a:solidFill>
            <a:round/>
          </a:ln>
        </p:spPr>
        <p:txBody>
          <a:bodyPr rtlCol="0" anchor="ctr"/>
          <a:lstStyle/>
          <a:p>
            <a:pPr algn="ctr"/>
            <a:endParaRPr lang="ko-KR" dirty="0"/>
          </a:p>
        </p:txBody>
      </p:sp>
      <p:sp>
        <p:nvSpPr>
          <p:cNvPr id="30" name="svg rect"/>
          <p:cNvSpPr/>
          <p:nvPr/>
        </p:nvSpPr>
        <p:spPr>
          <a:xfrm>
            <a:off x="8813800" y="2803624"/>
            <a:ext cx="38100" cy="76200"/>
          </a:xfrm>
          <a:prstGeom prst="roundRect">
            <a:avLst>
              <a:gd name="adj" fmla="val 16667"/>
            </a:avLst>
          </a:prstGeom>
          <a:noFill/>
          <a:ln w="12700" cap="rnd">
            <a:solidFill>
              <a:srgbClr val="2B4A78"/>
            </a:solidFill>
            <a:round/>
          </a:ln>
        </p:spPr>
        <p:txBody>
          <a:bodyPr rtlCol="0" anchor="ctr"/>
          <a:lstStyle/>
          <a:p>
            <a:pPr algn="ctr"/>
            <a:endParaRPr lang="ko-KR" dirty="0"/>
          </a:p>
        </p:txBody>
      </p:sp>
      <p:sp>
        <p:nvSpPr>
          <p:cNvPr id="31" name="svg rect"/>
          <p:cNvSpPr/>
          <p:nvPr/>
        </p:nvSpPr>
        <p:spPr>
          <a:xfrm>
            <a:off x="8870950" y="2752824"/>
            <a:ext cx="38100" cy="127000"/>
          </a:xfrm>
          <a:prstGeom prst="roundRect">
            <a:avLst>
              <a:gd name="adj" fmla="val 16667"/>
            </a:avLst>
          </a:prstGeom>
          <a:noFill/>
          <a:ln w="12700" cap="rnd">
            <a:solidFill>
              <a:srgbClr val="2B4A78"/>
            </a:solidFill>
            <a:round/>
          </a:ln>
        </p:spPr>
        <p:txBody>
          <a:bodyPr rtlCol="0" anchor="ctr"/>
          <a:lstStyle/>
          <a:p>
            <a:pPr algn="ctr"/>
            <a:endParaRPr lang="ko-KR" dirty="0"/>
          </a:p>
        </p:txBody>
      </p:sp>
      <p:sp>
        <p:nvSpPr>
          <p:cNvPr id="32" name="svg rect"/>
          <p:cNvSpPr/>
          <p:nvPr/>
        </p:nvSpPr>
        <p:spPr>
          <a:xfrm>
            <a:off x="8928100" y="2702024"/>
            <a:ext cx="38100" cy="177800"/>
          </a:xfrm>
          <a:prstGeom prst="roundRect">
            <a:avLst>
              <a:gd name="adj" fmla="val 16667"/>
            </a:avLst>
          </a:prstGeom>
          <a:noFill/>
          <a:ln w="12700" cap="rnd">
            <a:solidFill>
              <a:srgbClr val="2B4A78"/>
            </a:solidFill>
            <a:round/>
          </a:ln>
        </p:spPr>
        <p:txBody>
          <a:bodyPr rtlCol="0" anchor="ctr"/>
          <a:lstStyle/>
          <a:p>
            <a:pPr algn="ctr"/>
            <a:endParaRPr lang="ko-KR" dirty="0"/>
          </a:p>
        </p:txBody>
      </p:sp>
      <p:sp>
        <p:nvSpPr>
          <p:cNvPr id="33" name="bar"/>
          <p:cNvSpPr/>
          <p:nvPr/>
        </p:nvSpPr>
        <p:spPr>
          <a:xfrm>
            <a:off x="7416800" y="3267174"/>
            <a:ext cx="203200" cy="19050"/>
          </a:xfrm>
          <a:prstGeom prst="roundRect">
            <a:avLst>
              <a:gd name="adj" fmla="val 50000"/>
            </a:avLst>
          </a:prstGeom>
          <a:solidFill>
            <a:srgbClr val="102A4C"/>
          </a:solidFill>
          <a:ln>
            <a:noFill/>
          </a:ln>
        </p:spPr>
        <p:txBody>
          <a:bodyPr rtlCol="0" anchor="ctr"/>
          <a:lstStyle/>
          <a:p>
            <a:pPr algn="ctr"/>
            <a:endParaRPr lang="ko-KR" dirty="0"/>
          </a:p>
        </p:txBody>
      </p:sp>
      <p:sp>
        <p:nvSpPr>
          <p:cNvPr id="34" name="q"/>
          <p:cNvSpPr/>
          <p:nvPr/>
        </p:nvSpPr>
        <p:spPr>
          <a:xfrm>
            <a:off x="7213600" y="4410174"/>
            <a:ext cx="1981200" cy="914400"/>
          </a:xfrm>
          <a:custGeom>
            <a:avLst/>
            <a:gdLst/>
            <a:ahLst/>
            <a:cxnLst/>
            <a:rect l="0" t="0" r="r" b="b"/>
            <a:pathLst>
              <a:path w="1981200" h="914400" stroke="0">
                <a:moveTo>
                  <a:pt x="0" y="0"/>
                </a:moveTo>
                <a:lnTo>
                  <a:pt x="1981200" y="0"/>
                </a:lnTo>
                <a:cubicBezTo>
                  <a:pt x="1981200" y="0"/>
                  <a:pt x="1981200" y="0"/>
                  <a:pt x="1981200" y="0"/>
                </a:cubicBezTo>
                <a:lnTo>
                  <a:pt x="1981200" y="787400"/>
                </a:lnTo>
                <a:cubicBezTo>
                  <a:pt x="1981200" y="857542"/>
                  <a:pt x="1924342" y="914400"/>
                  <a:pt x="1854200" y="914400"/>
                </a:cubicBezTo>
                <a:lnTo>
                  <a:pt x="127000" y="914400"/>
                </a:lnTo>
                <a:cubicBezTo>
                  <a:pt x="56858" y="914400"/>
                  <a:pt x="0" y="857542"/>
                  <a:pt x="0" y="787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35" name="ch k5"/>
          <p:cNvSpPr/>
          <p:nvPr/>
        </p:nvSpPr>
        <p:spPr>
          <a:xfrm>
            <a:off x="9601200" y="2378174"/>
            <a:ext cx="1981200" cy="2946400"/>
          </a:xfrm>
          <a:prstGeom prst="roundRect">
            <a:avLst>
              <a:gd name="adj" fmla="val 6410"/>
            </a:avLst>
          </a:prstGeom>
          <a:solidFill>
            <a:srgbClr val="102A4C"/>
          </a:solidFill>
          <a:ln>
            <a:noFill/>
          </a:ln>
        </p:spPr>
        <p:txBody>
          <a:bodyPr rtlCol="0" anchor="ctr"/>
          <a:lstStyle/>
          <a:p>
            <a:pPr algn="ctr"/>
            <a:endParaRPr lang="ko-KR" dirty="0"/>
          </a:p>
        </p:txBody>
      </p:sp>
      <p:sp>
        <p:nvSpPr>
          <p:cNvPr id="36" name="svg path"/>
          <p:cNvSpPr/>
          <p:nvPr/>
        </p:nvSpPr>
        <p:spPr>
          <a:xfrm>
            <a:off x="11169650" y="2879824"/>
            <a:ext cx="215900" cy="1"/>
          </a:xfrm>
          <a:custGeom>
            <a:avLst/>
            <a:gdLst/>
            <a:ahLst/>
            <a:cxnLst/>
            <a:rect l="0" t="0" r="r" b="b"/>
            <a:pathLst>
              <a:path w="215900" h="1" fill="none">
                <a:moveTo>
                  <a:pt x="0" y="0"/>
                </a:moveTo>
                <a:lnTo>
                  <a:pt x="215900" y="0"/>
                </a:lnTo>
              </a:path>
            </a:pathLst>
          </a:custGeom>
          <a:noFill/>
          <a:ln w="12700" cap="rnd">
            <a:solidFill>
              <a:srgbClr val="9FB0C8"/>
            </a:solidFill>
            <a:round/>
          </a:ln>
        </p:spPr>
        <p:txBody>
          <a:bodyPr rtlCol="0" anchor="ctr"/>
          <a:lstStyle/>
          <a:p>
            <a:pPr algn="ctr"/>
            <a:endParaRPr lang="ko-KR" dirty="0"/>
          </a:p>
        </p:txBody>
      </p:sp>
      <p:sp>
        <p:nvSpPr>
          <p:cNvPr id="37" name="svg path"/>
          <p:cNvSpPr/>
          <p:nvPr/>
        </p:nvSpPr>
        <p:spPr>
          <a:xfrm>
            <a:off x="11188700" y="2702024"/>
            <a:ext cx="171450" cy="177800"/>
          </a:xfrm>
          <a:custGeom>
            <a:avLst/>
            <a:gdLst/>
            <a:ahLst/>
            <a:cxnLst/>
            <a:rect l="0" t="0" r="r" b="b"/>
            <a:pathLst>
              <a:path w="171450" h="177800" fill="none">
                <a:moveTo>
                  <a:pt x="0" y="177800"/>
                </a:moveTo>
                <a:lnTo>
                  <a:pt x="0" y="82550"/>
                </a:lnTo>
                <a:lnTo>
                  <a:pt x="57150" y="44450"/>
                </a:lnTo>
                <a:lnTo>
                  <a:pt x="57150" y="82550"/>
                </a:lnTo>
                <a:lnTo>
                  <a:pt x="114300" y="44450"/>
                </a:lnTo>
                <a:lnTo>
                  <a:pt x="114300" y="82550"/>
                </a:lnTo>
                <a:lnTo>
                  <a:pt x="133350" y="82550"/>
                </a:lnTo>
                <a:lnTo>
                  <a:pt x="133350" y="0"/>
                </a:lnTo>
                <a:lnTo>
                  <a:pt x="171450" y="0"/>
                </a:lnTo>
                <a:lnTo>
                  <a:pt x="171450" y="177800"/>
                </a:lnTo>
              </a:path>
            </a:pathLst>
          </a:custGeom>
          <a:noFill/>
          <a:ln w="12700" cap="rnd">
            <a:solidFill>
              <a:srgbClr val="9FB0C8"/>
            </a:solidFill>
            <a:round/>
          </a:ln>
        </p:spPr>
        <p:txBody>
          <a:bodyPr rtlCol="0" anchor="ctr"/>
          <a:lstStyle/>
          <a:p>
            <a:pPr algn="ctr"/>
            <a:endParaRPr lang="ko-KR" dirty="0"/>
          </a:p>
        </p:txBody>
      </p:sp>
      <p:sp>
        <p:nvSpPr>
          <p:cNvPr id="38" name="svg path"/>
          <p:cNvSpPr/>
          <p:nvPr/>
        </p:nvSpPr>
        <p:spPr>
          <a:xfrm>
            <a:off x="11220450" y="2835374"/>
            <a:ext cx="82550" cy="1"/>
          </a:xfrm>
          <a:custGeom>
            <a:avLst/>
            <a:gdLst/>
            <a:ahLst/>
            <a:cxnLst/>
            <a:rect l="0" t="0" r="r" b="b"/>
            <a:pathLst>
              <a:path w="82550" h="1" fill="none">
                <a:moveTo>
                  <a:pt x="0" y="0"/>
                </a:moveTo>
                <a:lnTo>
                  <a:pt x="25400" y="0"/>
                </a:lnTo>
                <a:moveTo>
                  <a:pt x="57150" y="0"/>
                </a:moveTo>
                <a:lnTo>
                  <a:pt x="82550" y="0"/>
                </a:lnTo>
              </a:path>
            </a:pathLst>
          </a:custGeom>
          <a:noFill/>
          <a:ln w="12700" cap="rnd">
            <a:solidFill>
              <a:srgbClr val="9FB0C8"/>
            </a:solidFill>
            <a:round/>
          </a:ln>
        </p:spPr>
        <p:txBody>
          <a:bodyPr rtlCol="0" anchor="ctr"/>
          <a:lstStyle/>
          <a:p>
            <a:pPr algn="ctr"/>
            <a:endParaRPr lang="ko-KR" dirty="0"/>
          </a:p>
        </p:txBody>
      </p:sp>
      <p:sp>
        <p:nvSpPr>
          <p:cNvPr id="39" name="bar"/>
          <p:cNvSpPr/>
          <p:nvPr/>
        </p:nvSpPr>
        <p:spPr>
          <a:xfrm>
            <a:off x="9804400" y="3267174"/>
            <a:ext cx="203200" cy="19050"/>
          </a:xfrm>
          <a:prstGeom prst="roundRect">
            <a:avLst>
              <a:gd name="adj" fmla="val 50000"/>
            </a:avLst>
          </a:prstGeom>
          <a:solidFill>
            <a:srgbClr val="9FB0C8"/>
          </a:solidFill>
          <a:ln>
            <a:noFill/>
          </a:ln>
        </p:spPr>
        <p:txBody>
          <a:bodyPr rtlCol="0" anchor="ctr"/>
          <a:lstStyle/>
          <a:p>
            <a:pPr algn="ctr"/>
            <a:endParaRPr lang="ko-KR" dirty="0"/>
          </a:p>
        </p:txBody>
      </p:sp>
      <p:sp>
        <p:nvSpPr>
          <p:cNvPr id="40" name="q"/>
          <p:cNvSpPr/>
          <p:nvPr/>
        </p:nvSpPr>
        <p:spPr>
          <a:xfrm>
            <a:off x="9601200" y="4410174"/>
            <a:ext cx="1981200" cy="914400"/>
          </a:xfrm>
          <a:custGeom>
            <a:avLst/>
            <a:gdLst/>
            <a:ahLst/>
            <a:cxnLst/>
            <a:rect l="0" t="0" r="r" b="b"/>
            <a:pathLst>
              <a:path w="1981200" h="914400" stroke="0">
                <a:moveTo>
                  <a:pt x="0" y="0"/>
                </a:moveTo>
                <a:lnTo>
                  <a:pt x="1981200" y="0"/>
                </a:lnTo>
                <a:cubicBezTo>
                  <a:pt x="1981200" y="0"/>
                  <a:pt x="1981200" y="0"/>
                  <a:pt x="1981200" y="0"/>
                </a:cubicBezTo>
                <a:lnTo>
                  <a:pt x="1981200" y="787400"/>
                </a:lnTo>
                <a:cubicBezTo>
                  <a:pt x="1981200" y="857542"/>
                  <a:pt x="1924342" y="914400"/>
                  <a:pt x="1854200" y="914400"/>
                </a:cubicBezTo>
                <a:lnTo>
                  <a:pt x="127000" y="914400"/>
                </a:lnTo>
                <a:cubicBezTo>
                  <a:pt x="56858" y="914400"/>
                  <a:pt x="0" y="857542"/>
                  <a:pt x="0" y="787400"/>
                </a:cubicBezTo>
                <a:lnTo>
                  <a:pt x="0" y="0"/>
                </a:lnTo>
                <a:cubicBezTo>
                  <a:pt x="0" y="0"/>
                  <a:pt x="0" y="0"/>
                  <a:pt x="0" y="0"/>
                </a:cubicBezTo>
                <a:close/>
              </a:path>
            </a:pathLst>
          </a:custGeom>
          <a:solidFill>
            <a:srgbClr val="213D63"/>
          </a:solidFill>
          <a:ln>
            <a:noFill/>
          </a:ln>
        </p:spPr>
        <p:txBody>
          <a:bodyPr rtlCol="0" anchor="ctr"/>
          <a:lstStyle/>
          <a:p>
            <a:pPr algn="ctr"/>
            <a:endParaRPr lang="ko-KR" dirty="0"/>
          </a:p>
        </p:txBody>
      </p:sp>
      <p:sp>
        <p:nvSpPr>
          <p:cNvPr id="41" name="00"/>
          <p:cNvSpPr txBox="1"/>
          <p:nvPr/>
        </p:nvSpPr>
        <p:spPr>
          <a:xfrm>
            <a:off x="609600" y="401439"/>
            <a:ext cx="220166"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00</a:t>
            </a:r>
            <a:endParaRPr lang="en-US" sz="950" dirty="0"/>
          </a:p>
        </p:txBody>
      </p:sp>
      <p:sp>
        <p:nvSpPr>
          <p:cNvPr id="42" name="CONTENTS"/>
          <p:cNvSpPr txBox="1"/>
          <p:nvPr/>
        </p:nvSpPr>
        <p:spPr>
          <a:xfrm>
            <a:off x="867866" y="401439"/>
            <a:ext cx="689967"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CONTENTS</a:t>
            </a:r>
            <a:endParaRPr lang="en-US" sz="950" dirty="0"/>
          </a:p>
        </p:txBody>
      </p:sp>
      <p:sp>
        <p:nvSpPr>
          <p:cNvPr id="43" name="발표 순서"/>
          <p:cNvSpPr txBox="1"/>
          <p:nvPr/>
        </p:nvSpPr>
        <p:spPr>
          <a:xfrm>
            <a:off x="1691184" y="401439"/>
            <a:ext cx="488950"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발표 순서</a:t>
            </a:r>
            <a:endParaRPr lang="en-US" sz="950" dirty="0"/>
          </a:p>
        </p:txBody>
      </p:sp>
      <p:sp>
        <p:nvSpPr>
          <p:cNvPr id="44" name="어떤 문제를, 어떻게 해결했고, 그게 SK하이닉스에서 왜 의미 있는가"/>
          <p:cNvSpPr txBox="1"/>
          <p:nvPr/>
        </p:nvSpPr>
        <p:spPr>
          <a:xfrm>
            <a:off x="609600" y="666750"/>
            <a:ext cx="7605820"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어떤 문제를, 어떻게 해결했고, </a:t>
            </a:r>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그게 SK하이닉스에서 왜 의미 있는가</a:t>
            </a:r>
            <a:endParaRPr lang="en-US" sz="2300" dirty="0"/>
          </a:p>
        </p:txBody>
      </p:sp>
      <p:sp>
        <p:nvSpPr>
          <p:cNvPr id="45" name="문제"/>
          <p:cNvSpPr txBox="1"/>
          <p:nvPr/>
        </p:nvSpPr>
        <p:spPr>
          <a:xfrm>
            <a:off x="609600" y="1975545"/>
            <a:ext cx="30817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문제</a:t>
            </a:r>
            <a:endParaRPr lang="en-US" sz="1200" dirty="0"/>
          </a:p>
        </p:txBody>
      </p:sp>
      <p:sp>
        <p:nvSpPr>
          <p:cNvPr id="46" name="해결"/>
          <p:cNvSpPr txBox="1"/>
          <p:nvPr/>
        </p:nvSpPr>
        <p:spPr>
          <a:xfrm>
            <a:off x="5105400" y="1975545"/>
            <a:ext cx="30817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해결</a:t>
            </a:r>
            <a:endParaRPr lang="en-US" sz="1200" dirty="0"/>
          </a:p>
        </p:txBody>
      </p:sp>
      <p:sp>
        <p:nvSpPr>
          <p:cNvPr id="47" name="의미"/>
          <p:cNvSpPr txBox="1"/>
          <p:nvPr/>
        </p:nvSpPr>
        <p:spPr>
          <a:xfrm>
            <a:off x="9601200" y="1975545"/>
            <a:ext cx="30817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의미</a:t>
            </a:r>
            <a:endParaRPr lang="en-US" sz="1200" dirty="0"/>
          </a:p>
        </p:txBody>
      </p:sp>
      <p:sp>
        <p:nvSpPr>
          <p:cNvPr id="48" name="01"/>
          <p:cNvSpPr txBox="1"/>
          <p:nvPr/>
        </p:nvSpPr>
        <p:spPr>
          <a:xfrm>
            <a:off x="812800" y="2619474"/>
            <a:ext cx="569416" cy="482600"/>
          </a:xfrm>
          <a:prstGeom prst="rect">
            <a:avLst/>
          </a:prstGeom>
          <a:noFill/>
          <a:ln/>
        </p:spPr>
        <p:txBody>
          <a:bodyPr wrap="none" lIns="0" tIns="0" rIns="0" bIns="0" rtlCol="0" anchor="ctr"/>
          <a:lstStyle/>
          <a:p>
            <a:pPr algn="l" indent="0" marL="0">
              <a:buNone/>
            </a:pPr>
            <a:r>
              <a:rPr lang="ko-KR" altLang="en-US" sz="3200" spc="-96" kern="0" dirty="0">
                <a:solidFill>
                  <a:srgbClr val="102A4C"/>
                </a:solidFill>
                <a:latin typeface="Pretendard ExtraBold" pitchFamily="34" charset="0"/>
                <a:ea typeface="Pretendard ExtraBold" pitchFamily="34" charset="-127"/>
                <a:cs typeface="Pretendard ExtraBold" pitchFamily="34" charset="-120"/>
              </a:rPr>
              <a:t>01</a:t>
            </a:r>
            <a:endParaRPr lang="en-US" sz="3200" dirty="0"/>
          </a:p>
        </p:txBody>
      </p:sp>
      <p:sp>
        <p:nvSpPr>
          <p:cNvPr id="49" name="연구 배경 및"/>
          <p:cNvSpPr txBox="1"/>
          <p:nvPr/>
        </p:nvSpPr>
        <p:spPr>
          <a:xfrm>
            <a:off x="812800" y="3444974"/>
            <a:ext cx="913523"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연구 배경 및</a:t>
            </a:r>
            <a:endParaRPr lang="en-US" sz="1500" dirty="0"/>
          </a:p>
        </p:txBody>
      </p:sp>
      <p:sp>
        <p:nvSpPr>
          <p:cNvPr id="50" name="문제 정의"/>
          <p:cNvSpPr txBox="1"/>
          <p:nvPr/>
        </p:nvSpPr>
        <p:spPr>
          <a:xfrm>
            <a:off x="812800" y="3696395"/>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문제 정의</a:t>
            </a:r>
            <a:endParaRPr lang="en-US" sz="1500" dirty="0"/>
          </a:p>
        </p:txBody>
      </p:sp>
      <p:sp>
        <p:nvSpPr>
          <p:cNvPr id="51" name="왜 이 연구가 필요한가"/>
          <p:cNvSpPr txBox="1"/>
          <p:nvPr/>
        </p:nvSpPr>
        <p:spPr>
          <a:xfrm>
            <a:off x="812800" y="4626074"/>
            <a:ext cx="1221782"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왜 이 연구가 필요한가</a:t>
            </a:r>
            <a:endParaRPr lang="en-US" sz="1100" dirty="0"/>
          </a:p>
        </p:txBody>
      </p:sp>
      <p:sp>
        <p:nvSpPr>
          <p:cNvPr id="52" name="02"/>
          <p:cNvSpPr txBox="1"/>
          <p:nvPr/>
        </p:nvSpPr>
        <p:spPr>
          <a:xfrm>
            <a:off x="2921000" y="2619474"/>
            <a:ext cx="569416" cy="482600"/>
          </a:xfrm>
          <a:prstGeom prst="rect">
            <a:avLst/>
          </a:prstGeom>
          <a:noFill/>
          <a:ln/>
        </p:spPr>
        <p:txBody>
          <a:bodyPr wrap="none" lIns="0" tIns="0" rIns="0" bIns="0" rtlCol="0" anchor="ctr"/>
          <a:lstStyle/>
          <a:p>
            <a:pPr algn="l" indent="0" marL="0">
              <a:buNone/>
            </a:pPr>
            <a:r>
              <a:rPr lang="ko-KR" altLang="en-US" sz="3200" spc="-96" kern="0" dirty="0">
                <a:solidFill>
                  <a:srgbClr val="102A4C"/>
                </a:solidFill>
                <a:latin typeface="Pretendard ExtraBold" pitchFamily="34" charset="0"/>
                <a:ea typeface="Pretendard ExtraBold" pitchFamily="34" charset="-127"/>
                <a:cs typeface="Pretendard ExtraBold" pitchFamily="34" charset="-120"/>
              </a:rPr>
              <a:t>02</a:t>
            </a:r>
            <a:endParaRPr lang="en-US" sz="3200" dirty="0"/>
          </a:p>
        </p:txBody>
      </p:sp>
      <p:sp>
        <p:nvSpPr>
          <p:cNvPr id="53" name="기존 연구 한계 및"/>
          <p:cNvSpPr txBox="1"/>
          <p:nvPr/>
        </p:nvSpPr>
        <p:spPr>
          <a:xfrm>
            <a:off x="2921000" y="3444974"/>
            <a:ext cx="1286462"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기존 연구 한계 및</a:t>
            </a:r>
            <a:endParaRPr lang="en-US" sz="1500" dirty="0"/>
          </a:p>
        </p:txBody>
      </p:sp>
      <p:sp>
        <p:nvSpPr>
          <p:cNvPr id="54" name="연구 목표"/>
          <p:cNvSpPr txBox="1"/>
          <p:nvPr/>
        </p:nvSpPr>
        <p:spPr>
          <a:xfrm>
            <a:off x="2921000" y="3696395"/>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연구 목표</a:t>
            </a:r>
            <a:endParaRPr lang="en-US" sz="1500" dirty="0"/>
          </a:p>
        </p:txBody>
      </p:sp>
      <p:sp>
        <p:nvSpPr>
          <p:cNvPr id="55" name="기존 연구로는 왜 안 되는가,"/>
          <p:cNvSpPr txBox="1"/>
          <p:nvPr/>
        </p:nvSpPr>
        <p:spPr>
          <a:xfrm>
            <a:off x="2921000" y="4626074"/>
            <a:ext cx="1542135"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기존 연구로는 왜 안 되는가,</a:t>
            </a:r>
            <a:endParaRPr lang="en-US" sz="1100" dirty="0"/>
          </a:p>
        </p:txBody>
      </p:sp>
      <p:sp>
        <p:nvSpPr>
          <p:cNvPr id="56" name="그래서 무엇을 목표로 했는가"/>
          <p:cNvSpPr txBox="1"/>
          <p:nvPr/>
        </p:nvSpPr>
        <p:spPr>
          <a:xfrm>
            <a:off x="2921000" y="4828580"/>
            <a:ext cx="1596825"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그래서 무엇을 목표로 했는가</a:t>
            </a:r>
            <a:endParaRPr lang="en-US" sz="1100" dirty="0"/>
          </a:p>
        </p:txBody>
      </p:sp>
      <p:sp>
        <p:nvSpPr>
          <p:cNvPr id="57" name="03"/>
          <p:cNvSpPr txBox="1"/>
          <p:nvPr/>
        </p:nvSpPr>
        <p:spPr>
          <a:xfrm>
            <a:off x="5308600" y="2619474"/>
            <a:ext cx="569416" cy="482600"/>
          </a:xfrm>
          <a:prstGeom prst="rect">
            <a:avLst/>
          </a:prstGeom>
          <a:noFill/>
          <a:ln/>
        </p:spPr>
        <p:txBody>
          <a:bodyPr wrap="none" lIns="0" tIns="0" rIns="0" bIns="0" rtlCol="0" anchor="ctr"/>
          <a:lstStyle/>
          <a:p>
            <a:pPr algn="l" indent="0" marL="0">
              <a:buNone/>
            </a:pPr>
            <a:r>
              <a:rPr lang="ko-KR" altLang="en-US" sz="3200" spc="-96" kern="0" dirty="0">
                <a:solidFill>
                  <a:srgbClr val="102A4C"/>
                </a:solidFill>
                <a:latin typeface="Pretendard ExtraBold" pitchFamily="34" charset="0"/>
                <a:ea typeface="Pretendard ExtraBold" pitchFamily="34" charset="-127"/>
                <a:cs typeface="Pretendard ExtraBold" pitchFamily="34" charset="-120"/>
              </a:rPr>
              <a:t>03</a:t>
            </a:r>
            <a:endParaRPr lang="en-US" sz="3200" dirty="0"/>
          </a:p>
        </p:txBody>
      </p:sp>
      <p:sp>
        <p:nvSpPr>
          <p:cNvPr id="58" name="연구 방법"/>
          <p:cNvSpPr txBox="1"/>
          <p:nvPr/>
        </p:nvSpPr>
        <p:spPr>
          <a:xfrm>
            <a:off x="5308600" y="3444974"/>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연구 방법</a:t>
            </a:r>
            <a:endParaRPr lang="en-US" sz="1500" dirty="0"/>
          </a:p>
        </p:txBody>
      </p:sp>
      <p:sp>
        <p:nvSpPr>
          <p:cNvPr id="59" name="어떻게 해결했는가"/>
          <p:cNvSpPr txBox="1"/>
          <p:nvPr/>
        </p:nvSpPr>
        <p:spPr>
          <a:xfrm>
            <a:off x="5308600" y="4626074"/>
            <a:ext cx="1032367"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어떻게 해결했는가</a:t>
            </a:r>
            <a:endParaRPr lang="en-US" sz="1100" dirty="0"/>
          </a:p>
        </p:txBody>
      </p:sp>
      <p:sp>
        <p:nvSpPr>
          <p:cNvPr id="60" name="04"/>
          <p:cNvSpPr txBox="1"/>
          <p:nvPr/>
        </p:nvSpPr>
        <p:spPr>
          <a:xfrm>
            <a:off x="7416800" y="2619474"/>
            <a:ext cx="569416" cy="482600"/>
          </a:xfrm>
          <a:prstGeom prst="rect">
            <a:avLst/>
          </a:prstGeom>
          <a:noFill/>
          <a:ln/>
        </p:spPr>
        <p:txBody>
          <a:bodyPr wrap="none" lIns="0" tIns="0" rIns="0" bIns="0" rtlCol="0" anchor="ctr"/>
          <a:lstStyle/>
          <a:p>
            <a:pPr algn="l" indent="0" marL="0">
              <a:buNone/>
            </a:pPr>
            <a:r>
              <a:rPr lang="ko-KR" altLang="en-US" sz="3200" spc="-96" kern="0" dirty="0">
                <a:solidFill>
                  <a:srgbClr val="102A4C"/>
                </a:solidFill>
                <a:latin typeface="Pretendard ExtraBold" pitchFamily="34" charset="0"/>
                <a:ea typeface="Pretendard ExtraBold" pitchFamily="34" charset="-127"/>
                <a:cs typeface="Pretendard ExtraBold" pitchFamily="34" charset="-120"/>
              </a:rPr>
              <a:t>04</a:t>
            </a:r>
            <a:endParaRPr lang="en-US" sz="3200" dirty="0"/>
          </a:p>
        </p:txBody>
      </p:sp>
      <p:sp>
        <p:nvSpPr>
          <p:cNvPr id="61" name="연구 결과 및 기여"/>
          <p:cNvSpPr txBox="1"/>
          <p:nvPr/>
        </p:nvSpPr>
        <p:spPr>
          <a:xfrm>
            <a:off x="7416800" y="3444974"/>
            <a:ext cx="1286462"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연구 결과 및 기여</a:t>
            </a:r>
            <a:endParaRPr lang="en-US" sz="1500" dirty="0"/>
          </a:p>
        </p:txBody>
      </p:sp>
      <p:sp>
        <p:nvSpPr>
          <p:cNvPr id="62" name="얼마나 잘 됐고,"/>
          <p:cNvSpPr txBox="1"/>
          <p:nvPr/>
        </p:nvSpPr>
        <p:spPr>
          <a:xfrm>
            <a:off x="7416800" y="4626074"/>
            <a:ext cx="855166"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얼마나 잘 됐고,</a:t>
            </a:r>
            <a:endParaRPr lang="en-US" sz="1100" dirty="0"/>
          </a:p>
        </p:txBody>
      </p:sp>
      <p:sp>
        <p:nvSpPr>
          <p:cNvPr id="63" name="어떤 의미가 있는가"/>
          <p:cNvSpPr txBox="1"/>
          <p:nvPr/>
        </p:nvSpPr>
        <p:spPr>
          <a:xfrm>
            <a:off x="7416800" y="4828580"/>
            <a:ext cx="1064550" cy="165100"/>
          </a:xfrm>
          <a:prstGeom prst="rect">
            <a:avLst/>
          </a:prstGeom>
          <a:noFill/>
          <a:ln/>
        </p:spPr>
        <p:txBody>
          <a:bodyPr wrap="none" lIns="0" tIns="0" rIns="0" bIns="0" rtlCol="0" anchor="ctr"/>
          <a:lstStyle/>
          <a:p>
            <a:pPr algn="l" indent="0" marL="0">
              <a:buNone/>
            </a:pPr>
            <a:r>
              <a:rPr lang="ko-KR" altLang="en-US" sz="1100" spc="-22" kern="0" dirty="0">
                <a:solidFill>
                  <a:srgbClr val="3F4654"/>
                </a:solidFill>
                <a:latin typeface="Pretendard SemiBold" pitchFamily="34" charset="0"/>
                <a:ea typeface="Pretendard SemiBold" pitchFamily="34" charset="-127"/>
                <a:cs typeface="Pretendard SemiBold" pitchFamily="34" charset="-120"/>
              </a:rPr>
              <a:t>어떤 의미가 있는가</a:t>
            </a:r>
            <a:endParaRPr lang="en-US" sz="1100" dirty="0"/>
          </a:p>
        </p:txBody>
      </p:sp>
      <p:sp>
        <p:nvSpPr>
          <p:cNvPr id="64" name="05"/>
          <p:cNvSpPr txBox="1"/>
          <p:nvPr/>
        </p:nvSpPr>
        <p:spPr>
          <a:xfrm>
            <a:off x="9804400" y="2619474"/>
            <a:ext cx="569416" cy="482600"/>
          </a:xfrm>
          <a:prstGeom prst="rect">
            <a:avLst/>
          </a:prstGeom>
          <a:noFill/>
          <a:ln/>
        </p:spPr>
        <p:txBody>
          <a:bodyPr wrap="none" lIns="0" tIns="0" rIns="0" bIns="0" rtlCol="0" anchor="ctr"/>
          <a:lstStyle/>
          <a:p>
            <a:pPr algn="l" indent="0" marL="0">
              <a:buNone/>
            </a:pPr>
            <a:r>
              <a:rPr lang="ko-KR" altLang="en-US" sz="3200" spc="-96" kern="0" dirty="0">
                <a:solidFill>
                  <a:srgbClr val="FFFFFF"/>
                </a:solidFill>
                <a:latin typeface="Pretendard ExtraBold" pitchFamily="34" charset="0"/>
                <a:ea typeface="Pretendard ExtraBold" pitchFamily="34" charset="-127"/>
                <a:cs typeface="Pretendard ExtraBold" pitchFamily="34" charset="-120"/>
              </a:rPr>
              <a:t>05</a:t>
            </a:r>
            <a:endParaRPr lang="en-US" sz="3200" dirty="0"/>
          </a:p>
        </p:txBody>
      </p:sp>
      <p:sp>
        <p:nvSpPr>
          <p:cNvPr id="65" name="Utility 기술"/>
          <p:cNvSpPr txBox="1"/>
          <p:nvPr/>
        </p:nvSpPr>
        <p:spPr>
          <a:xfrm>
            <a:off x="9804400" y="3444974"/>
            <a:ext cx="899220" cy="228600"/>
          </a:xfrm>
          <a:prstGeom prst="rect">
            <a:avLst/>
          </a:prstGeom>
          <a:noFill/>
          <a:ln/>
        </p:spPr>
        <p:txBody>
          <a:bodyPr wrap="none" lIns="0" tIns="0" rIns="0" bIns="0" rtlCol="0" anchor="ctr"/>
          <a:lstStyle/>
          <a:p>
            <a:pPr algn="l" indent="0" marL="0">
              <a:buNone/>
            </a:pPr>
            <a:r>
              <a:rPr lang="ko-KR" altLang="en-US" sz="1500" spc="-53" kern="0" dirty="0">
                <a:solidFill>
                  <a:srgbClr val="FFFFFF"/>
                </a:solidFill>
                <a:latin typeface="Pretendard ExtraBold" pitchFamily="34" charset="0"/>
                <a:ea typeface="Pretendard ExtraBold" pitchFamily="34" charset="-127"/>
                <a:cs typeface="Pretendard ExtraBold" pitchFamily="34" charset="-120"/>
              </a:rPr>
              <a:t>Utility 기술</a:t>
            </a:r>
            <a:endParaRPr lang="en-US" sz="1500" dirty="0"/>
          </a:p>
        </p:txBody>
      </p:sp>
      <p:sp>
        <p:nvSpPr>
          <p:cNvPr id="66" name="(건축, BIM/5D)"/>
          <p:cNvSpPr txBox="1"/>
          <p:nvPr/>
        </p:nvSpPr>
        <p:spPr>
          <a:xfrm>
            <a:off x="9804400" y="3696395"/>
            <a:ext cx="1238820" cy="228600"/>
          </a:xfrm>
          <a:prstGeom prst="rect">
            <a:avLst/>
          </a:prstGeom>
          <a:noFill/>
          <a:ln/>
        </p:spPr>
        <p:txBody>
          <a:bodyPr wrap="none" lIns="0" tIns="0" rIns="0" bIns="0" rtlCol="0" anchor="ctr"/>
          <a:lstStyle/>
          <a:p>
            <a:pPr algn="l" indent="0" marL="0">
              <a:buNone/>
            </a:pPr>
            <a:r>
              <a:rPr lang="ko-KR" altLang="en-US" sz="1500" spc="-53" kern="0" dirty="0">
                <a:solidFill>
                  <a:srgbClr val="FFFFFF"/>
                </a:solidFill>
                <a:latin typeface="Pretendard ExtraBold" pitchFamily="34" charset="0"/>
                <a:ea typeface="Pretendard ExtraBold" pitchFamily="34" charset="-127"/>
                <a:cs typeface="Pretendard ExtraBold" pitchFamily="34" charset="-120"/>
              </a:rPr>
              <a:t>(건축, BIM/5D)</a:t>
            </a:r>
            <a:endParaRPr lang="en-US" sz="1500" dirty="0"/>
          </a:p>
        </p:txBody>
      </p:sp>
      <p:sp>
        <p:nvSpPr>
          <p:cNvPr id="67" name="직무와의 연관성"/>
          <p:cNvSpPr txBox="1"/>
          <p:nvPr/>
        </p:nvSpPr>
        <p:spPr>
          <a:xfrm>
            <a:off x="9804400" y="3947815"/>
            <a:ext cx="1210318" cy="228600"/>
          </a:xfrm>
          <a:prstGeom prst="rect">
            <a:avLst/>
          </a:prstGeom>
          <a:noFill/>
          <a:ln/>
        </p:spPr>
        <p:txBody>
          <a:bodyPr wrap="none" lIns="0" tIns="0" rIns="0" bIns="0" rtlCol="0" anchor="ctr"/>
          <a:lstStyle/>
          <a:p>
            <a:pPr algn="l" indent="0" marL="0">
              <a:buNone/>
            </a:pPr>
            <a:r>
              <a:rPr lang="ko-KR" altLang="en-US" sz="1500" spc="-53" kern="0" dirty="0">
                <a:solidFill>
                  <a:srgbClr val="FFFFFF"/>
                </a:solidFill>
                <a:latin typeface="Pretendard ExtraBold" pitchFamily="34" charset="0"/>
                <a:ea typeface="Pretendard ExtraBold" pitchFamily="34" charset="-127"/>
                <a:cs typeface="Pretendard ExtraBold" pitchFamily="34" charset="-120"/>
              </a:rPr>
              <a:t>직무와의 연관성</a:t>
            </a:r>
            <a:endParaRPr lang="en-US" sz="1500" dirty="0"/>
          </a:p>
        </p:txBody>
      </p:sp>
      <p:sp>
        <p:nvSpPr>
          <p:cNvPr id="68" name="SK하이닉스 직무에서"/>
          <p:cNvSpPr txBox="1"/>
          <p:nvPr/>
        </p:nvSpPr>
        <p:spPr>
          <a:xfrm>
            <a:off x="9804400" y="4626074"/>
            <a:ext cx="1214735" cy="165100"/>
          </a:xfrm>
          <a:prstGeom prst="rect">
            <a:avLst/>
          </a:prstGeom>
          <a:noFill/>
          <a:ln/>
        </p:spPr>
        <p:txBody>
          <a:bodyPr wrap="none" lIns="0" tIns="0" rIns="0" bIns="0" rtlCol="0" anchor="ctr"/>
          <a:lstStyle/>
          <a:p>
            <a:pPr algn="l" indent="0" marL="0">
              <a:buNone/>
            </a:pPr>
            <a:r>
              <a:rPr lang="ko-KR" altLang="en-US" sz="1100" spc="-22" kern="0" dirty="0">
                <a:solidFill>
                  <a:srgbClr val="E3E9F2"/>
                </a:solidFill>
                <a:latin typeface="Pretendard SemiBold" pitchFamily="34" charset="0"/>
                <a:ea typeface="Pretendard SemiBold" pitchFamily="34" charset="-127"/>
                <a:cs typeface="Pretendard SemiBold" pitchFamily="34" charset="-120"/>
              </a:rPr>
              <a:t>SK하이닉스 직무에서</a:t>
            </a:r>
            <a:endParaRPr lang="en-US" sz="1100" dirty="0"/>
          </a:p>
        </p:txBody>
      </p:sp>
      <p:sp>
        <p:nvSpPr>
          <p:cNvPr id="69" name="왜 중요한가"/>
          <p:cNvSpPr txBox="1"/>
          <p:nvPr/>
        </p:nvSpPr>
        <p:spPr>
          <a:xfrm>
            <a:off x="9804400" y="4828580"/>
            <a:ext cx="670917" cy="165100"/>
          </a:xfrm>
          <a:prstGeom prst="rect">
            <a:avLst/>
          </a:prstGeom>
          <a:noFill/>
          <a:ln/>
        </p:spPr>
        <p:txBody>
          <a:bodyPr wrap="none" lIns="0" tIns="0" rIns="0" bIns="0" rtlCol="0" anchor="ctr"/>
          <a:lstStyle/>
          <a:p>
            <a:pPr algn="l" indent="0" marL="0">
              <a:buNone/>
            </a:pPr>
            <a:r>
              <a:rPr lang="ko-KR" altLang="en-US" sz="1100" spc="-22" kern="0" dirty="0">
                <a:solidFill>
                  <a:srgbClr val="E3E9F2"/>
                </a:solidFill>
                <a:latin typeface="Pretendard SemiBold" pitchFamily="34" charset="0"/>
                <a:ea typeface="Pretendard SemiBold" pitchFamily="34" charset="-127"/>
                <a:cs typeface="Pretendard SemiBold" pitchFamily="34" charset="-120"/>
              </a:rPr>
              <a:t>왜 중요한가</a:t>
            </a:r>
            <a:endParaRPr lang="en-US" sz="1100" dirty="0"/>
          </a:p>
        </p:txBody>
      </p:sp>
      <p:sp>
        <p:nvSpPr>
          <p:cNvPr id="70"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71" name="02 / 12"/>
          <p:cNvSpPr txBox="1"/>
          <p:nvPr/>
        </p:nvSpPr>
        <p:spPr>
          <a:xfrm>
            <a:off x="11238012" y="6472238"/>
            <a:ext cx="395188"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02</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962150"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on"/>
          <p:cNvSpPr/>
          <p:nvPr/>
        </p:nvSpPr>
        <p:spPr>
          <a:xfrm>
            <a:off x="99695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5" name="i"/>
          <p:cNvSpPr/>
          <p:nvPr/>
        </p:nvSpPr>
        <p:spPr>
          <a:xfrm>
            <a:off x="102997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612775" y="16418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s3-colhd::after"/>
          <p:cNvSpPr/>
          <p:nvPr/>
        </p:nvSpPr>
        <p:spPr>
          <a:xfrm>
            <a:off x="3159125" y="1746647"/>
            <a:ext cx="2632075"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chip tint"/>
          <p:cNvSpPr/>
          <p:nvPr/>
        </p:nvSpPr>
        <p:spPr>
          <a:xfrm>
            <a:off x="6099175" y="16418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2" name="s3-colhd::after"/>
          <p:cNvSpPr/>
          <p:nvPr/>
        </p:nvSpPr>
        <p:spPr>
          <a:xfrm>
            <a:off x="8917087" y="1746647"/>
            <a:ext cx="2665313"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card s3-card"/>
          <p:cNvSpPr/>
          <p:nvPr/>
        </p:nvSpPr>
        <p:spPr>
          <a:xfrm>
            <a:off x="609600" y="2045097"/>
            <a:ext cx="5181600" cy="1981200"/>
          </a:xfrm>
          <a:prstGeom prst="roundRect">
            <a:avLst>
              <a:gd name="adj" fmla="val 6410"/>
            </a:avLst>
          </a:prstGeom>
          <a:solidFill>
            <a:srgbClr val="F3F5F8"/>
          </a:solidFill>
          <a:ln>
            <a:noFill/>
          </a:ln>
        </p:spPr>
        <p:txBody>
          <a:bodyPr rtlCol="0" anchor="ctr"/>
          <a:lstStyle/>
          <a:p>
            <a:pPr algn="ctr"/>
            <a:endParaRPr lang="ko-KR" dirty="0"/>
          </a:p>
        </p:txBody>
      </p:sp>
      <p:sp>
        <p:nvSpPr>
          <p:cNvPr id="14" name="svg line"/>
          <p:cNvSpPr/>
          <p:nvPr/>
        </p:nvSpPr>
        <p:spPr>
          <a:xfrm>
            <a:off x="850900" y="3226197"/>
            <a:ext cx="4648200" cy="1"/>
          </a:xfrm>
          <a:custGeom>
            <a:avLst/>
            <a:gdLst/>
            <a:ahLst/>
            <a:cxnLst/>
            <a:rect l="0" t="0" r="r" b="b"/>
            <a:pathLst>
              <a:path w="4648200" h="1">
                <a:moveTo>
                  <a:pt x="0" y="0"/>
                </a:moveTo>
                <a:lnTo>
                  <a:pt x="4648200" y="0"/>
                </a:lnTo>
              </a:path>
            </a:pathLst>
          </a:custGeom>
          <a:solidFill>
            <a:srgbClr val="000000"/>
          </a:solidFill>
          <a:ln w="12700">
            <a:solidFill>
              <a:srgbClr val="C8CFD8"/>
            </a:solidFill>
            <a:miter lim="800000"/>
          </a:ln>
        </p:spPr>
        <p:txBody>
          <a:bodyPr rtlCol="0" anchor="ctr"/>
          <a:lstStyle/>
          <a:p>
            <a:pPr algn="ctr"/>
            <a:endParaRPr lang="ko-KR" dirty="0"/>
          </a:p>
        </p:txBody>
      </p:sp>
      <p:sp>
        <p:nvSpPr>
          <p:cNvPr id="15" name="svg polygon"/>
          <p:cNvSpPr/>
          <p:nvPr/>
        </p:nvSpPr>
        <p:spPr>
          <a:xfrm>
            <a:off x="5499100" y="3194447"/>
            <a:ext cx="63500" cy="63500"/>
          </a:xfrm>
          <a:custGeom>
            <a:avLst/>
            <a:gdLst/>
            <a:ahLst/>
            <a:cxnLst/>
            <a:rect l="0" t="0" r="r" b="b"/>
            <a:pathLst>
              <a:path w="63500" h="63500" stroke="0">
                <a:moveTo>
                  <a:pt x="63500" y="31750"/>
                </a:moveTo>
                <a:lnTo>
                  <a:pt x="0" y="0"/>
                </a:lnTo>
                <a:lnTo>
                  <a:pt x="0" y="63500"/>
                </a:lnTo>
                <a:close/>
              </a:path>
            </a:pathLst>
          </a:custGeom>
          <a:solidFill>
            <a:srgbClr val="C8CFD8"/>
          </a:solidFill>
          <a:ln>
            <a:noFill/>
          </a:ln>
        </p:spPr>
        <p:txBody>
          <a:bodyPr rtlCol="0" anchor="ctr"/>
          <a:lstStyle/>
          <a:p>
            <a:pPr algn="ctr"/>
            <a:endParaRPr lang="ko-KR" dirty="0"/>
          </a:p>
        </p:txBody>
      </p:sp>
      <p:sp>
        <p:nvSpPr>
          <p:cNvPr id="16" name="svg circle"/>
          <p:cNvSpPr/>
          <p:nvPr/>
        </p:nvSpPr>
        <p:spPr>
          <a:xfrm>
            <a:off x="812800" y="3188097"/>
            <a:ext cx="76200" cy="76200"/>
          </a:xfrm>
          <a:prstGeom prst="ellipse">
            <a:avLst/>
          </a:prstGeom>
          <a:solidFill>
            <a:srgbClr val="2B4A78"/>
          </a:solidFill>
          <a:ln>
            <a:noFill/>
          </a:ln>
        </p:spPr>
        <p:txBody>
          <a:bodyPr rtlCol="0" anchor="ctr"/>
          <a:lstStyle/>
          <a:p>
            <a:pPr algn="ctr"/>
            <a:endParaRPr lang="ko-KR" dirty="0"/>
          </a:p>
        </p:txBody>
      </p:sp>
      <p:sp>
        <p:nvSpPr>
          <p:cNvPr id="17" name="svg circle"/>
          <p:cNvSpPr/>
          <p:nvPr/>
        </p:nvSpPr>
        <p:spPr>
          <a:xfrm>
            <a:off x="1524000" y="3188097"/>
            <a:ext cx="76200" cy="76200"/>
          </a:xfrm>
          <a:prstGeom prst="ellipse">
            <a:avLst/>
          </a:prstGeom>
          <a:solidFill>
            <a:srgbClr val="2B4A78"/>
          </a:solidFill>
          <a:ln>
            <a:noFill/>
          </a:ln>
        </p:spPr>
        <p:txBody>
          <a:bodyPr rtlCol="0" anchor="ctr"/>
          <a:lstStyle/>
          <a:p>
            <a:pPr algn="ctr"/>
            <a:endParaRPr lang="ko-KR" dirty="0"/>
          </a:p>
        </p:txBody>
      </p:sp>
      <p:sp>
        <p:nvSpPr>
          <p:cNvPr id="18" name="svg circle"/>
          <p:cNvSpPr/>
          <p:nvPr/>
        </p:nvSpPr>
        <p:spPr>
          <a:xfrm>
            <a:off x="2387600" y="3188097"/>
            <a:ext cx="76200" cy="76200"/>
          </a:xfrm>
          <a:prstGeom prst="ellipse">
            <a:avLst/>
          </a:prstGeom>
          <a:solidFill>
            <a:srgbClr val="2B4A78"/>
          </a:solidFill>
          <a:ln>
            <a:noFill/>
          </a:ln>
        </p:spPr>
        <p:txBody>
          <a:bodyPr rtlCol="0" anchor="ctr"/>
          <a:lstStyle/>
          <a:p>
            <a:pPr algn="ctr"/>
            <a:endParaRPr lang="ko-KR" dirty="0"/>
          </a:p>
        </p:txBody>
      </p:sp>
      <p:sp>
        <p:nvSpPr>
          <p:cNvPr id="19" name="svg circle"/>
          <p:cNvSpPr/>
          <p:nvPr/>
        </p:nvSpPr>
        <p:spPr>
          <a:xfrm>
            <a:off x="3454400" y="3188097"/>
            <a:ext cx="76200" cy="76200"/>
          </a:xfrm>
          <a:prstGeom prst="ellipse">
            <a:avLst/>
          </a:prstGeom>
          <a:solidFill>
            <a:srgbClr val="2B4A78"/>
          </a:solidFill>
          <a:ln>
            <a:noFill/>
          </a:ln>
        </p:spPr>
        <p:txBody>
          <a:bodyPr rtlCol="0" anchor="ctr"/>
          <a:lstStyle/>
          <a:p>
            <a:pPr algn="ctr"/>
            <a:endParaRPr lang="ko-KR" dirty="0"/>
          </a:p>
        </p:txBody>
      </p:sp>
      <p:sp>
        <p:nvSpPr>
          <p:cNvPr id="20" name="svg circle"/>
          <p:cNvSpPr/>
          <p:nvPr/>
        </p:nvSpPr>
        <p:spPr>
          <a:xfrm>
            <a:off x="4521200" y="3188097"/>
            <a:ext cx="76200" cy="76200"/>
          </a:xfrm>
          <a:prstGeom prst="ellipse">
            <a:avLst/>
          </a:prstGeom>
          <a:solidFill>
            <a:srgbClr val="2B4A78"/>
          </a:solidFill>
          <a:ln>
            <a:noFill/>
          </a:ln>
        </p:spPr>
        <p:txBody>
          <a:bodyPr rtlCol="0" anchor="ctr"/>
          <a:lstStyle/>
          <a:p>
            <a:pPr algn="ctr"/>
            <a:endParaRPr lang="ko-KR" dirty="0"/>
          </a:p>
        </p:txBody>
      </p:sp>
      <p:sp>
        <p:nvSpPr>
          <p:cNvPr id="21" name="svg path"/>
          <p:cNvSpPr/>
          <p:nvPr/>
        </p:nvSpPr>
        <p:spPr>
          <a:xfrm>
            <a:off x="812800" y="3365897"/>
            <a:ext cx="2641600" cy="457200"/>
          </a:xfrm>
          <a:custGeom>
            <a:avLst/>
            <a:gdLst/>
            <a:ahLst/>
            <a:cxnLst/>
            <a:rect l="0" t="0" r="r" b="b"/>
            <a:pathLst>
              <a:path w="2641600" h="457200" stroke="0">
                <a:moveTo>
                  <a:pt x="76200" y="0"/>
                </a:moveTo>
                <a:lnTo>
                  <a:pt x="2552700" y="0"/>
                </a:lnTo>
                <a:lnTo>
                  <a:pt x="2641600" y="228600"/>
                </a:lnTo>
                <a:lnTo>
                  <a:pt x="2552700" y="457200"/>
                </a:lnTo>
                <a:lnTo>
                  <a:pt x="76200" y="457200"/>
                </a:lnTo>
                <a:quadBezTo>
                  <a:pt x="0" y="457200"/>
                  <a:pt x="0" y="381000"/>
                </a:quadBezTo>
                <a:lnTo>
                  <a:pt x="0" y="76200"/>
                </a:lnTo>
                <a:quadBezTo>
                  <a:pt x="0" y="0"/>
                  <a:pt x="76200" y="0"/>
                </a:quadBezTo>
                <a:close/>
              </a:path>
            </a:pathLst>
          </a:custGeom>
          <a:solidFill>
            <a:srgbClr val="E1E6EC"/>
          </a:solidFill>
          <a:ln>
            <a:noFill/>
          </a:ln>
        </p:spPr>
        <p:txBody>
          <a:bodyPr rtlCol="0" anchor="ctr"/>
          <a:lstStyle/>
          <a:p>
            <a:pPr algn="ctr"/>
            <a:endParaRPr lang="ko-KR" dirty="0"/>
          </a:p>
        </p:txBody>
      </p:sp>
      <p:sp>
        <p:nvSpPr>
          <p:cNvPr id="22" name="svg path"/>
          <p:cNvSpPr/>
          <p:nvPr/>
        </p:nvSpPr>
        <p:spPr>
          <a:xfrm>
            <a:off x="3403600" y="3365897"/>
            <a:ext cx="1117600" cy="457200"/>
          </a:xfrm>
          <a:custGeom>
            <a:avLst/>
            <a:gdLst/>
            <a:ahLst/>
            <a:cxnLst/>
            <a:rect l="0" t="0" r="r" b="b"/>
            <a:pathLst>
              <a:path w="1117600" h="457200" stroke="0">
                <a:moveTo>
                  <a:pt x="0" y="0"/>
                </a:moveTo>
                <a:lnTo>
                  <a:pt x="1028700" y="0"/>
                </a:lnTo>
                <a:lnTo>
                  <a:pt x="1117600" y="228600"/>
                </a:lnTo>
                <a:lnTo>
                  <a:pt x="1028700" y="457200"/>
                </a:lnTo>
                <a:lnTo>
                  <a:pt x="0" y="457200"/>
                </a:lnTo>
                <a:lnTo>
                  <a:pt x="88900" y="228600"/>
                </a:lnTo>
                <a:close/>
              </a:path>
            </a:pathLst>
          </a:custGeom>
          <a:solidFill>
            <a:srgbClr val="BFC9D7"/>
          </a:solidFill>
          <a:ln>
            <a:noFill/>
          </a:ln>
        </p:spPr>
        <p:txBody>
          <a:bodyPr rtlCol="0" anchor="ctr"/>
          <a:lstStyle/>
          <a:p>
            <a:pPr algn="ctr"/>
            <a:endParaRPr lang="ko-KR" dirty="0"/>
          </a:p>
        </p:txBody>
      </p:sp>
      <p:sp>
        <p:nvSpPr>
          <p:cNvPr id="23" name="svg path"/>
          <p:cNvSpPr/>
          <p:nvPr/>
        </p:nvSpPr>
        <p:spPr>
          <a:xfrm>
            <a:off x="4470400" y="3365897"/>
            <a:ext cx="1117600" cy="457200"/>
          </a:xfrm>
          <a:custGeom>
            <a:avLst/>
            <a:gdLst/>
            <a:ahLst/>
            <a:cxnLst/>
            <a:rect l="0" t="0" r="r" b="b"/>
            <a:pathLst>
              <a:path w="1117600" h="457200" stroke="0">
                <a:moveTo>
                  <a:pt x="0" y="0"/>
                </a:moveTo>
                <a:lnTo>
                  <a:pt x="1041400" y="0"/>
                </a:lnTo>
                <a:quadBezTo>
                  <a:pt x="1117600" y="0"/>
                  <a:pt x="1117600" y="76200"/>
                </a:quadBezTo>
                <a:lnTo>
                  <a:pt x="1117600" y="381000"/>
                </a:lnTo>
                <a:quadBezTo>
                  <a:pt x="1117600" y="457200"/>
                  <a:pt x="1041400" y="457200"/>
                </a:quadBezTo>
                <a:lnTo>
                  <a:pt x="0" y="457200"/>
                </a:lnTo>
                <a:lnTo>
                  <a:pt x="88900" y="228600"/>
                </a:lnTo>
                <a:close/>
              </a:path>
            </a:pathLst>
          </a:custGeom>
          <a:solidFill>
            <a:srgbClr val="2B4A78"/>
          </a:solidFill>
          <a:ln>
            <a:noFill/>
          </a:ln>
        </p:spPr>
        <p:txBody>
          <a:bodyPr rtlCol="0" anchor="ctr"/>
          <a:lstStyle/>
          <a:p>
            <a:pPr algn="ctr"/>
            <a:endParaRPr lang="ko-KR" dirty="0"/>
          </a:p>
        </p:txBody>
      </p:sp>
      <p:sp>
        <p:nvSpPr>
          <p:cNvPr id="24" name="card s3-card s3-real"/>
          <p:cNvSpPr/>
          <p:nvPr/>
        </p:nvSpPr>
        <p:spPr>
          <a:xfrm>
            <a:off x="6096000" y="2045097"/>
            <a:ext cx="5486400" cy="1981200"/>
          </a:xfrm>
          <a:prstGeom prst="roundRect">
            <a:avLst>
              <a:gd name="adj" fmla="val 6410"/>
            </a:avLst>
          </a:prstGeom>
          <a:solidFill>
            <a:srgbClr val="F3F5F8"/>
          </a:solidFill>
          <a:ln>
            <a:noFill/>
          </a:ln>
        </p:spPr>
        <p:txBody>
          <a:bodyPr rtlCol="0" anchor="ctr"/>
          <a:lstStyle/>
          <a:p>
            <a:pPr algn="ctr"/>
            <a:endParaRPr lang="ko-KR" dirty="0"/>
          </a:p>
        </p:txBody>
      </p:sp>
      <p:sp>
        <p:nvSpPr>
          <p:cNvPr id="25" name="no"/>
          <p:cNvSpPr/>
          <p:nvPr/>
        </p:nvSpPr>
        <p:spPr>
          <a:xfrm>
            <a:off x="6299200" y="2248297"/>
            <a:ext cx="254000" cy="254000"/>
          </a:xfrm>
          <a:prstGeom prst="ellipse">
            <a:avLst/>
          </a:prstGeom>
          <a:solidFill>
            <a:srgbClr val="102A4C"/>
          </a:solidFill>
          <a:ln>
            <a:noFill/>
          </a:ln>
        </p:spPr>
        <p:txBody>
          <a:bodyPr rtlCol="0" anchor="ctr"/>
          <a:lstStyle/>
          <a:p>
            <a:pPr algn="ctr"/>
            <a:endParaRPr lang="ko-KR" dirty="0"/>
          </a:p>
        </p:txBody>
      </p:sp>
      <p:sp>
        <p:nvSpPr>
          <p:cNvPr id="26" name="s3-so 선"/>
          <p:cNvSpPr/>
          <p:nvPr/>
        </p:nvSpPr>
        <p:spPr>
          <a:xfrm>
            <a:off x="6302375" y="3102372"/>
            <a:ext cx="1974850" cy="1"/>
          </a:xfrm>
          <a:custGeom>
            <a:avLst/>
            <a:gdLst/>
            <a:ahLst/>
            <a:cxnLst/>
            <a:rect l="0" t="0" r="r" b="b"/>
            <a:pathLst>
              <a:path w="1974850" h="1" fill="none">
                <a:moveTo>
                  <a:pt x="0" y="0"/>
                </a:moveTo>
                <a:lnTo>
                  <a:pt x="1974850" y="0"/>
                </a:lnTo>
              </a:path>
            </a:pathLst>
          </a:custGeom>
          <a:noFill/>
          <a:ln w="6350">
            <a:solidFill>
              <a:srgbClr val="C8CFD8"/>
            </a:solidFill>
            <a:round/>
          </a:ln>
        </p:spPr>
        <p:txBody>
          <a:bodyPr rtlCol="0" anchor="ctr"/>
          <a:lstStyle/>
          <a:p>
            <a:pPr algn="ctr"/>
            <a:endParaRPr lang="ko-KR" dirty="0"/>
          </a:p>
        </p:txBody>
      </p:sp>
      <p:sp>
        <p:nvSpPr>
          <p:cNvPr id="27" name="svg path"/>
          <p:cNvSpPr/>
          <p:nvPr/>
        </p:nvSpPr>
        <p:spPr>
          <a:xfrm>
            <a:off x="6318250" y="3264297"/>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28" name="svg path"/>
          <p:cNvSpPr/>
          <p:nvPr/>
        </p:nvSpPr>
        <p:spPr>
          <a:xfrm>
            <a:off x="8585200" y="2463562"/>
            <a:ext cx="2641600" cy="829310"/>
          </a:xfrm>
          <a:custGeom>
            <a:avLst/>
            <a:gdLst/>
            <a:ahLst/>
            <a:cxnLst/>
            <a:rect l="0" t="0" r="r" b="b"/>
            <a:pathLst>
              <a:path w="2641600" h="829310" stroke="0">
                <a:moveTo>
                  <a:pt x="0" y="457200"/>
                </a:moveTo>
                <a:cubicBezTo>
                  <a:pt x="36830" y="403860"/>
                  <a:pt x="140970" y="208915"/>
                  <a:pt x="222250" y="135255"/>
                </a:cubicBezTo>
                <a:cubicBezTo>
                  <a:pt x="303530" y="62230"/>
                  <a:pt x="392430" y="0"/>
                  <a:pt x="488315" y="16510"/>
                </a:cubicBezTo>
                <a:cubicBezTo>
                  <a:pt x="584200" y="33020"/>
                  <a:pt x="702310" y="149225"/>
                  <a:pt x="798830" y="234950"/>
                </a:cubicBezTo>
                <a:cubicBezTo>
                  <a:pt x="894715" y="320675"/>
                  <a:pt x="980440" y="467360"/>
                  <a:pt x="1065530" y="532130"/>
                </a:cubicBezTo>
                <a:cubicBezTo>
                  <a:pt x="1150620" y="596265"/>
                  <a:pt x="1224915" y="612775"/>
                  <a:pt x="1310005" y="623570"/>
                </a:cubicBezTo>
                <a:cubicBezTo>
                  <a:pt x="1395095" y="633730"/>
                  <a:pt x="1483360" y="601345"/>
                  <a:pt x="1576070" y="593725"/>
                </a:cubicBezTo>
                <a:cubicBezTo>
                  <a:pt x="1668780" y="586105"/>
                  <a:pt x="1760855" y="568325"/>
                  <a:pt x="1864360" y="576580"/>
                </a:cubicBezTo>
                <a:cubicBezTo>
                  <a:pt x="1967865" y="584835"/>
                  <a:pt x="2068195" y="610235"/>
                  <a:pt x="2197735" y="643255"/>
                </a:cubicBezTo>
                <a:cubicBezTo>
                  <a:pt x="2327275" y="676275"/>
                  <a:pt x="2567940" y="752475"/>
                  <a:pt x="2641600" y="774700"/>
                </a:cubicBezTo>
                <a:lnTo>
                  <a:pt x="2641600" y="829310"/>
                </a:lnTo>
                <a:cubicBezTo>
                  <a:pt x="2567940" y="801370"/>
                  <a:pt x="2327275" y="699770"/>
                  <a:pt x="2197735" y="660400"/>
                </a:cubicBezTo>
                <a:cubicBezTo>
                  <a:pt x="2068195" y="621030"/>
                  <a:pt x="1967865" y="594995"/>
                  <a:pt x="1864360" y="593725"/>
                </a:cubicBezTo>
                <a:cubicBezTo>
                  <a:pt x="1760855" y="593090"/>
                  <a:pt x="1668780" y="633730"/>
                  <a:pt x="1576070" y="655320"/>
                </a:cubicBezTo>
                <a:cubicBezTo>
                  <a:pt x="1483360" y="677545"/>
                  <a:pt x="1409700" y="746760"/>
                  <a:pt x="1310005" y="725170"/>
                </a:cubicBezTo>
                <a:cubicBezTo>
                  <a:pt x="1210310" y="703580"/>
                  <a:pt x="1083945" y="570230"/>
                  <a:pt x="976630" y="527050"/>
                </a:cubicBezTo>
                <a:cubicBezTo>
                  <a:pt x="869315" y="483235"/>
                  <a:pt x="773430" y="451485"/>
                  <a:pt x="666115" y="462280"/>
                </a:cubicBezTo>
                <a:cubicBezTo>
                  <a:pt x="558800" y="473075"/>
                  <a:pt x="443865" y="532130"/>
                  <a:pt x="332740" y="593725"/>
                </a:cubicBezTo>
                <a:cubicBezTo>
                  <a:pt x="221615" y="654685"/>
                  <a:pt x="55245" y="789940"/>
                  <a:pt x="0" y="829310"/>
                </a:cubicBezTo>
                <a:close/>
              </a:path>
            </a:pathLst>
          </a:custGeom>
          <a:gradFill rotWithShape="1">
            <a:gsLst>
              <a:gs pos="1668">
                <a:srgbClr val="2B4A78">
                  <a:alpha val="32000"/>
                </a:srgbClr>
              </a:gs>
              <a:gs pos="100000">
                <a:srgbClr val="2B4A78">
                  <a:alpha val="10000"/>
                </a:srgbClr>
              </a:gs>
            </a:gsLst>
            <a:lin ang="5400000" scaled="0"/>
          </a:gradFill>
          <a:ln>
            <a:noFill/>
          </a:ln>
        </p:spPr>
        <p:txBody>
          <a:bodyPr rtlCol="0" anchor="ctr"/>
          <a:lstStyle/>
          <a:p>
            <a:pPr algn="ctr"/>
            <a:endParaRPr lang="ko-KR" dirty="0"/>
          </a:p>
        </p:txBody>
      </p:sp>
      <p:sp>
        <p:nvSpPr>
          <p:cNvPr id="29" name="svg line"/>
          <p:cNvSpPr/>
          <p:nvPr/>
        </p:nvSpPr>
        <p:spPr>
          <a:xfrm>
            <a:off x="9895205" y="3207147"/>
            <a:ext cx="1" cy="209550"/>
          </a:xfrm>
          <a:custGeom>
            <a:avLst/>
            <a:gdLst/>
            <a:ahLst/>
            <a:cxnLst/>
            <a:rect l="0" t="0" r="r" b="b"/>
            <a:pathLst>
              <a:path w="1" h="209550">
                <a:moveTo>
                  <a:pt x="0" y="209550"/>
                </a:moveTo>
                <a:lnTo>
                  <a:pt x="0" y="0"/>
                </a:lnTo>
              </a:path>
            </a:pathLst>
          </a:custGeom>
          <a:solidFill>
            <a:srgbClr val="000000"/>
          </a:solidFill>
          <a:ln w="12700">
            <a:solidFill>
              <a:srgbClr val="8D96A3"/>
            </a:solidFill>
            <a:custDash>
              <a:ds d="250000" sp="250000"/>
            </a:custDash>
            <a:miter lim="800000"/>
          </a:ln>
        </p:spPr>
        <p:txBody>
          <a:bodyPr rtlCol="0" anchor="ctr"/>
          <a:lstStyle/>
          <a:p>
            <a:pPr algn="ctr"/>
            <a:endParaRPr lang="ko-KR" dirty="0"/>
          </a:p>
        </p:txBody>
      </p:sp>
      <p:sp>
        <p:nvSpPr>
          <p:cNvPr id="30" name="svg path"/>
          <p:cNvSpPr/>
          <p:nvPr/>
        </p:nvSpPr>
        <p:spPr>
          <a:xfrm>
            <a:off x="8585200" y="2915047"/>
            <a:ext cx="2641600" cy="377825"/>
          </a:xfrm>
          <a:custGeom>
            <a:avLst/>
            <a:gdLst/>
            <a:ahLst/>
            <a:cxnLst/>
            <a:rect l="0" t="0" r="r" b="b"/>
            <a:pathLst>
              <a:path w="2641600" h="377825" fill="none">
                <a:moveTo>
                  <a:pt x="0" y="377825"/>
                </a:moveTo>
                <a:cubicBezTo>
                  <a:pt x="55245" y="338455"/>
                  <a:pt x="221615" y="203200"/>
                  <a:pt x="332740" y="142240"/>
                </a:cubicBezTo>
                <a:cubicBezTo>
                  <a:pt x="443865" y="80645"/>
                  <a:pt x="558800" y="21590"/>
                  <a:pt x="666115" y="10795"/>
                </a:cubicBezTo>
                <a:cubicBezTo>
                  <a:pt x="773430" y="0"/>
                  <a:pt x="869315" y="31750"/>
                  <a:pt x="976630" y="75565"/>
                </a:cubicBezTo>
                <a:cubicBezTo>
                  <a:pt x="1083945" y="118745"/>
                  <a:pt x="1210310" y="252095"/>
                  <a:pt x="1310005" y="273685"/>
                </a:cubicBezTo>
                <a:cubicBezTo>
                  <a:pt x="1409700" y="295275"/>
                  <a:pt x="1483360" y="226060"/>
                  <a:pt x="1576070" y="203835"/>
                </a:cubicBezTo>
                <a:cubicBezTo>
                  <a:pt x="1668780" y="182245"/>
                  <a:pt x="1760855" y="141605"/>
                  <a:pt x="1864360" y="142240"/>
                </a:cubicBezTo>
                <a:cubicBezTo>
                  <a:pt x="1967865" y="143510"/>
                  <a:pt x="2068195" y="169545"/>
                  <a:pt x="2197735" y="208915"/>
                </a:cubicBezTo>
                <a:cubicBezTo>
                  <a:pt x="2327275" y="248285"/>
                  <a:pt x="2567940" y="349885"/>
                  <a:pt x="2641600" y="377825"/>
                </a:cubicBezTo>
              </a:path>
            </a:pathLst>
          </a:custGeom>
          <a:noFill/>
          <a:ln w="19050" cap="rnd">
            <a:solidFill>
              <a:srgbClr val="8D96A3"/>
            </a:solidFill>
            <a:miter lim="800000"/>
          </a:ln>
        </p:spPr>
        <p:txBody>
          <a:bodyPr rtlCol="0" anchor="ctr"/>
          <a:lstStyle/>
          <a:p>
            <a:pPr algn="ctr"/>
            <a:endParaRPr lang="ko-KR" dirty="0"/>
          </a:p>
        </p:txBody>
      </p:sp>
      <p:sp>
        <p:nvSpPr>
          <p:cNvPr id="31" name="svg path"/>
          <p:cNvSpPr/>
          <p:nvPr/>
        </p:nvSpPr>
        <p:spPr>
          <a:xfrm>
            <a:off x="8585200" y="2463562"/>
            <a:ext cx="2641600" cy="774700"/>
          </a:xfrm>
          <a:custGeom>
            <a:avLst/>
            <a:gdLst/>
            <a:ahLst/>
            <a:cxnLst/>
            <a:rect l="0" t="0" r="r" b="b"/>
            <a:pathLst>
              <a:path w="2641600" h="774700" fill="none">
                <a:moveTo>
                  <a:pt x="0" y="457200"/>
                </a:moveTo>
                <a:cubicBezTo>
                  <a:pt x="36830" y="403860"/>
                  <a:pt x="140970" y="208915"/>
                  <a:pt x="222250" y="135255"/>
                </a:cubicBezTo>
                <a:cubicBezTo>
                  <a:pt x="303530" y="62230"/>
                  <a:pt x="392430" y="0"/>
                  <a:pt x="488315" y="16510"/>
                </a:cubicBezTo>
                <a:cubicBezTo>
                  <a:pt x="584200" y="33020"/>
                  <a:pt x="702310" y="149225"/>
                  <a:pt x="798830" y="234950"/>
                </a:cubicBezTo>
                <a:cubicBezTo>
                  <a:pt x="894715" y="320675"/>
                  <a:pt x="980440" y="467360"/>
                  <a:pt x="1065530" y="532130"/>
                </a:cubicBezTo>
                <a:cubicBezTo>
                  <a:pt x="1150620" y="596265"/>
                  <a:pt x="1224915" y="612775"/>
                  <a:pt x="1310005" y="623570"/>
                </a:cubicBezTo>
                <a:cubicBezTo>
                  <a:pt x="1395095" y="633730"/>
                  <a:pt x="1483360" y="601345"/>
                  <a:pt x="1576070" y="593725"/>
                </a:cubicBezTo>
                <a:cubicBezTo>
                  <a:pt x="1668780" y="586105"/>
                  <a:pt x="1760855" y="568325"/>
                  <a:pt x="1864360" y="576580"/>
                </a:cubicBezTo>
                <a:cubicBezTo>
                  <a:pt x="1967865" y="584835"/>
                  <a:pt x="2068195" y="610235"/>
                  <a:pt x="2197735" y="643255"/>
                </a:cubicBezTo>
                <a:cubicBezTo>
                  <a:pt x="2327275" y="676275"/>
                  <a:pt x="2567940" y="752475"/>
                  <a:pt x="2641600" y="774700"/>
                </a:cubicBezTo>
              </a:path>
            </a:pathLst>
          </a:custGeom>
          <a:noFill/>
          <a:ln w="19050" cap="rnd">
            <a:solidFill>
              <a:srgbClr val="102A4C"/>
            </a:solidFill>
            <a:miter lim="800000"/>
          </a:ln>
        </p:spPr>
        <p:txBody>
          <a:bodyPr rtlCol="0" anchor="ctr"/>
          <a:lstStyle/>
          <a:p>
            <a:pPr algn="ctr"/>
            <a:endParaRPr lang="ko-KR" dirty="0"/>
          </a:p>
        </p:txBody>
      </p:sp>
      <p:sp>
        <p:nvSpPr>
          <p:cNvPr id="32" name="svg circle"/>
          <p:cNvSpPr/>
          <p:nvPr/>
        </p:nvSpPr>
        <p:spPr>
          <a:xfrm>
            <a:off x="9140825" y="2689622"/>
            <a:ext cx="57150" cy="57150"/>
          </a:xfrm>
          <a:prstGeom prst="ellipse">
            <a:avLst/>
          </a:prstGeom>
          <a:solidFill>
            <a:srgbClr val="102A4C"/>
          </a:solidFill>
          <a:ln>
            <a:noFill/>
          </a:ln>
        </p:spPr>
        <p:txBody>
          <a:bodyPr rtlCol="0" anchor="ctr"/>
          <a:lstStyle/>
          <a:p>
            <a:pPr algn="ctr"/>
            <a:endParaRPr lang="ko-KR" dirty="0"/>
          </a:p>
        </p:txBody>
      </p:sp>
      <p:sp>
        <p:nvSpPr>
          <p:cNvPr id="33" name="svg line"/>
          <p:cNvSpPr/>
          <p:nvPr/>
        </p:nvSpPr>
        <p:spPr>
          <a:xfrm>
            <a:off x="9194800" y="2718197"/>
            <a:ext cx="355600" cy="1"/>
          </a:xfrm>
          <a:custGeom>
            <a:avLst/>
            <a:gdLst/>
            <a:ahLst/>
            <a:cxnLst/>
            <a:rect l="0" t="0" r="r" b="b"/>
            <a:pathLst>
              <a:path w="355600" h="1">
                <a:moveTo>
                  <a:pt x="0" y="0"/>
                </a:moveTo>
                <a:lnTo>
                  <a:pt x="355600" y="0"/>
                </a:lnTo>
              </a:path>
            </a:pathLst>
          </a:custGeom>
          <a:solidFill>
            <a:srgbClr val="000000"/>
          </a:solidFill>
          <a:ln w="9525">
            <a:solidFill>
              <a:srgbClr val="102A4C"/>
            </a:solidFill>
            <a:miter lim="800000"/>
          </a:ln>
        </p:spPr>
        <p:txBody>
          <a:bodyPr rtlCol="0" anchor="ctr"/>
          <a:lstStyle/>
          <a:p>
            <a:pPr algn="ctr"/>
            <a:endParaRPr lang="ko-KR" dirty="0"/>
          </a:p>
        </p:txBody>
      </p:sp>
      <p:sp>
        <p:nvSpPr>
          <p:cNvPr id="34" name="svg line"/>
          <p:cNvSpPr/>
          <p:nvPr/>
        </p:nvSpPr>
        <p:spPr>
          <a:xfrm>
            <a:off x="8585200" y="3416697"/>
            <a:ext cx="2730500" cy="1"/>
          </a:xfrm>
          <a:custGeom>
            <a:avLst/>
            <a:gdLst/>
            <a:ahLst/>
            <a:cxnLst/>
            <a:rect l="0" t="0" r="r" b="b"/>
            <a:pathLst>
              <a:path w="2730500" h="1">
                <a:moveTo>
                  <a:pt x="0" y="0"/>
                </a:moveTo>
                <a:lnTo>
                  <a:pt x="2730500" y="0"/>
                </a:lnTo>
              </a:path>
            </a:pathLst>
          </a:custGeom>
          <a:solidFill>
            <a:srgbClr val="000000"/>
          </a:solidFill>
          <a:ln w="12700" cap="rnd">
            <a:solidFill>
              <a:srgbClr val="737C8B"/>
            </a:solidFill>
            <a:miter lim="800000"/>
          </a:ln>
        </p:spPr>
        <p:txBody>
          <a:bodyPr rtlCol="0" anchor="ctr"/>
          <a:lstStyle/>
          <a:p>
            <a:pPr algn="ctr"/>
            <a:endParaRPr lang="ko-KR" dirty="0"/>
          </a:p>
        </p:txBody>
      </p:sp>
      <p:sp>
        <p:nvSpPr>
          <p:cNvPr id="35" name="svg line"/>
          <p:cNvSpPr/>
          <p:nvPr/>
        </p:nvSpPr>
        <p:spPr>
          <a:xfrm>
            <a:off x="8585200" y="2324497"/>
            <a:ext cx="1" cy="1092200"/>
          </a:xfrm>
          <a:custGeom>
            <a:avLst/>
            <a:gdLst/>
            <a:ahLst/>
            <a:cxnLst/>
            <a:rect l="0" t="0" r="r" b="b"/>
            <a:pathLst>
              <a:path w="1" h="1092200">
                <a:moveTo>
                  <a:pt x="0" y="0"/>
                </a:moveTo>
                <a:lnTo>
                  <a:pt x="0" y="1092200"/>
                </a:lnTo>
              </a:path>
            </a:pathLst>
          </a:custGeom>
          <a:solidFill>
            <a:srgbClr val="000000"/>
          </a:solidFill>
          <a:ln w="12700" cap="rnd">
            <a:solidFill>
              <a:srgbClr val="737C8B"/>
            </a:solidFill>
            <a:miter lim="800000"/>
          </a:ln>
        </p:spPr>
        <p:txBody>
          <a:bodyPr rtlCol="0" anchor="ctr"/>
          <a:lstStyle/>
          <a:p>
            <a:pPr algn="ctr"/>
            <a:endParaRPr lang="ko-KR" dirty="0"/>
          </a:p>
        </p:txBody>
      </p:sp>
      <p:sp>
        <p:nvSpPr>
          <p:cNvPr id="36" name="svg polygon"/>
          <p:cNvSpPr/>
          <p:nvPr/>
        </p:nvSpPr>
        <p:spPr>
          <a:xfrm>
            <a:off x="8553450" y="2273697"/>
            <a:ext cx="63500" cy="63500"/>
          </a:xfrm>
          <a:custGeom>
            <a:avLst/>
            <a:gdLst/>
            <a:ahLst/>
            <a:cxnLst/>
            <a:rect l="0" t="0" r="r" b="b"/>
            <a:pathLst>
              <a:path w="63500" h="63500" stroke="0">
                <a:moveTo>
                  <a:pt x="31750" y="0"/>
                </a:moveTo>
                <a:lnTo>
                  <a:pt x="0" y="63500"/>
                </a:lnTo>
                <a:lnTo>
                  <a:pt x="63500" y="63500"/>
                </a:lnTo>
                <a:close/>
              </a:path>
            </a:pathLst>
          </a:custGeom>
          <a:solidFill>
            <a:srgbClr val="737C8B"/>
          </a:solidFill>
          <a:ln>
            <a:noFill/>
          </a:ln>
        </p:spPr>
        <p:txBody>
          <a:bodyPr rtlCol="0" anchor="ctr"/>
          <a:lstStyle/>
          <a:p>
            <a:pPr algn="ctr"/>
            <a:endParaRPr lang="ko-KR" dirty="0"/>
          </a:p>
        </p:txBody>
      </p:sp>
      <p:sp>
        <p:nvSpPr>
          <p:cNvPr id="37" name="svg polygon"/>
          <p:cNvSpPr/>
          <p:nvPr/>
        </p:nvSpPr>
        <p:spPr>
          <a:xfrm>
            <a:off x="11303000" y="3384947"/>
            <a:ext cx="63500" cy="63500"/>
          </a:xfrm>
          <a:custGeom>
            <a:avLst/>
            <a:gdLst/>
            <a:ahLst/>
            <a:cxnLst/>
            <a:rect l="0" t="0" r="r" b="b"/>
            <a:pathLst>
              <a:path w="63500" h="63500" stroke="0">
                <a:moveTo>
                  <a:pt x="63500" y="31750"/>
                </a:moveTo>
                <a:lnTo>
                  <a:pt x="0" y="0"/>
                </a:lnTo>
                <a:lnTo>
                  <a:pt x="0" y="63500"/>
                </a:lnTo>
                <a:close/>
              </a:path>
            </a:pathLst>
          </a:custGeom>
          <a:solidFill>
            <a:srgbClr val="737C8B"/>
          </a:solidFill>
          <a:ln>
            <a:noFill/>
          </a:ln>
        </p:spPr>
        <p:txBody>
          <a:bodyPr rtlCol="0" anchor="ctr"/>
          <a:lstStyle/>
          <a:p>
            <a:pPr algn="ctr"/>
            <a:endParaRPr lang="ko-KR" dirty="0"/>
          </a:p>
        </p:txBody>
      </p:sp>
      <p:sp>
        <p:nvSpPr>
          <p:cNvPr id="38" name="card s3-card"/>
          <p:cNvSpPr/>
          <p:nvPr/>
        </p:nvSpPr>
        <p:spPr>
          <a:xfrm>
            <a:off x="609600" y="4178697"/>
            <a:ext cx="5181600" cy="1524000"/>
          </a:xfrm>
          <a:prstGeom prst="roundRect">
            <a:avLst>
              <a:gd name="adj" fmla="val 8333"/>
            </a:avLst>
          </a:prstGeom>
          <a:solidFill>
            <a:srgbClr val="F3F5F8"/>
          </a:solidFill>
          <a:ln>
            <a:noFill/>
          </a:ln>
        </p:spPr>
        <p:txBody>
          <a:bodyPr rtlCol="0" anchor="ctr"/>
          <a:lstStyle/>
          <a:p>
            <a:pPr algn="ctr"/>
            <a:endParaRPr lang="ko-KR" dirty="0"/>
          </a:p>
        </p:txBody>
      </p:sp>
      <p:sp>
        <p:nvSpPr>
          <p:cNvPr id="39" name="svg line"/>
          <p:cNvSpPr/>
          <p:nvPr/>
        </p:nvSpPr>
        <p:spPr>
          <a:xfrm>
            <a:off x="895350" y="5029597"/>
            <a:ext cx="1123950" cy="1"/>
          </a:xfrm>
          <a:custGeom>
            <a:avLst/>
            <a:gdLst/>
            <a:ahLst/>
            <a:cxnLst/>
            <a:rect l="0" t="0" r="r" b="b"/>
            <a:pathLst>
              <a:path w="1123950" h="1">
                <a:moveTo>
                  <a:pt x="0" y="0"/>
                </a:moveTo>
                <a:lnTo>
                  <a:pt x="1123950" y="0"/>
                </a:lnTo>
              </a:path>
            </a:pathLst>
          </a:custGeom>
          <a:solidFill>
            <a:srgbClr val="000000"/>
          </a:solidFill>
          <a:ln w="12700">
            <a:solidFill>
              <a:srgbClr val="2B4A78"/>
            </a:solidFill>
            <a:miter lim="800000"/>
          </a:ln>
        </p:spPr>
        <p:txBody>
          <a:bodyPr rtlCol="0" anchor="ctr"/>
          <a:lstStyle/>
          <a:p>
            <a:pPr algn="ctr"/>
            <a:endParaRPr lang="ko-KR" dirty="0"/>
          </a:p>
        </p:txBody>
      </p:sp>
      <p:sp>
        <p:nvSpPr>
          <p:cNvPr id="40" name="svg polygon"/>
          <p:cNvSpPr/>
          <p:nvPr/>
        </p:nvSpPr>
        <p:spPr>
          <a:xfrm>
            <a:off x="2019300" y="4997847"/>
            <a:ext cx="63500" cy="63500"/>
          </a:xfrm>
          <a:custGeom>
            <a:avLst/>
            <a:gdLst/>
            <a:ahLst/>
            <a:cxnLst/>
            <a:rect l="0" t="0" r="r" b="b"/>
            <a:pathLst>
              <a:path w="63500" h="63500" stroke="0">
                <a:moveTo>
                  <a:pt x="63500" y="31750"/>
                </a:moveTo>
                <a:lnTo>
                  <a:pt x="0" y="0"/>
                </a:lnTo>
                <a:lnTo>
                  <a:pt x="0" y="63500"/>
                </a:lnTo>
                <a:close/>
              </a:path>
            </a:pathLst>
          </a:custGeom>
          <a:solidFill>
            <a:srgbClr val="2B4A78"/>
          </a:solidFill>
          <a:ln>
            <a:noFill/>
          </a:ln>
        </p:spPr>
        <p:txBody>
          <a:bodyPr rtlCol="0" anchor="ctr"/>
          <a:lstStyle/>
          <a:p>
            <a:pPr algn="ctr"/>
            <a:endParaRPr lang="ko-KR" dirty="0"/>
          </a:p>
        </p:txBody>
      </p:sp>
      <p:sp>
        <p:nvSpPr>
          <p:cNvPr id="41" name="svg circle"/>
          <p:cNvSpPr/>
          <p:nvPr/>
        </p:nvSpPr>
        <p:spPr>
          <a:xfrm>
            <a:off x="825500" y="4991497"/>
            <a:ext cx="76200" cy="76200"/>
          </a:xfrm>
          <a:prstGeom prst="ellipse">
            <a:avLst/>
          </a:prstGeom>
          <a:solidFill>
            <a:srgbClr val="FFFFFF"/>
          </a:solidFill>
          <a:ln w="15875">
            <a:solidFill>
              <a:srgbClr val="2B4A78"/>
            </a:solidFill>
            <a:miter lim="800000"/>
          </a:ln>
        </p:spPr>
        <p:txBody>
          <a:bodyPr rtlCol="0" anchor="ctr"/>
          <a:lstStyle/>
          <a:p>
            <a:pPr algn="ctr"/>
            <a:endParaRPr lang="ko-KR" dirty="0"/>
          </a:p>
        </p:txBody>
      </p:sp>
      <p:sp>
        <p:nvSpPr>
          <p:cNvPr id="42" name="svg circle"/>
          <p:cNvSpPr/>
          <p:nvPr/>
        </p:nvSpPr>
        <p:spPr>
          <a:xfrm>
            <a:off x="2108200" y="4991497"/>
            <a:ext cx="76200" cy="76200"/>
          </a:xfrm>
          <a:prstGeom prst="ellipse">
            <a:avLst/>
          </a:prstGeom>
          <a:solidFill>
            <a:srgbClr val="2B4A78"/>
          </a:solidFill>
          <a:ln>
            <a:noFill/>
          </a:ln>
        </p:spPr>
        <p:txBody>
          <a:bodyPr rtlCol="0" anchor="ctr"/>
          <a:lstStyle/>
          <a:p>
            <a:pPr algn="ctr"/>
            <a:endParaRPr lang="ko-KR" dirty="0"/>
          </a:p>
        </p:txBody>
      </p:sp>
      <p:sp>
        <p:nvSpPr>
          <p:cNvPr id="43" name="s3-vr"/>
          <p:cNvSpPr/>
          <p:nvPr/>
        </p:nvSpPr>
        <p:spPr>
          <a:xfrm>
            <a:off x="3302000" y="4788297"/>
            <a:ext cx="9525" cy="711200"/>
          </a:xfrm>
          <a:prstGeom prst="rect">
            <a:avLst/>
          </a:prstGeom>
          <a:solidFill>
            <a:srgbClr val="C8CFD8"/>
          </a:solidFill>
          <a:ln>
            <a:noFill/>
          </a:ln>
        </p:spPr>
        <p:txBody>
          <a:bodyPr rtlCol="0" anchor="ctr"/>
          <a:lstStyle/>
          <a:p>
            <a:pPr algn="ctr"/>
            <a:endParaRPr lang="ko-KR" dirty="0"/>
          </a:p>
        </p:txBody>
      </p:sp>
      <p:sp>
        <p:nvSpPr>
          <p:cNvPr id="44" name="trk"/>
          <p:cNvSpPr/>
          <p:nvPr/>
        </p:nvSpPr>
        <p:spPr>
          <a:xfrm>
            <a:off x="3806825" y="50041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5" name="bar"/>
          <p:cNvSpPr/>
          <p:nvPr/>
        </p:nvSpPr>
        <p:spPr>
          <a:xfrm>
            <a:off x="3806825" y="5004197"/>
            <a:ext cx="343694" cy="76200"/>
          </a:xfrm>
          <a:prstGeom prst="roundRect">
            <a:avLst>
              <a:gd name="adj" fmla="val 50000"/>
            </a:avLst>
          </a:prstGeom>
          <a:solidFill>
            <a:srgbClr val="BFC9D7"/>
          </a:solidFill>
          <a:ln>
            <a:noFill/>
          </a:ln>
        </p:spPr>
        <p:txBody>
          <a:bodyPr rtlCol="0" anchor="ctr"/>
          <a:lstStyle/>
          <a:p>
            <a:pPr algn="ctr"/>
            <a:endParaRPr lang="ko-KR" dirty="0"/>
          </a:p>
        </p:txBody>
      </p:sp>
      <p:sp>
        <p:nvSpPr>
          <p:cNvPr id="46" name="trk"/>
          <p:cNvSpPr/>
          <p:nvPr/>
        </p:nvSpPr>
        <p:spPr>
          <a:xfrm>
            <a:off x="3806825" y="51946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7" name="bar"/>
          <p:cNvSpPr/>
          <p:nvPr/>
        </p:nvSpPr>
        <p:spPr>
          <a:xfrm>
            <a:off x="3806825" y="5194697"/>
            <a:ext cx="687388" cy="76200"/>
          </a:xfrm>
          <a:prstGeom prst="roundRect">
            <a:avLst>
              <a:gd name="adj" fmla="val 50000"/>
            </a:avLst>
          </a:prstGeom>
          <a:solidFill>
            <a:srgbClr val="8A9BB5"/>
          </a:solidFill>
          <a:ln>
            <a:noFill/>
          </a:ln>
        </p:spPr>
        <p:txBody>
          <a:bodyPr rtlCol="0" anchor="ctr"/>
          <a:lstStyle/>
          <a:p>
            <a:pPr algn="ctr"/>
            <a:endParaRPr lang="ko-KR" dirty="0"/>
          </a:p>
        </p:txBody>
      </p:sp>
      <p:sp>
        <p:nvSpPr>
          <p:cNvPr id="48" name="trk"/>
          <p:cNvSpPr/>
          <p:nvPr/>
        </p:nvSpPr>
        <p:spPr>
          <a:xfrm>
            <a:off x="3806825" y="53851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9" name="bar"/>
          <p:cNvSpPr/>
          <p:nvPr/>
        </p:nvSpPr>
        <p:spPr>
          <a:xfrm>
            <a:off x="3806825" y="5385197"/>
            <a:ext cx="1374775" cy="76200"/>
          </a:xfrm>
          <a:prstGeom prst="roundRect">
            <a:avLst>
              <a:gd name="adj" fmla="val 50000"/>
            </a:avLst>
          </a:prstGeom>
          <a:solidFill>
            <a:srgbClr val="2B4A78"/>
          </a:solidFill>
          <a:ln>
            <a:noFill/>
          </a:ln>
        </p:spPr>
        <p:txBody>
          <a:bodyPr rtlCol="0" anchor="ctr"/>
          <a:lstStyle/>
          <a:p>
            <a:pPr algn="ctr"/>
            <a:endParaRPr lang="ko-KR" dirty="0"/>
          </a:p>
        </p:txBody>
      </p:sp>
      <p:sp>
        <p:nvSpPr>
          <p:cNvPr id="50" name="card s3-card s3-real"/>
          <p:cNvSpPr/>
          <p:nvPr/>
        </p:nvSpPr>
        <p:spPr>
          <a:xfrm>
            <a:off x="6096000" y="4178697"/>
            <a:ext cx="5486400" cy="1524000"/>
          </a:xfrm>
          <a:prstGeom prst="roundRect">
            <a:avLst>
              <a:gd name="adj" fmla="val 8333"/>
            </a:avLst>
          </a:prstGeom>
          <a:solidFill>
            <a:srgbClr val="F3F5F8"/>
          </a:solidFill>
          <a:ln>
            <a:noFill/>
          </a:ln>
        </p:spPr>
        <p:txBody>
          <a:bodyPr rtlCol="0" anchor="ctr"/>
          <a:lstStyle/>
          <a:p>
            <a:pPr algn="ctr"/>
            <a:endParaRPr lang="ko-KR" dirty="0"/>
          </a:p>
        </p:txBody>
      </p:sp>
      <p:sp>
        <p:nvSpPr>
          <p:cNvPr id="51" name="no"/>
          <p:cNvSpPr/>
          <p:nvPr/>
        </p:nvSpPr>
        <p:spPr>
          <a:xfrm>
            <a:off x="6299200" y="4381897"/>
            <a:ext cx="254000" cy="254000"/>
          </a:xfrm>
          <a:prstGeom prst="ellipse">
            <a:avLst/>
          </a:prstGeom>
          <a:solidFill>
            <a:srgbClr val="102A4C"/>
          </a:solidFill>
          <a:ln>
            <a:noFill/>
          </a:ln>
        </p:spPr>
        <p:txBody>
          <a:bodyPr rtlCol="0" anchor="ctr"/>
          <a:lstStyle/>
          <a:p>
            <a:pPr algn="ctr"/>
            <a:endParaRPr lang="ko-KR" dirty="0"/>
          </a:p>
        </p:txBody>
      </p:sp>
      <p:sp>
        <p:nvSpPr>
          <p:cNvPr id="52" name="s3-so 선"/>
          <p:cNvSpPr/>
          <p:nvPr/>
        </p:nvSpPr>
        <p:spPr>
          <a:xfrm>
            <a:off x="6302375" y="5026422"/>
            <a:ext cx="1974850" cy="1"/>
          </a:xfrm>
          <a:custGeom>
            <a:avLst/>
            <a:gdLst/>
            <a:ahLst/>
            <a:cxnLst/>
            <a:rect l="0" t="0" r="r" b="b"/>
            <a:pathLst>
              <a:path w="1974850" h="1" fill="none">
                <a:moveTo>
                  <a:pt x="0" y="0"/>
                </a:moveTo>
                <a:lnTo>
                  <a:pt x="1974850" y="0"/>
                </a:lnTo>
              </a:path>
            </a:pathLst>
          </a:custGeom>
          <a:noFill/>
          <a:ln w="6350">
            <a:solidFill>
              <a:srgbClr val="C8CFD8"/>
            </a:solidFill>
            <a:round/>
          </a:ln>
        </p:spPr>
        <p:txBody>
          <a:bodyPr rtlCol="0" anchor="ctr"/>
          <a:lstStyle/>
          <a:p>
            <a:pPr algn="ctr"/>
            <a:endParaRPr lang="ko-KR" dirty="0"/>
          </a:p>
        </p:txBody>
      </p:sp>
      <p:sp>
        <p:nvSpPr>
          <p:cNvPr id="53" name="svg path"/>
          <p:cNvSpPr/>
          <p:nvPr/>
        </p:nvSpPr>
        <p:spPr>
          <a:xfrm>
            <a:off x="6318250" y="5188347"/>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54" name="svg path"/>
          <p:cNvSpPr/>
          <p:nvPr/>
        </p:nvSpPr>
        <p:spPr>
          <a:xfrm>
            <a:off x="8928100" y="4508897"/>
            <a:ext cx="457200" cy="660400"/>
          </a:xfrm>
          <a:custGeom>
            <a:avLst/>
            <a:gdLst/>
            <a:ahLst/>
            <a:cxnLst/>
            <a:rect l="0" t="0" r="r" b="b"/>
            <a:pathLst>
              <a:path w="457200" h="660400">
                <a:moveTo>
                  <a:pt x="0" y="0"/>
                </a:moveTo>
                <a:lnTo>
                  <a:pt x="330200" y="0"/>
                </a:lnTo>
                <a:lnTo>
                  <a:pt x="457200" y="127000"/>
                </a:lnTo>
                <a:lnTo>
                  <a:pt x="457200" y="660400"/>
                </a:lnTo>
                <a:lnTo>
                  <a:pt x="0" y="660400"/>
                </a:lnTo>
                <a:close/>
              </a:path>
            </a:pathLst>
          </a:custGeom>
          <a:solidFill>
            <a:srgbClr val="FFFFFF"/>
          </a:solidFill>
          <a:ln w="12700">
            <a:solidFill>
              <a:srgbClr val="2B4A78"/>
            </a:solidFill>
            <a:round/>
          </a:ln>
        </p:spPr>
        <p:txBody>
          <a:bodyPr rtlCol="0" anchor="ctr"/>
          <a:lstStyle/>
          <a:p>
            <a:pPr algn="ctr"/>
            <a:endParaRPr lang="ko-KR" dirty="0"/>
          </a:p>
        </p:txBody>
      </p:sp>
      <p:sp>
        <p:nvSpPr>
          <p:cNvPr id="55" name="svg path"/>
          <p:cNvSpPr/>
          <p:nvPr/>
        </p:nvSpPr>
        <p:spPr>
          <a:xfrm>
            <a:off x="9258300" y="4508897"/>
            <a:ext cx="127000" cy="127000"/>
          </a:xfrm>
          <a:custGeom>
            <a:avLst/>
            <a:gdLst/>
            <a:ahLst/>
            <a:cxnLst/>
            <a:rect l="0" t="0" r="r" b="b"/>
            <a:pathLst>
              <a:path w="127000" h="127000" fill="none">
                <a:moveTo>
                  <a:pt x="0" y="0"/>
                </a:moveTo>
                <a:lnTo>
                  <a:pt x="0" y="127000"/>
                </a:lnTo>
                <a:lnTo>
                  <a:pt x="127000" y="127000"/>
                </a:lnTo>
              </a:path>
            </a:pathLst>
          </a:custGeom>
          <a:noFill/>
          <a:ln w="12700">
            <a:solidFill>
              <a:srgbClr val="2B4A78"/>
            </a:solidFill>
            <a:round/>
          </a:ln>
        </p:spPr>
        <p:txBody>
          <a:bodyPr rtlCol="0" anchor="ctr"/>
          <a:lstStyle/>
          <a:p>
            <a:pPr algn="ctr"/>
            <a:endParaRPr lang="ko-KR" dirty="0"/>
          </a:p>
        </p:txBody>
      </p:sp>
      <p:sp>
        <p:nvSpPr>
          <p:cNvPr id="56" name="svg rect"/>
          <p:cNvSpPr/>
          <p:nvPr/>
        </p:nvSpPr>
        <p:spPr>
          <a:xfrm>
            <a:off x="9004300" y="4686697"/>
            <a:ext cx="304800" cy="393700"/>
          </a:xfrm>
          <a:prstGeom prst="rect">
            <a:avLst/>
          </a:prstGeom>
          <a:noFill/>
          <a:ln w="9525">
            <a:solidFill>
              <a:srgbClr val="737C8B"/>
            </a:solidFill>
            <a:miter lim="800000"/>
          </a:ln>
        </p:spPr>
        <p:txBody>
          <a:bodyPr rtlCol="0" anchor="ctr"/>
          <a:lstStyle/>
          <a:p>
            <a:pPr algn="ctr"/>
            <a:endParaRPr lang="ko-KR" dirty="0"/>
          </a:p>
        </p:txBody>
      </p:sp>
      <p:sp>
        <p:nvSpPr>
          <p:cNvPr id="57" name="svg line"/>
          <p:cNvSpPr/>
          <p:nvPr/>
        </p:nvSpPr>
        <p:spPr>
          <a:xfrm>
            <a:off x="9004300" y="4864497"/>
            <a:ext cx="165100" cy="1"/>
          </a:xfrm>
          <a:custGeom>
            <a:avLst/>
            <a:gdLst/>
            <a:ahLst/>
            <a:cxnLst/>
            <a:rect l="0" t="0" r="r" b="b"/>
            <a:pathLst>
              <a:path w="165100" h="1">
                <a:moveTo>
                  <a:pt x="0" y="0"/>
                </a:moveTo>
                <a:lnTo>
                  <a:pt x="165100" y="0"/>
                </a:lnTo>
              </a:path>
            </a:pathLst>
          </a:custGeom>
          <a:solidFill>
            <a:srgbClr val="000000"/>
          </a:solidFill>
          <a:ln w="9525">
            <a:solidFill>
              <a:srgbClr val="737C8B"/>
            </a:solidFill>
            <a:miter lim="800000"/>
          </a:ln>
        </p:spPr>
        <p:txBody>
          <a:bodyPr rtlCol="0" anchor="ctr"/>
          <a:lstStyle/>
          <a:p>
            <a:pPr algn="ctr"/>
            <a:endParaRPr lang="ko-KR" dirty="0"/>
          </a:p>
        </p:txBody>
      </p:sp>
      <p:sp>
        <p:nvSpPr>
          <p:cNvPr id="58" name="svg line"/>
          <p:cNvSpPr/>
          <p:nvPr/>
        </p:nvSpPr>
        <p:spPr>
          <a:xfrm>
            <a:off x="9169400" y="4686697"/>
            <a:ext cx="1" cy="304800"/>
          </a:xfrm>
          <a:custGeom>
            <a:avLst/>
            <a:gdLst/>
            <a:ahLst/>
            <a:cxnLst/>
            <a:rect l="0" t="0" r="r" b="b"/>
            <a:pathLst>
              <a:path w="1" h="304800">
                <a:moveTo>
                  <a:pt x="0" y="0"/>
                </a:moveTo>
                <a:lnTo>
                  <a:pt x="0" y="304800"/>
                </a:lnTo>
              </a:path>
            </a:pathLst>
          </a:custGeom>
          <a:solidFill>
            <a:srgbClr val="000000"/>
          </a:solidFill>
          <a:ln w="9525">
            <a:solidFill>
              <a:srgbClr val="737C8B"/>
            </a:solidFill>
            <a:miter lim="800000"/>
          </a:ln>
        </p:spPr>
        <p:txBody>
          <a:bodyPr rtlCol="0" anchor="ctr"/>
          <a:lstStyle/>
          <a:p>
            <a:pPr algn="ctr"/>
            <a:endParaRPr lang="ko-KR" dirty="0"/>
          </a:p>
        </p:txBody>
      </p:sp>
      <p:sp>
        <p:nvSpPr>
          <p:cNvPr id="59" name="svg line"/>
          <p:cNvSpPr/>
          <p:nvPr/>
        </p:nvSpPr>
        <p:spPr>
          <a:xfrm>
            <a:off x="9169400" y="4991497"/>
            <a:ext cx="139700" cy="1"/>
          </a:xfrm>
          <a:custGeom>
            <a:avLst/>
            <a:gdLst/>
            <a:ahLst/>
            <a:cxnLst/>
            <a:rect l="0" t="0" r="r" b="b"/>
            <a:pathLst>
              <a:path w="139700" h="1">
                <a:moveTo>
                  <a:pt x="0" y="0"/>
                </a:moveTo>
                <a:lnTo>
                  <a:pt x="139700" y="0"/>
                </a:lnTo>
              </a:path>
            </a:pathLst>
          </a:custGeom>
          <a:solidFill>
            <a:srgbClr val="000000"/>
          </a:solidFill>
          <a:ln w="9525">
            <a:solidFill>
              <a:srgbClr val="737C8B"/>
            </a:solidFill>
            <a:miter lim="800000"/>
          </a:ln>
        </p:spPr>
        <p:txBody>
          <a:bodyPr rtlCol="0" anchor="ctr"/>
          <a:lstStyle/>
          <a:p>
            <a:pPr algn="ctr"/>
            <a:endParaRPr lang="ko-KR" dirty="0"/>
          </a:p>
        </p:txBody>
      </p:sp>
      <p:sp>
        <p:nvSpPr>
          <p:cNvPr id="60" name="svg line"/>
          <p:cNvSpPr/>
          <p:nvPr/>
        </p:nvSpPr>
        <p:spPr>
          <a:xfrm>
            <a:off x="9563100" y="4839097"/>
            <a:ext cx="711200" cy="1"/>
          </a:xfrm>
          <a:custGeom>
            <a:avLst/>
            <a:gdLst/>
            <a:ahLst/>
            <a:cxnLst/>
            <a:rect l="0" t="0" r="r" b="b"/>
            <a:pathLst>
              <a:path w="711200" h="1">
                <a:moveTo>
                  <a:pt x="0" y="0"/>
                </a:moveTo>
                <a:lnTo>
                  <a:pt x="711200" y="0"/>
                </a:lnTo>
              </a:path>
            </a:pathLst>
          </a:custGeom>
          <a:solidFill>
            <a:srgbClr val="000000"/>
          </a:solidFill>
          <a:ln w="12700" cap="rnd">
            <a:solidFill>
              <a:srgbClr val="102A4C"/>
            </a:solidFill>
            <a:custDash>
              <a:ds d="300000" sp="300000"/>
            </a:custDash>
            <a:miter lim="800000"/>
          </a:ln>
        </p:spPr>
        <p:txBody>
          <a:bodyPr rtlCol="0" anchor="ctr"/>
          <a:lstStyle/>
          <a:p>
            <a:pPr algn="ctr"/>
            <a:endParaRPr lang="ko-KR" dirty="0"/>
          </a:p>
        </p:txBody>
      </p:sp>
      <p:sp>
        <p:nvSpPr>
          <p:cNvPr id="61" name="svg polygon"/>
          <p:cNvSpPr/>
          <p:nvPr/>
        </p:nvSpPr>
        <p:spPr>
          <a:xfrm>
            <a:off x="10274300" y="4800997"/>
            <a:ext cx="76200" cy="76200"/>
          </a:xfrm>
          <a:custGeom>
            <a:avLst/>
            <a:gdLst/>
            <a:ahLst/>
            <a:cxnLst/>
            <a:rect l="0" t="0" r="r" b="b"/>
            <a:pathLst>
              <a:path w="76200" h="76200" stroke="0">
                <a:moveTo>
                  <a:pt x="76200" y="38100"/>
                </a:moveTo>
                <a:lnTo>
                  <a:pt x="0" y="0"/>
                </a:lnTo>
                <a:lnTo>
                  <a:pt x="0" y="76200"/>
                </a:lnTo>
                <a:close/>
              </a:path>
            </a:pathLst>
          </a:custGeom>
          <a:solidFill>
            <a:srgbClr val="102A4C"/>
          </a:solidFill>
          <a:ln>
            <a:noFill/>
          </a:ln>
        </p:spPr>
        <p:txBody>
          <a:bodyPr rtlCol="0" anchor="ctr"/>
          <a:lstStyle/>
          <a:p>
            <a:pPr algn="ctr"/>
            <a:endParaRPr lang="ko-KR" dirty="0"/>
          </a:p>
        </p:txBody>
      </p:sp>
      <p:sp>
        <p:nvSpPr>
          <p:cNvPr id="62" name="svg polygon"/>
          <p:cNvSpPr/>
          <p:nvPr/>
        </p:nvSpPr>
        <p:spPr>
          <a:xfrm>
            <a:off x="10579100" y="4521597"/>
            <a:ext cx="508000" cy="279400"/>
          </a:xfrm>
          <a:custGeom>
            <a:avLst/>
            <a:gdLst/>
            <a:ahLst/>
            <a:cxnLst/>
            <a:rect l="0" t="0" r="r" b="b"/>
            <a:pathLst>
              <a:path w="508000" h="279400">
                <a:moveTo>
                  <a:pt x="254000" y="0"/>
                </a:moveTo>
                <a:lnTo>
                  <a:pt x="508000" y="139700"/>
                </a:lnTo>
                <a:lnTo>
                  <a:pt x="254000" y="279400"/>
                </a:lnTo>
                <a:lnTo>
                  <a:pt x="0" y="139700"/>
                </a:lnTo>
                <a:close/>
              </a:path>
            </a:pathLst>
          </a:custGeom>
          <a:solidFill>
            <a:srgbClr val="E8EEF6"/>
          </a:solidFill>
          <a:ln w="12700">
            <a:solidFill>
              <a:srgbClr val="102A4C"/>
            </a:solidFill>
            <a:custDash>
              <a:ds d="250000" sp="250000"/>
            </a:custDash>
            <a:round/>
          </a:ln>
        </p:spPr>
        <p:txBody>
          <a:bodyPr rtlCol="0" anchor="ctr"/>
          <a:lstStyle/>
          <a:p>
            <a:pPr algn="ctr"/>
            <a:endParaRPr lang="ko-KR" dirty="0"/>
          </a:p>
        </p:txBody>
      </p:sp>
      <p:sp>
        <p:nvSpPr>
          <p:cNvPr id="63" name="svg polygon"/>
          <p:cNvSpPr/>
          <p:nvPr/>
        </p:nvSpPr>
        <p:spPr>
          <a:xfrm>
            <a:off x="10579100" y="4661297"/>
            <a:ext cx="254000" cy="444500"/>
          </a:xfrm>
          <a:custGeom>
            <a:avLst/>
            <a:gdLst/>
            <a:ahLst/>
            <a:cxnLst/>
            <a:rect l="0" t="0" r="r" b="b"/>
            <a:pathLst>
              <a:path w="254000" h="444500">
                <a:moveTo>
                  <a:pt x="0" y="0"/>
                </a:moveTo>
                <a:lnTo>
                  <a:pt x="254000" y="139700"/>
                </a:lnTo>
                <a:lnTo>
                  <a:pt x="254000" y="444500"/>
                </a:lnTo>
                <a:lnTo>
                  <a:pt x="0" y="304800"/>
                </a:lnTo>
                <a:close/>
              </a:path>
            </a:pathLst>
          </a:custGeom>
          <a:solidFill>
            <a:srgbClr val="FFFFFF"/>
          </a:solidFill>
          <a:ln w="12700">
            <a:solidFill>
              <a:srgbClr val="102A4C"/>
            </a:solidFill>
            <a:custDash>
              <a:ds d="250000" sp="250000"/>
            </a:custDash>
            <a:round/>
          </a:ln>
        </p:spPr>
        <p:txBody>
          <a:bodyPr rtlCol="0" anchor="ctr"/>
          <a:lstStyle/>
          <a:p>
            <a:pPr algn="ctr"/>
            <a:endParaRPr lang="ko-KR" dirty="0"/>
          </a:p>
        </p:txBody>
      </p:sp>
      <p:sp>
        <p:nvSpPr>
          <p:cNvPr id="64" name="svg polygon"/>
          <p:cNvSpPr/>
          <p:nvPr/>
        </p:nvSpPr>
        <p:spPr>
          <a:xfrm>
            <a:off x="10833100" y="4661297"/>
            <a:ext cx="254000" cy="444500"/>
          </a:xfrm>
          <a:custGeom>
            <a:avLst/>
            <a:gdLst/>
            <a:ahLst/>
            <a:cxnLst/>
            <a:rect l="0" t="0" r="r" b="b"/>
            <a:pathLst>
              <a:path w="254000" h="444500">
                <a:moveTo>
                  <a:pt x="0" y="139700"/>
                </a:moveTo>
                <a:lnTo>
                  <a:pt x="254000" y="0"/>
                </a:lnTo>
                <a:lnTo>
                  <a:pt x="254000" y="304800"/>
                </a:lnTo>
                <a:lnTo>
                  <a:pt x="0" y="444500"/>
                </a:lnTo>
                <a:close/>
              </a:path>
            </a:pathLst>
          </a:custGeom>
          <a:solidFill>
            <a:srgbClr val="F3F5F8"/>
          </a:solidFill>
          <a:ln w="12700">
            <a:solidFill>
              <a:srgbClr val="102A4C"/>
            </a:solidFill>
            <a:custDash>
              <a:ds d="250000" sp="250000"/>
            </a:custDash>
            <a:round/>
          </a:ln>
        </p:spPr>
        <p:txBody>
          <a:bodyPr rtlCol="0" anchor="ctr"/>
          <a:lstStyle/>
          <a:p>
            <a:pPr algn="ctr"/>
            <a:endParaRPr lang="ko-KR" dirty="0"/>
          </a:p>
        </p:txBody>
      </p:sp>
      <p:sp>
        <p:nvSpPr>
          <p:cNvPr id="65" name="s3-concl"/>
          <p:cNvSpPr/>
          <p:nvPr/>
        </p:nvSpPr>
        <p:spPr>
          <a:xfrm>
            <a:off x="609600" y="5982097"/>
            <a:ext cx="10972800" cy="355600"/>
          </a:xfrm>
          <a:prstGeom prst="roundRect">
            <a:avLst>
              <a:gd name="adj" fmla="val 21429"/>
            </a:avLst>
          </a:prstGeom>
          <a:solidFill>
            <a:srgbClr val="E8EEF6"/>
          </a:solidFill>
          <a:ln>
            <a:noFill/>
          </a:ln>
        </p:spPr>
        <p:txBody>
          <a:bodyPr rtlCol="0" anchor="ctr"/>
          <a:lstStyle/>
          <a:p>
            <a:pPr algn="ctr"/>
            <a:endParaRPr lang="ko-KR" dirty="0"/>
          </a:p>
        </p:txBody>
      </p:sp>
      <p:sp>
        <p:nvSpPr>
          <p:cNvPr id="66" name="svg path"/>
          <p:cNvSpPr/>
          <p:nvPr/>
        </p:nvSpPr>
        <p:spPr>
          <a:xfrm>
            <a:off x="4125714" y="6121797"/>
            <a:ext cx="95250" cy="76200"/>
          </a:xfrm>
          <a:custGeom>
            <a:avLst/>
            <a:gdLst/>
            <a:ahLst/>
            <a:cxnLst/>
            <a:rect l="0" t="0" r="r" b="b"/>
            <a:pathLst>
              <a:path w="95250" h="76200" fill="none">
                <a:moveTo>
                  <a:pt x="0" y="38100"/>
                </a:moveTo>
                <a:lnTo>
                  <a:pt x="95250" y="38100"/>
                </a:lnTo>
                <a:moveTo>
                  <a:pt x="57150" y="0"/>
                </a:moveTo>
                <a:lnTo>
                  <a:pt x="95250" y="38100"/>
                </a:lnTo>
                <a:lnTo>
                  <a:pt x="57150" y="76200"/>
                </a:lnTo>
              </a:path>
            </a:pathLst>
          </a:custGeom>
          <a:noFill/>
          <a:ln w="15240" cap="rnd">
            <a:solidFill>
              <a:srgbClr val="102A4C"/>
            </a:solidFill>
            <a:round/>
          </a:ln>
        </p:spPr>
        <p:txBody>
          <a:bodyPr rtlCol="0" anchor="ctr"/>
          <a:lstStyle/>
          <a:p>
            <a:pPr algn="ctr"/>
            <a:endParaRPr lang="ko-KR" dirty="0"/>
          </a:p>
        </p:txBody>
      </p:sp>
      <p:sp>
        <p:nvSpPr>
          <p:cNvPr id="67" name="01"/>
          <p:cNvSpPr txBox="1"/>
          <p:nvPr/>
        </p:nvSpPr>
        <p:spPr>
          <a:xfrm>
            <a:off x="609600" y="401439"/>
            <a:ext cx="19565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01</a:t>
            </a:r>
            <a:endParaRPr lang="en-US" sz="950" dirty="0"/>
          </a:p>
        </p:txBody>
      </p:sp>
      <p:sp>
        <p:nvSpPr>
          <p:cNvPr id="68" name="연구 배경 및 문제 정의"/>
          <p:cNvSpPr txBox="1"/>
          <p:nvPr/>
        </p:nvSpPr>
        <p:spPr>
          <a:xfrm>
            <a:off x="843359" y="401439"/>
            <a:ext cx="1091684"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배경 및 문제 정의</a:t>
            </a:r>
            <a:endParaRPr lang="en-US" sz="950" dirty="0"/>
          </a:p>
        </p:txBody>
      </p:sp>
      <p:sp>
        <p:nvSpPr>
          <p:cNvPr id="69" name="국내 BIM 도입 실태"/>
          <p:cNvSpPr txBox="1"/>
          <p:nvPr/>
        </p:nvSpPr>
        <p:spPr>
          <a:xfrm>
            <a:off x="2057400" y="401439"/>
            <a:ext cx="96021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국내 BIM 도입 실태</a:t>
            </a:r>
            <a:endParaRPr lang="en-US" sz="950" dirty="0"/>
          </a:p>
        </p:txBody>
      </p:sp>
      <p:sp>
        <p:nvSpPr>
          <p:cNvPr id="70" name="BIM 전면 도입이 추진되고 있지만,"/>
          <p:cNvSpPr txBox="1"/>
          <p:nvPr/>
        </p:nvSpPr>
        <p:spPr>
          <a:xfrm>
            <a:off x="609600" y="666750"/>
            <a:ext cx="3892096"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BIM 전면 도입이 추진되고 있지만,</a:t>
            </a:r>
            <a:endParaRPr lang="en-US" sz="2300" dirty="0"/>
          </a:p>
        </p:txBody>
      </p:sp>
      <p:sp>
        <p:nvSpPr>
          <p:cNvPr id="71" name="대부분의 BIM은 여전히 2D 도면에서 출발합니다."/>
          <p:cNvSpPr txBox="1"/>
          <p:nvPr/>
        </p:nvSpPr>
        <p:spPr>
          <a:xfrm>
            <a:off x="609600" y="1028898"/>
            <a:ext cx="5608816"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대부분의 BIM은 여전히 </a:t>
            </a:r>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2D 도면</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에서 출발합니다.</a:t>
            </a:r>
            <a:endParaRPr lang="en-US" sz="2300" dirty="0"/>
          </a:p>
        </p:txBody>
      </p:sp>
      <p:sp>
        <p:nvSpPr>
          <p:cNvPr id="72"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01</a:t>
            </a:r>
            <a:endParaRPr lang="en-US" sz="700" dirty="0"/>
          </a:p>
        </p:txBody>
      </p:sp>
      <p:sp>
        <p:nvSpPr>
          <p:cNvPr id="73"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02</a:t>
            </a:r>
            <a:endParaRPr lang="en-US" sz="700" dirty="0"/>
          </a:p>
        </p:txBody>
      </p:sp>
      <p:sp>
        <p:nvSpPr>
          <p:cNvPr id="74"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75"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76"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77" name="정책"/>
          <p:cNvSpPr txBox="1"/>
          <p:nvPr/>
        </p:nvSpPr>
        <p:spPr>
          <a:xfrm>
            <a:off x="717550" y="16874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정책</a:t>
            </a:r>
            <a:endParaRPr lang="en-US" sz="850" dirty="0"/>
          </a:p>
        </p:txBody>
      </p:sp>
      <p:sp>
        <p:nvSpPr>
          <p:cNvPr id="78" name="국토교통부, BIM 전면 도입 추진"/>
          <p:cNvSpPr txBox="1"/>
          <p:nvPr/>
        </p:nvSpPr>
        <p:spPr>
          <a:xfrm>
            <a:off x="1109464" y="1653977"/>
            <a:ext cx="206494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국토교통부, BIM 전면 도입 추진</a:t>
            </a:r>
            <a:endParaRPr lang="en-US" sz="1300" dirty="0"/>
          </a:p>
        </p:txBody>
      </p:sp>
      <p:sp>
        <p:nvSpPr>
          <p:cNvPr id="79" name="현실"/>
          <p:cNvSpPr txBox="1"/>
          <p:nvPr/>
        </p:nvSpPr>
        <p:spPr>
          <a:xfrm>
            <a:off x="6203950" y="16874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현실</a:t>
            </a:r>
            <a:endParaRPr lang="en-US" sz="850" dirty="0"/>
          </a:p>
        </p:txBody>
      </p:sp>
      <p:sp>
        <p:nvSpPr>
          <p:cNvPr id="80" name="두 경우 비교: 신규 건설 · 기존 건축물"/>
          <p:cNvSpPr txBox="1"/>
          <p:nvPr/>
        </p:nvSpPr>
        <p:spPr>
          <a:xfrm>
            <a:off x="6595864" y="1653977"/>
            <a:ext cx="2352800"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두 경우 비교: 신규 건설 · 기존 건축물</a:t>
            </a:r>
            <a:endParaRPr lang="en-US" sz="1300" dirty="0"/>
          </a:p>
        </p:txBody>
      </p:sp>
      <p:sp>
        <p:nvSpPr>
          <p:cNvPr id="81" name="공공공사 BIM 의무화 단계적 확대"/>
          <p:cNvSpPr txBox="1"/>
          <p:nvPr/>
        </p:nvSpPr>
        <p:spPr>
          <a:xfrm>
            <a:off x="812800" y="2254647"/>
            <a:ext cx="217158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공공공사 BIM 의무화 단계적 확대</a:t>
            </a:r>
            <a:endParaRPr lang="en-US" sz="1300" dirty="0"/>
          </a:p>
        </p:txBody>
      </p:sp>
      <p:sp>
        <p:nvSpPr>
          <p:cNvPr id="82" name="'22"/>
          <p:cNvSpPr txBox="1"/>
          <p:nvPr/>
        </p:nvSpPr>
        <p:spPr>
          <a:xfrm>
            <a:off x="812800" y="2692797"/>
            <a:ext cx="242590"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'22</a:t>
            </a:r>
            <a:endParaRPr lang="en-US" sz="1100" dirty="0"/>
          </a:p>
        </p:txBody>
      </p:sp>
      <p:sp>
        <p:nvSpPr>
          <p:cNvPr id="83" name="하반기"/>
          <p:cNvSpPr txBox="1"/>
          <p:nvPr/>
        </p:nvSpPr>
        <p:spPr>
          <a:xfrm>
            <a:off x="1036340" y="2730897"/>
            <a:ext cx="308173"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하반기</a:t>
            </a:r>
            <a:endParaRPr lang="en-US" sz="800" dirty="0"/>
          </a:p>
        </p:txBody>
      </p:sp>
      <p:sp>
        <p:nvSpPr>
          <p:cNvPr id="84" name="도로"/>
          <p:cNvSpPr txBox="1"/>
          <p:nvPr/>
        </p:nvSpPr>
        <p:spPr>
          <a:xfrm>
            <a:off x="812800" y="2908697"/>
            <a:ext cx="256381"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도로</a:t>
            </a:r>
            <a:endParaRPr lang="en-US" sz="950" dirty="0"/>
          </a:p>
        </p:txBody>
      </p:sp>
      <p:sp>
        <p:nvSpPr>
          <p:cNvPr id="85" name="'23"/>
          <p:cNvSpPr txBox="1"/>
          <p:nvPr/>
        </p:nvSpPr>
        <p:spPr>
          <a:xfrm>
            <a:off x="1524000" y="2692797"/>
            <a:ext cx="246559"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'23</a:t>
            </a:r>
            <a:endParaRPr lang="en-US" sz="1100" dirty="0"/>
          </a:p>
        </p:txBody>
      </p:sp>
      <p:sp>
        <p:nvSpPr>
          <p:cNvPr id="86" name="철도·건축"/>
          <p:cNvSpPr txBox="1"/>
          <p:nvPr/>
        </p:nvSpPr>
        <p:spPr>
          <a:xfrm>
            <a:off x="1524000" y="2908697"/>
            <a:ext cx="493216"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철도·건축</a:t>
            </a:r>
            <a:endParaRPr lang="en-US" sz="950" dirty="0"/>
          </a:p>
        </p:txBody>
      </p:sp>
      <p:sp>
        <p:nvSpPr>
          <p:cNvPr id="87" name="'24"/>
          <p:cNvSpPr txBox="1"/>
          <p:nvPr/>
        </p:nvSpPr>
        <p:spPr>
          <a:xfrm>
            <a:off x="2387600" y="2692797"/>
            <a:ext cx="247452"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'24</a:t>
            </a:r>
            <a:endParaRPr lang="en-US" sz="1100" dirty="0"/>
          </a:p>
        </p:txBody>
      </p:sp>
      <p:sp>
        <p:nvSpPr>
          <p:cNvPr id="88" name="하천·항만"/>
          <p:cNvSpPr txBox="1"/>
          <p:nvPr/>
        </p:nvSpPr>
        <p:spPr>
          <a:xfrm>
            <a:off x="2387600" y="2908697"/>
            <a:ext cx="493216"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하천·항만</a:t>
            </a:r>
            <a:endParaRPr lang="en-US" sz="950" dirty="0"/>
          </a:p>
        </p:txBody>
      </p:sp>
      <p:sp>
        <p:nvSpPr>
          <p:cNvPr id="89" name="'26"/>
          <p:cNvSpPr txBox="1"/>
          <p:nvPr/>
        </p:nvSpPr>
        <p:spPr>
          <a:xfrm>
            <a:off x="3454400" y="2692797"/>
            <a:ext cx="247551"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'26</a:t>
            </a:r>
            <a:endParaRPr lang="en-US" sz="1100" dirty="0"/>
          </a:p>
        </p:txBody>
      </p:sp>
      <p:sp>
        <p:nvSpPr>
          <p:cNvPr id="90" name="'28"/>
          <p:cNvSpPr txBox="1"/>
          <p:nvPr/>
        </p:nvSpPr>
        <p:spPr>
          <a:xfrm>
            <a:off x="4521200" y="2692797"/>
            <a:ext cx="247749"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'28</a:t>
            </a:r>
            <a:endParaRPr lang="en-US" sz="1100" dirty="0"/>
          </a:p>
        </p:txBody>
      </p:sp>
      <p:sp>
        <p:nvSpPr>
          <p:cNvPr id="91" name="1,000억원 이상 신규 사업"/>
          <p:cNvSpPr txBox="1"/>
          <p:nvPr/>
        </p:nvSpPr>
        <p:spPr>
          <a:xfrm>
            <a:off x="965200" y="3518297"/>
            <a:ext cx="1327269" cy="152400"/>
          </a:xfrm>
          <a:prstGeom prst="rect">
            <a:avLst/>
          </a:prstGeom>
          <a:noFill/>
          <a:ln/>
        </p:spPr>
        <p:txBody>
          <a:bodyPr wrap="none" lIns="0" tIns="0" rIns="0" bIns="0" rtlCol="0" anchor="ctr"/>
          <a:lstStyle/>
          <a:p>
            <a:pPr algn="l" indent="0" marL="0">
              <a:buNone/>
            </a:pPr>
            <a:r>
              <a:rPr lang="ko-KR" altLang="en-US" sz="1000" spc="-30" kern="0" dirty="0">
                <a:solidFill>
                  <a:srgbClr val="102A4C"/>
                </a:solidFill>
                <a:latin typeface="Pretendard ExtraBold" pitchFamily="34" charset="0"/>
                <a:ea typeface="Pretendard ExtraBold" pitchFamily="34" charset="-127"/>
                <a:cs typeface="Pretendard ExtraBold" pitchFamily="34" charset="-120"/>
              </a:rPr>
              <a:t>1,000억원 이상 신규 사업</a:t>
            </a:r>
            <a:endParaRPr lang="en-US" sz="1000" dirty="0"/>
          </a:p>
        </p:txBody>
      </p:sp>
      <p:sp>
        <p:nvSpPr>
          <p:cNvPr id="92" name="500억원 이상"/>
          <p:cNvSpPr txBox="1"/>
          <p:nvPr/>
        </p:nvSpPr>
        <p:spPr>
          <a:xfrm>
            <a:off x="3594100" y="3518297"/>
            <a:ext cx="741958" cy="152400"/>
          </a:xfrm>
          <a:prstGeom prst="rect">
            <a:avLst/>
          </a:prstGeom>
          <a:noFill/>
          <a:ln/>
        </p:spPr>
        <p:txBody>
          <a:bodyPr wrap="none" lIns="0" tIns="0" rIns="0" bIns="0" rtlCol="0" anchor="ctr"/>
          <a:lstStyle/>
          <a:p>
            <a:pPr algn="l" indent="0" marL="0">
              <a:buNone/>
            </a:pPr>
            <a:r>
              <a:rPr lang="ko-KR" altLang="en-US" sz="1000" spc="-30" kern="0" dirty="0">
                <a:solidFill>
                  <a:srgbClr val="102A4C"/>
                </a:solidFill>
                <a:latin typeface="Pretendard ExtraBold" pitchFamily="34" charset="0"/>
                <a:ea typeface="Pretendard ExtraBold" pitchFamily="34" charset="-127"/>
                <a:cs typeface="Pretendard ExtraBold" pitchFamily="34" charset="-120"/>
              </a:rPr>
              <a:t>500억원 이상</a:t>
            </a:r>
            <a:endParaRPr lang="en-US" sz="1000" dirty="0"/>
          </a:p>
        </p:txBody>
      </p:sp>
      <p:sp>
        <p:nvSpPr>
          <p:cNvPr id="93" name="300억원 이상"/>
          <p:cNvSpPr txBox="1"/>
          <p:nvPr/>
        </p:nvSpPr>
        <p:spPr>
          <a:xfrm>
            <a:off x="4660900" y="3518297"/>
            <a:ext cx="743049" cy="152400"/>
          </a:xfrm>
          <a:prstGeom prst="rect">
            <a:avLst/>
          </a:prstGeom>
          <a:noFill/>
          <a:ln/>
        </p:spPr>
        <p:txBody>
          <a:bodyPr wrap="none" lIns="0" tIns="0" rIns="0" bIns="0" rtlCol="0" anchor="ctr"/>
          <a:lstStyle/>
          <a:p>
            <a:pPr algn="l" indent="0" marL="0">
              <a:buNone/>
            </a:pPr>
            <a:r>
              <a:rPr lang="ko-KR" altLang="en-US" sz="1000" spc="-30" kern="0" dirty="0">
                <a:solidFill>
                  <a:srgbClr val="FFFFFF"/>
                </a:solidFill>
                <a:latin typeface="Pretendard ExtraBold" pitchFamily="34" charset="0"/>
                <a:ea typeface="Pretendard ExtraBold" pitchFamily="34" charset="-127"/>
                <a:cs typeface="Pretendard ExtraBold" pitchFamily="34" charset="-120"/>
              </a:rPr>
              <a:t>300억원 이상</a:t>
            </a:r>
            <a:endParaRPr lang="en-US" sz="1000" dirty="0"/>
          </a:p>
        </p:txBody>
      </p:sp>
      <p:sp>
        <p:nvSpPr>
          <p:cNvPr id="94" name="1"/>
          <p:cNvSpPr txBox="1"/>
          <p:nvPr/>
        </p:nvSpPr>
        <p:spPr>
          <a:xfrm>
            <a:off x="6399609" y="2305149"/>
            <a:ext cx="103981"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1</a:t>
            </a:r>
            <a:endParaRPr lang="en-US" sz="900" dirty="0"/>
          </a:p>
        </p:txBody>
      </p:sp>
      <p:sp>
        <p:nvSpPr>
          <p:cNvPr id="95" name="신규 건설 프로젝트"/>
          <p:cNvSpPr txBox="1"/>
          <p:nvPr/>
        </p:nvSpPr>
        <p:spPr>
          <a:xfrm>
            <a:off x="6642100" y="2274292"/>
            <a:ext cx="1227040"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신규 건설 프로젝트</a:t>
            </a:r>
            <a:endParaRPr lang="en-US" sz="1300" dirty="0"/>
          </a:p>
        </p:txBody>
      </p:sp>
      <p:sp>
        <p:nvSpPr>
          <p:cNvPr id="96" name="2D 도면을 먼저 그린 뒤 BIM으로"/>
          <p:cNvSpPr txBox="1"/>
          <p:nvPr/>
        </p:nvSpPr>
        <p:spPr>
          <a:xfrm>
            <a:off x="6299200" y="2610247"/>
            <a:ext cx="1834303"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2D 도면을 먼저 그린 뒤 BIM으로</a:t>
            </a:r>
            <a:endParaRPr lang="en-US" sz="1100" dirty="0"/>
          </a:p>
        </p:txBody>
      </p:sp>
      <p:sp>
        <p:nvSpPr>
          <p:cNvPr id="97" name="옮기는 'BIM 전환설계'가 대부분"/>
          <p:cNvSpPr txBox="1"/>
          <p:nvPr/>
        </p:nvSpPr>
        <p:spPr>
          <a:xfrm>
            <a:off x="6299200" y="2819797"/>
            <a:ext cx="1768886"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옮기는 </a:t>
            </a:r>
            <a:pPr algn="l" indent="0" marL="0">
              <a:buNone/>
            </a:pP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'BIM 전환설계'</a:t>
            </a:r>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가 대부분</a:t>
            </a:r>
            <a:endParaRPr lang="en-US" sz="1100" dirty="0"/>
          </a:p>
        </p:txBody>
      </p:sp>
      <p:sp>
        <p:nvSpPr>
          <p:cNvPr id="98" name="설계 후반 투입 인력 증가·추가 비용"/>
          <p:cNvSpPr txBox="1"/>
          <p:nvPr/>
        </p:nvSpPr>
        <p:spPr>
          <a:xfrm>
            <a:off x="6489700" y="3207147"/>
            <a:ext cx="1741226"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설계 후반 투입 인력 증가·추가 비용</a:t>
            </a:r>
            <a:endParaRPr lang="en-US" sz="1000" dirty="0"/>
          </a:p>
        </p:txBody>
      </p:sp>
      <p:sp>
        <p:nvSpPr>
          <p:cNvPr id="99" name="투입 인력"/>
          <p:cNvSpPr txBox="1"/>
          <p:nvPr/>
        </p:nvSpPr>
        <p:spPr>
          <a:xfrm>
            <a:off x="8674100" y="2235597"/>
            <a:ext cx="410270" cy="120650"/>
          </a:xfrm>
          <a:prstGeom prst="rect">
            <a:avLst/>
          </a:prstGeom>
          <a:noFill/>
          <a:ln/>
        </p:spPr>
        <p:txBody>
          <a:bodyPr wrap="none" lIns="0" tIns="0" rIns="0" bIns="0" rtlCol="0" anchor="ctr"/>
          <a:lstStyle/>
          <a:p>
            <a:pPr algn="l" indent="0" marL="0">
              <a:buNone/>
            </a:pPr>
            <a:r>
              <a:rPr lang="ko-KR" altLang="en-US" sz="800" b="1" spc="-24" kern="0" dirty="0">
                <a:solidFill>
                  <a:srgbClr val="737C8B"/>
                </a:solidFill>
                <a:latin typeface="Pretendard" pitchFamily="34" charset="0"/>
                <a:ea typeface="Pretendard" pitchFamily="34" charset="-127"/>
                <a:cs typeface="Pretendard" pitchFamily="34" charset="-120"/>
              </a:rPr>
              <a:t>투입 인력</a:t>
            </a:r>
            <a:endParaRPr lang="en-US" sz="800" dirty="0"/>
          </a:p>
        </p:txBody>
      </p:sp>
      <p:sp>
        <p:nvSpPr>
          <p:cNvPr id="100" name="BIM 전환 설계 + 도면 작업"/>
          <p:cNvSpPr txBox="1"/>
          <p:nvPr/>
        </p:nvSpPr>
        <p:spPr>
          <a:xfrm>
            <a:off x="9321800" y="2337197"/>
            <a:ext cx="1143429" cy="127000"/>
          </a:xfrm>
          <a:prstGeom prst="rect">
            <a:avLst/>
          </a:prstGeom>
          <a:noFill/>
          <a:ln/>
        </p:spPr>
        <p:txBody>
          <a:bodyPr wrap="none" lIns="0" tIns="0" rIns="0" bIns="0" rtlCol="0" anchor="ctr"/>
          <a:lstStyle/>
          <a:p>
            <a:pPr algn="l" indent="0" marL="0">
              <a:buNone/>
            </a:pPr>
            <a:r>
              <a:rPr lang="ko-KR" altLang="en-US" sz="850" spc="-26" kern="0" dirty="0">
                <a:solidFill>
                  <a:srgbClr val="102A4C"/>
                </a:solidFill>
                <a:latin typeface="Pretendard ExtraBold" pitchFamily="34" charset="0"/>
                <a:ea typeface="Pretendard ExtraBold" pitchFamily="34" charset="-127"/>
                <a:cs typeface="Pretendard ExtraBold" pitchFamily="34" charset="-120"/>
              </a:rPr>
              <a:t>BIM 전환 설계 + 도면 작업</a:t>
            </a:r>
            <a:endParaRPr lang="en-US" sz="850" dirty="0"/>
          </a:p>
        </p:txBody>
      </p:sp>
      <p:sp>
        <p:nvSpPr>
          <p:cNvPr id="101" name="추가 비용 발생"/>
          <p:cNvSpPr txBox="1"/>
          <p:nvPr/>
        </p:nvSpPr>
        <p:spPr>
          <a:xfrm>
            <a:off x="9588500" y="2654697"/>
            <a:ext cx="633016" cy="127000"/>
          </a:xfrm>
          <a:prstGeom prst="rect">
            <a:avLst/>
          </a:prstGeom>
          <a:noFill/>
          <a:ln/>
        </p:spPr>
        <p:txBody>
          <a:bodyPr wrap="none" lIns="0" tIns="0" rIns="0" bIns="0" rtlCol="0" anchor="ctr"/>
          <a:lstStyle/>
          <a:p>
            <a:pPr algn="l" indent="0" marL="0">
              <a:buNone/>
            </a:pPr>
            <a:r>
              <a:rPr lang="ko-KR" altLang="en-US" sz="850" spc="-26" kern="0" dirty="0">
                <a:solidFill>
                  <a:srgbClr val="102A4C"/>
                </a:solidFill>
                <a:latin typeface="Pretendard ExtraBold" pitchFamily="34" charset="0"/>
                <a:ea typeface="Pretendard ExtraBold" pitchFamily="34" charset="-127"/>
                <a:cs typeface="Pretendard ExtraBold" pitchFamily="34" charset="-120"/>
              </a:rPr>
              <a:t>추가 비용 발생</a:t>
            </a:r>
            <a:endParaRPr lang="en-US" sz="850" dirty="0"/>
          </a:p>
        </p:txBody>
      </p:sp>
      <p:sp>
        <p:nvSpPr>
          <p:cNvPr id="102" name="2D 설계"/>
          <p:cNvSpPr txBox="1"/>
          <p:nvPr/>
        </p:nvSpPr>
        <p:spPr>
          <a:xfrm>
            <a:off x="9067800" y="2997597"/>
            <a:ext cx="387747" cy="127000"/>
          </a:xfrm>
          <a:prstGeom prst="rect">
            <a:avLst/>
          </a:prstGeom>
          <a:noFill/>
          <a:ln/>
        </p:spPr>
        <p:txBody>
          <a:bodyPr wrap="none" lIns="0" tIns="0" rIns="0" bIns="0" rtlCol="0" anchor="ctr"/>
          <a:lstStyle/>
          <a:p>
            <a:pPr algn="l" indent="0" marL="0">
              <a:buNone/>
            </a:pPr>
            <a:r>
              <a:rPr lang="ko-KR" altLang="en-US" sz="850" b="1" spc="-26" kern="0" dirty="0">
                <a:solidFill>
                  <a:srgbClr val="737C8B"/>
                </a:solidFill>
                <a:latin typeface="Pretendard" pitchFamily="34" charset="0"/>
                <a:ea typeface="Pretendard" pitchFamily="34" charset="-127"/>
                <a:cs typeface="Pretendard" pitchFamily="34" charset="-120"/>
              </a:rPr>
              <a:t>2D 설계</a:t>
            </a:r>
            <a:endParaRPr lang="en-US" sz="850" dirty="0"/>
          </a:p>
        </p:txBody>
      </p:sp>
      <p:sp>
        <p:nvSpPr>
          <p:cNvPr id="103" name="설계"/>
          <p:cNvSpPr txBox="1"/>
          <p:nvPr/>
        </p:nvSpPr>
        <p:spPr>
          <a:xfrm>
            <a:off x="9047559" y="3480197"/>
            <a:ext cx="230981"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설계</a:t>
            </a:r>
            <a:endParaRPr lang="en-US" sz="850" dirty="0"/>
          </a:p>
        </p:txBody>
      </p:sp>
      <p:sp>
        <p:nvSpPr>
          <p:cNvPr id="104" name="인허가"/>
          <p:cNvSpPr txBox="1"/>
          <p:nvPr/>
        </p:nvSpPr>
        <p:spPr>
          <a:xfrm>
            <a:off x="9758164" y="3480197"/>
            <a:ext cx="321072"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인허가</a:t>
            </a:r>
            <a:endParaRPr lang="en-US" sz="850" dirty="0"/>
          </a:p>
        </p:txBody>
      </p:sp>
      <p:sp>
        <p:nvSpPr>
          <p:cNvPr id="105" name="시공"/>
          <p:cNvSpPr txBox="1"/>
          <p:nvPr/>
        </p:nvSpPr>
        <p:spPr>
          <a:xfrm>
            <a:off x="10539809" y="3480197"/>
            <a:ext cx="230981"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시공</a:t>
            </a:r>
            <a:endParaRPr lang="en-US" sz="850" dirty="0"/>
          </a:p>
        </p:txBody>
      </p:sp>
      <p:sp>
        <p:nvSpPr>
          <p:cNvPr id="106" name="출처: 진상윤, 「BIM은 독일까? 득일까?」, 건축문화신문, 2015"/>
          <p:cNvSpPr txBox="1"/>
          <p:nvPr/>
        </p:nvSpPr>
        <p:spPr>
          <a:xfrm>
            <a:off x="9476184" y="3713956"/>
            <a:ext cx="2017197"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진상윤, 「BIM은 독일까? 득일까?」, 건축문화신문, 2015</a:t>
            </a:r>
            <a:endParaRPr lang="en-US" sz="650" dirty="0"/>
          </a:p>
        </p:txBody>
      </p:sp>
      <p:sp>
        <p:nvSpPr>
          <p:cNvPr id="107" name="2030 건축BIM 로드맵"/>
          <p:cNvSpPr txBox="1"/>
          <p:nvPr/>
        </p:nvSpPr>
        <p:spPr>
          <a:xfrm>
            <a:off x="812800" y="4388247"/>
            <a:ext cx="1525097"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2030 건축BIM 로드맵</a:t>
            </a:r>
            <a:endParaRPr lang="en-US" sz="1300" dirty="0"/>
          </a:p>
        </p:txBody>
      </p:sp>
      <p:sp>
        <p:nvSpPr>
          <p:cNvPr id="108" name="'25"/>
          <p:cNvSpPr txBox="1"/>
          <p:nvPr/>
        </p:nvSpPr>
        <p:spPr>
          <a:xfrm>
            <a:off x="812800" y="4775597"/>
            <a:ext cx="249138"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'25</a:t>
            </a:r>
            <a:endParaRPr lang="en-US" sz="1100" dirty="0"/>
          </a:p>
        </p:txBody>
      </p:sp>
      <p:sp>
        <p:nvSpPr>
          <p:cNvPr id="109" name="BIM 설계 기반 구축"/>
          <p:cNvSpPr txBox="1"/>
          <p:nvPr/>
        </p:nvSpPr>
        <p:spPr>
          <a:xfrm>
            <a:off x="812800" y="5137547"/>
            <a:ext cx="960219"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BIM 설계 기반 구축</a:t>
            </a:r>
            <a:endParaRPr lang="en-US" sz="950" dirty="0"/>
          </a:p>
        </p:txBody>
      </p:sp>
      <p:sp>
        <p:nvSpPr>
          <p:cNvPr id="110" name="'30"/>
          <p:cNvSpPr txBox="1"/>
          <p:nvPr/>
        </p:nvSpPr>
        <p:spPr>
          <a:xfrm>
            <a:off x="2108200" y="4775597"/>
            <a:ext cx="259259"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'30</a:t>
            </a:r>
            <a:endParaRPr lang="en-US" sz="1100" dirty="0"/>
          </a:p>
        </p:txBody>
      </p:sp>
      <p:sp>
        <p:nvSpPr>
          <p:cNvPr id="111" name="디지털 건축서비스"/>
          <p:cNvSpPr txBox="1"/>
          <p:nvPr/>
        </p:nvSpPr>
        <p:spPr>
          <a:xfrm>
            <a:off x="2108200" y="5137547"/>
            <a:ext cx="900061"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디지털 건축서비스</a:t>
            </a:r>
            <a:endParaRPr lang="en-US" sz="950" dirty="0"/>
          </a:p>
        </p:txBody>
      </p:sp>
      <p:sp>
        <p:nvSpPr>
          <p:cNvPr id="112" name="완전 구현"/>
          <p:cNvSpPr txBox="1"/>
          <p:nvPr/>
        </p:nvSpPr>
        <p:spPr>
          <a:xfrm>
            <a:off x="2108200" y="5300365"/>
            <a:ext cx="488950"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완전 구현</a:t>
            </a:r>
            <a:endParaRPr lang="en-US" sz="950" dirty="0"/>
          </a:p>
        </p:txBody>
      </p:sp>
      <p:sp>
        <p:nvSpPr>
          <p:cNvPr id="113" name="공동주택(LH) BIM 의무화"/>
          <p:cNvSpPr txBox="1"/>
          <p:nvPr/>
        </p:nvSpPr>
        <p:spPr>
          <a:xfrm>
            <a:off x="3514725" y="4775597"/>
            <a:ext cx="1146689" cy="127000"/>
          </a:xfrm>
          <a:prstGeom prst="rect">
            <a:avLst/>
          </a:prstGeom>
          <a:noFill/>
          <a:ln/>
        </p:spPr>
        <p:txBody>
          <a:bodyPr wrap="none" lIns="0" tIns="0" rIns="0" bIns="0" rtlCol="0" anchor="ctr"/>
          <a:lstStyle/>
          <a:p>
            <a:pPr algn="l" indent="0" marL="0">
              <a:buNone/>
            </a:pPr>
            <a:r>
              <a:rPr lang="ko-KR" altLang="en-US" sz="850" b="1" spc="-17" kern="0" dirty="0">
                <a:solidFill>
                  <a:srgbClr val="737C8B"/>
                </a:solidFill>
                <a:latin typeface="Pretendard" pitchFamily="34" charset="0"/>
                <a:ea typeface="Pretendard" pitchFamily="34" charset="-127"/>
                <a:cs typeface="Pretendard" pitchFamily="34" charset="-120"/>
              </a:rPr>
              <a:t>공동주택(LH) BIM 의무화</a:t>
            </a:r>
            <a:endParaRPr lang="en-US" sz="850" dirty="0"/>
          </a:p>
        </p:txBody>
      </p:sp>
      <p:sp>
        <p:nvSpPr>
          <p:cNvPr id="114" name="'20"/>
          <p:cNvSpPr txBox="1"/>
          <p:nvPr/>
        </p:nvSpPr>
        <p:spPr>
          <a:xfrm>
            <a:off x="3514725" y="4975622"/>
            <a:ext cx="204688"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'20</a:t>
            </a:r>
            <a:endParaRPr lang="en-US" sz="850" dirty="0"/>
          </a:p>
        </p:txBody>
      </p:sp>
      <p:sp>
        <p:nvSpPr>
          <p:cNvPr id="115" name="25%"/>
          <p:cNvSpPr txBox="1"/>
          <p:nvPr/>
        </p:nvSpPr>
        <p:spPr>
          <a:xfrm>
            <a:off x="5290542" y="4972447"/>
            <a:ext cx="297458"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25%</a:t>
            </a:r>
            <a:endParaRPr lang="en-US" sz="900" dirty="0"/>
          </a:p>
        </p:txBody>
      </p:sp>
      <p:sp>
        <p:nvSpPr>
          <p:cNvPr id="116" name="'22"/>
          <p:cNvSpPr txBox="1"/>
          <p:nvPr/>
        </p:nvSpPr>
        <p:spPr>
          <a:xfrm>
            <a:off x="3514725" y="5166122"/>
            <a:ext cx="199330"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'22</a:t>
            </a:r>
            <a:endParaRPr lang="en-US" sz="850" dirty="0"/>
          </a:p>
        </p:txBody>
      </p:sp>
      <p:sp>
        <p:nvSpPr>
          <p:cNvPr id="117" name="50%"/>
          <p:cNvSpPr txBox="1"/>
          <p:nvPr/>
        </p:nvSpPr>
        <p:spPr>
          <a:xfrm>
            <a:off x="5284887" y="5162947"/>
            <a:ext cx="303113"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50%</a:t>
            </a:r>
            <a:endParaRPr lang="en-US" sz="900" dirty="0"/>
          </a:p>
        </p:txBody>
      </p:sp>
      <p:sp>
        <p:nvSpPr>
          <p:cNvPr id="118" name="'24"/>
          <p:cNvSpPr txBox="1"/>
          <p:nvPr/>
        </p:nvSpPr>
        <p:spPr>
          <a:xfrm>
            <a:off x="3514725" y="5356622"/>
            <a:ext cx="202803"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'24</a:t>
            </a:r>
            <a:endParaRPr lang="en-US" sz="850" dirty="0"/>
          </a:p>
        </p:txBody>
      </p:sp>
      <p:sp>
        <p:nvSpPr>
          <p:cNvPr id="119" name="100%"/>
          <p:cNvSpPr txBox="1"/>
          <p:nvPr/>
        </p:nvSpPr>
        <p:spPr>
          <a:xfrm>
            <a:off x="5229027" y="5353447"/>
            <a:ext cx="358973"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100%</a:t>
            </a:r>
            <a:endParaRPr lang="en-US" sz="900" dirty="0"/>
          </a:p>
        </p:txBody>
      </p:sp>
      <p:sp>
        <p:nvSpPr>
          <p:cNvPr id="120" name="2"/>
          <p:cNvSpPr txBox="1"/>
          <p:nvPr/>
        </p:nvSpPr>
        <p:spPr>
          <a:xfrm>
            <a:off x="6391573" y="4438749"/>
            <a:ext cx="119955"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2</a:t>
            </a:r>
            <a:endParaRPr lang="en-US" sz="900" dirty="0"/>
          </a:p>
        </p:txBody>
      </p:sp>
      <p:sp>
        <p:nvSpPr>
          <p:cNvPr id="121" name="기존 건축물"/>
          <p:cNvSpPr txBox="1"/>
          <p:nvPr/>
        </p:nvSpPr>
        <p:spPr>
          <a:xfrm>
            <a:off x="6642100" y="4407892"/>
            <a:ext cx="76656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기존 건축물</a:t>
            </a:r>
            <a:endParaRPr lang="en-US" sz="1300" dirty="0"/>
          </a:p>
        </p:txBody>
      </p:sp>
      <p:sp>
        <p:nvSpPr>
          <p:cNvPr id="122" name="BIM 없이 2D 도면만 남아 있음"/>
          <p:cNvSpPr txBox="1"/>
          <p:nvPr/>
        </p:nvSpPr>
        <p:spPr>
          <a:xfrm>
            <a:off x="6299200" y="4743847"/>
            <a:ext cx="1712829"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없이 </a:t>
            </a:r>
            <a:pPr algn="l" indent="0" marL="0">
              <a:buNone/>
            </a:pP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2D 도면만</a:t>
            </a:r>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 남아 있음</a:t>
            </a:r>
            <a:endParaRPr lang="en-US" sz="1100" dirty="0"/>
          </a:p>
        </p:txBody>
      </p:sp>
      <p:sp>
        <p:nvSpPr>
          <p:cNvPr id="123" name="BIM을 쓰려면 2D 도면으로"/>
          <p:cNvSpPr txBox="1"/>
          <p:nvPr/>
        </p:nvSpPr>
        <p:spPr>
          <a:xfrm>
            <a:off x="6489700" y="5131197"/>
            <a:ext cx="1376174"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BIM을 쓰려면 2D 도면으로</a:t>
            </a:r>
            <a:endParaRPr lang="en-US" sz="1000" dirty="0"/>
          </a:p>
        </p:txBody>
      </p:sp>
      <p:sp>
        <p:nvSpPr>
          <p:cNvPr id="124" name="3D BIM을 새로 구축해야 함"/>
          <p:cNvSpPr txBox="1"/>
          <p:nvPr/>
        </p:nvSpPr>
        <p:spPr>
          <a:xfrm>
            <a:off x="6489700" y="5315347"/>
            <a:ext cx="1406989"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3D BIM을 새로 구축해야 함</a:t>
            </a:r>
            <a:endParaRPr lang="en-US" sz="1000" dirty="0"/>
          </a:p>
        </p:txBody>
      </p:sp>
      <p:sp>
        <p:nvSpPr>
          <p:cNvPr id="125" name="2D 도면"/>
          <p:cNvSpPr txBox="1"/>
          <p:nvPr/>
        </p:nvSpPr>
        <p:spPr>
          <a:xfrm>
            <a:off x="8973592" y="5270897"/>
            <a:ext cx="417016" cy="133350"/>
          </a:xfrm>
          <a:prstGeom prst="rect">
            <a:avLst/>
          </a:prstGeom>
          <a:noFill/>
          <a:ln/>
        </p:spPr>
        <p:txBody>
          <a:bodyPr wrap="none" lIns="0" tIns="0" rIns="0" bIns="0" rtlCol="0" anchor="ctr"/>
          <a:lstStyle/>
          <a:p>
            <a:pPr algn="l" indent="0" marL="0">
              <a:buNone/>
            </a:pPr>
            <a:r>
              <a:rPr lang="ko-KR" altLang="en-US" sz="900" b="1" spc="-12" kern="0" dirty="0">
                <a:solidFill>
                  <a:srgbClr val="3F4654"/>
                </a:solidFill>
                <a:latin typeface="Pretendard" pitchFamily="34" charset="0"/>
                <a:ea typeface="Pretendard" pitchFamily="34" charset="-127"/>
                <a:cs typeface="Pretendard" pitchFamily="34" charset="-120"/>
              </a:rPr>
              <a:t>2D 도면</a:t>
            </a:r>
            <a:endParaRPr lang="en-US" sz="900" dirty="0"/>
          </a:p>
        </p:txBody>
      </p:sp>
      <p:sp>
        <p:nvSpPr>
          <p:cNvPr id="126" name="새로 구축"/>
          <p:cNvSpPr txBox="1"/>
          <p:nvPr/>
        </p:nvSpPr>
        <p:spPr>
          <a:xfrm>
            <a:off x="9735145" y="4661297"/>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새로 구축</a:t>
            </a:r>
            <a:endParaRPr lang="en-US" sz="800" dirty="0"/>
          </a:p>
        </p:txBody>
      </p:sp>
      <p:sp>
        <p:nvSpPr>
          <p:cNvPr id="127" name="3D BIM"/>
          <p:cNvSpPr txBox="1"/>
          <p:nvPr/>
        </p:nvSpPr>
        <p:spPr>
          <a:xfrm>
            <a:off x="10644287" y="5270897"/>
            <a:ext cx="428427" cy="133350"/>
          </a:xfrm>
          <a:prstGeom prst="rect">
            <a:avLst/>
          </a:prstGeom>
          <a:noFill/>
          <a:ln/>
        </p:spPr>
        <p:txBody>
          <a:bodyPr wrap="none" lIns="0" tIns="0" rIns="0" bIns="0" rtlCol="0" anchor="ctr"/>
          <a:lstStyle/>
          <a:p>
            <a:pPr algn="l" indent="0" marL="0">
              <a:buNone/>
            </a:pPr>
            <a:r>
              <a:rPr lang="ko-KR" altLang="en-US" sz="900" spc="-12" kern="0" dirty="0">
                <a:solidFill>
                  <a:srgbClr val="102A4C"/>
                </a:solidFill>
                <a:latin typeface="Pretendard ExtraBold" pitchFamily="34" charset="0"/>
                <a:ea typeface="Pretendard ExtraBold" pitchFamily="34" charset="-127"/>
                <a:cs typeface="Pretendard ExtraBold" pitchFamily="34" charset="-120"/>
              </a:rPr>
              <a:t>3D BIM</a:t>
            </a:r>
            <a:endParaRPr lang="en-US" sz="900" dirty="0"/>
          </a:p>
        </p:txBody>
      </p:sp>
      <p:sp>
        <p:nvSpPr>
          <p:cNvPr id="128" name="출처: 국토교통부 「스마트 건설 활성화 방안」, 「2030 건축BIM 로"/>
          <p:cNvSpPr txBox="1"/>
          <p:nvPr/>
        </p:nvSpPr>
        <p:spPr>
          <a:xfrm>
            <a:off x="609600" y="5772547"/>
            <a:ext cx="2302633"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국토교통부 「스마트 건설 활성화 방안」, 「2030 건축BIM 로드맵」</a:t>
            </a:r>
            <a:endParaRPr lang="en-US" sz="650" dirty="0"/>
          </a:p>
        </p:txBody>
      </p:sp>
      <p:sp>
        <p:nvSpPr>
          <p:cNvPr id="129" name="결국 BIM을 만들려면, 사람이 도면을 보고 직접 모델링해야 합니다."/>
          <p:cNvSpPr txBox="1"/>
          <p:nvPr/>
        </p:nvSpPr>
        <p:spPr>
          <a:xfrm>
            <a:off x="4335264" y="6064647"/>
            <a:ext cx="3975076" cy="184150"/>
          </a:xfrm>
          <a:prstGeom prst="rect">
            <a:avLst/>
          </a:prstGeom>
          <a:noFill/>
          <a:ln/>
        </p:spPr>
        <p:txBody>
          <a:bodyPr wrap="none" lIns="0" tIns="0" rIns="0" bIns="0" rtlCol="0" anchor="ctr"/>
          <a:lstStyle/>
          <a:p>
            <a:pPr algn="l" indent="0" marL="0">
              <a:buNone/>
            </a:pPr>
            <a:r>
              <a:rPr lang="ko-KR" altLang="en-US" sz="1200" b="1" spc="-36" kern="0" dirty="0">
                <a:solidFill>
                  <a:srgbClr val="102A4C"/>
                </a:solidFill>
                <a:latin typeface="Pretendard" pitchFamily="34" charset="0"/>
                <a:ea typeface="Pretendard" pitchFamily="34" charset="-127"/>
                <a:cs typeface="Pretendard" pitchFamily="34" charset="-120"/>
              </a:rPr>
              <a:t>결국 BIM을 만들려면, </a:t>
            </a:r>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사람이 도면을 보고 직접 모델링</a:t>
            </a:r>
            <a:pPr algn="l" indent="0" marL="0">
              <a:buNone/>
            </a:pPr>
            <a:r>
              <a:rPr lang="ko-KR" altLang="en-US" sz="1200" b="1" spc="-36" kern="0" dirty="0">
                <a:solidFill>
                  <a:srgbClr val="102A4C"/>
                </a:solidFill>
                <a:latin typeface="Pretendard" pitchFamily="34" charset="0"/>
                <a:ea typeface="Pretendard" pitchFamily="34" charset="-127"/>
                <a:cs typeface="Pretendard" pitchFamily="34" charset="-120"/>
              </a:rPr>
              <a:t>해야 합니다.</a:t>
            </a:r>
            <a:endParaRPr lang="en-US" sz="1200" dirty="0"/>
          </a:p>
        </p:txBody>
      </p:sp>
      <p:sp>
        <p:nvSpPr>
          <p:cNvPr id="130"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131" name="03 / 12"/>
          <p:cNvSpPr txBox="1"/>
          <p:nvPr/>
        </p:nvSpPr>
        <p:spPr>
          <a:xfrm>
            <a:off x="11235333" y="6472238"/>
            <a:ext cx="397867"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03</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962150"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on"/>
          <p:cNvSpPr/>
          <p:nvPr/>
        </p:nvSpPr>
        <p:spPr>
          <a:xfrm>
            <a:off x="99695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5" name="i"/>
          <p:cNvSpPr/>
          <p:nvPr/>
        </p:nvSpPr>
        <p:spPr>
          <a:xfrm>
            <a:off x="102997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4-panel in"/>
          <p:cNvSpPr/>
          <p:nvPr/>
        </p:nvSpPr>
        <p:spPr>
          <a:xfrm>
            <a:off x="609600" y="1613297"/>
            <a:ext cx="4064000" cy="2590800"/>
          </a:xfrm>
          <a:prstGeom prst="roundRect">
            <a:avLst>
              <a:gd name="adj" fmla="val 4902"/>
            </a:avLst>
          </a:prstGeom>
          <a:solidFill>
            <a:srgbClr val="F3F5F8"/>
          </a:solidFill>
          <a:ln>
            <a:noFill/>
          </a:ln>
        </p:spPr>
        <p:txBody>
          <a:bodyPr rtlCol="0" anchor="ctr"/>
          <a:lstStyle/>
          <a:p>
            <a:pPr algn="ctr"/>
            <a:endParaRPr lang="ko-KR" dirty="0"/>
          </a:p>
        </p:txBody>
      </p:sp>
      <p:sp>
        <p:nvSpPr>
          <p:cNvPr id="10" name="s4-sheet b3"/>
          <p:cNvSpPr/>
          <p:nvPr/>
        </p:nvSpPr>
        <p:spPr>
          <a:xfrm>
            <a:off x="1069975" y="2200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1" name="img" descr="img">    </p:cNvPr>
          <p:cNvPicPr>
            <a:picLocks noChangeAspect="1"/>
          </p:cNvPicPr>
          <p:nvPr/>
        </p:nvPicPr>
        <p:blipFill>
          <a:blip r:embed="rId1"/>
          <a:stretch>
            <a:fillRect/>
          </a:stretch>
        </p:blipFill>
        <p:spPr>
          <a:xfrm>
            <a:off x="1073150" y="2203847"/>
            <a:ext cx="1358900" cy="1358900"/>
          </a:xfrm>
          <a:prstGeom prst="rect">
            <a:avLst/>
          </a:prstGeom>
        </p:spPr>
      </p:pic>
      <p:sp>
        <p:nvSpPr>
          <p:cNvPr id="12" name="s4-sheet b2"/>
          <p:cNvSpPr/>
          <p:nvPr/>
        </p:nvSpPr>
        <p:spPr>
          <a:xfrm>
            <a:off x="942975" y="2327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3" name="img" descr="img">    </p:cNvPr>
          <p:cNvPicPr>
            <a:picLocks noChangeAspect="1"/>
          </p:cNvPicPr>
          <p:nvPr/>
        </p:nvPicPr>
        <p:blipFill>
          <a:blip r:embed="rId2"/>
          <a:stretch>
            <a:fillRect/>
          </a:stretch>
        </p:blipFill>
        <p:spPr>
          <a:xfrm>
            <a:off x="946150" y="2330847"/>
            <a:ext cx="1358900" cy="1358900"/>
          </a:xfrm>
          <a:prstGeom prst="rect">
            <a:avLst/>
          </a:prstGeom>
        </p:spPr>
      </p:pic>
      <p:sp>
        <p:nvSpPr>
          <p:cNvPr id="14" name="s4-sheet b1"/>
          <p:cNvSpPr/>
          <p:nvPr/>
        </p:nvSpPr>
        <p:spPr>
          <a:xfrm>
            <a:off x="815975" y="2454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5" name="img" descr="img">    </p:cNvPr>
          <p:cNvPicPr>
            <a:picLocks noChangeAspect="1"/>
          </p:cNvPicPr>
          <p:nvPr/>
        </p:nvPicPr>
        <p:blipFill>
          <a:blip r:embed="rId3"/>
          <a:stretch>
            <a:fillRect/>
          </a:stretch>
        </p:blipFill>
        <p:spPr>
          <a:xfrm>
            <a:off x="819150" y="2457847"/>
            <a:ext cx="1358900" cy="1358900"/>
          </a:xfrm>
          <a:prstGeom prst="rect">
            <a:avLst/>
          </a:prstGeom>
        </p:spPr>
      </p:pic>
      <p:sp>
        <p:nvSpPr>
          <p:cNvPr id="16" name="s4-sheet b3"/>
          <p:cNvSpPr/>
          <p:nvPr/>
        </p:nvSpPr>
        <p:spPr>
          <a:xfrm>
            <a:off x="3101975" y="2200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7" name="img" descr="img">    </p:cNvPr>
          <p:cNvPicPr>
            <a:picLocks noChangeAspect="1"/>
          </p:cNvPicPr>
          <p:nvPr/>
        </p:nvPicPr>
        <p:blipFill>
          <a:blip r:embed="rId4"/>
          <a:stretch>
            <a:fillRect/>
          </a:stretch>
        </p:blipFill>
        <p:spPr>
          <a:xfrm>
            <a:off x="3105150" y="2203847"/>
            <a:ext cx="1358900" cy="1358900"/>
          </a:xfrm>
          <a:prstGeom prst="rect">
            <a:avLst/>
          </a:prstGeom>
        </p:spPr>
      </p:pic>
      <p:sp>
        <p:nvSpPr>
          <p:cNvPr id="18" name="s4-sheet b2"/>
          <p:cNvSpPr/>
          <p:nvPr/>
        </p:nvSpPr>
        <p:spPr>
          <a:xfrm>
            <a:off x="2974975" y="2327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9" name="img" descr="img">    </p:cNvPr>
          <p:cNvPicPr>
            <a:picLocks noChangeAspect="1"/>
          </p:cNvPicPr>
          <p:nvPr/>
        </p:nvPicPr>
        <p:blipFill>
          <a:blip r:embed="rId5"/>
          <a:stretch>
            <a:fillRect/>
          </a:stretch>
        </p:blipFill>
        <p:spPr>
          <a:xfrm>
            <a:off x="2978150" y="2330847"/>
            <a:ext cx="1358900" cy="1358900"/>
          </a:xfrm>
          <a:prstGeom prst="rect">
            <a:avLst/>
          </a:prstGeom>
        </p:spPr>
      </p:pic>
      <p:sp>
        <p:nvSpPr>
          <p:cNvPr id="20" name="s4-sheet b1"/>
          <p:cNvSpPr/>
          <p:nvPr/>
        </p:nvSpPr>
        <p:spPr>
          <a:xfrm>
            <a:off x="2847975" y="2454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21" name="img" descr="img">    </p:cNvPr>
          <p:cNvPicPr>
            <a:picLocks noChangeAspect="1"/>
          </p:cNvPicPr>
          <p:nvPr/>
        </p:nvPicPr>
        <p:blipFill>
          <a:blip r:embed="rId6"/>
          <a:stretch>
            <a:fillRect/>
          </a:stretch>
        </p:blipFill>
        <p:spPr>
          <a:xfrm>
            <a:off x="2851150" y="2457847"/>
            <a:ext cx="1358900" cy="1358900"/>
          </a:xfrm>
          <a:prstGeom prst="rect">
            <a:avLst/>
          </a:prstGeom>
        </p:spPr>
      </p:pic>
      <p:sp>
        <p:nvSpPr>
          <p:cNvPr id="22" name="s4-arrow line"/>
          <p:cNvSpPr/>
          <p:nvPr/>
        </p:nvSpPr>
        <p:spPr>
          <a:xfrm>
            <a:off x="4775200" y="2934097"/>
            <a:ext cx="723900" cy="1"/>
          </a:xfrm>
          <a:custGeom>
            <a:avLst/>
            <a:gdLst/>
            <a:ahLst/>
            <a:cxnLst/>
            <a:rect l="0" t="0" r="r" b="b"/>
            <a:pathLst>
              <a:path w="723900" h="1">
                <a:moveTo>
                  <a:pt x="0" y="0"/>
                </a:moveTo>
                <a:lnTo>
                  <a:pt x="7239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23" name="s4-arrow polygon"/>
          <p:cNvSpPr/>
          <p:nvPr/>
        </p:nvSpPr>
        <p:spPr>
          <a:xfrm>
            <a:off x="5486400" y="2889647"/>
            <a:ext cx="76200" cy="88900"/>
          </a:xfrm>
          <a:custGeom>
            <a:avLst/>
            <a:gdLst/>
            <a:ahLst/>
            <a:cxnLst/>
            <a:rect l="0" t="0" r="r" b="b"/>
            <a:pathLst>
              <a:path w="76200" h="88900" stroke="0">
                <a:moveTo>
                  <a:pt x="76200" y="44450"/>
                </a:moveTo>
                <a:lnTo>
                  <a:pt x="0" y="0"/>
                </a:lnTo>
                <a:lnTo>
                  <a:pt x="0" y="88900"/>
                </a:lnTo>
                <a:close/>
              </a:path>
            </a:pathLst>
          </a:custGeom>
          <a:solidFill>
            <a:srgbClr val="2B4A78"/>
          </a:solidFill>
          <a:ln>
            <a:noFill/>
          </a:ln>
        </p:spPr>
        <p:txBody>
          <a:bodyPr rtlCol="0" anchor="ctr"/>
          <a:lstStyle/>
          <a:p>
            <a:pPr algn="ctr"/>
            <a:endParaRPr lang="ko-KR" dirty="0"/>
          </a:p>
        </p:txBody>
      </p:sp>
      <p:sp>
        <p:nvSpPr>
          <p:cNvPr id="24" name="s4-arrow line"/>
          <p:cNvSpPr/>
          <p:nvPr/>
        </p:nvSpPr>
        <p:spPr>
          <a:xfrm>
            <a:off x="6629400" y="2934097"/>
            <a:ext cx="723900" cy="1"/>
          </a:xfrm>
          <a:custGeom>
            <a:avLst/>
            <a:gdLst/>
            <a:ahLst/>
            <a:cxnLst/>
            <a:rect l="0" t="0" r="r" b="b"/>
            <a:pathLst>
              <a:path w="723900" h="1">
                <a:moveTo>
                  <a:pt x="0" y="0"/>
                </a:moveTo>
                <a:lnTo>
                  <a:pt x="7239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25" name="s4-arrow polygon"/>
          <p:cNvSpPr/>
          <p:nvPr/>
        </p:nvSpPr>
        <p:spPr>
          <a:xfrm>
            <a:off x="7340600" y="2889647"/>
            <a:ext cx="76200" cy="88900"/>
          </a:xfrm>
          <a:custGeom>
            <a:avLst/>
            <a:gdLst/>
            <a:ahLst/>
            <a:cxnLst/>
            <a:rect l="0" t="0" r="r" b="b"/>
            <a:pathLst>
              <a:path w="76200" h="88900" stroke="0">
                <a:moveTo>
                  <a:pt x="76200" y="44450"/>
                </a:moveTo>
                <a:lnTo>
                  <a:pt x="0" y="0"/>
                </a:lnTo>
                <a:lnTo>
                  <a:pt x="0" y="88900"/>
                </a:lnTo>
                <a:close/>
              </a:path>
            </a:pathLst>
          </a:custGeom>
          <a:solidFill>
            <a:srgbClr val="2B4A78"/>
          </a:solidFill>
          <a:ln>
            <a:noFill/>
          </a:ln>
        </p:spPr>
        <p:txBody>
          <a:bodyPr rtlCol="0" anchor="ctr"/>
          <a:lstStyle/>
          <a:p>
            <a:pPr algn="ctr"/>
            <a:endParaRPr lang="ko-KR" dirty="0"/>
          </a:p>
        </p:txBody>
      </p:sp>
      <p:sp>
        <p:nvSpPr>
          <p:cNvPr id="26" name="s4-hand"/>
          <p:cNvSpPr/>
          <p:nvPr/>
        </p:nvSpPr>
        <p:spPr>
          <a:xfrm>
            <a:off x="5638800" y="2476897"/>
            <a:ext cx="914400" cy="914400"/>
          </a:xfrm>
          <a:prstGeom prst="ellipse">
            <a:avLst/>
          </a:prstGeom>
          <a:solidFill>
            <a:srgbClr val="102A4C"/>
          </a:solidFill>
          <a:ln>
            <a:noFill/>
          </a:ln>
        </p:spPr>
        <p:txBody>
          <a:bodyPr rtlCol="0" anchor="ctr"/>
          <a:lstStyle/>
          <a:p>
            <a:pPr algn="ctr"/>
            <a:endParaRPr lang="ko-KR" dirty="0"/>
          </a:p>
        </p:txBody>
      </p:sp>
      <p:sp>
        <p:nvSpPr>
          <p:cNvPr id="27" name="svg rect"/>
          <p:cNvSpPr/>
          <p:nvPr/>
        </p:nvSpPr>
        <p:spPr>
          <a:xfrm>
            <a:off x="6007100" y="2692797"/>
            <a:ext cx="368300" cy="254000"/>
          </a:xfrm>
          <a:prstGeom prst="roundRect">
            <a:avLst>
              <a:gd name="adj" fmla="val 10000"/>
            </a:avLst>
          </a:prstGeom>
          <a:noFill/>
          <a:ln w="15875" cap="rnd">
            <a:solidFill>
              <a:srgbClr val="FFFFFF"/>
            </a:solidFill>
            <a:round/>
          </a:ln>
        </p:spPr>
        <p:txBody>
          <a:bodyPr rtlCol="0" anchor="ctr"/>
          <a:lstStyle/>
          <a:p>
            <a:pPr algn="ctr"/>
            <a:endParaRPr lang="ko-KR" dirty="0"/>
          </a:p>
        </p:txBody>
      </p:sp>
      <p:sp>
        <p:nvSpPr>
          <p:cNvPr id="28" name="svg path"/>
          <p:cNvSpPr/>
          <p:nvPr/>
        </p:nvSpPr>
        <p:spPr>
          <a:xfrm>
            <a:off x="6121400" y="2946797"/>
            <a:ext cx="139700" cy="63500"/>
          </a:xfrm>
          <a:custGeom>
            <a:avLst/>
            <a:gdLst/>
            <a:ahLst/>
            <a:cxnLst/>
            <a:rect l="0" t="0" r="r" b="b"/>
            <a:pathLst>
              <a:path w="139700" h="63500" fill="none">
                <a:moveTo>
                  <a:pt x="69850" y="0"/>
                </a:moveTo>
                <a:lnTo>
                  <a:pt x="69850" y="63500"/>
                </a:lnTo>
                <a:moveTo>
                  <a:pt x="0" y="63500"/>
                </a:moveTo>
                <a:lnTo>
                  <a:pt x="139700" y="63500"/>
                </a:lnTo>
              </a:path>
            </a:pathLst>
          </a:custGeom>
          <a:noFill/>
          <a:ln w="15875" cap="rnd">
            <a:solidFill>
              <a:srgbClr val="FFFFFF"/>
            </a:solidFill>
            <a:round/>
          </a:ln>
        </p:spPr>
        <p:txBody>
          <a:bodyPr rtlCol="0" anchor="ctr"/>
          <a:lstStyle/>
          <a:p>
            <a:pPr algn="ctr"/>
            <a:endParaRPr lang="ko-KR" dirty="0"/>
          </a:p>
        </p:txBody>
      </p:sp>
      <p:sp>
        <p:nvSpPr>
          <p:cNvPr id="29" name="svg path"/>
          <p:cNvSpPr/>
          <p:nvPr/>
        </p:nvSpPr>
        <p:spPr>
          <a:xfrm>
            <a:off x="6121400" y="2749947"/>
            <a:ext cx="139700" cy="152400"/>
          </a:xfrm>
          <a:custGeom>
            <a:avLst/>
            <a:gdLst/>
            <a:ahLst/>
            <a:cxnLst/>
            <a:rect l="0" t="0" r="r" b="b"/>
            <a:pathLst>
              <a:path w="139700" h="152400" fill="none">
                <a:moveTo>
                  <a:pt x="69850" y="0"/>
                </a:moveTo>
                <a:lnTo>
                  <a:pt x="139700" y="38100"/>
                </a:lnTo>
                <a:lnTo>
                  <a:pt x="69850" y="76200"/>
                </a:lnTo>
                <a:lnTo>
                  <a:pt x="0" y="38100"/>
                </a:lnTo>
                <a:close/>
                <a:moveTo>
                  <a:pt x="0" y="38100"/>
                </a:moveTo>
                <a:lnTo>
                  <a:pt x="0" y="114300"/>
                </a:lnTo>
                <a:lnTo>
                  <a:pt x="69850" y="152400"/>
                </a:lnTo>
                <a:lnTo>
                  <a:pt x="69850" y="76200"/>
                </a:lnTo>
                <a:moveTo>
                  <a:pt x="139700" y="38100"/>
                </a:moveTo>
                <a:lnTo>
                  <a:pt x="139700" y="114300"/>
                </a:lnTo>
                <a:lnTo>
                  <a:pt x="69850" y="152400"/>
                </a:lnTo>
              </a:path>
            </a:pathLst>
          </a:custGeom>
          <a:noFill/>
          <a:ln w="15875" cap="rnd">
            <a:solidFill>
              <a:srgbClr val="FFFFFF"/>
            </a:solidFill>
            <a:round/>
          </a:ln>
        </p:spPr>
        <p:txBody>
          <a:bodyPr rtlCol="0" anchor="ctr"/>
          <a:lstStyle/>
          <a:p>
            <a:pPr algn="ctr"/>
            <a:endParaRPr lang="ko-KR" dirty="0"/>
          </a:p>
        </p:txBody>
      </p:sp>
      <p:sp>
        <p:nvSpPr>
          <p:cNvPr id="30" name="svg circle"/>
          <p:cNvSpPr/>
          <p:nvPr/>
        </p:nvSpPr>
        <p:spPr>
          <a:xfrm>
            <a:off x="5873750" y="2826147"/>
            <a:ext cx="114300" cy="114300"/>
          </a:xfrm>
          <a:prstGeom prst="ellipse">
            <a:avLst/>
          </a:prstGeom>
          <a:noFill/>
          <a:ln w="15875" cap="rnd">
            <a:solidFill>
              <a:srgbClr val="FFFFFF"/>
            </a:solidFill>
            <a:round/>
          </a:ln>
        </p:spPr>
        <p:txBody>
          <a:bodyPr rtlCol="0" anchor="ctr"/>
          <a:lstStyle/>
          <a:p>
            <a:pPr algn="ctr"/>
            <a:endParaRPr lang="ko-KR" dirty="0"/>
          </a:p>
        </p:txBody>
      </p:sp>
      <p:sp>
        <p:nvSpPr>
          <p:cNvPr id="31" name="svg path"/>
          <p:cNvSpPr/>
          <p:nvPr/>
        </p:nvSpPr>
        <p:spPr>
          <a:xfrm>
            <a:off x="5816600" y="2997597"/>
            <a:ext cx="228600" cy="152400"/>
          </a:xfrm>
          <a:custGeom>
            <a:avLst/>
            <a:gdLst/>
            <a:ahLst/>
            <a:cxnLst/>
            <a:rect l="0" t="0" r="r" b="b"/>
            <a:pathLst>
              <a:path w="228600" h="152400" fill="none">
                <a:moveTo>
                  <a:pt x="0" y="152400"/>
                </a:moveTo>
                <a:cubicBezTo>
                  <a:pt x="0" y="50800"/>
                  <a:pt x="50800" y="0"/>
                  <a:pt x="114300" y="0"/>
                </a:cubicBezTo>
                <a:cubicBezTo>
                  <a:pt x="177800" y="0"/>
                  <a:pt x="228600" y="50800"/>
                  <a:pt x="228600" y="152400"/>
                </a:cubicBezTo>
              </a:path>
            </a:pathLst>
          </a:custGeom>
          <a:noFill/>
          <a:ln w="15875" cap="rnd">
            <a:solidFill>
              <a:srgbClr val="FFFFFF"/>
            </a:solidFill>
            <a:round/>
          </a:ln>
        </p:spPr>
        <p:txBody>
          <a:bodyPr rtlCol="0" anchor="ctr"/>
          <a:lstStyle/>
          <a:p>
            <a:pPr algn="ctr"/>
            <a:endParaRPr lang="ko-KR" dirty="0"/>
          </a:p>
        </p:txBody>
      </p:sp>
      <p:sp>
        <p:nvSpPr>
          <p:cNvPr id="32" name="svg path"/>
          <p:cNvSpPr/>
          <p:nvPr/>
        </p:nvSpPr>
        <p:spPr>
          <a:xfrm>
            <a:off x="5791200" y="3149997"/>
            <a:ext cx="609600" cy="1"/>
          </a:xfrm>
          <a:custGeom>
            <a:avLst/>
            <a:gdLst/>
            <a:ahLst/>
            <a:cxnLst/>
            <a:rect l="0" t="0" r="r" b="b"/>
            <a:pathLst>
              <a:path w="609600" h="1" fill="none">
                <a:moveTo>
                  <a:pt x="0" y="0"/>
                </a:moveTo>
                <a:lnTo>
                  <a:pt x="609600" y="0"/>
                </a:lnTo>
              </a:path>
            </a:pathLst>
          </a:custGeom>
          <a:noFill/>
          <a:ln w="15875" cap="rnd">
            <a:solidFill>
              <a:srgbClr val="FFFFFF"/>
            </a:solidFill>
            <a:round/>
          </a:ln>
        </p:spPr>
        <p:txBody>
          <a:bodyPr rtlCol="0" anchor="ctr"/>
          <a:lstStyle/>
          <a:p>
            <a:pPr algn="ctr"/>
            <a:endParaRPr lang="ko-KR" dirty="0"/>
          </a:p>
        </p:txBody>
      </p:sp>
      <p:sp>
        <p:nvSpPr>
          <p:cNvPr id="33" name="s4-panel out"/>
          <p:cNvSpPr/>
          <p:nvPr/>
        </p:nvSpPr>
        <p:spPr>
          <a:xfrm>
            <a:off x="7518400" y="1613297"/>
            <a:ext cx="4064000" cy="2590800"/>
          </a:xfrm>
          <a:prstGeom prst="roundRect">
            <a:avLst>
              <a:gd name="adj" fmla="val 4902"/>
            </a:avLst>
          </a:prstGeom>
          <a:solidFill>
            <a:srgbClr val="F3F5F8"/>
          </a:solidFill>
          <a:ln>
            <a:noFill/>
          </a:ln>
        </p:spPr>
        <p:txBody>
          <a:bodyPr rtlCol="0" anchor="ctr"/>
          <a:lstStyle/>
          <a:p>
            <a:pPr algn="ctr"/>
            <a:endParaRPr lang="ko-KR" dirty="0"/>
          </a:p>
        </p:txBody>
      </p:sp>
      <p:sp>
        <p:nvSpPr>
          <p:cNvPr id="34" name="fig s4-fig"/>
          <p:cNvSpPr/>
          <p:nvPr/>
        </p:nvSpPr>
        <p:spPr>
          <a:xfrm>
            <a:off x="8131175" y="2200672"/>
            <a:ext cx="2838450" cy="1619250"/>
          </a:xfrm>
          <a:prstGeom prst="roundRect">
            <a:avLst>
              <a:gd name="adj" fmla="val 4510"/>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35" name="img" descr="img">    </p:cNvPr>
          <p:cNvPicPr>
            <a:picLocks noChangeAspect="1"/>
          </p:cNvPicPr>
          <p:nvPr/>
        </p:nvPicPr>
        <p:blipFill>
          <a:blip r:embed="rId7"/>
          <a:stretch>
            <a:fillRect/>
          </a:stretch>
        </p:blipFill>
        <p:spPr>
          <a:xfrm>
            <a:off x="8616950" y="2203847"/>
            <a:ext cx="1866900" cy="1612900"/>
          </a:xfrm>
          <a:prstGeom prst="rect">
            <a:avLst/>
          </a:prstGeom>
        </p:spPr>
      </p:pic>
      <p:sp>
        <p:nvSpPr>
          <p:cNvPr id="36" name="s4-links path"/>
          <p:cNvSpPr/>
          <p:nvPr/>
        </p:nvSpPr>
        <p:spPr>
          <a:xfrm>
            <a:off x="2336800" y="4026297"/>
            <a:ext cx="7518400" cy="558800"/>
          </a:xfrm>
          <a:custGeom>
            <a:avLst/>
            <a:gdLst/>
            <a:ahLst/>
            <a:cxnLst/>
            <a:rect l="0" t="0" r="r" b="b"/>
            <a:pathLst>
              <a:path w="7518400" h="558800" fill="none">
                <a:moveTo>
                  <a:pt x="3759200" y="0"/>
                </a:moveTo>
                <a:lnTo>
                  <a:pt x="3759200" y="355600"/>
                </a:lnTo>
                <a:moveTo>
                  <a:pt x="0" y="355600"/>
                </a:moveTo>
                <a:lnTo>
                  <a:pt x="7518400" y="355600"/>
                </a:lnTo>
                <a:moveTo>
                  <a:pt x="0" y="355600"/>
                </a:moveTo>
                <a:lnTo>
                  <a:pt x="0" y="558800"/>
                </a:lnTo>
                <a:moveTo>
                  <a:pt x="3759200" y="355600"/>
                </a:moveTo>
                <a:lnTo>
                  <a:pt x="3759200" y="558800"/>
                </a:lnTo>
                <a:moveTo>
                  <a:pt x="7518400" y="355600"/>
                </a:moveTo>
                <a:lnTo>
                  <a:pt x="7518400" y="558800"/>
                </a:lnTo>
              </a:path>
            </a:pathLst>
          </a:custGeom>
          <a:noFill/>
          <a:ln w="12700" cap="rnd">
            <a:solidFill>
              <a:srgbClr val="C8CFD8"/>
            </a:solidFill>
            <a:round/>
          </a:ln>
        </p:spPr>
        <p:txBody>
          <a:bodyPr rtlCol="0" anchor="ctr"/>
          <a:lstStyle/>
          <a:p>
            <a:pPr algn="ctr"/>
            <a:endParaRPr lang="ko-KR" dirty="0"/>
          </a:p>
        </p:txBody>
      </p:sp>
      <p:sp>
        <p:nvSpPr>
          <p:cNvPr id="37" name="s4-links circle"/>
          <p:cNvSpPr/>
          <p:nvPr/>
        </p:nvSpPr>
        <p:spPr>
          <a:xfrm>
            <a:off x="6064250" y="4350147"/>
            <a:ext cx="63500" cy="63500"/>
          </a:xfrm>
          <a:prstGeom prst="ellipse">
            <a:avLst/>
          </a:prstGeom>
          <a:solidFill>
            <a:srgbClr val="2B4A78"/>
          </a:solidFill>
          <a:ln>
            <a:noFill/>
          </a:ln>
        </p:spPr>
        <p:txBody>
          <a:bodyPr rtlCol="0" anchor="ctr"/>
          <a:lstStyle/>
          <a:p>
            <a:pPr algn="ctr"/>
            <a:endParaRPr lang="ko-KR" dirty="0"/>
          </a:p>
        </p:txBody>
      </p:sp>
      <p:sp>
        <p:nvSpPr>
          <p:cNvPr id="38" name="s4-card"/>
          <p:cNvSpPr/>
          <p:nvPr/>
        </p:nvSpPr>
        <p:spPr>
          <a:xfrm>
            <a:off x="6127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39" name="no"/>
          <p:cNvSpPr/>
          <p:nvPr/>
        </p:nvSpPr>
        <p:spPr>
          <a:xfrm>
            <a:off x="819150" y="4794647"/>
            <a:ext cx="254000" cy="254000"/>
          </a:xfrm>
          <a:prstGeom prst="ellipse">
            <a:avLst/>
          </a:prstGeom>
          <a:solidFill>
            <a:srgbClr val="102A4C"/>
          </a:solidFill>
          <a:ln>
            <a:noFill/>
          </a:ln>
        </p:spPr>
        <p:txBody>
          <a:bodyPr rtlCol="0" anchor="ctr"/>
          <a:lstStyle/>
          <a:p>
            <a:pPr algn="ctr"/>
            <a:endParaRPr lang="ko-KR" dirty="0"/>
          </a:p>
        </p:txBody>
      </p:sp>
      <p:sp>
        <p:nvSpPr>
          <p:cNvPr id="40" name="svg path"/>
          <p:cNvSpPr/>
          <p:nvPr/>
        </p:nvSpPr>
        <p:spPr>
          <a:xfrm>
            <a:off x="3663950" y="4826397"/>
            <a:ext cx="127000" cy="190500"/>
          </a:xfrm>
          <a:custGeom>
            <a:avLst/>
            <a:gdLst/>
            <a:ahLst/>
            <a:cxnLst/>
            <a:rect l="0" t="0" r="r" b="b"/>
            <a:pathLst>
              <a:path w="127000" h="190500" fill="none">
                <a:moveTo>
                  <a:pt x="0" y="0"/>
                </a:moveTo>
                <a:lnTo>
                  <a:pt x="88900" y="0"/>
                </a:lnTo>
                <a:lnTo>
                  <a:pt x="127000" y="38100"/>
                </a:lnTo>
                <a:lnTo>
                  <a:pt x="127000" y="190500"/>
                </a:lnTo>
                <a:lnTo>
                  <a:pt x="0" y="190500"/>
                </a:lnTo>
                <a:close/>
              </a:path>
            </a:pathLst>
          </a:custGeom>
          <a:noFill/>
          <a:ln w="12700" cap="rnd">
            <a:solidFill>
              <a:srgbClr val="102A4C"/>
            </a:solidFill>
            <a:round/>
          </a:ln>
        </p:spPr>
        <p:txBody>
          <a:bodyPr rtlCol="0" anchor="ctr"/>
          <a:lstStyle/>
          <a:p>
            <a:pPr algn="ctr"/>
            <a:endParaRPr lang="ko-KR" dirty="0"/>
          </a:p>
        </p:txBody>
      </p:sp>
      <p:sp>
        <p:nvSpPr>
          <p:cNvPr id="41" name="svg path"/>
          <p:cNvSpPr/>
          <p:nvPr/>
        </p:nvSpPr>
        <p:spPr>
          <a:xfrm>
            <a:off x="3752850" y="4826397"/>
            <a:ext cx="38100" cy="38100"/>
          </a:xfrm>
          <a:custGeom>
            <a:avLst/>
            <a:gdLst/>
            <a:ahLst/>
            <a:cxnLst/>
            <a:rect l="0" t="0" r="r" b="b"/>
            <a:pathLst>
              <a:path w="38100" h="38100" fill="none">
                <a:moveTo>
                  <a:pt x="0" y="0"/>
                </a:moveTo>
                <a:lnTo>
                  <a:pt x="0" y="38100"/>
                </a:lnTo>
                <a:lnTo>
                  <a:pt x="38100" y="381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3689350" y="4902597"/>
            <a:ext cx="63500" cy="31750"/>
          </a:xfrm>
          <a:custGeom>
            <a:avLst/>
            <a:gdLst/>
            <a:ahLst/>
            <a:cxnLst/>
            <a:rect l="0" t="0" r="r" b="b"/>
            <a:pathLst>
              <a:path w="63500" h="31750" fill="none">
                <a:moveTo>
                  <a:pt x="0" y="0"/>
                </a:moveTo>
                <a:lnTo>
                  <a:pt x="63500" y="0"/>
                </a:lnTo>
                <a:moveTo>
                  <a:pt x="0" y="31750"/>
                </a:moveTo>
                <a:lnTo>
                  <a:pt x="38100" y="3175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3733800" y="4927997"/>
            <a:ext cx="107950" cy="107950"/>
          </a:xfrm>
          <a:custGeom>
            <a:avLst/>
            <a:gdLst/>
            <a:ahLst/>
            <a:cxnLst/>
            <a:rect l="0" t="0" r="r" b="b"/>
            <a:pathLst>
              <a:path w="107950" h="107950">
                <a:moveTo>
                  <a:pt x="0" y="82550"/>
                </a:moveTo>
                <a:lnTo>
                  <a:pt x="82550" y="0"/>
                </a:lnTo>
                <a:lnTo>
                  <a:pt x="107950" y="25400"/>
                </a:lnTo>
                <a:lnTo>
                  <a:pt x="25400" y="107950"/>
                </a:lnTo>
                <a:lnTo>
                  <a:pt x="0" y="1079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44" name="s4-card"/>
          <p:cNvSpPr/>
          <p:nvPr/>
        </p:nvSpPr>
        <p:spPr>
          <a:xfrm>
            <a:off x="43719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45" name="no"/>
          <p:cNvSpPr/>
          <p:nvPr/>
        </p:nvSpPr>
        <p:spPr>
          <a:xfrm>
            <a:off x="4578350" y="4794647"/>
            <a:ext cx="254000" cy="254000"/>
          </a:xfrm>
          <a:prstGeom prst="ellipse">
            <a:avLst/>
          </a:prstGeom>
          <a:solidFill>
            <a:srgbClr val="102A4C"/>
          </a:solidFill>
          <a:ln>
            <a:noFill/>
          </a:ln>
        </p:spPr>
        <p:txBody>
          <a:bodyPr rtlCol="0" anchor="ctr"/>
          <a:lstStyle/>
          <a:p>
            <a:pPr algn="ctr"/>
            <a:endParaRPr lang="ko-KR" dirty="0"/>
          </a:p>
        </p:txBody>
      </p:sp>
      <p:sp>
        <p:nvSpPr>
          <p:cNvPr id="46" name="svg circle"/>
          <p:cNvSpPr/>
          <p:nvPr/>
        </p:nvSpPr>
        <p:spPr>
          <a:xfrm>
            <a:off x="7410450" y="4832747"/>
            <a:ext cx="177800" cy="177800"/>
          </a:xfrm>
          <a:prstGeom prst="ellipse">
            <a:avLst/>
          </a:prstGeom>
          <a:noFill/>
          <a:ln w="12700" cap="rnd">
            <a:solidFill>
              <a:srgbClr val="102A4C"/>
            </a:solidFill>
            <a:round/>
          </a:ln>
        </p:spPr>
        <p:txBody>
          <a:bodyPr rtlCol="0" anchor="ctr"/>
          <a:lstStyle/>
          <a:p>
            <a:pPr algn="ctr"/>
            <a:endParaRPr lang="ko-KR" dirty="0"/>
          </a:p>
        </p:txBody>
      </p:sp>
      <p:sp>
        <p:nvSpPr>
          <p:cNvPr id="47" name="svg path"/>
          <p:cNvSpPr/>
          <p:nvPr/>
        </p:nvSpPr>
        <p:spPr>
          <a:xfrm>
            <a:off x="7499350" y="4870847"/>
            <a:ext cx="38100" cy="76200"/>
          </a:xfrm>
          <a:custGeom>
            <a:avLst/>
            <a:gdLst/>
            <a:ahLst/>
            <a:cxnLst/>
            <a:rect l="0" t="0" r="r" b="b"/>
            <a:pathLst>
              <a:path w="38100" h="76200" fill="none">
                <a:moveTo>
                  <a:pt x="0" y="0"/>
                </a:moveTo>
                <a:lnTo>
                  <a:pt x="0" y="50800"/>
                </a:lnTo>
                <a:lnTo>
                  <a:pt x="38100" y="76200"/>
                </a:lnTo>
              </a:path>
            </a:pathLst>
          </a:custGeom>
          <a:noFill/>
          <a:ln w="12700" cap="rnd">
            <a:solidFill>
              <a:srgbClr val="102A4C"/>
            </a:solidFill>
            <a:round/>
          </a:ln>
        </p:spPr>
        <p:txBody>
          <a:bodyPr rtlCol="0" anchor="ctr"/>
          <a:lstStyle/>
          <a:p>
            <a:pPr algn="ctr"/>
            <a:endParaRPr lang="ko-KR" dirty="0"/>
          </a:p>
        </p:txBody>
      </p:sp>
      <p:sp>
        <p:nvSpPr>
          <p:cNvPr id="48" name="s4-card"/>
          <p:cNvSpPr/>
          <p:nvPr/>
        </p:nvSpPr>
        <p:spPr>
          <a:xfrm>
            <a:off x="81311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49" name="no"/>
          <p:cNvSpPr/>
          <p:nvPr/>
        </p:nvSpPr>
        <p:spPr>
          <a:xfrm>
            <a:off x="8337550" y="4794647"/>
            <a:ext cx="254000" cy="254000"/>
          </a:xfrm>
          <a:prstGeom prst="ellipse">
            <a:avLst/>
          </a:prstGeom>
          <a:solidFill>
            <a:srgbClr val="102A4C"/>
          </a:solidFill>
          <a:ln>
            <a:noFill/>
          </a:ln>
        </p:spPr>
        <p:txBody>
          <a:bodyPr rtlCol="0" anchor="ctr"/>
          <a:lstStyle/>
          <a:p>
            <a:pPr algn="ctr"/>
            <a:endParaRPr lang="ko-KR" dirty="0"/>
          </a:p>
        </p:txBody>
      </p:sp>
      <p:sp>
        <p:nvSpPr>
          <p:cNvPr id="50" name="svg path"/>
          <p:cNvSpPr/>
          <p:nvPr/>
        </p:nvSpPr>
        <p:spPr>
          <a:xfrm>
            <a:off x="11163300" y="4832747"/>
            <a:ext cx="190500" cy="171450"/>
          </a:xfrm>
          <a:custGeom>
            <a:avLst/>
            <a:gdLst/>
            <a:ahLst/>
            <a:cxnLst/>
            <a:rect l="0" t="0" r="r" b="b"/>
            <a:pathLst>
              <a:path w="190500" h="171450" fill="none">
                <a:moveTo>
                  <a:pt x="95250" y="0"/>
                </a:moveTo>
                <a:lnTo>
                  <a:pt x="190500" y="171450"/>
                </a:lnTo>
                <a:lnTo>
                  <a:pt x="0" y="171450"/>
                </a:lnTo>
                <a:close/>
              </a:path>
            </a:pathLst>
          </a:custGeom>
          <a:noFill/>
          <a:ln w="12700" cap="rnd">
            <a:solidFill>
              <a:srgbClr val="102A4C"/>
            </a:solidFill>
            <a:round/>
          </a:ln>
        </p:spPr>
        <p:txBody>
          <a:bodyPr rtlCol="0" anchor="ctr"/>
          <a:lstStyle/>
          <a:p>
            <a:pPr algn="ctr"/>
            <a:endParaRPr lang="ko-KR" dirty="0"/>
          </a:p>
        </p:txBody>
      </p:sp>
      <p:sp>
        <p:nvSpPr>
          <p:cNvPr id="51" name="svg path"/>
          <p:cNvSpPr/>
          <p:nvPr/>
        </p:nvSpPr>
        <p:spPr>
          <a:xfrm>
            <a:off x="11258550" y="4896247"/>
            <a:ext cx="1" cy="44450"/>
          </a:xfrm>
          <a:custGeom>
            <a:avLst/>
            <a:gdLst/>
            <a:ahLst/>
            <a:cxnLst/>
            <a:rect l="0" t="0" r="r" b="b"/>
            <a:pathLst>
              <a:path w="1" h="44450" fill="none">
                <a:moveTo>
                  <a:pt x="0" y="0"/>
                </a:moveTo>
                <a:lnTo>
                  <a:pt x="0" y="44450"/>
                </a:lnTo>
              </a:path>
            </a:pathLst>
          </a:custGeom>
          <a:noFill/>
          <a:ln w="12700" cap="rnd">
            <a:solidFill>
              <a:srgbClr val="102A4C"/>
            </a:solidFill>
            <a:round/>
          </a:ln>
        </p:spPr>
        <p:txBody>
          <a:bodyPr rtlCol="0" anchor="ctr"/>
          <a:lstStyle/>
          <a:p>
            <a:pPr algn="ctr"/>
            <a:endParaRPr lang="ko-KR" dirty="0"/>
          </a:p>
        </p:txBody>
      </p:sp>
      <p:sp>
        <p:nvSpPr>
          <p:cNvPr id="52" name="svg circle"/>
          <p:cNvSpPr/>
          <p:nvPr/>
        </p:nvSpPr>
        <p:spPr>
          <a:xfrm>
            <a:off x="11250930" y="4964827"/>
            <a:ext cx="15240" cy="15240"/>
          </a:xfrm>
          <a:prstGeom prst="ellipse">
            <a:avLst/>
          </a:prstGeom>
          <a:solidFill>
            <a:srgbClr val="102A4C"/>
          </a:solidFill>
          <a:ln w="12700" cap="rnd">
            <a:solidFill>
              <a:srgbClr val="102A4C"/>
            </a:solidFill>
            <a:round/>
          </a:ln>
        </p:spPr>
        <p:txBody>
          <a:bodyPr rtlCol="0" anchor="ctr"/>
          <a:lstStyle/>
          <a:p>
            <a:pPr algn="ctr"/>
            <a:endParaRPr lang="ko-KR" dirty="0"/>
          </a:p>
        </p:txBody>
      </p:sp>
      <p:sp>
        <p:nvSpPr>
          <p:cNvPr id="53" name="keybar s4-key"/>
          <p:cNvSpPr/>
          <p:nvPr/>
        </p:nvSpPr>
        <p:spPr>
          <a:xfrm>
            <a:off x="609600" y="5753497"/>
            <a:ext cx="10972800" cy="584200"/>
          </a:xfrm>
          <a:prstGeom prst="roundRect">
            <a:avLst>
              <a:gd name="adj" fmla="val 21739"/>
            </a:avLst>
          </a:prstGeom>
          <a:solidFill>
            <a:srgbClr val="102A4C"/>
          </a:solidFill>
          <a:ln>
            <a:noFill/>
          </a:ln>
        </p:spPr>
        <p:txBody>
          <a:bodyPr rtlCol="0" anchor="ctr"/>
          <a:lstStyle/>
          <a:p>
            <a:pPr algn="ctr"/>
            <a:endParaRPr lang="ko-KR" dirty="0"/>
          </a:p>
        </p:txBody>
      </p:sp>
      <p:sp>
        <p:nvSpPr>
          <p:cNvPr id="54" name="01"/>
          <p:cNvSpPr txBox="1"/>
          <p:nvPr/>
        </p:nvSpPr>
        <p:spPr>
          <a:xfrm>
            <a:off x="609600" y="401439"/>
            <a:ext cx="19565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01</a:t>
            </a:r>
            <a:endParaRPr lang="en-US" sz="950" dirty="0"/>
          </a:p>
        </p:txBody>
      </p:sp>
      <p:sp>
        <p:nvSpPr>
          <p:cNvPr id="55" name="연구 배경 및 문제 정의"/>
          <p:cNvSpPr txBox="1"/>
          <p:nvPr/>
        </p:nvSpPr>
        <p:spPr>
          <a:xfrm>
            <a:off x="843359" y="401439"/>
            <a:ext cx="1091684"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배경 및 문제 정의</a:t>
            </a:r>
            <a:endParaRPr lang="en-US" sz="950" dirty="0"/>
          </a:p>
        </p:txBody>
      </p:sp>
      <p:sp>
        <p:nvSpPr>
          <p:cNvPr id="56" name="BIM 자동 생성 기술의 필요성"/>
          <p:cNvSpPr txBox="1"/>
          <p:nvPr/>
        </p:nvSpPr>
        <p:spPr>
          <a:xfrm>
            <a:off x="2057400" y="401439"/>
            <a:ext cx="1424553"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BIM 자동 생성 기술의 필요성</a:t>
            </a:r>
            <a:endParaRPr lang="en-US" sz="950" dirty="0"/>
          </a:p>
        </p:txBody>
      </p:sp>
      <p:sp>
        <p:nvSpPr>
          <p:cNvPr id="57" name="2D 도면을 사람이 직접 BIM으로 옮기는 과정은"/>
          <p:cNvSpPr txBox="1"/>
          <p:nvPr/>
        </p:nvSpPr>
        <p:spPr>
          <a:xfrm>
            <a:off x="609600" y="666750"/>
            <a:ext cx="5332319"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2D 도면을 사람이 직접 BIM으로 옮기는 과정은</a:t>
            </a:r>
            <a:endParaRPr lang="en-US" sz="2300" dirty="0"/>
          </a:p>
        </p:txBody>
      </p:sp>
      <p:sp>
        <p:nvSpPr>
          <p:cNvPr id="58" name="느리고, 비싸고, 오류에 취약합니다."/>
          <p:cNvSpPr txBox="1"/>
          <p:nvPr/>
        </p:nvSpPr>
        <p:spPr>
          <a:xfrm>
            <a:off x="609600" y="1028898"/>
            <a:ext cx="3954673" cy="349250"/>
          </a:xfrm>
          <a:prstGeom prst="rect">
            <a:avLst/>
          </a:prstGeom>
          <a:noFill/>
          <a:ln/>
        </p:spPr>
        <p:txBody>
          <a:bodyPr wrap="none" lIns="0" tIns="0" rIns="0" bIns="0" rtlCol="0" anchor="ctr"/>
          <a:lstStyle/>
          <a:p>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느리고, 비싸고, 오류에 취약</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합니다.</a:t>
            </a:r>
            <a:endParaRPr lang="en-US" sz="2300" dirty="0"/>
          </a:p>
        </p:txBody>
      </p:sp>
      <p:sp>
        <p:nvSpPr>
          <p:cNvPr id="59"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01</a:t>
            </a:r>
            <a:endParaRPr lang="en-US" sz="700" dirty="0"/>
          </a:p>
        </p:txBody>
      </p:sp>
      <p:sp>
        <p:nvSpPr>
          <p:cNvPr id="60"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02</a:t>
            </a:r>
            <a:endParaRPr lang="en-US" sz="700" dirty="0"/>
          </a:p>
        </p:txBody>
      </p:sp>
      <p:sp>
        <p:nvSpPr>
          <p:cNvPr id="61"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62"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63"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64" name="2D 도면"/>
          <p:cNvSpPr txBox="1"/>
          <p:nvPr/>
        </p:nvSpPr>
        <p:spPr>
          <a:xfrm>
            <a:off x="812800" y="1816497"/>
            <a:ext cx="562868"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2D 도면</a:t>
            </a:r>
            <a:endParaRPr lang="en-US" sz="1300" dirty="0"/>
          </a:p>
        </p:txBody>
      </p:sp>
      <p:sp>
        <p:nvSpPr>
          <p:cNvPr id="65" name="평면도"/>
          <p:cNvSpPr txBox="1"/>
          <p:nvPr/>
        </p:nvSpPr>
        <p:spPr>
          <a:xfrm>
            <a:off x="1446014" y="3911997"/>
            <a:ext cx="359073"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평면도</a:t>
            </a:r>
            <a:endParaRPr lang="en-US" sz="950" dirty="0"/>
          </a:p>
        </p:txBody>
      </p:sp>
      <p:sp>
        <p:nvSpPr>
          <p:cNvPr id="66" name="입면도"/>
          <p:cNvSpPr txBox="1"/>
          <p:nvPr/>
        </p:nvSpPr>
        <p:spPr>
          <a:xfrm>
            <a:off x="3478014" y="3911997"/>
            <a:ext cx="359073"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입면도</a:t>
            </a:r>
            <a:endParaRPr lang="en-US" sz="950" dirty="0"/>
          </a:p>
        </p:txBody>
      </p:sp>
      <p:sp>
        <p:nvSpPr>
          <p:cNvPr id="67" name="사람이 도면을 해석해"/>
          <p:cNvSpPr txBox="1"/>
          <p:nvPr/>
        </p:nvSpPr>
        <p:spPr>
          <a:xfrm>
            <a:off x="5489053" y="3530997"/>
            <a:ext cx="1213894" cy="177800"/>
          </a:xfrm>
          <a:prstGeom prst="rect">
            <a:avLst/>
          </a:prstGeom>
          <a:noFill/>
          <a:ln/>
        </p:spPr>
        <p:txBody>
          <a:bodyPr wrap="none" lIns="0" tIns="0" rIns="0" bIns="0" rtlCol="0" anchor="ctr"/>
          <a:lstStyle/>
          <a:p>
            <a:pPr algn="ctr" indent="0" marL="0">
              <a:buNone/>
            </a:pP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사람이 도면을 해석해</a:t>
            </a:r>
            <a:endParaRPr lang="en-US" sz="1150" dirty="0"/>
          </a:p>
        </p:txBody>
      </p:sp>
      <p:sp>
        <p:nvSpPr>
          <p:cNvPr id="68" name="직접 모델링"/>
          <p:cNvSpPr txBox="1"/>
          <p:nvPr/>
        </p:nvSpPr>
        <p:spPr>
          <a:xfrm>
            <a:off x="5753993" y="3735388"/>
            <a:ext cx="684014" cy="177800"/>
          </a:xfrm>
          <a:prstGeom prst="rect">
            <a:avLst/>
          </a:prstGeom>
          <a:noFill/>
          <a:ln/>
        </p:spPr>
        <p:txBody>
          <a:bodyPr wrap="none" lIns="0" tIns="0" rIns="0" bIns="0" rtlCol="0" anchor="ctr"/>
          <a:lstStyle/>
          <a:p>
            <a:pPr algn="ctr" indent="0" marL="0">
              <a:buNone/>
            </a:pP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직접 모델링</a:t>
            </a:r>
            <a:endParaRPr lang="en-US" sz="1150" dirty="0"/>
          </a:p>
        </p:txBody>
      </p:sp>
      <p:sp>
        <p:nvSpPr>
          <p:cNvPr id="69" name="3D BIM"/>
          <p:cNvSpPr txBox="1"/>
          <p:nvPr/>
        </p:nvSpPr>
        <p:spPr>
          <a:xfrm>
            <a:off x="7721600" y="1816497"/>
            <a:ext cx="57487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3D BIM</a:t>
            </a:r>
            <a:endParaRPr lang="en-US" sz="1300" dirty="0"/>
          </a:p>
        </p:txBody>
      </p:sp>
      <p:sp>
        <p:nvSpPr>
          <p:cNvPr id="70" name="수작업 모델링 예시"/>
          <p:cNvSpPr txBox="1"/>
          <p:nvPr/>
        </p:nvSpPr>
        <p:spPr>
          <a:xfrm>
            <a:off x="9086805" y="3911997"/>
            <a:ext cx="927090"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수작업 모델링 예시</a:t>
            </a:r>
            <a:endParaRPr lang="en-US" sz="950" dirty="0"/>
          </a:p>
        </p:txBody>
      </p:sp>
      <p:sp>
        <p:nvSpPr>
          <p:cNvPr id="71" name="1"/>
          <p:cNvSpPr txBox="1"/>
          <p:nvPr/>
        </p:nvSpPr>
        <p:spPr>
          <a:xfrm>
            <a:off x="919559" y="4851499"/>
            <a:ext cx="103981"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1</a:t>
            </a:r>
            <a:endParaRPr lang="en-US" sz="900" dirty="0"/>
          </a:p>
        </p:txBody>
      </p:sp>
      <p:sp>
        <p:nvSpPr>
          <p:cNvPr id="72" name="노동집약적 작업"/>
          <p:cNvSpPr txBox="1"/>
          <p:nvPr/>
        </p:nvSpPr>
        <p:spPr>
          <a:xfrm>
            <a:off x="1162050" y="4820642"/>
            <a:ext cx="104898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노동집약적 작업</a:t>
            </a:r>
            <a:endParaRPr lang="en-US" sz="1300" dirty="0"/>
          </a:p>
        </p:txBody>
      </p:sp>
      <p:sp>
        <p:nvSpPr>
          <p:cNvPr id="73" name="도면을 한 장씩 보며 벽·창·문을 직접 입력"/>
          <p:cNvSpPr txBox="1"/>
          <p:nvPr/>
        </p:nvSpPr>
        <p:spPr>
          <a:xfrm>
            <a:off x="819150" y="5156597"/>
            <a:ext cx="2253938"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도면을 한 장씩 보며 벽·창·문을 직접 입력</a:t>
            </a:r>
            <a:endParaRPr lang="en-US" sz="1100" dirty="0"/>
          </a:p>
        </p:txBody>
      </p:sp>
      <p:sp>
        <p:nvSpPr>
          <p:cNvPr id="74" name="2"/>
          <p:cNvSpPr txBox="1"/>
          <p:nvPr/>
        </p:nvSpPr>
        <p:spPr>
          <a:xfrm>
            <a:off x="4670723" y="4851499"/>
            <a:ext cx="119955"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2</a:t>
            </a:r>
            <a:endParaRPr lang="en-US" sz="900" dirty="0"/>
          </a:p>
        </p:txBody>
      </p:sp>
      <p:sp>
        <p:nvSpPr>
          <p:cNvPr id="75" name="긴 작업 시간 · 높은 비용"/>
          <p:cNvSpPr txBox="1"/>
          <p:nvPr/>
        </p:nvSpPr>
        <p:spPr>
          <a:xfrm>
            <a:off x="4921250" y="4820642"/>
            <a:ext cx="151626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긴 작업 시간 · 높은 비용</a:t>
            </a:r>
            <a:endParaRPr lang="en-US" sz="1300" dirty="0"/>
          </a:p>
        </p:txBody>
      </p:sp>
      <p:sp>
        <p:nvSpPr>
          <p:cNvPr id="76" name="건물 규모에 비례해 모델링 시간과 비용 증가"/>
          <p:cNvSpPr txBox="1"/>
          <p:nvPr/>
        </p:nvSpPr>
        <p:spPr>
          <a:xfrm>
            <a:off x="4578350" y="5156597"/>
            <a:ext cx="2431784"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건물 규모에 비례해 모델링 시간과 비용 증가</a:t>
            </a:r>
            <a:endParaRPr lang="en-US" sz="1100" dirty="0"/>
          </a:p>
        </p:txBody>
      </p:sp>
      <p:sp>
        <p:nvSpPr>
          <p:cNvPr id="77" name="3"/>
          <p:cNvSpPr txBox="1"/>
          <p:nvPr/>
        </p:nvSpPr>
        <p:spPr>
          <a:xfrm>
            <a:off x="8428335" y="4851499"/>
            <a:ext cx="123230"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3</a:t>
            </a:r>
            <a:endParaRPr lang="en-US" sz="900" dirty="0"/>
          </a:p>
        </p:txBody>
      </p:sp>
      <p:sp>
        <p:nvSpPr>
          <p:cNvPr id="78" name="휴먼 에러 가능성"/>
          <p:cNvSpPr txBox="1"/>
          <p:nvPr/>
        </p:nvSpPr>
        <p:spPr>
          <a:xfrm>
            <a:off x="8680450" y="4820642"/>
            <a:ext cx="108190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휴먼 에러 가능성</a:t>
            </a:r>
            <a:endParaRPr lang="en-US" sz="1300" dirty="0"/>
          </a:p>
        </p:txBody>
      </p:sp>
      <p:sp>
        <p:nvSpPr>
          <p:cNvPr id="79" name="도면 해석·입력 과정에서 누락과 오류 발생"/>
          <p:cNvSpPr txBox="1"/>
          <p:nvPr/>
        </p:nvSpPr>
        <p:spPr>
          <a:xfrm>
            <a:off x="8337550" y="5156597"/>
            <a:ext cx="2310416"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도면 해석·입력 과정에서 누락과 오류 발생</a:t>
            </a:r>
            <a:endParaRPr lang="en-US" sz="1100" dirty="0"/>
          </a:p>
        </p:txBody>
      </p:sp>
      <p:sp>
        <p:nvSpPr>
          <p:cNvPr id="80" name="KEY MESSAGE"/>
          <p:cNvSpPr txBox="1"/>
          <p:nvPr/>
        </p:nvSpPr>
        <p:spPr>
          <a:xfrm>
            <a:off x="863600" y="5982891"/>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81" name="2차원 도면에 기반한 3차원 BIM 모델 자동 생성 프로세스가 필요합니다"/>
          <p:cNvSpPr txBox="1"/>
          <p:nvPr/>
        </p:nvSpPr>
        <p:spPr>
          <a:xfrm>
            <a:off x="1854994" y="5938242"/>
            <a:ext cx="4802779"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2차원 도면에 기반한 </a:t>
            </a:r>
            <a:pPr algn="l" indent="0" marL="0">
              <a:buNone/>
            </a:pPr>
            <a:r>
              <a:rPr lang="ko-KR" altLang="en-US" sz="1350" b="1" spc="-47" kern="0" dirty="0">
                <a:solidFill>
                  <a:srgbClr val="FFB3C1"/>
                </a:solidFill>
                <a:latin typeface="Pretendard" pitchFamily="34" charset="0"/>
                <a:ea typeface="Pretendard" pitchFamily="34" charset="-127"/>
                <a:cs typeface="Pretendard" pitchFamily="34" charset="-120"/>
              </a:rPr>
              <a:t>3차원 BIM 모델 자동 생성 프로세스</a:t>
            </a:r>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가 필요합니다.</a:t>
            </a:r>
            <a:endParaRPr lang="en-US" sz="1350" dirty="0"/>
          </a:p>
        </p:txBody>
      </p:sp>
      <p:sp>
        <p:nvSpPr>
          <p:cNvPr id="82"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83" name="04 / 12"/>
          <p:cNvSpPr txBox="1"/>
          <p:nvPr/>
        </p:nvSpPr>
        <p:spPr>
          <a:xfrm>
            <a:off x="11233348" y="6472238"/>
            <a:ext cx="399852"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04</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2210792"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on"/>
          <p:cNvSpPr/>
          <p:nvPr/>
        </p:nvSpPr>
        <p:spPr>
          <a:xfrm>
            <a:off x="102997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5-ch c0::after"/>
          <p:cNvSpPr/>
          <p:nvPr/>
        </p:nvSpPr>
        <p:spPr>
          <a:xfrm>
            <a:off x="906463" y="1733947"/>
            <a:ext cx="1481138" cy="12700"/>
          </a:xfrm>
          <a:prstGeom prst="roundRect">
            <a:avLst>
              <a:gd name="adj" fmla="val 50000"/>
            </a:avLst>
          </a:prstGeom>
          <a:solidFill>
            <a:srgbClr val="C8CFD8"/>
          </a:solidFill>
          <a:ln>
            <a:noFill/>
          </a:ln>
        </p:spPr>
        <p:txBody>
          <a:bodyPr rtlCol="0" anchor="ctr"/>
          <a:lstStyle/>
          <a:p>
            <a:pPr algn="ctr"/>
            <a:endParaRPr lang="ko-KR" dirty="0"/>
          </a:p>
        </p:txBody>
      </p:sp>
      <p:sp>
        <p:nvSpPr>
          <p:cNvPr id="10" name="svg circle"/>
          <p:cNvSpPr/>
          <p:nvPr/>
        </p:nvSpPr>
        <p:spPr>
          <a:xfrm>
            <a:off x="2609850" y="1676797"/>
            <a:ext cx="127000" cy="127000"/>
          </a:xfrm>
          <a:prstGeom prst="ellipse">
            <a:avLst/>
          </a:prstGeom>
          <a:noFill/>
          <a:ln w="12700">
            <a:solidFill>
              <a:srgbClr val="8D96A3"/>
            </a:solidFill>
            <a:miter lim="800000"/>
          </a:ln>
        </p:spPr>
        <p:txBody>
          <a:bodyPr rtlCol="0" anchor="ctr"/>
          <a:lstStyle/>
          <a:p>
            <a:pPr algn="ctr"/>
            <a:endParaRPr lang="ko-KR" dirty="0"/>
          </a:p>
        </p:txBody>
      </p:sp>
      <p:sp>
        <p:nvSpPr>
          <p:cNvPr id="11" name="svg path"/>
          <p:cNvSpPr/>
          <p:nvPr/>
        </p:nvSpPr>
        <p:spPr>
          <a:xfrm>
            <a:off x="2651125" y="1718072"/>
            <a:ext cx="44450" cy="44450"/>
          </a:xfrm>
          <a:custGeom>
            <a:avLst/>
            <a:gdLst/>
            <a:ahLst/>
            <a:cxnLst/>
            <a:rect l="0" t="0" r="r" b="b"/>
            <a:pathLst>
              <a:path w="44450" h="44450" fill="none">
                <a:moveTo>
                  <a:pt x="0" y="0"/>
                </a:moveTo>
                <a:lnTo>
                  <a:pt x="44450" y="44450"/>
                </a:lnTo>
                <a:moveTo>
                  <a:pt x="44450" y="0"/>
                </a:moveTo>
                <a:lnTo>
                  <a:pt x="0" y="44450"/>
                </a:lnTo>
              </a:path>
            </a:pathLst>
          </a:custGeom>
          <a:noFill/>
          <a:ln w="12700" cap="rnd">
            <a:solidFill>
              <a:srgbClr val="8D96A3"/>
            </a:solidFill>
            <a:miter lim="800000"/>
          </a:ln>
        </p:spPr>
        <p:txBody>
          <a:bodyPr rtlCol="0" anchor="ctr"/>
          <a:lstStyle/>
          <a:p>
            <a:pPr algn="ctr"/>
            <a:endParaRPr lang="ko-KR" dirty="0"/>
          </a:p>
        </p:txBody>
      </p:sp>
      <p:sp>
        <p:nvSpPr>
          <p:cNvPr id="12" name="s5-ch c1::after"/>
          <p:cNvSpPr/>
          <p:nvPr/>
        </p:nvSpPr>
        <p:spPr>
          <a:xfrm>
            <a:off x="3908127" y="1733947"/>
            <a:ext cx="2645073" cy="12700"/>
          </a:xfrm>
          <a:prstGeom prst="roundRect">
            <a:avLst>
              <a:gd name="adj" fmla="val 50000"/>
            </a:avLst>
          </a:prstGeom>
          <a:solidFill>
            <a:srgbClr val="C8CFD8"/>
          </a:solidFill>
          <a:ln>
            <a:noFill/>
          </a:ln>
        </p:spPr>
        <p:txBody>
          <a:bodyPr rtlCol="0" anchor="ctr"/>
          <a:lstStyle/>
          <a:p>
            <a:pPr algn="ctr"/>
            <a:endParaRPr lang="ko-KR" dirty="0"/>
          </a:p>
        </p:txBody>
      </p:sp>
      <p:sp>
        <p:nvSpPr>
          <p:cNvPr id="13" name="svg circle"/>
          <p:cNvSpPr/>
          <p:nvPr/>
        </p:nvSpPr>
        <p:spPr>
          <a:xfrm>
            <a:off x="7080250" y="1676797"/>
            <a:ext cx="127000" cy="127000"/>
          </a:xfrm>
          <a:prstGeom prst="ellipse">
            <a:avLst/>
          </a:prstGeom>
          <a:noFill/>
          <a:ln w="12700">
            <a:solidFill>
              <a:srgbClr val="102A4C"/>
            </a:solidFill>
            <a:miter lim="800000"/>
          </a:ln>
        </p:spPr>
        <p:txBody>
          <a:bodyPr rtlCol="0" anchor="ctr"/>
          <a:lstStyle/>
          <a:p>
            <a:pPr algn="ctr"/>
            <a:endParaRPr lang="ko-KR" dirty="0"/>
          </a:p>
        </p:txBody>
      </p:sp>
      <p:sp>
        <p:nvSpPr>
          <p:cNvPr id="14" name="svg circle"/>
          <p:cNvSpPr/>
          <p:nvPr/>
        </p:nvSpPr>
        <p:spPr>
          <a:xfrm>
            <a:off x="7112000" y="1708547"/>
            <a:ext cx="63500" cy="63500"/>
          </a:xfrm>
          <a:prstGeom prst="ellipse">
            <a:avLst/>
          </a:prstGeom>
          <a:noFill/>
          <a:ln w="12700">
            <a:solidFill>
              <a:srgbClr val="102A4C"/>
            </a:solidFill>
            <a:miter lim="800000"/>
          </a:ln>
        </p:spPr>
        <p:txBody>
          <a:bodyPr rtlCol="0" anchor="ctr"/>
          <a:lstStyle/>
          <a:p>
            <a:pPr algn="ctr"/>
            <a:endParaRPr lang="ko-KR" dirty="0"/>
          </a:p>
        </p:txBody>
      </p:sp>
      <p:sp>
        <p:nvSpPr>
          <p:cNvPr id="15" name="svg circle"/>
          <p:cNvSpPr/>
          <p:nvPr/>
        </p:nvSpPr>
        <p:spPr>
          <a:xfrm>
            <a:off x="7134225" y="1730772"/>
            <a:ext cx="19050" cy="19050"/>
          </a:xfrm>
          <a:prstGeom prst="ellipse">
            <a:avLst/>
          </a:prstGeom>
          <a:solidFill>
            <a:srgbClr val="102A4C"/>
          </a:solidFill>
          <a:ln>
            <a:noFill/>
          </a:ln>
        </p:spPr>
        <p:txBody>
          <a:bodyPr rtlCol="0" anchor="ctr"/>
          <a:lstStyle/>
          <a:p>
            <a:pPr algn="ctr"/>
            <a:endParaRPr lang="ko-KR" dirty="0"/>
          </a:p>
        </p:txBody>
      </p:sp>
      <p:sp>
        <p:nvSpPr>
          <p:cNvPr id="16" name="s5-ch c2::after"/>
          <p:cNvSpPr/>
          <p:nvPr/>
        </p:nvSpPr>
        <p:spPr>
          <a:xfrm>
            <a:off x="7967663" y="1733947"/>
            <a:ext cx="36147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s5-ic"/>
          <p:cNvSpPr/>
          <p:nvPr/>
        </p:nvSpPr>
        <p:spPr>
          <a:xfrm>
            <a:off x="609600" y="22482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18" name="svg path"/>
          <p:cNvSpPr/>
          <p:nvPr/>
        </p:nvSpPr>
        <p:spPr>
          <a:xfrm>
            <a:off x="768350" y="2597547"/>
            <a:ext cx="152400" cy="1"/>
          </a:xfrm>
          <a:custGeom>
            <a:avLst/>
            <a:gdLst/>
            <a:ahLst/>
            <a:cxnLst/>
            <a:rect l="0" t="0" r="r" b="b"/>
            <a:pathLst>
              <a:path w="152400" h="1" fill="none">
                <a:moveTo>
                  <a:pt x="0" y="0"/>
                </a:moveTo>
                <a:lnTo>
                  <a:pt x="152400" y="0"/>
                </a:lnTo>
              </a:path>
            </a:pathLst>
          </a:custGeom>
          <a:noFill/>
          <a:ln w="12700" cap="rnd">
            <a:solidFill>
              <a:srgbClr val="102A4C"/>
            </a:solidFill>
            <a:round/>
          </a:ln>
        </p:spPr>
        <p:txBody>
          <a:bodyPr rtlCol="0" anchor="ctr"/>
          <a:lstStyle/>
          <a:p>
            <a:pPr algn="ctr"/>
            <a:endParaRPr lang="ko-KR" dirty="0"/>
          </a:p>
        </p:txBody>
      </p:sp>
      <p:sp>
        <p:nvSpPr>
          <p:cNvPr id="19" name="svg rect"/>
          <p:cNvSpPr/>
          <p:nvPr/>
        </p:nvSpPr>
        <p:spPr>
          <a:xfrm>
            <a:off x="793750" y="2445147"/>
            <a:ext cx="88900" cy="152400"/>
          </a:xfrm>
          <a:prstGeom prst="roundRect">
            <a:avLst>
              <a:gd name="adj" fmla="val 10714"/>
            </a:avLst>
          </a:prstGeom>
          <a:noFill/>
          <a:ln w="12700" cap="rnd">
            <a:solidFill>
              <a:srgbClr val="102A4C"/>
            </a:solidFill>
            <a:round/>
          </a:ln>
        </p:spPr>
        <p:txBody>
          <a:bodyPr rtlCol="0" anchor="ctr"/>
          <a:lstStyle/>
          <a:p>
            <a:pPr algn="ctr"/>
            <a:endParaRPr lang="ko-KR" dirty="0"/>
          </a:p>
        </p:txBody>
      </p:sp>
      <p:sp>
        <p:nvSpPr>
          <p:cNvPr id="20" name="svg path"/>
          <p:cNvSpPr/>
          <p:nvPr/>
        </p:nvSpPr>
        <p:spPr>
          <a:xfrm>
            <a:off x="819150" y="2483247"/>
            <a:ext cx="38100" cy="76200"/>
          </a:xfrm>
          <a:custGeom>
            <a:avLst/>
            <a:gdLst/>
            <a:ahLst/>
            <a:cxnLst/>
            <a:rect l="0" t="0" r="r" b="b"/>
            <a:pathLst>
              <a:path w="38100" h="76200" fill="none">
                <a:moveTo>
                  <a:pt x="0" y="0"/>
                </a:moveTo>
                <a:lnTo>
                  <a:pt x="38100" y="0"/>
                </a:lnTo>
                <a:moveTo>
                  <a:pt x="0" y="38100"/>
                </a:moveTo>
                <a:lnTo>
                  <a:pt x="38100" y="38100"/>
                </a:lnTo>
                <a:moveTo>
                  <a:pt x="0" y="76200"/>
                </a:moveTo>
                <a:lnTo>
                  <a:pt x="38100" y="762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946150" y="2413397"/>
            <a:ext cx="1" cy="184150"/>
          </a:xfrm>
          <a:custGeom>
            <a:avLst/>
            <a:gdLst/>
            <a:ahLst/>
            <a:cxnLst/>
            <a:rect l="0" t="0" r="r" b="b"/>
            <a:pathLst>
              <a:path w="1" h="184150" fill="none">
                <a:moveTo>
                  <a:pt x="0" y="0"/>
                </a:moveTo>
                <a:lnTo>
                  <a:pt x="0" y="184150"/>
                </a:lnTo>
              </a:path>
            </a:pathLst>
          </a:custGeom>
          <a:noFill/>
          <a:ln w="12700" cap="rnd">
            <a:solidFill>
              <a:srgbClr val="102A4C"/>
            </a:solidFill>
            <a:round/>
          </a:ln>
        </p:spPr>
        <p:txBody>
          <a:bodyPr rtlCol="0" anchor="ctr"/>
          <a:lstStyle/>
          <a:p>
            <a:pPr algn="ctr"/>
            <a:endParaRPr lang="ko-KR" dirty="0"/>
          </a:p>
        </p:txBody>
      </p:sp>
      <p:sp>
        <p:nvSpPr>
          <p:cNvPr id="22" name="svg path"/>
          <p:cNvSpPr/>
          <p:nvPr/>
        </p:nvSpPr>
        <p:spPr>
          <a:xfrm>
            <a:off x="923925" y="2413397"/>
            <a:ext cx="44450" cy="22225"/>
          </a:xfrm>
          <a:custGeom>
            <a:avLst/>
            <a:gdLst/>
            <a:ahLst/>
            <a:cxnLst/>
            <a:rect l="0" t="0" r="r" b="b"/>
            <a:pathLst>
              <a:path w="44450" h="22225" fill="none">
                <a:moveTo>
                  <a:pt x="0" y="22225"/>
                </a:moveTo>
                <a:lnTo>
                  <a:pt x="22225" y="0"/>
                </a:lnTo>
                <a:lnTo>
                  <a:pt x="44450" y="22225"/>
                </a:lnTo>
              </a:path>
            </a:pathLst>
          </a:custGeom>
          <a:noFill/>
          <a:ln w="12700" cap="rnd">
            <a:solidFill>
              <a:srgbClr val="102A4C"/>
            </a:solidFill>
            <a:round/>
          </a:ln>
        </p:spPr>
        <p:txBody>
          <a:bodyPr rtlCol="0" anchor="ctr"/>
          <a:lstStyle/>
          <a:p>
            <a:pPr algn="ctr"/>
            <a:endParaRPr lang="ko-KR" dirty="0"/>
          </a:p>
        </p:txBody>
      </p:sp>
      <p:sp>
        <p:nvSpPr>
          <p:cNvPr id="23" name="svg path"/>
          <p:cNvSpPr/>
          <p:nvPr/>
        </p:nvSpPr>
        <p:spPr>
          <a:xfrm>
            <a:off x="923925" y="2575322"/>
            <a:ext cx="44450" cy="22225"/>
          </a:xfrm>
          <a:custGeom>
            <a:avLst/>
            <a:gdLst/>
            <a:ahLst/>
            <a:cxnLst/>
            <a:rect l="0" t="0" r="r" b="b"/>
            <a:pathLst>
              <a:path w="44450" h="22225" fill="none">
                <a:moveTo>
                  <a:pt x="0" y="0"/>
                </a:moveTo>
                <a:lnTo>
                  <a:pt x="22225" y="22225"/>
                </a:lnTo>
                <a:lnTo>
                  <a:pt x="44450" y="0"/>
                </a:lnTo>
              </a:path>
            </a:pathLst>
          </a:custGeom>
          <a:noFill/>
          <a:ln w="12700" cap="rnd">
            <a:solidFill>
              <a:srgbClr val="102A4C"/>
            </a:solidFill>
            <a:round/>
          </a:ln>
        </p:spPr>
        <p:txBody>
          <a:bodyPr rtlCol="0" anchor="ctr"/>
          <a:lstStyle/>
          <a:p>
            <a:pPr algn="ctr"/>
            <a:endParaRPr lang="ko-KR" dirty="0"/>
          </a:p>
        </p:txBody>
      </p:sp>
      <p:sp>
        <p:nvSpPr>
          <p:cNvPr id="24" name="s5-cell s5-lim r1"/>
          <p:cNvSpPr/>
          <p:nvPr/>
        </p:nvSpPr>
        <p:spPr>
          <a:xfrm>
            <a:off x="2590800" y="19688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25" name="svg path"/>
          <p:cNvSpPr/>
          <p:nvPr/>
        </p:nvSpPr>
        <p:spPr>
          <a:xfrm>
            <a:off x="2851150" y="26933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26" name="s5-go r1::before"/>
          <p:cNvSpPr/>
          <p:nvPr/>
        </p:nvSpPr>
        <p:spPr>
          <a:xfrm>
            <a:off x="6553200" y="2495947"/>
            <a:ext cx="508000" cy="12700"/>
          </a:xfrm>
          <a:prstGeom prst="rect">
            <a:avLst/>
          </a:prstGeom>
          <a:solidFill>
            <a:srgbClr val="C8CFD8"/>
          </a:solidFill>
          <a:ln>
            <a:noFill/>
          </a:ln>
        </p:spPr>
        <p:txBody>
          <a:bodyPr rtlCol="0" anchor="ctr"/>
          <a:lstStyle/>
          <a:p>
            <a:pPr algn="ctr"/>
            <a:endParaRPr lang="ko-KR" dirty="0"/>
          </a:p>
        </p:txBody>
      </p:sp>
      <p:sp>
        <p:nvSpPr>
          <p:cNvPr id="27" name="i"/>
          <p:cNvSpPr/>
          <p:nvPr/>
        </p:nvSpPr>
        <p:spPr>
          <a:xfrm>
            <a:off x="6654800" y="2349897"/>
            <a:ext cx="304800" cy="304800"/>
          </a:xfrm>
          <a:prstGeom prst="ellipse">
            <a:avLst/>
          </a:prstGeom>
          <a:solidFill>
            <a:srgbClr val="102A4C"/>
          </a:solidFill>
          <a:ln>
            <a:noFill/>
          </a:ln>
        </p:spPr>
        <p:txBody>
          <a:bodyPr rtlCol="0" anchor="ctr"/>
          <a:lstStyle/>
          <a:p>
            <a:pPr algn="ctr"/>
            <a:endParaRPr lang="ko-KR" dirty="0"/>
          </a:p>
        </p:txBody>
      </p:sp>
      <p:sp>
        <p:nvSpPr>
          <p:cNvPr id="28" name="svg path"/>
          <p:cNvSpPr/>
          <p:nvPr/>
        </p:nvSpPr>
        <p:spPr>
          <a:xfrm>
            <a:off x="6788150" y="24641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29" name="s5-cell s5-obj r1"/>
          <p:cNvSpPr/>
          <p:nvPr/>
        </p:nvSpPr>
        <p:spPr>
          <a:xfrm>
            <a:off x="7067550" y="19752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30" name="s5-ic"/>
          <p:cNvSpPr/>
          <p:nvPr/>
        </p:nvSpPr>
        <p:spPr>
          <a:xfrm>
            <a:off x="609600" y="34166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31" name="svg path"/>
          <p:cNvSpPr/>
          <p:nvPr/>
        </p:nvSpPr>
        <p:spPr>
          <a:xfrm>
            <a:off x="774700" y="3581797"/>
            <a:ext cx="177800" cy="88900"/>
          </a:xfrm>
          <a:custGeom>
            <a:avLst/>
            <a:gdLst/>
            <a:ahLst/>
            <a:cxnLst/>
            <a:rect l="0" t="0" r="r" b="b"/>
            <a:pathLst>
              <a:path w="177800" h="88900" fill="none">
                <a:moveTo>
                  <a:pt x="88900" y="0"/>
                </a:moveTo>
                <a:lnTo>
                  <a:pt x="177800" y="44450"/>
                </a:lnTo>
                <a:lnTo>
                  <a:pt x="88900" y="88900"/>
                </a:lnTo>
                <a:lnTo>
                  <a:pt x="0" y="44450"/>
                </a:lnTo>
                <a:close/>
              </a:path>
            </a:pathLst>
          </a:custGeom>
          <a:noFill/>
          <a:ln w="12700" cap="rnd">
            <a:solidFill>
              <a:srgbClr val="102A4C"/>
            </a:solidFill>
            <a:round/>
          </a:ln>
        </p:spPr>
        <p:txBody>
          <a:bodyPr rtlCol="0" anchor="ctr"/>
          <a:lstStyle/>
          <a:p>
            <a:pPr algn="ctr"/>
            <a:endParaRPr lang="ko-KR" dirty="0"/>
          </a:p>
        </p:txBody>
      </p:sp>
      <p:sp>
        <p:nvSpPr>
          <p:cNvPr id="32" name="svg path"/>
          <p:cNvSpPr/>
          <p:nvPr/>
        </p:nvSpPr>
        <p:spPr>
          <a:xfrm>
            <a:off x="774700" y="367069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774700" y="371514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4" name="s5-cell s5-lim r2"/>
          <p:cNvSpPr/>
          <p:nvPr/>
        </p:nvSpPr>
        <p:spPr>
          <a:xfrm>
            <a:off x="2590800" y="31372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5" name="svg path"/>
          <p:cNvSpPr/>
          <p:nvPr/>
        </p:nvSpPr>
        <p:spPr>
          <a:xfrm>
            <a:off x="2851150" y="38617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36" name="s5-go r2::before"/>
          <p:cNvSpPr/>
          <p:nvPr/>
        </p:nvSpPr>
        <p:spPr>
          <a:xfrm>
            <a:off x="6553200" y="3664347"/>
            <a:ext cx="508000" cy="12700"/>
          </a:xfrm>
          <a:prstGeom prst="rect">
            <a:avLst/>
          </a:prstGeom>
          <a:solidFill>
            <a:srgbClr val="C8CFD8"/>
          </a:solidFill>
          <a:ln>
            <a:noFill/>
          </a:ln>
        </p:spPr>
        <p:txBody>
          <a:bodyPr rtlCol="0" anchor="ctr"/>
          <a:lstStyle/>
          <a:p>
            <a:pPr algn="ctr"/>
            <a:endParaRPr lang="ko-KR" dirty="0"/>
          </a:p>
        </p:txBody>
      </p:sp>
      <p:sp>
        <p:nvSpPr>
          <p:cNvPr id="37" name="i"/>
          <p:cNvSpPr/>
          <p:nvPr/>
        </p:nvSpPr>
        <p:spPr>
          <a:xfrm>
            <a:off x="6654800" y="3518297"/>
            <a:ext cx="304800" cy="304800"/>
          </a:xfrm>
          <a:prstGeom prst="ellipse">
            <a:avLst/>
          </a:prstGeom>
          <a:solidFill>
            <a:srgbClr val="102A4C"/>
          </a:solidFill>
          <a:ln>
            <a:noFill/>
          </a:ln>
        </p:spPr>
        <p:txBody>
          <a:bodyPr rtlCol="0" anchor="ctr"/>
          <a:lstStyle/>
          <a:p>
            <a:pPr algn="ctr"/>
            <a:endParaRPr lang="ko-KR" dirty="0"/>
          </a:p>
        </p:txBody>
      </p:sp>
      <p:sp>
        <p:nvSpPr>
          <p:cNvPr id="38" name="svg path"/>
          <p:cNvSpPr/>
          <p:nvPr/>
        </p:nvSpPr>
        <p:spPr>
          <a:xfrm>
            <a:off x="6788150" y="36325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39" name="s5-cell s5-obj r2"/>
          <p:cNvSpPr/>
          <p:nvPr/>
        </p:nvSpPr>
        <p:spPr>
          <a:xfrm>
            <a:off x="7067550" y="31436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0" name="s5-ic"/>
          <p:cNvSpPr/>
          <p:nvPr/>
        </p:nvSpPr>
        <p:spPr>
          <a:xfrm>
            <a:off x="609600" y="45850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41" name="svg path"/>
          <p:cNvSpPr/>
          <p:nvPr/>
        </p:nvSpPr>
        <p:spPr>
          <a:xfrm>
            <a:off x="774700" y="4788297"/>
            <a:ext cx="177800" cy="101600"/>
          </a:xfrm>
          <a:custGeom>
            <a:avLst/>
            <a:gdLst/>
            <a:ahLst/>
            <a:cxnLst/>
            <a:rect l="0" t="0" r="r" b="b"/>
            <a:pathLst>
              <a:path w="177800" h="101600" fill="none">
                <a:moveTo>
                  <a:pt x="0" y="0"/>
                </a:moveTo>
                <a:lnTo>
                  <a:pt x="0" y="101600"/>
                </a:lnTo>
                <a:moveTo>
                  <a:pt x="177800" y="0"/>
                </a:moveTo>
                <a:lnTo>
                  <a:pt x="177800" y="1016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774700" y="4839097"/>
            <a:ext cx="177800" cy="1"/>
          </a:xfrm>
          <a:custGeom>
            <a:avLst/>
            <a:gdLst/>
            <a:ahLst/>
            <a:cxnLst/>
            <a:rect l="0" t="0" r="r" b="b"/>
            <a:pathLst>
              <a:path w="177800" h="1" fill="none">
                <a:moveTo>
                  <a:pt x="0" y="0"/>
                </a:moveTo>
                <a:lnTo>
                  <a:pt x="177800" y="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774700" y="4816872"/>
            <a:ext cx="177800" cy="44450"/>
          </a:xfrm>
          <a:custGeom>
            <a:avLst/>
            <a:gdLst/>
            <a:ahLst/>
            <a:cxnLst/>
            <a:rect l="0" t="0" r="r" b="b"/>
            <a:pathLst>
              <a:path w="177800" h="44450" fill="none">
                <a:moveTo>
                  <a:pt x="28575" y="0"/>
                </a:moveTo>
                <a:lnTo>
                  <a:pt x="0" y="22225"/>
                </a:lnTo>
                <a:lnTo>
                  <a:pt x="28575" y="44450"/>
                </a:lnTo>
                <a:moveTo>
                  <a:pt x="149225" y="0"/>
                </a:moveTo>
                <a:lnTo>
                  <a:pt x="177800" y="22225"/>
                </a:lnTo>
                <a:lnTo>
                  <a:pt x="149225" y="44450"/>
                </a:lnTo>
              </a:path>
            </a:pathLst>
          </a:custGeom>
          <a:noFill/>
          <a:ln w="12700" cap="rnd">
            <a:solidFill>
              <a:srgbClr val="102A4C"/>
            </a:solidFill>
            <a:round/>
          </a:ln>
        </p:spPr>
        <p:txBody>
          <a:bodyPr rtlCol="0" anchor="ctr"/>
          <a:lstStyle/>
          <a:p>
            <a:pPr algn="ctr"/>
            <a:endParaRPr lang="ko-KR" dirty="0"/>
          </a:p>
        </p:txBody>
      </p:sp>
      <p:sp>
        <p:nvSpPr>
          <p:cNvPr id="44" name="svg rect"/>
          <p:cNvSpPr/>
          <p:nvPr/>
        </p:nvSpPr>
        <p:spPr>
          <a:xfrm>
            <a:off x="768350" y="4908947"/>
            <a:ext cx="190500" cy="31750"/>
          </a:xfrm>
          <a:prstGeom prst="roundRect">
            <a:avLst>
              <a:gd name="adj" fmla="val 30000"/>
            </a:avLst>
          </a:prstGeom>
          <a:noFill/>
          <a:ln w="12700" cap="rnd">
            <a:solidFill>
              <a:srgbClr val="102A4C"/>
            </a:solidFill>
            <a:round/>
          </a:ln>
        </p:spPr>
        <p:txBody>
          <a:bodyPr rtlCol="0" anchor="ctr"/>
          <a:lstStyle/>
          <a:p>
            <a:pPr algn="ctr"/>
            <a:endParaRPr lang="ko-KR" dirty="0"/>
          </a:p>
        </p:txBody>
      </p:sp>
      <p:sp>
        <p:nvSpPr>
          <p:cNvPr id="45" name="svg path"/>
          <p:cNvSpPr/>
          <p:nvPr/>
        </p:nvSpPr>
        <p:spPr>
          <a:xfrm>
            <a:off x="806450" y="4908947"/>
            <a:ext cx="114300" cy="15875"/>
          </a:xfrm>
          <a:custGeom>
            <a:avLst/>
            <a:gdLst/>
            <a:ahLst/>
            <a:cxnLst/>
            <a:rect l="0" t="0" r="r" b="b"/>
            <a:pathLst>
              <a:path w="114300" h="15875" fill="none">
                <a:moveTo>
                  <a:pt x="0" y="0"/>
                </a:moveTo>
                <a:lnTo>
                  <a:pt x="0" y="15875"/>
                </a:lnTo>
                <a:moveTo>
                  <a:pt x="38100" y="0"/>
                </a:moveTo>
                <a:lnTo>
                  <a:pt x="38100" y="15875"/>
                </a:lnTo>
                <a:moveTo>
                  <a:pt x="76200" y="0"/>
                </a:moveTo>
                <a:lnTo>
                  <a:pt x="76200" y="15875"/>
                </a:lnTo>
                <a:moveTo>
                  <a:pt x="114300" y="0"/>
                </a:moveTo>
                <a:lnTo>
                  <a:pt x="114300" y="15875"/>
                </a:lnTo>
              </a:path>
            </a:pathLst>
          </a:custGeom>
          <a:noFill/>
          <a:ln w="12700" cap="rnd">
            <a:solidFill>
              <a:srgbClr val="102A4C"/>
            </a:solidFill>
            <a:round/>
          </a:ln>
        </p:spPr>
        <p:txBody>
          <a:bodyPr rtlCol="0" anchor="ctr"/>
          <a:lstStyle/>
          <a:p>
            <a:pPr algn="ctr"/>
            <a:endParaRPr lang="ko-KR" dirty="0"/>
          </a:p>
        </p:txBody>
      </p:sp>
      <p:sp>
        <p:nvSpPr>
          <p:cNvPr id="46" name="s5-cell s5-lim r3"/>
          <p:cNvSpPr/>
          <p:nvPr/>
        </p:nvSpPr>
        <p:spPr>
          <a:xfrm>
            <a:off x="2590800" y="43056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svg path"/>
          <p:cNvSpPr/>
          <p:nvPr/>
        </p:nvSpPr>
        <p:spPr>
          <a:xfrm>
            <a:off x="2851150" y="50301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48" name="s5-go r3::before"/>
          <p:cNvSpPr/>
          <p:nvPr/>
        </p:nvSpPr>
        <p:spPr>
          <a:xfrm>
            <a:off x="6553200" y="4832747"/>
            <a:ext cx="508000" cy="12700"/>
          </a:xfrm>
          <a:prstGeom prst="rect">
            <a:avLst/>
          </a:prstGeom>
          <a:solidFill>
            <a:srgbClr val="C8CFD8"/>
          </a:solidFill>
          <a:ln>
            <a:noFill/>
          </a:ln>
        </p:spPr>
        <p:txBody>
          <a:bodyPr rtlCol="0" anchor="ctr"/>
          <a:lstStyle/>
          <a:p>
            <a:pPr algn="ctr"/>
            <a:endParaRPr lang="ko-KR" dirty="0"/>
          </a:p>
        </p:txBody>
      </p:sp>
      <p:sp>
        <p:nvSpPr>
          <p:cNvPr id="49" name="i"/>
          <p:cNvSpPr/>
          <p:nvPr/>
        </p:nvSpPr>
        <p:spPr>
          <a:xfrm>
            <a:off x="6654800" y="4686697"/>
            <a:ext cx="304800" cy="304800"/>
          </a:xfrm>
          <a:prstGeom prst="ellipse">
            <a:avLst/>
          </a:prstGeom>
          <a:solidFill>
            <a:srgbClr val="102A4C"/>
          </a:solidFill>
          <a:ln>
            <a:noFill/>
          </a:ln>
        </p:spPr>
        <p:txBody>
          <a:bodyPr rtlCol="0" anchor="ctr"/>
          <a:lstStyle/>
          <a:p>
            <a:pPr algn="ctr"/>
            <a:endParaRPr lang="ko-KR" dirty="0"/>
          </a:p>
        </p:txBody>
      </p:sp>
      <p:sp>
        <p:nvSpPr>
          <p:cNvPr id="50" name="svg path"/>
          <p:cNvSpPr/>
          <p:nvPr/>
        </p:nvSpPr>
        <p:spPr>
          <a:xfrm>
            <a:off x="6788150" y="48009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51" name="s5-cell s5-obj r3"/>
          <p:cNvSpPr/>
          <p:nvPr/>
        </p:nvSpPr>
        <p:spPr>
          <a:xfrm>
            <a:off x="7067550" y="43120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2" name="keybar s5-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53" name="02"/>
          <p:cNvSpPr txBox="1"/>
          <p:nvPr/>
        </p:nvSpPr>
        <p:spPr>
          <a:xfrm>
            <a:off x="609600" y="401439"/>
            <a:ext cx="212527"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02</a:t>
            </a:r>
            <a:endParaRPr lang="en-US" sz="950" dirty="0"/>
          </a:p>
        </p:txBody>
      </p:sp>
      <p:sp>
        <p:nvSpPr>
          <p:cNvPr id="54" name="기존 연구 한계 및 연구 목표"/>
          <p:cNvSpPr txBox="1"/>
          <p:nvPr/>
        </p:nvSpPr>
        <p:spPr>
          <a:xfrm>
            <a:off x="860227" y="401439"/>
            <a:ext cx="133736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기존 연구 한계 및 연구 목표</a:t>
            </a:r>
            <a:endParaRPr lang="en-US" sz="950" dirty="0"/>
          </a:p>
        </p:txBody>
      </p:sp>
      <p:sp>
        <p:nvSpPr>
          <p:cNvPr id="55" name="기존 연구의 한계 ↔ 연구 목표"/>
          <p:cNvSpPr txBox="1"/>
          <p:nvPr/>
        </p:nvSpPr>
        <p:spPr>
          <a:xfrm>
            <a:off x="2306042" y="401439"/>
            <a:ext cx="1505641"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기존 연구의 한계 ↔ 연구 목표</a:t>
            </a:r>
            <a:endParaRPr lang="en-US" sz="950" dirty="0"/>
          </a:p>
        </p:txBody>
      </p:sp>
      <p:sp>
        <p:nvSpPr>
          <p:cNvPr id="56" name="기존 연구의 세 가지 한계를"/>
          <p:cNvSpPr txBox="1"/>
          <p:nvPr/>
        </p:nvSpPr>
        <p:spPr>
          <a:xfrm>
            <a:off x="609600" y="666750"/>
            <a:ext cx="3034840"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기존 연구의 세 가지 한계를</a:t>
            </a:r>
            <a:endParaRPr lang="en-US" sz="2300" dirty="0"/>
          </a:p>
        </p:txBody>
      </p:sp>
      <p:sp>
        <p:nvSpPr>
          <p:cNvPr id="57" name="세 가지 연구 목표로 하나씩 해결합니다."/>
          <p:cNvSpPr txBox="1"/>
          <p:nvPr/>
        </p:nvSpPr>
        <p:spPr>
          <a:xfrm>
            <a:off x="609600" y="1028898"/>
            <a:ext cx="4445826" cy="349250"/>
          </a:xfrm>
          <a:prstGeom prst="rect">
            <a:avLst/>
          </a:prstGeom>
          <a:noFill/>
          <a:ln/>
        </p:spPr>
        <p:txBody>
          <a:bodyPr wrap="none" lIns="0" tIns="0" rIns="0" bIns="0" rtlCol="0" anchor="ctr"/>
          <a:lstStyle/>
          <a:p>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세 가지 연구 목표</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로 하나씩 해결합니다.</a:t>
            </a:r>
            <a:endParaRPr lang="en-US" sz="2300" dirty="0"/>
          </a:p>
        </p:txBody>
      </p:sp>
      <p:sp>
        <p:nvSpPr>
          <p:cNvPr id="5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5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02</a:t>
            </a:r>
            <a:endParaRPr lang="en-US" sz="700" dirty="0"/>
          </a:p>
        </p:txBody>
      </p:sp>
      <p:sp>
        <p:nvSpPr>
          <p:cNvPr id="6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6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6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63" name="쟁점"/>
          <p:cNvSpPr txBox="1"/>
          <p:nvPr/>
        </p:nvSpPr>
        <p:spPr>
          <a:xfrm>
            <a:off x="609600" y="1673622"/>
            <a:ext cx="246063" cy="127000"/>
          </a:xfrm>
          <a:prstGeom prst="rect">
            <a:avLst/>
          </a:prstGeom>
          <a:noFill/>
          <a:ln/>
        </p:spPr>
        <p:txBody>
          <a:bodyPr wrap="none" lIns="0" tIns="0" rIns="0" bIns="0" rtlCol="0" anchor="ctr"/>
          <a:lstStyle/>
          <a:p>
            <a:pPr algn="l" indent="0" marL="0">
              <a:buNone/>
            </a:pPr>
            <a:r>
              <a:rPr lang="ko-KR" altLang="en-US" sz="850" b="1" spc="34" kern="0" dirty="0">
                <a:solidFill>
                  <a:srgbClr val="737C8B"/>
                </a:solidFill>
                <a:latin typeface="Pretendard" pitchFamily="34" charset="0"/>
                <a:ea typeface="Pretendard" pitchFamily="34" charset="-127"/>
                <a:cs typeface="Pretendard" pitchFamily="34" charset="-120"/>
              </a:rPr>
              <a:t>쟁점</a:t>
            </a:r>
            <a:endParaRPr lang="en-US" sz="850" dirty="0"/>
          </a:p>
        </p:txBody>
      </p:sp>
      <p:sp>
        <p:nvSpPr>
          <p:cNvPr id="64" name="기존 연구의 한계"/>
          <p:cNvSpPr txBox="1"/>
          <p:nvPr/>
        </p:nvSpPr>
        <p:spPr>
          <a:xfrm>
            <a:off x="2857500" y="1645047"/>
            <a:ext cx="1005969" cy="184150"/>
          </a:xfrm>
          <a:prstGeom prst="rect">
            <a:avLst/>
          </a:prstGeom>
          <a:noFill/>
          <a:ln/>
        </p:spPr>
        <p:txBody>
          <a:bodyPr wrap="none" lIns="0" tIns="0" rIns="0" bIns="0" rtlCol="0" anchor="ctr"/>
          <a:lstStyle/>
          <a:p>
            <a:pPr algn="l" indent="0" marL="0">
              <a:buNone/>
            </a:pPr>
            <a:r>
              <a:rPr lang="ko-KR" altLang="en-US" sz="1200" spc="-36" kern="0" dirty="0">
                <a:solidFill>
                  <a:srgbClr val="737C8B"/>
                </a:solidFill>
                <a:latin typeface="Pretendard ExtraBold" pitchFamily="34" charset="0"/>
                <a:ea typeface="Pretendard ExtraBold" pitchFamily="34" charset="-127"/>
                <a:cs typeface="Pretendard ExtraBold" pitchFamily="34" charset="-120"/>
              </a:rPr>
              <a:t>기존 연구의 한계</a:t>
            </a:r>
            <a:endParaRPr lang="en-US" sz="1200" dirty="0"/>
          </a:p>
        </p:txBody>
      </p:sp>
      <p:sp>
        <p:nvSpPr>
          <p:cNvPr id="65" name="연구 목표"/>
          <p:cNvSpPr txBox="1"/>
          <p:nvPr/>
        </p:nvSpPr>
        <p:spPr>
          <a:xfrm>
            <a:off x="73279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목표</a:t>
            </a:r>
            <a:endParaRPr lang="en-US" sz="1200" dirty="0"/>
          </a:p>
        </p:txBody>
      </p:sp>
      <p:sp>
        <p:nvSpPr>
          <p:cNvPr id="66" name="높이 정보"/>
          <p:cNvSpPr txBox="1"/>
          <p:nvPr/>
        </p:nvSpPr>
        <p:spPr>
          <a:xfrm>
            <a:off x="1270000" y="23879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높이 정보</a:t>
            </a:r>
            <a:endParaRPr lang="en-US" sz="1500" dirty="0"/>
          </a:p>
        </p:txBody>
      </p:sp>
      <p:sp>
        <p:nvSpPr>
          <p:cNvPr id="67" name="한계 1"/>
          <p:cNvSpPr txBox="1"/>
          <p:nvPr/>
        </p:nvSpPr>
        <p:spPr>
          <a:xfrm>
            <a:off x="2819400" y="214858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1</a:t>
            </a:r>
            <a:endParaRPr lang="en-US" sz="800" dirty="0"/>
          </a:p>
        </p:txBody>
      </p:sp>
      <p:sp>
        <p:nvSpPr>
          <p:cNvPr id="68" name="평면도 한 장만 사용"/>
          <p:cNvSpPr txBox="1"/>
          <p:nvPr/>
        </p:nvSpPr>
        <p:spPr>
          <a:xfrm>
            <a:off x="2819400" y="2370832"/>
            <a:ext cx="1260064"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평면도 한 장만 사용</a:t>
            </a:r>
            <a:endParaRPr lang="en-US" sz="1300" dirty="0"/>
          </a:p>
        </p:txBody>
      </p:sp>
      <p:sp>
        <p:nvSpPr>
          <p:cNvPr id="69" name="높이 정보를 알 수 없음 → 수동 입력·고정값 사용"/>
          <p:cNvSpPr txBox="1"/>
          <p:nvPr/>
        </p:nvSpPr>
        <p:spPr>
          <a:xfrm>
            <a:off x="2997200" y="2642592"/>
            <a:ext cx="2883497"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높이 정보를 알 수 없음 → 수동 입력·고정값 사용</a:t>
            </a:r>
            <a:endParaRPr lang="en-US" sz="1200" dirty="0"/>
          </a:p>
        </p:txBody>
      </p:sp>
      <p:sp>
        <p:nvSpPr>
          <p:cNvPr id="70" name="목표 1"/>
          <p:cNvSpPr txBox="1"/>
          <p:nvPr/>
        </p:nvSpPr>
        <p:spPr>
          <a:xfrm>
            <a:off x="7302500" y="214481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1</a:t>
            </a:r>
            <a:endParaRPr lang="en-US" sz="800" dirty="0"/>
          </a:p>
        </p:txBody>
      </p:sp>
      <p:sp>
        <p:nvSpPr>
          <p:cNvPr id="71" name="평면도와 입면도 정보를 통합해"/>
          <p:cNvSpPr txBox="1"/>
          <p:nvPr/>
        </p:nvSpPr>
        <p:spPr>
          <a:xfrm>
            <a:off x="7302500" y="2367062"/>
            <a:ext cx="2275078"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평면도와 입면도 정보를 통합해</a:t>
            </a:r>
            <a:endParaRPr lang="en-US" sz="1500" dirty="0"/>
          </a:p>
        </p:txBody>
      </p:sp>
      <p:sp>
        <p:nvSpPr>
          <p:cNvPr id="72" name="완전한 3차원 BIM 생성"/>
          <p:cNvSpPr txBox="1"/>
          <p:nvPr/>
        </p:nvSpPr>
        <p:spPr>
          <a:xfrm>
            <a:off x="7302500" y="2646462"/>
            <a:ext cx="1409408"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완전한 3차원 BIM 생성</a:t>
            </a:r>
            <a:endParaRPr lang="en-US" sz="1200" dirty="0"/>
          </a:p>
        </p:txBody>
      </p:sp>
      <p:sp>
        <p:nvSpPr>
          <p:cNvPr id="73" name="CAD 의존"/>
          <p:cNvSpPr txBox="1"/>
          <p:nvPr/>
        </p:nvSpPr>
        <p:spPr>
          <a:xfrm>
            <a:off x="1270000" y="3556397"/>
            <a:ext cx="795238"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CAD 의존</a:t>
            </a:r>
            <a:endParaRPr lang="en-US" sz="1500" dirty="0"/>
          </a:p>
        </p:txBody>
      </p:sp>
      <p:sp>
        <p:nvSpPr>
          <p:cNvPr id="74" name="한계 2"/>
          <p:cNvSpPr txBox="1"/>
          <p:nvPr/>
        </p:nvSpPr>
        <p:spPr>
          <a:xfrm>
            <a:off x="2819400" y="331698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2</a:t>
            </a:r>
            <a:endParaRPr lang="en-US" sz="800" dirty="0"/>
          </a:p>
        </p:txBody>
      </p:sp>
      <p:sp>
        <p:nvSpPr>
          <p:cNvPr id="75" name="CAD 레이어·블록 같은 정보에 의존"/>
          <p:cNvSpPr txBox="1"/>
          <p:nvPr/>
        </p:nvSpPr>
        <p:spPr>
          <a:xfrm>
            <a:off x="2819400" y="3539232"/>
            <a:ext cx="227918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CAD 레이어·블록 같은 정보에 의존</a:t>
            </a:r>
            <a:endParaRPr lang="en-US" sz="1300" dirty="0"/>
          </a:p>
        </p:txBody>
      </p:sp>
      <p:sp>
        <p:nvSpPr>
          <p:cNvPr id="76" name="이미지로만 남은 실제 도면에는 적용 불가"/>
          <p:cNvSpPr txBox="1"/>
          <p:nvPr/>
        </p:nvSpPr>
        <p:spPr>
          <a:xfrm>
            <a:off x="2997200" y="3810992"/>
            <a:ext cx="2464072"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이미지로만 남은 실제 도면에는 적용 불가</a:t>
            </a:r>
            <a:endParaRPr lang="en-US" sz="1200" dirty="0"/>
          </a:p>
        </p:txBody>
      </p:sp>
      <p:sp>
        <p:nvSpPr>
          <p:cNvPr id="77" name="목표 2"/>
          <p:cNvSpPr txBox="1"/>
          <p:nvPr/>
        </p:nvSpPr>
        <p:spPr>
          <a:xfrm>
            <a:off x="7302500" y="331321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2</a:t>
            </a:r>
            <a:endParaRPr lang="en-US" sz="800" dirty="0"/>
          </a:p>
        </p:txBody>
      </p:sp>
      <p:sp>
        <p:nvSpPr>
          <p:cNvPr id="78" name="CAD 정보 없이 이미지만으로"/>
          <p:cNvSpPr txBox="1"/>
          <p:nvPr/>
        </p:nvSpPr>
        <p:spPr>
          <a:xfrm>
            <a:off x="7302500" y="3535462"/>
            <a:ext cx="218873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CAD 정보 없이 이미지만으로</a:t>
            </a:r>
            <a:endParaRPr lang="en-US" sz="1500" dirty="0"/>
          </a:p>
        </p:txBody>
      </p:sp>
      <p:sp>
        <p:nvSpPr>
          <p:cNvPr id="79" name="평면도·입면도 간 대응 객체 정의"/>
          <p:cNvSpPr txBox="1"/>
          <p:nvPr/>
        </p:nvSpPr>
        <p:spPr>
          <a:xfrm>
            <a:off x="7302500" y="3814862"/>
            <a:ext cx="1928221"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평면도·입면도 간 대응 객체 정의</a:t>
            </a:r>
            <a:endParaRPr lang="en-US" sz="1200" dirty="0"/>
          </a:p>
        </p:txBody>
      </p:sp>
      <p:sp>
        <p:nvSpPr>
          <p:cNvPr id="80" name="치수 의존"/>
          <p:cNvSpPr txBox="1"/>
          <p:nvPr/>
        </p:nvSpPr>
        <p:spPr>
          <a:xfrm>
            <a:off x="1270000" y="47247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치수 의존</a:t>
            </a:r>
            <a:endParaRPr lang="en-US" sz="1500" dirty="0"/>
          </a:p>
        </p:txBody>
      </p:sp>
      <p:sp>
        <p:nvSpPr>
          <p:cNvPr id="81" name="한계 3"/>
          <p:cNvSpPr txBox="1"/>
          <p:nvPr/>
        </p:nvSpPr>
        <p:spPr>
          <a:xfrm>
            <a:off x="2819400" y="448538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3</a:t>
            </a:r>
            <a:endParaRPr lang="en-US" sz="800" dirty="0"/>
          </a:p>
        </p:txBody>
      </p:sp>
      <p:sp>
        <p:nvSpPr>
          <p:cNvPr id="82" name="치수 글자 인식(OCR)에 의존"/>
          <p:cNvSpPr txBox="1"/>
          <p:nvPr/>
        </p:nvSpPr>
        <p:spPr>
          <a:xfrm>
            <a:off x="2819400" y="4707632"/>
            <a:ext cx="189057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치수 글자 인식(OCR)에 의존</a:t>
            </a:r>
            <a:endParaRPr lang="en-US" sz="1300" dirty="0"/>
          </a:p>
        </p:txBody>
      </p:sp>
      <p:sp>
        <p:nvSpPr>
          <p:cNvPr id="83" name="치수가 빠지거나 겹치면 부정확"/>
          <p:cNvSpPr txBox="1"/>
          <p:nvPr/>
        </p:nvSpPr>
        <p:spPr>
          <a:xfrm>
            <a:off x="2997200" y="4979392"/>
            <a:ext cx="1855863"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치수가 빠지거나 겹치면 부정확</a:t>
            </a:r>
            <a:endParaRPr lang="en-US" sz="1200" dirty="0"/>
          </a:p>
        </p:txBody>
      </p:sp>
      <p:sp>
        <p:nvSpPr>
          <p:cNvPr id="84" name="목표 3"/>
          <p:cNvSpPr txBox="1"/>
          <p:nvPr/>
        </p:nvSpPr>
        <p:spPr>
          <a:xfrm>
            <a:off x="7302500" y="448161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3</a:t>
            </a:r>
            <a:endParaRPr lang="en-US" sz="800" dirty="0"/>
          </a:p>
        </p:txBody>
      </p:sp>
      <p:sp>
        <p:nvSpPr>
          <p:cNvPr id="85" name="LMM(대형 멀티모달 모델)으로 축척을 인식해"/>
          <p:cNvSpPr txBox="1"/>
          <p:nvPr/>
        </p:nvSpPr>
        <p:spPr>
          <a:xfrm>
            <a:off x="7302500" y="4703862"/>
            <a:ext cx="340662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LMM(대형 멀티모달 모델)으로 축척을 인식해</a:t>
            </a:r>
            <a:endParaRPr lang="en-US" sz="1500" dirty="0"/>
          </a:p>
        </p:txBody>
      </p:sp>
      <p:sp>
        <p:nvSpPr>
          <p:cNvPr id="86" name="안정적으로 치수 보정"/>
          <p:cNvSpPr txBox="1"/>
          <p:nvPr/>
        </p:nvSpPr>
        <p:spPr>
          <a:xfrm>
            <a:off x="7302500" y="4983262"/>
            <a:ext cx="1282150"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안정적으로 치수 보정</a:t>
            </a:r>
            <a:endParaRPr lang="en-US" sz="1200" dirty="0"/>
          </a:p>
        </p:txBody>
      </p:sp>
      <p:sp>
        <p:nvSpPr>
          <p:cNvPr id="87"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88" name="딥러닝 기반 도면 객체 인식과 평면도·입면도 간 직접 매칭으로,"/>
          <p:cNvSpPr txBox="1"/>
          <p:nvPr/>
        </p:nvSpPr>
        <p:spPr>
          <a:xfrm>
            <a:off x="1854994" y="5755680"/>
            <a:ext cx="4142615"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딥러닝 기반 도면 객체 인식과 평면도·입면도 간 직접 매칭으로,</a:t>
            </a:r>
            <a:endParaRPr lang="en-US" sz="1350" dirty="0"/>
          </a:p>
        </p:txBody>
      </p:sp>
      <p:sp>
        <p:nvSpPr>
          <p:cNvPr id="89" name="정확한 3차원 정보를 가진 BIM 자동 생성 방법을 제안합니다."/>
          <p:cNvSpPr txBox="1"/>
          <p:nvPr/>
        </p:nvSpPr>
        <p:spPr>
          <a:xfrm>
            <a:off x="1854994" y="5995690"/>
            <a:ext cx="4059845" cy="209550"/>
          </a:xfrm>
          <a:prstGeom prst="rect">
            <a:avLst/>
          </a:prstGeom>
          <a:noFill/>
          <a:ln/>
        </p:spPr>
        <p:txBody>
          <a:bodyPr wrap="none" lIns="0" tIns="0" rIns="0" bIns="0" rtlCol="0" anchor="ctr"/>
          <a:lstStyle/>
          <a:p>
            <a:pPr algn="l" indent="0" marL="0">
              <a:buNone/>
            </a:pPr>
            <a:r>
              <a:rPr lang="ko-KR" altLang="en-US" sz="1350" b="1" spc="-47" kern="0" dirty="0">
                <a:solidFill>
                  <a:srgbClr val="FFB3C1"/>
                </a:solidFill>
                <a:latin typeface="Pretendard" pitchFamily="34" charset="0"/>
                <a:ea typeface="Pretendard" pitchFamily="34" charset="-127"/>
                <a:cs typeface="Pretendard" pitchFamily="34" charset="-120"/>
              </a:rPr>
              <a:t>정확한 3차원 정보를 가진 BIM 자동 생성 방법</a:t>
            </a:r>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을 제안합니다.</a:t>
            </a:r>
            <a:endParaRPr lang="en-US" sz="1350" dirty="0"/>
          </a:p>
        </p:txBody>
      </p:sp>
      <p:sp>
        <p:nvSpPr>
          <p:cNvPr id="90"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91" name="05 / 12"/>
          <p:cNvSpPr txBox="1"/>
          <p:nvPr/>
        </p:nvSpPr>
        <p:spPr>
          <a:xfrm>
            <a:off x="11236226" y="6472238"/>
            <a:ext cx="396974"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05</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gh g1::after"/>
          <p:cNvSpPr/>
          <p:nvPr/>
        </p:nvSpPr>
        <p:spPr>
          <a:xfrm>
            <a:off x="1256903" y="1721247"/>
            <a:ext cx="4661297" cy="12700"/>
          </a:xfrm>
          <a:prstGeom prst="roundRect">
            <a:avLst>
              <a:gd name="adj" fmla="val 50000"/>
            </a:avLst>
          </a:prstGeom>
          <a:solidFill>
            <a:srgbClr val="102A4C"/>
          </a:solidFill>
          <a:ln>
            <a:noFill/>
          </a:ln>
        </p:spPr>
        <p:txBody>
          <a:bodyPr rtlCol="0" anchor="ctr"/>
          <a:lstStyle/>
          <a:p>
            <a:pPr algn="ctr"/>
            <a:endParaRPr lang="ko-KR" dirty="0"/>
          </a:p>
        </p:txBody>
      </p:sp>
      <p:sp>
        <p:nvSpPr>
          <p:cNvPr id="10" name="gh g2::after"/>
          <p:cNvSpPr/>
          <p:nvPr/>
        </p:nvSpPr>
        <p:spPr>
          <a:xfrm>
            <a:off x="6992541" y="1721247"/>
            <a:ext cx="4589859"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t k1"/>
          <p:cNvSpPr/>
          <p:nvPr/>
        </p:nvSpPr>
        <p:spPr>
          <a:xfrm>
            <a:off x="6096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12" name="fig"/>
          <p:cNvSpPr/>
          <p:nvPr/>
        </p:nvSpPr>
        <p:spPr>
          <a:xfrm>
            <a:off x="7905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13" name="img" descr="img">    </p:cNvPr>
          <p:cNvPicPr>
            <a:picLocks noChangeAspect="1"/>
          </p:cNvPicPr>
          <p:nvPr/>
        </p:nvPicPr>
        <p:blipFill>
          <a:blip r:embed="rId1"/>
          <a:stretch>
            <a:fillRect/>
          </a:stretch>
        </p:blipFill>
        <p:spPr>
          <a:xfrm>
            <a:off x="958850" y="2178447"/>
            <a:ext cx="1778000" cy="1866900"/>
          </a:xfrm>
          <a:prstGeom prst="rect">
            <a:avLst/>
          </a:prstGeom>
        </p:spPr>
      </p:pic>
      <p:sp>
        <p:nvSpPr>
          <p:cNvPr id="14" name="tq 선"/>
          <p:cNvSpPr/>
          <p:nvPr/>
        </p:nvSpPr>
        <p:spPr>
          <a:xfrm>
            <a:off x="7905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15" name="chip"/>
          <p:cNvSpPr/>
          <p:nvPr/>
        </p:nvSpPr>
        <p:spPr>
          <a:xfrm>
            <a:off x="790575" y="5223272"/>
            <a:ext cx="1387475"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16" name="i"/>
          <p:cNvSpPr/>
          <p:nvPr/>
        </p:nvSpPr>
        <p:spPr>
          <a:xfrm>
            <a:off x="31242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17" name="svg path"/>
          <p:cNvSpPr/>
          <p:nvPr/>
        </p:nvSpPr>
        <p:spPr>
          <a:xfrm>
            <a:off x="32480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18" name="st k2"/>
          <p:cNvSpPr/>
          <p:nvPr/>
        </p:nvSpPr>
        <p:spPr>
          <a:xfrm>
            <a:off x="34417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19" name="fig"/>
          <p:cNvSpPr/>
          <p:nvPr/>
        </p:nvSpPr>
        <p:spPr>
          <a:xfrm>
            <a:off x="36226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20" name="img" descr="img">    </p:cNvPr>
          <p:cNvPicPr>
            <a:picLocks noChangeAspect="1"/>
          </p:cNvPicPr>
          <p:nvPr/>
        </p:nvPicPr>
        <p:blipFill>
          <a:blip r:embed="rId2"/>
          <a:stretch>
            <a:fillRect/>
          </a:stretch>
        </p:blipFill>
        <p:spPr>
          <a:xfrm>
            <a:off x="3790950" y="2178447"/>
            <a:ext cx="1778000" cy="1866900"/>
          </a:xfrm>
          <a:prstGeom prst="rect">
            <a:avLst/>
          </a:prstGeom>
        </p:spPr>
      </p:pic>
      <p:sp>
        <p:nvSpPr>
          <p:cNvPr id="21" name="tq 선"/>
          <p:cNvSpPr/>
          <p:nvPr/>
        </p:nvSpPr>
        <p:spPr>
          <a:xfrm>
            <a:off x="36226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22" name="chip"/>
          <p:cNvSpPr/>
          <p:nvPr/>
        </p:nvSpPr>
        <p:spPr>
          <a:xfrm>
            <a:off x="3622675" y="5223272"/>
            <a:ext cx="192285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3" name="chip"/>
          <p:cNvSpPr/>
          <p:nvPr/>
        </p:nvSpPr>
        <p:spPr>
          <a:xfrm>
            <a:off x="3622675" y="5528072"/>
            <a:ext cx="145424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4" name="i"/>
          <p:cNvSpPr/>
          <p:nvPr/>
        </p:nvSpPr>
        <p:spPr>
          <a:xfrm>
            <a:off x="59563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25" name="svg path"/>
          <p:cNvSpPr/>
          <p:nvPr/>
        </p:nvSpPr>
        <p:spPr>
          <a:xfrm>
            <a:off x="60801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26" name="st k3"/>
          <p:cNvSpPr/>
          <p:nvPr/>
        </p:nvSpPr>
        <p:spPr>
          <a:xfrm>
            <a:off x="62738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27" name="fig"/>
          <p:cNvSpPr/>
          <p:nvPr/>
        </p:nvSpPr>
        <p:spPr>
          <a:xfrm>
            <a:off x="64547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28" name="img" descr="img">    </p:cNvPr>
          <p:cNvPicPr>
            <a:picLocks noChangeAspect="1"/>
          </p:cNvPicPr>
          <p:nvPr/>
        </p:nvPicPr>
        <p:blipFill>
          <a:blip r:embed="rId3"/>
          <a:stretch>
            <a:fillRect/>
          </a:stretch>
        </p:blipFill>
        <p:spPr>
          <a:xfrm>
            <a:off x="6623050" y="2178447"/>
            <a:ext cx="1778000" cy="1866900"/>
          </a:xfrm>
          <a:prstGeom prst="rect">
            <a:avLst/>
          </a:prstGeom>
        </p:spPr>
      </p:pic>
      <p:sp>
        <p:nvSpPr>
          <p:cNvPr id="29" name="tq 선"/>
          <p:cNvSpPr/>
          <p:nvPr/>
        </p:nvSpPr>
        <p:spPr>
          <a:xfrm>
            <a:off x="64547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30" name="chip"/>
          <p:cNvSpPr/>
          <p:nvPr/>
        </p:nvSpPr>
        <p:spPr>
          <a:xfrm>
            <a:off x="6454775" y="5223272"/>
            <a:ext cx="1627684"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1" name="ref"/>
          <p:cNvSpPr/>
          <p:nvPr/>
        </p:nvSpPr>
        <p:spPr>
          <a:xfrm>
            <a:off x="7569398" y="5270897"/>
            <a:ext cx="446385" cy="152400"/>
          </a:xfrm>
          <a:prstGeom prst="roundRect">
            <a:avLst>
              <a:gd name="adj" fmla="val 25000"/>
            </a:avLst>
          </a:prstGeom>
          <a:solidFill>
            <a:srgbClr val="E8EEF6"/>
          </a:solidFill>
          <a:ln>
            <a:noFill/>
          </a:ln>
        </p:spPr>
        <p:txBody>
          <a:bodyPr rtlCol="0" anchor="ctr"/>
          <a:lstStyle/>
          <a:p>
            <a:pPr algn="ctr"/>
            <a:endParaRPr lang="ko-KR" dirty="0"/>
          </a:p>
        </p:txBody>
      </p:sp>
      <p:sp>
        <p:nvSpPr>
          <p:cNvPr id="32" name="chip"/>
          <p:cNvSpPr/>
          <p:nvPr/>
        </p:nvSpPr>
        <p:spPr>
          <a:xfrm>
            <a:off x="6454775" y="5528072"/>
            <a:ext cx="1750913"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3" name="i"/>
          <p:cNvSpPr/>
          <p:nvPr/>
        </p:nvSpPr>
        <p:spPr>
          <a:xfrm>
            <a:off x="87884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34" name="svg path"/>
          <p:cNvSpPr/>
          <p:nvPr/>
        </p:nvSpPr>
        <p:spPr>
          <a:xfrm>
            <a:off x="89122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35" name="st k4"/>
          <p:cNvSpPr/>
          <p:nvPr/>
        </p:nvSpPr>
        <p:spPr>
          <a:xfrm>
            <a:off x="91059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36" name="fig"/>
          <p:cNvSpPr/>
          <p:nvPr/>
        </p:nvSpPr>
        <p:spPr>
          <a:xfrm>
            <a:off x="92868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37" name="img" descr="img">    </p:cNvPr>
          <p:cNvPicPr>
            <a:picLocks noChangeAspect="1"/>
          </p:cNvPicPr>
          <p:nvPr/>
        </p:nvPicPr>
        <p:blipFill>
          <a:blip r:embed="rId4"/>
          <a:stretch>
            <a:fillRect/>
          </a:stretch>
        </p:blipFill>
        <p:spPr>
          <a:xfrm>
            <a:off x="9455150" y="2178447"/>
            <a:ext cx="1778000" cy="1866900"/>
          </a:xfrm>
          <a:prstGeom prst="rect">
            <a:avLst/>
          </a:prstGeom>
        </p:spPr>
      </p:pic>
      <p:sp>
        <p:nvSpPr>
          <p:cNvPr id="38" name="tq 선"/>
          <p:cNvSpPr/>
          <p:nvPr/>
        </p:nvSpPr>
        <p:spPr>
          <a:xfrm>
            <a:off x="92868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39" name="chip"/>
          <p:cNvSpPr/>
          <p:nvPr/>
        </p:nvSpPr>
        <p:spPr>
          <a:xfrm>
            <a:off x="9286875" y="5223272"/>
            <a:ext cx="1304330"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0" name="chip"/>
          <p:cNvSpPr/>
          <p:nvPr/>
        </p:nvSpPr>
        <p:spPr>
          <a:xfrm>
            <a:off x="9286875" y="5528072"/>
            <a:ext cx="695722"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1" name="svg path"/>
          <p:cNvSpPr/>
          <p:nvPr/>
        </p:nvSpPr>
        <p:spPr>
          <a:xfrm>
            <a:off x="3448050" y="6064647"/>
            <a:ext cx="2463800" cy="69850"/>
          </a:xfrm>
          <a:custGeom>
            <a:avLst/>
            <a:gdLst/>
            <a:ahLst/>
            <a:cxnLst/>
            <a:rect l="0" t="0" r="r" b="b"/>
            <a:pathLst>
              <a:path w="2463800" h="69850" fill="none">
                <a:moveTo>
                  <a:pt x="0" y="0"/>
                </a:moveTo>
                <a:lnTo>
                  <a:pt x="0" y="69850"/>
                </a:lnTo>
                <a:lnTo>
                  <a:pt x="2463800" y="69850"/>
                </a:lnTo>
                <a:lnTo>
                  <a:pt x="2463800" y="0"/>
                </a:lnTo>
              </a:path>
            </a:pathLst>
          </a:custGeom>
          <a:noFill/>
          <a:ln w="12700" cap="rnd">
            <a:solidFill>
              <a:srgbClr val="C8CFD8"/>
            </a:solidFill>
            <a:round/>
          </a:ln>
        </p:spPr>
        <p:txBody>
          <a:bodyPr rtlCol="0" anchor="ctr"/>
          <a:lstStyle/>
          <a:p>
            <a:pPr algn="ctr"/>
            <a:endParaRPr lang="ko-KR" dirty="0"/>
          </a:p>
        </p:txBody>
      </p:sp>
      <p:sp>
        <p:nvSpPr>
          <p:cNvPr id="42" name="span"/>
          <p:cNvSpPr/>
          <p:nvPr/>
        </p:nvSpPr>
        <p:spPr>
          <a:xfrm>
            <a:off x="3905845" y="6058297"/>
            <a:ext cx="1548110" cy="152400"/>
          </a:xfrm>
          <a:prstGeom prst="rect">
            <a:avLst/>
          </a:prstGeom>
          <a:solidFill>
            <a:srgbClr val="FFFFFF"/>
          </a:solidFill>
          <a:ln>
            <a:noFill/>
          </a:ln>
        </p:spPr>
        <p:txBody>
          <a:bodyPr rtlCol="0" anchor="ctr"/>
          <a:lstStyle/>
          <a:p>
            <a:pPr algn="ctr"/>
            <a:endParaRPr lang="ko-KR" dirty="0"/>
          </a:p>
        </p:txBody>
      </p:sp>
      <p:sp>
        <p:nvSpPr>
          <p:cNvPr id="43" name="svg path"/>
          <p:cNvSpPr/>
          <p:nvPr/>
        </p:nvSpPr>
        <p:spPr>
          <a:xfrm>
            <a:off x="6280150" y="6064647"/>
            <a:ext cx="5295900" cy="69850"/>
          </a:xfrm>
          <a:custGeom>
            <a:avLst/>
            <a:gdLst/>
            <a:ahLst/>
            <a:cxnLst/>
            <a:rect l="0" t="0" r="r" b="b"/>
            <a:pathLst>
              <a:path w="5295900" h="69850" fill="none">
                <a:moveTo>
                  <a:pt x="0" y="0"/>
                </a:moveTo>
                <a:lnTo>
                  <a:pt x="0" y="69850"/>
                </a:lnTo>
                <a:lnTo>
                  <a:pt x="5295900" y="69850"/>
                </a:lnTo>
                <a:lnTo>
                  <a:pt x="5295900" y="0"/>
                </a:lnTo>
              </a:path>
            </a:pathLst>
          </a:custGeom>
          <a:noFill/>
          <a:ln w="12700" cap="rnd">
            <a:solidFill>
              <a:srgbClr val="C8CFD8"/>
            </a:solidFill>
            <a:round/>
          </a:ln>
        </p:spPr>
        <p:txBody>
          <a:bodyPr rtlCol="0" anchor="ctr"/>
          <a:lstStyle/>
          <a:p>
            <a:pPr algn="ctr"/>
            <a:endParaRPr lang="ko-KR" dirty="0"/>
          </a:p>
        </p:txBody>
      </p:sp>
      <p:sp>
        <p:nvSpPr>
          <p:cNvPr id="44" name="span"/>
          <p:cNvSpPr/>
          <p:nvPr/>
        </p:nvSpPr>
        <p:spPr>
          <a:xfrm>
            <a:off x="8148439" y="6058297"/>
            <a:ext cx="1559223" cy="152400"/>
          </a:xfrm>
          <a:prstGeom prst="rect">
            <a:avLst/>
          </a:prstGeom>
          <a:solidFill>
            <a:srgbClr val="FFFFFF"/>
          </a:solidFill>
          <a:ln>
            <a:noFill/>
          </a:ln>
        </p:spPr>
        <p:txBody>
          <a:bodyPr rtlCol="0" anchor="ctr"/>
          <a:lstStyle/>
          <a:p>
            <a:pPr algn="ctr"/>
            <a:endParaRPr lang="ko-KR" dirty="0"/>
          </a:p>
        </p:txBody>
      </p:sp>
      <p:sp>
        <p:nvSpPr>
          <p:cNvPr id="45"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46"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47" name="전체 프레임워크"/>
          <p:cNvSpPr txBox="1"/>
          <p:nvPr/>
        </p:nvSpPr>
        <p:spPr>
          <a:xfrm>
            <a:off x="1485106" y="401439"/>
            <a:ext cx="797223"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전체 프레임워크</a:t>
            </a:r>
            <a:endParaRPr lang="en-US" sz="950" dirty="0"/>
          </a:p>
        </p:txBody>
      </p:sp>
      <p:sp>
        <p:nvSpPr>
          <p:cNvPr id="48" name="도면 이미지만으로 객체 인식부터 BIM 생성까지"/>
          <p:cNvSpPr txBox="1"/>
          <p:nvPr/>
        </p:nvSpPr>
        <p:spPr>
          <a:xfrm>
            <a:off x="609600" y="666750"/>
            <a:ext cx="5400681"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도면 이미지만으로 객체 인식부터 BIM 생성까지</a:t>
            </a:r>
            <a:endParaRPr lang="en-US" sz="2300" dirty="0"/>
          </a:p>
        </p:txBody>
      </p:sp>
      <p:sp>
        <p:nvSpPr>
          <p:cNvPr id="49" name="전 과정을 자동화했습니다."/>
          <p:cNvSpPr txBox="1"/>
          <p:nvPr/>
        </p:nvSpPr>
        <p:spPr>
          <a:xfrm>
            <a:off x="609600" y="1028898"/>
            <a:ext cx="2999186" cy="349250"/>
          </a:xfrm>
          <a:prstGeom prst="rect">
            <a:avLst/>
          </a:prstGeom>
          <a:noFill/>
          <a:ln/>
        </p:spPr>
        <p:txBody>
          <a:bodyPr wrap="none" lIns="0" tIns="0" rIns="0" bIns="0" rtlCol="0" anchor="ctr"/>
          <a:lstStyle/>
          <a:p>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전 과정을 자동화</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했습니다.</a:t>
            </a:r>
            <a:endParaRPr lang="en-US" sz="2300" dirty="0"/>
          </a:p>
        </p:txBody>
      </p:sp>
      <p:sp>
        <p:nvSpPr>
          <p:cNvPr id="50"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51"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52"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53"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54"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55" name="도면 해석"/>
          <p:cNvSpPr txBox="1"/>
          <p:nvPr/>
        </p:nvSpPr>
        <p:spPr>
          <a:xfrm>
            <a:off x="609600" y="1632347"/>
            <a:ext cx="59650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도면 해석</a:t>
            </a:r>
            <a:endParaRPr lang="en-US" sz="1200" dirty="0"/>
          </a:p>
        </p:txBody>
      </p:sp>
      <p:sp>
        <p:nvSpPr>
          <p:cNvPr id="56" name="3D 재구성"/>
          <p:cNvSpPr txBox="1"/>
          <p:nvPr/>
        </p:nvSpPr>
        <p:spPr>
          <a:xfrm>
            <a:off x="6273800" y="1632347"/>
            <a:ext cx="667941"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3D 재구성</a:t>
            </a:r>
            <a:endParaRPr lang="en-US" sz="1200" dirty="0"/>
          </a:p>
        </p:txBody>
      </p:sp>
      <p:sp>
        <p:nvSpPr>
          <p:cNvPr id="57" name="STEP 1"/>
          <p:cNvSpPr txBox="1"/>
          <p:nvPr/>
        </p:nvSpPr>
        <p:spPr>
          <a:xfrm>
            <a:off x="787400" y="4191397"/>
            <a:ext cx="426045"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1</a:t>
            </a:r>
            <a:endParaRPr lang="en-US" sz="750" dirty="0"/>
          </a:p>
        </p:txBody>
      </p:sp>
      <p:sp>
        <p:nvSpPr>
          <p:cNvPr id="58" name="도면 이미지 입력"/>
          <p:cNvSpPr txBox="1"/>
          <p:nvPr/>
        </p:nvSpPr>
        <p:spPr>
          <a:xfrm>
            <a:off x="787400" y="4350147"/>
            <a:ext cx="1165199"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도면 이미지 입력</a:t>
            </a:r>
            <a:endParaRPr lang="en-US" sz="1400" dirty="0"/>
          </a:p>
        </p:txBody>
      </p:sp>
      <p:sp>
        <p:nvSpPr>
          <p:cNvPr id="59" name="평면도·입면도 이미지만 입력"/>
          <p:cNvSpPr txBox="1"/>
          <p:nvPr/>
        </p:nvSpPr>
        <p:spPr>
          <a:xfrm>
            <a:off x="787400" y="4635897"/>
            <a:ext cx="1446955"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평면도·입면도 이미지만 입력</a:t>
            </a:r>
            <a:endParaRPr lang="en-US" sz="1000" dirty="0"/>
          </a:p>
        </p:txBody>
      </p:sp>
      <p:sp>
        <p:nvSpPr>
          <p:cNvPr id="60" name="입력 형식"/>
          <p:cNvSpPr txBox="1"/>
          <p:nvPr/>
        </p:nvSpPr>
        <p:spPr>
          <a:xfrm>
            <a:off x="7874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입력 형식</a:t>
            </a:r>
            <a:endParaRPr lang="en-US" sz="800" dirty="0"/>
          </a:p>
        </p:txBody>
      </p:sp>
      <p:sp>
        <p:nvSpPr>
          <p:cNvPr id="61" name="래스터 이미지"/>
          <p:cNvSpPr txBox="1"/>
          <p:nvPr/>
        </p:nvSpPr>
        <p:spPr>
          <a:xfrm>
            <a:off x="895350" y="5272286"/>
            <a:ext cx="687388"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래스터 이미지</a:t>
            </a:r>
            <a:endParaRPr lang="en-US" sz="950" dirty="0"/>
          </a:p>
        </p:txBody>
      </p:sp>
      <p:sp>
        <p:nvSpPr>
          <p:cNvPr id="62" name="(픽셀 기반)"/>
          <p:cNvSpPr txBox="1"/>
          <p:nvPr/>
        </p:nvSpPr>
        <p:spPr>
          <a:xfrm>
            <a:off x="1557338" y="5272286"/>
            <a:ext cx="566738"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(픽셀 기반)</a:t>
            </a:r>
            <a:endParaRPr lang="en-US" sz="950" dirty="0"/>
          </a:p>
        </p:txBody>
      </p:sp>
      <p:sp>
        <p:nvSpPr>
          <p:cNvPr id="63" name="STEP 2"/>
          <p:cNvSpPr txBox="1"/>
          <p:nvPr/>
        </p:nvSpPr>
        <p:spPr>
          <a:xfrm>
            <a:off x="3619500" y="4191397"/>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64" name="객체 인식"/>
          <p:cNvSpPr txBox="1"/>
          <p:nvPr/>
        </p:nvSpPr>
        <p:spPr>
          <a:xfrm>
            <a:off x="3619500" y="4350147"/>
            <a:ext cx="674191"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객체 인식</a:t>
            </a:r>
            <a:endParaRPr lang="en-US" sz="1400" dirty="0"/>
          </a:p>
        </p:txBody>
      </p:sp>
      <p:sp>
        <p:nvSpPr>
          <p:cNvPr id="65" name="도면 속 벽·창문·문 인식"/>
          <p:cNvSpPr txBox="1"/>
          <p:nvPr/>
        </p:nvSpPr>
        <p:spPr>
          <a:xfrm>
            <a:off x="3619500" y="4635897"/>
            <a:ext cx="1169616"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도면 속 벽·창문·문 인식</a:t>
            </a:r>
            <a:endParaRPr lang="en-US" sz="1000" dirty="0"/>
          </a:p>
        </p:txBody>
      </p:sp>
      <p:sp>
        <p:nvSpPr>
          <p:cNvPr id="66" name="핵심 기법"/>
          <p:cNvSpPr txBox="1"/>
          <p:nvPr/>
        </p:nvSpPr>
        <p:spPr>
          <a:xfrm>
            <a:off x="36195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67" name="YOLO + SAHI"/>
          <p:cNvSpPr txBox="1"/>
          <p:nvPr/>
        </p:nvSpPr>
        <p:spPr>
          <a:xfrm>
            <a:off x="3727450" y="5272286"/>
            <a:ext cx="76120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YOLO + SAHI</a:t>
            </a:r>
            <a:endParaRPr lang="en-US" sz="950" dirty="0"/>
          </a:p>
        </p:txBody>
      </p:sp>
      <p:sp>
        <p:nvSpPr>
          <p:cNvPr id="68" name="(작은 객체 분할 추론)"/>
          <p:cNvSpPr txBox="1"/>
          <p:nvPr/>
        </p:nvSpPr>
        <p:spPr>
          <a:xfrm>
            <a:off x="4463256" y="5272286"/>
            <a:ext cx="1036153"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(작은 객체 분할 추론)</a:t>
            </a:r>
            <a:endParaRPr lang="en-US" sz="950" dirty="0"/>
          </a:p>
        </p:txBody>
      </p:sp>
      <p:sp>
        <p:nvSpPr>
          <p:cNvPr id="69" name="DBSCAN 층별 클러스터링"/>
          <p:cNvSpPr txBox="1"/>
          <p:nvPr/>
        </p:nvSpPr>
        <p:spPr>
          <a:xfrm>
            <a:off x="3727450" y="5577086"/>
            <a:ext cx="131938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DBSCAN 층별 클러스터링</a:t>
            </a:r>
            <a:endParaRPr lang="en-US" sz="950" dirty="0"/>
          </a:p>
        </p:txBody>
      </p:sp>
      <p:sp>
        <p:nvSpPr>
          <p:cNvPr id="70" name="STEP 3"/>
          <p:cNvSpPr txBox="1"/>
          <p:nvPr/>
        </p:nvSpPr>
        <p:spPr>
          <a:xfrm>
            <a:off x="6451600" y="4191397"/>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71" name="대응 객체 매칭"/>
          <p:cNvSpPr txBox="1"/>
          <p:nvPr/>
        </p:nvSpPr>
        <p:spPr>
          <a:xfrm>
            <a:off x="6451600" y="4350147"/>
            <a:ext cx="1008914"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400" dirty="0"/>
          </a:p>
        </p:txBody>
      </p:sp>
      <p:sp>
        <p:nvSpPr>
          <p:cNvPr id="72" name="평면도와 입면도에서 같은 객체끼리 짝짓기"/>
          <p:cNvSpPr txBox="1"/>
          <p:nvPr/>
        </p:nvSpPr>
        <p:spPr>
          <a:xfrm>
            <a:off x="6451600" y="4635897"/>
            <a:ext cx="2151711"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평면도와 입면도에서 같은 객체끼리 짝짓기</a:t>
            </a:r>
            <a:endParaRPr lang="en-US" sz="1000" dirty="0"/>
          </a:p>
        </p:txBody>
      </p:sp>
      <p:sp>
        <p:nvSpPr>
          <p:cNvPr id="73" name="핵심 기법"/>
          <p:cNvSpPr txBox="1"/>
          <p:nvPr/>
        </p:nvSpPr>
        <p:spPr>
          <a:xfrm>
            <a:off x="64516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74" name="LMM 기반 축척 보정"/>
          <p:cNvSpPr txBox="1"/>
          <p:nvPr/>
        </p:nvSpPr>
        <p:spPr>
          <a:xfrm>
            <a:off x="6559550" y="5272286"/>
            <a:ext cx="101659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LMM 기반 축척 보정</a:t>
            </a:r>
            <a:endParaRPr lang="en-US" sz="950" dirty="0"/>
          </a:p>
        </p:txBody>
      </p:sp>
      <p:sp>
        <p:nvSpPr>
          <p:cNvPr id="75" name="→ p.07"/>
          <p:cNvSpPr txBox="1"/>
          <p:nvPr/>
        </p:nvSpPr>
        <p:spPr>
          <a:xfrm>
            <a:off x="7620198" y="5286177"/>
            <a:ext cx="395585" cy="120650"/>
          </a:xfrm>
          <a:prstGeom prst="rect">
            <a:avLst/>
          </a:prstGeom>
          <a:noFill/>
          <a:ln/>
        </p:spPr>
        <p:txBody>
          <a:bodyPr wrap="none" lIns="0" tIns="0" rIns="0" bIns="0" rtlCol="0" anchor="ctr"/>
          <a:lstStyle/>
          <a:p>
            <a:pPr algn="l" indent="0" marL="0">
              <a:buNone/>
            </a:pPr>
            <a:r>
              <a:rPr lang="ko-KR" altLang="en-US" sz="800" spc="16" kern="0" dirty="0">
                <a:solidFill>
                  <a:srgbClr val="2B4A78"/>
                </a:solidFill>
                <a:latin typeface="Pretendard ExtraBold" pitchFamily="34" charset="0"/>
                <a:ea typeface="Pretendard ExtraBold" pitchFamily="34" charset="-127"/>
                <a:cs typeface="Pretendard ExtraBold" pitchFamily="34" charset="-120"/>
              </a:rPr>
              <a:t>→ p.07</a:t>
            </a:r>
            <a:endParaRPr lang="en-US" sz="800" dirty="0"/>
          </a:p>
        </p:txBody>
      </p:sp>
      <p:sp>
        <p:nvSpPr>
          <p:cNvPr id="76" name="헝가리안 알고리즘"/>
          <p:cNvSpPr txBox="1"/>
          <p:nvPr/>
        </p:nvSpPr>
        <p:spPr>
          <a:xfrm>
            <a:off x="6559550" y="5577086"/>
            <a:ext cx="8910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헝가리안 알고리즘</a:t>
            </a:r>
            <a:endParaRPr lang="en-US" sz="950" dirty="0"/>
          </a:p>
        </p:txBody>
      </p:sp>
      <p:sp>
        <p:nvSpPr>
          <p:cNvPr id="77" name="(최적 1:1 매칭)"/>
          <p:cNvSpPr txBox="1"/>
          <p:nvPr/>
        </p:nvSpPr>
        <p:spPr>
          <a:xfrm>
            <a:off x="7425234" y="5577086"/>
            <a:ext cx="726480"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(최적 1:1 매칭)</a:t>
            </a:r>
            <a:endParaRPr lang="en-US" sz="950" dirty="0"/>
          </a:p>
        </p:txBody>
      </p:sp>
      <p:sp>
        <p:nvSpPr>
          <p:cNvPr id="78" name="STEP 4"/>
          <p:cNvSpPr txBox="1"/>
          <p:nvPr/>
        </p:nvSpPr>
        <p:spPr>
          <a:xfrm>
            <a:off x="9283700" y="4191397"/>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79" name="BIM 자동 생성"/>
          <p:cNvSpPr txBox="1"/>
          <p:nvPr/>
        </p:nvSpPr>
        <p:spPr>
          <a:xfrm>
            <a:off x="9283700" y="4350147"/>
            <a:ext cx="1017222"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400" dirty="0"/>
          </a:p>
        </p:txBody>
      </p:sp>
      <p:sp>
        <p:nvSpPr>
          <p:cNvPr id="80" name="높이까지 갖춘 3D BIM 모델"/>
          <p:cNvSpPr txBox="1"/>
          <p:nvPr/>
        </p:nvSpPr>
        <p:spPr>
          <a:xfrm>
            <a:off x="9283700" y="4635897"/>
            <a:ext cx="1416034"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높이까지 갖춘 3D BIM 모델</a:t>
            </a:r>
            <a:endParaRPr lang="en-US" sz="1000" dirty="0"/>
          </a:p>
        </p:txBody>
      </p:sp>
      <p:sp>
        <p:nvSpPr>
          <p:cNvPr id="81" name="핵심 기법"/>
          <p:cNvSpPr txBox="1"/>
          <p:nvPr/>
        </p:nvSpPr>
        <p:spPr>
          <a:xfrm>
            <a:off x="92837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82" name="스켈레톤 기반 벽체 추출"/>
          <p:cNvSpPr txBox="1"/>
          <p:nvPr/>
        </p:nvSpPr>
        <p:spPr>
          <a:xfrm>
            <a:off x="9391650" y="5272286"/>
            <a:ext cx="116046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스켈레톤 기반 벽체 추출</a:t>
            </a:r>
            <a:endParaRPr lang="en-US" sz="950" dirty="0"/>
          </a:p>
        </p:txBody>
      </p:sp>
      <p:sp>
        <p:nvSpPr>
          <p:cNvPr id="83" name="Revit API"/>
          <p:cNvSpPr txBox="1"/>
          <p:nvPr/>
        </p:nvSpPr>
        <p:spPr>
          <a:xfrm>
            <a:off x="9391650" y="5577086"/>
            <a:ext cx="536972"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Revit API</a:t>
            </a:r>
            <a:endParaRPr lang="en-US" sz="950" dirty="0"/>
          </a:p>
        </p:txBody>
      </p:sp>
      <p:sp>
        <p:nvSpPr>
          <p:cNvPr id="84" name="p.07"/>
          <p:cNvSpPr txBox="1"/>
          <p:nvPr/>
        </p:nvSpPr>
        <p:spPr>
          <a:xfrm>
            <a:off x="4007445" y="6070997"/>
            <a:ext cx="288925" cy="127000"/>
          </a:xfrm>
          <a:prstGeom prst="rect">
            <a:avLst/>
          </a:prstGeom>
          <a:noFill/>
          <a:ln/>
        </p:spPr>
        <p:txBody>
          <a:bodyPr wrap="none" lIns="0" tIns="0" rIns="0" bIns="0" rtlCol="0" anchor="ctr"/>
          <a:lstStyle/>
          <a:p>
            <a:pPr algn="l" indent="0" marL="0">
              <a:buNone/>
            </a:pPr>
            <a:r>
              <a:rPr lang="ko-KR" altLang="en-US" sz="850" spc="17" kern="0" dirty="0">
                <a:solidFill>
                  <a:srgbClr val="102A4C"/>
                </a:solidFill>
                <a:latin typeface="Pretendard ExtraBold" pitchFamily="34" charset="0"/>
                <a:ea typeface="Pretendard ExtraBold" pitchFamily="34" charset="-127"/>
                <a:cs typeface="Pretendard ExtraBold" pitchFamily="34" charset="-120"/>
              </a:rPr>
              <a:t>p.07</a:t>
            </a:r>
            <a:endParaRPr lang="en-US" sz="850" dirty="0"/>
          </a:p>
        </p:txBody>
      </p:sp>
      <p:sp>
        <p:nvSpPr>
          <p:cNvPr id="85" name="도면 객체 인식 · 축척 보정"/>
          <p:cNvSpPr txBox="1"/>
          <p:nvPr/>
        </p:nvSpPr>
        <p:spPr>
          <a:xfrm>
            <a:off x="4296370" y="6070997"/>
            <a:ext cx="1119344" cy="127000"/>
          </a:xfrm>
          <a:prstGeom prst="rect">
            <a:avLst/>
          </a:prstGeom>
          <a:noFill/>
          <a:ln/>
        </p:spPr>
        <p:txBody>
          <a:bodyPr wrap="none" lIns="0" tIns="0" rIns="0" bIns="0" rtlCol="0" anchor="ctr"/>
          <a:lstStyle/>
          <a:p>
            <a:pPr algn="l" indent="0" marL="0">
              <a:buNone/>
            </a:pPr>
            <a:r>
              <a:rPr lang="ko-KR" altLang="en-US" sz="850" spc="-17" kern="0" dirty="0">
                <a:solidFill>
                  <a:srgbClr val="737C8B"/>
                </a:solidFill>
                <a:latin typeface="Pretendard SemiBold" pitchFamily="34" charset="0"/>
                <a:ea typeface="Pretendard SemiBold" pitchFamily="34" charset="-127"/>
                <a:cs typeface="Pretendard SemiBold" pitchFamily="34" charset="-120"/>
              </a:rPr>
              <a:t>도면 객체 인식 · 축척 보정</a:t>
            </a:r>
            <a:endParaRPr lang="en-US" sz="850" dirty="0"/>
          </a:p>
        </p:txBody>
      </p:sp>
      <p:sp>
        <p:nvSpPr>
          <p:cNvPr id="86" name="p.08"/>
          <p:cNvSpPr txBox="1"/>
          <p:nvPr/>
        </p:nvSpPr>
        <p:spPr>
          <a:xfrm>
            <a:off x="8250039" y="6070997"/>
            <a:ext cx="298648" cy="127000"/>
          </a:xfrm>
          <a:prstGeom prst="rect">
            <a:avLst/>
          </a:prstGeom>
          <a:noFill/>
          <a:ln/>
        </p:spPr>
        <p:txBody>
          <a:bodyPr wrap="none" lIns="0" tIns="0" rIns="0" bIns="0" rtlCol="0" anchor="ctr"/>
          <a:lstStyle/>
          <a:p>
            <a:pPr algn="l" indent="0" marL="0">
              <a:buNone/>
            </a:pPr>
            <a:r>
              <a:rPr lang="ko-KR" altLang="en-US" sz="850" spc="17" kern="0" dirty="0">
                <a:solidFill>
                  <a:srgbClr val="102A4C"/>
                </a:solidFill>
                <a:latin typeface="Pretendard ExtraBold" pitchFamily="34" charset="0"/>
                <a:ea typeface="Pretendard ExtraBold" pitchFamily="34" charset="-127"/>
                <a:cs typeface="Pretendard ExtraBold" pitchFamily="34" charset="-120"/>
              </a:rPr>
              <a:t>p.08</a:t>
            </a:r>
            <a:endParaRPr lang="en-US" sz="850" dirty="0"/>
          </a:p>
        </p:txBody>
      </p:sp>
      <p:sp>
        <p:nvSpPr>
          <p:cNvPr id="87" name="대응 객체 매칭 · BIM 생성"/>
          <p:cNvSpPr txBox="1"/>
          <p:nvPr/>
        </p:nvSpPr>
        <p:spPr>
          <a:xfrm>
            <a:off x="8548687" y="6070997"/>
            <a:ext cx="1120817" cy="127000"/>
          </a:xfrm>
          <a:prstGeom prst="rect">
            <a:avLst/>
          </a:prstGeom>
          <a:noFill/>
          <a:ln/>
        </p:spPr>
        <p:txBody>
          <a:bodyPr wrap="none" lIns="0" tIns="0" rIns="0" bIns="0" rtlCol="0" anchor="ctr"/>
          <a:lstStyle/>
          <a:p>
            <a:pPr algn="l" indent="0" marL="0">
              <a:buNone/>
            </a:pPr>
            <a:r>
              <a:rPr lang="ko-KR" altLang="en-US" sz="850" spc="-17" kern="0" dirty="0">
                <a:solidFill>
                  <a:srgbClr val="737C8B"/>
                </a:solidFill>
                <a:latin typeface="Pretendard SemiBold" pitchFamily="34" charset="0"/>
                <a:ea typeface="Pretendard SemiBold" pitchFamily="34" charset="-127"/>
                <a:cs typeface="Pretendard SemiBold" pitchFamily="34" charset="-120"/>
              </a:rPr>
              <a:t>대응 객체 매칭 · BIM 생성</a:t>
            </a:r>
            <a:endParaRPr lang="en-US" sz="850" dirty="0"/>
          </a:p>
        </p:txBody>
      </p:sp>
      <p:sp>
        <p:nvSpPr>
          <p:cNvPr id="88"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89" name="06 / 12"/>
          <p:cNvSpPr txBox="1"/>
          <p:nvPr/>
        </p:nvSpPr>
        <p:spPr>
          <a:xfrm>
            <a:off x="11234737" y="6472238"/>
            <a:ext cx="398462"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06</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2113756" y="1260673"/>
            <a:ext cx="1670248"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chip tint"/>
          <p:cNvSpPr/>
          <p:nvPr/>
        </p:nvSpPr>
        <p:spPr>
          <a:xfrm>
            <a:off x="3891955" y="1260673"/>
            <a:ext cx="614561"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1" name="s7-ch::after"/>
          <p:cNvSpPr/>
          <p:nvPr/>
        </p:nvSpPr>
        <p:spPr>
          <a:xfrm>
            <a:off x="4662091" y="1359098"/>
            <a:ext cx="2957909" cy="12700"/>
          </a:xfrm>
          <a:prstGeom prst="roundRect">
            <a:avLst>
              <a:gd name="adj" fmla="val 50000"/>
            </a:avLst>
          </a:prstGeom>
          <a:solidFill>
            <a:srgbClr val="102A4C"/>
          </a:solidFill>
          <a:ln>
            <a:noFill/>
          </a:ln>
        </p:spPr>
        <p:txBody>
          <a:bodyPr rtlCol="0" anchor="ctr"/>
          <a:lstStyle/>
          <a:p>
            <a:pPr algn="ctr"/>
            <a:endParaRPr lang="ko-KR" dirty="0"/>
          </a:p>
        </p:txBody>
      </p:sp>
      <p:sp>
        <p:nvSpPr>
          <p:cNvPr id="12" name="svg path"/>
          <p:cNvSpPr/>
          <p:nvPr/>
        </p:nvSpPr>
        <p:spPr>
          <a:xfrm>
            <a:off x="635000" y="1676598"/>
            <a:ext cx="127000" cy="127000"/>
          </a:xfrm>
          <a:custGeom>
            <a:avLst/>
            <a:gdLst/>
            <a:ahLst/>
            <a:cxnLst/>
            <a:rect l="0" t="0" r="r" b="b"/>
            <a:pathLst>
              <a:path w="127000" h="127000" fill="none">
                <a:moveTo>
                  <a:pt x="0" y="0"/>
                </a:moveTo>
                <a:lnTo>
                  <a:pt x="127000" y="0"/>
                </a:lnTo>
                <a:lnTo>
                  <a:pt x="127000" y="127000"/>
                </a:lnTo>
                <a:lnTo>
                  <a:pt x="0" y="127000"/>
                </a:lnTo>
                <a:close/>
              </a:path>
            </a:pathLst>
          </a:custGeom>
          <a:noFill/>
          <a:ln w="12700" cap="rnd">
            <a:solidFill>
              <a:srgbClr val="102A4C"/>
            </a:solidFill>
            <a:round/>
          </a:ln>
        </p:spPr>
        <p:txBody>
          <a:bodyPr rtlCol="0" anchor="ctr"/>
          <a:lstStyle/>
          <a:p>
            <a:pPr algn="ctr"/>
            <a:endParaRPr lang="ko-KR" dirty="0"/>
          </a:p>
        </p:txBody>
      </p:sp>
      <p:sp>
        <p:nvSpPr>
          <p:cNvPr id="13" name="svg path"/>
          <p:cNvSpPr/>
          <p:nvPr/>
        </p:nvSpPr>
        <p:spPr>
          <a:xfrm>
            <a:off x="635000" y="1676598"/>
            <a:ext cx="127000" cy="127000"/>
          </a:xfrm>
          <a:custGeom>
            <a:avLst/>
            <a:gdLst/>
            <a:ahLst/>
            <a:cxnLst/>
            <a:rect l="0" t="0" r="r" b="b"/>
            <a:pathLst>
              <a:path w="127000" h="127000" fill="none">
                <a:moveTo>
                  <a:pt x="0" y="57150"/>
                </a:moveTo>
                <a:lnTo>
                  <a:pt x="50800" y="57150"/>
                </a:lnTo>
                <a:moveTo>
                  <a:pt x="50800" y="0"/>
                </a:moveTo>
                <a:lnTo>
                  <a:pt x="50800" y="38100"/>
                </a:lnTo>
                <a:moveTo>
                  <a:pt x="76200" y="57150"/>
                </a:moveTo>
                <a:lnTo>
                  <a:pt x="127000" y="57150"/>
                </a:lnTo>
                <a:moveTo>
                  <a:pt x="76200" y="57150"/>
                </a:moveTo>
                <a:lnTo>
                  <a:pt x="76200" y="127000"/>
                </a:lnTo>
              </a:path>
            </a:pathLst>
          </a:custGeom>
          <a:noFill/>
          <a:ln w="12700" cap="rnd">
            <a:solidFill>
              <a:srgbClr val="102A4C"/>
            </a:solidFill>
            <a:round/>
          </a:ln>
        </p:spPr>
        <p:txBody>
          <a:bodyPr rtlCol="0" anchor="ctr"/>
          <a:lstStyle/>
          <a:p>
            <a:pPr algn="ctr"/>
            <a:endParaRPr lang="ko-KR" dirty="0"/>
          </a:p>
        </p:txBody>
      </p:sp>
      <p:sp>
        <p:nvSpPr>
          <p:cNvPr id="14" name="sep"/>
          <p:cNvSpPr/>
          <p:nvPr/>
        </p:nvSpPr>
        <p:spPr>
          <a:xfrm>
            <a:off x="1625898" y="1676598"/>
            <a:ext cx="9525" cy="127000"/>
          </a:xfrm>
          <a:prstGeom prst="rect">
            <a:avLst/>
          </a:prstGeom>
          <a:solidFill>
            <a:srgbClr val="C8CFD8"/>
          </a:solidFill>
          <a:ln>
            <a:noFill/>
          </a:ln>
        </p:spPr>
        <p:txBody>
          <a:bodyPr rtlCol="0" anchor="ctr"/>
          <a:lstStyle/>
          <a:p>
            <a:pPr algn="ctr"/>
            <a:endParaRPr lang="ko-KR" dirty="0"/>
          </a:p>
        </p:txBody>
      </p:sp>
      <p:sp>
        <p:nvSpPr>
          <p:cNvPr id="15" name="fig s7-fig fa"/>
          <p:cNvSpPr/>
          <p:nvPr/>
        </p:nvSpPr>
        <p:spPr>
          <a:xfrm>
            <a:off x="612775" y="1952823"/>
            <a:ext cx="7004050" cy="1530350"/>
          </a:xfrm>
          <a:prstGeom prst="roundRect">
            <a:avLst>
              <a:gd name="adj" fmla="val 4772"/>
            </a:avLst>
          </a:prstGeom>
          <a:solidFill>
            <a:srgbClr val="FFFFFF"/>
          </a:solidFill>
          <a:ln w="6350">
            <a:solidFill>
              <a:srgbClr val="E1E5EB"/>
            </a:solidFill>
            <a:miter lim="800000"/>
          </a:ln>
        </p:spPr>
        <p:txBody>
          <a:bodyPr rtlCol="0" anchor="ctr"/>
          <a:lstStyle/>
          <a:p>
            <a:pPr algn="ctr"/>
            <a:endParaRPr lang="ko-KR" dirty="0"/>
          </a:p>
        </p:txBody>
      </p:sp>
      <p:pic>
        <p:nvPicPr>
          <p:cNvPr id="16" name="img" descr="img">    </p:cNvPr>
          <p:cNvPicPr>
            <a:picLocks noChangeAspect="1"/>
          </p:cNvPicPr>
          <p:nvPr/>
        </p:nvPicPr>
        <p:blipFill>
          <a:blip r:embed="rId1"/>
          <a:stretch>
            <a:fillRect/>
          </a:stretch>
        </p:blipFill>
        <p:spPr>
          <a:xfrm>
            <a:off x="781050" y="2061832"/>
            <a:ext cx="6656917" cy="1126067"/>
          </a:xfrm>
          <a:prstGeom prst="rect">
            <a:avLst/>
          </a:prstGeom>
        </p:spPr>
      </p:pic>
      <p:sp>
        <p:nvSpPr>
          <p:cNvPr id="17" name="svg path"/>
          <p:cNvSpPr/>
          <p:nvPr/>
        </p:nvSpPr>
        <p:spPr>
          <a:xfrm>
            <a:off x="647700" y="3733998"/>
            <a:ext cx="101600" cy="133350"/>
          </a:xfrm>
          <a:custGeom>
            <a:avLst/>
            <a:gdLst/>
            <a:ahLst/>
            <a:cxnLst/>
            <a:rect l="0" t="0" r="r" b="b"/>
            <a:pathLst>
              <a:path w="101600" h="133350" fill="none">
                <a:moveTo>
                  <a:pt x="0" y="133350"/>
                </a:moveTo>
                <a:lnTo>
                  <a:pt x="0" y="0"/>
                </a:lnTo>
                <a:lnTo>
                  <a:pt x="101600" y="0"/>
                </a:lnTo>
                <a:lnTo>
                  <a:pt x="101600" y="133350"/>
                </a:lnTo>
              </a:path>
            </a:pathLst>
          </a:custGeom>
          <a:noFill/>
          <a:ln w="12700" cap="rnd">
            <a:solidFill>
              <a:srgbClr val="102A4C"/>
            </a:solidFill>
            <a:round/>
          </a:ln>
        </p:spPr>
        <p:txBody>
          <a:bodyPr rtlCol="0" anchor="ctr"/>
          <a:lstStyle/>
          <a:p>
            <a:pPr algn="ctr"/>
            <a:endParaRPr lang="ko-KR" dirty="0"/>
          </a:p>
        </p:txBody>
      </p:sp>
      <p:sp>
        <p:nvSpPr>
          <p:cNvPr id="18" name="svg path"/>
          <p:cNvSpPr/>
          <p:nvPr/>
        </p:nvSpPr>
        <p:spPr>
          <a:xfrm>
            <a:off x="628650" y="3867348"/>
            <a:ext cx="139700" cy="1"/>
          </a:xfrm>
          <a:custGeom>
            <a:avLst/>
            <a:gdLst/>
            <a:ahLst/>
            <a:cxnLst/>
            <a:rect l="0" t="0" r="r" b="b"/>
            <a:pathLst>
              <a:path w="139700" h="1" fill="none">
                <a:moveTo>
                  <a:pt x="0" y="0"/>
                </a:moveTo>
                <a:lnTo>
                  <a:pt x="139700" y="0"/>
                </a:lnTo>
              </a:path>
            </a:pathLst>
          </a:custGeom>
          <a:noFill/>
          <a:ln w="12700" cap="rnd">
            <a:solidFill>
              <a:srgbClr val="102A4C"/>
            </a:solidFill>
            <a:round/>
          </a:ln>
        </p:spPr>
        <p:txBody>
          <a:bodyPr rtlCol="0" anchor="ctr"/>
          <a:lstStyle/>
          <a:p>
            <a:pPr algn="ctr"/>
            <a:endParaRPr lang="ko-KR" dirty="0"/>
          </a:p>
        </p:txBody>
      </p:sp>
      <p:sp>
        <p:nvSpPr>
          <p:cNvPr id="19" name="svg path"/>
          <p:cNvSpPr/>
          <p:nvPr/>
        </p:nvSpPr>
        <p:spPr>
          <a:xfrm>
            <a:off x="673100" y="3762573"/>
            <a:ext cx="50800" cy="63500"/>
          </a:xfrm>
          <a:custGeom>
            <a:avLst/>
            <a:gdLst/>
            <a:ahLst/>
            <a:cxnLst/>
            <a:rect l="0" t="0" r="r" b="b"/>
            <a:pathLst>
              <a:path w="50800" h="63500" fill="none">
                <a:moveTo>
                  <a:pt x="0" y="0"/>
                </a:moveTo>
                <a:lnTo>
                  <a:pt x="15875" y="0"/>
                </a:lnTo>
                <a:moveTo>
                  <a:pt x="34925" y="0"/>
                </a:moveTo>
                <a:lnTo>
                  <a:pt x="50800" y="0"/>
                </a:lnTo>
                <a:moveTo>
                  <a:pt x="0" y="31750"/>
                </a:moveTo>
                <a:lnTo>
                  <a:pt x="15875" y="31750"/>
                </a:lnTo>
                <a:moveTo>
                  <a:pt x="34925" y="31750"/>
                </a:moveTo>
                <a:lnTo>
                  <a:pt x="50800" y="31750"/>
                </a:lnTo>
                <a:moveTo>
                  <a:pt x="0" y="63500"/>
                </a:moveTo>
                <a:lnTo>
                  <a:pt x="15875" y="63500"/>
                </a:lnTo>
                <a:moveTo>
                  <a:pt x="34925" y="63500"/>
                </a:moveTo>
                <a:lnTo>
                  <a:pt x="50800" y="63500"/>
                </a:lnTo>
              </a:path>
            </a:pathLst>
          </a:custGeom>
          <a:noFill/>
          <a:ln w="12700" cap="rnd">
            <a:solidFill>
              <a:srgbClr val="102A4C"/>
            </a:solidFill>
            <a:round/>
          </a:ln>
        </p:spPr>
        <p:txBody>
          <a:bodyPr rtlCol="0" anchor="ctr"/>
          <a:lstStyle/>
          <a:p>
            <a:pPr algn="ctr"/>
            <a:endParaRPr lang="ko-KR" dirty="0"/>
          </a:p>
        </p:txBody>
      </p:sp>
      <p:sp>
        <p:nvSpPr>
          <p:cNvPr id="20" name="sep"/>
          <p:cNvSpPr/>
          <p:nvPr/>
        </p:nvSpPr>
        <p:spPr>
          <a:xfrm>
            <a:off x="1625898" y="3733998"/>
            <a:ext cx="9525" cy="127000"/>
          </a:xfrm>
          <a:prstGeom prst="rect">
            <a:avLst/>
          </a:prstGeom>
          <a:solidFill>
            <a:srgbClr val="C8CFD8"/>
          </a:solidFill>
          <a:ln>
            <a:noFill/>
          </a:ln>
        </p:spPr>
        <p:txBody>
          <a:bodyPr rtlCol="0" anchor="ctr"/>
          <a:lstStyle/>
          <a:p>
            <a:pPr algn="ctr"/>
            <a:endParaRPr lang="ko-KR" dirty="0"/>
          </a:p>
        </p:txBody>
      </p:sp>
      <p:sp>
        <p:nvSpPr>
          <p:cNvPr id="21" name="fig s7-fig fb"/>
          <p:cNvSpPr/>
          <p:nvPr/>
        </p:nvSpPr>
        <p:spPr>
          <a:xfrm>
            <a:off x="612775" y="4010223"/>
            <a:ext cx="7004050" cy="2305050"/>
          </a:xfrm>
          <a:prstGeom prst="roundRect">
            <a:avLst>
              <a:gd name="adj" fmla="val 3168"/>
            </a:avLst>
          </a:prstGeom>
          <a:solidFill>
            <a:srgbClr val="FFFFFF"/>
          </a:solidFill>
          <a:ln w="6350">
            <a:solidFill>
              <a:srgbClr val="E1E5EB"/>
            </a:solidFill>
            <a:miter lim="800000"/>
          </a:ln>
        </p:spPr>
        <p:txBody>
          <a:bodyPr rtlCol="0" anchor="ctr"/>
          <a:lstStyle/>
          <a:p>
            <a:pPr algn="ctr"/>
            <a:endParaRPr lang="ko-KR" dirty="0"/>
          </a:p>
        </p:txBody>
      </p:sp>
      <p:pic>
        <p:nvPicPr>
          <p:cNvPr id="22" name="img" descr="img">    </p:cNvPr>
          <p:cNvPicPr>
            <a:picLocks noChangeAspect="1"/>
          </p:cNvPicPr>
          <p:nvPr/>
        </p:nvPicPr>
        <p:blipFill>
          <a:blip r:embed="rId2"/>
          <a:stretch>
            <a:fillRect/>
          </a:stretch>
        </p:blipFill>
        <p:spPr>
          <a:xfrm>
            <a:off x="1291167" y="4129815"/>
            <a:ext cx="5649383" cy="1888067"/>
          </a:xfrm>
          <a:prstGeom prst="rect">
            <a:avLst/>
          </a:prstGeom>
        </p:spPr>
      </p:pic>
      <p:sp>
        <p:nvSpPr>
          <p:cNvPr id="23" name="chip tint"/>
          <p:cNvSpPr/>
          <p:nvPr/>
        </p:nvSpPr>
        <p:spPr>
          <a:xfrm>
            <a:off x="9219704" y="1260673"/>
            <a:ext cx="870347"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4" name="s7-ch::after"/>
          <p:cNvSpPr/>
          <p:nvPr/>
        </p:nvSpPr>
        <p:spPr>
          <a:xfrm>
            <a:off x="10245626" y="1359098"/>
            <a:ext cx="1336774" cy="12700"/>
          </a:xfrm>
          <a:prstGeom prst="roundRect">
            <a:avLst>
              <a:gd name="adj" fmla="val 50000"/>
            </a:avLst>
          </a:prstGeom>
          <a:solidFill>
            <a:srgbClr val="102A4C"/>
          </a:solidFill>
          <a:ln>
            <a:noFill/>
          </a:ln>
        </p:spPr>
        <p:txBody>
          <a:bodyPr rtlCol="0" anchor="ctr"/>
          <a:lstStyle/>
          <a:p>
            <a:pPr algn="ctr"/>
            <a:endParaRPr lang="ko-KR" dirty="0"/>
          </a:p>
        </p:txBody>
      </p:sp>
      <p:sp>
        <p:nvSpPr>
          <p:cNvPr id="25" name="card s7-card"/>
          <p:cNvSpPr/>
          <p:nvPr/>
        </p:nvSpPr>
        <p:spPr>
          <a:xfrm>
            <a:off x="7823200" y="1632148"/>
            <a:ext cx="3759200" cy="4686300"/>
          </a:xfrm>
          <a:prstGeom prst="roundRect">
            <a:avLst>
              <a:gd name="adj" fmla="val 3378"/>
            </a:avLst>
          </a:prstGeom>
          <a:solidFill>
            <a:srgbClr val="F3F5F8"/>
          </a:solidFill>
          <a:ln>
            <a:noFill/>
          </a:ln>
        </p:spPr>
        <p:txBody>
          <a:bodyPr rtlCol="0" anchor="ctr"/>
          <a:lstStyle/>
          <a:p>
            <a:pPr algn="ctr"/>
            <a:endParaRPr lang="ko-KR" dirty="0"/>
          </a:p>
        </p:txBody>
      </p:sp>
      <p:sp>
        <p:nvSpPr>
          <p:cNvPr id="26" name="tag"/>
          <p:cNvSpPr/>
          <p:nvPr/>
        </p:nvSpPr>
        <p:spPr>
          <a:xfrm>
            <a:off x="8029575" y="2448123"/>
            <a:ext cx="331093" cy="171450"/>
          </a:xfrm>
          <a:prstGeom prst="roundRect">
            <a:avLst>
              <a:gd name="adj" fmla="val 27778"/>
            </a:avLst>
          </a:prstGeom>
          <a:solidFill>
            <a:srgbClr val="FFFFFF"/>
          </a:solidFill>
          <a:ln w="6350">
            <a:solidFill>
              <a:srgbClr val="C8CFD8"/>
            </a:solidFill>
            <a:miter lim="800000"/>
          </a:ln>
        </p:spPr>
        <p:txBody>
          <a:bodyPr rtlCol="0" anchor="ctr"/>
          <a:lstStyle/>
          <a:p>
            <a:pPr algn="ctr"/>
            <a:endParaRPr lang="ko-KR" dirty="0"/>
          </a:p>
        </p:txBody>
      </p:sp>
      <p:sp>
        <p:nvSpPr>
          <p:cNvPr id="27" name="s7-ex::after"/>
          <p:cNvSpPr/>
          <p:nvPr/>
        </p:nvSpPr>
        <p:spPr>
          <a:xfrm>
            <a:off x="8969573" y="2529086"/>
            <a:ext cx="2409627" cy="9525"/>
          </a:xfrm>
          <a:prstGeom prst="rect">
            <a:avLst/>
          </a:prstGeom>
          <a:solidFill>
            <a:srgbClr val="C8CFD8"/>
          </a:solidFill>
          <a:ln>
            <a:noFill/>
          </a:ln>
        </p:spPr>
        <p:txBody>
          <a:bodyPr rtlCol="0" anchor="ctr"/>
          <a:lstStyle/>
          <a:p>
            <a:pPr algn="ctr"/>
            <a:endParaRPr lang="ko-KR" dirty="0"/>
          </a:p>
        </p:txBody>
      </p:sp>
      <p:sp>
        <p:nvSpPr>
          <p:cNvPr id="28" name="svg rect"/>
          <p:cNvSpPr/>
          <p:nvPr/>
        </p:nvSpPr>
        <p:spPr>
          <a:xfrm>
            <a:off x="8750300" y="2775148"/>
            <a:ext cx="1905000" cy="1346200"/>
          </a:xfrm>
          <a:prstGeom prst="roundRect">
            <a:avLst>
              <a:gd name="adj" fmla="val 1887"/>
            </a:avLst>
          </a:prstGeom>
          <a:solidFill>
            <a:srgbClr val="FFFFFF"/>
          </a:solidFill>
          <a:ln w="9525">
            <a:solidFill>
              <a:srgbClr val="C8CFD8"/>
            </a:solidFill>
            <a:miter lim="800000"/>
          </a:ln>
        </p:spPr>
        <p:txBody>
          <a:bodyPr rtlCol="0" anchor="ctr"/>
          <a:lstStyle/>
          <a:p>
            <a:pPr algn="ctr"/>
            <a:endParaRPr lang="ko-KR" dirty="0"/>
          </a:p>
        </p:txBody>
      </p:sp>
      <p:sp>
        <p:nvSpPr>
          <p:cNvPr id="29" name="svg rect"/>
          <p:cNvSpPr/>
          <p:nvPr/>
        </p:nvSpPr>
        <p:spPr>
          <a:xfrm>
            <a:off x="8813800" y="2838648"/>
            <a:ext cx="1778000" cy="1219200"/>
          </a:xfrm>
          <a:prstGeom prst="rect">
            <a:avLst/>
          </a:prstGeom>
          <a:noFill/>
          <a:ln w="6350">
            <a:solidFill>
              <a:srgbClr val="8D96A3"/>
            </a:solidFill>
            <a:miter lim="800000"/>
          </a:ln>
        </p:spPr>
        <p:txBody>
          <a:bodyPr rtlCol="0" anchor="ctr"/>
          <a:lstStyle/>
          <a:p>
            <a:pPr algn="ctr"/>
            <a:endParaRPr lang="ko-KR" dirty="0"/>
          </a:p>
        </p:txBody>
      </p:sp>
      <p:sp>
        <p:nvSpPr>
          <p:cNvPr id="30" name="svg rect"/>
          <p:cNvSpPr/>
          <p:nvPr/>
        </p:nvSpPr>
        <p:spPr>
          <a:xfrm>
            <a:off x="10185400" y="3841948"/>
            <a:ext cx="406400" cy="215900"/>
          </a:xfrm>
          <a:prstGeom prst="rect">
            <a:avLst/>
          </a:prstGeom>
          <a:noFill/>
          <a:ln w="6350">
            <a:solidFill>
              <a:srgbClr val="8D96A3"/>
            </a:solidFill>
            <a:miter lim="800000"/>
          </a:ln>
        </p:spPr>
        <p:txBody>
          <a:bodyPr rtlCol="0" anchor="ctr"/>
          <a:lstStyle/>
          <a:p>
            <a:pPr algn="ctr"/>
            <a:endParaRPr lang="ko-KR" dirty="0"/>
          </a:p>
        </p:txBody>
      </p:sp>
      <p:sp>
        <p:nvSpPr>
          <p:cNvPr id="31" name="svg line"/>
          <p:cNvSpPr/>
          <p:nvPr/>
        </p:nvSpPr>
        <p:spPr>
          <a:xfrm>
            <a:off x="10185400" y="3918148"/>
            <a:ext cx="406400" cy="1"/>
          </a:xfrm>
          <a:custGeom>
            <a:avLst/>
            <a:gdLst/>
            <a:ahLst/>
            <a:cxnLst/>
            <a:rect l="0" t="0" r="r" b="b"/>
            <a:pathLst>
              <a:path w="406400" h="1">
                <a:moveTo>
                  <a:pt x="0" y="0"/>
                </a:moveTo>
                <a:lnTo>
                  <a:pt x="4064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2" name="svg line"/>
          <p:cNvSpPr/>
          <p:nvPr/>
        </p:nvSpPr>
        <p:spPr>
          <a:xfrm>
            <a:off x="10185400" y="3987998"/>
            <a:ext cx="406400" cy="1"/>
          </a:xfrm>
          <a:custGeom>
            <a:avLst/>
            <a:gdLst/>
            <a:ahLst/>
            <a:cxnLst/>
            <a:rect l="0" t="0" r="r" b="b"/>
            <a:pathLst>
              <a:path w="406400" h="1">
                <a:moveTo>
                  <a:pt x="0" y="0"/>
                </a:moveTo>
                <a:lnTo>
                  <a:pt x="4064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3" name="svg rect"/>
          <p:cNvSpPr/>
          <p:nvPr/>
        </p:nvSpPr>
        <p:spPr>
          <a:xfrm>
            <a:off x="9194800" y="2991048"/>
            <a:ext cx="825500" cy="774700"/>
          </a:xfrm>
          <a:prstGeom prst="rect">
            <a:avLst/>
          </a:prstGeom>
          <a:solidFill>
            <a:srgbClr val="FFFFFF"/>
          </a:solidFill>
          <a:ln w="9525">
            <a:solidFill>
              <a:srgbClr val="3F4654"/>
            </a:solidFill>
            <a:miter lim="800000"/>
          </a:ln>
        </p:spPr>
        <p:txBody>
          <a:bodyPr rtlCol="0" anchor="ctr"/>
          <a:lstStyle/>
          <a:p>
            <a:pPr algn="ctr"/>
            <a:endParaRPr lang="ko-KR" dirty="0"/>
          </a:p>
        </p:txBody>
      </p:sp>
      <p:sp>
        <p:nvSpPr>
          <p:cNvPr id="34" name="svg line"/>
          <p:cNvSpPr/>
          <p:nvPr/>
        </p:nvSpPr>
        <p:spPr>
          <a:xfrm>
            <a:off x="9067800" y="3765748"/>
            <a:ext cx="1092200" cy="1"/>
          </a:xfrm>
          <a:custGeom>
            <a:avLst/>
            <a:gdLst/>
            <a:ahLst/>
            <a:cxnLst/>
            <a:rect l="0" t="0" r="r" b="b"/>
            <a:pathLst>
              <a:path w="1092200" h="1">
                <a:moveTo>
                  <a:pt x="0" y="0"/>
                </a:moveTo>
                <a:lnTo>
                  <a:pt x="1092200" y="0"/>
                </a:lnTo>
              </a:path>
            </a:pathLst>
          </a:custGeom>
          <a:solidFill>
            <a:srgbClr val="000000"/>
          </a:solidFill>
          <a:ln w="9525">
            <a:solidFill>
              <a:srgbClr val="3F4654"/>
            </a:solidFill>
            <a:miter lim="800000"/>
          </a:ln>
        </p:spPr>
        <p:txBody>
          <a:bodyPr rtlCol="0" anchor="ctr"/>
          <a:lstStyle/>
          <a:p>
            <a:pPr algn="ctr"/>
            <a:endParaRPr lang="ko-KR" dirty="0"/>
          </a:p>
        </p:txBody>
      </p:sp>
      <p:sp>
        <p:nvSpPr>
          <p:cNvPr id="35" name="svg line"/>
          <p:cNvSpPr/>
          <p:nvPr/>
        </p:nvSpPr>
        <p:spPr>
          <a:xfrm>
            <a:off x="9194800" y="31434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6" name="svg line"/>
          <p:cNvSpPr/>
          <p:nvPr/>
        </p:nvSpPr>
        <p:spPr>
          <a:xfrm>
            <a:off x="9194800" y="32958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7" name="svg line"/>
          <p:cNvSpPr/>
          <p:nvPr/>
        </p:nvSpPr>
        <p:spPr>
          <a:xfrm>
            <a:off x="9194800" y="34482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8" name="svg line"/>
          <p:cNvSpPr/>
          <p:nvPr/>
        </p:nvSpPr>
        <p:spPr>
          <a:xfrm>
            <a:off x="9194800" y="36006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9" name="svg rect"/>
          <p:cNvSpPr/>
          <p:nvPr/>
        </p:nvSpPr>
        <p:spPr>
          <a:xfrm>
            <a:off x="92710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0" name="svg rect"/>
          <p:cNvSpPr/>
          <p:nvPr/>
        </p:nvSpPr>
        <p:spPr>
          <a:xfrm>
            <a:off x="94361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1" name="svg rect"/>
          <p:cNvSpPr/>
          <p:nvPr/>
        </p:nvSpPr>
        <p:spPr>
          <a:xfrm>
            <a:off x="96901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2" name="svg rect"/>
          <p:cNvSpPr/>
          <p:nvPr/>
        </p:nvSpPr>
        <p:spPr>
          <a:xfrm>
            <a:off x="98552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3" name="svg rect"/>
          <p:cNvSpPr/>
          <p:nvPr/>
        </p:nvSpPr>
        <p:spPr>
          <a:xfrm>
            <a:off x="92710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4" name="svg rect"/>
          <p:cNvSpPr/>
          <p:nvPr/>
        </p:nvSpPr>
        <p:spPr>
          <a:xfrm>
            <a:off x="94361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5" name="svg rect"/>
          <p:cNvSpPr/>
          <p:nvPr/>
        </p:nvSpPr>
        <p:spPr>
          <a:xfrm>
            <a:off x="96901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6" name="svg rect"/>
          <p:cNvSpPr/>
          <p:nvPr/>
        </p:nvSpPr>
        <p:spPr>
          <a:xfrm>
            <a:off x="98552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7" name="svg rect"/>
          <p:cNvSpPr/>
          <p:nvPr/>
        </p:nvSpPr>
        <p:spPr>
          <a:xfrm>
            <a:off x="92710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8" name="svg rect"/>
          <p:cNvSpPr/>
          <p:nvPr/>
        </p:nvSpPr>
        <p:spPr>
          <a:xfrm>
            <a:off x="94361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9" name="svg rect"/>
          <p:cNvSpPr/>
          <p:nvPr/>
        </p:nvSpPr>
        <p:spPr>
          <a:xfrm>
            <a:off x="96901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0" name="svg rect"/>
          <p:cNvSpPr/>
          <p:nvPr/>
        </p:nvSpPr>
        <p:spPr>
          <a:xfrm>
            <a:off x="98552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1" name="svg rect"/>
          <p:cNvSpPr/>
          <p:nvPr/>
        </p:nvSpPr>
        <p:spPr>
          <a:xfrm>
            <a:off x="92710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2" name="svg rect"/>
          <p:cNvSpPr/>
          <p:nvPr/>
        </p:nvSpPr>
        <p:spPr>
          <a:xfrm>
            <a:off x="94361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3" name="svg rect"/>
          <p:cNvSpPr/>
          <p:nvPr/>
        </p:nvSpPr>
        <p:spPr>
          <a:xfrm>
            <a:off x="96901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4" name="svg rect"/>
          <p:cNvSpPr/>
          <p:nvPr/>
        </p:nvSpPr>
        <p:spPr>
          <a:xfrm>
            <a:off x="98552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5" name="svg rect"/>
          <p:cNvSpPr/>
          <p:nvPr/>
        </p:nvSpPr>
        <p:spPr>
          <a:xfrm>
            <a:off x="92710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6" name="svg rect"/>
          <p:cNvSpPr/>
          <p:nvPr/>
        </p:nvSpPr>
        <p:spPr>
          <a:xfrm>
            <a:off x="94361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7" name="svg rect"/>
          <p:cNvSpPr/>
          <p:nvPr/>
        </p:nvSpPr>
        <p:spPr>
          <a:xfrm>
            <a:off x="9563100" y="3626048"/>
            <a:ext cx="88900" cy="1397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8" name="svg rect"/>
          <p:cNvSpPr/>
          <p:nvPr/>
        </p:nvSpPr>
        <p:spPr>
          <a:xfrm>
            <a:off x="98552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9" name="svg circle"/>
          <p:cNvSpPr/>
          <p:nvPr/>
        </p:nvSpPr>
        <p:spPr>
          <a:xfrm>
            <a:off x="9429750" y="3873698"/>
            <a:ext cx="63500" cy="63500"/>
          </a:xfrm>
          <a:prstGeom prst="ellipse">
            <a:avLst/>
          </a:prstGeom>
          <a:noFill/>
          <a:ln w="7620">
            <a:solidFill>
              <a:srgbClr val="3F4654"/>
            </a:solidFill>
            <a:miter lim="800000"/>
          </a:ln>
        </p:spPr>
        <p:txBody>
          <a:bodyPr rtlCol="0" anchor="ctr"/>
          <a:lstStyle/>
          <a:p>
            <a:pPr algn="ctr"/>
            <a:endParaRPr lang="ko-KR" dirty="0"/>
          </a:p>
        </p:txBody>
      </p:sp>
      <p:sp>
        <p:nvSpPr>
          <p:cNvPr id="60" name="svg line"/>
          <p:cNvSpPr/>
          <p:nvPr/>
        </p:nvSpPr>
        <p:spPr>
          <a:xfrm>
            <a:off x="9525000" y="3886398"/>
            <a:ext cx="254000" cy="1"/>
          </a:xfrm>
          <a:custGeom>
            <a:avLst/>
            <a:gdLst/>
            <a:ahLst/>
            <a:cxnLst/>
            <a:rect l="0" t="0" r="r" b="b"/>
            <a:pathLst>
              <a:path w="254000" h="1">
                <a:moveTo>
                  <a:pt x="0" y="0"/>
                </a:moveTo>
                <a:lnTo>
                  <a:pt x="254000" y="0"/>
                </a:lnTo>
              </a:path>
            </a:pathLst>
          </a:custGeom>
          <a:solidFill>
            <a:srgbClr val="000000"/>
          </a:solidFill>
          <a:ln w="12700">
            <a:solidFill>
              <a:srgbClr val="3F4654"/>
            </a:solidFill>
            <a:miter lim="800000"/>
          </a:ln>
        </p:spPr>
        <p:txBody>
          <a:bodyPr rtlCol="0" anchor="ctr"/>
          <a:lstStyle/>
          <a:p>
            <a:pPr algn="ctr"/>
            <a:endParaRPr lang="ko-KR" dirty="0"/>
          </a:p>
        </p:txBody>
      </p:sp>
      <p:sp>
        <p:nvSpPr>
          <p:cNvPr id="61" name="svg line"/>
          <p:cNvSpPr/>
          <p:nvPr/>
        </p:nvSpPr>
        <p:spPr>
          <a:xfrm>
            <a:off x="9525000" y="3930848"/>
            <a:ext cx="177800" cy="1"/>
          </a:xfrm>
          <a:custGeom>
            <a:avLst/>
            <a:gdLst/>
            <a:ahLst/>
            <a:cxnLst/>
            <a:rect l="0" t="0" r="r" b="b"/>
            <a:pathLst>
              <a:path w="177800" h="1">
                <a:moveTo>
                  <a:pt x="0" y="0"/>
                </a:moveTo>
                <a:lnTo>
                  <a:pt x="177800" y="0"/>
                </a:lnTo>
              </a:path>
            </a:pathLst>
          </a:custGeom>
          <a:solidFill>
            <a:srgbClr val="000000"/>
          </a:solidFill>
          <a:ln w="9525">
            <a:solidFill>
              <a:srgbClr val="8D96A3"/>
            </a:solidFill>
            <a:miter lim="800000"/>
          </a:ln>
        </p:spPr>
        <p:txBody>
          <a:bodyPr rtlCol="0" anchor="ctr"/>
          <a:lstStyle/>
          <a:p>
            <a:pPr algn="ctr"/>
            <a:endParaRPr lang="ko-KR" dirty="0"/>
          </a:p>
        </p:txBody>
      </p:sp>
      <p:sp>
        <p:nvSpPr>
          <p:cNvPr id="62" name="svg rect"/>
          <p:cNvSpPr/>
          <p:nvPr/>
        </p:nvSpPr>
        <p:spPr>
          <a:xfrm>
            <a:off x="9372600" y="3822898"/>
            <a:ext cx="482600" cy="165100"/>
          </a:xfrm>
          <a:prstGeom prst="roundRect">
            <a:avLst>
              <a:gd name="adj" fmla="val 23077"/>
            </a:avLst>
          </a:prstGeom>
          <a:noFill/>
          <a:ln w="10160">
            <a:solidFill>
              <a:srgbClr val="EA002C"/>
            </a:solidFill>
            <a:custDash>
              <a:ds d="250000" sp="187500"/>
            </a:custDash>
            <a:miter lim="800000"/>
          </a:ln>
        </p:spPr>
        <p:txBody>
          <a:bodyPr rtlCol="0" anchor="ctr"/>
          <a:lstStyle/>
          <a:p>
            <a:pPr algn="ctr"/>
            <a:endParaRPr lang="ko-KR" dirty="0"/>
          </a:p>
        </p:txBody>
      </p:sp>
      <p:sp>
        <p:nvSpPr>
          <p:cNvPr id="63" name="svg line"/>
          <p:cNvSpPr/>
          <p:nvPr/>
        </p:nvSpPr>
        <p:spPr>
          <a:xfrm>
            <a:off x="8750300" y="4248348"/>
            <a:ext cx="1905000" cy="1"/>
          </a:xfrm>
          <a:custGeom>
            <a:avLst/>
            <a:gdLst/>
            <a:ahLst/>
            <a:cxnLst/>
            <a:rect l="0" t="0" r="r" b="b"/>
            <a:pathLst>
              <a:path w="1905000" h="1">
                <a:moveTo>
                  <a:pt x="0" y="0"/>
                </a:moveTo>
                <a:lnTo>
                  <a:pt x="19050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64" name="svg line"/>
          <p:cNvSpPr/>
          <p:nvPr/>
        </p:nvSpPr>
        <p:spPr>
          <a:xfrm>
            <a:off x="8750300" y="4197548"/>
            <a:ext cx="1" cy="101600"/>
          </a:xfrm>
          <a:custGeom>
            <a:avLst/>
            <a:gdLst/>
            <a:ahLst/>
            <a:cxnLst/>
            <a:rect l="0" t="0" r="r" b="b"/>
            <a:pathLst>
              <a:path w="1" h="101600">
                <a:moveTo>
                  <a:pt x="0" y="0"/>
                </a:moveTo>
                <a:lnTo>
                  <a:pt x="0" y="101600"/>
                </a:lnTo>
              </a:path>
            </a:pathLst>
          </a:custGeom>
          <a:solidFill>
            <a:srgbClr val="000000"/>
          </a:solidFill>
          <a:ln w="9525">
            <a:solidFill>
              <a:srgbClr val="2B4A78"/>
            </a:solidFill>
            <a:miter lim="800000"/>
          </a:ln>
        </p:spPr>
        <p:txBody>
          <a:bodyPr rtlCol="0" anchor="ctr"/>
          <a:lstStyle/>
          <a:p>
            <a:pPr algn="ctr"/>
            <a:endParaRPr lang="ko-KR" dirty="0"/>
          </a:p>
        </p:txBody>
      </p:sp>
      <p:sp>
        <p:nvSpPr>
          <p:cNvPr id="65" name="svg line"/>
          <p:cNvSpPr/>
          <p:nvPr/>
        </p:nvSpPr>
        <p:spPr>
          <a:xfrm>
            <a:off x="10655300" y="4197548"/>
            <a:ext cx="1" cy="101600"/>
          </a:xfrm>
          <a:custGeom>
            <a:avLst/>
            <a:gdLst/>
            <a:ahLst/>
            <a:cxnLst/>
            <a:rect l="0" t="0" r="r" b="b"/>
            <a:pathLst>
              <a:path w="1" h="101600">
                <a:moveTo>
                  <a:pt x="0" y="0"/>
                </a:moveTo>
                <a:lnTo>
                  <a:pt x="0" y="101600"/>
                </a:lnTo>
              </a:path>
            </a:pathLst>
          </a:custGeom>
          <a:solidFill>
            <a:srgbClr val="000000"/>
          </a:solidFill>
          <a:ln w="9525">
            <a:solidFill>
              <a:srgbClr val="2B4A78"/>
            </a:solidFill>
            <a:miter lim="800000"/>
          </a:ln>
        </p:spPr>
        <p:txBody>
          <a:bodyPr rtlCol="0" anchor="ctr"/>
          <a:lstStyle/>
          <a:p>
            <a:pPr algn="ctr"/>
            <a:endParaRPr lang="ko-KR" dirty="0"/>
          </a:p>
        </p:txBody>
      </p:sp>
      <p:sp>
        <p:nvSpPr>
          <p:cNvPr id="66" name="svg polygon"/>
          <p:cNvSpPr/>
          <p:nvPr/>
        </p:nvSpPr>
        <p:spPr>
          <a:xfrm>
            <a:off x="8750300" y="4222948"/>
            <a:ext cx="63500" cy="50800"/>
          </a:xfrm>
          <a:custGeom>
            <a:avLst/>
            <a:gdLst/>
            <a:ahLst/>
            <a:cxnLst/>
            <a:rect l="0" t="0" r="r" b="b"/>
            <a:pathLst>
              <a:path w="63500" h="50800" stroke="0">
                <a:moveTo>
                  <a:pt x="0" y="25400"/>
                </a:moveTo>
                <a:lnTo>
                  <a:pt x="63500" y="0"/>
                </a:lnTo>
                <a:lnTo>
                  <a:pt x="63500" y="50800"/>
                </a:lnTo>
                <a:close/>
              </a:path>
            </a:pathLst>
          </a:custGeom>
          <a:solidFill>
            <a:srgbClr val="2B4A78"/>
          </a:solidFill>
          <a:ln>
            <a:noFill/>
          </a:ln>
        </p:spPr>
        <p:txBody>
          <a:bodyPr rtlCol="0" anchor="ctr"/>
          <a:lstStyle/>
          <a:p>
            <a:pPr algn="ctr"/>
            <a:endParaRPr lang="ko-KR" dirty="0"/>
          </a:p>
        </p:txBody>
      </p:sp>
      <p:sp>
        <p:nvSpPr>
          <p:cNvPr id="67" name="svg polygon"/>
          <p:cNvSpPr/>
          <p:nvPr/>
        </p:nvSpPr>
        <p:spPr>
          <a:xfrm>
            <a:off x="10591800" y="4222948"/>
            <a:ext cx="63500" cy="50800"/>
          </a:xfrm>
          <a:custGeom>
            <a:avLst/>
            <a:gdLst/>
            <a:ahLst/>
            <a:cxnLst/>
            <a:rect l="0" t="0" r="r" b="b"/>
            <a:pathLst>
              <a:path w="63500" h="50800" stroke="0">
                <a:moveTo>
                  <a:pt x="63500" y="25400"/>
                </a:moveTo>
                <a:lnTo>
                  <a:pt x="0" y="0"/>
                </a:lnTo>
                <a:lnTo>
                  <a:pt x="0" y="50800"/>
                </a:lnTo>
                <a:close/>
              </a:path>
            </a:pathLst>
          </a:custGeom>
          <a:solidFill>
            <a:srgbClr val="2B4A78"/>
          </a:solidFill>
          <a:ln>
            <a:noFill/>
          </a:ln>
        </p:spPr>
        <p:txBody>
          <a:bodyPr rtlCol="0" anchor="ctr"/>
          <a:lstStyle/>
          <a:p>
            <a:pPr algn="ctr"/>
            <a:endParaRPr lang="ko-KR" dirty="0"/>
          </a:p>
        </p:txBody>
      </p:sp>
      <p:sp>
        <p:nvSpPr>
          <p:cNvPr id="68" name="svg line"/>
          <p:cNvSpPr/>
          <p:nvPr/>
        </p:nvSpPr>
        <p:spPr>
          <a:xfrm>
            <a:off x="8610600" y="2775148"/>
            <a:ext cx="1" cy="1346200"/>
          </a:xfrm>
          <a:custGeom>
            <a:avLst/>
            <a:gdLst/>
            <a:ahLst/>
            <a:cxnLst/>
            <a:rect l="0" t="0" r="r" b="b"/>
            <a:pathLst>
              <a:path w="1" h="1346200">
                <a:moveTo>
                  <a:pt x="0" y="0"/>
                </a:moveTo>
                <a:lnTo>
                  <a:pt x="0" y="1346200"/>
                </a:lnTo>
              </a:path>
            </a:pathLst>
          </a:custGeom>
          <a:solidFill>
            <a:srgbClr val="000000"/>
          </a:solidFill>
          <a:ln w="9525">
            <a:solidFill>
              <a:srgbClr val="2B4A78"/>
            </a:solidFill>
            <a:miter lim="800000"/>
          </a:ln>
        </p:spPr>
        <p:txBody>
          <a:bodyPr rtlCol="0" anchor="ctr"/>
          <a:lstStyle/>
          <a:p>
            <a:pPr algn="ctr"/>
            <a:endParaRPr lang="ko-KR" dirty="0"/>
          </a:p>
        </p:txBody>
      </p:sp>
      <p:sp>
        <p:nvSpPr>
          <p:cNvPr id="69" name="svg line"/>
          <p:cNvSpPr/>
          <p:nvPr/>
        </p:nvSpPr>
        <p:spPr>
          <a:xfrm>
            <a:off x="8559800" y="2775148"/>
            <a:ext cx="101600" cy="1"/>
          </a:xfrm>
          <a:custGeom>
            <a:avLst/>
            <a:gdLst/>
            <a:ahLst/>
            <a:cxnLst/>
            <a:rect l="0" t="0" r="r" b="b"/>
            <a:pathLst>
              <a:path w="101600" h="1">
                <a:moveTo>
                  <a:pt x="0" y="0"/>
                </a:moveTo>
                <a:lnTo>
                  <a:pt x="1016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70" name="svg line"/>
          <p:cNvSpPr/>
          <p:nvPr/>
        </p:nvSpPr>
        <p:spPr>
          <a:xfrm>
            <a:off x="8559800" y="4121348"/>
            <a:ext cx="101600" cy="1"/>
          </a:xfrm>
          <a:custGeom>
            <a:avLst/>
            <a:gdLst/>
            <a:ahLst/>
            <a:cxnLst/>
            <a:rect l="0" t="0" r="r" b="b"/>
            <a:pathLst>
              <a:path w="101600" h="1">
                <a:moveTo>
                  <a:pt x="0" y="0"/>
                </a:moveTo>
                <a:lnTo>
                  <a:pt x="1016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71" name="svg polygon"/>
          <p:cNvSpPr/>
          <p:nvPr/>
        </p:nvSpPr>
        <p:spPr>
          <a:xfrm>
            <a:off x="8585200" y="2775148"/>
            <a:ext cx="50800" cy="63500"/>
          </a:xfrm>
          <a:custGeom>
            <a:avLst/>
            <a:gdLst/>
            <a:ahLst/>
            <a:cxnLst/>
            <a:rect l="0" t="0" r="r" b="b"/>
            <a:pathLst>
              <a:path w="50800" h="63500" stroke="0">
                <a:moveTo>
                  <a:pt x="25400" y="0"/>
                </a:moveTo>
                <a:lnTo>
                  <a:pt x="0" y="63500"/>
                </a:lnTo>
                <a:lnTo>
                  <a:pt x="50800" y="63500"/>
                </a:lnTo>
                <a:close/>
              </a:path>
            </a:pathLst>
          </a:custGeom>
          <a:solidFill>
            <a:srgbClr val="2B4A78"/>
          </a:solidFill>
          <a:ln>
            <a:noFill/>
          </a:ln>
        </p:spPr>
        <p:txBody>
          <a:bodyPr rtlCol="0" anchor="ctr"/>
          <a:lstStyle/>
          <a:p>
            <a:pPr algn="ctr"/>
            <a:endParaRPr lang="ko-KR" dirty="0"/>
          </a:p>
        </p:txBody>
      </p:sp>
      <p:sp>
        <p:nvSpPr>
          <p:cNvPr id="72" name="svg polygon"/>
          <p:cNvSpPr/>
          <p:nvPr/>
        </p:nvSpPr>
        <p:spPr>
          <a:xfrm>
            <a:off x="8585200" y="4057848"/>
            <a:ext cx="50800" cy="63500"/>
          </a:xfrm>
          <a:custGeom>
            <a:avLst/>
            <a:gdLst/>
            <a:ahLst/>
            <a:cxnLst/>
            <a:rect l="0" t="0" r="r" b="b"/>
            <a:pathLst>
              <a:path w="50800" h="63500" stroke="0">
                <a:moveTo>
                  <a:pt x="25400" y="63500"/>
                </a:moveTo>
                <a:lnTo>
                  <a:pt x="0" y="0"/>
                </a:lnTo>
                <a:lnTo>
                  <a:pt x="50800" y="0"/>
                </a:lnTo>
                <a:close/>
              </a:path>
            </a:pathLst>
          </a:custGeom>
          <a:solidFill>
            <a:srgbClr val="2B4A78"/>
          </a:solidFill>
          <a:ln>
            <a:noFill/>
          </a:ln>
        </p:spPr>
        <p:txBody>
          <a:bodyPr rtlCol="0" anchor="ctr"/>
          <a:lstStyle/>
          <a:p>
            <a:pPr algn="ctr"/>
            <a:endParaRPr lang="ko-KR" dirty="0"/>
          </a:p>
        </p:txBody>
      </p:sp>
      <p:sp>
        <p:nvSpPr>
          <p:cNvPr id="73" name="svg line"/>
          <p:cNvSpPr/>
          <p:nvPr/>
        </p:nvSpPr>
        <p:spPr>
          <a:xfrm>
            <a:off x="9702800" y="4527748"/>
            <a:ext cx="1" cy="114300"/>
          </a:xfrm>
          <a:custGeom>
            <a:avLst/>
            <a:gdLst/>
            <a:ahLst/>
            <a:cxnLst/>
            <a:rect l="0" t="0" r="r" b="b"/>
            <a:pathLst>
              <a:path w="1" h="114300">
                <a:moveTo>
                  <a:pt x="0" y="0"/>
                </a:moveTo>
                <a:lnTo>
                  <a:pt x="0" y="11430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74" name="svg polygon"/>
          <p:cNvSpPr/>
          <p:nvPr/>
        </p:nvSpPr>
        <p:spPr>
          <a:xfrm>
            <a:off x="9664700" y="4629348"/>
            <a:ext cx="76200" cy="76200"/>
          </a:xfrm>
          <a:custGeom>
            <a:avLst/>
            <a:gdLst/>
            <a:ahLst/>
            <a:cxnLst/>
            <a:rect l="0" t="0" r="r" b="b"/>
            <a:pathLst>
              <a:path w="76200" h="76200" stroke="0">
                <a:moveTo>
                  <a:pt x="38100" y="76200"/>
                </a:moveTo>
                <a:lnTo>
                  <a:pt x="0" y="0"/>
                </a:lnTo>
                <a:lnTo>
                  <a:pt x="76200" y="0"/>
                </a:lnTo>
                <a:close/>
              </a:path>
            </a:pathLst>
          </a:custGeom>
          <a:solidFill>
            <a:srgbClr val="2B4A78"/>
          </a:solidFill>
          <a:ln>
            <a:noFill/>
          </a:ln>
        </p:spPr>
        <p:txBody>
          <a:bodyPr rtlCol="0" anchor="ctr"/>
          <a:lstStyle/>
          <a:p>
            <a:pPr algn="ctr"/>
            <a:endParaRPr lang="ko-KR" dirty="0"/>
          </a:p>
        </p:txBody>
      </p:sp>
      <p:sp>
        <p:nvSpPr>
          <p:cNvPr id="75" name="s7-lmm"/>
          <p:cNvSpPr/>
          <p:nvPr/>
        </p:nvSpPr>
        <p:spPr>
          <a:xfrm>
            <a:off x="8026400" y="4730948"/>
            <a:ext cx="3352800" cy="457200"/>
          </a:xfrm>
          <a:prstGeom prst="roundRect">
            <a:avLst>
              <a:gd name="adj" fmla="val 22222"/>
            </a:avLst>
          </a:prstGeom>
          <a:solidFill>
            <a:srgbClr val="102A4C"/>
          </a:solidFill>
          <a:ln>
            <a:noFill/>
          </a:ln>
        </p:spPr>
        <p:txBody>
          <a:bodyPr rtlCol="0" anchor="ctr"/>
          <a:lstStyle/>
          <a:p>
            <a:pPr algn="ctr"/>
            <a:endParaRPr lang="ko-KR" dirty="0"/>
          </a:p>
        </p:txBody>
      </p:sp>
      <p:sp>
        <p:nvSpPr>
          <p:cNvPr id="76" name="svg rect"/>
          <p:cNvSpPr/>
          <p:nvPr/>
        </p:nvSpPr>
        <p:spPr>
          <a:xfrm>
            <a:off x="8223250" y="4908748"/>
            <a:ext cx="101600" cy="101600"/>
          </a:xfrm>
          <a:prstGeom prst="roundRect">
            <a:avLst>
              <a:gd name="adj" fmla="val 15625"/>
            </a:avLst>
          </a:prstGeom>
          <a:noFill/>
          <a:ln w="12700" cap="rnd">
            <a:solidFill>
              <a:srgbClr val="FFFFFF"/>
            </a:solidFill>
            <a:round/>
          </a:ln>
        </p:spPr>
        <p:txBody>
          <a:bodyPr rtlCol="0" anchor="ctr"/>
          <a:lstStyle/>
          <a:p>
            <a:pPr algn="ctr"/>
            <a:endParaRPr lang="ko-KR" dirty="0"/>
          </a:p>
        </p:txBody>
      </p:sp>
      <p:sp>
        <p:nvSpPr>
          <p:cNvPr id="77" name="svg rect"/>
          <p:cNvSpPr/>
          <p:nvPr/>
        </p:nvSpPr>
        <p:spPr>
          <a:xfrm>
            <a:off x="8251825" y="4937323"/>
            <a:ext cx="44450" cy="44450"/>
          </a:xfrm>
          <a:prstGeom prst="roundRect">
            <a:avLst>
              <a:gd name="adj" fmla="val 14286"/>
            </a:avLst>
          </a:prstGeom>
          <a:noFill/>
          <a:ln w="12700" cap="rnd">
            <a:solidFill>
              <a:srgbClr val="FFFFFF"/>
            </a:solidFill>
            <a:round/>
          </a:ln>
        </p:spPr>
        <p:txBody>
          <a:bodyPr rtlCol="0" anchor="ctr"/>
          <a:lstStyle/>
          <a:p>
            <a:pPr algn="ctr"/>
            <a:endParaRPr lang="ko-KR" dirty="0"/>
          </a:p>
        </p:txBody>
      </p:sp>
      <p:sp>
        <p:nvSpPr>
          <p:cNvPr id="78" name="svg path"/>
          <p:cNvSpPr/>
          <p:nvPr/>
        </p:nvSpPr>
        <p:spPr>
          <a:xfrm>
            <a:off x="8197850" y="4883348"/>
            <a:ext cx="152400" cy="152400"/>
          </a:xfrm>
          <a:custGeom>
            <a:avLst/>
            <a:gdLst/>
            <a:ahLst/>
            <a:cxnLst/>
            <a:rect l="0" t="0" r="r" b="b"/>
            <a:pathLst>
              <a:path w="152400" h="152400" fill="none">
                <a:moveTo>
                  <a:pt x="50800" y="0"/>
                </a:moveTo>
                <a:lnTo>
                  <a:pt x="50800" y="25400"/>
                </a:lnTo>
                <a:moveTo>
                  <a:pt x="76200" y="0"/>
                </a:moveTo>
                <a:lnTo>
                  <a:pt x="76200" y="25400"/>
                </a:lnTo>
                <a:moveTo>
                  <a:pt x="101600" y="0"/>
                </a:moveTo>
                <a:lnTo>
                  <a:pt x="101600" y="25400"/>
                </a:lnTo>
                <a:moveTo>
                  <a:pt x="50800" y="127000"/>
                </a:moveTo>
                <a:lnTo>
                  <a:pt x="50800" y="152400"/>
                </a:lnTo>
                <a:moveTo>
                  <a:pt x="76200" y="127000"/>
                </a:moveTo>
                <a:lnTo>
                  <a:pt x="76200" y="152400"/>
                </a:lnTo>
                <a:moveTo>
                  <a:pt x="101600" y="127000"/>
                </a:moveTo>
                <a:lnTo>
                  <a:pt x="101600" y="152400"/>
                </a:lnTo>
                <a:moveTo>
                  <a:pt x="0" y="50800"/>
                </a:moveTo>
                <a:lnTo>
                  <a:pt x="25400" y="50800"/>
                </a:lnTo>
                <a:moveTo>
                  <a:pt x="0" y="76200"/>
                </a:moveTo>
                <a:lnTo>
                  <a:pt x="25400" y="76200"/>
                </a:lnTo>
                <a:moveTo>
                  <a:pt x="0" y="101600"/>
                </a:moveTo>
                <a:lnTo>
                  <a:pt x="25400" y="101600"/>
                </a:lnTo>
                <a:moveTo>
                  <a:pt x="127000" y="50800"/>
                </a:moveTo>
                <a:lnTo>
                  <a:pt x="152400" y="50800"/>
                </a:lnTo>
                <a:moveTo>
                  <a:pt x="127000" y="76200"/>
                </a:moveTo>
                <a:lnTo>
                  <a:pt x="152400" y="76200"/>
                </a:lnTo>
                <a:moveTo>
                  <a:pt x="127000" y="101600"/>
                </a:moveTo>
                <a:lnTo>
                  <a:pt x="152400" y="101600"/>
                </a:lnTo>
              </a:path>
            </a:pathLst>
          </a:custGeom>
          <a:noFill/>
          <a:ln w="12700" cap="rnd">
            <a:solidFill>
              <a:srgbClr val="FFFFFF"/>
            </a:solidFill>
            <a:round/>
          </a:ln>
        </p:spPr>
        <p:txBody>
          <a:bodyPr rtlCol="0" anchor="ctr"/>
          <a:lstStyle/>
          <a:p>
            <a:pPr algn="ctr"/>
            <a:endParaRPr lang="ko-KR" dirty="0"/>
          </a:p>
        </p:txBody>
      </p:sp>
      <p:sp>
        <p:nvSpPr>
          <p:cNvPr id="79" name="o"/>
          <p:cNvSpPr/>
          <p:nvPr/>
        </p:nvSpPr>
        <p:spPr>
          <a:xfrm>
            <a:off x="9550400" y="4781748"/>
            <a:ext cx="1778000" cy="355600"/>
          </a:xfrm>
          <a:prstGeom prst="roundRect">
            <a:avLst>
              <a:gd name="adj" fmla="val 17857"/>
            </a:avLst>
          </a:prstGeom>
          <a:solidFill>
            <a:srgbClr val="FFFFFF"/>
          </a:solidFill>
          <a:ln>
            <a:noFill/>
          </a:ln>
        </p:spPr>
        <p:txBody>
          <a:bodyPr rtlCol="0" anchor="ctr"/>
          <a:lstStyle/>
          <a:p>
            <a:pPr algn="ctr"/>
            <a:endParaRPr lang="ko-KR" dirty="0"/>
          </a:p>
        </p:txBody>
      </p:sp>
      <p:sp>
        <p:nvSpPr>
          <p:cNvPr id="80" name="svg line"/>
          <p:cNvSpPr/>
          <p:nvPr/>
        </p:nvSpPr>
        <p:spPr>
          <a:xfrm>
            <a:off x="9702800" y="5226248"/>
            <a:ext cx="1" cy="82550"/>
          </a:xfrm>
          <a:custGeom>
            <a:avLst/>
            <a:gdLst/>
            <a:ahLst/>
            <a:cxnLst/>
            <a:rect l="0" t="0" r="r" b="b"/>
            <a:pathLst>
              <a:path w="1" h="82550">
                <a:moveTo>
                  <a:pt x="0" y="0"/>
                </a:moveTo>
                <a:lnTo>
                  <a:pt x="0" y="8255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81" name="svg polygon"/>
          <p:cNvSpPr/>
          <p:nvPr/>
        </p:nvSpPr>
        <p:spPr>
          <a:xfrm>
            <a:off x="9664700" y="5296098"/>
            <a:ext cx="76200" cy="76200"/>
          </a:xfrm>
          <a:custGeom>
            <a:avLst/>
            <a:gdLst/>
            <a:ahLst/>
            <a:cxnLst/>
            <a:rect l="0" t="0" r="r" b="b"/>
            <a:pathLst>
              <a:path w="76200" h="76200" stroke="0">
                <a:moveTo>
                  <a:pt x="38100" y="76200"/>
                </a:moveTo>
                <a:lnTo>
                  <a:pt x="0" y="0"/>
                </a:lnTo>
                <a:lnTo>
                  <a:pt x="76200" y="0"/>
                </a:lnTo>
                <a:close/>
              </a:path>
            </a:pathLst>
          </a:custGeom>
          <a:solidFill>
            <a:srgbClr val="2B4A78"/>
          </a:solidFill>
          <a:ln>
            <a:noFill/>
          </a:ln>
        </p:spPr>
        <p:txBody>
          <a:bodyPr rtlCol="0" anchor="ctr"/>
          <a:lstStyle/>
          <a:p>
            <a:pPr algn="ctr"/>
            <a:endParaRPr lang="ko-KR" dirty="0"/>
          </a:p>
        </p:txBody>
      </p:sp>
      <p:sp>
        <p:nvSpPr>
          <p:cNvPr id="82" name="s7-out"/>
          <p:cNvSpPr/>
          <p:nvPr/>
        </p:nvSpPr>
        <p:spPr>
          <a:xfrm>
            <a:off x="8029575" y="5394523"/>
            <a:ext cx="3346450" cy="717550"/>
          </a:xfrm>
          <a:prstGeom prst="roundRect">
            <a:avLst>
              <a:gd name="adj" fmla="val 13717"/>
            </a:avLst>
          </a:prstGeom>
          <a:solidFill>
            <a:srgbClr val="FFFFFF"/>
          </a:solidFill>
          <a:ln w="6350">
            <a:solidFill>
              <a:srgbClr val="E1E5EB"/>
            </a:solidFill>
            <a:miter lim="800000"/>
          </a:ln>
        </p:spPr>
        <p:txBody>
          <a:bodyPr rtlCol="0" anchor="ctr"/>
          <a:lstStyle/>
          <a:p>
            <a:pPr algn="ctr"/>
            <a:endParaRPr lang="ko-KR" dirty="0"/>
          </a:p>
        </p:txBody>
      </p:sp>
      <p:sp>
        <p:nvSpPr>
          <p:cNvPr id="83" name="svg rect"/>
          <p:cNvSpPr/>
          <p:nvPr/>
        </p:nvSpPr>
        <p:spPr>
          <a:xfrm>
            <a:off x="8172450" y="5521523"/>
            <a:ext cx="1066800" cy="457200"/>
          </a:xfrm>
          <a:prstGeom prst="rect">
            <a:avLst/>
          </a:prstGeom>
          <a:noFill/>
          <a:ln w="7620">
            <a:solidFill>
              <a:srgbClr val="C8CFD8"/>
            </a:solidFill>
            <a:miter lim="800000"/>
          </a:ln>
        </p:spPr>
        <p:txBody>
          <a:bodyPr rtlCol="0" anchor="ctr"/>
          <a:lstStyle/>
          <a:p>
            <a:pPr algn="ctr"/>
            <a:endParaRPr lang="ko-KR" dirty="0"/>
          </a:p>
        </p:txBody>
      </p:sp>
      <p:sp>
        <p:nvSpPr>
          <p:cNvPr id="84" name="svg line"/>
          <p:cNvSpPr/>
          <p:nvPr/>
        </p:nvSpPr>
        <p:spPr>
          <a:xfrm>
            <a:off x="83248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5" name="svg line"/>
          <p:cNvSpPr/>
          <p:nvPr/>
        </p:nvSpPr>
        <p:spPr>
          <a:xfrm>
            <a:off x="84772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6" name="svg line"/>
          <p:cNvSpPr/>
          <p:nvPr/>
        </p:nvSpPr>
        <p:spPr>
          <a:xfrm>
            <a:off x="86296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7" name="svg line"/>
          <p:cNvSpPr/>
          <p:nvPr/>
        </p:nvSpPr>
        <p:spPr>
          <a:xfrm>
            <a:off x="87820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8" name="svg line"/>
          <p:cNvSpPr/>
          <p:nvPr/>
        </p:nvSpPr>
        <p:spPr>
          <a:xfrm>
            <a:off x="89344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9" name="svg line"/>
          <p:cNvSpPr/>
          <p:nvPr/>
        </p:nvSpPr>
        <p:spPr>
          <a:xfrm>
            <a:off x="90868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90" name="svg line"/>
          <p:cNvSpPr/>
          <p:nvPr/>
        </p:nvSpPr>
        <p:spPr>
          <a:xfrm>
            <a:off x="8172450" y="5673923"/>
            <a:ext cx="1066800" cy="1"/>
          </a:xfrm>
          <a:custGeom>
            <a:avLst/>
            <a:gdLst/>
            <a:ahLst/>
            <a:cxnLst/>
            <a:rect l="0" t="0" r="r" b="b"/>
            <a:pathLst>
              <a:path w="1066800" h="1" fill="none">
                <a:moveTo>
                  <a:pt x="0" y="0"/>
                </a:moveTo>
                <a:lnTo>
                  <a:pt x="1066800" y="0"/>
                </a:lnTo>
              </a:path>
            </a:pathLst>
          </a:custGeom>
          <a:noFill/>
          <a:ln w="7620">
            <a:solidFill>
              <a:srgbClr val="C8CFD8"/>
            </a:solidFill>
            <a:miter lim="800000"/>
          </a:ln>
        </p:spPr>
        <p:txBody>
          <a:bodyPr rtlCol="0" anchor="ctr"/>
          <a:lstStyle/>
          <a:p>
            <a:pPr algn="ctr"/>
            <a:endParaRPr lang="ko-KR" dirty="0"/>
          </a:p>
        </p:txBody>
      </p:sp>
      <p:sp>
        <p:nvSpPr>
          <p:cNvPr id="91" name="svg line"/>
          <p:cNvSpPr/>
          <p:nvPr/>
        </p:nvSpPr>
        <p:spPr>
          <a:xfrm>
            <a:off x="8172450" y="5826323"/>
            <a:ext cx="1066800" cy="1"/>
          </a:xfrm>
          <a:custGeom>
            <a:avLst/>
            <a:gdLst/>
            <a:ahLst/>
            <a:cxnLst/>
            <a:rect l="0" t="0" r="r" b="b"/>
            <a:pathLst>
              <a:path w="1066800" h="1" fill="none">
                <a:moveTo>
                  <a:pt x="0" y="0"/>
                </a:moveTo>
                <a:lnTo>
                  <a:pt x="1066800" y="0"/>
                </a:lnTo>
              </a:path>
            </a:pathLst>
          </a:custGeom>
          <a:noFill/>
          <a:ln w="7620">
            <a:solidFill>
              <a:srgbClr val="C8CFD8"/>
            </a:solidFill>
            <a:miter lim="800000"/>
          </a:ln>
        </p:spPr>
        <p:txBody>
          <a:bodyPr rtlCol="0" anchor="ctr"/>
          <a:lstStyle/>
          <a:p>
            <a:pPr algn="ctr"/>
            <a:endParaRPr lang="ko-KR" dirty="0"/>
          </a:p>
        </p:txBody>
      </p:sp>
      <p:sp>
        <p:nvSpPr>
          <p:cNvPr id="92" name="svg rect"/>
          <p:cNvSpPr/>
          <p:nvPr/>
        </p:nvSpPr>
        <p:spPr>
          <a:xfrm>
            <a:off x="8629650" y="5673923"/>
            <a:ext cx="152400" cy="152400"/>
          </a:xfrm>
          <a:prstGeom prst="rect">
            <a:avLst/>
          </a:prstGeom>
          <a:solidFill>
            <a:srgbClr val="FDECEF"/>
          </a:solidFill>
          <a:ln w="12700">
            <a:solidFill>
              <a:srgbClr val="EA002C"/>
            </a:solidFill>
            <a:miter lim="800000"/>
          </a:ln>
        </p:spPr>
        <p:txBody>
          <a:bodyPr rtlCol="0" anchor="ctr"/>
          <a:lstStyle/>
          <a:p>
            <a:pPr algn="ctr"/>
            <a:endParaRPr lang="ko-KR" dirty="0"/>
          </a:p>
        </p:txBody>
      </p:sp>
      <p:sp>
        <p:nvSpPr>
          <p:cNvPr id="93"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94"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95" name="① 도면 객체 인식 · 축척 보정"/>
          <p:cNvSpPr txBox="1"/>
          <p:nvPr/>
        </p:nvSpPr>
        <p:spPr>
          <a:xfrm>
            <a:off x="1485106" y="401439"/>
            <a:ext cx="140656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① 도면 객체 인식 · 축척 보정</a:t>
            </a:r>
            <a:endParaRPr lang="en-US" sz="950" dirty="0"/>
          </a:p>
        </p:txBody>
      </p:sp>
      <p:sp>
        <p:nvSpPr>
          <p:cNvPr id="96" name="평면도와 입면도에서 벽 · 창문 · 문을 찾고, 실제 크기로 맞춥니다."/>
          <p:cNvSpPr txBox="1"/>
          <p:nvPr/>
        </p:nvSpPr>
        <p:spPr>
          <a:xfrm>
            <a:off x="609600" y="666750"/>
            <a:ext cx="7249603"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평면도와 입면도에서 </a:t>
            </a:r>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벽 · 창문 · 문</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을 찾고, 실제 크기로 맞춥니다.</a:t>
            </a:r>
            <a:endParaRPr lang="en-US" sz="2300" dirty="0"/>
          </a:p>
        </p:txBody>
      </p:sp>
      <p:sp>
        <p:nvSpPr>
          <p:cNvPr id="9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9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9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10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10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102" name="STEP 2"/>
          <p:cNvSpPr txBox="1"/>
          <p:nvPr/>
        </p:nvSpPr>
        <p:spPr>
          <a:xfrm>
            <a:off x="609600" y="1305123"/>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103" name="도면 객체 인식"/>
          <p:cNvSpPr txBox="1"/>
          <p:nvPr/>
        </p:nvSpPr>
        <p:spPr>
          <a:xfrm>
            <a:off x="1099741" y="12638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도면 객체 인식</a:t>
            </a:r>
            <a:endParaRPr lang="en-US" sz="1300" dirty="0"/>
          </a:p>
        </p:txBody>
      </p:sp>
      <p:sp>
        <p:nvSpPr>
          <p:cNvPr id="104" name="YOLO + SAHI"/>
          <p:cNvSpPr txBox="1"/>
          <p:nvPr/>
        </p:nvSpPr>
        <p:spPr>
          <a:xfrm>
            <a:off x="2218531" y="1304528"/>
            <a:ext cx="648990"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YOLO + SAHI</a:t>
            </a:r>
            <a:endParaRPr lang="en-US" sz="800" dirty="0"/>
          </a:p>
        </p:txBody>
      </p:sp>
      <p:sp>
        <p:nvSpPr>
          <p:cNvPr id="105" name="(작은 객체 분할 추론)"/>
          <p:cNvSpPr txBox="1"/>
          <p:nvPr/>
        </p:nvSpPr>
        <p:spPr>
          <a:xfrm>
            <a:off x="2854821" y="1304528"/>
            <a:ext cx="875209" cy="120650"/>
          </a:xfrm>
          <a:prstGeom prst="rect">
            <a:avLst/>
          </a:prstGeom>
          <a:noFill/>
          <a:ln/>
        </p:spPr>
        <p:txBody>
          <a:bodyPr wrap="none" lIns="0" tIns="0" rIns="0" bIns="0" rtlCol="0" anchor="ctr"/>
          <a:lstStyle/>
          <a:p>
            <a:pPr algn="l" indent="0" marL="0">
              <a:buNone/>
            </a:pPr>
            <a:r>
              <a:rPr lang="ko-KR" altLang="en-US" sz="800" spc="-16" kern="0" dirty="0">
                <a:solidFill>
                  <a:srgbClr val="2B4A78"/>
                </a:solidFill>
                <a:latin typeface="Pretendard SemiBold" pitchFamily="34" charset="0"/>
                <a:ea typeface="Pretendard SemiBold" pitchFamily="34" charset="-127"/>
                <a:cs typeface="Pretendard SemiBold" pitchFamily="34" charset="-120"/>
              </a:rPr>
              <a:t>(작은 객체 분할 추론)</a:t>
            </a:r>
            <a:endParaRPr lang="en-US" sz="800" dirty="0"/>
          </a:p>
        </p:txBody>
      </p:sp>
      <p:sp>
        <p:nvSpPr>
          <p:cNvPr id="106" name="DBSCAN"/>
          <p:cNvSpPr txBox="1"/>
          <p:nvPr/>
        </p:nvSpPr>
        <p:spPr>
          <a:xfrm>
            <a:off x="3996730" y="1304528"/>
            <a:ext cx="455811"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DBSCAN</a:t>
            </a:r>
            <a:endParaRPr lang="en-US" sz="800" dirty="0"/>
          </a:p>
        </p:txBody>
      </p:sp>
      <p:sp>
        <p:nvSpPr>
          <p:cNvPr id="107" name="평면도 인식"/>
          <p:cNvSpPr txBox="1"/>
          <p:nvPr/>
        </p:nvSpPr>
        <p:spPr>
          <a:xfrm>
            <a:off x="863600" y="1644848"/>
            <a:ext cx="711498" cy="184150"/>
          </a:xfrm>
          <a:prstGeom prst="rect">
            <a:avLst/>
          </a:prstGeom>
          <a:noFill/>
          <a:ln/>
        </p:spPr>
        <p:txBody>
          <a:bodyPr wrap="none" lIns="0" tIns="0" rIns="0" bIns="0" rtlCol="0" anchor="ctr"/>
          <a:lstStyle/>
          <a:p>
            <a:pPr algn="l" indent="0" marL="0">
              <a:buNone/>
            </a:pPr>
            <a:r>
              <a:rPr lang="ko-KR" altLang="en-US" sz="1200" spc="-42" kern="0" dirty="0">
                <a:solidFill>
                  <a:srgbClr val="141820"/>
                </a:solidFill>
                <a:latin typeface="Pretendard ExtraBold" pitchFamily="34" charset="0"/>
                <a:ea typeface="Pretendard ExtraBold" pitchFamily="34" charset="-127"/>
                <a:cs typeface="Pretendard ExtraBold" pitchFamily="34" charset="-120"/>
              </a:rPr>
              <a:t>평면도 인식</a:t>
            </a:r>
            <a:endParaRPr lang="en-US" sz="1200" dirty="0"/>
          </a:p>
        </p:txBody>
      </p:sp>
      <p:sp>
        <p:nvSpPr>
          <p:cNvPr id="108" name="외벽의 창·문을 방향별로 정리해 입면도와 짝지을 준비"/>
          <p:cNvSpPr txBox="1"/>
          <p:nvPr/>
        </p:nvSpPr>
        <p:spPr>
          <a:xfrm>
            <a:off x="1737023" y="1660723"/>
            <a:ext cx="2827651"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외벽의 창·문을 </a:t>
            </a:r>
            <a:pPr algn="l" indent="0" marL="0">
              <a:buNone/>
            </a:pPr>
            <a:r>
              <a:rPr lang="ko-KR" altLang="en-US" sz="1050" b="1" spc="-26" kern="0" dirty="0">
                <a:solidFill>
                  <a:srgbClr val="102A4C"/>
                </a:solidFill>
                <a:latin typeface="Pretendard" pitchFamily="34" charset="0"/>
                <a:ea typeface="Pretendard" pitchFamily="34" charset="-127"/>
                <a:cs typeface="Pretendard" pitchFamily="34" charset="-120"/>
              </a:rPr>
              <a:t>방향별로 정리</a:t>
            </a:r>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해 입면도와 짝지을 준비</a:t>
            </a:r>
            <a:endParaRPr lang="en-US" sz="1050" dirty="0"/>
          </a:p>
        </p:txBody>
      </p:sp>
      <p:sp>
        <p:nvSpPr>
          <p:cNvPr id="109" name="평면도 이미지"/>
          <p:cNvSpPr txBox="1"/>
          <p:nvPr/>
        </p:nvSpPr>
        <p:spPr>
          <a:xfrm>
            <a:off x="1031577" y="3245048"/>
            <a:ext cx="59114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이미지</a:t>
            </a:r>
            <a:endParaRPr lang="en-US" sz="800" dirty="0"/>
          </a:p>
        </p:txBody>
      </p:sp>
      <p:sp>
        <p:nvSpPr>
          <p:cNvPr id="110" name="객체 인식"/>
          <p:cNvSpPr txBox="1"/>
          <p:nvPr/>
        </p:nvSpPr>
        <p:spPr>
          <a:xfrm>
            <a:off x="2508448" y="3245048"/>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객체 인식</a:t>
            </a:r>
            <a:endParaRPr lang="en-US" sz="800" dirty="0"/>
          </a:p>
        </p:txBody>
      </p:sp>
      <p:sp>
        <p:nvSpPr>
          <p:cNvPr id="111" name="최외곽 윤곽선 추출"/>
          <p:cNvSpPr txBox="1"/>
          <p:nvPr/>
        </p:nvSpPr>
        <p:spPr>
          <a:xfrm>
            <a:off x="3689846" y="3245048"/>
            <a:ext cx="786309"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최외곽 윤곽선 추출</a:t>
            </a:r>
            <a:endParaRPr lang="en-US" sz="800" dirty="0"/>
          </a:p>
        </p:txBody>
      </p:sp>
      <p:sp>
        <p:nvSpPr>
          <p:cNvPr id="112" name="동·서·남·북 윤곽선 정의"/>
          <p:cNvSpPr txBox="1"/>
          <p:nvPr/>
        </p:nvSpPr>
        <p:spPr>
          <a:xfrm>
            <a:off x="4971138" y="3245048"/>
            <a:ext cx="95422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동·서·남·북 윤곽선 정의</a:t>
            </a:r>
            <a:endParaRPr lang="en-US" sz="800" dirty="0"/>
          </a:p>
        </p:txBody>
      </p:sp>
      <p:sp>
        <p:nvSpPr>
          <p:cNvPr id="113" name="방향별 최외곽 개구부 정의"/>
          <p:cNvSpPr txBox="1"/>
          <p:nvPr/>
        </p:nvSpPr>
        <p:spPr>
          <a:xfrm>
            <a:off x="6308506" y="3245048"/>
            <a:ext cx="1073489"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방향별 최외곽 개구부 정의</a:t>
            </a:r>
            <a:endParaRPr lang="en-US" sz="800" dirty="0"/>
          </a:p>
        </p:txBody>
      </p:sp>
      <p:sp>
        <p:nvSpPr>
          <p:cNvPr id="114" name="입면도 인식"/>
          <p:cNvSpPr txBox="1"/>
          <p:nvPr/>
        </p:nvSpPr>
        <p:spPr>
          <a:xfrm>
            <a:off x="863600" y="3702248"/>
            <a:ext cx="711498" cy="184150"/>
          </a:xfrm>
          <a:prstGeom prst="rect">
            <a:avLst/>
          </a:prstGeom>
          <a:noFill/>
          <a:ln/>
        </p:spPr>
        <p:txBody>
          <a:bodyPr wrap="none" lIns="0" tIns="0" rIns="0" bIns="0" rtlCol="0" anchor="ctr"/>
          <a:lstStyle/>
          <a:p>
            <a:pPr algn="l" indent="0" marL="0">
              <a:buNone/>
            </a:pPr>
            <a:r>
              <a:rPr lang="ko-KR" altLang="en-US" sz="1200" spc="-42" kern="0" dirty="0">
                <a:solidFill>
                  <a:srgbClr val="141820"/>
                </a:solidFill>
                <a:latin typeface="Pretendard ExtraBold" pitchFamily="34" charset="0"/>
                <a:ea typeface="Pretendard ExtraBold" pitchFamily="34" charset="-127"/>
                <a:cs typeface="Pretendard ExtraBold" pitchFamily="34" charset="-120"/>
              </a:rPr>
              <a:t>입면도 인식</a:t>
            </a:r>
            <a:endParaRPr lang="en-US" sz="1200" dirty="0"/>
          </a:p>
        </p:txBody>
      </p:sp>
      <p:sp>
        <p:nvSpPr>
          <p:cNvPr id="115" name="같은 층의 창·문끼리 묶어 층 높이 파악"/>
          <p:cNvSpPr txBox="1"/>
          <p:nvPr/>
        </p:nvSpPr>
        <p:spPr>
          <a:xfrm>
            <a:off x="1737023" y="3718123"/>
            <a:ext cx="1995321"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같은 층의 창·문끼리 묶어 </a:t>
            </a:r>
            <a:pPr algn="l" indent="0" marL="0">
              <a:buNone/>
            </a:pPr>
            <a:r>
              <a:rPr lang="ko-KR" altLang="en-US" sz="1050" b="1" spc="-26" kern="0" dirty="0">
                <a:solidFill>
                  <a:srgbClr val="102A4C"/>
                </a:solidFill>
                <a:latin typeface="Pretendard" pitchFamily="34" charset="0"/>
                <a:ea typeface="Pretendard" pitchFamily="34" charset="-127"/>
                <a:cs typeface="Pretendard" pitchFamily="34" charset="-120"/>
              </a:rPr>
              <a:t>층 높이 파악</a:t>
            </a:r>
            <a:endParaRPr lang="en-US" sz="1050" dirty="0"/>
          </a:p>
        </p:txBody>
      </p:sp>
      <p:sp>
        <p:nvSpPr>
          <p:cNvPr id="116" name="입면도 이미지"/>
          <p:cNvSpPr txBox="1"/>
          <p:nvPr/>
        </p:nvSpPr>
        <p:spPr>
          <a:xfrm>
            <a:off x="1857077" y="6077148"/>
            <a:ext cx="59114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입면도 이미지</a:t>
            </a:r>
            <a:endParaRPr lang="en-US" sz="800" dirty="0"/>
          </a:p>
        </p:txBody>
      </p:sp>
      <p:sp>
        <p:nvSpPr>
          <p:cNvPr id="117" name="입면도 객체 인식"/>
          <p:cNvSpPr txBox="1"/>
          <p:nvPr/>
        </p:nvSpPr>
        <p:spPr>
          <a:xfrm>
            <a:off x="3764756" y="6077148"/>
            <a:ext cx="699988"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입면도 객체 인식</a:t>
            </a:r>
            <a:endParaRPr lang="en-US" sz="800" dirty="0"/>
          </a:p>
        </p:txBody>
      </p:sp>
      <p:sp>
        <p:nvSpPr>
          <p:cNvPr id="118" name="DBSCAN 층별 클러스터링"/>
          <p:cNvSpPr txBox="1"/>
          <p:nvPr/>
        </p:nvSpPr>
        <p:spPr>
          <a:xfrm>
            <a:off x="5515546" y="6077148"/>
            <a:ext cx="1122710"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DBSCAN 층별 클러스터링</a:t>
            </a:r>
            <a:endParaRPr lang="en-US" sz="800" dirty="0"/>
          </a:p>
        </p:txBody>
      </p:sp>
      <p:sp>
        <p:nvSpPr>
          <p:cNvPr id="119" name="STEP 3기법"/>
          <p:cNvSpPr txBox="1"/>
          <p:nvPr/>
        </p:nvSpPr>
        <p:spPr>
          <a:xfrm>
            <a:off x="7823200" y="1301948"/>
            <a:ext cx="636687" cy="12065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pPr algn="l" indent="0" marL="0">
              <a:buNone/>
            </a:pPr>
            <a:r>
              <a:rPr lang="ko-KR" altLang="en-US" sz="800" b="1" dirty="0">
                <a:solidFill>
                  <a:srgbClr val="2B4A78"/>
                </a:solidFill>
                <a:latin typeface="Pretendard" pitchFamily="34" charset="0"/>
                <a:ea typeface="Pretendard" pitchFamily="34" charset="-127"/>
                <a:cs typeface="Pretendard" pitchFamily="34" charset="-120"/>
              </a:rPr>
              <a:t>기법</a:t>
            </a:r>
            <a:endParaRPr lang="en-US" sz="750" dirty="0"/>
          </a:p>
        </p:txBody>
      </p:sp>
      <p:sp>
        <p:nvSpPr>
          <p:cNvPr id="120" name="축척 보정"/>
          <p:cNvSpPr txBox="1"/>
          <p:nvPr/>
        </p:nvSpPr>
        <p:spPr>
          <a:xfrm>
            <a:off x="8510687" y="12638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보정</a:t>
            </a:r>
            <a:endParaRPr lang="en-US" sz="1300" dirty="0"/>
          </a:p>
        </p:txBody>
      </p:sp>
      <p:sp>
        <p:nvSpPr>
          <p:cNvPr id="121" name="LMM(GPT-4o)"/>
          <p:cNvSpPr txBox="1"/>
          <p:nvPr/>
        </p:nvSpPr>
        <p:spPr>
          <a:xfrm>
            <a:off x="9324479" y="1304528"/>
            <a:ext cx="71159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LMM(GPT-4o)</a:t>
            </a:r>
            <a:endParaRPr lang="en-US" sz="800" dirty="0"/>
          </a:p>
        </p:txBody>
      </p:sp>
      <p:sp>
        <p:nvSpPr>
          <p:cNvPr id="122" name="LMM이 도면의 축척·용지 크기를 읽어"/>
          <p:cNvSpPr txBox="1"/>
          <p:nvPr/>
        </p:nvSpPr>
        <p:spPr>
          <a:xfrm>
            <a:off x="8026400" y="1854398"/>
            <a:ext cx="2104594"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LMM이 도면의 축척·용지 크기를 읽어</a:t>
            </a:r>
            <a:endParaRPr lang="en-US" sz="1100" dirty="0"/>
          </a:p>
        </p:txBody>
      </p:sp>
      <p:sp>
        <p:nvSpPr>
          <p:cNvPr id="123" name="픽셀을 실제 길이로 변환"/>
          <p:cNvSpPr txBox="1"/>
          <p:nvPr/>
        </p:nvSpPr>
        <p:spPr>
          <a:xfrm>
            <a:off x="8026400" y="2063948"/>
            <a:ext cx="1340205"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픽셀을 실제 길이로 변환</a:t>
            </a:r>
            <a:endParaRPr lang="en-US" sz="1100" dirty="0"/>
          </a:p>
        </p:txBody>
      </p:sp>
      <p:sp>
        <p:nvSpPr>
          <p:cNvPr id="124" name="예시"/>
          <p:cNvSpPr txBox="1"/>
          <p:nvPr/>
        </p:nvSpPr>
        <p:spPr>
          <a:xfrm>
            <a:off x="8108950" y="2473523"/>
            <a:ext cx="223143" cy="114300"/>
          </a:xfrm>
          <a:prstGeom prst="rect">
            <a:avLst/>
          </a:prstGeom>
          <a:noFill/>
          <a:ln/>
        </p:spPr>
        <p:txBody>
          <a:bodyPr wrap="none" lIns="0" tIns="0" rIns="0" bIns="0" rtlCol="0" anchor="ctr"/>
          <a:lstStyle/>
          <a:p>
            <a:pPr algn="l" indent="0" marL="0">
              <a:buNone/>
            </a:pPr>
            <a:r>
              <a:rPr lang="ko-KR" altLang="en-US" sz="750" spc="30" kern="0" dirty="0">
                <a:solidFill>
                  <a:srgbClr val="737C8B"/>
                </a:solidFill>
                <a:latin typeface="Pretendard ExtraBold" pitchFamily="34" charset="0"/>
                <a:ea typeface="Pretendard ExtraBold" pitchFamily="34" charset="-127"/>
                <a:cs typeface="Pretendard ExtraBold" pitchFamily="34" charset="-120"/>
              </a:rPr>
              <a:t>예시</a:t>
            </a:r>
            <a:endParaRPr lang="en-US" sz="750" dirty="0"/>
          </a:p>
        </p:txBody>
      </p:sp>
      <p:sp>
        <p:nvSpPr>
          <p:cNvPr id="125" name="도면 이미지"/>
          <p:cNvSpPr txBox="1"/>
          <p:nvPr/>
        </p:nvSpPr>
        <p:spPr>
          <a:xfrm>
            <a:off x="8440043" y="2470348"/>
            <a:ext cx="504130"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도면 이미지</a:t>
            </a:r>
            <a:endParaRPr lang="en-US" sz="800" dirty="0"/>
          </a:p>
        </p:txBody>
      </p:sp>
      <p:sp>
        <p:nvSpPr>
          <p:cNvPr id="126" name="4,963px"/>
          <p:cNvSpPr txBox="1"/>
          <p:nvPr/>
        </p:nvSpPr>
        <p:spPr>
          <a:xfrm>
            <a:off x="9463484" y="4324548"/>
            <a:ext cx="478532" cy="127000"/>
          </a:xfrm>
          <a:prstGeom prst="rect">
            <a:avLst/>
          </a:prstGeom>
          <a:noFill/>
          <a:ln/>
        </p:spPr>
        <p:txBody>
          <a:bodyPr wrap="none" lIns="0" tIns="0" rIns="0" bIns="0" rtlCol="0" anchor="ctr"/>
          <a:lstStyle/>
          <a:p>
            <a:pPr algn="ctr" indent="0" marL="0">
              <a:buNone/>
            </a:pPr>
            <a:r>
              <a:rPr lang="ko-KR" altLang="en-US" sz="850" b="1" spc="-12" kern="0" dirty="0">
                <a:solidFill>
                  <a:srgbClr val="3F4654"/>
                </a:solidFill>
                <a:latin typeface="Pretendard" pitchFamily="34" charset="0"/>
                <a:ea typeface="Pretendard" pitchFamily="34" charset="-127"/>
                <a:cs typeface="Pretendard" pitchFamily="34" charset="-120"/>
              </a:rPr>
              <a:t>4,963</a:t>
            </a:r>
            <a:pPr algn="ctr" indent="0" marL="0">
              <a:buNone/>
            </a:pPr>
            <a:r>
              <a:rPr lang="ko-KR" altLang="en-US" sz="750" spc="-12" kern="0" dirty="0">
                <a:solidFill>
                  <a:srgbClr val="737C8B"/>
                </a:solidFill>
                <a:latin typeface="Pretendard SemiBold" pitchFamily="34" charset="0"/>
                <a:ea typeface="Pretendard SemiBold" pitchFamily="34" charset="-127"/>
                <a:cs typeface="Pretendard SemiBold" pitchFamily="34" charset="-120"/>
              </a:rPr>
              <a:t>px</a:t>
            </a:r>
            <a:endParaRPr lang="en-US" sz="850" dirty="0"/>
          </a:p>
        </p:txBody>
      </p:sp>
      <p:sp>
        <p:nvSpPr>
          <p:cNvPr id="127" name="3,509px"/>
          <p:cNvSpPr txBox="1"/>
          <p:nvPr/>
        </p:nvSpPr>
        <p:spPr>
          <a:xfrm>
            <a:off x="8043168" y="3378398"/>
            <a:ext cx="478532" cy="127000"/>
          </a:xfrm>
          <a:prstGeom prst="rect">
            <a:avLst/>
          </a:prstGeom>
          <a:noFill/>
          <a:ln/>
        </p:spPr>
        <p:txBody>
          <a:bodyPr wrap="none" lIns="0" tIns="0" rIns="0" bIns="0" rtlCol="0" anchor="ctr"/>
          <a:lstStyle/>
          <a:p>
            <a:pPr algn="r" indent="0" marL="0">
              <a:buNone/>
            </a:pPr>
            <a:r>
              <a:rPr lang="ko-KR" altLang="en-US" sz="850" b="1" spc="-12" kern="0" dirty="0">
                <a:solidFill>
                  <a:srgbClr val="3F4654"/>
                </a:solidFill>
                <a:latin typeface="Pretendard" pitchFamily="34" charset="0"/>
                <a:ea typeface="Pretendard" pitchFamily="34" charset="-127"/>
                <a:cs typeface="Pretendard" pitchFamily="34" charset="-120"/>
              </a:rPr>
              <a:t>3,509</a:t>
            </a:r>
            <a:pPr algn="r" indent="0" marL="0">
              <a:buNone/>
            </a:pPr>
            <a:r>
              <a:rPr lang="ko-KR" altLang="en-US" sz="750" spc="-12" kern="0" dirty="0">
                <a:solidFill>
                  <a:srgbClr val="737C8B"/>
                </a:solidFill>
                <a:latin typeface="Pretendard SemiBold" pitchFamily="34" charset="0"/>
                <a:ea typeface="Pretendard SemiBold" pitchFamily="34" charset="-127"/>
                <a:cs typeface="Pretendard SemiBold" pitchFamily="34" charset="-120"/>
              </a:rPr>
              <a:t>px</a:t>
            </a:r>
            <a:endParaRPr lang="en-US" sz="850" dirty="0"/>
          </a:p>
        </p:txBody>
      </p:sp>
      <p:sp>
        <p:nvSpPr>
          <p:cNvPr id="128" name="LMM"/>
          <p:cNvSpPr txBox="1"/>
          <p:nvPr/>
        </p:nvSpPr>
        <p:spPr>
          <a:xfrm>
            <a:off x="8445500" y="4876998"/>
            <a:ext cx="368697" cy="165100"/>
          </a:xfrm>
          <a:prstGeom prst="rect">
            <a:avLst/>
          </a:prstGeom>
          <a:noFill/>
          <a:ln/>
        </p:spPr>
        <p:txBody>
          <a:bodyPr wrap="none" lIns="0" tIns="0" rIns="0" bIns="0" rtlCol="0" anchor="ctr"/>
          <a:lstStyle/>
          <a:p>
            <a:pPr algn="l" indent="0" marL="0">
              <a:buNone/>
            </a:pPr>
            <a:r>
              <a:rPr lang="ko-KR" altLang="en-US" sz="1100" spc="-22" kern="0" dirty="0">
                <a:solidFill>
                  <a:srgbClr val="FFFFFF"/>
                </a:solidFill>
                <a:latin typeface="Pretendard ExtraBold" pitchFamily="34" charset="0"/>
                <a:ea typeface="Pretendard ExtraBold" pitchFamily="34" charset="-127"/>
                <a:cs typeface="Pretendard ExtraBold" pitchFamily="34" charset="-120"/>
              </a:rPr>
              <a:t>LMM</a:t>
            </a:r>
            <a:endParaRPr lang="en-US" sz="1100" dirty="0"/>
          </a:p>
        </p:txBody>
      </p:sp>
      <p:sp>
        <p:nvSpPr>
          <p:cNvPr id="129" name="축척·용지 크기"/>
          <p:cNvSpPr txBox="1"/>
          <p:nvPr/>
        </p:nvSpPr>
        <p:spPr>
          <a:xfrm>
            <a:off x="9677400" y="4896048"/>
            <a:ext cx="617637"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축척·용지 크기</a:t>
            </a:r>
            <a:endParaRPr lang="en-US" sz="800" dirty="0"/>
          </a:p>
        </p:txBody>
      </p:sp>
      <p:sp>
        <p:nvSpPr>
          <p:cNvPr id="130" name="1/200 (A3)"/>
          <p:cNvSpPr txBox="1"/>
          <p:nvPr/>
        </p:nvSpPr>
        <p:spPr>
          <a:xfrm>
            <a:off x="10413702" y="4864298"/>
            <a:ext cx="838498" cy="184150"/>
          </a:xfrm>
          <a:prstGeom prst="rect">
            <a:avLst/>
          </a:prstGeom>
          <a:noFill/>
          <a:ln/>
        </p:spPr>
        <p:txBody>
          <a:bodyPr wrap="none" lIns="0" tIns="0" rIns="0" bIns="0" rtlCol="0" anchor="ctr"/>
          <a:lstStyle/>
          <a:p>
            <a:pPr algn="l" indent="0" marL="0">
              <a:buNone/>
            </a:pPr>
            <a:r>
              <a:rPr lang="ko-KR" altLang="en-US" sz="1200" spc="-12" kern="0" dirty="0">
                <a:solidFill>
                  <a:srgbClr val="102A4C"/>
                </a:solidFill>
                <a:latin typeface="Pretendard ExtraBold" pitchFamily="34" charset="0"/>
                <a:ea typeface="Pretendard ExtraBold" pitchFamily="34" charset="-127"/>
                <a:cs typeface="Pretendard ExtraBold" pitchFamily="34" charset="-120"/>
              </a:rPr>
              <a:t>1/200 (A3)</a:t>
            </a:r>
            <a:endParaRPr lang="en-US" sz="1200" dirty="0"/>
          </a:p>
        </p:txBody>
      </p:sp>
      <p:sp>
        <p:nvSpPr>
          <p:cNvPr id="131" name="1 px"/>
          <p:cNvSpPr txBox="1"/>
          <p:nvPr/>
        </p:nvSpPr>
        <p:spPr>
          <a:xfrm>
            <a:off x="9391650" y="5626298"/>
            <a:ext cx="348357" cy="196850"/>
          </a:xfrm>
          <a:prstGeom prst="rect">
            <a:avLst/>
          </a:prstGeom>
          <a:noFill/>
          <a:ln/>
        </p:spPr>
        <p:txBody>
          <a:bodyPr wrap="none" lIns="0" tIns="0" rIns="0" bIns="0" rtlCol="0" anchor="ctr"/>
          <a:lstStyle/>
          <a:p>
            <a:pPr algn="l" indent="0" marL="0">
              <a:buNone/>
            </a:pPr>
            <a:r>
              <a:rPr lang="ko-KR" altLang="en-US" sz="1300" b="1" spc="-12" kern="0" dirty="0">
                <a:solidFill>
                  <a:srgbClr val="3F4654"/>
                </a:solidFill>
                <a:latin typeface="Pretendard" pitchFamily="34" charset="0"/>
                <a:ea typeface="Pretendard" pitchFamily="34" charset="-127"/>
                <a:cs typeface="Pretendard" pitchFamily="34" charset="-120"/>
              </a:rPr>
              <a:t>1 px</a:t>
            </a:r>
            <a:endParaRPr lang="en-US" sz="1300" dirty="0"/>
          </a:p>
        </p:txBody>
      </p:sp>
      <p:sp>
        <p:nvSpPr>
          <p:cNvPr id="132" name="=33.88mm"/>
          <p:cNvSpPr txBox="1"/>
          <p:nvPr/>
        </p:nvSpPr>
        <p:spPr>
          <a:xfrm>
            <a:off x="9740007" y="5505648"/>
            <a:ext cx="1347357" cy="349250"/>
          </a:xfrm>
          <a:prstGeom prst="rect">
            <a:avLst/>
          </a:prstGeom>
          <a:noFill/>
          <a:ln/>
        </p:spPr>
        <p:txBody>
          <a:bodyPr wrap="none" lIns="0" tIns="0" rIns="0" bIns="0" rtlCol="0" anchor="ctr"/>
          <a:lstStyle/>
          <a:p>
            <a:pPr algn="l" indent="0" marL="0">
              <a:buNone/>
            </a:pPr>
            <a:r>
              <a:rPr lang="ko-KR" altLang="en-US" sz="1300" spc="-12" kern="0" dirty="0">
                <a:solidFill>
                  <a:srgbClr val="737C8B"/>
                </a:solidFill>
                <a:latin typeface="Pretendard SemiBold" pitchFamily="34" charset="0"/>
                <a:ea typeface="Pretendard SemiBold" pitchFamily="34" charset="-127"/>
                <a:cs typeface="Pretendard SemiBold" pitchFamily="34" charset="-120"/>
              </a:rPr>
              <a:t>=</a:t>
            </a:r>
            <a:pPr algn="l" indent="0" marL="0">
              <a:buNone/>
            </a:pPr>
            <a:r>
              <a:rPr lang="ko-KR" altLang="en-US" sz="2300" spc="-69" kern="0" dirty="0">
                <a:solidFill>
                  <a:srgbClr val="102A4C"/>
                </a:solidFill>
                <a:latin typeface="Pretendard ExtraBold" pitchFamily="34" charset="0"/>
                <a:ea typeface="Pretendard ExtraBold" pitchFamily="34" charset="-127"/>
                <a:cs typeface="Pretendard ExtraBold" pitchFamily="34" charset="-120"/>
              </a:rPr>
              <a:t>33.88</a:t>
            </a:r>
            <a:pPr algn="l" indent="0" marL="0">
              <a:buNone/>
            </a:pPr>
            <a:r>
              <a:rPr lang="ko-KR" altLang="en-US" sz="1200" b="1" dirty="0">
                <a:solidFill>
                  <a:srgbClr val="102A4C"/>
                </a:solidFill>
                <a:latin typeface="Pretendard" pitchFamily="34" charset="0"/>
                <a:ea typeface="Pretendard" pitchFamily="34" charset="-127"/>
                <a:cs typeface="Pretendard" pitchFamily="34" charset="-120"/>
              </a:rPr>
              <a:t>mm</a:t>
            </a:r>
            <a:endParaRPr lang="en-US" sz="1300" dirty="0"/>
          </a:p>
        </p:txBody>
      </p:sp>
      <p:sp>
        <p:nvSpPr>
          <p:cNvPr id="133" name="픽셀 크기를 실제 길이로 환산"/>
          <p:cNvSpPr txBox="1"/>
          <p:nvPr/>
        </p:nvSpPr>
        <p:spPr>
          <a:xfrm>
            <a:off x="9391650" y="5867598"/>
            <a:ext cx="1193385" cy="120650"/>
          </a:xfrm>
          <a:prstGeom prst="rect">
            <a:avLst/>
          </a:prstGeom>
          <a:noFill/>
          <a:ln/>
        </p:spPr>
        <p:txBody>
          <a:bodyPr wrap="none" lIns="0" tIns="0" rIns="0" bIns="0" rtlCol="0" anchor="ctr"/>
          <a:lstStyle/>
          <a:p>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픽셀 크기를 실제 길이로 환산</a:t>
            </a:r>
            <a:endParaRPr lang="en-US" sz="800" dirty="0"/>
          </a:p>
        </p:txBody>
      </p:sp>
      <p:sp>
        <p:nvSpPr>
          <p:cNvPr id="134"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135" name="07 / 12"/>
          <p:cNvSpPr txBox="1"/>
          <p:nvPr/>
        </p:nvSpPr>
        <p:spPr>
          <a:xfrm>
            <a:off x="11243171" y="6472238"/>
            <a:ext cx="390029"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07</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2116435" y="1622822"/>
            <a:ext cx="917178"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s8-ch::after"/>
          <p:cNvSpPr/>
          <p:nvPr/>
        </p:nvSpPr>
        <p:spPr>
          <a:xfrm>
            <a:off x="3189188" y="1721247"/>
            <a:ext cx="2779812"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fig s8-mfig"/>
          <p:cNvSpPr/>
          <p:nvPr/>
        </p:nvSpPr>
        <p:spPr>
          <a:xfrm>
            <a:off x="612775" y="1997472"/>
            <a:ext cx="5353050" cy="3524250"/>
          </a:xfrm>
          <a:prstGeom prst="roundRect">
            <a:avLst>
              <a:gd name="adj" fmla="val 2072"/>
            </a:avLst>
          </a:prstGeom>
          <a:solidFill>
            <a:srgbClr val="FFFFFF"/>
          </a:solidFill>
          <a:ln w="6350">
            <a:solidFill>
              <a:srgbClr val="E1E5EB"/>
            </a:solidFill>
            <a:miter lim="800000"/>
          </a:ln>
        </p:spPr>
        <p:txBody>
          <a:bodyPr rtlCol="0" anchor="ctr"/>
          <a:lstStyle/>
          <a:p>
            <a:pPr algn="ctr"/>
            <a:endParaRPr lang="ko-KR" dirty="0"/>
          </a:p>
        </p:txBody>
      </p:sp>
      <p:pic>
        <p:nvPicPr>
          <p:cNvPr id="12" name="img" descr="img">    </p:cNvPr>
          <p:cNvPicPr>
            <a:picLocks noChangeAspect="1"/>
          </p:cNvPicPr>
          <p:nvPr/>
        </p:nvPicPr>
        <p:blipFill>
          <a:blip r:embed="rId1"/>
          <a:stretch>
            <a:fillRect/>
          </a:stretch>
        </p:blipFill>
        <p:spPr>
          <a:xfrm>
            <a:off x="1320800" y="2114947"/>
            <a:ext cx="4277783" cy="3100917"/>
          </a:xfrm>
          <a:prstGeom prst="rect">
            <a:avLst/>
          </a:prstGeom>
        </p:spPr>
      </p:pic>
      <p:sp>
        <p:nvSpPr>
          <p:cNvPr id="13" name="card s8-steps"/>
          <p:cNvSpPr/>
          <p:nvPr/>
        </p:nvSpPr>
        <p:spPr>
          <a:xfrm>
            <a:off x="609600" y="5677297"/>
            <a:ext cx="5359400" cy="660400"/>
          </a:xfrm>
          <a:prstGeom prst="roundRect">
            <a:avLst>
              <a:gd name="adj" fmla="val 19231"/>
            </a:avLst>
          </a:prstGeom>
          <a:solidFill>
            <a:srgbClr val="F3F5F8"/>
          </a:solidFill>
          <a:ln>
            <a:noFill/>
          </a:ln>
        </p:spPr>
        <p:txBody>
          <a:bodyPr rtlCol="0" anchor="ctr"/>
          <a:lstStyle/>
          <a:p>
            <a:pPr algn="ctr"/>
            <a:endParaRPr lang="ko-KR" dirty="0"/>
          </a:p>
        </p:txBody>
      </p:sp>
      <p:sp>
        <p:nvSpPr>
          <p:cNvPr id="14" name="no"/>
          <p:cNvSpPr/>
          <p:nvPr/>
        </p:nvSpPr>
        <p:spPr>
          <a:xfrm>
            <a:off x="762000" y="5893197"/>
            <a:ext cx="228600" cy="228600"/>
          </a:xfrm>
          <a:prstGeom prst="ellipse">
            <a:avLst/>
          </a:prstGeom>
          <a:solidFill>
            <a:srgbClr val="102A4C"/>
          </a:solidFill>
          <a:ln>
            <a:noFill/>
          </a:ln>
        </p:spPr>
        <p:txBody>
          <a:bodyPr rtlCol="0" anchor="ctr"/>
          <a:lstStyle/>
          <a:p>
            <a:pPr algn="ctr"/>
            <a:endParaRPr lang="ko-KR" dirty="0"/>
          </a:p>
        </p:txBody>
      </p:sp>
      <p:sp>
        <p:nvSpPr>
          <p:cNvPr id="15" name="s8-chev path"/>
          <p:cNvSpPr/>
          <p:nvPr/>
        </p:nvSpPr>
        <p:spPr>
          <a:xfrm>
            <a:off x="2563118" y="5963047"/>
            <a:ext cx="44450" cy="88900"/>
          </a:xfrm>
          <a:custGeom>
            <a:avLst/>
            <a:gdLst/>
            <a:ahLst/>
            <a:cxnLst/>
            <a:rect l="0" t="0" r="r" b="b"/>
            <a:pathLst>
              <a:path w="44450" h="88900" fill="none">
                <a:moveTo>
                  <a:pt x="0" y="0"/>
                </a:moveTo>
                <a:lnTo>
                  <a:pt x="44450" y="44450"/>
                </a:lnTo>
                <a:lnTo>
                  <a:pt x="0" y="88900"/>
                </a:lnTo>
              </a:path>
            </a:pathLst>
          </a:custGeom>
          <a:noFill/>
          <a:ln w="15240" cap="rnd">
            <a:solidFill>
              <a:srgbClr val="8D96A3"/>
            </a:solidFill>
            <a:round/>
          </a:ln>
        </p:spPr>
        <p:txBody>
          <a:bodyPr rtlCol="0" anchor="ctr"/>
          <a:lstStyle/>
          <a:p>
            <a:pPr algn="ctr"/>
            <a:endParaRPr lang="ko-KR" dirty="0"/>
          </a:p>
        </p:txBody>
      </p:sp>
      <p:sp>
        <p:nvSpPr>
          <p:cNvPr id="16" name="no"/>
          <p:cNvSpPr/>
          <p:nvPr/>
        </p:nvSpPr>
        <p:spPr>
          <a:xfrm>
            <a:off x="2823964" y="5893197"/>
            <a:ext cx="228600" cy="228600"/>
          </a:xfrm>
          <a:prstGeom prst="ellipse">
            <a:avLst/>
          </a:prstGeom>
          <a:solidFill>
            <a:srgbClr val="102A4C"/>
          </a:solidFill>
          <a:ln>
            <a:noFill/>
          </a:ln>
        </p:spPr>
        <p:txBody>
          <a:bodyPr rtlCol="0" anchor="ctr"/>
          <a:lstStyle/>
          <a:p>
            <a:pPr algn="ctr"/>
            <a:endParaRPr lang="ko-KR" dirty="0"/>
          </a:p>
        </p:txBody>
      </p:sp>
      <p:sp>
        <p:nvSpPr>
          <p:cNvPr id="17" name="s8-chev path"/>
          <p:cNvSpPr/>
          <p:nvPr/>
        </p:nvSpPr>
        <p:spPr>
          <a:xfrm>
            <a:off x="4248646" y="5963047"/>
            <a:ext cx="44450" cy="88900"/>
          </a:xfrm>
          <a:custGeom>
            <a:avLst/>
            <a:gdLst/>
            <a:ahLst/>
            <a:cxnLst/>
            <a:rect l="0" t="0" r="r" b="b"/>
            <a:pathLst>
              <a:path w="44450" h="88900" fill="none">
                <a:moveTo>
                  <a:pt x="0" y="0"/>
                </a:moveTo>
                <a:lnTo>
                  <a:pt x="44450" y="44450"/>
                </a:lnTo>
                <a:lnTo>
                  <a:pt x="0" y="88900"/>
                </a:lnTo>
              </a:path>
            </a:pathLst>
          </a:custGeom>
          <a:noFill/>
          <a:ln w="15240" cap="rnd">
            <a:solidFill>
              <a:srgbClr val="8D96A3"/>
            </a:solidFill>
            <a:round/>
          </a:ln>
        </p:spPr>
        <p:txBody>
          <a:bodyPr rtlCol="0" anchor="ctr"/>
          <a:lstStyle/>
          <a:p>
            <a:pPr algn="ctr"/>
            <a:endParaRPr lang="ko-KR" dirty="0"/>
          </a:p>
        </p:txBody>
      </p:sp>
      <p:sp>
        <p:nvSpPr>
          <p:cNvPr id="18" name="no"/>
          <p:cNvSpPr/>
          <p:nvPr/>
        </p:nvSpPr>
        <p:spPr>
          <a:xfrm>
            <a:off x="4509492" y="5893197"/>
            <a:ext cx="228600" cy="228600"/>
          </a:xfrm>
          <a:prstGeom prst="ellipse">
            <a:avLst/>
          </a:prstGeom>
          <a:solidFill>
            <a:srgbClr val="102A4C"/>
          </a:solidFill>
          <a:ln>
            <a:noFill/>
          </a:ln>
        </p:spPr>
        <p:txBody>
          <a:bodyPr rtlCol="0" anchor="ctr"/>
          <a:lstStyle/>
          <a:p>
            <a:pPr algn="ctr"/>
            <a:endParaRPr lang="ko-KR" dirty="0"/>
          </a:p>
        </p:txBody>
      </p:sp>
      <p:sp>
        <p:nvSpPr>
          <p:cNvPr id="19" name="chip tint"/>
          <p:cNvSpPr/>
          <p:nvPr/>
        </p:nvSpPr>
        <p:spPr>
          <a:xfrm>
            <a:off x="7739162" y="1622822"/>
            <a:ext cx="1131491"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0" name="chip tint"/>
          <p:cNvSpPr/>
          <p:nvPr/>
        </p:nvSpPr>
        <p:spPr>
          <a:xfrm>
            <a:off x="8978602" y="1622822"/>
            <a:ext cx="618927"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1" name="s8-ch::after"/>
          <p:cNvSpPr/>
          <p:nvPr/>
        </p:nvSpPr>
        <p:spPr>
          <a:xfrm>
            <a:off x="9753104" y="1721247"/>
            <a:ext cx="1829296" cy="12700"/>
          </a:xfrm>
          <a:prstGeom prst="roundRect">
            <a:avLst>
              <a:gd name="adj" fmla="val 50000"/>
            </a:avLst>
          </a:prstGeom>
          <a:solidFill>
            <a:srgbClr val="102A4C"/>
          </a:solidFill>
          <a:ln>
            <a:noFill/>
          </a:ln>
        </p:spPr>
        <p:txBody>
          <a:bodyPr rtlCol="0" anchor="ctr"/>
          <a:lstStyle/>
          <a:p>
            <a:pPr algn="ctr"/>
            <a:endParaRPr lang="ko-KR" dirty="0"/>
          </a:p>
        </p:txBody>
      </p:sp>
      <p:sp>
        <p:nvSpPr>
          <p:cNvPr id="22" name="fig s8-sfig"/>
          <p:cNvSpPr/>
          <p:nvPr/>
        </p:nvSpPr>
        <p:spPr>
          <a:xfrm>
            <a:off x="6226175" y="1997472"/>
            <a:ext cx="5353050" cy="1390650"/>
          </a:xfrm>
          <a:prstGeom prst="roundRect">
            <a:avLst>
              <a:gd name="adj" fmla="val 5251"/>
            </a:avLst>
          </a:prstGeom>
          <a:solidFill>
            <a:srgbClr val="FFFFFF"/>
          </a:solidFill>
          <a:ln w="6350">
            <a:solidFill>
              <a:srgbClr val="E1E5EB"/>
            </a:solidFill>
            <a:miter lim="800000"/>
          </a:ln>
        </p:spPr>
        <p:txBody>
          <a:bodyPr rtlCol="0" anchor="ctr"/>
          <a:lstStyle/>
          <a:p>
            <a:pPr algn="ctr"/>
            <a:endParaRPr lang="ko-KR" dirty="0"/>
          </a:p>
        </p:txBody>
      </p:sp>
      <p:pic>
        <p:nvPicPr>
          <p:cNvPr id="23" name="img" descr="img">    </p:cNvPr>
          <p:cNvPicPr>
            <a:picLocks noChangeAspect="1"/>
          </p:cNvPicPr>
          <p:nvPr/>
        </p:nvPicPr>
        <p:blipFill>
          <a:blip r:embed="rId2"/>
          <a:stretch>
            <a:fillRect/>
          </a:stretch>
        </p:blipFill>
        <p:spPr>
          <a:xfrm>
            <a:off x="6373283" y="2102247"/>
            <a:ext cx="5069417" cy="869950"/>
          </a:xfrm>
          <a:prstGeom prst="rect">
            <a:avLst/>
          </a:prstGeom>
        </p:spPr>
      </p:pic>
      <p:sp>
        <p:nvSpPr>
          <p:cNvPr id="24" name="s8-down line"/>
          <p:cNvSpPr/>
          <p:nvPr/>
        </p:nvSpPr>
        <p:spPr>
          <a:xfrm>
            <a:off x="7404100" y="3429397"/>
            <a:ext cx="1" cy="82550"/>
          </a:xfrm>
          <a:custGeom>
            <a:avLst/>
            <a:gdLst/>
            <a:ahLst/>
            <a:cxnLst/>
            <a:rect l="0" t="0" r="r" b="b"/>
            <a:pathLst>
              <a:path w="1" h="82550">
                <a:moveTo>
                  <a:pt x="0" y="0"/>
                </a:moveTo>
                <a:lnTo>
                  <a:pt x="0" y="8255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25" name="s8-down polygon"/>
          <p:cNvSpPr/>
          <p:nvPr/>
        </p:nvSpPr>
        <p:spPr>
          <a:xfrm>
            <a:off x="7366000" y="3499247"/>
            <a:ext cx="76200" cy="69850"/>
          </a:xfrm>
          <a:custGeom>
            <a:avLst/>
            <a:gdLst/>
            <a:ahLst/>
            <a:cxnLst/>
            <a:rect l="0" t="0" r="r" b="b"/>
            <a:pathLst>
              <a:path w="76200" h="69850" stroke="0">
                <a:moveTo>
                  <a:pt x="38100" y="69850"/>
                </a:moveTo>
                <a:lnTo>
                  <a:pt x="0" y="0"/>
                </a:lnTo>
                <a:lnTo>
                  <a:pt x="76200" y="0"/>
                </a:lnTo>
                <a:close/>
              </a:path>
            </a:pathLst>
          </a:custGeom>
          <a:solidFill>
            <a:srgbClr val="2B4A78"/>
          </a:solidFill>
          <a:ln>
            <a:noFill/>
          </a:ln>
        </p:spPr>
        <p:txBody>
          <a:bodyPr rtlCol="0" anchor="ctr"/>
          <a:lstStyle/>
          <a:p>
            <a:pPr algn="ctr"/>
            <a:endParaRPr lang="ko-KR" dirty="0"/>
          </a:p>
        </p:txBody>
      </p:sp>
      <p:sp>
        <p:nvSpPr>
          <p:cNvPr id="26" name="card s8-revit"/>
          <p:cNvSpPr/>
          <p:nvPr/>
        </p:nvSpPr>
        <p:spPr>
          <a:xfrm>
            <a:off x="6223000" y="3594497"/>
            <a:ext cx="2362200" cy="2743200"/>
          </a:xfrm>
          <a:prstGeom prst="roundRect">
            <a:avLst>
              <a:gd name="adj" fmla="val 5376"/>
            </a:avLst>
          </a:prstGeom>
          <a:solidFill>
            <a:srgbClr val="F3F5F8"/>
          </a:solidFill>
          <a:ln>
            <a:noFill/>
          </a:ln>
        </p:spPr>
        <p:txBody>
          <a:bodyPr rtlCol="0" anchor="ctr"/>
          <a:lstStyle/>
          <a:p>
            <a:pPr algn="ctr"/>
            <a:endParaRPr lang="ko-KR" dirty="0"/>
          </a:p>
        </p:txBody>
      </p:sp>
      <p:sp>
        <p:nvSpPr>
          <p:cNvPr id="27" name="ic"/>
          <p:cNvSpPr/>
          <p:nvPr/>
        </p:nvSpPr>
        <p:spPr>
          <a:xfrm>
            <a:off x="6426200" y="3860105"/>
            <a:ext cx="355600" cy="355600"/>
          </a:xfrm>
          <a:prstGeom prst="roundRect">
            <a:avLst>
              <a:gd name="adj" fmla="val 25000"/>
            </a:avLst>
          </a:prstGeom>
          <a:solidFill>
            <a:srgbClr val="102A4C"/>
          </a:solidFill>
          <a:ln>
            <a:noFill/>
          </a:ln>
        </p:spPr>
        <p:txBody>
          <a:bodyPr rtlCol="0" anchor="ctr"/>
          <a:lstStyle/>
          <a:p>
            <a:pPr algn="ctr"/>
            <a:endParaRPr lang="ko-KR" dirty="0"/>
          </a:p>
        </p:txBody>
      </p:sp>
      <p:sp>
        <p:nvSpPr>
          <p:cNvPr id="28" name="svg path"/>
          <p:cNvSpPr/>
          <p:nvPr/>
        </p:nvSpPr>
        <p:spPr>
          <a:xfrm>
            <a:off x="6534150" y="3961705"/>
            <a:ext cx="139700" cy="152400"/>
          </a:xfrm>
          <a:custGeom>
            <a:avLst/>
            <a:gdLst/>
            <a:ahLst/>
            <a:cxnLst/>
            <a:rect l="0" t="0" r="r" b="b"/>
            <a:pathLst>
              <a:path w="139700" h="152400" fill="none">
                <a:moveTo>
                  <a:pt x="69850" y="0"/>
                </a:moveTo>
                <a:lnTo>
                  <a:pt x="139700" y="38100"/>
                </a:lnTo>
                <a:lnTo>
                  <a:pt x="139700" y="114300"/>
                </a:lnTo>
                <a:lnTo>
                  <a:pt x="69850" y="152400"/>
                </a:lnTo>
                <a:lnTo>
                  <a:pt x="0" y="114300"/>
                </a:lnTo>
                <a:lnTo>
                  <a:pt x="0" y="38100"/>
                </a:lnTo>
                <a:close/>
              </a:path>
            </a:pathLst>
          </a:custGeom>
          <a:noFill/>
          <a:ln w="12700" cap="rnd">
            <a:solidFill>
              <a:srgbClr val="FFFFFF"/>
            </a:solidFill>
            <a:round/>
          </a:ln>
        </p:spPr>
        <p:txBody>
          <a:bodyPr rtlCol="0" anchor="ctr"/>
          <a:lstStyle/>
          <a:p>
            <a:pPr algn="ctr"/>
            <a:endParaRPr lang="ko-KR" dirty="0"/>
          </a:p>
        </p:txBody>
      </p:sp>
      <p:sp>
        <p:nvSpPr>
          <p:cNvPr id="29" name="svg path"/>
          <p:cNvSpPr/>
          <p:nvPr/>
        </p:nvSpPr>
        <p:spPr>
          <a:xfrm>
            <a:off x="6534150" y="3999805"/>
            <a:ext cx="139700" cy="114300"/>
          </a:xfrm>
          <a:custGeom>
            <a:avLst/>
            <a:gdLst/>
            <a:ahLst/>
            <a:cxnLst/>
            <a:rect l="0" t="0" r="r" b="b"/>
            <a:pathLst>
              <a:path w="139700" h="114300" fill="none">
                <a:moveTo>
                  <a:pt x="0" y="0"/>
                </a:moveTo>
                <a:lnTo>
                  <a:pt x="69850" y="38100"/>
                </a:lnTo>
                <a:lnTo>
                  <a:pt x="139700" y="0"/>
                </a:lnTo>
                <a:moveTo>
                  <a:pt x="69850" y="38100"/>
                </a:moveTo>
                <a:lnTo>
                  <a:pt x="69850" y="114300"/>
                </a:lnTo>
              </a:path>
            </a:pathLst>
          </a:custGeom>
          <a:noFill/>
          <a:ln w="12700" cap="rnd">
            <a:solidFill>
              <a:srgbClr val="FFFFFF"/>
            </a:solidFill>
            <a:round/>
          </a:ln>
        </p:spPr>
        <p:txBody>
          <a:bodyPr rtlCol="0" anchor="ctr"/>
          <a:lstStyle/>
          <a:p>
            <a:pPr algn="ctr"/>
            <a:endParaRPr lang="ko-KR" dirty="0"/>
          </a:p>
        </p:txBody>
      </p:sp>
      <p:sp>
        <p:nvSpPr>
          <p:cNvPr id="30" name="s8-term"/>
          <p:cNvSpPr/>
          <p:nvPr/>
        </p:nvSpPr>
        <p:spPr>
          <a:xfrm>
            <a:off x="6429375" y="4961037"/>
            <a:ext cx="1949450" cy="1107877"/>
          </a:xfrm>
          <a:prstGeom prst="roundRect">
            <a:avLst>
              <a:gd name="adj" fmla="val 7738"/>
            </a:avLst>
          </a:prstGeom>
          <a:solidFill>
            <a:srgbClr val="FFFFFF"/>
          </a:solidFill>
          <a:ln w="6350">
            <a:solidFill>
              <a:srgbClr val="E1E5EB"/>
            </a:solidFill>
            <a:miter lim="800000"/>
          </a:ln>
        </p:spPr>
        <p:txBody>
          <a:bodyPr rtlCol="0" anchor="ctr"/>
          <a:lstStyle/>
          <a:p>
            <a:pPr algn="ctr"/>
            <a:endParaRPr lang="ko-KR" dirty="0"/>
          </a:p>
        </p:txBody>
      </p:sp>
      <p:sp>
        <p:nvSpPr>
          <p:cNvPr id="31" name="s8-go line"/>
          <p:cNvSpPr/>
          <p:nvPr/>
        </p:nvSpPr>
        <p:spPr>
          <a:xfrm>
            <a:off x="8636000" y="4966097"/>
            <a:ext cx="114300" cy="1"/>
          </a:xfrm>
          <a:custGeom>
            <a:avLst/>
            <a:gdLst/>
            <a:ahLst/>
            <a:cxnLst/>
            <a:rect l="0" t="0" r="r" b="b"/>
            <a:pathLst>
              <a:path w="114300" h="1">
                <a:moveTo>
                  <a:pt x="0" y="0"/>
                </a:moveTo>
                <a:lnTo>
                  <a:pt x="114300" y="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32" name="s8-go polygon"/>
          <p:cNvSpPr/>
          <p:nvPr/>
        </p:nvSpPr>
        <p:spPr>
          <a:xfrm>
            <a:off x="8737600" y="4927997"/>
            <a:ext cx="69850" cy="76200"/>
          </a:xfrm>
          <a:custGeom>
            <a:avLst/>
            <a:gdLst/>
            <a:ahLst/>
            <a:cxnLst/>
            <a:rect l="0" t="0" r="r" b="b"/>
            <a:pathLst>
              <a:path w="69850" h="76200" stroke="0">
                <a:moveTo>
                  <a:pt x="69850" y="38100"/>
                </a:moveTo>
                <a:lnTo>
                  <a:pt x="0" y="0"/>
                </a:lnTo>
                <a:lnTo>
                  <a:pt x="0" y="76200"/>
                </a:lnTo>
                <a:close/>
              </a:path>
            </a:pathLst>
          </a:custGeom>
          <a:solidFill>
            <a:srgbClr val="2B4A78"/>
          </a:solidFill>
          <a:ln>
            <a:noFill/>
          </a:ln>
        </p:spPr>
        <p:txBody>
          <a:bodyPr rtlCol="0" anchor="ctr"/>
          <a:lstStyle/>
          <a:p>
            <a:pPr algn="ctr"/>
            <a:endParaRPr lang="ko-KR" dirty="0"/>
          </a:p>
        </p:txBody>
      </p:sp>
      <p:sp>
        <p:nvSpPr>
          <p:cNvPr id="33" name="fig s8-bim"/>
          <p:cNvSpPr/>
          <p:nvPr/>
        </p:nvSpPr>
        <p:spPr>
          <a:xfrm>
            <a:off x="8842375" y="3597672"/>
            <a:ext cx="2736850" cy="2736850"/>
          </a:xfrm>
          <a:prstGeom prst="roundRect">
            <a:avLst>
              <a:gd name="adj" fmla="val 2668"/>
            </a:avLst>
          </a:prstGeom>
          <a:solidFill>
            <a:srgbClr val="FFFFFF"/>
          </a:solidFill>
          <a:ln w="6350">
            <a:solidFill>
              <a:srgbClr val="C8CFD8"/>
            </a:solidFill>
            <a:miter lim="800000"/>
          </a:ln>
          <a:effectLst>
            <a:outerShdw blurRad="101600" dist="38100" dir="5400000" algn="ctr" rotWithShape="0">
              <a:srgbClr val="102A4C">
                <a:alpha val="8000"/>
              </a:srgbClr>
            </a:outerShdw>
          </a:effectLst>
        </p:spPr>
        <p:txBody>
          <a:bodyPr rtlCol="0" anchor="ctr"/>
          <a:lstStyle/>
          <a:p>
            <a:pPr algn="ctr"/>
            <a:endParaRPr lang="ko-KR" dirty="0"/>
          </a:p>
        </p:txBody>
      </p:sp>
      <p:pic>
        <p:nvPicPr>
          <p:cNvPr id="34" name="img" descr="img">    </p:cNvPr>
          <p:cNvPicPr>
            <a:picLocks noChangeAspect="1"/>
          </p:cNvPicPr>
          <p:nvPr/>
        </p:nvPicPr>
        <p:blipFill>
          <a:blip r:embed="rId3"/>
          <a:stretch>
            <a:fillRect/>
          </a:stretch>
        </p:blipFill>
        <p:spPr>
          <a:xfrm>
            <a:off x="9099550" y="3702447"/>
            <a:ext cx="2222500" cy="2336800"/>
          </a:xfrm>
          <a:prstGeom prst="rect">
            <a:avLst/>
          </a:prstGeom>
        </p:spPr>
      </p:pic>
      <p:sp>
        <p:nvSpPr>
          <p:cNvPr id="35"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36"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37" name="② 대응 객체 매칭 · BIM 생성"/>
          <p:cNvSpPr txBox="1"/>
          <p:nvPr/>
        </p:nvSpPr>
        <p:spPr>
          <a:xfrm>
            <a:off x="1485106" y="401439"/>
            <a:ext cx="1409198"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② 대응 객체 매칭 · BIM 생성</a:t>
            </a:r>
            <a:endParaRPr lang="en-US" sz="950" dirty="0"/>
          </a:p>
        </p:txBody>
      </p:sp>
      <p:sp>
        <p:nvSpPr>
          <p:cNvPr id="38" name="평면도의 X·Y와 입면도의 Z를 짝지어,"/>
          <p:cNvSpPr txBox="1"/>
          <p:nvPr/>
        </p:nvSpPr>
        <p:spPr>
          <a:xfrm>
            <a:off x="609600" y="666750"/>
            <a:ext cx="4281126"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평면도의 X·Y와 입면도의 Z를 짝지어,</a:t>
            </a:r>
            <a:endParaRPr lang="en-US" sz="2300" dirty="0"/>
          </a:p>
        </p:txBody>
      </p:sp>
      <p:sp>
        <p:nvSpPr>
          <p:cNvPr id="39" name="높이까지 갖춘 BIM을 생성합니다."/>
          <p:cNvSpPr txBox="1"/>
          <p:nvPr/>
        </p:nvSpPr>
        <p:spPr>
          <a:xfrm>
            <a:off x="609600" y="1028898"/>
            <a:ext cx="3833830" cy="349250"/>
          </a:xfrm>
          <a:prstGeom prst="rect">
            <a:avLst/>
          </a:prstGeom>
          <a:noFill/>
          <a:ln/>
        </p:spPr>
        <p:txBody>
          <a:bodyPr wrap="none" lIns="0" tIns="0" rIns="0" bIns="0" rtlCol="0" anchor="ctr"/>
          <a:lstStyle/>
          <a:p>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높이까지 갖춘 BIM</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을 생성합니다.</a:t>
            </a:r>
            <a:endParaRPr lang="en-US" sz="2300" dirty="0"/>
          </a:p>
        </p:txBody>
      </p:sp>
      <p:sp>
        <p:nvSpPr>
          <p:cNvPr id="40"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41"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42"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43"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44"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45" name="STEP 3"/>
          <p:cNvSpPr txBox="1"/>
          <p:nvPr/>
        </p:nvSpPr>
        <p:spPr>
          <a:xfrm>
            <a:off x="609600" y="1667272"/>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46" name="대응 객체 매칭"/>
          <p:cNvSpPr txBox="1"/>
          <p:nvPr/>
        </p:nvSpPr>
        <p:spPr>
          <a:xfrm>
            <a:off x="1102420" y="1625997"/>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300" dirty="0"/>
          </a:p>
        </p:txBody>
      </p:sp>
      <p:sp>
        <p:nvSpPr>
          <p:cNvPr id="47" name="헝가리안 알고리즘"/>
          <p:cNvSpPr txBox="1"/>
          <p:nvPr/>
        </p:nvSpPr>
        <p:spPr>
          <a:xfrm>
            <a:off x="2221210" y="1666677"/>
            <a:ext cx="758428"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헝가리안 알고리즘</a:t>
            </a:r>
            <a:endParaRPr lang="en-US" sz="800" dirty="0"/>
          </a:p>
        </p:txBody>
      </p:sp>
      <p:sp>
        <p:nvSpPr>
          <p:cNvPr id="48" name="입면도에서"/>
          <p:cNvSpPr txBox="1"/>
          <p:nvPr/>
        </p:nvSpPr>
        <p:spPr>
          <a:xfrm>
            <a:off x="3765848" y="2273697"/>
            <a:ext cx="482302"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입면도에서</a:t>
            </a:r>
            <a:endParaRPr lang="en-US" sz="800" dirty="0"/>
          </a:p>
        </p:txBody>
      </p:sp>
      <p:sp>
        <p:nvSpPr>
          <p:cNvPr id="49" name="Z 좌표 (높이)"/>
          <p:cNvSpPr txBox="1"/>
          <p:nvPr/>
        </p:nvSpPr>
        <p:spPr>
          <a:xfrm>
            <a:off x="3537942" y="2412107"/>
            <a:ext cx="710208" cy="152400"/>
          </a:xfrm>
          <a:prstGeom prst="rect">
            <a:avLst/>
          </a:prstGeom>
          <a:noFill/>
          <a:ln/>
        </p:spPr>
        <p:txBody>
          <a:bodyPr wrap="none" lIns="0" tIns="0" rIns="0" bIns="0" rtlCol="0" anchor="ctr"/>
          <a:lstStyle/>
          <a:p>
            <a:pPr algn="r" indent="0" marL="0">
              <a:buNone/>
            </a:pPr>
            <a:r>
              <a:rPr lang="ko-KR" altLang="en-US" sz="1000" spc="-20" kern="0" dirty="0">
                <a:solidFill>
                  <a:srgbClr val="102A4C"/>
                </a:solidFill>
                <a:latin typeface="Pretendard ExtraBold" pitchFamily="34" charset="0"/>
                <a:ea typeface="Pretendard ExtraBold" pitchFamily="34" charset="-127"/>
                <a:cs typeface="Pretendard ExtraBold" pitchFamily="34" charset="-120"/>
              </a:rPr>
              <a:t>Z 좌표 (높이)</a:t>
            </a:r>
            <a:endParaRPr lang="en-US" sz="1000" dirty="0"/>
          </a:p>
        </p:txBody>
      </p:sp>
      <p:sp>
        <p:nvSpPr>
          <p:cNvPr id="50" name="평면도에서"/>
          <p:cNvSpPr txBox="1"/>
          <p:nvPr/>
        </p:nvSpPr>
        <p:spPr>
          <a:xfrm>
            <a:off x="3765848" y="4839097"/>
            <a:ext cx="482302"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평면도에서</a:t>
            </a:r>
            <a:endParaRPr lang="en-US" sz="800" dirty="0"/>
          </a:p>
        </p:txBody>
      </p:sp>
      <p:sp>
        <p:nvSpPr>
          <p:cNvPr id="51" name="X·Y 좌표"/>
          <p:cNvSpPr txBox="1"/>
          <p:nvPr/>
        </p:nvSpPr>
        <p:spPr>
          <a:xfrm>
            <a:off x="3758307" y="4977507"/>
            <a:ext cx="489843" cy="152400"/>
          </a:xfrm>
          <a:prstGeom prst="rect">
            <a:avLst/>
          </a:prstGeom>
          <a:noFill/>
          <a:ln/>
        </p:spPr>
        <p:txBody>
          <a:bodyPr wrap="none" lIns="0" tIns="0" rIns="0" bIns="0" rtlCol="0" anchor="ctr"/>
          <a:lstStyle/>
          <a:p>
            <a:pPr algn="r" indent="0" marL="0">
              <a:buNone/>
            </a:pPr>
            <a:r>
              <a:rPr lang="ko-KR" altLang="en-US" sz="1000" spc="-20" kern="0" dirty="0">
                <a:solidFill>
                  <a:srgbClr val="102A4C"/>
                </a:solidFill>
                <a:latin typeface="Pretendard ExtraBold" pitchFamily="34" charset="0"/>
                <a:ea typeface="Pretendard ExtraBold" pitchFamily="34" charset="-127"/>
                <a:cs typeface="Pretendard ExtraBold" pitchFamily="34" charset="-120"/>
              </a:rPr>
              <a:t>X·Y 좌표</a:t>
            </a:r>
            <a:endParaRPr lang="en-US" sz="1000" dirty="0"/>
          </a:p>
        </p:txBody>
      </p:sp>
      <p:sp>
        <p:nvSpPr>
          <p:cNvPr id="52" name="평면도(X·Y)와 입면도(Z)에서 같은 창·문끼리 짝짓기"/>
          <p:cNvSpPr txBox="1"/>
          <p:nvPr/>
        </p:nvSpPr>
        <p:spPr>
          <a:xfrm>
            <a:off x="2215074" y="5296297"/>
            <a:ext cx="2148451"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평면도(X·Y)와 입면도(Z)에서 같은 창·문끼리 짝짓기</a:t>
            </a:r>
            <a:endParaRPr lang="en-US" sz="800" dirty="0"/>
          </a:p>
        </p:txBody>
      </p:sp>
      <p:sp>
        <p:nvSpPr>
          <p:cNvPr id="53" name="1"/>
          <p:cNvSpPr txBox="1"/>
          <p:nvPr/>
        </p:nvSpPr>
        <p:spPr>
          <a:xfrm>
            <a:off x="852686" y="5946577"/>
            <a:ext cx="97929"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1</a:t>
            </a:r>
            <a:endParaRPr lang="en-US" sz="800" dirty="0"/>
          </a:p>
        </p:txBody>
      </p:sp>
      <p:sp>
        <p:nvSpPr>
          <p:cNvPr id="54" name="비용 행렬 구성"/>
          <p:cNvSpPr txBox="1"/>
          <p:nvPr/>
        </p:nvSpPr>
        <p:spPr>
          <a:xfrm>
            <a:off x="1066800" y="5828903"/>
            <a:ext cx="764679"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비용 행렬 구성</a:t>
            </a:r>
            <a:endParaRPr lang="en-US" sz="1050" dirty="0"/>
          </a:p>
        </p:txBody>
      </p:sp>
      <p:sp>
        <p:nvSpPr>
          <p:cNvPr id="55" name="위치·정렬로 짝 후보 점수화"/>
          <p:cNvSpPr txBox="1"/>
          <p:nvPr/>
        </p:nvSpPr>
        <p:spPr>
          <a:xfrm>
            <a:off x="1066800" y="6027341"/>
            <a:ext cx="1363448"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위치·정렬로 짝 후보 점수화</a:t>
            </a:r>
            <a:endParaRPr lang="en-US" sz="1000" dirty="0"/>
          </a:p>
        </p:txBody>
      </p:sp>
      <p:sp>
        <p:nvSpPr>
          <p:cNvPr id="56" name="2"/>
          <p:cNvSpPr txBox="1"/>
          <p:nvPr/>
        </p:nvSpPr>
        <p:spPr>
          <a:xfrm>
            <a:off x="2907605" y="5946577"/>
            <a:ext cx="112117"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2</a:t>
            </a:r>
            <a:endParaRPr lang="en-US" sz="800" dirty="0"/>
          </a:p>
        </p:txBody>
      </p:sp>
      <p:sp>
        <p:nvSpPr>
          <p:cNvPr id="57" name="헝가리안 알고리즘"/>
          <p:cNvSpPr txBox="1"/>
          <p:nvPr/>
        </p:nvSpPr>
        <p:spPr>
          <a:xfrm>
            <a:off x="3128764" y="5828903"/>
            <a:ext cx="964426"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헝가리안 알고리즘</a:t>
            </a:r>
            <a:endParaRPr lang="en-US" sz="1050" dirty="0"/>
          </a:p>
        </p:txBody>
      </p:sp>
      <p:sp>
        <p:nvSpPr>
          <p:cNvPr id="58" name="최적 1:1 매칭"/>
          <p:cNvSpPr txBox="1"/>
          <p:nvPr/>
        </p:nvSpPr>
        <p:spPr>
          <a:xfrm>
            <a:off x="3128764" y="6027341"/>
            <a:ext cx="670620"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최적 1:1 매칭</a:t>
            </a:r>
            <a:endParaRPr lang="en-US" sz="1000" dirty="0"/>
          </a:p>
        </p:txBody>
      </p:sp>
      <p:sp>
        <p:nvSpPr>
          <p:cNvPr id="59" name="3"/>
          <p:cNvSpPr txBox="1"/>
          <p:nvPr/>
        </p:nvSpPr>
        <p:spPr>
          <a:xfrm>
            <a:off x="4591645" y="5946577"/>
            <a:ext cx="114995"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3</a:t>
            </a:r>
            <a:endParaRPr lang="en-US" sz="800" dirty="0"/>
          </a:p>
        </p:txBody>
      </p:sp>
      <p:sp>
        <p:nvSpPr>
          <p:cNvPr id="60" name="3차원 위치 확정"/>
          <p:cNvSpPr txBox="1"/>
          <p:nvPr/>
        </p:nvSpPr>
        <p:spPr>
          <a:xfrm>
            <a:off x="4814292" y="5828903"/>
            <a:ext cx="846237"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3차원 위치 확정</a:t>
            </a:r>
            <a:endParaRPr lang="en-US" sz="1050" dirty="0"/>
          </a:p>
        </p:txBody>
      </p:sp>
      <p:sp>
        <p:nvSpPr>
          <p:cNvPr id="61" name="같은 창·문의 X·Y + Z"/>
          <p:cNvSpPr txBox="1"/>
          <p:nvPr/>
        </p:nvSpPr>
        <p:spPr>
          <a:xfrm>
            <a:off x="4814292" y="6027341"/>
            <a:ext cx="1062446"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같은 창·문의 X·Y + Z</a:t>
            </a:r>
            <a:endParaRPr lang="en-US" sz="1000" dirty="0"/>
          </a:p>
        </p:txBody>
      </p:sp>
      <p:sp>
        <p:nvSpPr>
          <p:cNvPr id="62" name="STEP 4"/>
          <p:cNvSpPr txBox="1"/>
          <p:nvPr/>
        </p:nvSpPr>
        <p:spPr>
          <a:xfrm>
            <a:off x="6223000" y="1667272"/>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63" name="BIM 자동 생성"/>
          <p:cNvSpPr txBox="1"/>
          <p:nvPr/>
        </p:nvSpPr>
        <p:spPr>
          <a:xfrm>
            <a:off x="6717903" y="1625997"/>
            <a:ext cx="94454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300" dirty="0"/>
          </a:p>
        </p:txBody>
      </p:sp>
      <p:sp>
        <p:nvSpPr>
          <p:cNvPr id="64" name="스켈레톤 기반 벽체 추출"/>
          <p:cNvSpPr txBox="1"/>
          <p:nvPr/>
        </p:nvSpPr>
        <p:spPr>
          <a:xfrm>
            <a:off x="7843937" y="1666677"/>
            <a:ext cx="97725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스켈레톤 기반 벽체 추출</a:t>
            </a:r>
            <a:endParaRPr lang="en-US" sz="800" dirty="0"/>
          </a:p>
        </p:txBody>
      </p:sp>
      <p:sp>
        <p:nvSpPr>
          <p:cNvPr id="65" name="Revit API"/>
          <p:cNvSpPr txBox="1"/>
          <p:nvPr/>
        </p:nvSpPr>
        <p:spPr>
          <a:xfrm>
            <a:off x="9083377" y="1666677"/>
            <a:ext cx="46017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Revit API</a:t>
            </a:r>
            <a:endParaRPr lang="en-US" sz="800" dirty="0"/>
          </a:p>
        </p:txBody>
      </p:sp>
      <p:sp>
        <p:nvSpPr>
          <p:cNvPr id="66" name="평면도 객체"/>
          <p:cNvSpPr txBox="1"/>
          <p:nvPr/>
        </p:nvSpPr>
        <p:spPr>
          <a:xfrm>
            <a:off x="6573838" y="3029347"/>
            <a:ext cx="50482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객체</a:t>
            </a:r>
            <a:endParaRPr lang="en-US" sz="800" dirty="0"/>
          </a:p>
        </p:txBody>
      </p:sp>
      <p:sp>
        <p:nvSpPr>
          <p:cNvPr id="67" name="인식 결과"/>
          <p:cNvSpPr txBox="1"/>
          <p:nvPr/>
        </p:nvSpPr>
        <p:spPr>
          <a:xfrm>
            <a:off x="6616898" y="3162697"/>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인식 결과</a:t>
            </a:r>
            <a:endParaRPr lang="en-US" sz="800" dirty="0"/>
          </a:p>
        </p:txBody>
      </p:sp>
      <p:sp>
        <p:nvSpPr>
          <p:cNvPr id="68" name="Skeletonization"/>
          <p:cNvSpPr txBox="1"/>
          <p:nvPr/>
        </p:nvSpPr>
        <p:spPr>
          <a:xfrm>
            <a:off x="7509768" y="3029347"/>
            <a:ext cx="75386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Skeletonization</a:t>
            </a:r>
            <a:endParaRPr lang="en-US" sz="800" dirty="0"/>
          </a:p>
        </p:txBody>
      </p:sp>
      <p:sp>
        <p:nvSpPr>
          <p:cNvPr id="69" name="(골격선 추출)"/>
          <p:cNvSpPr txBox="1"/>
          <p:nvPr/>
        </p:nvSpPr>
        <p:spPr>
          <a:xfrm>
            <a:off x="7597775" y="3162697"/>
            <a:ext cx="577850"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(골격선 추출)</a:t>
            </a:r>
            <a:endParaRPr lang="en-US" sz="800" dirty="0"/>
          </a:p>
        </p:txBody>
      </p:sp>
      <p:sp>
        <p:nvSpPr>
          <p:cNvPr id="70" name="벽체 중심선·"/>
          <p:cNvSpPr txBox="1"/>
          <p:nvPr/>
        </p:nvSpPr>
        <p:spPr>
          <a:xfrm>
            <a:off x="8745141" y="3029347"/>
            <a:ext cx="531019"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벽체 중심선·</a:t>
            </a:r>
            <a:endParaRPr lang="en-US" sz="800" dirty="0"/>
          </a:p>
        </p:txBody>
      </p:sp>
      <p:sp>
        <p:nvSpPr>
          <p:cNvPr id="71" name="코너점 추출"/>
          <p:cNvSpPr txBox="1"/>
          <p:nvPr/>
        </p:nvSpPr>
        <p:spPr>
          <a:xfrm>
            <a:off x="8758238" y="3162697"/>
            <a:ext cx="50482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코너점 추출</a:t>
            </a:r>
            <a:endParaRPr lang="en-US" sz="800" dirty="0"/>
          </a:p>
        </p:txBody>
      </p:sp>
      <p:sp>
        <p:nvSpPr>
          <p:cNvPr id="72" name="창문 호스팅"/>
          <p:cNvSpPr txBox="1"/>
          <p:nvPr/>
        </p:nvSpPr>
        <p:spPr>
          <a:xfrm>
            <a:off x="9736832" y="3029347"/>
            <a:ext cx="503436"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창문 호스팅</a:t>
            </a:r>
            <a:endParaRPr lang="en-US" sz="800" dirty="0"/>
          </a:p>
        </p:txBody>
      </p:sp>
      <p:sp>
        <p:nvSpPr>
          <p:cNvPr id="73" name="관계 정의"/>
          <p:cNvSpPr txBox="1"/>
          <p:nvPr/>
        </p:nvSpPr>
        <p:spPr>
          <a:xfrm>
            <a:off x="9779198" y="3162697"/>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관계 정의</a:t>
            </a:r>
            <a:endParaRPr lang="en-US" sz="800" dirty="0"/>
          </a:p>
        </p:txBody>
      </p:sp>
      <p:sp>
        <p:nvSpPr>
          <p:cNvPr id="74" name="문 호스팅"/>
          <p:cNvSpPr txBox="1"/>
          <p:nvPr/>
        </p:nvSpPr>
        <p:spPr>
          <a:xfrm>
            <a:off x="10802243" y="3029347"/>
            <a:ext cx="417215"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문 호스팅</a:t>
            </a:r>
            <a:endParaRPr lang="en-US" sz="800" dirty="0"/>
          </a:p>
        </p:txBody>
      </p:sp>
      <p:sp>
        <p:nvSpPr>
          <p:cNvPr id="75" name="관계 정의"/>
          <p:cNvSpPr txBox="1"/>
          <p:nvPr/>
        </p:nvSpPr>
        <p:spPr>
          <a:xfrm>
            <a:off x="10801548" y="3162697"/>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관계 정의</a:t>
            </a:r>
            <a:endParaRPr lang="en-US" sz="800" dirty="0"/>
          </a:p>
        </p:txBody>
      </p:sp>
      <p:sp>
        <p:nvSpPr>
          <p:cNvPr id="76" name="Revit API"/>
          <p:cNvSpPr txBox="1"/>
          <p:nvPr/>
        </p:nvSpPr>
        <p:spPr>
          <a:xfrm>
            <a:off x="6883400" y="3844230"/>
            <a:ext cx="781943" cy="215900"/>
          </a:xfrm>
          <a:prstGeom prst="rect">
            <a:avLst/>
          </a:prstGeom>
          <a:noFill/>
          <a:ln/>
        </p:spPr>
        <p:txBody>
          <a:bodyPr wrap="none" lIns="0" tIns="0" rIns="0" bIns="0" rtlCol="0" anchor="ctr"/>
          <a:lstStyle/>
          <a:p>
            <a:pPr algn="l" indent="0" marL="0">
              <a:buNone/>
            </a:pPr>
            <a:r>
              <a:rPr lang="ko-KR" altLang="en-US" sz="1400" spc="-28" kern="0" dirty="0">
                <a:solidFill>
                  <a:srgbClr val="102A4C"/>
                </a:solidFill>
                <a:latin typeface="Pretendard ExtraBold" pitchFamily="34" charset="0"/>
                <a:ea typeface="Pretendard ExtraBold" pitchFamily="34" charset="-127"/>
                <a:cs typeface="Pretendard ExtraBold" pitchFamily="34" charset="-120"/>
              </a:rPr>
              <a:t>Revit API</a:t>
            </a:r>
            <a:endParaRPr lang="en-US" sz="1400" dirty="0"/>
          </a:p>
        </p:txBody>
      </p:sp>
      <p:sp>
        <p:nvSpPr>
          <p:cNvPr id="77" name="BIM 모델 생성"/>
          <p:cNvSpPr txBox="1"/>
          <p:nvPr/>
        </p:nvSpPr>
        <p:spPr>
          <a:xfrm>
            <a:off x="6883400" y="4079180"/>
            <a:ext cx="72399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BIM 모델 생성</a:t>
            </a:r>
            <a:endParaRPr lang="en-US" sz="950" dirty="0"/>
          </a:p>
        </p:txBody>
      </p:sp>
      <p:sp>
        <p:nvSpPr>
          <p:cNvPr id="78" name="추출한 벽체와 호스팅 관계로"/>
          <p:cNvSpPr txBox="1"/>
          <p:nvPr/>
        </p:nvSpPr>
        <p:spPr>
          <a:xfrm>
            <a:off x="6426200" y="4380805"/>
            <a:ext cx="1514685"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추출한 </a:t>
            </a:r>
            <a:pPr algn="l" indent="0" marL="0">
              <a:buNone/>
            </a:pPr>
            <a:r>
              <a:rPr lang="ko-KR" altLang="en-US" sz="1050" b="1" spc="-26" kern="0" dirty="0">
                <a:solidFill>
                  <a:srgbClr val="141820"/>
                </a:solidFill>
                <a:latin typeface="Pretendard" pitchFamily="34" charset="0"/>
                <a:ea typeface="Pretendard" pitchFamily="34" charset="-127"/>
                <a:cs typeface="Pretendard" pitchFamily="34" charset="-120"/>
              </a:rPr>
              <a:t>벽체</a:t>
            </a:r>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와 </a:t>
            </a:r>
            <a:pPr algn="l" indent="0" marL="0">
              <a:buNone/>
            </a:pPr>
            <a:r>
              <a:rPr lang="ko-KR" altLang="en-US" sz="1050" b="1" spc="-26" kern="0" dirty="0">
                <a:solidFill>
                  <a:srgbClr val="141820"/>
                </a:solidFill>
                <a:latin typeface="Pretendard" pitchFamily="34" charset="0"/>
                <a:ea typeface="Pretendard" pitchFamily="34" charset="-127"/>
                <a:cs typeface="Pretendard" pitchFamily="34" charset="-120"/>
              </a:rPr>
              <a:t>호스팅 관계</a:t>
            </a:r>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로</a:t>
            </a:r>
            <a:endParaRPr lang="en-US" sz="1050" dirty="0"/>
          </a:p>
        </p:txBody>
      </p:sp>
      <p:sp>
        <p:nvSpPr>
          <p:cNvPr id="79" name="벽·창문·문 BIM 요소 생성"/>
          <p:cNvSpPr txBox="1"/>
          <p:nvPr/>
        </p:nvSpPr>
        <p:spPr>
          <a:xfrm>
            <a:off x="6426200" y="4574084"/>
            <a:ext cx="1344622"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벽·창문·문 BIM 요소 생성</a:t>
            </a:r>
            <a:endParaRPr lang="en-US" sz="1050" dirty="0"/>
          </a:p>
        </p:txBody>
      </p:sp>
      <p:sp>
        <p:nvSpPr>
          <p:cNvPr id="80" name="용어 풀이"/>
          <p:cNvSpPr txBox="1"/>
          <p:nvPr/>
        </p:nvSpPr>
        <p:spPr>
          <a:xfrm>
            <a:off x="6584950" y="5129312"/>
            <a:ext cx="458589" cy="114300"/>
          </a:xfrm>
          <a:prstGeom prst="rect">
            <a:avLst/>
          </a:prstGeom>
          <a:noFill/>
          <a:ln/>
        </p:spPr>
        <p:txBody>
          <a:bodyPr wrap="none" lIns="0" tIns="0" rIns="0" bIns="0" rtlCol="0" anchor="ctr"/>
          <a:lstStyle/>
          <a:p>
            <a:pPr algn="l" indent="0" marL="0">
              <a:buNone/>
            </a:pPr>
            <a:r>
              <a:rPr lang="ko-KR" altLang="en-US" sz="750" spc="90" kern="0" dirty="0">
                <a:solidFill>
                  <a:srgbClr val="737C8B"/>
                </a:solidFill>
                <a:latin typeface="Pretendard ExtraBold" pitchFamily="34" charset="0"/>
                <a:ea typeface="Pretendard ExtraBold" pitchFamily="34" charset="-127"/>
                <a:cs typeface="Pretendard ExtraBold" pitchFamily="34" charset="-120"/>
              </a:rPr>
              <a:t>용어 풀이</a:t>
            </a:r>
            <a:endParaRPr lang="en-US" sz="750" dirty="0"/>
          </a:p>
        </p:txBody>
      </p:sp>
      <p:sp>
        <p:nvSpPr>
          <p:cNvPr id="81" name="호스팅"/>
          <p:cNvSpPr txBox="1"/>
          <p:nvPr/>
        </p:nvSpPr>
        <p:spPr>
          <a:xfrm>
            <a:off x="6584950" y="5307112"/>
            <a:ext cx="414238" cy="177800"/>
          </a:xfrm>
          <a:prstGeom prst="rect">
            <a:avLst/>
          </a:prstGeom>
          <a:noFill/>
          <a:ln/>
        </p:spPr>
        <p:txBody>
          <a:bodyPr wrap="none" lIns="0" tIns="0" rIns="0" bIns="0" rtlCol="0" anchor="ctr"/>
          <a:lstStyle/>
          <a:p>
            <a:pPr algn="l" indent="0" marL="0">
              <a:buNone/>
            </a:pP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호스팅</a:t>
            </a:r>
            <a:endParaRPr lang="en-US" sz="1150" dirty="0"/>
          </a:p>
        </p:txBody>
      </p:sp>
      <p:sp>
        <p:nvSpPr>
          <p:cNvPr id="82" name="Hosting"/>
          <p:cNvSpPr txBox="1"/>
          <p:nvPr/>
        </p:nvSpPr>
        <p:spPr>
          <a:xfrm>
            <a:off x="6999188" y="5351562"/>
            <a:ext cx="417413" cy="120650"/>
          </a:xfrm>
          <a:prstGeom prst="rect">
            <a:avLst/>
          </a:prstGeom>
          <a:noFill/>
          <a:ln/>
        </p:spPr>
        <p:txBody>
          <a:bodyPr wrap="none" lIns="0" tIns="0" rIns="0" bIns="0" rtlCol="0" anchor="ctr"/>
          <a:lstStyle/>
          <a:p>
            <a:pPr algn="l" indent="0" marL="0">
              <a:buNone/>
            </a:pPr>
            <a:r>
              <a:rPr lang="ko-KR" altLang="en-US" sz="800" dirty="0">
                <a:solidFill>
                  <a:srgbClr val="737C8B"/>
                </a:solidFill>
                <a:latin typeface="Pretendard SemiBold" pitchFamily="34" charset="0"/>
                <a:ea typeface="Pretendard SemiBold" pitchFamily="34" charset="-127"/>
                <a:cs typeface="Pretendard SemiBold" pitchFamily="34" charset="-120"/>
              </a:rPr>
              <a:t>Hosting</a:t>
            </a:r>
            <a:endParaRPr lang="en-US" sz="800" dirty="0"/>
          </a:p>
        </p:txBody>
      </p:sp>
      <p:sp>
        <p:nvSpPr>
          <p:cNvPr id="83" name="창·문을 어느 벽에 붙일지"/>
          <p:cNvSpPr txBox="1"/>
          <p:nvPr/>
        </p:nvSpPr>
        <p:spPr>
          <a:xfrm>
            <a:off x="6584950" y="5552182"/>
            <a:ext cx="1309285"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창·문을 </a:t>
            </a:r>
            <a:pPr algn="l" indent="0" marL="0">
              <a:buNone/>
            </a:pPr>
            <a:r>
              <a:rPr lang="ko-KR" altLang="en-US" sz="1050" b="1" spc="-26" kern="0" dirty="0">
                <a:solidFill>
                  <a:srgbClr val="141820"/>
                </a:solidFill>
                <a:latin typeface="Pretendard" pitchFamily="34" charset="0"/>
                <a:ea typeface="Pretendard" pitchFamily="34" charset="-127"/>
                <a:cs typeface="Pretendard" pitchFamily="34" charset="-120"/>
              </a:rPr>
              <a:t>어느 벽에 붙일지</a:t>
            </a:r>
            <a:endParaRPr lang="en-US" sz="1050" dirty="0"/>
          </a:p>
        </p:txBody>
      </p:sp>
      <p:sp>
        <p:nvSpPr>
          <p:cNvPr id="84" name="정하는 것"/>
          <p:cNvSpPr txBox="1"/>
          <p:nvPr/>
        </p:nvSpPr>
        <p:spPr>
          <a:xfrm>
            <a:off x="6584950" y="5745460"/>
            <a:ext cx="527745"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정하는 것</a:t>
            </a:r>
            <a:endParaRPr lang="en-US" sz="1050" dirty="0"/>
          </a:p>
        </p:txBody>
      </p:sp>
      <p:sp>
        <p:nvSpPr>
          <p:cNvPr id="85" name="자동 생성된 3D BIM (결과)"/>
          <p:cNvSpPr txBox="1"/>
          <p:nvPr/>
        </p:nvSpPr>
        <p:spPr>
          <a:xfrm>
            <a:off x="9604800" y="6090047"/>
            <a:ext cx="1212001" cy="127000"/>
          </a:xfrm>
          <a:prstGeom prst="rect">
            <a:avLst/>
          </a:prstGeom>
          <a:noFill/>
          <a:ln/>
        </p:spPr>
        <p:txBody>
          <a:bodyPr wrap="none" lIns="0" tIns="0" rIns="0" bIns="0" rtlCol="0" anchor="ctr"/>
          <a:lstStyle/>
          <a:p>
            <a:pPr algn="ctr" indent="0" marL="0">
              <a:buNone/>
            </a:pPr>
            <a:r>
              <a:rPr lang="ko-KR" altLang="en-US" sz="850" b="1" spc="-12" kern="0" dirty="0">
                <a:solidFill>
                  <a:srgbClr val="102A4C"/>
                </a:solidFill>
                <a:latin typeface="Pretendard" pitchFamily="34" charset="0"/>
                <a:ea typeface="Pretendard" pitchFamily="34" charset="-127"/>
                <a:cs typeface="Pretendard" pitchFamily="34" charset="-120"/>
              </a:rPr>
              <a:t>자동 생성된 3D BIM </a:t>
            </a:r>
            <a:pPr algn="ctr" indent="0" marL="0">
              <a:buNone/>
            </a:pPr>
            <a:r>
              <a:rPr lang="ko-KR" altLang="en-US" sz="850" spc="-12" kern="0" dirty="0">
                <a:solidFill>
                  <a:srgbClr val="737C8B"/>
                </a:solidFill>
                <a:latin typeface="Pretendard SemiBold" pitchFamily="34" charset="0"/>
                <a:ea typeface="Pretendard SemiBold" pitchFamily="34" charset="-127"/>
                <a:cs typeface="Pretendard SemiBold" pitchFamily="34" charset="-120"/>
              </a:rPr>
              <a:t>(결과)</a:t>
            </a:r>
            <a:endParaRPr lang="en-US" sz="850" dirty="0"/>
          </a:p>
        </p:txBody>
      </p:sp>
      <p:sp>
        <p:nvSpPr>
          <p:cNvPr id="86"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87" name="08 / 12"/>
          <p:cNvSpPr txBox="1"/>
          <p:nvPr/>
        </p:nvSpPr>
        <p:spPr>
          <a:xfrm>
            <a:off x="11234539" y="6472238"/>
            <a:ext cx="398661"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08</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753195"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on"/>
          <p:cNvSpPr/>
          <p:nvPr/>
        </p:nvSpPr>
        <p:spPr>
          <a:xfrm>
            <a:off x="109601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vg path"/>
          <p:cNvSpPr/>
          <p:nvPr/>
        </p:nvSpPr>
        <p:spPr>
          <a:xfrm>
            <a:off x="654050" y="1327348"/>
            <a:ext cx="73025" cy="107950"/>
          </a:xfrm>
          <a:custGeom>
            <a:avLst/>
            <a:gdLst/>
            <a:ahLst/>
            <a:cxnLst/>
            <a:rect l="0" t="0" r="r" b="b"/>
            <a:pathLst>
              <a:path w="73025" h="107950" fill="none">
                <a:moveTo>
                  <a:pt x="0" y="107950"/>
                </a:moveTo>
                <a:lnTo>
                  <a:pt x="0" y="0"/>
                </a:lnTo>
                <a:moveTo>
                  <a:pt x="0" y="3175"/>
                </a:moveTo>
                <a:lnTo>
                  <a:pt x="73025" y="3175"/>
                </a:lnTo>
                <a:lnTo>
                  <a:pt x="57150" y="28575"/>
                </a:lnTo>
                <a:lnTo>
                  <a:pt x="73025" y="53975"/>
                </a:lnTo>
                <a:lnTo>
                  <a:pt x="0" y="53975"/>
                </a:lnTo>
              </a:path>
            </a:pathLst>
          </a:custGeom>
          <a:noFill/>
          <a:ln w="12700" cap="rnd">
            <a:solidFill>
              <a:srgbClr val="102A4C"/>
            </a:solidFill>
            <a:round/>
          </a:ln>
        </p:spPr>
        <p:txBody>
          <a:bodyPr rtlCol="0" anchor="ctr"/>
          <a:lstStyle/>
          <a:p>
            <a:pPr algn="ctr"/>
            <a:endParaRPr lang="ko-KR" dirty="0"/>
          </a:p>
        </p:txBody>
      </p:sp>
      <p:sp>
        <p:nvSpPr>
          <p:cNvPr id="10" name="s9-ch c1::after"/>
          <p:cNvSpPr/>
          <p:nvPr/>
        </p:nvSpPr>
        <p:spPr>
          <a:xfrm>
            <a:off x="1516063" y="1371798"/>
            <a:ext cx="2293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vg path"/>
          <p:cNvSpPr/>
          <p:nvPr/>
        </p:nvSpPr>
        <p:spPr>
          <a:xfrm>
            <a:off x="4191000" y="1340048"/>
            <a:ext cx="114300" cy="95250"/>
          </a:xfrm>
          <a:custGeom>
            <a:avLst/>
            <a:gdLst/>
            <a:ahLst/>
            <a:cxnLst/>
            <a:rect l="0" t="0" r="r" b="b"/>
            <a:pathLst>
              <a:path w="114300" h="95250" fill="none">
                <a:moveTo>
                  <a:pt x="0" y="95250"/>
                </a:moveTo>
                <a:lnTo>
                  <a:pt x="114300" y="95250"/>
                </a:lnTo>
                <a:moveTo>
                  <a:pt x="22225" y="69850"/>
                </a:moveTo>
                <a:lnTo>
                  <a:pt x="22225" y="38100"/>
                </a:lnTo>
                <a:moveTo>
                  <a:pt x="57150" y="69850"/>
                </a:moveTo>
                <a:lnTo>
                  <a:pt x="57150" y="0"/>
                </a:lnTo>
                <a:moveTo>
                  <a:pt x="92075" y="69850"/>
                </a:moveTo>
                <a:lnTo>
                  <a:pt x="92075" y="19050"/>
                </a:lnTo>
              </a:path>
            </a:pathLst>
          </a:custGeom>
          <a:noFill/>
          <a:ln w="12700" cap="rnd">
            <a:solidFill>
              <a:srgbClr val="102A4C"/>
            </a:solidFill>
            <a:miter lim="800000"/>
          </a:ln>
        </p:spPr>
        <p:txBody>
          <a:bodyPr rtlCol="0" anchor="ctr"/>
          <a:lstStyle/>
          <a:p>
            <a:pPr algn="ctr"/>
            <a:endParaRPr lang="ko-KR" dirty="0"/>
          </a:p>
        </p:txBody>
      </p:sp>
      <p:sp>
        <p:nvSpPr>
          <p:cNvPr id="12" name="ln"/>
          <p:cNvSpPr/>
          <p:nvPr/>
        </p:nvSpPr>
        <p:spPr>
          <a:xfrm>
            <a:off x="5072063" y="1371798"/>
            <a:ext cx="2077740"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g"/>
          <p:cNvSpPr/>
          <p:nvPr/>
        </p:nvSpPr>
        <p:spPr>
          <a:xfrm>
            <a:off x="7251402" y="1352748"/>
            <a:ext cx="152400" cy="50800"/>
          </a:xfrm>
          <a:prstGeom prst="roundRect">
            <a:avLst>
              <a:gd name="adj" fmla="val 50000"/>
            </a:avLst>
          </a:prstGeom>
          <a:solidFill>
            <a:srgbClr val="C3C9D2"/>
          </a:solidFill>
          <a:ln>
            <a:noFill/>
          </a:ln>
        </p:spPr>
        <p:txBody>
          <a:bodyPr rtlCol="0" anchor="ctr"/>
          <a:lstStyle/>
          <a:p>
            <a:pPr algn="ctr"/>
            <a:endParaRPr lang="ko-KR" dirty="0"/>
          </a:p>
        </p:txBody>
      </p:sp>
      <p:sp>
        <p:nvSpPr>
          <p:cNvPr id="14" name="r"/>
          <p:cNvSpPr/>
          <p:nvPr/>
        </p:nvSpPr>
        <p:spPr>
          <a:xfrm>
            <a:off x="7921427" y="1352748"/>
            <a:ext cx="152400" cy="50800"/>
          </a:xfrm>
          <a:prstGeom prst="roundRect">
            <a:avLst>
              <a:gd name="adj" fmla="val 50000"/>
            </a:avLst>
          </a:prstGeom>
          <a:solidFill>
            <a:srgbClr val="EA002C"/>
          </a:solidFill>
          <a:ln>
            <a:noFill/>
          </a:ln>
        </p:spPr>
        <p:txBody>
          <a:bodyPr rtlCol="0" anchor="ctr"/>
          <a:lstStyle/>
          <a:p>
            <a:pPr algn="ctr"/>
            <a:endParaRPr lang="ko-KR" dirty="0"/>
          </a:p>
        </p:txBody>
      </p:sp>
      <p:sp>
        <p:nvSpPr>
          <p:cNvPr id="15" name="s9-con r1"/>
          <p:cNvSpPr/>
          <p:nvPr/>
        </p:nvSpPr>
        <p:spPr>
          <a:xfrm>
            <a:off x="609600" y="16067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16" name="s9-ic"/>
          <p:cNvSpPr/>
          <p:nvPr/>
        </p:nvSpPr>
        <p:spPr>
          <a:xfrm>
            <a:off x="812800" y="20766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7" name="svg path"/>
          <p:cNvSpPr/>
          <p:nvPr/>
        </p:nvSpPr>
        <p:spPr>
          <a:xfrm>
            <a:off x="950913" y="2395736"/>
            <a:ext cx="144780" cy="1"/>
          </a:xfrm>
          <a:custGeom>
            <a:avLst/>
            <a:gdLst/>
            <a:ahLst/>
            <a:cxnLst/>
            <a:rect l="0" t="0" r="r" b="b"/>
            <a:pathLst>
              <a:path w="144780" h="1" fill="none">
                <a:moveTo>
                  <a:pt x="0" y="0"/>
                </a:moveTo>
                <a:lnTo>
                  <a:pt x="144780" y="0"/>
                </a:lnTo>
              </a:path>
            </a:pathLst>
          </a:custGeom>
          <a:noFill/>
          <a:ln w="12065" cap="rnd">
            <a:solidFill>
              <a:srgbClr val="102A4C"/>
            </a:solidFill>
            <a:round/>
          </a:ln>
        </p:spPr>
        <p:txBody>
          <a:bodyPr rtlCol="0" anchor="ctr"/>
          <a:lstStyle/>
          <a:p>
            <a:pPr algn="ctr"/>
            <a:endParaRPr lang="ko-KR" dirty="0"/>
          </a:p>
        </p:txBody>
      </p:sp>
      <p:sp>
        <p:nvSpPr>
          <p:cNvPr id="18" name="svg rect"/>
          <p:cNvSpPr/>
          <p:nvPr/>
        </p:nvSpPr>
        <p:spPr>
          <a:xfrm>
            <a:off x="975043" y="2250956"/>
            <a:ext cx="84455" cy="144780"/>
          </a:xfrm>
          <a:prstGeom prst="roundRect">
            <a:avLst>
              <a:gd name="adj" fmla="val 10714"/>
            </a:avLst>
          </a:prstGeom>
          <a:noFill/>
          <a:ln w="12065" cap="rnd">
            <a:solidFill>
              <a:srgbClr val="102A4C"/>
            </a:solidFill>
            <a:round/>
          </a:ln>
        </p:spPr>
        <p:txBody>
          <a:bodyPr rtlCol="0" anchor="ctr"/>
          <a:lstStyle/>
          <a:p>
            <a:pPr algn="ctr"/>
            <a:endParaRPr lang="ko-KR" dirty="0"/>
          </a:p>
        </p:txBody>
      </p:sp>
      <p:sp>
        <p:nvSpPr>
          <p:cNvPr id="19" name="svg path"/>
          <p:cNvSpPr/>
          <p:nvPr/>
        </p:nvSpPr>
        <p:spPr>
          <a:xfrm>
            <a:off x="999173" y="2287151"/>
            <a:ext cx="36195" cy="72390"/>
          </a:xfrm>
          <a:custGeom>
            <a:avLst/>
            <a:gdLst/>
            <a:ahLst/>
            <a:cxnLst/>
            <a:rect l="0" t="0" r="r" b="b"/>
            <a:pathLst>
              <a:path w="36195" h="72390" fill="none">
                <a:moveTo>
                  <a:pt x="0" y="0"/>
                </a:moveTo>
                <a:lnTo>
                  <a:pt x="36195" y="0"/>
                </a:lnTo>
                <a:moveTo>
                  <a:pt x="0" y="36195"/>
                </a:moveTo>
                <a:lnTo>
                  <a:pt x="36195" y="36195"/>
                </a:lnTo>
                <a:moveTo>
                  <a:pt x="0" y="72390"/>
                </a:moveTo>
                <a:lnTo>
                  <a:pt x="36195" y="72390"/>
                </a:lnTo>
              </a:path>
            </a:pathLst>
          </a:custGeom>
          <a:noFill/>
          <a:ln w="12065" cap="rnd">
            <a:solidFill>
              <a:srgbClr val="102A4C"/>
            </a:solidFill>
            <a:round/>
          </a:ln>
        </p:spPr>
        <p:txBody>
          <a:bodyPr rtlCol="0" anchor="ctr"/>
          <a:lstStyle/>
          <a:p>
            <a:pPr algn="ctr"/>
            <a:endParaRPr lang="ko-KR" dirty="0"/>
          </a:p>
        </p:txBody>
      </p:sp>
      <p:sp>
        <p:nvSpPr>
          <p:cNvPr id="20" name="svg path"/>
          <p:cNvSpPr/>
          <p:nvPr/>
        </p:nvSpPr>
        <p:spPr>
          <a:xfrm>
            <a:off x="1119823" y="2220793"/>
            <a:ext cx="1" cy="174943"/>
          </a:xfrm>
          <a:custGeom>
            <a:avLst/>
            <a:gdLst/>
            <a:ahLst/>
            <a:cxnLst/>
            <a:rect l="0" t="0" r="r" b="b"/>
            <a:pathLst>
              <a:path w="1" h="174943" fill="none">
                <a:moveTo>
                  <a:pt x="0" y="0"/>
                </a:moveTo>
                <a:lnTo>
                  <a:pt x="0" y="174943"/>
                </a:lnTo>
              </a:path>
            </a:pathLst>
          </a:custGeom>
          <a:noFill/>
          <a:ln w="12065" cap="rnd">
            <a:solidFill>
              <a:srgbClr val="102A4C"/>
            </a:solidFill>
            <a:round/>
          </a:ln>
        </p:spPr>
        <p:txBody>
          <a:bodyPr rtlCol="0" anchor="ctr"/>
          <a:lstStyle/>
          <a:p>
            <a:pPr algn="ctr"/>
            <a:endParaRPr lang="ko-KR" dirty="0"/>
          </a:p>
        </p:txBody>
      </p:sp>
      <p:sp>
        <p:nvSpPr>
          <p:cNvPr id="21" name="svg path"/>
          <p:cNvSpPr/>
          <p:nvPr/>
        </p:nvSpPr>
        <p:spPr>
          <a:xfrm>
            <a:off x="1098709" y="2220793"/>
            <a:ext cx="42228" cy="21114"/>
          </a:xfrm>
          <a:custGeom>
            <a:avLst/>
            <a:gdLst/>
            <a:ahLst/>
            <a:cxnLst/>
            <a:rect l="0" t="0" r="r" b="b"/>
            <a:pathLst>
              <a:path w="42228" h="21114" fill="none">
                <a:moveTo>
                  <a:pt x="0" y="21114"/>
                </a:moveTo>
                <a:lnTo>
                  <a:pt x="21114" y="0"/>
                </a:lnTo>
                <a:lnTo>
                  <a:pt x="42228" y="21114"/>
                </a:lnTo>
              </a:path>
            </a:pathLst>
          </a:custGeom>
          <a:noFill/>
          <a:ln w="12065" cap="rnd">
            <a:solidFill>
              <a:srgbClr val="102A4C"/>
            </a:solidFill>
            <a:round/>
          </a:ln>
        </p:spPr>
        <p:txBody>
          <a:bodyPr rtlCol="0" anchor="ctr"/>
          <a:lstStyle/>
          <a:p>
            <a:pPr algn="ctr"/>
            <a:endParaRPr lang="ko-KR" dirty="0"/>
          </a:p>
        </p:txBody>
      </p:sp>
      <p:sp>
        <p:nvSpPr>
          <p:cNvPr id="22" name="svg path"/>
          <p:cNvSpPr/>
          <p:nvPr/>
        </p:nvSpPr>
        <p:spPr>
          <a:xfrm>
            <a:off x="1098709" y="2374622"/>
            <a:ext cx="42228" cy="21114"/>
          </a:xfrm>
          <a:custGeom>
            <a:avLst/>
            <a:gdLst/>
            <a:ahLst/>
            <a:cxnLst/>
            <a:rect l="0" t="0" r="r" b="b"/>
            <a:pathLst>
              <a:path w="42228" h="21114" fill="none">
                <a:moveTo>
                  <a:pt x="0" y="0"/>
                </a:moveTo>
                <a:lnTo>
                  <a:pt x="21114" y="21114"/>
                </a:lnTo>
                <a:lnTo>
                  <a:pt x="42228" y="0"/>
                </a:lnTo>
              </a:path>
            </a:pathLst>
          </a:custGeom>
          <a:noFill/>
          <a:ln w="12065" cap="rnd">
            <a:solidFill>
              <a:srgbClr val="102A4C"/>
            </a:solidFill>
            <a:round/>
          </a:ln>
        </p:spPr>
        <p:txBody>
          <a:bodyPr rtlCol="0" anchor="ctr"/>
          <a:lstStyle/>
          <a:p>
            <a:pPr algn="ctr"/>
            <a:endParaRPr lang="ko-KR" dirty="0"/>
          </a:p>
        </p:txBody>
      </p:sp>
      <p:sp>
        <p:nvSpPr>
          <p:cNvPr id="23" name="s9-go r1::before"/>
          <p:cNvSpPr/>
          <p:nvPr/>
        </p:nvSpPr>
        <p:spPr>
          <a:xfrm>
            <a:off x="3810000" y="2298898"/>
            <a:ext cx="3556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3848100" y="2165548"/>
            <a:ext cx="279400" cy="2794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3971925" y="22703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26" name="s9-ev r1"/>
          <p:cNvSpPr/>
          <p:nvPr/>
        </p:nvSpPr>
        <p:spPr>
          <a:xfrm>
            <a:off x="4171950" y="16130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7" name="delta"/>
          <p:cNvSpPr/>
          <p:nvPr/>
        </p:nvSpPr>
        <p:spPr>
          <a:xfrm>
            <a:off x="5485408" y="2352873"/>
            <a:ext cx="645120" cy="203200"/>
          </a:xfrm>
          <a:prstGeom prst="roundRect">
            <a:avLst>
              <a:gd name="adj" fmla="val 25000"/>
            </a:avLst>
          </a:prstGeom>
          <a:solidFill>
            <a:srgbClr val="FDECEF"/>
          </a:solidFill>
          <a:ln>
            <a:noFill/>
          </a:ln>
        </p:spPr>
        <p:txBody>
          <a:bodyPr rtlCol="0" anchor="ctr"/>
          <a:lstStyle/>
          <a:p>
            <a:pPr algn="ctr"/>
            <a:endParaRPr lang="ko-KR" dirty="0"/>
          </a:p>
        </p:txBody>
      </p:sp>
      <p:sp>
        <p:nvSpPr>
          <p:cNvPr id="28" name="s9-bar"/>
          <p:cNvSpPr/>
          <p:nvPr/>
        </p:nvSpPr>
        <p:spPr>
          <a:xfrm>
            <a:off x="4381500" y="27465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29" name="b0"/>
          <p:cNvSpPr/>
          <p:nvPr/>
        </p:nvSpPr>
        <p:spPr>
          <a:xfrm>
            <a:off x="4381500" y="2746573"/>
            <a:ext cx="914301" cy="50800"/>
          </a:xfrm>
          <a:custGeom>
            <a:avLst/>
            <a:gdLst/>
            <a:ahLst/>
            <a:cxnLst/>
            <a:rect l="0" t="0" r="r" b="b"/>
            <a:pathLst>
              <a:path w="914301" h="50800" stroke="0">
                <a:moveTo>
                  <a:pt x="25400" y="0"/>
                </a:moveTo>
                <a:lnTo>
                  <a:pt x="914301" y="0"/>
                </a:lnTo>
                <a:cubicBezTo>
                  <a:pt x="914301" y="0"/>
                  <a:pt x="914301" y="0"/>
                  <a:pt x="914301" y="0"/>
                </a:cubicBezTo>
                <a:lnTo>
                  <a:pt x="914301" y="50800"/>
                </a:lnTo>
                <a:cubicBezTo>
                  <a:pt x="914301" y="50800"/>
                  <a:pt x="914301" y="50800"/>
                  <a:pt x="914301"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0" name="b1"/>
          <p:cNvSpPr/>
          <p:nvPr/>
        </p:nvSpPr>
        <p:spPr>
          <a:xfrm>
            <a:off x="5295801" y="2746573"/>
            <a:ext cx="770037" cy="50800"/>
          </a:xfrm>
          <a:custGeom>
            <a:avLst/>
            <a:gdLst/>
            <a:ahLst/>
            <a:cxnLst/>
            <a:rect l="0" t="0" r="r" b="b"/>
            <a:pathLst>
              <a:path w="770037" h="50800" stroke="0">
                <a:moveTo>
                  <a:pt x="0" y="0"/>
                </a:moveTo>
                <a:lnTo>
                  <a:pt x="744637" y="0"/>
                </a:lnTo>
                <a:cubicBezTo>
                  <a:pt x="758665" y="0"/>
                  <a:pt x="770037" y="11372"/>
                  <a:pt x="770037" y="25400"/>
                </a:cubicBezTo>
                <a:lnTo>
                  <a:pt x="770037" y="25400"/>
                </a:lnTo>
                <a:cubicBezTo>
                  <a:pt x="770037" y="39428"/>
                  <a:pt x="758665" y="50800"/>
                  <a:pt x="744637"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1" name="delta"/>
          <p:cNvSpPr/>
          <p:nvPr/>
        </p:nvSpPr>
        <p:spPr>
          <a:xfrm>
            <a:off x="7492008" y="2352873"/>
            <a:ext cx="655241" cy="203200"/>
          </a:xfrm>
          <a:prstGeom prst="roundRect">
            <a:avLst>
              <a:gd name="adj" fmla="val 25000"/>
            </a:avLst>
          </a:prstGeom>
          <a:solidFill>
            <a:srgbClr val="FDECEF"/>
          </a:solidFill>
          <a:ln>
            <a:noFill/>
          </a:ln>
        </p:spPr>
        <p:txBody>
          <a:bodyPr rtlCol="0" anchor="ctr"/>
          <a:lstStyle/>
          <a:p>
            <a:pPr algn="ctr"/>
            <a:endParaRPr lang="ko-KR" dirty="0"/>
          </a:p>
        </p:txBody>
      </p:sp>
      <p:sp>
        <p:nvSpPr>
          <p:cNvPr id="32" name="s9-bar"/>
          <p:cNvSpPr/>
          <p:nvPr/>
        </p:nvSpPr>
        <p:spPr>
          <a:xfrm>
            <a:off x="6388100" y="27465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33" name="b0"/>
          <p:cNvSpPr/>
          <p:nvPr/>
        </p:nvSpPr>
        <p:spPr>
          <a:xfrm>
            <a:off x="6388100" y="2746573"/>
            <a:ext cx="640159" cy="50800"/>
          </a:xfrm>
          <a:custGeom>
            <a:avLst/>
            <a:gdLst/>
            <a:ahLst/>
            <a:cxnLst/>
            <a:rect l="0" t="0" r="r" b="b"/>
            <a:pathLst>
              <a:path w="640159" h="50800" stroke="0">
                <a:moveTo>
                  <a:pt x="25400" y="0"/>
                </a:moveTo>
                <a:lnTo>
                  <a:pt x="640159" y="0"/>
                </a:lnTo>
                <a:cubicBezTo>
                  <a:pt x="640159" y="0"/>
                  <a:pt x="640159" y="0"/>
                  <a:pt x="640159" y="0"/>
                </a:cubicBezTo>
                <a:lnTo>
                  <a:pt x="640159" y="50800"/>
                </a:lnTo>
                <a:cubicBezTo>
                  <a:pt x="640159" y="50800"/>
                  <a:pt x="640159" y="50800"/>
                  <a:pt x="640159"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4" name="b1"/>
          <p:cNvSpPr/>
          <p:nvPr/>
        </p:nvSpPr>
        <p:spPr>
          <a:xfrm>
            <a:off x="7028259" y="2746573"/>
            <a:ext cx="871041" cy="50800"/>
          </a:xfrm>
          <a:custGeom>
            <a:avLst/>
            <a:gdLst/>
            <a:ahLst/>
            <a:cxnLst/>
            <a:rect l="0" t="0" r="r" b="b"/>
            <a:pathLst>
              <a:path w="871041" h="50800" stroke="0">
                <a:moveTo>
                  <a:pt x="0" y="0"/>
                </a:moveTo>
                <a:lnTo>
                  <a:pt x="845641" y="0"/>
                </a:lnTo>
                <a:cubicBezTo>
                  <a:pt x="859670" y="0"/>
                  <a:pt x="871041" y="11372"/>
                  <a:pt x="871041" y="25400"/>
                </a:cubicBezTo>
                <a:lnTo>
                  <a:pt x="871041" y="25400"/>
                </a:lnTo>
                <a:cubicBezTo>
                  <a:pt x="871041" y="39428"/>
                  <a:pt x="859670" y="50800"/>
                  <a:pt x="845641"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5" name="s9-con r2"/>
          <p:cNvSpPr/>
          <p:nvPr/>
        </p:nvSpPr>
        <p:spPr>
          <a:xfrm>
            <a:off x="609600" y="31053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36" name="s9-ic"/>
          <p:cNvSpPr/>
          <p:nvPr/>
        </p:nvSpPr>
        <p:spPr>
          <a:xfrm>
            <a:off x="812800" y="35752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7" name="svg path"/>
          <p:cNvSpPr/>
          <p:nvPr/>
        </p:nvSpPr>
        <p:spPr>
          <a:xfrm>
            <a:off x="956945" y="3719393"/>
            <a:ext cx="168910" cy="84455"/>
          </a:xfrm>
          <a:custGeom>
            <a:avLst/>
            <a:gdLst/>
            <a:ahLst/>
            <a:cxnLst/>
            <a:rect l="0" t="0" r="r" b="b"/>
            <a:pathLst>
              <a:path w="168910" h="84455" fill="none">
                <a:moveTo>
                  <a:pt x="84455" y="0"/>
                </a:moveTo>
                <a:lnTo>
                  <a:pt x="168910" y="42227"/>
                </a:lnTo>
                <a:lnTo>
                  <a:pt x="84455" y="84455"/>
                </a:lnTo>
                <a:lnTo>
                  <a:pt x="0" y="42227"/>
                </a:lnTo>
                <a:close/>
              </a:path>
            </a:pathLst>
          </a:custGeom>
          <a:noFill/>
          <a:ln w="12065" cap="rnd">
            <a:solidFill>
              <a:srgbClr val="102A4C"/>
            </a:solidFill>
            <a:round/>
          </a:ln>
        </p:spPr>
        <p:txBody>
          <a:bodyPr rtlCol="0" anchor="ctr"/>
          <a:lstStyle/>
          <a:p>
            <a:pPr algn="ctr"/>
            <a:endParaRPr lang="ko-KR" dirty="0"/>
          </a:p>
        </p:txBody>
      </p:sp>
      <p:sp>
        <p:nvSpPr>
          <p:cNvPr id="38" name="svg path"/>
          <p:cNvSpPr/>
          <p:nvPr/>
        </p:nvSpPr>
        <p:spPr>
          <a:xfrm>
            <a:off x="956945" y="3803848"/>
            <a:ext cx="168910" cy="42227"/>
          </a:xfrm>
          <a:custGeom>
            <a:avLst/>
            <a:gdLst/>
            <a:ahLst/>
            <a:cxnLst/>
            <a:rect l="0" t="0" r="r" b="b"/>
            <a:pathLst>
              <a:path w="168910" h="42227" fill="none">
                <a:moveTo>
                  <a:pt x="0" y="0"/>
                </a:moveTo>
                <a:lnTo>
                  <a:pt x="84455" y="42227"/>
                </a:lnTo>
                <a:lnTo>
                  <a:pt x="168910" y="0"/>
                </a:lnTo>
              </a:path>
            </a:pathLst>
          </a:custGeom>
          <a:noFill/>
          <a:ln w="12065" cap="rnd">
            <a:solidFill>
              <a:srgbClr val="102A4C"/>
            </a:solidFill>
            <a:round/>
          </a:ln>
        </p:spPr>
        <p:txBody>
          <a:bodyPr rtlCol="0" anchor="ctr"/>
          <a:lstStyle/>
          <a:p>
            <a:pPr algn="ctr"/>
            <a:endParaRPr lang="ko-KR" dirty="0"/>
          </a:p>
        </p:txBody>
      </p:sp>
      <p:sp>
        <p:nvSpPr>
          <p:cNvPr id="39" name="svg path"/>
          <p:cNvSpPr/>
          <p:nvPr/>
        </p:nvSpPr>
        <p:spPr>
          <a:xfrm>
            <a:off x="956945" y="3846076"/>
            <a:ext cx="168910" cy="42227"/>
          </a:xfrm>
          <a:custGeom>
            <a:avLst/>
            <a:gdLst/>
            <a:ahLst/>
            <a:cxnLst/>
            <a:rect l="0" t="0" r="r" b="b"/>
            <a:pathLst>
              <a:path w="168910" h="42227" fill="none">
                <a:moveTo>
                  <a:pt x="0" y="0"/>
                </a:moveTo>
                <a:lnTo>
                  <a:pt x="84455" y="42227"/>
                </a:lnTo>
                <a:lnTo>
                  <a:pt x="168910" y="0"/>
                </a:lnTo>
              </a:path>
            </a:pathLst>
          </a:custGeom>
          <a:noFill/>
          <a:ln w="12065" cap="rnd">
            <a:solidFill>
              <a:srgbClr val="102A4C"/>
            </a:solidFill>
            <a:round/>
          </a:ln>
        </p:spPr>
        <p:txBody>
          <a:bodyPr rtlCol="0" anchor="ctr"/>
          <a:lstStyle/>
          <a:p>
            <a:pPr algn="ctr"/>
            <a:endParaRPr lang="ko-KR" dirty="0"/>
          </a:p>
        </p:txBody>
      </p:sp>
      <p:sp>
        <p:nvSpPr>
          <p:cNvPr id="40" name="s9-go r2::before"/>
          <p:cNvSpPr/>
          <p:nvPr/>
        </p:nvSpPr>
        <p:spPr>
          <a:xfrm>
            <a:off x="3810000" y="3797498"/>
            <a:ext cx="355600" cy="12700"/>
          </a:xfrm>
          <a:prstGeom prst="rect">
            <a:avLst/>
          </a:prstGeom>
          <a:solidFill>
            <a:srgbClr val="C8CFD8"/>
          </a:solidFill>
          <a:ln>
            <a:noFill/>
          </a:ln>
        </p:spPr>
        <p:txBody>
          <a:bodyPr rtlCol="0" anchor="ctr"/>
          <a:lstStyle/>
          <a:p>
            <a:pPr algn="ctr"/>
            <a:endParaRPr lang="ko-KR" dirty="0"/>
          </a:p>
        </p:txBody>
      </p:sp>
      <p:sp>
        <p:nvSpPr>
          <p:cNvPr id="41" name="i"/>
          <p:cNvSpPr/>
          <p:nvPr/>
        </p:nvSpPr>
        <p:spPr>
          <a:xfrm>
            <a:off x="3848100" y="3664148"/>
            <a:ext cx="279400" cy="279400"/>
          </a:xfrm>
          <a:prstGeom prst="ellipse">
            <a:avLst/>
          </a:prstGeom>
          <a:solidFill>
            <a:srgbClr val="102A4C"/>
          </a:solidFill>
          <a:ln>
            <a:noFill/>
          </a:ln>
        </p:spPr>
        <p:txBody>
          <a:bodyPr rtlCol="0" anchor="ctr"/>
          <a:lstStyle/>
          <a:p>
            <a:pPr algn="ctr"/>
            <a:endParaRPr lang="ko-KR" dirty="0"/>
          </a:p>
        </p:txBody>
      </p:sp>
      <p:sp>
        <p:nvSpPr>
          <p:cNvPr id="42" name="svg path"/>
          <p:cNvSpPr/>
          <p:nvPr/>
        </p:nvSpPr>
        <p:spPr>
          <a:xfrm>
            <a:off x="3971925" y="37689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43" name="s9-ev r2"/>
          <p:cNvSpPr/>
          <p:nvPr/>
        </p:nvSpPr>
        <p:spPr>
          <a:xfrm>
            <a:off x="4171950" y="31116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s9-bar"/>
          <p:cNvSpPr/>
          <p:nvPr/>
        </p:nvSpPr>
        <p:spPr>
          <a:xfrm>
            <a:off x="4381500" y="42451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45" name="bn"/>
          <p:cNvSpPr/>
          <p:nvPr/>
        </p:nvSpPr>
        <p:spPr>
          <a:xfrm>
            <a:off x="4381500" y="4245173"/>
            <a:ext cx="1677095" cy="50800"/>
          </a:xfrm>
          <a:prstGeom prst="roundRect">
            <a:avLst>
              <a:gd name="adj" fmla="val 50000"/>
            </a:avLst>
          </a:prstGeom>
          <a:solidFill>
            <a:srgbClr val="2B4A78"/>
          </a:solidFill>
          <a:ln>
            <a:noFill/>
          </a:ln>
        </p:spPr>
        <p:txBody>
          <a:bodyPr rtlCol="0" anchor="ctr"/>
          <a:lstStyle/>
          <a:p>
            <a:pPr algn="ctr"/>
            <a:endParaRPr lang="ko-KR" dirty="0"/>
          </a:p>
        </p:txBody>
      </p:sp>
      <p:sp>
        <p:nvSpPr>
          <p:cNvPr id="46" name="s9-bar"/>
          <p:cNvSpPr/>
          <p:nvPr/>
        </p:nvSpPr>
        <p:spPr>
          <a:xfrm>
            <a:off x="6388100" y="42451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47" name="bn"/>
          <p:cNvSpPr/>
          <p:nvPr/>
        </p:nvSpPr>
        <p:spPr>
          <a:xfrm>
            <a:off x="6388100" y="4245173"/>
            <a:ext cx="1713210" cy="50800"/>
          </a:xfrm>
          <a:prstGeom prst="roundRect">
            <a:avLst>
              <a:gd name="adj" fmla="val 50000"/>
            </a:avLst>
          </a:prstGeom>
          <a:solidFill>
            <a:srgbClr val="2B4A78"/>
          </a:solidFill>
          <a:ln>
            <a:noFill/>
          </a:ln>
        </p:spPr>
        <p:txBody>
          <a:bodyPr rtlCol="0" anchor="ctr"/>
          <a:lstStyle/>
          <a:p>
            <a:pPr algn="ctr"/>
            <a:endParaRPr lang="ko-KR" dirty="0"/>
          </a:p>
        </p:txBody>
      </p:sp>
      <p:sp>
        <p:nvSpPr>
          <p:cNvPr id="48" name="s9-con r3"/>
          <p:cNvSpPr/>
          <p:nvPr/>
        </p:nvSpPr>
        <p:spPr>
          <a:xfrm>
            <a:off x="609600" y="46039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49" name="s9-ic"/>
          <p:cNvSpPr/>
          <p:nvPr/>
        </p:nvSpPr>
        <p:spPr>
          <a:xfrm>
            <a:off x="812800" y="50738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50" name="svg path"/>
          <p:cNvSpPr/>
          <p:nvPr/>
        </p:nvSpPr>
        <p:spPr>
          <a:xfrm>
            <a:off x="956945" y="5254188"/>
            <a:ext cx="168910" cy="96520"/>
          </a:xfrm>
          <a:custGeom>
            <a:avLst/>
            <a:gdLst/>
            <a:ahLst/>
            <a:cxnLst/>
            <a:rect l="0" t="0" r="r" b="b"/>
            <a:pathLst>
              <a:path w="168910" h="96520" fill="none">
                <a:moveTo>
                  <a:pt x="0" y="0"/>
                </a:moveTo>
                <a:lnTo>
                  <a:pt x="0" y="96520"/>
                </a:lnTo>
                <a:moveTo>
                  <a:pt x="168910" y="0"/>
                </a:moveTo>
                <a:lnTo>
                  <a:pt x="168910" y="96520"/>
                </a:lnTo>
              </a:path>
            </a:pathLst>
          </a:custGeom>
          <a:noFill/>
          <a:ln w="12065" cap="rnd">
            <a:solidFill>
              <a:srgbClr val="102A4C"/>
            </a:solidFill>
            <a:round/>
          </a:ln>
        </p:spPr>
        <p:txBody>
          <a:bodyPr rtlCol="0" anchor="ctr"/>
          <a:lstStyle/>
          <a:p>
            <a:pPr algn="ctr"/>
            <a:endParaRPr lang="ko-KR" dirty="0"/>
          </a:p>
        </p:txBody>
      </p:sp>
      <p:sp>
        <p:nvSpPr>
          <p:cNvPr id="51" name="svg path"/>
          <p:cNvSpPr/>
          <p:nvPr/>
        </p:nvSpPr>
        <p:spPr>
          <a:xfrm>
            <a:off x="956945" y="5302448"/>
            <a:ext cx="168910" cy="1"/>
          </a:xfrm>
          <a:custGeom>
            <a:avLst/>
            <a:gdLst/>
            <a:ahLst/>
            <a:cxnLst/>
            <a:rect l="0" t="0" r="r" b="b"/>
            <a:pathLst>
              <a:path w="168910" h="1" fill="none">
                <a:moveTo>
                  <a:pt x="0" y="0"/>
                </a:moveTo>
                <a:lnTo>
                  <a:pt x="168910" y="0"/>
                </a:lnTo>
              </a:path>
            </a:pathLst>
          </a:custGeom>
          <a:noFill/>
          <a:ln w="12065" cap="rnd">
            <a:solidFill>
              <a:srgbClr val="102A4C"/>
            </a:solidFill>
            <a:round/>
          </a:ln>
        </p:spPr>
        <p:txBody>
          <a:bodyPr rtlCol="0" anchor="ctr"/>
          <a:lstStyle/>
          <a:p>
            <a:pPr algn="ctr"/>
            <a:endParaRPr lang="ko-KR" dirty="0"/>
          </a:p>
        </p:txBody>
      </p:sp>
      <p:sp>
        <p:nvSpPr>
          <p:cNvPr id="52" name="svg path"/>
          <p:cNvSpPr/>
          <p:nvPr/>
        </p:nvSpPr>
        <p:spPr>
          <a:xfrm>
            <a:off x="956945" y="5281335"/>
            <a:ext cx="168910" cy="42228"/>
          </a:xfrm>
          <a:custGeom>
            <a:avLst/>
            <a:gdLst/>
            <a:ahLst/>
            <a:cxnLst/>
            <a:rect l="0" t="0" r="r" b="b"/>
            <a:pathLst>
              <a:path w="168910" h="42228" fill="none">
                <a:moveTo>
                  <a:pt x="27146" y="0"/>
                </a:moveTo>
                <a:lnTo>
                  <a:pt x="0" y="21114"/>
                </a:lnTo>
                <a:lnTo>
                  <a:pt x="27146" y="42228"/>
                </a:lnTo>
                <a:moveTo>
                  <a:pt x="141764" y="0"/>
                </a:moveTo>
                <a:lnTo>
                  <a:pt x="168910" y="21114"/>
                </a:lnTo>
                <a:lnTo>
                  <a:pt x="141764" y="42228"/>
                </a:lnTo>
              </a:path>
            </a:pathLst>
          </a:custGeom>
          <a:noFill/>
          <a:ln w="12065" cap="rnd">
            <a:solidFill>
              <a:srgbClr val="102A4C"/>
            </a:solidFill>
            <a:round/>
          </a:ln>
        </p:spPr>
        <p:txBody>
          <a:bodyPr rtlCol="0" anchor="ctr"/>
          <a:lstStyle/>
          <a:p>
            <a:pPr algn="ctr"/>
            <a:endParaRPr lang="ko-KR" dirty="0"/>
          </a:p>
        </p:txBody>
      </p:sp>
      <p:sp>
        <p:nvSpPr>
          <p:cNvPr id="53" name="svg rect"/>
          <p:cNvSpPr/>
          <p:nvPr/>
        </p:nvSpPr>
        <p:spPr>
          <a:xfrm>
            <a:off x="950913" y="5368806"/>
            <a:ext cx="180975" cy="30163"/>
          </a:xfrm>
          <a:prstGeom prst="roundRect">
            <a:avLst>
              <a:gd name="adj" fmla="val 30000"/>
            </a:avLst>
          </a:prstGeom>
          <a:noFill/>
          <a:ln w="12065" cap="rnd">
            <a:solidFill>
              <a:srgbClr val="102A4C"/>
            </a:solidFill>
            <a:round/>
          </a:ln>
        </p:spPr>
        <p:txBody>
          <a:bodyPr rtlCol="0" anchor="ctr"/>
          <a:lstStyle/>
          <a:p>
            <a:pPr algn="ctr"/>
            <a:endParaRPr lang="ko-KR" dirty="0"/>
          </a:p>
        </p:txBody>
      </p:sp>
      <p:sp>
        <p:nvSpPr>
          <p:cNvPr id="54" name="svg path"/>
          <p:cNvSpPr/>
          <p:nvPr/>
        </p:nvSpPr>
        <p:spPr>
          <a:xfrm>
            <a:off x="987107" y="5368806"/>
            <a:ext cx="108585" cy="15081"/>
          </a:xfrm>
          <a:custGeom>
            <a:avLst/>
            <a:gdLst/>
            <a:ahLst/>
            <a:cxnLst/>
            <a:rect l="0" t="0" r="r" b="b"/>
            <a:pathLst>
              <a:path w="108585" h="15081" fill="none">
                <a:moveTo>
                  <a:pt x="0" y="0"/>
                </a:moveTo>
                <a:lnTo>
                  <a:pt x="0" y="15081"/>
                </a:lnTo>
                <a:moveTo>
                  <a:pt x="36195" y="0"/>
                </a:moveTo>
                <a:lnTo>
                  <a:pt x="36195" y="15081"/>
                </a:lnTo>
                <a:moveTo>
                  <a:pt x="72390" y="0"/>
                </a:moveTo>
                <a:lnTo>
                  <a:pt x="72390" y="15081"/>
                </a:lnTo>
                <a:moveTo>
                  <a:pt x="108585" y="0"/>
                </a:moveTo>
                <a:lnTo>
                  <a:pt x="108585" y="15081"/>
                </a:lnTo>
              </a:path>
            </a:pathLst>
          </a:custGeom>
          <a:noFill/>
          <a:ln w="12065" cap="rnd">
            <a:solidFill>
              <a:srgbClr val="102A4C"/>
            </a:solidFill>
            <a:round/>
          </a:ln>
        </p:spPr>
        <p:txBody>
          <a:bodyPr rtlCol="0" anchor="ctr"/>
          <a:lstStyle/>
          <a:p>
            <a:pPr algn="ctr"/>
            <a:endParaRPr lang="ko-KR" dirty="0"/>
          </a:p>
        </p:txBody>
      </p:sp>
      <p:sp>
        <p:nvSpPr>
          <p:cNvPr id="55" name="s9-go r3::before"/>
          <p:cNvSpPr/>
          <p:nvPr/>
        </p:nvSpPr>
        <p:spPr>
          <a:xfrm>
            <a:off x="3810000" y="5296098"/>
            <a:ext cx="3556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3848100" y="5162748"/>
            <a:ext cx="279400" cy="2794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3971925" y="52675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58" name="s9-ev r3"/>
          <p:cNvSpPr/>
          <p:nvPr/>
        </p:nvSpPr>
        <p:spPr>
          <a:xfrm>
            <a:off x="4171950" y="46102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9" name="delta"/>
          <p:cNvSpPr/>
          <p:nvPr/>
        </p:nvSpPr>
        <p:spPr>
          <a:xfrm>
            <a:off x="5485408" y="5350073"/>
            <a:ext cx="651371" cy="203200"/>
          </a:xfrm>
          <a:prstGeom prst="roundRect">
            <a:avLst>
              <a:gd name="adj" fmla="val 25000"/>
            </a:avLst>
          </a:prstGeom>
          <a:solidFill>
            <a:srgbClr val="FDECEF"/>
          </a:solidFill>
          <a:ln>
            <a:noFill/>
          </a:ln>
        </p:spPr>
        <p:txBody>
          <a:bodyPr rtlCol="0" anchor="ctr"/>
          <a:lstStyle/>
          <a:p>
            <a:pPr algn="ctr"/>
            <a:endParaRPr lang="ko-KR" dirty="0"/>
          </a:p>
        </p:txBody>
      </p:sp>
      <p:sp>
        <p:nvSpPr>
          <p:cNvPr id="60" name="s9-bar"/>
          <p:cNvSpPr/>
          <p:nvPr/>
        </p:nvSpPr>
        <p:spPr>
          <a:xfrm>
            <a:off x="4381500" y="57437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61" name="b0"/>
          <p:cNvSpPr/>
          <p:nvPr/>
        </p:nvSpPr>
        <p:spPr>
          <a:xfrm>
            <a:off x="4381500" y="5743773"/>
            <a:ext cx="665361" cy="50800"/>
          </a:xfrm>
          <a:custGeom>
            <a:avLst/>
            <a:gdLst/>
            <a:ahLst/>
            <a:cxnLst/>
            <a:rect l="0" t="0" r="r" b="b"/>
            <a:pathLst>
              <a:path w="665361" h="50800" stroke="0">
                <a:moveTo>
                  <a:pt x="25400" y="0"/>
                </a:moveTo>
                <a:lnTo>
                  <a:pt x="665361" y="0"/>
                </a:lnTo>
                <a:cubicBezTo>
                  <a:pt x="665361" y="0"/>
                  <a:pt x="665361" y="0"/>
                  <a:pt x="665361" y="0"/>
                </a:cubicBezTo>
                <a:lnTo>
                  <a:pt x="665361" y="50800"/>
                </a:lnTo>
                <a:cubicBezTo>
                  <a:pt x="665361" y="50800"/>
                  <a:pt x="665361" y="50800"/>
                  <a:pt x="665361"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62" name="b1"/>
          <p:cNvSpPr/>
          <p:nvPr/>
        </p:nvSpPr>
        <p:spPr>
          <a:xfrm>
            <a:off x="5046861" y="5743773"/>
            <a:ext cx="609501" cy="50800"/>
          </a:xfrm>
          <a:custGeom>
            <a:avLst/>
            <a:gdLst/>
            <a:ahLst/>
            <a:cxnLst/>
            <a:rect l="0" t="0" r="r" b="b"/>
            <a:pathLst>
              <a:path w="609501" h="50800" stroke="0">
                <a:moveTo>
                  <a:pt x="0" y="0"/>
                </a:moveTo>
                <a:lnTo>
                  <a:pt x="584101" y="0"/>
                </a:lnTo>
                <a:cubicBezTo>
                  <a:pt x="598129" y="0"/>
                  <a:pt x="609501" y="11372"/>
                  <a:pt x="609501" y="25400"/>
                </a:cubicBezTo>
                <a:lnTo>
                  <a:pt x="609501" y="25400"/>
                </a:lnTo>
                <a:cubicBezTo>
                  <a:pt x="609501" y="39428"/>
                  <a:pt x="598129" y="50800"/>
                  <a:pt x="584101"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63" name="s9-bar"/>
          <p:cNvSpPr/>
          <p:nvPr/>
        </p:nvSpPr>
        <p:spPr>
          <a:xfrm>
            <a:off x="6388100" y="57437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64" name="b0 solo"/>
          <p:cNvSpPr/>
          <p:nvPr/>
        </p:nvSpPr>
        <p:spPr>
          <a:xfrm>
            <a:off x="6388100" y="5743773"/>
            <a:ext cx="665361" cy="50800"/>
          </a:xfrm>
          <a:prstGeom prst="roundRect">
            <a:avLst>
              <a:gd name="adj" fmla="val 50000"/>
            </a:avLst>
          </a:prstGeom>
          <a:solidFill>
            <a:srgbClr val="C3C9D2"/>
          </a:solidFill>
          <a:ln>
            <a:noFill/>
          </a:ln>
        </p:spPr>
        <p:txBody>
          <a:bodyPr rtlCol="0" anchor="ctr"/>
          <a:lstStyle/>
          <a:p>
            <a:pPr algn="ctr"/>
            <a:endParaRPr lang="ko-KR" dirty="0"/>
          </a:p>
        </p:txBody>
      </p:sp>
      <p:sp>
        <p:nvSpPr>
          <p:cNvPr id="65" name="svg path"/>
          <p:cNvSpPr/>
          <p:nvPr/>
        </p:nvSpPr>
        <p:spPr>
          <a:xfrm>
            <a:off x="8664575" y="1317823"/>
            <a:ext cx="107950" cy="120650"/>
          </a:xfrm>
          <a:custGeom>
            <a:avLst/>
            <a:gdLst/>
            <a:ahLst/>
            <a:cxnLst/>
            <a:rect l="0" t="0" r="r" b="b"/>
            <a:pathLst>
              <a:path w="107950" h="120650" fill="none">
                <a:moveTo>
                  <a:pt x="53975" y="0"/>
                </a:moveTo>
                <a:lnTo>
                  <a:pt x="107950" y="30163"/>
                </a:lnTo>
                <a:lnTo>
                  <a:pt x="107950" y="90488"/>
                </a:lnTo>
                <a:lnTo>
                  <a:pt x="53975" y="120650"/>
                </a:lnTo>
                <a:lnTo>
                  <a:pt x="0" y="90488"/>
                </a:lnTo>
                <a:lnTo>
                  <a:pt x="0" y="30163"/>
                </a:lnTo>
                <a:close/>
              </a:path>
            </a:pathLst>
          </a:custGeom>
          <a:noFill/>
          <a:ln w="12700">
            <a:solidFill>
              <a:srgbClr val="102A4C"/>
            </a:solidFill>
            <a:round/>
          </a:ln>
        </p:spPr>
        <p:txBody>
          <a:bodyPr rtlCol="0" anchor="ctr"/>
          <a:lstStyle/>
          <a:p>
            <a:pPr algn="ctr"/>
            <a:endParaRPr lang="ko-KR" dirty="0"/>
          </a:p>
        </p:txBody>
      </p:sp>
      <p:sp>
        <p:nvSpPr>
          <p:cNvPr id="66" name="svg path"/>
          <p:cNvSpPr/>
          <p:nvPr/>
        </p:nvSpPr>
        <p:spPr>
          <a:xfrm>
            <a:off x="8664575" y="1347986"/>
            <a:ext cx="107950" cy="90488"/>
          </a:xfrm>
          <a:custGeom>
            <a:avLst/>
            <a:gdLst/>
            <a:ahLst/>
            <a:cxnLst/>
            <a:rect l="0" t="0" r="r" b="b"/>
            <a:pathLst>
              <a:path w="107950" h="90488" fill="none">
                <a:moveTo>
                  <a:pt x="0" y="0"/>
                </a:moveTo>
                <a:lnTo>
                  <a:pt x="53975" y="30163"/>
                </a:lnTo>
                <a:lnTo>
                  <a:pt x="107950" y="0"/>
                </a:lnTo>
                <a:moveTo>
                  <a:pt x="53975" y="30163"/>
                </a:moveTo>
                <a:lnTo>
                  <a:pt x="53975" y="90488"/>
                </a:lnTo>
              </a:path>
            </a:pathLst>
          </a:custGeom>
          <a:noFill/>
          <a:ln w="12700">
            <a:solidFill>
              <a:srgbClr val="102A4C"/>
            </a:solidFill>
            <a:round/>
          </a:ln>
        </p:spPr>
        <p:txBody>
          <a:bodyPr rtlCol="0" anchor="ctr"/>
          <a:lstStyle/>
          <a:p>
            <a:pPr algn="ctr"/>
            <a:endParaRPr lang="ko-KR" dirty="0"/>
          </a:p>
        </p:txBody>
      </p:sp>
      <p:sp>
        <p:nvSpPr>
          <p:cNvPr id="67" name="s9-ch c3::after"/>
          <p:cNvSpPr/>
          <p:nvPr/>
        </p:nvSpPr>
        <p:spPr>
          <a:xfrm>
            <a:off x="9542463" y="1371798"/>
            <a:ext cx="2039938" cy="12700"/>
          </a:xfrm>
          <a:prstGeom prst="roundRect">
            <a:avLst>
              <a:gd name="adj" fmla="val 50000"/>
            </a:avLst>
          </a:prstGeom>
          <a:solidFill>
            <a:srgbClr val="102A4C"/>
          </a:solidFill>
          <a:ln>
            <a:noFill/>
          </a:ln>
        </p:spPr>
        <p:txBody>
          <a:bodyPr rtlCol="0" anchor="ctr"/>
          <a:lstStyle/>
          <a:p>
            <a:pPr algn="ctr"/>
            <a:endParaRPr lang="ko-KR" dirty="0"/>
          </a:p>
        </p:txBody>
      </p:sp>
      <p:sp>
        <p:nvSpPr>
          <p:cNvPr id="68" name="s9-hero"/>
          <p:cNvSpPr/>
          <p:nvPr/>
        </p:nvSpPr>
        <p:spPr>
          <a:xfrm>
            <a:off x="8636000" y="1606748"/>
            <a:ext cx="2946400" cy="4730750"/>
          </a:xfrm>
          <a:prstGeom prst="roundRect">
            <a:avLst>
              <a:gd name="adj" fmla="val 4310"/>
            </a:avLst>
          </a:prstGeom>
          <a:solidFill>
            <a:srgbClr val="102A4C"/>
          </a:solidFill>
          <a:ln>
            <a:noFill/>
          </a:ln>
          <a:effectLst>
            <a:outerShdw blurRad="177800" dist="63500" dir="5400000" algn="ctr" rotWithShape="0">
              <a:srgbClr val="102A4C">
                <a:alpha val="18000"/>
              </a:srgbClr>
            </a:outerShdw>
          </a:effectLst>
        </p:spPr>
        <p:txBody>
          <a:bodyPr rtlCol="0" anchor="ctr"/>
          <a:lstStyle/>
          <a:p>
            <a:pPr algn="ctr"/>
            <a:endParaRPr lang="ko-KR" dirty="0"/>
          </a:p>
        </p:txBody>
      </p:sp>
      <p:sp>
        <p:nvSpPr>
          <p:cNvPr id="69" name="s9-hbar"/>
          <p:cNvSpPr/>
          <p:nvPr/>
        </p:nvSpPr>
        <p:spPr>
          <a:xfrm>
            <a:off x="8890000" y="3291979"/>
            <a:ext cx="2438400" cy="76200"/>
          </a:xfrm>
          <a:prstGeom prst="roundRect">
            <a:avLst>
              <a:gd name="adj" fmla="val 50000"/>
            </a:avLst>
          </a:prstGeom>
          <a:solidFill>
            <a:srgbClr val="FFFFFF">
              <a:alpha val="16000"/>
            </a:srgbClr>
          </a:solidFill>
          <a:ln>
            <a:noFill/>
          </a:ln>
        </p:spPr>
        <p:txBody>
          <a:bodyPr rtlCol="0" anchor="ctr"/>
          <a:lstStyle/>
          <a:p>
            <a:pPr algn="ctr"/>
            <a:endParaRPr lang="ko-KR" dirty="0"/>
          </a:p>
        </p:txBody>
      </p:sp>
      <p:sp>
        <p:nvSpPr>
          <p:cNvPr id="70" name="i"/>
          <p:cNvSpPr/>
          <p:nvPr/>
        </p:nvSpPr>
        <p:spPr>
          <a:xfrm>
            <a:off x="8890000" y="3291979"/>
            <a:ext cx="2274987" cy="76200"/>
          </a:xfrm>
          <a:prstGeom prst="roundRect">
            <a:avLst>
              <a:gd name="adj" fmla="val 50000"/>
            </a:avLst>
          </a:prstGeom>
          <a:solidFill>
            <a:srgbClr val="EA002C"/>
          </a:solidFill>
          <a:ln>
            <a:noFill/>
          </a:ln>
        </p:spPr>
        <p:txBody>
          <a:bodyPr rtlCol="0" anchor="ctr"/>
          <a:lstStyle/>
          <a:p>
            <a:pPr algn="ctr"/>
            <a:endParaRPr lang="ko-KR" dirty="0"/>
          </a:p>
        </p:txBody>
      </p:sp>
      <p:sp>
        <p:nvSpPr>
          <p:cNvPr id="71" name="fig"/>
          <p:cNvSpPr/>
          <p:nvPr/>
        </p:nvSpPr>
        <p:spPr>
          <a:xfrm>
            <a:off x="8890000" y="3825379"/>
            <a:ext cx="2438400" cy="2105720"/>
          </a:xfrm>
          <a:prstGeom prst="roundRect">
            <a:avLst>
              <a:gd name="adj" fmla="val 3619"/>
            </a:avLst>
          </a:prstGeom>
          <a:solidFill>
            <a:srgbClr val="FFFFFF"/>
          </a:solidFill>
          <a:ln>
            <a:noFill/>
          </a:ln>
        </p:spPr>
        <p:txBody>
          <a:bodyPr rtlCol="0" anchor="ctr"/>
          <a:lstStyle/>
          <a:p>
            <a:pPr algn="ctr"/>
            <a:endParaRPr lang="ko-KR" dirty="0"/>
          </a:p>
        </p:txBody>
      </p:sp>
      <p:pic>
        <p:nvPicPr>
          <p:cNvPr id="72" name="img" descr="img">    </p:cNvPr>
          <p:cNvPicPr>
            <a:picLocks noChangeAspect="1"/>
          </p:cNvPicPr>
          <p:nvPr/>
        </p:nvPicPr>
        <p:blipFill>
          <a:blip r:embed="rId1"/>
          <a:stretch>
            <a:fillRect/>
          </a:stretch>
        </p:blipFill>
        <p:spPr>
          <a:xfrm>
            <a:off x="9017000" y="3924862"/>
            <a:ext cx="2108200" cy="1905000"/>
          </a:xfrm>
          <a:prstGeom prst="rect">
            <a:avLst/>
          </a:prstGeom>
        </p:spPr>
      </p:pic>
      <p:sp>
        <p:nvSpPr>
          <p:cNvPr id="73" name="04"/>
          <p:cNvSpPr txBox="1"/>
          <p:nvPr/>
        </p:nvSpPr>
        <p:spPr>
          <a:xfrm>
            <a:off x="609600" y="401439"/>
            <a:ext cx="21848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04</a:t>
            </a:r>
            <a:endParaRPr lang="en-US" sz="950" dirty="0"/>
          </a:p>
        </p:txBody>
      </p:sp>
      <p:sp>
        <p:nvSpPr>
          <p:cNvPr id="74" name="연구 결과 및 기여"/>
          <p:cNvSpPr txBox="1"/>
          <p:nvPr/>
        </p:nvSpPr>
        <p:spPr>
          <a:xfrm>
            <a:off x="866180" y="401439"/>
            <a:ext cx="84891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결과 및 기여</a:t>
            </a:r>
            <a:endParaRPr lang="en-US" sz="950" dirty="0"/>
          </a:p>
        </p:txBody>
      </p:sp>
      <p:sp>
        <p:nvSpPr>
          <p:cNvPr id="75" name="연구 기여와 근거"/>
          <p:cNvSpPr txBox="1"/>
          <p:nvPr/>
        </p:nvSpPr>
        <p:spPr>
          <a:xfrm>
            <a:off x="1848445" y="401439"/>
            <a:ext cx="82430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연구 기여와 근거</a:t>
            </a:r>
            <a:endParaRPr lang="en-US" sz="950" dirty="0"/>
          </a:p>
        </p:txBody>
      </p:sp>
      <p:sp>
        <p:nvSpPr>
          <p:cNvPr id="76" name="세 가지 기여가 모두 수치로 뒷받침됩니다."/>
          <p:cNvSpPr txBox="1"/>
          <p:nvPr/>
        </p:nvSpPr>
        <p:spPr>
          <a:xfrm>
            <a:off x="609600" y="666750"/>
            <a:ext cx="4701078"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세 가지 기여가 모두 </a:t>
            </a:r>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수치로</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뒷받침됩니다.</a:t>
            </a:r>
            <a:endParaRPr lang="en-US" sz="2300" dirty="0"/>
          </a:p>
        </p:txBody>
      </p:sp>
      <p:sp>
        <p:nvSpPr>
          <p:cNvPr id="7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7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7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8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04</a:t>
            </a:r>
            <a:endParaRPr lang="en-US" sz="700" dirty="0"/>
          </a:p>
        </p:txBody>
      </p:sp>
      <p:sp>
        <p:nvSpPr>
          <p:cNvPr id="8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82" name="연구 기여"/>
          <p:cNvSpPr txBox="1"/>
          <p:nvPr/>
        </p:nvSpPr>
        <p:spPr>
          <a:xfrm>
            <a:off x="876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기여</a:t>
            </a:r>
            <a:endParaRPr lang="en-US" sz="1200" dirty="0"/>
          </a:p>
        </p:txBody>
      </p:sp>
      <p:sp>
        <p:nvSpPr>
          <p:cNvPr id="83" name="근거 수치"/>
          <p:cNvSpPr txBox="1"/>
          <p:nvPr/>
        </p:nvSpPr>
        <p:spPr>
          <a:xfrm>
            <a:off x="4432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근거 수치</a:t>
            </a:r>
            <a:endParaRPr lang="en-US" sz="1200" dirty="0"/>
          </a:p>
        </p:txBody>
      </p:sp>
      <p:sp>
        <p:nvSpPr>
          <p:cNvPr id="84" name="비교 기준"/>
          <p:cNvSpPr txBox="1"/>
          <p:nvPr/>
        </p:nvSpPr>
        <p:spPr>
          <a:xfrm>
            <a:off x="7454602" y="1314648"/>
            <a:ext cx="416024"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비교 기준</a:t>
            </a:r>
            <a:endParaRPr lang="en-US" sz="800" dirty="0"/>
          </a:p>
        </p:txBody>
      </p:sp>
      <p:sp>
        <p:nvSpPr>
          <p:cNvPr id="85" name="향상분"/>
          <p:cNvSpPr txBox="1"/>
          <p:nvPr/>
        </p:nvSpPr>
        <p:spPr>
          <a:xfrm>
            <a:off x="8124627" y="1314648"/>
            <a:ext cx="308173"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향상분</a:t>
            </a:r>
            <a:endParaRPr lang="en-US" sz="800" dirty="0"/>
          </a:p>
        </p:txBody>
      </p:sp>
      <p:sp>
        <p:nvSpPr>
          <p:cNvPr id="86" name="기여 1"/>
          <p:cNvSpPr txBox="1"/>
          <p:nvPr/>
        </p:nvSpPr>
        <p:spPr>
          <a:xfrm>
            <a:off x="1422400" y="196314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1</a:t>
            </a:r>
            <a:endParaRPr lang="en-US" sz="800" dirty="0"/>
          </a:p>
        </p:txBody>
      </p:sp>
      <p:sp>
        <p:nvSpPr>
          <p:cNvPr id="87" name="도면 종류별 최적"/>
          <p:cNvSpPr txBox="1"/>
          <p:nvPr/>
        </p:nvSpPr>
        <p:spPr>
          <a:xfrm>
            <a:off x="1422400" y="2191742"/>
            <a:ext cx="1074120"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 종류별 최적</a:t>
            </a:r>
            <a:endParaRPr lang="en-US" sz="1300" dirty="0"/>
          </a:p>
        </p:txBody>
      </p:sp>
      <p:sp>
        <p:nvSpPr>
          <p:cNvPr id="88" name="학습·인식 전략 제안"/>
          <p:cNvSpPr txBox="1"/>
          <p:nvPr/>
        </p:nvSpPr>
        <p:spPr>
          <a:xfrm>
            <a:off x="1422400" y="2419548"/>
            <a:ext cx="1262378"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학습·인식 전략 제안</a:t>
            </a:r>
            <a:endParaRPr lang="en-US" sz="1300" dirty="0"/>
          </a:p>
        </p:txBody>
      </p:sp>
      <p:sp>
        <p:nvSpPr>
          <p:cNvPr id="89" name="도면 객체 인식 mAP@0.5"/>
          <p:cNvSpPr txBox="1"/>
          <p:nvPr/>
        </p:nvSpPr>
        <p:spPr>
          <a:xfrm>
            <a:off x="4381500" y="1800423"/>
            <a:ext cx="1311283"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도면 객체 인식 mAP@0.5</a:t>
            </a:r>
            <a:endParaRPr lang="en-US" sz="950" dirty="0"/>
          </a:p>
        </p:txBody>
      </p:sp>
      <p:sp>
        <p:nvSpPr>
          <p:cNvPr id="90" name="·  Baseline 대비"/>
          <p:cNvSpPr txBox="1"/>
          <p:nvPr/>
        </p:nvSpPr>
        <p:spPr>
          <a:xfrm>
            <a:off x="5669359" y="1800423"/>
            <a:ext cx="816372"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Baseline 대비</a:t>
            </a:r>
            <a:endParaRPr lang="en-US" sz="950" dirty="0"/>
          </a:p>
        </p:txBody>
      </p:sp>
      <p:sp>
        <p:nvSpPr>
          <p:cNvPr id="91" name="평면도"/>
          <p:cNvSpPr txBox="1"/>
          <p:nvPr/>
        </p:nvSpPr>
        <p:spPr>
          <a:xfrm>
            <a:off x="4381500" y="20798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평면도</a:t>
            </a:r>
            <a:endParaRPr lang="en-US" sz="950" dirty="0"/>
          </a:p>
        </p:txBody>
      </p:sp>
      <p:sp>
        <p:nvSpPr>
          <p:cNvPr id="92" name="0.934"/>
          <p:cNvSpPr txBox="1"/>
          <p:nvPr/>
        </p:nvSpPr>
        <p:spPr>
          <a:xfrm>
            <a:off x="4381500" y="2225873"/>
            <a:ext cx="1116294" cy="450850"/>
          </a:xfrm>
          <a:prstGeom prst="rect">
            <a:avLst/>
          </a:prstGeom>
          <a:noFill/>
          <a:ln/>
        </p:spPr>
        <p:txBody>
          <a:bodyPr wrap="none" lIns="0" tIns="0" rIns="0" bIns="0" rtlCol="0" anchor="ctr"/>
          <a:lstStyle/>
          <a:p>
            <a:pPr algn="l" indent="0" marL="0">
              <a:buNone/>
            </a:pPr>
            <a:r>
              <a:rPr lang="ko-KR" altLang="en-US" sz="3000" spc="-120" kern="0" dirty="0">
                <a:solidFill>
                  <a:srgbClr val="102A4C"/>
                </a:solidFill>
                <a:latin typeface="Pretendard ExtraBold" pitchFamily="34" charset="0"/>
                <a:ea typeface="Pretendard ExtraBold" pitchFamily="34" charset="-127"/>
                <a:cs typeface="Pretendard ExtraBold" pitchFamily="34" charset="-120"/>
              </a:rPr>
              <a:t>0.934</a:t>
            </a:r>
            <a:endParaRPr lang="en-US" sz="3000" dirty="0"/>
          </a:p>
        </p:txBody>
      </p:sp>
      <p:sp>
        <p:nvSpPr>
          <p:cNvPr id="93" name="+42.7%p"/>
          <p:cNvSpPr txBox="1"/>
          <p:nvPr/>
        </p:nvSpPr>
        <p:spPr>
          <a:xfrm>
            <a:off x="5561608" y="2384326"/>
            <a:ext cx="543520"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+42.7%p</a:t>
            </a:r>
            <a:endParaRPr lang="en-US" sz="900" dirty="0"/>
          </a:p>
        </p:txBody>
      </p:sp>
      <p:sp>
        <p:nvSpPr>
          <p:cNvPr id="94" name="입면도"/>
          <p:cNvSpPr txBox="1"/>
          <p:nvPr/>
        </p:nvSpPr>
        <p:spPr>
          <a:xfrm>
            <a:off x="6388100" y="20798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입면도</a:t>
            </a:r>
            <a:endParaRPr lang="en-US" sz="950" dirty="0"/>
          </a:p>
        </p:txBody>
      </p:sp>
      <p:sp>
        <p:nvSpPr>
          <p:cNvPr id="95" name="0.838"/>
          <p:cNvSpPr txBox="1"/>
          <p:nvPr/>
        </p:nvSpPr>
        <p:spPr>
          <a:xfrm>
            <a:off x="6388100" y="2225873"/>
            <a:ext cx="1116294" cy="450850"/>
          </a:xfrm>
          <a:prstGeom prst="rect">
            <a:avLst/>
          </a:prstGeom>
          <a:noFill/>
          <a:ln/>
        </p:spPr>
        <p:txBody>
          <a:bodyPr wrap="none" lIns="0" tIns="0" rIns="0" bIns="0" rtlCol="0" anchor="ctr"/>
          <a:lstStyle/>
          <a:p>
            <a:pPr algn="l" indent="0" marL="0">
              <a:buNone/>
            </a:pPr>
            <a:r>
              <a:rPr lang="ko-KR" altLang="en-US" sz="3000" spc="-120" kern="0" dirty="0">
                <a:solidFill>
                  <a:srgbClr val="102A4C"/>
                </a:solidFill>
                <a:latin typeface="Pretendard ExtraBold" pitchFamily="34" charset="0"/>
                <a:ea typeface="Pretendard ExtraBold" pitchFamily="34" charset="-127"/>
                <a:cs typeface="Pretendard ExtraBold" pitchFamily="34" charset="-120"/>
              </a:rPr>
              <a:t>0.838</a:t>
            </a:r>
            <a:endParaRPr lang="en-US" sz="3000" dirty="0"/>
          </a:p>
        </p:txBody>
      </p:sp>
      <p:sp>
        <p:nvSpPr>
          <p:cNvPr id="96" name="+48.3%p"/>
          <p:cNvSpPr txBox="1"/>
          <p:nvPr/>
        </p:nvSpPr>
        <p:spPr>
          <a:xfrm>
            <a:off x="7568208" y="2384326"/>
            <a:ext cx="55364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+48.3%p</a:t>
            </a:r>
            <a:endParaRPr lang="en-US" sz="900" dirty="0"/>
          </a:p>
        </p:txBody>
      </p:sp>
      <p:sp>
        <p:nvSpPr>
          <p:cNvPr id="97" name="기여 2"/>
          <p:cNvSpPr txBox="1"/>
          <p:nvPr/>
        </p:nvSpPr>
        <p:spPr>
          <a:xfrm>
            <a:off x="1422400" y="346174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2</a:t>
            </a:r>
            <a:endParaRPr lang="en-US" sz="800" dirty="0"/>
          </a:p>
        </p:txBody>
      </p:sp>
      <p:sp>
        <p:nvSpPr>
          <p:cNvPr id="98" name="CAD 정보 없이 평면도·입면도 간"/>
          <p:cNvSpPr txBox="1"/>
          <p:nvPr/>
        </p:nvSpPr>
        <p:spPr>
          <a:xfrm>
            <a:off x="1422400" y="3690342"/>
            <a:ext cx="2117425"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CAD 정보 없이 평면도·입면도 간</a:t>
            </a:r>
            <a:endParaRPr lang="en-US" sz="1300" dirty="0"/>
          </a:p>
        </p:txBody>
      </p:sp>
      <p:sp>
        <p:nvSpPr>
          <p:cNvPr id="99" name="객체 대응 관계 정의"/>
          <p:cNvSpPr txBox="1"/>
          <p:nvPr/>
        </p:nvSpPr>
        <p:spPr>
          <a:xfrm>
            <a:off x="1422400" y="3918148"/>
            <a:ext cx="1250494"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객체 대응 관계 정의</a:t>
            </a:r>
            <a:endParaRPr lang="en-US" sz="1300" dirty="0"/>
          </a:p>
        </p:txBody>
      </p:sp>
      <p:sp>
        <p:nvSpPr>
          <p:cNvPr id="100" name="대응 객체 매칭 F1-score"/>
          <p:cNvSpPr txBox="1"/>
          <p:nvPr/>
        </p:nvSpPr>
        <p:spPr>
          <a:xfrm>
            <a:off x="4381500" y="3299023"/>
            <a:ext cx="1241659"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대응 객체 매칭 F1-score</a:t>
            </a:r>
            <a:endParaRPr lang="en-US" sz="950" dirty="0"/>
          </a:p>
        </p:txBody>
      </p:sp>
      <p:sp>
        <p:nvSpPr>
          <p:cNvPr id="101" name="창문"/>
          <p:cNvSpPr txBox="1"/>
          <p:nvPr/>
        </p:nvSpPr>
        <p:spPr>
          <a:xfrm>
            <a:off x="4381500" y="3578423"/>
            <a:ext cx="25638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창문</a:t>
            </a:r>
            <a:endParaRPr lang="en-US" sz="950" dirty="0"/>
          </a:p>
        </p:txBody>
      </p:sp>
      <p:sp>
        <p:nvSpPr>
          <p:cNvPr id="102" name="0.93"/>
          <p:cNvSpPr txBox="1"/>
          <p:nvPr/>
        </p:nvSpPr>
        <p:spPr>
          <a:xfrm>
            <a:off x="4381500" y="3724473"/>
            <a:ext cx="864592" cy="450850"/>
          </a:xfrm>
          <a:prstGeom prst="rect">
            <a:avLst/>
          </a:prstGeom>
          <a:noFill/>
          <a:ln/>
        </p:spPr>
        <p:txBody>
          <a:bodyPr wrap="none" lIns="0" tIns="0" rIns="0" bIns="0" rtlCol="0" anchor="ctr"/>
          <a:lstStyle/>
          <a:p>
            <a:pPr algn="l" indent="0" marL="0">
              <a:buNone/>
            </a:pPr>
            <a:r>
              <a:rPr lang="ko-KR" altLang="en-US" sz="3000" spc="-120" kern="0" dirty="0">
                <a:solidFill>
                  <a:srgbClr val="102A4C"/>
                </a:solidFill>
                <a:latin typeface="Pretendard ExtraBold" pitchFamily="34" charset="0"/>
                <a:ea typeface="Pretendard ExtraBold" pitchFamily="34" charset="-127"/>
                <a:cs typeface="Pretendard ExtraBold" pitchFamily="34" charset="-120"/>
              </a:rPr>
              <a:t>0.93</a:t>
            </a:r>
            <a:endParaRPr lang="en-US" sz="3000" dirty="0"/>
          </a:p>
        </p:txBody>
      </p:sp>
      <p:sp>
        <p:nvSpPr>
          <p:cNvPr id="103" name="문"/>
          <p:cNvSpPr txBox="1"/>
          <p:nvPr/>
        </p:nvSpPr>
        <p:spPr>
          <a:xfrm>
            <a:off x="6388100" y="3578423"/>
            <a:ext cx="15359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문</a:t>
            </a:r>
            <a:endParaRPr lang="en-US" sz="950" dirty="0"/>
          </a:p>
        </p:txBody>
      </p:sp>
      <p:sp>
        <p:nvSpPr>
          <p:cNvPr id="104" name="0.95"/>
          <p:cNvSpPr txBox="1"/>
          <p:nvPr/>
        </p:nvSpPr>
        <p:spPr>
          <a:xfrm>
            <a:off x="6388100" y="3724473"/>
            <a:ext cx="864592" cy="450850"/>
          </a:xfrm>
          <a:prstGeom prst="rect">
            <a:avLst/>
          </a:prstGeom>
          <a:noFill/>
          <a:ln/>
        </p:spPr>
        <p:txBody>
          <a:bodyPr wrap="none" lIns="0" tIns="0" rIns="0" bIns="0" rtlCol="0" anchor="ctr"/>
          <a:lstStyle/>
          <a:p>
            <a:pPr algn="l" indent="0" marL="0">
              <a:buNone/>
            </a:pPr>
            <a:r>
              <a:rPr lang="ko-KR" altLang="en-US" sz="3000" spc="-120" kern="0" dirty="0">
                <a:solidFill>
                  <a:srgbClr val="102A4C"/>
                </a:solidFill>
                <a:latin typeface="Pretendard ExtraBold" pitchFamily="34" charset="0"/>
                <a:ea typeface="Pretendard ExtraBold" pitchFamily="34" charset="-127"/>
                <a:cs typeface="Pretendard ExtraBold" pitchFamily="34" charset="-120"/>
              </a:rPr>
              <a:t>0.95</a:t>
            </a:r>
            <a:endParaRPr lang="en-US" sz="3000" dirty="0"/>
          </a:p>
        </p:txBody>
      </p:sp>
      <p:sp>
        <p:nvSpPr>
          <p:cNvPr id="105" name="기여 3"/>
          <p:cNvSpPr txBox="1"/>
          <p:nvPr/>
        </p:nvSpPr>
        <p:spPr>
          <a:xfrm>
            <a:off x="1422400" y="496034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3</a:t>
            </a:r>
            <a:endParaRPr lang="en-US" sz="800" dirty="0"/>
          </a:p>
        </p:txBody>
      </p:sp>
      <p:sp>
        <p:nvSpPr>
          <p:cNvPr id="106" name="LMM 기반 축척 인식으로 불완전한"/>
          <p:cNvSpPr txBox="1"/>
          <p:nvPr/>
        </p:nvSpPr>
        <p:spPr>
          <a:xfrm>
            <a:off x="1422400" y="5188942"/>
            <a:ext cx="2247207"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LMM 기반 축척 인식으로 불완전한</a:t>
            </a:r>
            <a:endParaRPr lang="en-US" sz="1300" dirty="0"/>
          </a:p>
        </p:txBody>
      </p:sp>
      <p:sp>
        <p:nvSpPr>
          <p:cNvPr id="107" name="도면에서도 안정적인 치수 보정"/>
          <p:cNvSpPr txBox="1"/>
          <p:nvPr/>
        </p:nvSpPr>
        <p:spPr>
          <a:xfrm>
            <a:off x="1422400" y="5416748"/>
            <a:ext cx="1971762"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도면에서도 안정적인 치수 보정</a:t>
            </a:r>
            <a:endParaRPr lang="en-US" sz="1300" dirty="0"/>
          </a:p>
        </p:txBody>
      </p:sp>
      <p:sp>
        <p:nvSpPr>
          <p:cNvPr id="108" name="축척 인식 정확도"/>
          <p:cNvSpPr txBox="1"/>
          <p:nvPr/>
        </p:nvSpPr>
        <p:spPr>
          <a:xfrm>
            <a:off x="4381500" y="4797623"/>
            <a:ext cx="812998"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축척 인식 정확도</a:t>
            </a:r>
            <a:endParaRPr lang="en-US" sz="950" dirty="0"/>
          </a:p>
        </p:txBody>
      </p:sp>
      <p:sp>
        <p:nvSpPr>
          <p:cNvPr id="109" name="·  Tesseract OCR 대비"/>
          <p:cNvSpPr txBox="1"/>
          <p:nvPr/>
        </p:nvSpPr>
        <p:spPr>
          <a:xfrm>
            <a:off x="5194498" y="4797623"/>
            <a:ext cx="1179292"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Tesseract OCR 대비</a:t>
            </a:r>
            <a:endParaRPr lang="en-US" sz="950" dirty="0"/>
          </a:p>
        </p:txBody>
      </p:sp>
      <p:sp>
        <p:nvSpPr>
          <p:cNvPr id="110" name="LMM(GPT-4o)"/>
          <p:cNvSpPr txBox="1"/>
          <p:nvPr/>
        </p:nvSpPr>
        <p:spPr>
          <a:xfrm>
            <a:off x="4381500" y="5077023"/>
            <a:ext cx="845245"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LMM(GPT-4o)</a:t>
            </a:r>
            <a:endParaRPr lang="en-US" sz="950" dirty="0"/>
          </a:p>
        </p:txBody>
      </p:sp>
      <p:sp>
        <p:nvSpPr>
          <p:cNvPr id="111" name="0.707"/>
          <p:cNvSpPr txBox="1"/>
          <p:nvPr/>
        </p:nvSpPr>
        <p:spPr>
          <a:xfrm>
            <a:off x="4381500" y="5223073"/>
            <a:ext cx="1116294" cy="450850"/>
          </a:xfrm>
          <a:prstGeom prst="rect">
            <a:avLst/>
          </a:prstGeom>
          <a:noFill/>
          <a:ln/>
        </p:spPr>
        <p:txBody>
          <a:bodyPr wrap="none" lIns="0" tIns="0" rIns="0" bIns="0" rtlCol="0" anchor="ctr"/>
          <a:lstStyle/>
          <a:p>
            <a:pPr algn="l" indent="0" marL="0">
              <a:buNone/>
            </a:pPr>
            <a:r>
              <a:rPr lang="ko-KR" altLang="en-US" sz="3000" spc="-120" kern="0" dirty="0">
                <a:solidFill>
                  <a:srgbClr val="102A4C"/>
                </a:solidFill>
                <a:latin typeface="Pretendard ExtraBold" pitchFamily="34" charset="0"/>
                <a:ea typeface="Pretendard ExtraBold" pitchFamily="34" charset="-127"/>
                <a:cs typeface="Pretendard ExtraBold" pitchFamily="34" charset="-120"/>
              </a:rPr>
              <a:t>0.707</a:t>
            </a:r>
            <a:endParaRPr lang="en-US" sz="3000" dirty="0"/>
          </a:p>
        </p:txBody>
      </p:sp>
      <p:sp>
        <p:nvSpPr>
          <p:cNvPr id="112" name="+33.8%p"/>
          <p:cNvSpPr txBox="1"/>
          <p:nvPr/>
        </p:nvSpPr>
        <p:spPr>
          <a:xfrm>
            <a:off x="5561608" y="5381526"/>
            <a:ext cx="54977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+33.8%p</a:t>
            </a:r>
            <a:endParaRPr lang="en-US" sz="900" dirty="0"/>
          </a:p>
        </p:txBody>
      </p:sp>
      <p:sp>
        <p:nvSpPr>
          <p:cNvPr id="113" name="Tesseract OCR"/>
          <p:cNvSpPr txBox="1"/>
          <p:nvPr/>
        </p:nvSpPr>
        <p:spPr>
          <a:xfrm>
            <a:off x="6388100" y="5077023"/>
            <a:ext cx="875209"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Tesseract OCR</a:t>
            </a:r>
            <a:endParaRPr lang="en-US" sz="950" dirty="0"/>
          </a:p>
        </p:txBody>
      </p:sp>
      <p:sp>
        <p:nvSpPr>
          <p:cNvPr id="114" name="0.369"/>
          <p:cNvSpPr txBox="1"/>
          <p:nvPr/>
        </p:nvSpPr>
        <p:spPr>
          <a:xfrm>
            <a:off x="6388100" y="5292923"/>
            <a:ext cx="893266" cy="368300"/>
          </a:xfrm>
          <a:prstGeom prst="rect">
            <a:avLst/>
          </a:prstGeom>
          <a:noFill/>
          <a:ln/>
        </p:spPr>
        <p:txBody>
          <a:bodyPr wrap="none" lIns="0" tIns="0" rIns="0" bIns="0" rtlCol="0" anchor="ctr"/>
          <a:lstStyle/>
          <a:p>
            <a:pPr algn="l" indent="0" marL="0">
              <a:buNone/>
            </a:pPr>
            <a:r>
              <a:rPr lang="ko-KR" altLang="en-US" sz="2400" spc="-96" kern="0" dirty="0">
                <a:solidFill>
                  <a:srgbClr val="737C8B"/>
                </a:solidFill>
                <a:latin typeface="Pretendard ExtraBold" pitchFamily="34" charset="0"/>
                <a:ea typeface="Pretendard ExtraBold" pitchFamily="34" charset="-127"/>
                <a:cs typeface="Pretendard ExtraBold" pitchFamily="34" charset="-120"/>
              </a:rPr>
              <a:t>0.369</a:t>
            </a:r>
            <a:endParaRPr lang="en-US" sz="2400" dirty="0"/>
          </a:p>
        </p:txBody>
      </p:sp>
      <p:sp>
        <p:nvSpPr>
          <p:cNvPr id="115" name="mAP@0.5 객체를 맞게 찾아낸 정도  ·  F1-score 정밀도·재"/>
          <p:cNvSpPr txBox="1"/>
          <p:nvPr/>
        </p:nvSpPr>
        <p:spPr>
          <a:xfrm>
            <a:off x="609600" y="6197798"/>
            <a:ext cx="5440541"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mAP@0.5</a:t>
            </a:r>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 객체를 맞게 찾아낸 정도  ·  </a:t>
            </a:r>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F1-score</a:t>
            </a:r>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 정밀도·재현율의 조화평균 (모두 1에 가까울수록 좋음)  ·  </a:t>
            </a:r>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LMM</a:t>
            </a:r>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 대형 멀티모달 모델</a:t>
            </a:r>
            <a:endParaRPr lang="en-US" sz="800" dirty="0"/>
          </a:p>
        </p:txBody>
      </p:sp>
      <p:sp>
        <p:nvSpPr>
          <p:cNvPr id="116" name="최종 결과"/>
          <p:cNvSpPr txBox="1"/>
          <p:nvPr/>
        </p:nvSpPr>
        <p:spPr>
          <a:xfrm>
            <a:off x="89027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최종 결과</a:t>
            </a:r>
            <a:endParaRPr lang="en-US" sz="1200" dirty="0"/>
          </a:p>
        </p:txBody>
      </p:sp>
      <p:sp>
        <p:nvSpPr>
          <p:cNvPr id="117" name="최종 BIM 생성"/>
          <p:cNvSpPr txBox="1"/>
          <p:nvPr/>
        </p:nvSpPr>
        <p:spPr>
          <a:xfrm>
            <a:off x="8890000" y="1809948"/>
            <a:ext cx="1080746" cy="228600"/>
          </a:xfrm>
          <a:prstGeom prst="rect">
            <a:avLst/>
          </a:prstGeom>
          <a:noFill/>
          <a:ln/>
        </p:spPr>
        <p:txBody>
          <a:bodyPr wrap="none" lIns="0" tIns="0" rIns="0" bIns="0" rtlCol="0" anchor="ctr"/>
          <a:lstStyle/>
          <a:p>
            <a:pPr algn="l" indent="0" marL="0">
              <a:buNone/>
            </a:pPr>
            <a:r>
              <a:rPr lang="ko-KR" altLang="en-US" sz="1500" spc="-60" kern="0" dirty="0">
                <a:solidFill>
                  <a:srgbClr val="FFFFFF"/>
                </a:solidFill>
                <a:latin typeface="Pretendard ExtraBold" pitchFamily="34" charset="0"/>
                <a:ea typeface="Pretendard ExtraBold" pitchFamily="34" charset="-127"/>
                <a:cs typeface="Pretendard ExtraBold" pitchFamily="34" charset="-120"/>
              </a:rPr>
              <a:t>최종 BIM 생성</a:t>
            </a:r>
            <a:endParaRPr lang="en-US" sz="1500" dirty="0"/>
          </a:p>
        </p:txBody>
      </p:sp>
      <p:sp>
        <p:nvSpPr>
          <p:cNvPr id="118" name="379"/>
          <p:cNvSpPr txBox="1"/>
          <p:nvPr/>
        </p:nvSpPr>
        <p:spPr>
          <a:xfrm>
            <a:off x="8890000" y="2006798"/>
            <a:ext cx="1597350" cy="971550"/>
          </a:xfrm>
          <a:prstGeom prst="rect">
            <a:avLst/>
          </a:prstGeom>
          <a:noFill/>
          <a:ln/>
        </p:spPr>
        <p:txBody>
          <a:bodyPr wrap="none" lIns="0" tIns="0" rIns="0" bIns="0" rtlCol="0" anchor="ctr"/>
          <a:lstStyle/>
          <a:p>
            <a:pPr algn="l" indent="0" marL="0">
              <a:buNone/>
            </a:pPr>
            <a:r>
              <a:rPr lang="ko-KR" altLang="en-US" sz="6400" spc="-320" kern="0" dirty="0">
                <a:solidFill>
                  <a:srgbClr val="FFFFFF"/>
                </a:solidFill>
                <a:latin typeface="Pretendard ExtraBold" pitchFamily="34" charset="0"/>
                <a:ea typeface="Pretendard ExtraBold" pitchFamily="34" charset="-127"/>
                <a:cs typeface="Pretendard ExtraBold" pitchFamily="34" charset="-120"/>
              </a:rPr>
              <a:t>379</a:t>
            </a:r>
            <a:endParaRPr lang="en-US" sz="6400" dirty="0"/>
          </a:p>
        </p:txBody>
      </p:sp>
      <p:sp>
        <p:nvSpPr>
          <p:cNvPr id="119" name="/ 406"/>
          <p:cNvSpPr txBox="1"/>
          <p:nvPr/>
        </p:nvSpPr>
        <p:spPr>
          <a:xfrm>
            <a:off x="10498534" y="2540198"/>
            <a:ext cx="664170" cy="304800"/>
          </a:xfrm>
          <a:prstGeom prst="rect">
            <a:avLst/>
          </a:prstGeom>
          <a:noFill/>
          <a:ln/>
        </p:spPr>
        <p:txBody>
          <a:bodyPr wrap="none" lIns="0" tIns="0" rIns="0" bIns="0" rtlCol="0" anchor="ctr"/>
          <a:lstStyle/>
          <a:p>
            <a:pPr algn="l" indent="0" marL="0">
              <a:buNone/>
            </a:pPr>
            <a:r>
              <a:rPr lang="ko-KR" altLang="en-US" sz="2000" b="1" spc="-60" kern="0" dirty="0">
                <a:solidFill>
                  <a:srgbClr val="FFFFFF">
                    <a:alpha val="55000"/>
                  </a:srgbClr>
                </a:solidFill>
                <a:latin typeface="Pretendard" pitchFamily="34" charset="0"/>
                <a:ea typeface="Pretendard" pitchFamily="34" charset="-127"/>
                <a:cs typeface="Pretendard" pitchFamily="34" charset="-120"/>
              </a:rPr>
              <a:t>/ 406</a:t>
            </a:r>
            <a:endParaRPr lang="en-US" sz="2000" dirty="0"/>
          </a:p>
        </p:txBody>
      </p:sp>
      <p:sp>
        <p:nvSpPr>
          <p:cNvPr id="120" name="406개 객체 중 379개 자동 생성"/>
          <p:cNvSpPr txBox="1"/>
          <p:nvPr/>
        </p:nvSpPr>
        <p:spPr>
          <a:xfrm>
            <a:off x="8890000" y="2965648"/>
            <a:ext cx="1763522" cy="158750"/>
          </a:xfrm>
          <a:prstGeom prst="rect">
            <a:avLst/>
          </a:prstGeom>
          <a:noFill/>
          <a:ln/>
        </p:spPr>
        <p:txBody>
          <a:bodyPr wrap="none" lIns="0" tIns="0" rIns="0" bIns="0" rtlCol="0" anchor="ctr"/>
          <a:lstStyle/>
          <a:p>
            <a:pPr algn="l" indent="0" marL="0">
              <a:buNone/>
            </a:pPr>
            <a:r>
              <a:rPr lang="ko-KR" altLang="en-US" sz="1050" spc="-12" kern="0" dirty="0">
                <a:solidFill>
                  <a:srgbClr val="FFFFFF">
                    <a:alpha val="82000"/>
                  </a:srgbClr>
                </a:solidFill>
                <a:latin typeface="Pretendard SemiBold" pitchFamily="34" charset="0"/>
                <a:ea typeface="Pretendard SemiBold" pitchFamily="34" charset="-127"/>
                <a:cs typeface="Pretendard SemiBold" pitchFamily="34" charset="-120"/>
              </a:rPr>
              <a:t>406개 객체 중 379개 자동 생성</a:t>
            </a:r>
            <a:endParaRPr lang="en-US" sz="1050" dirty="0"/>
          </a:p>
        </p:txBody>
      </p:sp>
      <p:sp>
        <p:nvSpPr>
          <p:cNvPr id="121" name="생성 완성도"/>
          <p:cNvSpPr txBox="1"/>
          <p:nvPr/>
        </p:nvSpPr>
        <p:spPr>
          <a:xfrm>
            <a:off x="8890000" y="3526929"/>
            <a:ext cx="590848" cy="146050"/>
          </a:xfrm>
          <a:prstGeom prst="rect">
            <a:avLst/>
          </a:prstGeom>
          <a:noFill/>
          <a:ln/>
        </p:spPr>
        <p:txBody>
          <a:bodyPr wrap="none" lIns="0" tIns="0" rIns="0" bIns="0" rtlCol="0" anchor="ctr"/>
          <a:lstStyle/>
          <a:p>
            <a:pPr algn="l" indent="0" marL="0">
              <a:buNone/>
            </a:pPr>
            <a:r>
              <a:rPr lang="ko-KR" altLang="en-US" sz="950" b="1" spc="-12" kern="0" dirty="0">
                <a:solidFill>
                  <a:srgbClr val="FFFFFF">
                    <a:alpha val="75000"/>
                  </a:srgbClr>
                </a:solidFill>
                <a:latin typeface="Pretendard" pitchFamily="34" charset="0"/>
                <a:ea typeface="Pretendard" pitchFamily="34" charset="-127"/>
                <a:cs typeface="Pretendard" pitchFamily="34" charset="-120"/>
              </a:rPr>
              <a:t>생성 완성도</a:t>
            </a:r>
            <a:endParaRPr lang="en-US" sz="950" dirty="0"/>
          </a:p>
        </p:txBody>
      </p:sp>
      <p:sp>
        <p:nvSpPr>
          <p:cNvPr id="122" name="93.3%"/>
          <p:cNvSpPr txBox="1"/>
          <p:nvPr/>
        </p:nvSpPr>
        <p:spPr>
          <a:xfrm>
            <a:off x="10690721" y="3450729"/>
            <a:ext cx="688479" cy="241300"/>
          </a:xfrm>
          <a:prstGeom prst="rect">
            <a:avLst/>
          </a:prstGeom>
          <a:noFill/>
          <a:ln/>
        </p:spPr>
        <p:txBody>
          <a:bodyPr wrap="none" lIns="0" tIns="0" rIns="0" bIns="0" rtlCol="0" anchor="ctr"/>
          <a:lstStyle/>
          <a:p>
            <a:pPr algn="l" indent="0" marL="0">
              <a:buNone/>
            </a:pPr>
            <a:r>
              <a:rPr lang="ko-KR" altLang="en-US" sz="1600" spc="-48" kern="0" dirty="0">
                <a:solidFill>
                  <a:srgbClr val="FFFFFF"/>
                </a:solidFill>
                <a:latin typeface="Pretendard ExtraBold" pitchFamily="34" charset="0"/>
                <a:ea typeface="Pretendard ExtraBold" pitchFamily="34" charset="-127"/>
                <a:cs typeface="Pretendard ExtraBold" pitchFamily="34" charset="-120"/>
              </a:rPr>
              <a:t>93.3%</a:t>
            </a:r>
            <a:endParaRPr lang="en-US" sz="1600" dirty="0"/>
          </a:p>
        </p:txBody>
      </p:sp>
      <p:sp>
        <p:nvSpPr>
          <p:cNvPr id="123" name="자동 생성된 3D BIM"/>
          <p:cNvSpPr txBox="1"/>
          <p:nvPr/>
        </p:nvSpPr>
        <p:spPr>
          <a:xfrm>
            <a:off x="8890000" y="6019998"/>
            <a:ext cx="856258" cy="120650"/>
          </a:xfrm>
          <a:prstGeom prst="rect">
            <a:avLst/>
          </a:prstGeom>
          <a:noFill/>
          <a:ln/>
        </p:spPr>
        <p:txBody>
          <a:bodyPr wrap="none" lIns="0" tIns="0" rIns="0" bIns="0" rtlCol="0" anchor="ctr"/>
          <a:lstStyle/>
          <a:p>
            <a:pPr algn="l" indent="0" marL="0">
              <a:buNone/>
            </a:pPr>
            <a:r>
              <a:rPr lang="ko-KR" altLang="en-US" sz="800" spc="-12" kern="0" dirty="0">
                <a:solidFill>
                  <a:srgbClr val="FFFFFF">
                    <a:alpha val="62000"/>
                  </a:srgbClr>
                </a:solidFill>
                <a:latin typeface="Pretendard SemiBold" pitchFamily="34" charset="0"/>
                <a:ea typeface="Pretendard SemiBold" pitchFamily="34" charset="-127"/>
                <a:cs typeface="Pretendard SemiBold" pitchFamily="34" charset="-120"/>
              </a:rPr>
              <a:t>자동 생성된 3D BIM</a:t>
            </a:r>
            <a:endParaRPr lang="en-US" sz="800" dirty="0"/>
          </a:p>
        </p:txBody>
      </p:sp>
      <p:sp>
        <p:nvSpPr>
          <p:cNvPr id="124"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125" name="09 / 12"/>
          <p:cNvSpPr txBox="1"/>
          <p:nvPr/>
        </p:nvSpPr>
        <p:spPr>
          <a:xfrm>
            <a:off x="11234737" y="6472238"/>
            <a:ext cx="398462"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09</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753195"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on"/>
          <p:cNvSpPr/>
          <p:nvPr/>
        </p:nvSpPr>
        <p:spPr>
          <a:xfrm>
            <a:off x="109601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10-ch c1 rh::after"/>
          <p:cNvSpPr/>
          <p:nvPr/>
        </p:nvSpPr>
        <p:spPr>
          <a:xfrm>
            <a:off x="2161381" y="1359098"/>
            <a:ext cx="2105819" cy="12700"/>
          </a:xfrm>
          <a:prstGeom prst="roundRect">
            <a:avLst>
              <a:gd name="adj" fmla="val 50000"/>
            </a:avLst>
          </a:prstGeom>
          <a:solidFill>
            <a:srgbClr val="102A4C"/>
          </a:solidFill>
          <a:ln>
            <a:noFill/>
          </a:ln>
        </p:spPr>
        <p:txBody>
          <a:bodyPr rtlCol="0" anchor="ctr"/>
          <a:lstStyle/>
          <a:p>
            <a:pPr algn="ctr"/>
            <a:endParaRPr lang="ko-KR" dirty="0"/>
          </a:p>
        </p:txBody>
      </p:sp>
      <p:sp>
        <p:nvSpPr>
          <p:cNvPr id="10" name="s10-ch c2 rh::after"/>
          <p:cNvSpPr/>
          <p:nvPr/>
        </p:nvSpPr>
        <p:spPr>
          <a:xfrm>
            <a:off x="6708279" y="1359098"/>
            <a:ext cx="1318121"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10-ch c3 rh::after"/>
          <p:cNvSpPr/>
          <p:nvPr/>
        </p:nvSpPr>
        <p:spPr>
          <a:xfrm>
            <a:off x="9793387" y="1359098"/>
            <a:ext cx="1789013" cy="12700"/>
          </a:xfrm>
          <a:prstGeom prst="roundRect">
            <a:avLst>
              <a:gd name="adj" fmla="val 50000"/>
            </a:avLst>
          </a:prstGeom>
          <a:solidFill>
            <a:srgbClr val="102A4C"/>
          </a:solidFill>
          <a:ln>
            <a:noFill/>
          </a:ln>
        </p:spPr>
        <p:txBody>
          <a:bodyPr rtlCol="0" anchor="ctr"/>
          <a:lstStyle/>
          <a:p>
            <a:pPr algn="ctr"/>
            <a:endParaRPr lang="ko-KR" dirty="0"/>
          </a:p>
        </p:txBody>
      </p:sp>
      <p:sp>
        <p:nvSpPr>
          <p:cNvPr id="12" name="pn c1 rt"/>
          <p:cNvSpPr/>
          <p:nvPr/>
        </p:nvSpPr>
        <p:spPr>
          <a:xfrm>
            <a:off x="612775" y="1635323"/>
            <a:ext cx="3651250" cy="2533650"/>
          </a:xfrm>
          <a:prstGeom prst="roundRect">
            <a:avLst>
              <a:gd name="adj" fmla="val 4887"/>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13" name="i"/>
          <p:cNvSpPr/>
          <p:nvPr/>
        </p:nvSpPr>
        <p:spPr>
          <a:xfrm>
            <a:off x="2915940" y="1879798"/>
            <a:ext cx="88900" cy="88900"/>
          </a:xfrm>
          <a:prstGeom prst="roundRect">
            <a:avLst>
              <a:gd name="adj" fmla="val 21429"/>
            </a:avLst>
          </a:prstGeom>
          <a:solidFill>
            <a:srgbClr val="C3C9D2"/>
          </a:solidFill>
          <a:ln>
            <a:noFill/>
          </a:ln>
        </p:spPr>
        <p:txBody>
          <a:bodyPr rtlCol="0" anchor="ctr"/>
          <a:lstStyle/>
          <a:p>
            <a:pPr algn="ctr"/>
            <a:endParaRPr lang="ko-KR" dirty="0"/>
          </a:p>
        </p:txBody>
      </p:sp>
      <p:sp>
        <p:nvSpPr>
          <p:cNvPr id="14" name="p"/>
          <p:cNvSpPr/>
          <p:nvPr/>
        </p:nvSpPr>
        <p:spPr>
          <a:xfrm>
            <a:off x="3550841" y="1879798"/>
            <a:ext cx="88900" cy="88900"/>
          </a:xfrm>
          <a:prstGeom prst="roundRect">
            <a:avLst>
              <a:gd name="adj" fmla="val 21429"/>
            </a:avLst>
          </a:prstGeom>
          <a:solidFill>
            <a:srgbClr val="EA002C"/>
          </a:solidFill>
          <a:ln>
            <a:noFill/>
          </a:ln>
        </p:spPr>
        <p:txBody>
          <a:bodyPr rtlCol="0" anchor="ctr"/>
          <a:lstStyle/>
          <a:p>
            <a:pPr algn="ctr"/>
            <a:endParaRPr lang="ko-KR" dirty="0"/>
          </a:p>
        </p:txBody>
      </p:sp>
      <p:sp>
        <p:nvSpPr>
          <p:cNvPr id="15" name="i"/>
          <p:cNvSpPr/>
          <p:nvPr/>
        </p:nvSpPr>
        <p:spPr>
          <a:xfrm>
            <a:off x="1455936" y="2114748"/>
            <a:ext cx="9525" cy="101600"/>
          </a:xfrm>
          <a:prstGeom prst="rect">
            <a:avLst/>
          </a:prstGeom>
          <a:solidFill>
            <a:srgbClr val="C8CFD8"/>
          </a:solidFill>
          <a:ln>
            <a:noFill/>
          </a:ln>
        </p:spPr>
        <p:txBody>
          <a:bodyPr rtlCol="0" anchor="ctr"/>
          <a:lstStyle/>
          <a:p>
            <a:pPr algn="ctr"/>
            <a:endParaRPr lang="ko-KR" dirty="0"/>
          </a:p>
        </p:txBody>
      </p:sp>
      <p:sp>
        <p:nvSpPr>
          <p:cNvPr id="16" name="tk 선"/>
          <p:cNvSpPr/>
          <p:nvPr/>
        </p:nvSpPr>
        <p:spPr>
          <a:xfrm>
            <a:off x="1044575" y="2619573"/>
            <a:ext cx="31750" cy="1"/>
          </a:xfrm>
          <a:custGeom>
            <a:avLst/>
            <a:gdLst/>
            <a:ahLst/>
            <a:cxnLst/>
            <a:rect l="0" t="0" r="r" b="b"/>
            <a:pathLst>
              <a:path w="31750" h="1" fill="none">
                <a:moveTo>
                  <a:pt x="0" y="0"/>
                </a:moveTo>
                <a:lnTo>
                  <a:pt x="31750" y="0"/>
                </a:lnTo>
              </a:path>
            </a:pathLst>
          </a:custGeom>
          <a:noFill/>
          <a:ln w="6350">
            <a:solidFill>
              <a:srgbClr val="C8CFD8"/>
            </a:solidFill>
            <a:round/>
          </a:ln>
        </p:spPr>
        <p:txBody>
          <a:bodyPr rtlCol="0" anchor="ctr"/>
          <a:lstStyle/>
          <a:p>
            <a:pPr algn="ctr"/>
            <a:endParaRPr lang="ko-KR" dirty="0"/>
          </a:p>
        </p:txBody>
      </p:sp>
      <p:sp>
        <p:nvSpPr>
          <p:cNvPr id="17" name="ax 선"/>
          <p:cNvSpPr/>
          <p:nvPr/>
        </p:nvSpPr>
        <p:spPr>
          <a:xfrm>
            <a:off x="1076325" y="2619573"/>
            <a:ext cx="1" cy="946150"/>
          </a:xfrm>
          <a:custGeom>
            <a:avLst/>
            <a:gdLst/>
            <a:ahLst/>
            <a:cxnLst/>
            <a:rect l="0" t="0" r="r" b="b"/>
            <a:pathLst>
              <a:path w="1" h="946150" fill="none">
                <a:moveTo>
                  <a:pt x="0" y="946150"/>
                </a:moveTo>
                <a:lnTo>
                  <a:pt x="0" y="0"/>
                </a:lnTo>
              </a:path>
            </a:pathLst>
          </a:custGeom>
          <a:noFill/>
          <a:ln w="6350">
            <a:solidFill>
              <a:srgbClr val="C8CFD8"/>
            </a:solidFill>
            <a:round/>
          </a:ln>
        </p:spPr>
        <p:txBody>
          <a:bodyPr rtlCol="0" anchor="ctr"/>
          <a:lstStyle/>
          <a:p>
            <a:pPr algn="ctr"/>
            <a:endParaRPr lang="ko-KR" dirty="0"/>
          </a:p>
        </p:txBody>
      </p:sp>
      <p:sp>
        <p:nvSpPr>
          <p:cNvPr id="18" name="gl 선"/>
          <p:cNvSpPr/>
          <p:nvPr/>
        </p:nvSpPr>
        <p:spPr>
          <a:xfrm>
            <a:off x="1079500" y="3568898"/>
            <a:ext cx="2971800" cy="1"/>
          </a:xfrm>
          <a:custGeom>
            <a:avLst/>
            <a:gdLst/>
            <a:ahLst/>
            <a:cxnLst/>
            <a:rect l="0" t="0" r="r" b="b"/>
            <a:pathLst>
              <a:path w="2971800" h="1" fill="none">
                <a:moveTo>
                  <a:pt x="0" y="0"/>
                </a:moveTo>
                <a:lnTo>
                  <a:pt x="2971800" y="0"/>
                </a:lnTo>
              </a:path>
            </a:pathLst>
          </a:custGeom>
          <a:noFill/>
          <a:ln w="12700">
            <a:solidFill>
              <a:srgbClr val="C8CFD8"/>
            </a:solidFill>
            <a:round/>
          </a:ln>
        </p:spPr>
        <p:txBody>
          <a:bodyPr rtlCol="0" anchor="ctr"/>
          <a:lstStyle/>
          <a:p>
            <a:pPr algn="ctr"/>
            <a:endParaRPr lang="ko-KR" dirty="0"/>
          </a:p>
        </p:txBody>
      </p:sp>
      <p:sp>
        <p:nvSpPr>
          <p:cNvPr id="19" name="bar"/>
          <p:cNvSpPr/>
          <p:nvPr/>
        </p:nvSpPr>
        <p:spPr>
          <a:xfrm>
            <a:off x="1397000" y="3086298"/>
            <a:ext cx="330200" cy="482600"/>
          </a:xfrm>
          <a:custGeom>
            <a:avLst/>
            <a:gdLst/>
            <a:ahLst/>
            <a:cxnLst/>
            <a:rect l="0" t="0" r="r" b="b"/>
            <a:pathLst>
              <a:path w="330200" h="482600" stroke="0">
                <a:moveTo>
                  <a:pt x="25400" y="0"/>
                </a:moveTo>
                <a:lnTo>
                  <a:pt x="304800" y="0"/>
                </a:lnTo>
                <a:cubicBezTo>
                  <a:pt x="318828" y="0"/>
                  <a:pt x="330200" y="11372"/>
                  <a:pt x="330200" y="25400"/>
                </a:cubicBezTo>
                <a:lnTo>
                  <a:pt x="330200" y="482600"/>
                </a:lnTo>
                <a:cubicBezTo>
                  <a:pt x="330200" y="482600"/>
                  <a:pt x="330200" y="482600"/>
                  <a:pt x="330200" y="482600"/>
                </a:cubicBezTo>
                <a:lnTo>
                  <a:pt x="0" y="482600"/>
                </a:lnTo>
                <a:cubicBezTo>
                  <a:pt x="0" y="482600"/>
                  <a:pt x="0" y="482600"/>
                  <a:pt x="0" y="4826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20" name="bar p"/>
          <p:cNvSpPr/>
          <p:nvPr/>
        </p:nvSpPr>
        <p:spPr>
          <a:xfrm>
            <a:off x="1790700" y="2679898"/>
            <a:ext cx="330200" cy="889000"/>
          </a:xfrm>
          <a:custGeom>
            <a:avLst/>
            <a:gdLst/>
            <a:ahLst/>
            <a:cxnLst/>
            <a:rect l="0" t="0" r="r" b="b"/>
            <a:pathLst>
              <a:path w="330200" h="889000" stroke="0">
                <a:moveTo>
                  <a:pt x="25400" y="0"/>
                </a:moveTo>
                <a:lnTo>
                  <a:pt x="304800" y="0"/>
                </a:lnTo>
                <a:cubicBezTo>
                  <a:pt x="318828" y="0"/>
                  <a:pt x="330200" y="11372"/>
                  <a:pt x="330200" y="25400"/>
                </a:cubicBezTo>
                <a:lnTo>
                  <a:pt x="330200" y="889000"/>
                </a:lnTo>
                <a:cubicBezTo>
                  <a:pt x="330200" y="889000"/>
                  <a:pt x="330200" y="889000"/>
                  <a:pt x="330200" y="889000"/>
                </a:cubicBezTo>
                <a:lnTo>
                  <a:pt x="0" y="889000"/>
                </a:lnTo>
                <a:cubicBezTo>
                  <a:pt x="0" y="889000"/>
                  <a:pt x="0" y="889000"/>
                  <a:pt x="0" y="8890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21" name="delta"/>
          <p:cNvSpPr/>
          <p:nvPr/>
        </p:nvSpPr>
        <p:spPr>
          <a:xfrm>
            <a:off x="1644352" y="3645098"/>
            <a:ext cx="585589" cy="177800"/>
          </a:xfrm>
          <a:prstGeom prst="roundRect">
            <a:avLst>
              <a:gd name="adj" fmla="val 21429"/>
            </a:avLst>
          </a:prstGeom>
          <a:solidFill>
            <a:srgbClr val="FDECEF"/>
          </a:solidFill>
          <a:ln>
            <a:noFill/>
          </a:ln>
        </p:spPr>
        <p:txBody>
          <a:bodyPr rtlCol="0" anchor="ctr"/>
          <a:lstStyle/>
          <a:p>
            <a:pPr algn="ctr"/>
            <a:endParaRPr lang="ko-KR" dirty="0"/>
          </a:p>
        </p:txBody>
      </p:sp>
      <p:sp>
        <p:nvSpPr>
          <p:cNvPr id="22" name="bar"/>
          <p:cNvSpPr/>
          <p:nvPr/>
        </p:nvSpPr>
        <p:spPr>
          <a:xfrm>
            <a:off x="3022600" y="3232348"/>
            <a:ext cx="330200" cy="336550"/>
          </a:xfrm>
          <a:custGeom>
            <a:avLst/>
            <a:gdLst/>
            <a:ahLst/>
            <a:cxnLst/>
            <a:rect l="0" t="0" r="r" b="b"/>
            <a:pathLst>
              <a:path w="330200" h="336550" stroke="0">
                <a:moveTo>
                  <a:pt x="25400" y="0"/>
                </a:moveTo>
                <a:lnTo>
                  <a:pt x="304800" y="0"/>
                </a:lnTo>
                <a:cubicBezTo>
                  <a:pt x="318828" y="0"/>
                  <a:pt x="330200" y="11372"/>
                  <a:pt x="330200" y="25400"/>
                </a:cubicBezTo>
                <a:lnTo>
                  <a:pt x="330200" y="336550"/>
                </a:lnTo>
                <a:cubicBezTo>
                  <a:pt x="330200" y="336550"/>
                  <a:pt x="330200" y="336550"/>
                  <a:pt x="330200" y="336550"/>
                </a:cubicBezTo>
                <a:lnTo>
                  <a:pt x="0" y="336550"/>
                </a:lnTo>
                <a:cubicBezTo>
                  <a:pt x="0" y="336550"/>
                  <a:pt x="0" y="336550"/>
                  <a:pt x="0" y="33655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23" name="bar p"/>
          <p:cNvSpPr/>
          <p:nvPr/>
        </p:nvSpPr>
        <p:spPr>
          <a:xfrm>
            <a:off x="3416300" y="2768798"/>
            <a:ext cx="330200" cy="800100"/>
          </a:xfrm>
          <a:custGeom>
            <a:avLst/>
            <a:gdLst/>
            <a:ahLst/>
            <a:cxnLst/>
            <a:rect l="0" t="0" r="r" b="b"/>
            <a:pathLst>
              <a:path w="330200" h="800100" stroke="0">
                <a:moveTo>
                  <a:pt x="25400" y="0"/>
                </a:moveTo>
                <a:lnTo>
                  <a:pt x="304800" y="0"/>
                </a:lnTo>
                <a:cubicBezTo>
                  <a:pt x="318828" y="0"/>
                  <a:pt x="330200" y="11372"/>
                  <a:pt x="330200" y="25400"/>
                </a:cubicBezTo>
                <a:lnTo>
                  <a:pt x="330200" y="800100"/>
                </a:lnTo>
                <a:cubicBezTo>
                  <a:pt x="330200" y="800100"/>
                  <a:pt x="330200" y="800100"/>
                  <a:pt x="330200" y="800100"/>
                </a:cubicBezTo>
                <a:lnTo>
                  <a:pt x="0" y="800100"/>
                </a:lnTo>
                <a:cubicBezTo>
                  <a:pt x="0" y="800100"/>
                  <a:pt x="0" y="800100"/>
                  <a:pt x="0" y="8001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24" name="delta"/>
          <p:cNvSpPr/>
          <p:nvPr/>
        </p:nvSpPr>
        <p:spPr>
          <a:xfrm>
            <a:off x="3265190" y="3645098"/>
            <a:ext cx="595114" cy="177800"/>
          </a:xfrm>
          <a:prstGeom prst="roundRect">
            <a:avLst>
              <a:gd name="adj" fmla="val 21429"/>
            </a:avLst>
          </a:prstGeom>
          <a:solidFill>
            <a:srgbClr val="FDECEF"/>
          </a:solidFill>
          <a:ln>
            <a:noFill/>
          </a:ln>
        </p:spPr>
        <p:txBody>
          <a:bodyPr rtlCol="0" anchor="ctr"/>
          <a:lstStyle/>
          <a:p>
            <a:pPr algn="ctr"/>
            <a:endParaRPr lang="ko-KR" dirty="0"/>
          </a:p>
        </p:txBody>
      </p:sp>
      <p:sp>
        <p:nvSpPr>
          <p:cNvPr id="25" name="pn c1 rb"/>
          <p:cNvSpPr/>
          <p:nvPr/>
        </p:nvSpPr>
        <p:spPr>
          <a:xfrm>
            <a:off x="612775" y="4327723"/>
            <a:ext cx="3651250" cy="2006600"/>
          </a:xfrm>
          <a:prstGeom prst="roundRect">
            <a:avLst>
              <a:gd name="adj" fmla="val 6171"/>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26" name="tag"/>
          <p:cNvSpPr/>
          <p:nvPr/>
        </p:nvSpPr>
        <p:spPr>
          <a:xfrm>
            <a:off x="3161804" y="4515048"/>
            <a:ext cx="895846" cy="203200"/>
          </a:xfrm>
          <a:prstGeom prst="roundRect">
            <a:avLst>
              <a:gd name="adj" fmla="val 50000"/>
            </a:avLst>
          </a:prstGeom>
          <a:solidFill>
            <a:srgbClr val="F3F5F8"/>
          </a:solidFill>
          <a:ln>
            <a:noFill/>
          </a:ln>
        </p:spPr>
        <p:txBody>
          <a:bodyPr rtlCol="0" anchor="ctr"/>
          <a:lstStyle/>
          <a:p>
            <a:pPr algn="ctr"/>
            <a:endParaRPr lang="ko-KR" dirty="0"/>
          </a:p>
        </p:txBody>
      </p:sp>
      <p:sp>
        <p:nvSpPr>
          <p:cNvPr id="27" name="svg rect"/>
          <p:cNvSpPr/>
          <p:nvPr/>
        </p:nvSpPr>
        <p:spPr>
          <a:xfrm>
            <a:off x="3269754" y="4572198"/>
            <a:ext cx="76200" cy="88900"/>
          </a:xfrm>
          <a:prstGeom prst="roundRect">
            <a:avLst>
              <a:gd name="adj" fmla="val 12500"/>
            </a:avLst>
          </a:prstGeom>
          <a:noFill/>
          <a:ln w="12700">
            <a:solidFill>
              <a:srgbClr val="737C8B"/>
            </a:solidFill>
            <a:miter lim="800000"/>
          </a:ln>
        </p:spPr>
        <p:txBody>
          <a:bodyPr rtlCol="0" anchor="ctr"/>
          <a:lstStyle/>
          <a:p>
            <a:pPr algn="ctr"/>
            <a:endParaRPr lang="ko-KR" dirty="0"/>
          </a:p>
        </p:txBody>
      </p:sp>
      <p:sp>
        <p:nvSpPr>
          <p:cNvPr id="28" name="svg path"/>
          <p:cNvSpPr/>
          <p:nvPr/>
        </p:nvSpPr>
        <p:spPr>
          <a:xfrm>
            <a:off x="3291979" y="4597598"/>
            <a:ext cx="31750" cy="44450"/>
          </a:xfrm>
          <a:custGeom>
            <a:avLst/>
            <a:gdLst/>
            <a:ahLst/>
            <a:cxnLst/>
            <a:rect l="0" t="0" r="r" b="b"/>
            <a:pathLst>
              <a:path w="31750" h="44450" fill="none">
                <a:moveTo>
                  <a:pt x="0" y="0"/>
                </a:moveTo>
                <a:lnTo>
                  <a:pt x="31750" y="0"/>
                </a:lnTo>
                <a:moveTo>
                  <a:pt x="0" y="22225"/>
                </a:moveTo>
                <a:lnTo>
                  <a:pt x="31750" y="22225"/>
                </a:lnTo>
                <a:moveTo>
                  <a:pt x="0" y="44450"/>
                </a:moveTo>
                <a:lnTo>
                  <a:pt x="19050" y="44450"/>
                </a:lnTo>
              </a:path>
            </a:pathLst>
          </a:custGeom>
          <a:noFill/>
          <a:ln w="12700" cap="rnd">
            <a:solidFill>
              <a:srgbClr val="737C8B"/>
            </a:solidFill>
            <a:miter lim="800000"/>
          </a:ln>
        </p:spPr>
        <p:txBody>
          <a:bodyPr rtlCol="0" anchor="ctr"/>
          <a:lstStyle/>
          <a:p>
            <a:pPr algn="ctr"/>
            <a:endParaRPr lang="ko-KR" dirty="0"/>
          </a:p>
        </p:txBody>
      </p:sp>
      <p:sp>
        <p:nvSpPr>
          <p:cNvPr id="29" name="i"/>
          <p:cNvSpPr/>
          <p:nvPr/>
        </p:nvSpPr>
        <p:spPr>
          <a:xfrm>
            <a:off x="2247702" y="4807148"/>
            <a:ext cx="9525" cy="101600"/>
          </a:xfrm>
          <a:prstGeom prst="rect">
            <a:avLst/>
          </a:prstGeom>
          <a:solidFill>
            <a:srgbClr val="C8CFD8"/>
          </a:solidFill>
          <a:ln>
            <a:noFill/>
          </a:ln>
        </p:spPr>
        <p:txBody>
          <a:bodyPr rtlCol="0" anchor="ctr"/>
          <a:lstStyle/>
          <a:p>
            <a:pPr algn="ctr"/>
            <a:endParaRPr lang="ko-KR" dirty="0"/>
          </a:p>
        </p:txBody>
      </p:sp>
      <p:sp>
        <p:nvSpPr>
          <p:cNvPr id="30" name="svg circle"/>
          <p:cNvSpPr/>
          <p:nvPr/>
        </p:nvSpPr>
        <p:spPr>
          <a:xfrm>
            <a:off x="9969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1" name="svg path"/>
          <p:cNvSpPr/>
          <p:nvPr/>
        </p:nvSpPr>
        <p:spPr>
          <a:xfrm>
            <a:off x="964826" y="5137348"/>
            <a:ext cx="743297" cy="721958"/>
          </a:xfrm>
          <a:custGeom>
            <a:avLst/>
            <a:gdLst/>
            <a:ahLst/>
            <a:cxnLst/>
            <a:rect l="0" t="0" r="r" b="b"/>
            <a:pathLst>
              <a:path w="743297" h="721958" fill="none">
                <a:moveTo>
                  <a:pt x="381374" y="0"/>
                </a:moveTo>
                <a:cubicBezTo>
                  <a:pt x="564053" y="35"/>
                  <a:pt x="715842" y="140843"/>
                  <a:pt x="729570" y="323005"/>
                </a:cubicBezTo>
                <a:cubicBezTo>
                  <a:pt x="743297" y="505168"/>
                  <a:pt x="614325" y="667133"/>
                  <a:pt x="433714" y="694546"/>
                </a:cubicBezTo>
                <a:cubicBezTo>
                  <a:pt x="253104" y="721958"/>
                  <a:pt x="81882" y="605554"/>
                  <a:pt x="40941" y="427522"/>
                </a:cubicBezTo>
                <a:cubicBezTo>
                  <a:pt x="0" y="249490"/>
                  <a:pt x="103174" y="69985"/>
                  <a:pt x="277615" y="15748"/>
                </a:cubicBezTo>
              </a:path>
            </a:pathLst>
          </a:custGeom>
          <a:noFill/>
          <a:ln w="50800">
            <a:solidFill>
              <a:srgbClr val="2B4A78"/>
            </a:solidFill>
            <a:miter lim="800000"/>
          </a:ln>
        </p:spPr>
        <p:txBody>
          <a:bodyPr rtlCol="0" anchor="ctr"/>
          <a:lstStyle/>
          <a:p>
            <a:pPr algn="ctr"/>
            <a:endParaRPr lang="ko-KR" dirty="0"/>
          </a:p>
        </p:txBody>
      </p:sp>
      <p:sp>
        <p:nvSpPr>
          <p:cNvPr id="32" name="svg circle"/>
          <p:cNvSpPr/>
          <p:nvPr/>
        </p:nvSpPr>
        <p:spPr>
          <a:xfrm>
            <a:off x="20891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3" name="svg path"/>
          <p:cNvSpPr/>
          <p:nvPr/>
        </p:nvSpPr>
        <p:spPr>
          <a:xfrm>
            <a:off x="2064004" y="5137348"/>
            <a:ext cx="733050" cy="716298"/>
          </a:xfrm>
          <a:custGeom>
            <a:avLst/>
            <a:gdLst/>
            <a:ahLst/>
            <a:cxnLst/>
            <a:rect l="0" t="0" r="r" b="b"/>
            <a:pathLst>
              <a:path w="733050" h="716298" fill="none">
                <a:moveTo>
                  <a:pt x="374396" y="0"/>
                </a:moveTo>
                <a:cubicBezTo>
                  <a:pt x="560037" y="3"/>
                  <a:pt x="713236" y="145235"/>
                  <a:pt x="723143" y="330612"/>
                </a:cubicBezTo>
                <a:cubicBezTo>
                  <a:pt x="733050" y="515989"/>
                  <a:pt x="596202" y="676722"/>
                  <a:pt x="411619" y="696510"/>
                </a:cubicBezTo>
                <a:cubicBezTo>
                  <a:pt x="227035" y="716298"/>
                  <a:pt x="59226" y="588225"/>
                  <a:pt x="29613" y="404961"/>
                </a:cubicBezTo>
                <a:cubicBezTo>
                  <a:pt x="0" y="221697"/>
                  <a:pt x="118933" y="47291"/>
                  <a:pt x="300355" y="7938"/>
                </a:cubicBezTo>
              </a:path>
            </a:pathLst>
          </a:custGeom>
          <a:noFill/>
          <a:ln w="50800">
            <a:solidFill>
              <a:srgbClr val="2B4A78"/>
            </a:solidFill>
            <a:miter lim="800000"/>
          </a:ln>
        </p:spPr>
        <p:txBody>
          <a:bodyPr rtlCol="0" anchor="ctr"/>
          <a:lstStyle/>
          <a:p>
            <a:pPr algn="ctr"/>
            <a:endParaRPr lang="ko-KR" dirty="0"/>
          </a:p>
        </p:txBody>
      </p:sp>
      <p:sp>
        <p:nvSpPr>
          <p:cNvPr id="34" name="svg circle"/>
          <p:cNvSpPr/>
          <p:nvPr/>
        </p:nvSpPr>
        <p:spPr>
          <a:xfrm>
            <a:off x="31813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5" name="svg path"/>
          <p:cNvSpPr/>
          <p:nvPr/>
        </p:nvSpPr>
        <p:spPr>
          <a:xfrm>
            <a:off x="3155550" y="5137348"/>
            <a:ext cx="733751" cy="716681"/>
          </a:xfrm>
          <a:custGeom>
            <a:avLst/>
            <a:gdLst/>
            <a:ahLst/>
            <a:cxnLst/>
            <a:rect l="0" t="0" r="r" b="b"/>
            <a:pathLst>
              <a:path w="733751" h="716681" fill="none">
                <a:moveTo>
                  <a:pt x="375050" y="0"/>
                </a:moveTo>
                <a:cubicBezTo>
                  <a:pt x="560478" y="76"/>
                  <a:pt x="713522" y="145047"/>
                  <a:pt x="723636" y="330199"/>
                </a:cubicBezTo>
                <a:cubicBezTo>
                  <a:pt x="733751" y="515351"/>
                  <a:pt x="597410" y="676131"/>
                  <a:pt x="413094" y="696406"/>
                </a:cubicBezTo>
                <a:cubicBezTo>
                  <a:pt x="228777" y="716681"/>
                  <a:pt x="60747" y="589382"/>
                  <a:pt x="30374" y="406458"/>
                </a:cubicBezTo>
                <a:cubicBezTo>
                  <a:pt x="0" y="223535"/>
                  <a:pt x="117872" y="48763"/>
                  <a:pt x="298850" y="8382"/>
                </a:cubicBezTo>
              </a:path>
            </a:pathLst>
          </a:custGeom>
          <a:noFill/>
          <a:ln w="50800">
            <a:solidFill>
              <a:srgbClr val="2B4A78"/>
            </a:solidFill>
            <a:miter lim="800000"/>
          </a:ln>
        </p:spPr>
        <p:txBody>
          <a:bodyPr rtlCol="0" anchor="ctr"/>
          <a:lstStyle/>
          <a:p>
            <a:pPr algn="ctr"/>
            <a:endParaRPr lang="ko-KR" dirty="0"/>
          </a:p>
        </p:txBody>
      </p:sp>
      <p:sp>
        <p:nvSpPr>
          <p:cNvPr id="36" name="pn c2 rt"/>
          <p:cNvSpPr/>
          <p:nvPr/>
        </p:nvSpPr>
        <p:spPr>
          <a:xfrm>
            <a:off x="4473575" y="1635323"/>
            <a:ext cx="3549650" cy="2533650"/>
          </a:xfrm>
          <a:prstGeom prst="roundRect">
            <a:avLst>
              <a:gd name="adj" fmla="val 4887"/>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37" name="delta"/>
          <p:cNvSpPr/>
          <p:nvPr/>
        </p:nvSpPr>
        <p:spPr>
          <a:xfrm>
            <a:off x="7219156" y="1835348"/>
            <a:ext cx="597694" cy="177800"/>
          </a:xfrm>
          <a:prstGeom prst="roundRect">
            <a:avLst>
              <a:gd name="adj" fmla="val 21429"/>
            </a:avLst>
          </a:prstGeom>
          <a:solidFill>
            <a:srgbClr val="FDECEF"/>
          </a:solidFill>
          <a:ln>
            <a:noFill/>
          </a:ln>
        </p:spPr>
        <p:txBody>
          <a:bodyPr rtlCol="0" anchor="ctr"/>
          <a:lstStyle/>
          <a:p>
            <a:pPr algn="ctr"/>
            <a:endParaRPr lang="ko-KR" dirty="0"/>
          </a:p>
        </p:txBody>
      </p:sp>
      <p:sp>
        <p:nvSpPr>
          <p:cNvPr id="38" name="i"/>
          <p:cNvSpPr/>
          <p:nvPr/>
        </p:nvSpPr>
        <p:spPr>
          <a:xfrm>
            <a:off x="5065415" y="2114748"/>
            <a:ext cx="9525" cy="101600"/>
          </a:xfrm>
          <a:prstGeom prst="rect">
            <a:avLst/>
          </a:prstGeom>
          <a:solidFill>
            <a:srgbClr val="C8CFD8"/>
          </a:solidFill>
          <a:ln>
            <a:noFill/>
          </a:ln>
        </p:spPr>
        <p:txBody>
          <a:bodyPr rtlCol="0" anchor="ctr"/>
          <a:lstStyle/>
          <a:p>
            <a:pPr algn="ctr"/>
            <a:endParaRPr lang="ko-KR" dirty="0"/>
          </a:p>
        </p:txBody>
      </p:sp>
      <p:sp>
        <p:nvSpPr>
          <p:cNvPr id="39" name="tk 선"/>
          <p:cNvSpPr/>
          <p:nvPr/>
        </p:nvSpPr>
        <p:spPr>
          <a:xfrm>
            <a:off x="4905375" y="2619573"/>
            <a:ext cx="31750" cy="1"/>
          </a:xfrm>
          <a:custGeom>
            <a:avLst/>
            <a:gdLst/>
            <a:ahLst/>
            <a:cxnLst/>
            <a:rect l="0" t="0" r="r" b="b"/>
            <a:pathLst>
              <a:path w="31750" h="1" fill="none">
                <a:moveTo>
                  <a:pt x="0" y="0"/>
                </a:moveTo>
                <a:lnTo>
                  <a:pt x="31750" y="0"/>
                </a:lnTo>
              </a:path>
            </a:pathLst>
          </a:custGeom>
          <a:noFill/>
          <a:ln w="6350">
            <a:solidFill>
              <a:srgbClr val="C8CFD8"/>
            </a:solidFill>
            <a:round/>
          </a:ln>
        </p:spPr>
        <p:txBody>
          <a:bodyPr rtlCol="0" anchor="ctr"/>
          <a:lstStyle/>
          <a:p>
            <a:pPr algn="ctr"/>
            <a:endParaRPr lang="ko-KR" dirty="0"/>
          </a:p>
        </p:txBody>
      </p:sp>
      <p:sp>
        <p:nvSpPr>
          <p:cNvPr id="40" name="ax 선"/>
          <p:cNvSpPr/>
          <p:nvPr/>
        </p:nvSpPr>
        <p:spPr>
          <a:xfrm>
            <a:off x="4937125" y="2619573"/>
            <a:ext cx="1" cy="946150"/>
          </a:xfrm>
          <a:custGeom>
            <a:avLst/>
            <a:gdLst/>
            <a:ahLst/>
            <a:cxnLst/>
            <a:rect l="0" t="0" r="r" b="b"/>
            <a:pathLst>
              <a:path w="1" h="946150" fill="none">
                <a:moveTo>
                  <a:pt x="0" y="946150"/>
                </a:moveTo>
                <a:lnTo>
                  <a:pt x="0" y="0"/>
                </a:lnTo>
              </a:path>
            </a:pathLst>
          </a:custGeom>
          <a:noFill/>
          <a:ln w="6350">
            <a:solidFill>
              <a:srgbClr val="C8CFD8"/>
            </a:solidFill>
            <a:round/>
          </a:ln>
        </p:spPr>
        <p:txBody>
          <a:bodyPr rtlCol="0" anchor="ctr"/>
          <a:lstStyle/>
          <a:p>
            <a:pPr algn="ctr"/>
            <a:endParaRPr lang="ko-KR" dirty="0"/>
          </a:p>
        </p:txBody>
      </p:sp>
      <p:sp>
        <p:nvSpPr>
          <p:cNvPr id="41" name="gl 선"/>
          <p:cNvSpPr/>
          <p:nvPr/>
        </p:nvSpPr>
        <p:spPr>
          <a:xfrm>
            <a:off x="4940300" y="3568898"/>
            <a:ext cx="2870200" cy="1"/>
          </a:xfrm>
          <a:custGeom>
            <a:avLst/>
            <a:gdLst/>
            <a:ahLst/>
            <a:cxnLst/>
            <a:rect l="0" t="0" r="r" b="b"/>
            <a:pathLst>
              <a:path w="2870200" h="1" fill="none">
                <a:moveTo>
                  <a:pt x="0" y="0"/>
                </a:moveTo>
                <a:lnTo>
                  <a:pt x="2870200" y="0"/>
                </a:lnTo>
              </a:path>
            </a:pathLst>
          </a:custGeom>
          <a:noFill/>
          <a:ln w="12700">
            <a:solidFill>
              <a:srgbClr val="C8CFD8"/>
            </a:solidFill>
            <a:round/>
          </a:ln>
        </p:spPr>
        <p:txBody>
          <a:bodyPr rtlCol="0" anchor="ctr"/>
          <a:lstStyle/>
          <a:p>
            <a:pPr algn="ctr"/>
            <a:endParaRPr lang="ko-KR" dirty="0"/>
          </a:p>
        </p:txBody>
      </p:sp>
      <p:sp>
        <p:nvSpPr>
          <p:cNvPr id="42" name="ref 선"/>
          <p:cNvSpPr/>
          <p:nvPr/>
        </p:nvSpPr>
        <p:spPr>
          <a:xfrm>
            <a:off x="6553200" y="3219648"/>
            <a:ext cx="622300" cy="1"/>
          </a:xfrm>
          <a:custGeom>
            <a:avLst/>
            <a:gdLst/>
            <a:ahLst/>
            <a:cxnLst/>
            <a:rect l="0" t="0" r="r" b="b"/>
            <a:pathLst>
              <a:path w="622300" h="1" fill="none">
                <a:moveTo>
                  <a:pt x="0" y="0"/>
                </a:moveTo>
                <a:lnTo>
                  <a:pt x="622300" y="0"/>
                </a:lnTo>
              </a:path>
            </a:pathLst>
          </a:custGeom>
          <a:noFill/>
          <a:ln w="12700">
            <a:solidFill>
              <a:srgbClr val="8D96A3"/>
            </a:solidFill>
            <a:prstDash val="dash"/>
            <a:round/>
          </a:ln>
        </p:spPr>
        <p:txBody>
          <a:bodyPr rtlCol="0" anchor="ctr"/>
          <a:lstStyle/>
          <a:p>
            <a:pPr algn="ctr"/>
            <a:endParaRPr lang="ko-KR" dirty="0"/>
          </a:p>
        </p:txBody>
      </p:sp>
      <p:sp>
        <p:nvSpPr>
          <p:cNvPr id="43" name="bar"/>
          <p:cNvSpPr/>
          <p:nvPr/>
        </p:nvSpPr>
        <p:spPr>
          <a:xfrm>
            <a:off x="5251450" y="3378398"/>
            <a:ext cx="330200" cy="190500"/>
          </a:xfrm>
          <a:custGeom>
            <a:avLst/>
            <a:gdLst/>
            <a:ahLst/>
            <a:cxnLst/>
            <a:rect l="0" t="0" r="r" b="b"/>
            <a:pathLst>
              <a:path w="330200" h="190500" stroke="0">
                <a:moveTo>
                  <a:pt x="25400" y="0"/>
                </a:moveTo>
                <a:lnTo>
                  <a:pt x="304800" y="0"/>
                </a:lnTo>
                <a:cubicBezTo>
                  <a:pt x="318828" y="0"/>
                  <a:pt x="330200" y="11372"/>
                  <a:pt x="330200" y="25400"/>
                </a:cubicBezTo>
                <a:lnTo>
                  <a:pt x="330200" y="190500"/>
                </a:lnTo>
                <a:cubicBezTo>
                  <a:pt x="330200" y="190500"/>
                  <a:pt x="330200" y="190500"/>
                  <a:pt x="330200" y="190500"/>
                </a:cubicBezTo>
                <a:lnTo>
                  <a:pt x="0" y="190500"/>
                </a:lnTo>
                <a:cubicBezTo>
                  <a:pt x="0" y="190500"/>
                  <a:pt x="0" y="190500"/>
                  <a:pt x="0" y="1905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44" name="bar"/>
          <p:cNvSpPr/>
          <p:nvPr/>
        </p:nvSpPr>
        <p:spPr>
          <a:xfrm>
            <a:off x="6216650" y="3219648"/>
            <a:ext cx="330200" cy="349250"/>
          </a:xfrm>
          <a:custGeom>
            <a:avLst/>
            <a:gdLst/>
            <a:ahLst/>
            <a:cxnLst/>
            <a:rect l="0" t="0" r="r" b="b"/>
            <a:pathLst>
              <a:path w="330200" h="349250" stroke="0">
                <a:moveTo>
                  <a:pt x="25400" y="0"/>
                </a:moveTo>
                <a:lnTo>
                  <a:pt x="304800" y="0"/>
                </a:lnTo>
                <a:cubicBezTo>
                  <a:pt x="318828" y="0"/>
                  <a:pt x="330200" y="11372"/>
                  <a:pt x="330200" y="25400"/>
                </a:cubicBezTo>
                <a:lnTo>
                  <a:pt x="330200" y="349250"/>
                </a:lnTo>
                <a:cubicBezTo>
                  <a:pt x="330200" y="349250"/>
                  <a:pt x="330200" y="349250"/>
                  <a:pt x="330200" y="349250"/>
                </a:cubicBezTo>
                <a:lnTo>
                  <a:pt x="0" y="349250"/>
                </a:lnTo>
                <a:cubicBezTo>
                  <a:pt x="0" y="349250"/>
                  <a:pt x="0" y="349250"/>
                  <a:pt x="0" y="34925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45" name="bar p"/>
          <p:cNvSpPr/>
          <p:nvPr/>
        </p:nvSpPr>
        <p:spPr>
          <a:xfrm>
            <a:off x="7181850" y="2895798"/>
            <a:ext cx="330200" cy="673100"/>
          </a:xfrm>
          <a:custGeom>
            <a:avLst/>
            <a:gdLst/>
            <a:ahLst/>
            <a:cxnLst/>
            <a:rect l="0" t="0" r="r" b="b"/>
            <a:pathLst>
              <a:path w="330200" h="673100" stroke="0">
                <a:moveTo>
                  <a:pt x="25400" y="0"/>
                </a:moveTo>
                <a:lnTo>
                  <a:pt x="304800" y="0"/>
                </a:lnTo>
                <a:cubicBezTo>
                  <a:pt x="318828" y="0"/>
                  <a:pt x="330200" y="11372"/>
                  <a:pt x="330200" y="25400"/>
                </a:cubicBezTo>
                <a:lnTo>
                  <a:pt x="330200" y="673100"/>
                </a:lnTo>
                <a:cubicBezTo>
                  <a:pt x="330200" y="673100"/>
                  <a:pt x="330200" y="673100"/>
                  <a:pt x="330200" y="673100"/>
                </a:cubicBezTo>
                <a:lnTo>
                  <a:pt x="0" y="673100"/>
                </a:lnTo>
                <a:cubicBezTo>
                  <a:pt x="0" y="673100"/>
                  <a:pt x="0" y="673100"/>
                  <a:pt x="0" y="6731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46" name="pn c2 rb"/>
          <p:cNvSpPr/>
          <p:nvPr/>
        </p:nvSpPr>
        <p:spPr>
          <a:xfrm>
            <a:off x="4473575" y="4327723"/>
            <a:ext cx="3549650" cy="2006600"/>
          </a:xfrm>
          <a:prstGeom prst="roundRect">
            <a:avLst>
              <a:gd name="adj" fmla="val 6171"/>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47" name="tag"/>
          <p:cNvSpPr/>
          <p:nvPr/>
        </p:nvSpPr>
        <p:spPr>
          <a:xfrm>
            <a:off x="6493371" y="4515048"/>
            <a:ext cx="1323479" cy="203200"/>
          </a:xfrm>
          <a:prstGeom prst="roundRect">
            <a:avLst>
              <a:gd name="adj" fmla="val 50000"/>
            </a:avLst>
          </a:prstGeom>
          <a:solidFill>
            <a:srgbClr val="F3F5F8"/>
          </a:solidFill>
          <a:ln>
            <a:noFill/>
          </a:ln>
        </p:spPr>
        <p:txBody>
          <a:bodyPr rtlCol="0" anchor="ctr"/>
          <a:lstStyle/>
          <a:p>
            <a:pPr algn="ctr"/>
            <a:endParaRPr lang="ko-KR" dirty="0"/>
          </a:p>
        </p:txBody>
      </p:sp>
      <p:sp>
        <p:nvSpPr>
          <p:cNvPr id="48" name="svg path"/>
          <p:cNvSpPr/>
          <p:nvPr/>
        </p:nvSpPr>
        <p:spPr>
          <a:xfrm>
            <a:off x="6598146" y="4575373"/>
            <a:ext cx="82550" cy="85725"/>
          </a:xfrm>
          <a:custGeom>
            <a:avLst/>
            <a:gdLst/>
            <a:ahLst/>
            <a:cxnLst/>
            <a:rect l="0" t="0" r="r" b="b"/>
            <a:pathLst>
              <a:path w="82550" h="85725" fill="none">
                <a:moveTo>
                  <a:pt x="0" y="85725"/>
                </a:moveTo>
                <a:lnTo>
                  <a:pt x="82550" y="85725"/>
                </a:lnTo>
                <a:moveTo>
                  <a:pt x="12700" y="85725"/>
                </a:moveTo>
                <a:lnTo>
                  <a:pt x="12700" y="19050"/>
                </a:lnTo>
                <a:lnTo>
                  <a:pt x="41275" y="0"/>
                </a:lnTo>
                <a:lnTo>
                  <a:pt x="69850" y="19050"/>
                </a:lnTo>
                <a:lnTo>
                  <a:pt x="69850" y="85725"/>
                </a:lnTo>
              </a:path>
            </a:pathLst>
          </a:custGeom>
          <a:noFill/>
          <a:ln w="12700" cap="rnd">
            <a:solidFill>
              <a:srgbClr val="737C8B"/>
            </a:solidFill>
            <a:round/>
          </a:ln>
        </p:spPr>
        <p:txBody>
          <a:bodyPr rtlCol="0" anchor="ctr"/>
          <a:lstStyle/>
          <a:p>
            <a:pPr algn="ctr"/>
            <a:endParaRPr lang="ko-KR" dirty="0"/>
          </a:p>
        </p:txBody>
      </p:sp>
      <p:sp>
        <p:nvSpPr>
          <p:cNvPr id="49" name="svg path"/>
          <p:cNvSpPr/>
          <p:nvPr/>
        </p:nvSpPr>
        <p:spPr>
          <a:xfrm>
            <a:off x="6629896" y="4610298"/>
            <a:ext cx="19050" cy="22225"/>
          </a:xfrm>
          <a:custGeom>
            <a:avLst/>
            <a:gdLst/>
            <a:ahLst/>
            <a:cxnLst/>
            <a:rect l="0" t="0" r="r" b="b"/>
            <a:pathLst>
              <a:path w="19050" h="22225" fill="none">
                <a:moveTo>
                  <a:pt x="0" y="0"/>
                </a:moveTo>
                <a:lnTo>
                  <a:pt x="19050" y="0"/>
                </a:lnTo>
                <a:moveTo>
                  <a:pt x="0" y="22225"/>
                </a:moveTo>
                <a:lnTo>
                  <a:pt x="19050" y="22225"/>
                </a:lnTo>
              </a:path>
            </a:pathLst>
          </a:custGeom>
          <a:noFill/>
          <a:ln w="12700" cap="rnd">
            <a:solidFill>
              <a:srgbClr val="737C8B"/>
            </a:solidFill>
            <a:miter lim="800000"/>
          </a:ln>
        </p:spPr>
        <p:txBody>
          <a:bodyPr rtlCol="0" anchor="ctr"/>
          <a:lstStyle/>
          <a:p>
            <a:pPr algn="ctr"/>
            <a:endParaRPr lang="ko-KR" dirty="0"/>
          </a:p>
        </p:txBody>
      </p:sp>
      <p:sp>
        <p:nvSpPr>
          <p:cNvPr id="50" name="i"/>
          <p:cNvSpPr/>
          <p:nvPr/>
        </p:nvSpPr>
        <p:spPr>
          <a:xfrm>
            <a:off x="5252343" y="4807148"/>
            <a:ext cx="9525" cy="101600"/>
          </a:xfrm>
          <a:prstGeom prst="rect">
            <a:avLst/>
          </a:prstGeom>
          <a:solidFill>
            <a:srgbClr val="C8CFD8"/>
          </a:solidFill>
          <a:ln>
            <a:noFill/>
          </a:ln>
        </p:spPr>
        <p:txBody>
          <a:bodyPr rtlCol="0" anchor="ctr"/>
          <a:lstStyle/>
          <a:p>
            <a:pPr algn="ctr"/>
            <a:endParaRPr lang="ko-KR" dirty="0"/>
          </a:p>
        </p:txBody>
      </p:sp>
      <p:sp>
        <p:nvSpPr>
          <p:cNvPr id="51" name="svg circle"/>
          <p:cNvSpPr/>
          <p:nvPr/>
        </p:nvSpPr>
        <p:spPr>
          <a:xfrm>
            <a:off x="53530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52" name="svg path"/>
          <p:cNvSpPr/>
          <p:nvPr/>
        </p:nvSpPr>
        <p:spPr>
          <a:xfrm>
            <a:off x="5314142" y="5137348"/>
            <a:ext cx="754734" cy="728910"/>
          </a:xfrm>
          <a:custGeom>
            <a:avLst/>
            <a:gdLst/>
            <a:ahLst/>
            <a:cxnLst/>
            <a:rect l="0" t="0" r="r" b="b"/>
            <a:pathLst>
              <a:path w="754734" h="728910" fill="none">
                <a:moveTo>
                  <a:pt x="388158" y="0"/>
                </a:moveTo>
                <a:cubicBezTo>
                  <a:pt x="566211" y="38"/>
                  <a:pt x="715731" y="134016"/>
                  <a:pt x="735233" y="310998"/>
                </a:cubicBezTo>
                <a:cubicBezTo>
                  <a:pt x="754734" y="487979"/>
                  <a:pt x="637974" y="651299"/>
                  <a:pt x="464201" y="690104"/>
                </a:cubicBezTo>
                <a:cubicBezTo>
                  <a:pt x="290428" y="728910"/>
                  <a:pt x="115282" y="630778"/>
                  <a:pt x="57641" y="462313"/>
                </a:cubicBezTo>
                <a:cubicBezTo>
                  <a:pt x="0" y="293848"/>
                  <a:pt x="78320" y="108991"/>
                  <a:pt x="239441" y="33211"/>
                </a:cubicBezTo>
              </a:path>
            </a:pathLst>
          </a:custGeom>
          <a:noFill/>
          <a:ln w="50800">
            <a:solidFill>
              <a:srgbClr val="2B4A78"/>
            </a:solidFill>
            <a:miter lim="800000"/>
          </a:ln>
        </p:spPr>
        <p:txBody>
          <a:bodyPr rtlCol="0" anchor="ctr"/>
          <a:lstStyle/>
          <a:p>
            <a:pPr algn="ctr"/>
            <a:endParaRPr lang="ko-KR" dirty="0"/>
          </a:p>
        </p:txBody>
      </p:sp>
      <p:sp>
        <p:nvSpPr>
          <p:cNvPr id="53" name="svg circle"/>
          <p:cNvSpPr/>
          <p:nvPr/>
        </p:nvSpPr>
        <p:spPr>
          <a:xfrm>
            <a:off x="64452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54" name="svg path"/>
          <p:cNvSpPr/>
          <p:nvPr/>
        </p:nvSpPr>
        <p:spPr>
          <a:xfrm>
            <a:off x="6412302" y="5137348"/>
            <a:ext cx="744583" cy="722693"/>
          </a:xfrm>
          <a:custGeom>
            <a:avLst/>
            <a:gdLst/>
            <a:ahLst/>
            <a:cxnLst/>
            <a:rect l="0" t="0" r="r" b="b"/>
            <a:pathLst>
              <a:path w="744583" h="722693" fill="none">
                <a:moveTo>
                  <a:pt x="382198" y="0"/>
                </a:moveTo>
                <a:cubicBezTo>
                  <a:pt x="564454" y="33"/>
                  <a:pt x="716042" y="140208"/>
                  <a:pt x="730313" y="321905"/>
                </a:cubicBezTo>
                <a:cubicBezTo>
                  <a:pt x="744583" y="503601"/>
                  <a:pt x="616736" y="665723"/>
                  <a:pt x="436719" y="694208"/>
                </a:cubicBezTo>
                <a:cubicBezTo>
                  <a:pt x="256703" y="722693"/>
                  <a:pt x="85048" y="607963"/>
                  <a:pt x="42524" y="430737"/>
                </a:cubicBezTo>
                <a:cubicBezTo>
                  <a:pt x="0" y="253511"/>
                  <a:pt x="100905" y="73382"/>
                  <a:pt x="274248" y="17082"/>
                </a:cubicBezTo>
              </a:path>
            </a:pathLst>
          </a:custGeom>
          <a:noFill/>
          <a:ln w="50800">
            <a:solidFill>
              <a:srgbClr val="2B4A78"/>
            </a:solidFill>
            <a:miter lim="800000"/>
          </a:ln>
        </p:spPr>
        <p:txBody>
          <a:bodyPr rtlCol="0" anchor="ctr"/>
          <a:lstStyle/>
          <a:p>
            <a:pPr algn="ctr"/>
            <a:endParaRPr lang="ko-KR" dirty="0"/>
          </a:p>
        </p:txBody>
      </p:sp>
      <p:sp>
        <p:nvSpPr>
          <p:cNvPr id="55" name="pn pf c3 rf"/>
          <p:cNvSpPr/>
          <p:nvPr/>
        </p:nvSpPr>
        <p:spPr>
          <a:xfrm>
            <a:off x="8232775" y="1635323"/>
            <a:ext cx="3346450" cy="4699000"/>
          </a:xfrm>
          <a:prstGeom prst="roundRect">
            <a:avLst>
              <a:gd name="adj" fmla="val 3700"/>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56" name="tag"/>
          <p:cNvSpPr/>
          <p:nvPr/>
        </p:nvSpPr>
        <p:spPr>
          <a:xfrm>
            <a:off x="10692904" y="1822648"/>
            <a:ext cx="679946" cy="203200"/>
          </a:xfrm>
          <a:prstGeom prst="roundRect">
            <a:avLst>
              <a:gd name="adj" fmla="val 50000"/>
            </a:avLst>
          </a:prstGeom>
          <a:solidFill>
            <a:srgbClr val="F3F5F8"/>
          </a:solidFill>
          <a:ln>
            <a:noFill/>
          </a:ln>
        </p:spPr>
        <p:txBody>
          <a:bodyPr rtlCol="0" anchor="ctr"/>
          <a:lstStyle/>
          <a:p>
            <a:pPr algn="ctr"/>
            <a:endParaRPr lang="ko-KR" dirty="0"/>
          </a:p>
        </p:txBody>
      </p:sp>
      <p:sp>
        <p:nvSpPr>
          <p:cNvPr id="57" name="svg path"/>
          <p:cNvSpPr/>
          <p:nvPr/>
        </p:nvSpPr>
        <p:spPr>
          <a:xfrm>
            <a:off x="10797679" y="1882973"/>
            <a:ext cx="82550" cy="85725"/>
          </a:xfrm>
          <a:custGeom>
            <a:avLst/>
            <a:gdLst/>
            <a:ahLst/>
            <a:cxnLst/>
            <a:rect l="0" t="0" r="r" b="b"/>
            <a:pathLst>
              <a:path w="82550" h="85725" fill="none">
                <a:moveTo>
                  <a:pt x="0" y="85725"/>
                </a:moveTo>
                <a:lnTo>
                  <a:pt x="82550" y="85725"/>
                </a:lnTo>
                <a:moveTo>
                  <a:pt x="12700" y="85725"/>
                </a:moveTo>
                <a:lnTo>
                  <a:pt x="12700" y="19050"/>
                </a:lnTo>
                <a:lnTo>
                  <a:pt x="41275" y="0"/>
                </a:lnTo>
                <a:lnTo>
                  <a:pt x="69850" y="19050"/>
                </a:lnTo>
                <a:lnTo>
                  <a:pt x="69850" y="85725"/>
                </a:lnTo>
              </a:path>
            </a:pathLst>
          </a:custGeom>
          <a:noFill/>
          <a:ln w="12700" cap="rnd">
            <a:solidFill>
              <a:srgbClr val="737C8B"/>
            </a:solidFill>
            <a:round/>
          </a:ln>
        </p:spPr>
        <p:txBody>
          <a:bodyPr rtlCol="0" anchor="ctr"/>
          <a:lstStyle/>
          <a:p>
            <a:pPr algn="ctr"/>
            <a:endParaRPr lang="ko-KR" dirty="0"/>
          </a:p>
        </p:txBody>
      </p:sp>
      <p:sp>
        <p:nvSpPr>
          <p:cNvPr id="58" name="svg path"/>
          <p:cNvSpPr/>
          <p:nvPr/>
        </p:nvSpPr>
        <p:spPr>
          <a:xfrm>
            <a:off x="10829429" y="1917898"/>
            <a:ext cx="19050" cy="22225"/>
          </a:xfrm>
          <a:custGeom>
            <a:avLst/>
            <a:gdLst/>
            <a:ahLst/>
            <a:cxnLst/>
            <a:rect l="0" t="0" r="r" b="b"/>
            <a:pathLst>
              <a:path w="19050" h="22225" fill="none">
                <a:moveTo>
                  <a:pt x="0" y="0"/>
                </a:moveTo>
                <a:lnTo>
                  <a:pt x="19050" y="0"/>
                </a:lnTo>
                <a:moveTo>
                  <a:pt x="0" y="22225"/>
                </a:moveTo>
                <a:lnTo>
                  <a:pt x="19050" y="22225"/>
                </a:lnTo>
              </a:path>
            </a:pathLst>
          </a:custGeom>
          <a:noFill/>
          <a:ln w="12700" cap="rnd">
            <a:solidFill>
              <a:srgbClr val="737C8B"/>
            </a:solidFill>
            <a:miter lim="800000"/>
          </a:ln>
        </p:spPr>
        <p:txBody>
          <a:bodyPr rtlCol="0" anchor="ctr"/>
          <a:lstStyle/>
          <a:p>
            <a:pPr algn="ctr"/>
            <a:endParaRPr lang="ko-KR" dirty="0"/>
          </a:p>
        </p:txBody>
      </p:sp>
      <p:sp>
        <p:nvSpPr>
          <p:cNvPr id="59" name="i"/>
          <p:cNvSpPr/>
          <p:nvPr/>
        </p:nvSpPr>
        <p:spPr>
          <a:xfrm>
            <a:off x="9056489" y="2114748"/>
            <a:ext cx="9525" cy="101600"/>
          </a:xfrm>
          <a:prstGeom prst="rect">
            <a:avLst/>
          </a:prstGeom>
          <a:solidFill>
            <a:srgbClr val="C8CFD8"/>
          </a:solidFill>
          <a:ln>
            <a:noFill/>
          </a:ln>
        </p:spPr>
        <p:txBody>
          <a:bodyPr rtlCol="0" anchor="ctr"/>
          <a:lstStyle/>
          <a:p>
            <a:pPr algn="ctr"/>
            <a:endParaRPr lang="ko-KR" dirty="0"/>
          </a:p>
        </p:txBody>
      </p:sp>
      <p:sp>
        <p:nvSpPr>
          <p:cNvPr id="60" name="kp"/>
          <p:cNvSpPr/>
          <p:nvPr/>
        </p:nvSpPr>
        <p:spPr>
          <a:xfrm>
            <a:off x="8439150" y="2400498"/>
            <a:ext cx="2933700" cy="1092200"/>
          </a:xfrm>
          <a:prstGeom prst="roundRect">
            <a:avLst>
              <a:gd name="adj" fmla="val 9302"/>
            </a:avLst>
          </a:prstGeom>
          <a:solidFill>
            <a:srgbClr val="F3F5F8"/>
          </a:solidFill>
          <a:ln>
            <a:noFill/>
          </a:ln>
        </p:spPr>
        <p:txBody>
          <a:bodyPr rtlCol="0" anchor="ctr"/>
          <a:lstStyle/>
          <a:p>
            <a:pPr algn="ctr"/>
            <a:endParaRPr lang="ko-KR" dirty="0"/>
          </a:p>
        </p:txBody>
      </p:sp>
      <p:sp>
        <p:nvSpPr>
          <p:cNvPr id="61" name="kp-bar"/>
          <p:cNvSpPr/>
          <p:nvPr/>
        </p:nvSpPr>
        <p:spPr>
          <a:xfrm>
            <a:off x="8616950" y="3213298"/>
            <a:ext cx="2578100" cy="76200"/>
          </a:xfrm>
          <a:prstGeom prst="roundRect">
            <a:avLst>
              <a:gd name="adj" fmla="val 50000"/>
            </a:avLst>
          </a:prstGeom>
          <a:solidFill>
            <a:srgbClr val="E9EDF2"/>
          </a:solidFill>
          <a:ln>
            <a:noFill/>
          </a:ln>
        </p:spPr>
        <p:txBody>
          <a:bodyPr rtlCol="0" anchor="ctr"/>
          <a:lstStyle/>
          <a:p>
            <a:pPr algn="ctr"/>
            <a:endParaRPr lang="ko-KR" dirty="0"/>
          </a:p>
        </p:txBody>
      </p:sp>
      <p:sp>
        <p:nvSpPr>
          <p:cNvPr id="62" name="i"/>
          <p:cNvSpPr/>
          <p:nvPr/>
        </p:nvSpPr>
        <p:spPr>
          <a:xfrm>
            <a:off x="8616950" y="3213298"/>
            <a:ext cx="2405360" cy="76200"/>
          </a:xfrm>
          <a:prstGeom prst="roundRect">
            <a:avLst>
              <a:gd name="adj" fmla="val 50000"/>
            </a:avLst>
          </a:prstGeom>
          <a:solidFill>
            <a:srgbClr val="2B4A78"/>
          </a:solidFill>
          <a:ln>
            <a:noFill/>
          </a:ln>
        </p:spPr>
        <p:txBody>
          <a:bodyPr rtlCol="0" anchor="ctr"/>
          <a:lstStyle/>
          <a:p>
            <a:pPr algn="ctr"/>
            <a:endParaRPr lang="ko-KR" dirty="0"/>
          </a:p>
        </p:txBody>
      </p:sp>
      <p:sp>
        <p:nvSpPr>
          <p:cNvPr id="63" name="n"/>
          <p:cNvSpPr/>
          <p:nvPr/>
        </p:nvSpPr>
        <p:spPr>
          <a:xfrm>
            <a:off x="10365879" y="3778448"/>
            <a:ext cx="88900" cy="88900"/>
          </a:xfrm>
          <a:prstGeom prst="roundRect">
            <a:avLst>
              <a:gd name="adj" fmla="val 21429"/>
            </a:avLst>
          </a:prstGeom>
          <a:solidFill>
            <a:srgbClr val="2B4A78"/>
          </a:solidFill>
          <a:ln>
            <a:noFill/>
          </a:ln>
        </p:spPr>
        <p:txBody>
          <a:bodyPr rtlCol="0" anchor="ctr"/>
          <a:lstStyle/>
          <a:p>
            <a:pPr algn="ctr"/>
            <a:endParaRPr lang="ko-KR" dirty="0"/>
          </a:p>
        </p:txBody>
      </p:sp>
      <p:sp>
        <p:nvSpPr>
          <p:cNvPr id="64" name="e"/>
          <p:cNvSpPr/>
          <p:nvPr/>
        </p:nvSpPr>
        <p:spPr>
          <a:xfrm>
            <a:off x="10977463" y="3781623"/>
            <a:ext cx="82550" cy="82550"/>
          </a:xfrm>
          <a:prstGeom prst="roundRect">
            <a:avLst>
              <a:gd name="adj" fmla="val 19231"/>
            </a:avLst>
          </a:prstGeom>
          <a:solidFill>
            <a:srgbClr val="E9EDF2"/>
          </a:solidFill>
          <a:ln w="6350">
            <a:solidFill>
              <a:srgbClr val="C3C9D2"/>
            </a:solidFill>
            <a:miter lim="800000"/>
          </a:ln>
        </p:spPr>
        <p:txBody>
          <a:bodyPr rtlCol="0" anchor="ctr"/>
          <a:lstStyle/>
          <a:p>
            <a:pPr algn="ctr"/>
            <a:endParaRPr lang="ko-KR" dirty="0"/>
          </a:p>
        </p:txBody>
      </p:sp>
      <p:sp>
        <p:nvSpPr>
          <p:cNvPr id="65" name="g"/>
          <p:cNvSpPr/>
          <p:nvPr/>
        </p:nvSpPr>
        <p:spPr>
          <a:xfrm>
            <a:off x="8439150" y="4305498"/>
            <a:ext cx="2089150" cy="101600"/>
          </a:xfrm>
          <a:custGeom>
            <a:avLst/>
            <a:gdLst/>
            <a:ahLst/>
            <a:cxnLst/>
            <a:rect l="0" t="0" r="r" b="b"/>
            <a:pathLst>
              <a:path w="2089150" h="101600" stroke="0">
                <a:moveTo>
                  <a:pt x="25400" y="0"/>
                </a:moveTo>
                <a:lnTo>
                  <a:pt x="2089150" y="0"/>
                </a:lnTo>
                <a:cubicBezTo>
                  <a:pt x="2089150" y="0"/>
                  <a:pt x="2089150" y="0"/>
                  <a:pt x="2089150" y="0"/>
                </a:cubicBezTo>
                <a:lnTo>
                  <a:pt x="2089150" y="101600"/>
                </a:lnTo>
                <a:cubicBezTo>
                  <a:pt x="2089150" y="101600"/>
                  <a:pt x="2089150" y="101600"/>
                  <a:pt x="2089150" y="101600"/>
                </a:cubicBezTo>
                <a:lnTo>
                  <a:pt x="25400" y="101600"/>
                </a:lnTo>
                <a:cubicBezTo>
                  <a:pt x="11372" y="101600"/>
                  <a:pt x="0" y="90228"/>
                  <a:pt x="0" y="76200"/>
                </a:cubicBezTo>
                <a:lnTo>
                  <a:pt x="0" y="25400"/>
                </a:lnTo>
                <a:cubicBezTo>
                  <a:pt x="0" y="11372"/>
                  <a:pt x="11372" y="0"/>
                  <a:pt x="25400" y="0"/>
                </a:cubicBezTo>
                <a:close/>
              </a:path>
            </a:pathLst>
          </a:custGeom>
          <a:solidFill>
            <a:srgbClr val="2B4A78"/>
          </a:solidFill>
          <a:ln>
            <a:noFill/>
          </a:ln>
        </p:spPr>
        <p:txBody>
          <a:bodyPr rtlCol="0" anchor="ctr"/>
          <a:lstStyle/>
          <a:p>
            <a:pPr algn="ctr"/>
            <a:endParaRPr lang="ko-KR" dirty="0"/>
          </a:p>
        </p:txBody>
      </p:sp>
      <p:sp>
        <p:nvSpPr>
          <p:cNvPr id="66" name="m"/>
          <p:cNvSpPr/>
          <p:nvPr/>
        </p:nvSpPr>
        <p:spPr>
          <a:xfrm>
            <a:off x="10544175" y="4308673"/>
            <a:ext cx="260350" cy="95250"/>
          </a:xfrm>
          <a:custGeom>
            <a:avLst/>
            <a:gdLst/>
            <a:ahLst/>
            <a:cxnLst/>
            <a:rect l="0" t="0" r="r" b="b"/>
            <a:pathLst>
              <a:path w="260350" h="95250">
                <a:moveTo>
                  <a:pt x="0" y="0"/>
                </a:moveTo>
                <a:lnTo>
                  <a:pt x="238125" y="0"/>
                </a:lnTo>
                <a:cubicBezTo>
                  <a:pt x="250400" y="0"/>
                  <a:pt x="260350" y="9950"/>
                  <a:pt x="260350" y="22225"/>
                </a:cubicBezTo>
                <a:lnTo>
                  <a:pt x="260350" y="73025"/>
                </a:lnTo>
                <a:cubicBezTo>
                  <a:pt x="260350" y="85300"/>
                  <a:pt x="250400" y="95250"/>
                  <a:pt x="238125" y="95250"/>
                </a:cubicBezTo>
                <a:lnTo>
                  <a:pt x="0" y="95250"/>
                </a:lnTo>
                <a:cubicBezTo>
                  <a:pt x="0" y="95250"/>
                  <a:pt x="0" y="95250"/>
                  <a:pt x="0" y="95250"/>
                </a:cubicBezTo>
                <a:lnTo>
                  <a:pt x="0" y="0"/>
                </a:lnTo>
                <a:cubicBezTo>
                  <a:pt x="0" y="0"/>
                  <a:pt x="0" y="0"/>
                  <a:pt x="0" y="0"/>
                </a:cubicBezTo>
                <a:close/>
              </a:path>
            </a:pathLst>
          </a:custGeom>
          <a:solidFill>
            <a:srgbClr val="E9EDF2"/>
          </a:solidFill>
          <a:ln w="6350">
            <a:solidFill>
              <a:srgbClr val="C3C9D2"/>
            </a:solidFill>
            <a:miter lim="800000"/>
          </a:ln>
        </p:spPr>
        <p:txBody>
          <a:bodyPr rtlCol="0" anchor="ctr"/>
          <a:lstStyle/>
          <a:p>
            <a:pPr algn="ctr"/>
            <a:endParaRPr lang="ko-KR" dirty="0"/>
          </a:p>
        </p:txBody>
      </p:sp>
      <p:sp>
        <p:nvSpPr>
          <p:cNvPr id="67" name="g full"/>
          <p:cNvSpPr/>
          <p:nvPr/>
        </p:nvSpPr>
        <p:spPr>
          <a:xfrm>
            <a:off x="8439150" y="4813498"/>
            <a:ext cx="990600" cy="101600"/>
          </a:xfrm>
          <a:prstGeom prst="roundRect">
            <a:avLst>
              <a:gd name="adj" fmla="val 25000"/>
            </a:avLst>
          </a:prstGeom>
          <a:solidFill>
            <a:srgbClr val="2B4A78"/>
          </a:solidFill>
          <a:ln>
            <a:noFill/>
          </a:ln>
        </p:spPr>
        <p:txBody>
          <a:bodyPr rtlCol="0" anchor="ctr"/>
          <a:lstStyle/>
          <a:p>
            <a:pPr algn="ctr"/>
            <a:endParaRPr lang="ko-KR" dirty="0"/>
          </a:p>
        </p:txBody>
      </p:sp>
      <p:sp>
        <p:nvSpPr>
          <p:cNvPr id="68" name="g"/>
          <p:cNvSpPr/>
          <p:nvPr/>
        </p:nvSpPr>
        <p:spPr>
          <a:xfrm>
            <a:off x="8439150" y="5321498"/>
            <a:ext cx="2787650" cy="101600"/>
          </a:xfrm>
          <a:custGeom>
            <a:avLst/>
            <a:gdLst/>
            <a:ahLst/>
            <a:cxnLst/>
            <a:rect l="0" t="0" r="r" b="b"/>
            <a:pathLst>
              <a:path w="2787650" h="101600" stroke="0">
                <a:moveTo>
                  <a:pt x="25400" y="0"/>
                </a:moveTo>
                <a:lnTo>
                  <a:pt x="2787650" y="0"/>
                </a:lnTo>
                <a:cubicBezTo>
                  <a:pt x="2787650" y="0"/>
                  <a:pt x="2787650" y="0"/>
                  <a:pt x="2787650" y="0"/>
                </a:cubicBezTo>
                <a:lnTo>
                  <a:pt x="2787650" y="101600"/>
                </a:lnTo>
                <a:cubicBezTo>
                  <a:pt x="2787650" y="101600"/>
                  <a:pt x="2787650" y="101600"/>
                  <a:pt x="2787650" y="101600"/>
                </a:cubicBezTo>
                <a:lnTo>
                  <a:pt x="25400" y="101600"/>
                </a:lnTo>
                <a:cubicBezTo>
                  <a:pt x="11372" y="101600"/>
                  <a:pt x="0" y="90228"/>
                  <a:pt x="0" y="76200"/>
                </a:cubicBezTo>
                <a:lnTo>
                  <a:pt x="0" y="25400"/>
                </a:lnTo>
                <a:cubicBezTo>
                  <a:pt x="0" y="11372"/>
                  <a:pt x="11372" y="0"/>
                  <a:pt x="25400" y="0"/>
                </a:cubicBezTo>
                <a:close/>
              </a:path>
            </a:pathLst>
          </a:custGeom>
          <a:solidFill>
            <a:srgbClr val="2B4A78"/>
          </a:solidFill>
          <a:ln>
            <a:noFill/>
          </a:ln>
        </p:spPr>
        <p:txBody>
          <a:bodyPr rtlCol="0" anchor="ctr"/>
          <a:lstStyle/>
          <a:p>
            <a:pPr algn="ctr"/>
            <a:endParaRPr lang="ko-KR" dirty="0"/>
          </a:p>
        </p:txBody>
      </p:sp>
      <p:sp>
        <p:nvSpPr>
          <p:cNvPr id="69" name="m"/>
          <p:cNvSpPr/>
          <p:nvPr/>
        </p:nvSpPr>
        <p:spPr>
          <a:xfrm>
            <a:off x="11242675" y="5324673"/>
            <a:ext cx="120650" cy="95250"/>
          </a:xfrm>
          <a:custGeom>
            <a:avLst/>
            <a:gdLst/>
            <a:ahLst/>
            <a:cxnLst/>
            <a:rect l="0" t="0" r="r" b="b"/>
            <a:pathLst>
              <a:path w="120650" h="95250">
                <a:moveTo>
                  <a:pt x="0" y="0"/>
                </a:moveTo>
                <a:lnTo>
                  <a:pt x="98425" y="0"/>
                </a:lnTo>
                <a:cubicBezTo>
                  <a:pt x="110700" y="0"/>
                  <a:pt x="120650" y="9950"/>
                  <a:pt x="120650" y="22225"/>
                </a:cubicBezTo>
                <a:lnTo>
                  <a:pt x="120650" y="73025"/>
                </a:lnTo>
                <a:cubicBezTo>
                  <a:pt x="120650" y="85300"/>
                  <a:pt x="110700" y="95250"/>
                  <a:pt x="98425" y="95250"/>
                </a:cubicBezTo>
                <a:lnTo>
                  <a:pt x="0" y="95250"/>
                </a:lnTo>
                <a:cubicBezTo>
                  <a:pt x="0" y="95250"/>
                  <a:pt x="0" y="95250"/>
                  <a:pt x="0" y="95250"/>
                </a:cubicBezTo>
                <a:lnTo>
                  <a:pt x="0" y="0"/>
                </a:lnTo>
                <a:cubicBezTo>
                  <a:pt x="0" y="0"/>
                  <a:pt x="0" y="0"/>
                  <a:pt x="0" y="0"/>
                </a:cubicBezTo>
                <a:close/>
              </a:path>
            </a:pathLst>
          </a:custGeom>
          <a:solidFill>
            <a:srgbClr val="E9EDF2"/>
          </a:solidFill>
          <a:ln w="6350">
            <a:solidFill>
              <a:srgbClr val="C3C9D2"/>
            </a:solidFill>
            <a:miter lim="800000"/>
          </a:ln>
        </p:spPr>
        <p:txBody>
          <a:bodyPr rtlCol="0" anchor="ctr"/>
          <a:lstStyle/>
          <a:p>
            <a:pPr algn="ctr"/>
            <a:endParaRPr lang="ko-KR" dirty="0"/>
          </a:p>
        </p:txBody>
      </p:sp>
      <p:sp>
        <p:nvSpPr>
          <p:cNvPr id="70" name="iou 선"/>
          <p:cNvSpPr/>
          <p:nvPr/>
        </p:nvSpPr>
        <p:spPr>
          <a:xfrm>
            <a:off x="8442325" y="5642173"/>
            <a:ext cx="2927350" cy="1"/>
          </a:xfrm>
          <a:custGeom>
            <a:avLst/>
            <a:gdLst/>
            <a:ahLst/>
            <a:cxnLst/>
            <a:rect l="0" t="0" r="r" b="b"/>
            <a:pathLst>
              <a:path w="2927350" h="1" fill="none">
                <a:moveTo>
                  <a:pt x="0" y="0"/>
                </a:moveTo>
                <a:lnTo>
                  <a:pt x="2927350" y="0"/>
                </a:lnTo>
              </a:path>
            </a:pathLst>
          </a:custGeom>
          <a:noFill/>
          <a:ln w="6350">
            <a:solidFill>
              <a:srgbClr val="E1E5EB"/>
            </a:solidFill>
            <a:round/>
          </a:ln>
        </p:spPr>
        <p:txBody>
          <a:bodyPr rtlCol="0" anchor="ctr"/>
          <a:lstStyle/>
          <a:p>
            <a:pPr algn="ctr"/>
            <a:endParaRPr lang="ko-KR" dirty="0"/>
          </a:p>
        </p:txBody>
      </p:sp>
      <p:sp>
        <p:nvSpPr>
          <p:cNvPr id="71" name="svg rect"/>
          <p:cNvSpPr/>
          <p:nvPr/>
        </p:nvSpPr>
        <p:spPr>
          <a:xfrm>
            <a:off x="8566150" y="5880298"/>
            <a:ext cx="76200" cy="120650"/>
          </a:xfrm>
          <a:prstGeom prst="rect">
            <a:avLst/>
          </a:prstGeom>
          <a:solidFill>
            <a:srgbClr val="E8EEF6"/>
          </a:solidFill>
          <a:ln>
            <a:noFill/>
          </a:ln>
        </p:spPr>
        <p:txBody>
          <a:bodyPr rtlCol="0" anchor="ctr"/>
          <a:lstStyle/>
          <a:p>
            <a:pPr algn="ctr"/>
            <a:endParaRPr lang="ko-KR" dirty="0"/>
          </a:p>
        </p:txBody>
      </p:sp>
      <p:sp>
        <p:nvSpPr>
          <p:cNvPr id="72" name="svg rect"/>
          <p:cNvSpPr/>
          <p:nvPr/>
        </p:nvSpPr>
        <p:spPr>
          <a:xfrm>
            <a:off x="8470900" y="5880298"/>
            <a:ext cx="171450" cy="215900"/>
          </a:xfrm>
          <a:prstGeom prst="roundRect">
            <a:avLst>
              <a:gd name="adj" fmla="val 11111"/>
            </a:avLst>
          </a:prstGeom>
          <a:noFill/>
          <a:ln w="12700">
            <a:solidFill>
              <a:srgbClr val="8D96A3"/>
            </a:solidFill>
            <a:miter lim="800000"/>
          </a:ln>
        </p:spPr>
        <p:txBody>
          <a:bodyPr rtlCol="0" anchor="ctr"/>
          <a:lstStyle/>
          <a:p>
            <a:pPr algn="ctr"/>
            <a:endParaRPr lang="ko-KR" dirty="0"/>
          </a:p>
        </p:txBody>
      </p:sp>
      <p:sp>
        <p:nvSpPr>
          <p:cNvPr id="73" name="svg rect"/>
          <p:cNvSpPr/>
          <p:nvPr/>
        </p:nvSpPr>
        <p:spPr>
          <a:xfrm>
            <a:off x="8566150" y="5829498"/>
            <a:ext cx="171450" cy="171450"/>
          </a:xfrm>
          <a:prstGeom prst="roundRect">
            <a:avLst>
              <a:gd name="adj" fmla="val 11111"/>
            </a:avLst>
          </a:prstGeom>
          <a:noFill/>
          <a:ln w="12700">
            <a:solidFill>
              <a:srgbClr val="2B4A78"/>
            </a:solidFill>
            <a:miter lim="800000"/>
          </a:ln>
        </p:spPr>
        <p:txBody>
          <a:bodyPr rtlCol="0" anchor="ctr"/>
          <a:lstStyle/>
          <a:p>
            <a:pPr algn="ctr"/>
            <a:endParaRPr lang="ko-KR" dirty="0"/>
          </a:p>
        </p:txBody>
      </p:sp>
      <p:sp>
        <p:nvSpPr>
          <p:cNvPr id="74" name="04"/>
          <p:cNvSpPr txBox="1"/>
          <p:nvPr/>
        </p:nvSpPr>
        <p:spPr>
          <a:xfrm>
            <a:off x="609600" y="401439"/>
            <a:ext cx="21848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04</a:t>
            </a:r>
            <a:endParaRPr lang="en-US" sz="950" dirty="0"/>
          </a:p>
        </p:txBody>
      </p:sp>
      <p:sp>
        <p:nvSpPr>
          <p:cNvPr id="75" name="연구 결과 및 기여"/>
          <p:cNvSpPr txBox="1"/>
          <p:nvPr/>
        </p:nvSpPr>
        <p:spPr>
          <a:xfrm>
            <a:off x="866180" y="401439"/>
            <a:ext cx="84891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결과 및 기여</a:t>
            </a:r>
            <a:endParaRPr lang="en-US" sz="950" dirty="0"/>
          </a:p>
        </p:txBody>
      </p:sp>
      <p:sp>
        <p:nvSpPr>
          <p:cNvPr id="76" name="성능 검증 상세"/>
          <p:cNvSpPr txBox="1"/>
          <p:nvPr/>
        </p:nvSpPr>
        <p:spPr>
          <a:xfrm>
            <a:off x="1848445" y="401439"/>
            <a:ext cx="72151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성능 검증 상세</a:t>
            </a:r>
            <a:endParaRPr lang="en-US" sz="950" dirty="0"/>
          </a:p>
        </p:txBody>
      </p:sp>
      <p:sp>
        <p:nvSpPr>
          <p:cNvPr id="77" name="도면 인식 · 객체 매칭 · BIM 생성, 단계마다 성능을 검증했습니다."/>
          <p:cNvSpPr txBox="1"/>
          <p:nvPr/>
        </p:nvSpPr>
        <p:spPr>
          <a:xfrm>
            <a:off x="609600" y="666750"/>
            <a:ext cx="7261697"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도면 인식 · 객체 매칭 · BIM 생성, </a:t>
            </a:r>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단계마다</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성능을 검증했습니다.</a:t>
            </a:r>
            <a:endParaRPr lang="en-US" sz="2300" dirty="0"/>
          </a:p>
        </p:txBody>
      </p:sp>
      <p:sp>
        <p:nvSpPr>
          <p:cNvPr id="7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7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8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8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04</a:t>
            </a:r>
            <a:endParaRPr lang="en-US" sz="700" dirty="0"/>
          </a:p>
        </p:txBody>
      </p:sp>
      <p:sp>
        <p:nvSpPr>
          <p:cNvPr id="8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83" name="STEP 2"/>
          <p:cNvSpPr txBox="1"/>
          <p:nvPr/>
        </p:nvSpPr>
        <p:spPr>
          <a:xfrm>
            <a:off x="609600" y="1305123"/>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84" name="도면 객체 인식"/>
          <p:cNvSpPr txBox="1"/>
          <p:nvPr/>
        </p:nvSpPr>
        <p:spPr>
          <a:xfrm>
            <a:off x="1099741" y="12638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도면 객체 인식</a:t>
            </a:r>
            <a:endParaRPr lang="en-US" sz="1300" dirty="0"/>
          </a:p>
        </p:txBody>
      </p:sp>
      <p:sp>
        <p:nvSpPr>
          <p:cNvPr id="85" name="STEP 3"/>
          <p:cNvSpPr txBox="1"/>
          <p:nvPr/>
        </p:nvSpPr>
        <p:spPr>
          <a:xfrm>
            <a:off x="4470400" y="1305123"/>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86" name="축척 보정 · 대응 객체 매칭"/>
          <p:cNvSpPr txBox="1"/>
          <p:nvPr/>
        </p:nvSpPr>
        <p:spPr>
          <a:xfrm>
            <a:off x="4963220" y="1263848"/>
            <a:ext cx="166129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보정 · 대응 객체 매칭</a:t>
            </a:r>
            <a:endParaRPr lang="en-US" sz="1300" dirty="0"/>
          </a:p>
        </p:txBody>
      </p:sp>
      <p:sp>
        <p:nvSpPr>
          <p:cNvPr id="87" name="STEP 4"/>
          <p:cNvSpPr txBox="1"/>
          <p:nvPr/>
        </p:nvSpPr>
        <p:spPr>
          <a:xfrm>
            <a:off x="8229600" y="1305123"/>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88" name="BIM 자동 생성"/>
          <p:cNvSpPr txBox="1"/>
          <p:nvPr/>
        </p:nvSpPr>
        <p:spPr>
          <a:xfrm>
            <a:off x="8724503" y="1263848"/>
            <a:ext cx="94454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300" dirty="0"/>
          </a:p>
        </p:txBody>
      </p:sp>
      <p:sp>
        <p:nvSpPr>
          <p:cNvPr id="89" name="객체 인식"/>
          <p:cNvSpPr txBox="1"/>
          <p:nvPr/>
        </p:nvSpPr>
        <p:spPr>
          <a:xfrm>
            <a:off x="8191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객체 인식</a:t>
            </a:r>
            <a:endParaRPr lang="en-US" sz="1300" dirty="0"/>
          </a:p>
        </p:txBody>
      </p:sp>
      <p:sp>
        <p:nvSpPr>
          <p:cNvPr id="90" name="Baseline"/>
          <p:cNvSpPr txBox="1"/>
          <p:nvPr/>
        </p:nvSpPr>
        <p:spPr>
          <a:xfrm>
            <a:off x="3055640" y="1860748"/>
            <a:ext cx="444401"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Baseline</a:t>
            </a:r>
            <a:endParaRPr lang="en-US" sz="800" dirty="0"/>
          </a:p>
        </p:txBody>
      </p:sp>
      <p:sp>
        <p:nvSpPr>
          <p:cNvPr id="91" name="제안 방법"/>
          <p:cNvSpPr txBox="1"/>
          <p:nvPr/>
        </p:nvSpPr>
        <p:spPr>
          <a:xfrm>
            <a:off x="3690541" y="1860748"/>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제안 방법</a:t>
            </a:r>
            <a:endParaRPr lang="en-US" sz="800" dirty="0"/>
          </a:p>
        </p:txBody>
      </p:sp>
      <p:sp>
        <p:nvSpPr>
          <p:cNvPr id="92" name="mAP@0.5"/>
          <p:cNvSpPr txBox="1"/>
          <p:nvPr/>
        </p:nvSpPr>
        <p:spPr>
          <a:xfrm>
            <a:off x="819150" y="2092523"/>
            <a:ext cx="611386"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mAP@0.5</a:t>
            </a:r>
            <a:endParaRPr lang="en-US" sz="950" dirty="0"/>
          </a:p>
        </p:txBody>
      </p:sp>
      <p:sp>
        <p:nvSpPr>
          <p:cNvPr id="93" name="객체를 맞게 찾아낸 정도, 1에 가까울수록 좋음"/>
          <p:cNvSpPr txBox="1"/>
          <p:nvPr/>
        </p:nvSpPr>
        <p:spPr>
          <a:xfrm>
            <a:off x="1541661" y="2092523"/>
            <a:ext cx="2183894"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객체를 맞게 찾아낸 정도, 1에 가까울수록 좋음</a:t>
            </a:r>
            <a:endParaRPr lang="en-US" sz="950" dirty="0"/>
          </a:p>
        </p:txBody>
      </p:sp>
      <p:sp>
        <p:nvSpPr>
          <p:cNvPr id="94" name="1.0"/>
          <p:cNvSpPr txBox="1"/>
          <p:nvPr/>
        </p:nvSpPr>
        <p:spPr>
          <a:xfrm>
            <a:off x="805359" y="2552898"/>
            <a:ext cx="204291"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1.0</a:t>
            </a:r>
            <a:endParaRPr lang="en-US" sz="800" dirty="0"/>
          </a:p>
        </p:txBody>
      </p:sp>
      <p:sp>
        <p:nvSpPr>
          <p:cNvPr id="95" name="0"/>
          <p:cNvSpPr txBox="1"/>
          <p:nvPr/>
        </p:nvSpPr>
        <p:spPr>
          <a:xfrm>
            <a:off x="895152" y="3505398"/>
            <a:ext cx="114498"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0</a:t>
            </a:r>
            <a:endParaRPr lang="en-US" sz="800" dirty="0"/>
          </a:p>
        </p:txBody>
      </p:sp>
      <p:sp>
        <p:nvSpPr>
          <p:cNvPr id="96" name="0.507"/>
          <p:cNvSpPr txBox="1"/>
          <p:nvPr/>
        </p:nvSpPr>
        <p:spPr>
          <a:xfrm>
            <a:off x="1390997" y="2902148"/>
            <a:ext cx="393005"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0.507</a:t>
            </a:r>
            <a:endParaRPr lang="en-US" sz="950" dirty="0"/>
          </a:p>
        </p:txBody>
      </p:sp>
      <p:sp>
        <p:nvSpPr>
          <p:cNvPr id="97" name="0.934"/>
          <p:cNvSpPr txBox="1"/>
          <p:nvPr/>
        </p:nvSpPr>
        <p:spPr>
          <a:xfrm>
            <a:off x="1723479" y="2444948"/>
            <a:ext cx="515441" cy="196850"/>
          </a:xfrm>
          <a:prstGeom prst="rect">
            <a:avLst/>
          </a:prstGeom>
          <a:noFill/>
          <a:ln/>
        </p:spPr>
        <p:txBody>
          <a:bodyPr wrap="none" lIns="0" tIns="0" rIns="0" bIns="0" rtlCol="0" anchor="ctr"/>
          <a:lstStyle/>
          <a:p>
            <a:pPr algn="l" indent="0" marL="0">
              <a:buNone/>
            </a:pPr>
            <a:r>
              <a:rPr lang="ko-KR" altLang="en-US" sz="1300" spc="-39" kern="0" dirty="0">
                <a:solidFill>
                  <a:srgbClr val="102A4C"/>
                </a:solidFill>
                <a:latin typeface="Pretendard ExtraBold" pitchFamily="34" charset="0"/>
                <a:ea typeface="Pretendard ExtraBold" pitchFamily="34" charset="-127"/>
                <a:cs typeface="Pretendard ExtraBold" pitchFamily="34" charset="-120"/>
              </a:rPr>
              <a:t>0.934</a:t>
            </a:r>
            <a:endParaRPr lang="en-US" sz="1300" dirty="0"/>
          </a:p>
        </p:txBody>
      </p:sp>
      <p:sp>
        <p:nvSpPr>
          <p:cNvPr id="98" name="평면도"/>
          <p:cNvSpPr txBox="1"/>
          <p:nvPr/>
        </p:nvSpPr>
        <p:spPr>
          <a:xfrm>
            <a:off x="1262559" y="3660973"/>
            <a:ext cx="356394"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평면도</a:t>
            </a:r>
            <a:endParaRPr lang="en-US" sz="950" dirty="0"/>
          </a:p>
        </p:txBody>
      </p:sp>
      <p:sp>
        <p:nvSpPr>
          <p:cNvPr id="99" name="+42.7%p"/>
          <p:cNvSpPr txBox="1"/>
          <p:nvPr/>
        </p:nvSpPr>
        <p:spPr>
          <a:xfrm>
            <a:off x="1682452" y="3667323"/>
            <a:ext cx="509389" cy="127000"/>
          </a:xfrm>
          <a:prstGeom prst="rect">
            <a:avLst/>
          </a:prstGeom>
          <a:noFill/>
          <a:ln/>
        </p:spPr>
        <p:txBody>
          <a:bodyPr wrap="none" lIns="0" tIns="0" rIns="0" bIns="0" rtlCol="0" anchor="ctr"/>
          <a:lstStyle/>
          <a:p>
            <a:pPr algn="ctr" indent="0" marL="0">
              <a:buNone/>
            </a:pPr>
            <a:r>
              <a:rPr lang="ko-KR" altLang="en-US" sz="850" spc="-19" kern="0" dirty="0">
                <a:solidFill>
                  <a:srgbClr val="EA002C"/>
                </a:solidFill>
                <a:latin typeface="Pretendard ExtraBold" pitchFamily="34" charset="0"/>
                <a:ea typeface="Pretendard ExtraBold" pitchFamily="34" charset="-127"/>
                <a:cs typeface="Pretendard ExtraBold" pitchFamily="34" charset="-120"/>
              </a:rPr>
              <a:t>+42.7%p</a:t>
            </a:r>
            <a:endParaRPr lang="en-US" sz="850" dirty="0"/>
          </a:p>
        </p:txBody>
      </p:sp>
      <p:sp>
        <p:nvSpPr>
          <p:cNvPr id="100" name="학습 이미지 72,792장 (타일 포함)"/>
          <p:cNvSpPr txBox="1"/>
          <p:nvPr/>
        </p:nvSpPr>
        <p:spPr>
          <a:xfrm>
            <a:off x="1046621" y="3860998"/>
            <a:ext cx="1424658"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학습 이미지 72,792장 (타일 포함)</a:t>
            </a:r>
            <a:endParaRPr lang="en-US" sz="800" dirty="0"/>
          </a:p>
        </p:txBody>
      </p:sp>
      <p:sp>
        <p:nvSpPr>
          <p:cNvPr id="101" name="0.355"/>
          <p:cNvSpPr txBox="1"/>
          <p:nvPr/>
        </p:nvSpPr>
        <p:spPr>
          <a:xfrm>
            <a:off x="3016597" y="3048198"/>
            <a:ext cx="393005"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0.355</a:t>
            </a:r>
            <a:endParaRPr lang="en-US" sz="950" dirty="0"/>
          </a:p>
        </p:txBody>
      </p:sp>
      <p:sp>
        <p:nvSpPr>
          <p:cNvPr id="102" name="0.838"/>
          <p:cNvSpPr txBox="1"/>
          <p:nvPr/>
        </p:nvSpPr>
        <p:spPr>
          <a:xfrm>
            <a:off x="3349079" y="2533848"/>
            <a:ext cx="515441" cy="196850"/>
          </a:xfrm>
          <a:prstGeom prst="rect">
            <a:avLst/>
          </a:prstGeom>
          <a:noFill/>
          <a:ln/>
        </p:spPr>
        <p:txBody>
          <a:bodyPr wrap="none" lIns="0" tIns="0" rIns="0" bIns="0" rtlCol="0" anchor="ctr"/>
          <a:lstStyle/>
          <a:p>
            <a:pPr algn="l" indent="0" marL="0">
              <a:buNone/>
            </a:pPr>
            <a:r>
              <a:rPr lang="ko-KR" altLang="en-US" sz="1300" spc="-39" kern="0" dirty="0">
                <a:solidFill>
                  <a:srgbClr val="102A4C"/>
                </a:solidFill>
                <a:latin typeface="Pretendard ExtraBold" pitchFamily="34" charset="0"/>
                <a:ea typeface="Pretendard ExtraBold" pitchFamily="34" charset="-127"/>
                <a:cs typeface="Pretendard ExtraBold" pitchFamily="34" charset="-120"/>
              </a:rPr>
              <a:t>0.838</a:t>
            </a:r>
            <a:endParaRPr lang="en-US" sz="1300" dirty="0"/>
          </a:p>
        </p:txBody>
      </p:sp>
      <p:sp>
        <p:nvSpPr>
          <p:cNvPr id="103" name="입면도"/>
          <p:cNvSpPr txBox="1"/>
          <p:nvPr/>
        </p:nvSpPr>
        <p:spPr>
          <a:xfrm>
            <a:off x="2883396" y="3660973"/>
            <a:ext cx="356394"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입면도</a:t>
            </a:r>
            <a:endParaRPr lang="en-US" sz="950" dirty="0"/>
          </a:p>
        </p:txBody>
      </p:sp>
      <p:sp>
        <p:nvSpPr>
          <p:cNvPr id="104" name="+48.3%p"/>
          <p:cNvSpPr txBox="1"/>
          <p:nvPr/>
        </p:nvSpPr>
        <p:spPr>
          <a:xfrm>
            <a:off x="3303290" y="3667323"/>
            <a:ext cx="518914" cy="127000"/>
          </a:xfrm>
          <a:prstGeom prst="rect">
            <a:avLst/>
          </a:prstGeom>
          <a:noFill/>
          <a:ln/>
        </p:spPr>
        <p:txBody>
          <a:bodyPr wrap="none" lIns="0" tIns="0" rIns="0" bIns="0" rtlCol="0" anchor="ctr"/>
          <a:lstStyle/>
          <a:p>
            <a:pPr algn="ctr" indent="0" marL="0">
              <a:buNone/>
            </a:pPr>
            <a:r>
              <a:rPr lang="ko-KR" altLang="en-US" sz="850" spc="-19" kern="0" dirty="0">
                <a:solidFill>
                  <a:srgbClr val="EA002C"/>
                </a:solidFill>
                <a:latin typeface="Pretendard ExtraBold" pitchFamily="34" charset="0"/>
                <a:ea typeface="Pretendard ExtraBold" pitchFamily="34" charset="-127"/>
                <a:cs typeface="Pretendard ExtraBold" pitchFamily="34" charset="-120"/>
              </a:rPr>
              <a:t>+48.3%p</a:t>
            </a:r>
            <a:endParaRPr lang="en-US" sz="850" dirty="0"/>
          </a:p>
        </p:txBody>
      </p:sp>
      <p:sp>
        <p:nvSpPr>
          <p:cNvPr id="105" name="학습 이미지 16,992장 (타일 포함)"/>
          <p:cNvSpPr txBox="1"/>
          <p:nvPr/>
        </p:nvSpPr>
        <p:spPr>
          <a:xfrm>
            <a:off x="2673381" y="3860998"/>
            <a:ext cx="1422239"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학습 이미지 16,992장 (타일 포함)</a:t>
            </a:r>
            <a:endParaRPr lang="en-US" sz="800" dirty="0"/>
          </a:p>
        </p:txBody>
      </p:sp>
      <p:sp>
        <p:nvSpPr>
          <p:cNvPr id="106" name="층별 클러스터링"/>
          <p:cNvSpPr txBox="1"/>
          <p:nvPr/>
        </p:nvSpPr>
        <p:spPr>
          <a:xfrm>
            <a:off x="819150" y="4515048"/>
            <a:ext cx="104898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층별 클러스터링</a:t>
            </a:r>
            <a:endParaRPr lang="en-US" sz="1300" dirty="0"/>
          </a:p>
        </p:txBody>
      </p:sp>
      <p:sp>
        <p:nvSpPr>
          <p:cNvPr id="107" name="입면도 100장"/>
          <p:cNvSpPr txBox="1"/>
          <p:nvPr/>
        </p:nvSpPr>
        <p:spPr>
          <a:xfrm>
            <a:off x="3415804" y="4553148"/>
            <a:ext cx="591046"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입면도 100장</a:t>
            </a:r>
            <a:endParaRPr lang="en-US" sz="800" dirty="0"/>
          </a:p>
        </p:txBody>
      </p:sp>
      <p:sp>
        <p:nvSpPr>
          <p:cNvPr id="108" name="ARI · NMI · Homogeneity"/>
          <p:cNvSpPr txBox="1"/>
          <p:nvPr/>
        </p:nvSpPr>
        <p:spPr>
          <a:xfrm>
            <a:off x="819150" y="4784923"/>
            <a:ext cx="1433493"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ARI · NMI · Homogeneity</a:t>
            </a:r>
            <a:endParaRPr lang="en-US" sz="950" dirty="0"/>
          </a:p>
        </p:txBody>
      </p:sp>
      <p:sp>
        <p:nvSpPr>
          <p:cNvPr id="109" name="정답 층 구분과 일치하는 정도"/>
          <p:cNvSpPr txBox="1"/>
          <p:nvPr/>
        </p:nvSpPr>
        <p:spPr>
          <a:xfrm>
            <a:off x="2333427" y="4784923"/>
            <a:ext cx="1400153"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정답 층 구분과 일치하는 정도</a:t>
            </a:r>
            <a:endParaRPr lang="en-US" sz="950" dirty="0"/>
          </a:p>
        </p:txBody>
      </p:sp>
      <p:sp>
        <p:nvSpPr>
          <p:cNvPr id="110" name="0.952"/>
          <p:cNvSpPr txBox="1"/>
          <p:nvPr/>
        </p:nvSpPr>
        <p:spPr>
          <a:xfrm>
            <a:off x="1090513" y="5384998"/>
            <a:ext cx="511274" cy="196850"/>
          </a:xfrm>
          <a:prstGeom prst="rect">
            <a:avLst/>
          </a:prstGeom>
          <a:noFill/>
          <a:ln/>
        </p:spPr>
        <p:txBody>
          <a:bodyPr wrap="none" lIns="0" tIns="0" rIns="0" bIns="0" rtlCol="0" anchor="ctr"/>
          <a:lstStyle/>
          <a:p>
            <a:pPr algn="ctr"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0.952</a:t>
            </a:r>
            <a:endParaRPr lang="en-US" sz="1300" dirty="0"/>
          </a:p>
        </p:txBody>
      </p:sp>
      <p:sp>
        <p:nvSpPr>
          <p:cNvPr id="111" name="ARI"/>
          <p:cNvSpPr txBox="1"/>
          <p:nvPr/>
        </p:nvSpPr>
        <p:spPr>
          <a:xfrm>
            <a:off x="1249958" y="5969198"/>
            <a:ext cx="243284"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ARI</a:t>
            </a:r>
            <a:endParaRPr lang="en-US" sz="950" dirty="0"/>
          </a:p>
        </p:txBody>
      </p:sp>
      <p:sp>
        <p:nvSpPr>
          <p:cNvPr id="112" name="0.966"/>
          <p:cNvSpPr txBox="1"/>
          <p:nvPr/>
        </p:nvSpPr>
        <p:spPr>
          <a:xfrm>
            <a:off x="2182713" y="5384998"/>
            <a:ext cx="511274" cy="196850"/>
          </a:xfrm>
          <a:prstGeom prst="rect">
            <a:avLst/>
          </a:prstGeom>
          <a:noFill/>
          <a:ln/>
        </p:spPr>
        <p:txBody>
          <a:bodyPr wrap="none" lIns="0" tIns="0" rIns="0" bIns="0" rtlCol="0" anchor="ctr"/>
          <a:lstStyle/>
          <a:p>
            <a:pPr algn="ctr"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0.966</a:t>
            </a:r>
            <a:endParaRPr lang="en-US" sz="1300" dirty="0"/>
          </a:p>
        </p:txBody>
      </p:sp>
      <p:sp>
        <p:nvSpPr>
          <p:cNvPr id="113" name="NMI"/>
          <p:cNvSpPr txBox="1"/>
          <p:nvPr/>
        </p:nvSpPr>
        <p:spPr>
          <a:xfrm>
            <a:off x="2328962" y="5969198"/>
            <a:ext cx="269577"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NMI</a:t>
            </a:r>
            <a:endParaRPr lang="en-US" sz="950" dirty="0"/>
          </a:p>
        </p:txBody>
      </p:sp>
      <p:sp>
        <p:nvSpPr>
          <p:cNvPr id="114" name="0.965"/>
          <p:cNvSpPr txBox="1"/>
          <p:nvPr/>
        </p:nvSpPr>
        <p:spPr>
          <a:xfrm>
            <a:off x="3274913" y="5384998"/>
            <a:ext cx="511274" cy="196850"/>
          </a:xfrm>
          <a:prstGeom prst="rect">
            <a:avLst/>
          </a:prstGeom>
          <a:noFill/>
          <a:ln/>
        </p:spPr>
        <p:txBody>
          <a:bodyPr wrap="none" lIns="0" tIns="0" rIns="0" bIns="0" rtlCol="0" anchor="ctr"/>
          <a:lstStyle/>
          <a:p>
            <a:pPr algn="ctr"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0.965</a:t>
            </a:r>
            <a:endParaRPr lang="en-US" sz="1300" dirty="0"/>
          </a:p>
        </p:txBody>
      </p:sp>
      <p:sp>
        <p:nvSpPr>
          <p:cNvPr id="115" name="Homogeneity"/>
          <p:cNvSpPr txBox="1"/>
          <p:nvPr/>
        </p:nvSpPr>
        <p:spPr>
          <a:xfrm>
            <a:off x="3155851" y="5969198"/>
            <a:ext cx="800298"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Homogeneity</a:t>
            </a:r>
            <a:endParaRPr lang="en-US" sz="950" dirty="0"/>
          </a:p>
        </p:txBody>
      </p:sp>
      <p:sp>
        <p:nvSpPr>
          <p:cNvPr id="116" name="축척 인식"/>
          <p:cNvSpPr txBox="1"/>
          <p:nvPr/>
        </p:nvSpPr>
        <p:spPr>
          <a:xfrm>
            <a:off x="46799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인식</a:t>
            </a:r>
            <a:endParaRPr lang="en-US" sz="1300" dirty="0"/>
          </a:p>
        </p:txBody>
      </p:sp>
      <p:sp>
        <p:nvSpPr>
          <p:cNvPr id="117" name="Tesseract OCR 대비"/>
          <p:cNvSpPr txBox="1"/>
          <p:nvPr/>
        </p:nvSpPr>
        <p:spPr>
          <a:xfrm>
            <a:off x="6282730" y="1860748"/>
            <a:ext cx="938764"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Tesseract OCR 대비</a:t>
            </a:r>
            <a:endParaRPr lang="en-US" sz="800" dirty="0"/>
          </a:p>
        </p:txBody>
      </p:sp>
      <p:sp>
        <p:nvSpPr>
          <p:cNvPr id="118" name="+33.8%p"/>
          <p:cNvSpPr txBox="1"/>
          <p:nvPr/>
        </p:nvSpPr>
        <p:spPr>
          <a:xfrm>
            <a:off x="7282656" y="1857573"/>
            <a:ext cx="521494" cy="127000"/>
          </a:xfrm>
          <a:prstGeom prst="rect">
            <a:avLst/>
          </a:prstGeom>
          <a:noFill/>
          <a:ln/>
        </p:spPr>
        <p:txBody>
          <a:bodyPr wrap="none" lIns="0" tIns="0" rIns="0" bIns="0" rtlCol="0" anchor="ctr"/>
          <a:lstStyle/>
          <a:p>
            <a:pPr algn="l" indent="0" marL="0">
              <a:buNone/>
            </a:pPr>
            <a:r>
              <a:rPr lang="ko-KR" altLang="en-US" sz="850" spc="-12" kern="0" dirty="0">
                <a:solidFill>
                  <a:srgbClr val="EA002C"/>
                </a:solidFill>
                <a:latin typeface="Pretendard ExtraBold" pitchFamily="34" charset="0"/>
                <a:ea typeface="Pretendard ExtraBold" pitchFamily="34" charset="-127"/>
                <a:cs typeface="Pretendard ExtraBold" pitchFamily="34" charset="-120"/>
              </a:rPr>
              <a:t>+33.8%p</a:t>
            </a:r>
            <a:endParaRPr lang="en-US" sz="850" dirty="0"/>
          </a:p>
        </p:txBody>
      </p:sp>
      <p:sp>
        <p:nvSpPr>
          <p:cNvPr id="119" name="정확도"/>
          <p:cNvSpPr txBox="1"/>
          <p:nvPr/>
        </p:nvSpPr>
        <p:spPr>
          <a:xfrm>
            <a:off x="4679950" y="2092523"/>
            <a:ext cx="360065"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정확도</a:t>
            </a:r>
            <a:endParaRPr lang="en-US" sz="950" dirty="0"/>
          </a:p>
        </p:txBody>
      </p:sp>
      <p:sp>
        <p:nvSpPr>
          <p:cNvPr id="120" name="도면의 축척을 맞게 읽어 낸 비율"/>
          <p:cNvSpPr txBox="1"/>
          <p:nvPr/>
        </p:nvSpPr>
        <p:spPr>
          <a:xfrm>
            <a:off x="5151140" y="2092523"/>
            <a:ext cx="1535509"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도면의 축척을 맞게 읽어 낸 비율</a:t>
            </a:r>
            <a:endParaRPr lang="en-US" sz="950" dirty="0"/>
          </a:p>
        </p:txBody>
      </p:sp>
      <p:sp>
        <p:nvSpPr>
          <p:cNvPr id="121" name="1.0"/>
          <p:cNvSpPr txBox="1"/>
          <p:nvPr/>
        </p:nvSpPr>
        <p:spPr>
          <a:xfrm>
            <a:off x="4666159" y="2552898"/>
            <a:ext cx="204291"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1.0</a:t>
            </a:r>
            <a:endParaRPr lang="en-US" sz="800" dirty="0"/>
          </a:p>
        </p:txBody>
      </p:sp>
      <p:sp>
        <p:nvSpPr>
          <p:cNvPr id="122" name="0"/>
          <p:cNvSpPr txBox="1"/>
          <p:nvPr/>
        </p:nvSpPr>
        <p:spPr>
          <a:xfrm>
            <a:off x="4755952" y="3505398"/>
            <a:ext cx="114498"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0</a:t>
            </a:r>
            <a:endParaRPr lang="en-US" sz="800" dirty="0"/>
          </a:p>
        </p:txBody>
      </p:sp>
      <p:sp>
        <p:nvSpPr>
          <p:cNvPr id="123" name="0.198"/>
          <p:cNvSpPr txBox="1"/>
          <p:nvPr/>
        </p:nvSpPr>
        <p:spPr>
          <a:xfrm>
            <a:off x="5245447" y="3194248"/>
            <a:ext cx="393005"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0.198</a:t>
            </a:r>
            <a:endParaRPr lang="en-US" sz="950" dirty="0"/>
          </a:p>
        </p:txBody>
      </p:sp>
      <p:sp>
        <p:nvSpPr>
          <p:cNvPr id="124" name="0.369"/>
          <p:cNvSpPr txBox="1"/>
          <p:nvPr/>
        </p:nvSpPr>
        <p:spPr>
          <a:xfrm>
            <a:off x="6210647" y="3035498"/>
            <a:ext cx="393005"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0.369</a:t>
            </a:r>
            <a:endParaRPr lang="en-US" sz="950" dirty="0"/>
          </a:p>
        </p:txBody>
      </p:sp>
      <p:sp>
        <p:nvSpPr>
          <p:cNvPr id="125" name="0.707"/>
          <p:cNvSpPr txBox="1"/>
          <p:nvPr/>
        </p:nvSpPr>
        <p:spPr>
          <a:xfrm>
            <a:off x="7114629" y="2660848"/>
            <a:ext cx="515441" cy="196850"/>
          </a:xfrm>
          <a:prstGeom prst="rect">
            <a:avLst/>
          </a:prstGeom>
          <a:noFill/>
          <a:ln/>
        </p:spPr>
        <p:txBody>
          <a:bodyPr wrap="none" lIns="0" tIns="0" rIns="0" bIns="0" rtlCol="0" anchor="ctr"/>
          <a:lstStyle/>
          <a:p>
            <a:pPr algn="l" indent="0" marL="0">
              <a:buNone/>
            </a:pPr>
            <a:r>
              <a:rPr lang="ko-KR" altLang="en-US" sz="1300" spc="-39" kern="0" dirty="0">
                <a:solidFill>
                  <a:srgbClr val="102A4C"/>
                </a:solidFill>
                <a:latin typeface="Pretendard ExtraBold" pitchFamily="34" charset="0"/>
                <a:ea typeface="Pretendard ExtraBold" pitchFamily="34" charset="-127"/>
                <a:cs typeface="Pretendard ExtraBold" pitchFamily="34" charset="-120"/>
              </a:rPr>
              <a:t>0.707</a:t>
            </a:r>
            <a:endParaRPr lang="en-US" sz="1300" dirty="0"/>
          </a:p>
        </p:txBody>
      </p:sp>
      <p:sp>
        <p:nvSpPr>
          <p:cNvPr id="126" name="EasyOCR"/>
          <p:cNvSpPr txBox="1"/>
          <p:nvPr/>
        </p:nvSpPr>
        <p:spPr>
          <a:xfrm>
            <a:off x="5132784" y="3660973"/>
            <a:ext cx="567531"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EasyOCR</a:t>
            </a:r>
            <a:endParaRPr lang="en-US" sz="950" dirty="0"/>
          </a:p>
        </p:txBody>
      </p:sp>
      <p:sp>
        <p:nvSpPr>
          <p:cNvPr id="127" name="기존 OCR"/>
          <p:cNvSpPr txBox="1"/>
          <p:nvPr/>
        </p:nvSpPr>
        <p:spPr>
          <a:xfrm>
            <a:off x="5190034" y="3860998"/>
            <a:ext cx="45293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기존 OCR</a:t>
            </a:r>
            <a:endParaRPr lang="en-US" sz="800" dirty="0"/>
          </a:p>
        </p:txBody>
      </p:sp>
      <p:sp>
        <p:nvSpPr>
          <p:cNvPr id="128" name="Tesseract OCR"/>
          <p:cNvSpPr txBox="1"/>
          <p:nvPr/>
        </p:nvSpPr>
        <p:spPr>
          <a:xfrm>
            <a:off x="5943104" y="3660973"/>
            <a:ext cx="877292"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Tesseract OCR</a:t>
            </a:r>
            <a:endParaRPr lang="en-US" sz="950" dirty="0"/>
          </a:p>
        </p:txBody>
      </p:sp>
      <p:sp>
        <p:nvSpPr>
          <p:cNvPr id="129" name="기존 OCR"/>
          <p:cNvSpPr txBox="1"/>
          <p:nvPr/>
        </p:nvSpPr>
        <p:spPr>
          <a:xfrm>
            <a:off x="6155234" y="3860998"/>
            <a:ext cx="45293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기존 OCR</a:t>
            </a:r>
            <a:endParaRPr lang="en-US" sz="800" dirty="0"/>
          </a:p>
        </p:txBody>
      </p:sp>
      <p:sp>
        <p:nvSpPr>
          <p:cNvPr id="130" name="LMM(GPT-4o)"/>
          <p:cNvSpPr txBox="1"/>
          <p:nvPr/>
        </p:nvSpPr>
        <p:spPr>
          <a:xfrm>
            <a:off x="6922393" y="3660973"/>
            <a:ext cx="849015" cy="146050"/>
          </a:xfrm>
          <a:prstGeom prst="rect">
            <a:avLst/>
          </a:prstGeom>
          <a:noFill/>
          <a:ln/>
        </p:spPr>
        <p:txBody>
          <a:bodyPr wrap="none" lIns="0" tIns="0" rIns="0" bIns="0" rtlCol="0" anchor="ctr"/>
          <a:lstStyle/>
          <a:p>
            <a:pPr algn="ctr"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LMM(GPT-4o)</a:t>
            </a:r>
            <a:endParaRPr lang="en-US" sz="950" dirty="0"/>
          </a:p>
        </p:txBody>
      </p:sp>
      <p:sp>
        <p:nvSpPr>
          <p:cNvPr id="131" name="제안 방법"/>
          <p:cNvSpPr txBox="1"/>
          <p:nvPr/>
        </p:nvSpPr>
        <p:spPr>
          <a:xfrm>
            <a:off x="7137598" y="3860998"/>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제안 방법</a:t>
            </a:r>
            <a:endParaRPr lang="en-US" sz="800" dirty="0"/>
          </a:p>
        </p:txBody>
      </p:sp>
      <p:sp>
        <p:nvSpPr>
          <p:cNvPr id="132" name="대응 객체 매칭"/>
          <p:cNvSpPr txBox="1"/>
          <p:nvPr/>
        </p:nvSpPr>
        <p:spPr>
          <a:xfrm>
            <a:off x="4679950" y="45150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300" dirty="0"/>
          </a:p>
        </p:txBody>
      </p:sp>
      <p:sp>
        <p:nvSpPr>
          <p:cNvPr id="133" name="8개 동 · 개구부 3,458개"/>
          <p:cNvSpPr txBox="1"/>
          <p:nvPr/>
        </p:nvSpPr>
        <p:spPr>
          <a:xfrm>
            <a:off x="6747371" y="4553148"/>
            <a:ext cx="1025952"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8개 동 · 개구부 3,458개</a:t>
            </a:r>
            <a:endParaRPr lang="en-US" sz="800" dirty="0"/>
          </a:p>
        </p:txBody>
      </p:sp>
      <p:sp>
        <p:nvSpPr>
          <p:cNvPr id="134" name="F1-score"/>
          <p:cNvSpPr txBox="1"/>
          <p:nvPr/>
        </p:nvSpPr>
        <p:spPr>
          <a:xfrm>
            <a:off x="4679950" y="4784923"/>
            <a:ext cx="546993"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F1-score</a:t>
            </a:r>
            <a:endParaRPr lang="en-US" sz="950" dirty="0"/>
          </a:p>
        </p:txBody>
      </p:sp>
      <p:sp>
        <p:nvSpPr>
          <p:cNvPr id="135" name="짝을 맞게 지은 정도 (정밀도·재현율의 조화평균)"/>
          <p:cNvSpPr txBox="1"/>
          <p:nvPr/>
        </p:nvSpPr>
        <p:spPr>
          <a:xfrm>
            <a:off x="5338068" y="4784923"/>
            <a:ext cx="2295061"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짝을 맞게 지은 정도 (정밀도·재현율의 조화평균)</a:t>
            </a:r>
            <a:endParaRPr lang="en-US" sz="950" dirty="0"/>
          </a:p>
        </p:txBody>
      </p:sp>
      <p:sp>
        <p:nvSpPr>
          <p:cNvPr id="136" name="0.93"/>
          <p:cNvSpPr txBox="1"/>
          <p:nvPr/>
        </p:nvSpPr>
        <p:spPr>
          <a:xfrm>
            <a:off x="5498902" y="5384998"/>
            <a:ext cx="406797" cy="196850"/>
          </a:xfrm>
          <a:prstGeom prst="rect">
            <a:avLst/>
          </a:prstGeom>
          <a:noFill/>
          <a:ln/>
        </p:spPr>
        <p:txBody>
          <a:bodyPr wrap="none" lIns="0" tIns="0" rIns="0" bIns="0" rtlCol="0" anchor="ctr"/>
          <a:lstStyle/>
          <a:p>
            <a:pPr algn="ctr"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0.93</a:t>
            </a:r>
            <a:endParaRPr lang="en-US" sz="1300" dirty="0"/>
          </a:p>
        </p:txBody>
      </p:sp>
      <p:sp>
        <p:nvSpPr>
          <p:cNvPr id="137" name="창문"/>
          <p:cNvSpPr txBox="1"/>
          <p:nvPr/>
        </p:nvSpPr>
        <p:spPr>
          <a:xfrm>
            <a:off x="5600402" y="5969198"/>
            <a:ext cx="254595"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창문</a:t>
            </a:r>
            <a:endParaRPr lang="en-US" sz="950" dirty="0"/>
          </a:p>
        </p:txBody>
      </p:sp>
      <p:sp>
        <p:nvSpPr>
          <p:cNvPr id="138" name="0.95"/>
          <p:cNvSpPr txBox="1"/>
          <p:nvPr/>
        </p:nvSpPr>
        <p:spPr>
          <a:xfrm>
            <a:off x="6591102" y="5384998"/>
            <a:ext cx="406797" cy="196850"/>
          </a:xfrm>
          <a:prstGeom prst="rect">
            <a:avLst/>
          </a:prstGeom>
          <a:noFill/>
          <a:ln/>
        </p:spPr>
        <p:txBody>
          <a:bodyPr wrap="none" lIns="0" tIns="0" rIns="0" bIns="0" rtlCol="0" anchor="ctr"/>
          <a:lstStyle/>
          <a:p>
            <a:pPr algn="ctr"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0.95</a:t>
            </a:r>
            <a:endParaRPr lang="en-US" sz="1300" dirty="0"/>
          </a:p>
        </p:txBody>
      </p:sp>
      <p:sp>
        <p:nvSpPr>
          <p:cNvPr id="139" name="문"/>
          <p:cNvSpPr txBox="1"/>
          <p:nvPr/>
        </p:nvSpPr>
        <p:spPr>
          <a:xfrm>
            <a:off x="6743502" y="5969198"/>
            <a:ext cx="152698"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문</a:t>
            </a:r>
            <a:endParaRPr lang="en-US" sz="950" dirty="0"/>
          </a:p>
        </p:txBody>
      </p:sp>
      <p:sp>
        <p:nvSpPr>
          <p:cNvPr id="140" name="생성 결과"/>
          <p:cNvSpPr txBox="1"/>
          <p:nvPr/>
        </p:nvSpPr>
        <p:spPr>
          <a:xfrm>
            <a:off x="84391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생성 결과</a:t>
            </a:r>
            <a:endParaRPr lang="en-US" sz="1300" dirty="0"/>
          </a:p>
        </p:txBody>
      </p:sp>
      <p:sp>
        <p:nvSpPr>
          <p:cNvPr id="141" name="건물 1동"/>
          <p:cNvSpPr txBox="1"/>
          <p:nvPr/>
        </p:nvSpPr>
        <p:spPr>
          <a:xfrm>
            <a:off x="10946904" y="1860748"/>
            <a:ext cx="375146"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건물 1동</a:t>
            </a:r>
            <a:endParaRPr lang="en-US" sz="800" dirty="0"/>
          </a:p>
        </p:txBody>
      </p:sp>
      <p:sp>
        <p:nvSpPr>
          <p:cNvPr id="142" name="생성 완성도"/>
          <p:cNvSpPr txBox="1"/>
          <p:nvPr/>
        </p:nvSpPr>
        <p:spPr>
          <a:xfrm>
            <a:off x="8439150" y="2092523"/>
            <a:ext cx="591939"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생성 완성도</a:t>
            </a:r>
            <a:endParaRPr lang="en-US" sz="950" dirty="0"/>
          </a:p>
        </p:txBody>
      </p:sp>
      <p:sp>
        <p:nvSpPr>
          <p:cNvPr id="143" name="정답 객체 중 자동 생성된 비율"/>
          <p:cNvSpPr txBox="1"/>
          <p:nvPr/>
        </p:nvSpPr>
        <p:spPr>
          <a:xfrm>
            <a:off x="9142214" y="2092523"/>
            <a:ext cx="1428129"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정답 객체 중 자동 생성된 비율</a:t>
            </a:r>
            <a:endParaRPr lang="en-US" sz="950" dirty="0"/>
          </a:p>
        </p:txBody>
      </p:sp>
      <p:sp>
        <p:nvSpPr>
          <p:cNvPr id="144" name="93.3%"/>
          <p:cNvSpPr txBox="1"/>
          <p:nvPr/>
        </p:nvSpPr>
        <p:spPr>
          <a:xfrm>
            <a:off x="8616950" y="2559248"/>
            <a:ext cx="1253438" cy="546100"/>
          </a:xfrm>
          <a:prstGeom prst="rect">
            <a:avLst/>
          </a:prstGeom>
          <a:noFill/>
          <a:ln/>
        </p:spPr>
        <p:txBody>
          <a:bodyPr wrap="none" lIns="0" tIns="0" rIns="0" bIns="0" rtlCol="0" anchor="ctr"/>
          <a:lstStyle/>
          <a:p>
            <a:pPr algn="l" indent="0" marL="0">
              <a:buNone/>
            </a:pPr>
            <a:r>
              <a:rPr lang="ko-KR" altLang="en-US" sz="3600" spc="-144" kern="0" dirty="0">
                <a:solidFill>
                  <a:srgbClr val="EA002C"/>
                </a:solidFill>
                <a:latin typeface="Pretendard ExtraBold" pitchFamily="34" charset="0"/>
                <a:ea typeface="Pretendard ExtraBold" pitchFamily="34" charset="-127"/>
                <a:cs typeface="Pretendard ExtraBold" pitchFamily="34" charset="-120"/>
              </a:rPr>
              <a:t>93.3</a:t>
            </a:r>
            <a:pPr algn="l" indent="0" marL="0">
              <a:buNone/>
            </a:pPr>
            <a:r>
              <a:rPr lang="ko-KR" altLang="en-US" sz="1512" b="1" spc="-30" kern="0" dirty="0">
                <a:solidFill>
                  <a:srgbClr val="EA002C"/>
                </a:solidFill>
                <a:latin typeface="Pretendard" pitchFamily="34" charset="0"/>
                <a:ea typeface="Pretendard" pitchFamily="34" charset="-127"/>
                <a:cs typeface="Pretendard" pitchFamily="34" charset="-120"/>
              </a:rPr>
              <a:t>%</a:t>
            </a:r>
            <a:endParaRPr lang="en-US" sz="3600" dirty="0"/>
          </a:p>
        </p:txBody>
      </p:sp>
      <p:sp>
        <p:nvSpPr>
          <p:cNvPr id="145" name="합계"/>
          <p:cNvSpPr txBox="1"/>
          <p:nvPr/>
        </p:nvSpPr>
        <p:spPr>
          <a:xfrm>
            <a:off x="11023402" y="2692598"/>
            <a:ext cx="222448"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합계</a:t>
            </a:r>
            <a:endParaRPr lang="en-US" sz="800" dirty="0"/>
          </a:p>
        </p:txBody>
      </p:sp>
      <p:sp>
        <p:nvSpPr>
          <p:cNvPr id="146" name="379"/>
          <p:cNvSpPr txBox="1"/>
          <p:nvPr/>
        </p:nvSpPr>
        <p:spPr>
          <a:xfrm>
            <a:off x="10421838" y="2838648"/>
            <a:ext cx="366812" cy="196850"/>
          </a:xfrm>
          <a:prstGeom prst="rect">
            <a:avLst/>
          </a:prstGeom>
          <a:noFill/>
          <a:ln/>
        </p:spPr>
        <p:txBody>
          <a:bodyPr wrap="none" lIns="0" tIns="0" rIns="0" bIns="0" rtlCol="0" anchor="ctr"/>
          <a:lstStyle/>
          <a:p>
            <a:pPr algn="l" indent="0" marL="0">
              <a:buNone/>
            </a:pPr>
            <a:r>
              <a:rPr lang="ko-KR" altLang="en-US" sz="1300" spc="-39" kern="0" dirty="0">
                <a:solidFill>
                  <a:srgbClr val="102A4C"/>
                </a:solidFill>
                <a:latin typeface="Pretendard ExtraBold" pitchFamily="34" charset="0"/>
                <a:ea typeface="Pretendard ExtraBold" pitchFamily="34" charset="-127"/>
                <a:cs typeface="Pretendard ExtraBold" pitchFamily="34" charset="-120"/>
              </a:rPr>
              <a:t>379</a:t>
            </a:r>
            <a:endParaRPr lang="en-US" sz="1300" dirty="0"/>
          </a:p>
        </p:txBody>
      </p:sp>
      <p:sp>
        <p:nvSpPr>
          <p:cNvPr id="147" name="/ 406"/>
          <p:cNvSpPr txBox="1"/>
          <p:nvPr/>
        </p:nvSpPr>
        <p:spPr>
          <a:xfrm>
            <a:off x="10788650" y="2838648"/>
            <a:ext cx="457200" cy="196850"/>
          </a:xfrm>
          <a:prstGeom prst="rect">
            <a:avLst/>
          </a:prstGeom>
          <a:noFill/>
          <a:ln/>
        </p:spPr>
        <p:txBody>
          <a:bodyPr wrap="none" lIns="0" tIns="0" rIns="0" bIns="0" rtlCol="0" anchor="ctr"/>
          <a:lstStyle/>
          <a:p>
            <a:pPr algn="l" indent="0" marL="0">
              <a:buNone/>
            </a:pPr>
            <a:r>
              <a:rPr lang="ko-KR" altLang="en-US" sz="1300" spc="-39" kern="0" dirty="0">
                <a:solidFill>
                  <a:srgbClr val="8D96A3"/>
                </a:solidFill>
                <a:latin typeface="Pretendard ExtraBold" pitchFamily="34" charset="0"/>
                <a:ea typeface="Pretendard ExtraBold" pitchFamily="34" charset="-127"/>
                <a:cs typeface="Pretendard ExtraBold" pitchFamily="34" charset="-120"/>
              </a:rPr>
              <a:t>/ 406</a:t>
            </a:r>
            <a:endParaRPr lang="en-US" sz="1300" dirty="0"/>
          </a:p>
        </p:txBody>
      </p:sp>
      <p:sp>
        <p:nvSpPr>
          <p:cNvPr id="148" name="요소별 생성 수"/>
          <p:cNvSpPr txBox="1"/>
          <p:nvPr/>
        </p:nvSpPr>
        <p:spPr>
          <a:xfrm>
            <a:off x="8439150" y="3749873"/>
            <a:ext cx="711101"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요소별 생성 수</a:t>
            </a:r>
            <a:endParaRPr lang="en-US" sz="950" dirty="0"/>
          </a:p>
        </p:txBody>
      </p:sp>
      <p:sp>
        <p:nvSpPr>
          <p:cNvPr id="149" name="자동 생성"/>
          <p:cNvSpPr txBox="1"/>
          <p:nvPr/>
        </p:nvSpPr>
        <p:spPr>
          <a:xfrm>
            <a:off x="10505579" y="3759398"/>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자동 생성</a:t>
            </a:r>
            <a:endParaRPr lang="en-US" sz="800" dirty="0"/>
          </a:p>
        </p:txBody>
      </p:sp>
      <p:sp>
        <p:nvSpPr>
          <p:cNvPr id="150" name="미생성"/>
          <p:cNvSpPr txBox="1"/>
          <p:nvPr/>
        </p:nvSpPr>
        <p:spPr>
          <a:xfrm>
            <a:off x="11113988" y="3759398"/>
            <a:ext cx="309662"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미생성</a:t>
            </a:r>
            <a:endParaRPr lang="en-US" sz="800" dirty="0"/>
          </a:p>
        </p:txBody>
      </p:sp>
      <p:sp>
        <p:nvSpPr>
          <p:cNvPr id="151" name="벽"/>
          <p:cNvSpPr txBox="1"/>
          <p:nvPr/>
        </p:nvSpPr>
        <p:spPr>
          <a:xfrm>
            <a:off x="8439150" y="4089598"/>
            <a:ext cx="15359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벽</a:t>
            </a:r>
            <a:endParaRPr lang="en-US" sz="950" dirty="0"/>
          </a:p>
        </p:txBody>
      </p:sp>
      <p:sp>
        <p:nvSpPr>
          <p:cNvPr id="152" name="135 / 153"/>
          <p:cNvSpPr txBox="1"/>
          <p:nvPr/>
        </p:nvSpPr>
        <p:spPr>
          <a:xfrm>
            <a:off x="8794750" y="4089598"/>
            <a:ext cx="611684" cy="146050"/>
          </a:xfrm>
          <a:prstGeom prst="rect">
            <a:avLst/>
          </a:prstGeom>
          <a:noFill/>
          <a:ln/>
        </p:spPr>
        <p:txBody>
          <a:bodyPr wrap="none" lIns="0" tIns="0" rIns="0" bIns="0" rtlCol="0" anchor="ctr"/>
          <a:lstStyle/>
          <a:p>
            <a:pPr algn="l" indent="0" marL="0">
              <a:buNone/>
            </a:pPr>
            <a:r>
              <a:rPr lang="ko-KR" altLang="en-US" sz="950" spc="-12" kern="0" dirty="0">
                <a:solidFill>
                  <a:srgbClr val="102A4C"/>
                </a:solidFill>
                <a:latin typeface="Pretendard ExtraBold" pitchFamily="34" charset="0"/>
                <a:ea typeface="Pretendard ExtraBold" pitchFamily="34" charset="-127"/>
                <a:cs typeface="Pretendard ExtraBold" pitchFamily="34" charset="-120"/>
              </a:rPr>
              <a:t>135</a:t>
            </a:r>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 / 153</a:t>
            </a:r>
            <a:endParaRPr lang="en-US" sz="950" dirty="0"/>
          </a:p>
        </p:txBody>
      </p:sp>
      <p:sp>
        <p:nvSpPr>
          <p:cNvPr id="153" name="문"/>
          <p:cNvSpPr txBox="1"/>
          <p:nvPr/>
        </p:nvSpPr>
        <p:spPr>
          <a:xfrm>
            <a:off x="8439150" y="4597598"/>
            <a:ext cx="15359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문</a:t>
            </a:r>
            <a:endParaRPr lang="en-US" sz="950" dirty="0"/>
          </a:p>
        </p:txBody>
      </p:sp>
      <p:sp>
        <p:nvSpPr>
          <p:cNvPr id="154" name="64 / 64"/>
          <p:cNvSpPr txBox="1"/>
          <p:nvPr/>
        </p:nvSpPr>
        <p:spPr>
          <a:xfrm>
            <a:off x="8794750" y="4597598"/>
            <a:ext cx="456704" cy="146050"/>
          </a:xfrm>
          <a:prstGeom prst="rect">
            <a:avLst/>
          </a:prstGeom>
          <a:noFill/>
          <a:ln/>
        </p:spPr>
        <p:txBody>
          <a:bodyPr wrap="none" lIns="0" tIns="0" rIns="0" bIns="0" rtlCol="0" anchor="ctr"/>
          <a:lstStyle/>
          <a:p>
            <a:pPr algn="l" indent="0" marL="0">
              <a:buNone/>
            </a:pPr>
            <a:r>
              <a:rPr lang="ko-KR" altLang="en-US" sz="950" spc="-12" kern="0" dirty="0">
                <a:solidFill>
                  <a:srgbClr val="102A4C"/>
                </a:solidFill>
                <a:latin typeface="Pretendard ExtraBold" pitchFamily="34" charset="0"/>
                <a:ea typeface="Pretendard ExtraBold" pitchFamily="34" charset="-127"/>
                <a:cs typeface="Pretendard ExtraBold" pitchFamily="34" charset="-120"/>
              </a:rPr>
              <a:t>64</a:t>
            </a:r>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 / 64</a:t>
            </a:r>
            <a:endParaRPr lang="en-US" sz="950" dirty="0"/>
          </a:p>
        </p:txBody>
      </p:sp>
      <p:sp>
        <p:nvSpPr>
          <p:cNvPr id="155" name="창문"/>
          <p:cNvSpPr txBox="1"/>
          <p:nvPr/>
        </p:nvSpPr>
        <p:spPr>
          <a:xfrm>
            <a:off x="8439150" y="5105598"/>
            <a:ext cx="25638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창문</a:t>
            </a:r>
            <a:endParaRPr lang="en-US" sz="950" dirty="0"/>
          </a:p>
        </p:txBody>
      </p:sp>
      <p:sp>
        <p:nvSpPr>
          <p:cNvPr id="156" name="180 / 189"/>
          <p:cNvSpPr txBox="1"/>
          <p:nvPr/>
        </p:nvSpPr>
        <p:spPr>
          <a:xfrm>
            <a:off x="8794750" y="5105598"/>
            <a:ext cx="611684" cy="146050"/>
          </a:xfrm>
          <a:prstGeom prst="rect">
            <a:avLst/>
          </a:prstGeom>
          <a:noFill/>
          <a:ln/>
        </p:spPr>
        <p:txBody>
          <a:bodyPr wrap="none" lIns="0" tIns="0" rIns="0" bIns="0" rtlCol="0" anchor="ctr"/>
          <a:lstStyle/>
          <a:p>
            <a:pPr algn="l" indent="0" marL="0">
              <a:buNone/>
            </a:pPr>
            <a:r>
              <a:rPr lang="ko-KR" altLang="en-US" sz="950" spc="-12" kern="0" dirty="0">
                <a:solidFill>
                  <a:srgbClr val="102A4C"/>
                </a:solidFill>
                <a:latin typeface="Pretendard ExtraBold" pitchFamily="34" charset="0"/>
                <a:ea typeface="Pretendard ExtraBold" pitchFamily="34" charset="-127"/>
                <a:cs typeface="Pretendard ExtraBold" pitchFamily="34" charset="-120"/>
              </a:rPr>
              <a:t>180</a:t>
            </a:r>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 / 189</a:t>
            </a:r>
            <a:endParaRPr lang="en-US" sz="950" dirty="0"/>
          </a:p>
        </p:txBody>
      </p:sp>
      <p:sp>
        <p:nvSpPr>
          <p:cNvPr id="157" name="체적 IoU"/>
          <p:cNvSpPr txBox="1"/>
          <p:nvPr/>
        </p:nvSpPr>
        <p:spPr>
          <a:xfrm>
            <a:off x="8870950" y="5798344"/>
            <a:ext cx="467122" cy="146050"/>
          </a:xfrm>
          <a:prstGeom prst="rect">
            <a:avLst/>
          </a:prstGeom>
          <a:noFill/>
          <a:ln/>
        </p:spPr>
        <p:txBody>
          <a:bodyPr wrap="none" lIns="0" tIns="0" rIns="0" bIns="0" rtlCol="0" anchor="ctr"/>
          <a:lstStyle/>
          <a:p>
            <a:pPr algn="l" indent="0" marL="0">
              <a:buNone/>
            </a:pPr>
            <a:r>
              <a:rPr lang="ko-KR" altLang="en-US" sz="950" spc="-12" kern="0" dirty="0">
                <a:solidFill>
                  <a:srgbClr val="102A4C"/>
                </a:solidFill>
                <a:latin typeface="Pretendard ExtraBold" pitchFamily="34" charset="0"/>
                <a:ea typeface="Pretendard ExtraBold" pitchFamily="34" charset="-127"/>
                <a:cs typeface="Pretendard ExtraBold" pitchFamily="34" charset="-120"/>
              </a:rPr>
              <a:t>체적 IoU</a:t>
            </a:r>
            <a:endParaRPr lang="en-US" sz="950" dirty="0"/>
          </a:p>
        </p:txBody>
      </p:sp>
      <p:sp>
        <p:nvSpPr>
          <p:cNvPr id="158" name="생성 모델과 정답 모델의 부피 겹침 비율"/>
          <p:cNvSpPr txBox="1"/>
          <p:nvPr/>
        </p:nvSpPr>
        <p:spPr>
          <a:xfrm>
            <a:off x="8870950" y="5982494"/>
            <a:ext cx="1607131" cy="120650"/>
          </a:xfrm>
          <a:prstGeom prst="rect">
            <a:avLst/>
          </a:prstGeom>
          <a:noFill/>
          <a:ln/>
        </p:spPr>
        <p:txBody>
          <a:bodyPr wrap="none" lIns="0" tIns="0" rIns="0" bIns="0" rtlCol="0" anchor="ctr"/>
          <a:lstStyle/>
          <a:p>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생성 모델과 정답 모델의 부피 겹침 비율</a:t>
            </a:r>
            <a:endParaRPr lang="en-US" sz="800" dirty="0"/>
          </a:p>
        </p:txBody>
      </p:sp>
      <p:sp>
        <p:nvSpPr>
          <p:cNvPr id="159" name="0.693"/>
          <p:cNvSpPr txBox="1"/>
          <p:nvPr/>
        </p:nvSpPr>
        <p:spPr>
          <a:xfrm>
            <a:off x="10908209" y="5861248"/>
            <a:ext cx="515441" cy="196850"/>
          </a:xfrm>
          <a:prstGeom prst="rect">
            <a:avLst/>
          </a:prstGeom>
          <a:noFill/>
          <a:ln/>
        </p:spPr>
        <p:txBody>
          <a:bodyPr wrap="none" lIns="0" tIns="0" rIns="0" bIns="0" rtlCol="0" anchor="ctr"/>
          <a:lstStyle/>
          <a:p>
            <a:pPr algn="l" indent="0" marL="0">
              <a:buNone/>
            </a:pPr>
            <a:r>
              <a:rPr lang="ko-KR" altLang="en-US" sz="1300" spc="-39" kern="0" dirty="0">
                <a:solidFill>
                  <a:srgbClr val="2B4A78"/>
                </a:solidFill>
                <a:latin typeface="Pretendard ExtraBold" pitchFamily="34" charset="0"/>
                <a:ea typeface="Pretendard ExtraBold" pitchFamily="34" charset="-127"/>
                <a:cs typeface="Pretendard ExtraBold" pitchFamily="34" charset="-120"/>
              </a:rPr>
              <a:t>0.693</a:t>
            </a:r>
            <a:endParaRPr lang="en-US" sz="1300" dirty="0"/>
          </a:p>
        </p:txBody>
      </p:sp>
      <p:sp>
        <p:nvSpPr>
          <p:cNvPr id="160"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161" name="10 / 12"/>
          <p:cNvSpPr txBox="1"/>
          <p:nvPr/>
        </p:nvSpPr>
        <p:spPr>
          <a:xfrm>
            <a:off x="11251406" y="6472238"/>
            <a:ext cx="381794"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10</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3042741"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done"/>
          <p:cNvSpPr/>
          <p:nvPr/>
        </p:nvSpPr>
        <p:spPr>
          <a:xfrm>
            <a:off x="109601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8" name="on"/>
          <p:cNvSpPr/>
          <p:nvPr/>
        </p:nvSpPr>
        <p:spPr>
          <a:xfrm>
            <a:off x="112903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9" name="svg rect"/>
          <p:cNvSpPr/>
          <p:nvPr/>
        </p:nvSpPr>
        <p:spPr>
          <a:xfrm>
            <a:off x="628650" y="1708547"/>
            <a:ext cx="127000" cy="88900"/>
          </a:xfrm>
          <a:prstGeom prst="roundRect">
            <a:avLst>
              <a:gd name="adj" fmla="val 17857"/>
            </a:avLst>
          </a:prstGeom>
          <a:noFill/>
          <a:ln w="12700" cap="rnd">
            <a:solidFill>
              <a:srgbClr val="102A4C"/>
            </a:solidFill>
            <a:round/>
          </a:ln>
        </p:spPr>
        <p:txBody>
          <a:bodyPr rtlCol="0" anchor="ctr"/>
          <a:lstStyle/>
          <a:p>
            <a:pPr algn="ctr"/>
            <a:endParaRPr lang="ko-KR" dirty="0"/>
          </a:p>
        </p:txBody>
      </p:sp>
      <p:sp>
        <p:nvSpPr>
          <p:cNvPr id="10" name="svg path"/>
          <p:cNvSpPr/>
          <p:nvPr/>
        </p:nvSpPr>
        <p:spPr>
          <a:xfrm>
            <a:off x="669925" y="1686322"/>
            <a:ext cx="44450" cy="22225"/>
          </a:xfrm>
          <a:custGeom>
            <a:avLst/>
            <a:gdLst/>
            <a:ahLst/>
            <a:cxnLst/>
            <a:rect l="0" t="0" r="r" b="b"/>
            <a:pathLst>
              <a:path w="44450" h="22225" fill="none">
                <a:moveTo>
                  <a:pt x="0" y="22225"/>
                </a:moveTo>
                <a:lnTo>
                  <a:pt x="0" y="9525"/>
                </a:lnTo>
                <a:cubicBezTo>
                  <a:pt x="0" y="4264"/>
                  <a:pt x="4264" y="0"/>
                  <a:pt x="9525" y="0"/>
                </a:cubicBezTo>
                <a:lnTo>
                  <a:pt x="34925" y="0"/>
                </a:lnTo>
                <a:cubicBezTo>
                  <a:pt x="40186" y="0"/>
                  <a:pt x="44450" y="4264"/>
                  <a:pt x="44450" y="9525"/>
                </a:cubicBezTo>
                <a:lnTo>
                  <a:pt x="44450" y="22225"/>
                </a:lnTo>
              </a:path>
            </a:pathLst>
          </a:custGeom>
          <a:noFill/>
          <a:ln w="12700" cap="rnd">
            <a:solidFill>
              <a:srgbClr val="102A4C"/>
            </a:solidFill>
            <a:round/>
          </a:ln>
        </p:spPr>
        <p:txBody>
          <a:bodyPr rtlCol="0" anchor="ctr"/>
          <a:lstStyle/>
          <a:p>
            <a:pPr algn="ctr"/>
            <a:endParaRPr lang="ko-KR" dirty="0"/>
          </a:p>
        </p:txBody>
      </p:sp>
      <p:sp>
        <p:nvSpPr>
          <p:cNvPr id="11" name="svg path"/>
          <p:cNvSpPr/>
          <p:nvPr/>
        </p:nvSpPr>
        <p:spPr>
          <a:xfrm>
            <a:off x="628650" y="1749822"/>
            <a:ext cx="127000" cy="1"/>
          </a:xfrm>
          <a:custGeom>
            <a:avLst/>
            <a:gdLst/>
            <a:ahLst/>
            <a:cxnLst/>
            <a:rect l="0" t="0" r="r" b="b"/>
            <a:pathLst>
              <a:path w="127000" h="1" fill="none">
                <a:moveTo>
                  <a:pt x="0" y="0"/>
                </a:moveTo>
                <a:lnTo>
                  <a:pt x="127000" y="0"/>
                </a:lnTo>
              </a:path>
            </a:pathLst>
          </a:custGeom>
          <a:noFill/>
          <a:ln w="12700" cap="rnd">
            <a:solidFill>
              <a:srgbClr val="102A4C"/>
            </a:solidFill>
            <a:round/>
          </a:ln>
        </p:spPr>
        <p:txBody>
          <a:bodyPr rtlCol="0" anchor="ctr"/>
          <a:lstStyle/>
          <a:p>
            <a:pPr algn="ctr"/>
            <a:endParaRPr lang="ko-KR" dirty="0"/>
          </a:p>
        </p:txBody>
      </p:sp>
      <p:sp>
        <p:nvSpPr>
          <p:cNvPr id="12" name="s11-ch c1::after"/>
          <p:cNvSpPr/>
          <p:nvPr/>
        </p:nvSpPr>
        <p:spPr>
          <a:xfrm>
            <a:off x="1490663" y="1733947"/>
            <a:ext cx="4452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svg path"/>
          <p:cNvSpPr/>
          <p:nvPr/>
        </p:nvSpPr>
        <p:spPr>
          <a:xfrm>
            <a:off x="6394450" y="1679972"/>
            <a:ext cx="82550" cy="120650"/>
          </a:xfrm>
          <a:custGeom>
            <a:avLst/>
            <a:gdLst/>
            <a:ahLst/>
            <a:cxnLst/>
            <a:rect l="0" t="0" r="r" b="b"/>
            <a:pathLst>
              <a:path w="82550" h="120650" fill="none">
                <a:moveTo>
                  <a:pt x="0" y="0"/>
                </a:moveTo>
                <a:lnTo>
                  <a:pt x="53975" y="0"/>
                </a:lnTo>
                <a:lnTo>
                  <a:pt x="82550" y="28575"/>
                </a:lnTo>
                <a:lnTo>
                  <a:pt x="82550" y="120650"/>
                </a:lnTo>
                <a:lnTo>
                  <a:pt x="0" y="120650"/>
                </a:lnTo>
                <a:close/>
              </a:path>
            </a:pathLst>
          </a:custGeom>
          <a:noFill/>
          <a:ln w="12700" cap="rnd">
            <a:solidFill>
              <a:srgbClr val="102A4C"/>
            </a:solidFill>
            <a:round/>
          </a:ln>
        </p:spPr>
        <p:txBody>
          <a:bodyPr rtlCol="0" anchor="ctr"/>
          <a:lstStyle/>
          <a:p>
            <a:pPr algn="ctr"/>
            <a:endParaRPr lang="ko-KR" dirty="0"/>
          </a:p>
        </p:txBody>
      </p:sp>
      <p:sp>
        <p:nvSpPr>
          <p:cNvPr id="14" name="svg path"/>
          <p:cNvSpPr/>
          <p:nvPr/>
        </p:nvSpPr>
        <p:spPr>
          <a:xfrm>
            <a:off x="6448425" y="1679972"/>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15" name="svg path"/>
          <p:cNvSpPr/>
          <p:nvPr/>
        </p:nvSpPr>
        <p:spPr>
          <a:xfrm>
            <a:off x="6416675" y="1740297"/>
            <a:ext cx="38100" cy="28575"/>
          </a:xfrm>
          <a:custGeom>
            <a:avLst/>
            <a:gdLst/>
            <a:ahLst/>
            <a:cxnLst/>
            <a:rect l="0" t="0" r="r" b="b"/>
            <a:pathLst>
              <a:path w="38100" h="28575" fill="none">
                <a:moveTo>
                  <a:pt x="0" y="0"/>
                </a:moveTo>
                <a:lnTo>
                  <a:pt x="38100" y="0"/>
                </a:lnTo>
                <a:moveTo>
                  <a:pt x="0" y="28575"/>
                </a:moveTo>
                <a:lnTo>
                  <a:pt x="38100" y="28575"/>
                </a:lnTo>
              </a:path>
            </a:pathLst>
          </a:custGeom>
          <a:noFill/>
          <a:ln w="12700" cap="rnd">
            <a:solidFill>
              <a:srgbClr val="102A4C"/>
            </a:solidFill>
            <a:round/>
          </a:ln>
        </p:spPr>
        <p:txBody>
          <a:bodyPr rtlCol="0" anchor="ctr"/>
          <a:lstStyle/>
          <a:p>
            <a:pPr algn="ctr"/>
            <a:endParaRPr lang="ko-KR" dirty="0"/>
          </a:p>
        </p:txBody>
      </p:sp>
      <p:sp>
        <p:nvSpPr>
          <p:cNvPr id="16" name="s11-ch c2::after"/>
          <p:cNvSpPr/>
          <p:nvPr/>
        </p:nvSpPr>
        <p:spPr>
          <a:xfrm>
            <a:off x="7231063" y="1733947"/>
            <a:ext cx="43513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s11-task"/>
          <p:cNvSpPr/>
          <p:nvPr/>
        </p:nvSpPr>
        <p:spPr>
          <a:xfrm>
            <a:off x="609600" y="19688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18" name="s11-ic"/>
          <p:cNvSpPr/>
          <p:nvPr/>
        </p:nvSpPr>
        <p:spPr>
          <a:xfrm>
            <a:off x="838200" y="22482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9" name="svg path"/>
          <p:cNvSpPr/>
          <p:nvPr/>
        </p:nvSpPr>
        <p:spPr>
          <a:xfrm>
            <a:off x="984250" y="2597547"/>
            <a:ext cx="215900" cy="1"/>
          </a:xfrm>
          <a:custGeom>
            <a:avLst/>
            <a:gdLst/>
            <a:ahLst/>
            <a:cxnLst/>
            <a:rect l="0" t="0" r="r" b="b"/>
            <a:pathLst>
              <a:path w="215900" h="1" fill="none">
                <a:moveTo>
                  <a:pt x="0" y="0"/>
                </a:moveTo>
                <a:lnTo>
                  <a:pt x="215900" y="0"/>
                </a:lnTo>
              </a:path>
            </a:pathLst>
          </a:custGeom>
          <a:noFill/>
          <a:ln w="12700" cap="rnd">
            <a:solidFill>
              <a:srgbClr val="102A4C"/>
            </a:solidFill>
            <a:round/>
          </a:ln>
        </p:spPr>
        <p:txBody>
          <a:bodyPr rtlCol="0" anchor="ctr"/>
          <a:lstStyle/>
          <a:p>
            <a:pPr algn="ctr"/>
            <a:endParaRPr lang="ko-KR" dirty="0"/>
          </a:p>
        </p:txBody>
      </p:sp>
      <p:sp>
        <p:nvSpPr>
          <p:cNvPr id="20" name="svg path"/>
          <p:cNvSpPr/>
          <p:nvPr/>
        </p:nvSpPr>
        <p:spPr>
          <a:xfrm>
            <a:off x="996950" y="2407047"/>
            <a:ext cx="187325" cy="190500"/>
          </a:xfrm>
          <a:custGeom>
            <a:avLst/>
            <a:gdLst/>
            <a:ahLst/>
            <a:cxnLst/>
            <a:rect l="0" t="0" r="r" b="b"/>
            <a:pathLst>
              <a:path w="187325" h="190500" fill="none">
                <a:moveTo>
                  <a:pt x="0" y="190500"/>
                </a:moveTo>
                <a:lnTo>
                  <a:pt x="0" y="88900"/>
                </a:lnTo>
                <a:lnTo>
                  <a:pt x="50800" y="57150"/>
                </a:lnTo>
                <a:lnTo>
                  <a:pt x="50800" y="88900"/>
                </a:lnTo>
                <a:lnTo>
                  <a:pt x="101600" y="57150"/>
                </a:lnTo>
                <a:lnTo>
                  <a:pt x="101600" y="88900"/>
                </a:lnTo>
                <a:lnTo>
                  <a:pt x="152400" y="57150"/>
                </a:lnTo>
                <a:lnTo>
                  <a:pt x="152400" y="0"/>
                </a:lnTo>
                <a:lnTo>
                  <a:pt x="187325" y="0"/>
                </a:lnTo>
                <a:lnTo>
                  <a:pt x="187325" y="1905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1063625" y="2556272"/>
            <a:ext cx="38100" cy="41275"/>
          </a:xfrm>
          <a:custGeom>
            <a:avLst/>
            <a:gdLst/>
            <a:ahLst/>
            <a:cxnLst/>
            <a:rect l="0" t="0" r="r" b="b"/>
            <a:pathLst>
              <a:path w="38100" h="41275" fill="none">
                <a:moveTo>
                  <a:pt x="0" y="41275"/>
                </a:moveTo>
                <a:lnTo>
                  <a:pt x="0" y="0"/>
                </a:lnTo>
                <a:lnTo>
                  <a:pt x="38100" y="0"/>
                </a:lnTo>
                <a:lnTo>
                  <a:pt x="38100" y="41275"/>
                </a:lnTo>
              </a:path>
            </a:pathLst>
          </a:custGeom>
          <a:noFill/>
          <a:ln w="12700" cap="rnd">
            <a:solidFill>
              <a:srgbClr val="102A4C"/>
            </a:solidFill>
            <a:round/>
          </a:ln>
        </p:spPr>
        <p:txBody>
          <a:bodyPr rtlCol="0" anchor="ctr"/>
          <a:lstStyle/>
          <a:p>
            <a:pPr algn="ctr"/>
            <a:endParaRPr lang="ko-KR" dirty="0"/>
          </a:p>
        </p:txBody>
      </p:sp>
      <p:sp>
        <p:nvSpPr>
          <p:cNvPr id="22" name="d 선"/>
          <p:cNvSpPr/>
          <p:nvPr/>
        </p:nvSpPr>
        <p:spPr>
          <a:xfrm>
            <a:off x="3635375" y="22959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23" name="s11-link::before"/>
          <p:cNvSpPr/>
          <p:nvPr/>
        </p:nvSpPr>
        <p:spPr>
          <a:xfrm>
            <a:off x="5943600" y="2495947"/>
            <a:ext cx="4064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5994400" y="2349897"/>
            <a:ext cx="304800" cy="3048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6135158" y="24416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26" name="svg path"/>
          <p:cNvSpPr/>
          <p:nvPr/>
        </p:nvSpPr>
        <p:spPr>
          <a:xfrm>
            <a:off x="6086060" y="24842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27" name="s11-res"/>
          <p:cNvSpPr/>
          <p:nvPr/>
        </p:nvSpPr>
        <p:spPr>
          <a:xfrm>
            <a:off x="6356350" y="19752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8" name="s11-ar path"/>
          <p:cNvSpPr/>
          <p:nvPr/>
        </p:nvSpPr>
        <p:spPr>
          <a:xfrm>
            <a:off x="8229600" y="24514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29" name="s11-out"/>
          <p:cNvSpPr/>
          <p:nvPr/>
        </p:nvSpPr>
        <p:spPr>
          <a:xfrm>
            <a:off x="8724900" y="19815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30" name="s11-task"/>
          <p:cNvSpPr/>
          <p:nvPr/>
        </p:nvSpPr>
        <p:spPr>
          <a:xfrm>
            <a:off x="609600" y="31372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1" name="s11-ic"/>
          <p:cNvSpPr/>
          <p:nvPr/>
        </p:nvSpPr>
        <p:spPr>
          <a:xfrm>
            <a:off x="838200" y="34166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2" name="svg path"/>
          <p:cNvSpPr/>
          <p:nvPr/>
        </p:nvSpPr>
        <p:spPr>
          <a:xfrm>
            <a:off x="996950" y="3562747"/>
            <a:ext cx="120650" cy="190500"/>
          </a:xfrm>
          <a:custGeom>
            <a:avLst/>
            <a:gdLst/>
            <a:ahLst/>
            <a:cxnLst/>
            <a:rect l="0" t="0" r="r" b="b"/>
            <a:pathLst>
              <a:path w="120650" h="190500" fill="none">
                <a:moveTo>
                  <a:pt x="63500" y="190500"/>
                </a:moveTo>
                <a:lnTo>
                  <a:pt x="0" y="190500"/>
                </a:lnTo>
                <a:lnTo>
                  <a:pt x="0" y="0"/>
                </a:lnTo>
                <a:lnTo>
                  <a:pt x="92075" y="0"/>
                </a:lnTo>
                <a:lnTo>
                  <a:pt x="120650" y="28575"/>
                </a:lnTo>
                <a:lnTo>
                  <a:pt x="120650" y="6985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1089025" y="3562747"/>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34" name="svg path"/>
          <p:cNvSpPr/>
          <p:nvPr/>
        </p:nvSpPr>
        <p:spPr>
          <a:xfrm>
            <a:off x="1022350" y="3607197"/>
            <a:ext cx="57150" cy="63500"/>
          </a:xfrm>
          <a:custGeom>
            <a:avLst/>
            <a:gdLst/>
            <a:ahLst/>
            <a:cxnLst/>
            <a:rect l="0" t="0" r="r" b="b"/>
            <a:pathLst>
              <a:path w="57150" h="63500" fill="none">
                <a:moveTo>
                  <a:pt x="0" y="0"/>
                </a:moveTo>
                <a:lnTo>
                  <a:pt x="57150" y="0"/>
                </a:lnTo>
                <a:moveTo>
                  <a:pt x="0" y="31750"/>
                </a:moveTo>
                <a:lnTo>
                  <a:pt x="57150" y="31750"/>
                </a:lnTo>
                <a:moveTo>
                  <a:pt x="0" y="63500"/>
                </a:moveTo>
                <a:lnTo>
                  <a:pt x="31750" y="63500"/>
                </a:lnTo>
              </a:path>
            </a:pathLst>
          </a:custGeom>
          <a:noFill/>
          <a:ln w="12700" cap="rnd">
            <a:solidFill>
              <a:srgbClr val="102A4C"/>
            </a:solidFill>
            <a:round/>
          </a:ln>
        </p:spPr>
        <p:txBody>
          <a:bodyPr rtlCol="0" anchor="ctr"/>
          <a:lstStyle/>
          <a:p>
            <a:pPr algn="ctr"/>
            <a:endParaRPr lang="ko-KR" dirty="0"/>
          </a:p>
        </p:txBody>
      </p:sp>
      <p:sp>
        <p:nvSpPr>
          <p:cNvPr id="35" name="svg w"/>
          <p:cNvSpPr/>
          <p:nvPr/>
        </p:nvSpPr>
        <p:spPr>
          <a:xfrm>
            <a:off x="1085850" y="3651647"/>
            <a:ext cx="114300" cy="63500"/>
          </a:xfrm>
          <a:custGeom>
            <a:avLst/>
            <a:gdLst/>
            <a:ahLst/>
            <a:cxnLst/>
            <a:rect l="0" t="0" r="r" b="b"/>
            <a:pathLst>
              <a:path w="114300" h="63500">
                <a:moveTo>
                  <a:pt x="57150" y="0"/>
                </a:moveTo>
                <a:lnTo>
                  <a:pt x="114300" y="31750"/>
                </a:lnTo>
                <a:lnTo>
                  <a:pt x="57150" y="63500"/>
                </a:lnTo>
                <a:lnTo>
                  <a:pt x="0" y="317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36" name="svg w"/>
          <p:cNvSpPr/>
          <p:nvPr/>
        </p:nvSpPr>
        <p:spPr>
          <a:xfrm>
            <a:off x="1085850" y="3683397"/>
            <a:ext cx="114300" cy="95250"/>
          </a:xfrm>
          <a:custGeom>
            <a:avLst/>
            <a:gdLst/>
            <a:ahLst/>
            <a:cxnLst/>
            <a:rect l="0" t="0" r="r" b="b"/>
            <a:pathLst>
              <a:path w="114300" h="95250">
                <a:moveTo>
                  <a:pt x="0" y="0"/>
                </a:moveTo>
                <a:lnTo>
                  <a:pt x="0" y="63500"/>
                </a:lnTo>
                <a:lnTo>
                  <a:pt x="57150" y="95250"/>
                </a:lnTo>
                <a:lnTo>
                  <a:pt x="114300" y="63500"/>
                </a:lnTo>
                <a:lnTo>
                  <a:pt x="114300" y="0"/>
                </a:lnTo>
              </a:path>
            </a:pathLst>
          </a:custGeom>
          <a:solidFill>
            <a:srgbClr val="FFFFFF"/>
          </a:solidFill>
          <a:ln w="12700" cap="rnd">
            <a:solidFill>
              <a:srgbClr val="102A4C"/>
            </a:solidFill>
            <a:round/>
          </a:ln>
        </p:spPr>
        <p:txBody>
          <a:bodyPr rtlCol="0" anchor="ctr"/>
          <a:lstStyle/>
          <a:p>
            <a:pPr algn="ctr"/>
            <a:endParaRPr lang="ko-KR" dirty="0"/>
          </a:p>
        </p:txBody>
      </p:sp>
      <p:sp>
        <p:nvSpPr>
          <p:cNvPr id="37" name="svg path"/>
          <p:cNvSpPr/>
          <p:nvPr/>
        </p:nvSpPr>
        <p:spPr>
          <a:xfrm>
            <a:off x="1143000" y="3715147"/>
            <a:ext cx="1" cy="63500"/>
          </a:xfrm>
          <a:custGeom>
            <a:avLst/>
            <a:gdLst/>
            <a:ahLst/>
            <a:cxnLst/>
            <a:rect l="0" t="0" r="r" b="b"/>
            <a:pathLst>
              <a:path w="1" h="63500" fill="none">
                <a:moveTo>
                  <a:pt x="0" y="0"/>
                </a:moveTo>
                <a:lnTo>
                  <a:pt x="0" y="63500"/>
                </a:lnTo>
              </a:path>
            </a:pathLst>
          </a:custGeom>
          <a:noFill/>
          <a:ln w="12700" cap="rnd">
            <a:solidFill>
              <a:srgbClr val="102A4C"/>
            </a:solidFill>
            <a:round/>
          </a:ln>
        </p:spPr>
        <p:txBody>
          <a:bodyPr rtlCol="0" anchor="ctr"/>
          <a:lstStyle/>
          <a:p>
            <a:pPr algn="ctr"/>
            <a:endParaRPr lang="ko-KR" dirty="0"/>
          </a:p>
        </p:txBody>
      </p:sp>
      <p:sp>
        <p:nvSpPr>
          <p:cNvPr id="38" name="d 선"/>
          <p:cNvSpPr/>
          <p:nvPr/>
        </p:nvSpPr>
        <p:spPr>
          <a:xfrm>
            <a:off x="3635375" y="34643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39" name="s11-link::before"/>
          <p:cNvSpPr/>
          <p:nvPr/>
        </p:nvSpPr>
        <p:spPr>
          <a:xfrm>
            <a:off x="5943600" y="3664347"/>
            <a:ext cx="406400" cy="12700"/>
          </a:xfrm>
          <a:prstGeom prst="rect">
            <a:avLst/>
          </a:prstGeom>
          <a:solidFill>
            <a:srgbClr val="C8CFD8"/>
          </a:solidFill>
          <a:ln>
            <a:noFill/>
          </a:ln>
        </p:spPr>
        <p:txBody>
          <a:bodyPr rtlCol="0" anchor="ctr"/>
          <a:lstStyle/>
          <a:p>
            <a:pPr algn="ctr"/>
            <a:endParaRPr lang="ko-KR" dirty="0"/>
          </a:p>
        </p:txBody>
      </p:sp>
      <p:sp>
        <p:nvSpPr>
          <p:cNvPr id="40" name="i"/>
          <p:cNvSpPr/>
          <p:nvPr/>
        </p:nvSpPr>
        <p:spPr>
          <a:xfrm>
            <a:off x="5994400" y="3518297"/>
            <a:ext cx="304800" cy="304800"/>
          </a:xfrm>
          <a:prstGeom prst="ellipse">
            <a:avLst/>
          </a:prstGeom>
          <a:solidFill>
            <a:srgbClr val="102A4C"/>
          </a:solidFill>
          <a:ln>
            <a:noFill/>
          </a:ln>
        </p:spPr>
        <p:txBody>
          <a:bodyPr rtlCol="0" anchor="ctr"/>
          <a:lstStyle/>
          <a:p>
            <a:pPr algn="ctr"/>
            <a:endParaRPr lang="ko-KR" dirty="0"/>
          </a:p>
        </p:txBody>
      </p:sp>
      <p:sp>
        <p:nvSpPr>
          <p:cNvPr id="41" name="svg path"/>
          <p:cNvSpPr/>
          <p:nvPr/>
        </p:nvSpPr>
        <p:spPr>
          <a:xfrm>
            <a:off x="6135158" y="36100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42" name="svg path"/>
          <p:cNvSpPr/>
          <p:nvPr/>
        </p:nvSpPr>
        <p:spPr>
          <a:xfrm>
            <a:off x="6086060" y="36526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43" name="s11-res"/>
          <p:cNvSpPr/>
          <p:nvPr/>
        </p:nvSpPr>
        <p:spPr>
          <a:xfrm>
            <a:off x="6356350" y="31436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s11-ar path"/>
          <p:cNvSpPr/>
          <p:nvPr/>
        </p:nvSpPr>
        <p:spPr>
          <a:xfrm>
            <a:off x="8229600" y="36198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45" name="s11-out"/>
          <p:cNvSpPr/>
          <p:nvPr/>
        </p:nvSpPr>
        <p:spPr>
          <a:xfrm>
            <a:off x="8724900" y="31499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46" name="s11-task"/>
          <p:cNvSpPr/>
          <p:nvPr/>
        </p:nvSpPr>
        <p:spPr>
          <a:xfrm>
            <a:off x="609600" y="43056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s11-ic"/>
          <p:cNvSpPr/>
          <p:nvPr/>
        </p:nvSpPr>
        <p:spPr>
          <a:xfrm>
            <a:off x="838200" y="45850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48" name="svg path"/>
          <p:cNvSpPr/>
          <p:nvPr/>
        </p:nvSpPr>
        <p:spPr>
          <a:xfrm>
            <a:off x="981075" y="4788297"/>
            <a:ext cx="114300" cy="63500"/>
          </a:xfrm>
          <a:custGeom>
            <a:avLst/>
            <a:gdLst/>
            <a:ahLst/>
            <a:cxnLst/>
            <a:rect l="0" t="0" r="r" b="b"/>
            <a:pathLst>
              <a:path w="114300" h="63500" fill="none">
                <a:moveTo>
                  <a:pt x="57150" y="0"/>
                </a:moveTo>
                <a:lnTo>
                  <a:pt x="114300" y="31750"/>
                </a:lnTo>
                <a:lnTo>
                  <a:pt x="57150" y="63500"/>
                </a:lnTo>
                <a:lnTo>
                  <a:pt x="0" y="31750"/>
                </a:lnTo>
                <a:close/>
              </a:path>
            </a:pathLst>
          </a:custGeom>
          <a:noFill/>
          <a:ln w="12700" cap="rnd">
            <a:solidFill>
              <a:srgbClr val="102A4C"/>
            </a:solidFill>
            <a:round/>
          </a:ln>
        </p:spPr>
        <p:txBody>
          <a:bodyPr rtlCol="0" anchor="ctr"/>
          <a:lstStyle/>
          <a:p>
            <a:pPr algn="ctr"/>
            <a:endParaRPr lang="ko-KR" dirty="0"/>
          </a:p>
        </p:txBody>
      </p:sp>
      <p:sp>
        <p:nvSpPr>
          <p:cNvPr id="49" name="svg path"/>
          <p:cNvSpPr/>
          <p:nvPr/>
        </p:nvSpPr>
        <p:spPr>
          <a:xfrm>
            <a:off x="981075" y="4820047"/>
            <a:ext cx="114300" cy="114300"/>
          </a:xfrm>
          <a:custGeom>
            <a:avLst/>
            <a:gdLst/>
            <a:ahLst/>
            <a:cxnLst/>
            <a:rect l="0" t="0" r="r" b="b"/>
            <a:pathLst>
              <a:path w="114300" h="114300" fill="none">
                <a:moveTo>
                  <a:pt x="0" y="0"/>
                </a:moveTo>
                <a:lnTo>
                  <a:pt x="0" y="82550"/>
                </a:lnTo>
                <a:lnTo>
                  <a:pt x="57150" y="114300"/>
                </a:lnTo>
                <a:lnTo>
                  <a:pt x="114300" y="82550"/>
                </a:lnTo>
                <a:lnTo>
                  <a:pt x="114300" y="0"/>
                </a:lnTo>
              </a:path>
            </a:pathLst>
          </a:custGeom>
          <a:noFill/>
          <a:ln w="12700" cap="rnd">
            <a:solidFill>
              <a:srgbClr val="102A4C"/>
            </a:solidFill>
            <a:round/>
          </a:ln>
        </p:spPr>
        <p:txBody>
          <a:bodyPr rtlCol="0" anchor="ctr"/>
          <a:lstStyle/>
          <a:p>
            <a:pPr algn="ctr"/>
            <a:endParaRPr lang="ko-KR" dirty="0"/>
          </a:p>
        </p:txBody>
      </p:sp>
      <p:sp>
        <p:nvSpPr>
          <p:cNvPr id="50" name="svg path"/>
          <p:cNvSpPr/>
          <p:nvPr/>
        </p:nvSpPr>
        <p:spPr>
          <a:xfrm>
            <a:off x="1038225" y="4851797"/>
            <a:ext cx="1" cy="82550"/>
          </a:xfrm>
          <a:custGeom>
            <a:avLst/>
            <a:gdLst/>
            <a:ahLst/>
            <a:cxnLst/>
            <a:rect l="0" t="0" r="r" b="b"/>
            <a:pathLst>
              <a:path w="1" h="82550" fill="none">
                <a:moveTo>
                  <a:pt x="0" y="0"/>
                </a:moveTo>
                <a:lnTo>
                  <a:pt x="0" y="82550"/>
                </a:lnTo>
              </a:path>
            </a:pathLst>
          </a:custGeom>
          <a:noFill/>
          <a:ln w="12700" cap="rnd">
            <a:solidFill>
              <a:srgbClr val="102A4C"/>
            </a:solidFill>
            <a:round/>
          </a:ln>
        </p:spPr>
        <p:txBody>
          <a:bodyPr rtlCol="0" anchor="ctr"/>
          <a:lstStyle/>
          <a:p>
            <a:pPr algn="ctr"/>
            <a:endParaRPr lang="ko-KR" dirty="0"/>
          </a:p>
        </p:txBody>
      </p:sp>
      <p:sp>
        <p:nvSpPr>
          <p:cNvPr id="51" name="svg ellipse"/>
          <p:cNvSpPr/>
          <p:nvPr/>
        </p:nvSpPr>
        <p:spPr>
          <a:xfrm>
            <a:off x="1111250" y="4743847"/>
            <a:ext cx="88900" cy="38100"/>
          </a:xfrm>
          <a:prstGeom prst="ellipse">
            <a:avLst/>
          </a:prstGeom>
          <a:noFill/>
          <a:ln w="12700" cap="rnd">
            <a:solidFill>
              <a:srgbClr val="102A4C"/>
            </a:solidFill>
            <a:round/>
          </a:ln>
        </p:spPr>
        <p:txBody>
          <a:bodyPr rtlCol="0" anchor="ctr"/>
          <a:lstStyle/>
          <a:p>
            <a:pPr algn="ctr"/>
            <a:endParaRPr lang="ko-KR" dirty="0"/>
          </a:p>
        </p:txBody>
      </p:sp>
      <p:sp>
        <p:nvSpPr>
          <p:cNvPr id="52" name="svg path"/>
          <p:cNvSpPr/>
          <p:nvPr/>
        </p:nvSpPr>
        <p:spPr>
          <a:xfrm>
            <a:off x="1111250" y="4762897"/>
            <a:ext cx="88900" cy="171450"/>
          </a:xfrm>
          <a:custGeom>
            <a:avLst/>
            <a:gdLst/>
            <a:ahLst/>
            <a:cxnLst/>
            <a:rect l="0" t="0" r="r" b="b"/>
            <a:pathLst>
              <a:path w="88900" h="171450" fill="none">
                <a:moveTo>
                  <a:pt x="0" y="0"/>
                </a:moveTo>
                <a:lnTo>
                  <a:pt x="0" y="152400"/>
                </a:lnTo>
                <a:cubicBezTo>
                  <a:pt x="0" y="162921"/>
                  <a:pt x="19901" y="171450"/>
                  <a:pt x="44450" y="171450"/>
                </a:cubicBezTo>
                <a:cubicBezTo>
                  <a:pt x="68999" y="171450"/>
                  <a:pt x="88900" y="162921"/>
                  <a:pt x="88900" y="152400"/>
                </a:cubicBezTo>
                <a:lnTo>
                  <a:pt x="88900" y="0"/>
                </a:lnTo>
              </a:path>
            </a:pathLst>
          </a:custGeom>
          <a:noFill/>
          <a:ln w="12700" cap="rnd">
            <a:solidFill>
              <a:srgbClr val="102A4C"/>
            </a:solidFill>
            <a:round/>
          </a:ln>
        </p:spPr>
        <p:txBody>
          <a:bodyPr rtlCol="0" anchor="ctr"/>
          <a:lstStyle/>
          <a:p>
            <a:pPr algn="ctr"/>
            <a:endParaRPr lang="ko-KR" dirty="0"/>
          </a:p>
        </p:txBody>
      </p:sp>
      <p:sp>
        <p:nvSpPr>
          <p:cNvPr id="53" name="svg path"/>
          <p:cNvSpPr/>
          <p:nvPr/>
        </p:nvSpPr>
        <p:spPr>
          <a:xfrm>
            <a:off x="1111250" y="4813697"/>
            <a:ext cx="88900" cy="69850"/>
          </a:xfrm>
          <a:custGeom>
            <a:avLst/>
            <a:gdLst/>
            <a:ahLst/>
            <a:cxnLst/>
            <a:rect l="0" t="0" r="r" b="b"/>
            <a:pathLst>
              <a:path w="88900" h="69850" fill="none">
                <a:moveTo>
                  <a:pt x="0" y="0"/>
                </a:moveTo>
                <a:cubicBezTo>
                  <a:pt x="0" y="10521"/>
                  <a:pt x="19901" y="19050"/>
                  <a:pt x="44450" y="19050"/>
                </a:cubicBezTo>
                <a:cubicBezTo>
                  <a:pt x="68999" y="19050"/>
                  <a:pt x="88900" y="10521"/>
                  <a:pt x="88900" y="0"/>
                </a:cubicBezTo>
                <a:moveTo>
                  <a:pt x="0" y="50800"/>
                </a:moveTo>
                <a:cubicBezTo>
                  <a:pt x="0" y="61321"/>
                  <a:pt x="19901" y="69850"/>
                  <a:pt x="44450" y="69850"/>
                </a:cubicBezTo>
                <a:cubicBezTo>
                  <a:pt x="68999" y="69850"/>
                  <a:pt x="88900" y="61321"/>
                  <a:pt x="88900" y="50800"/>
                </a:cubicBezTo>
              </a:path>
            </a:pathLst>
          </a:custGeom>
          <a:noFill/>
          <a:ln w="12700" cap="rnd">
            <a:solidFill>
              <a:srgbClr val="102A4C"/>
            </a:solidFill>
            <a:round/>
          </a:ln>
        </p:spPr>
        <p:txBody>
          <a:bodyPr rtlCol="0" anchor="ctr"/>
          <a:lstStyle/>
          <a:p>
            <a:pPr algn="ctr"/>
            <a:endParaRPr lang="ko-KR" dirty="0"/>
          </a:p>
        </p:txBody>
      </p:sp>
      <p:sp>
        <p:nvSpPr>
          <p:cNvPr id="54" name="d 선"/>
          <p:cNvSpPr/>
          <p:nvPr/>
        </p:nvSpPr>
        <p:spPr>
          <a:xfrm>
            <a:off x="3635375" y="46327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55" name="s11-link::before"/>
          <p:cNvSpPr/>
          <p:nvPr/>
        </p:nvSpPr>
        <p:spPr>
          <a:xfrm>
            <a:off x="5943600" y="4832747"/>
            <a:ext cx="4064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5994400" y="4686697"/>
            <a:ext cx="304800" cy="3048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6135158" y="47784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58" name="svg path"/>
          <p:cNvSpPr/>
          <p:nvPr/>
        </p:nvSpPr>
        <p:spPr>
          <a:xfrm>
            <a:off x="6086060" y="48210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59" name="s11-res"/>
          <p:cNvSpPr/>
          <p:nvPr/>
        </p:nvSpPr>
        <p:spPr>
          <a:xfrm>
            <a:off x="6356350" y="43120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60" name="s11-ar path"/>
          <p:cNvSpPr/>
          <p:nvPr/>
        </p:nvSpPr>
        <p:spPr>
          <a:xfrm>
            <a:off x="8229600" y="47882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61" name="s11-out"/>
          <p:cNvSpPr/>
          <p:nvPr/>
        </p:nvSpPr>
        <p:spPr>
          <a:xfrm>
            <a:off x="8724900" y="43183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62" name="keybar s11-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63" name="05"/>
          <p:cNvSpPr txBox="1"/>
          <p:nvPr/>
        </p:nvSpPr>
        <p:spPr>
          <a:xfrm>
            <a:off x="609600" y="401439"/>
            <a:ext cx="21480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05</a:t>
            </a:r>
            <a:endParaRPr lang="en-US" sz="950" dirty="0"/>
          </a:p>
        </p:txBody>
      </p:sp>
      <p:sp>
        <p:nvSpPr>
          <p:cNvPr id="64" name="Utility 기술(건축, BIM/5D) 직무와의 연관성"/>
          <p:cNvSpPr txBox="1"/>
          <p:nvPr/>
        </p:nvSpPr>
        <p:spPr>
          <a:xfrm>
            <a:off x="862509" y="401439"/>
            <a:ext cx="2216813"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Utility 기술(건축, BIM/5D) 직무와의 연관성</a:t>
            </a:r>
            <a:endParaRPr lang="en-US" sz="950" dirty="0"/>
          </a:p>
        </p:txBody>
      </p:sp>
      <p:sp>
        <p:nvSpPr>
          <p:cNvPr id="65" name="직무 과제 ↔ 연구 접점"/>
          <p:cNvSpPr txBox="1"/>
          <p:nvPr/>
        </p:nvSpPr>
        <p:spPr>
          <a:xfrm>
            <a:off x="3137991" y="401439"/>
            <a:ext cx="1150160"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직무 과제 ↔ 연구 접점</a:t>
            </a:r>
            <a:endParaRPr lang="en-US" sz="950" dirty="0"/>
          </a:p>
        </p:txBody>
      </p:sp>
      <p:sp>
        <p:nvSpPr>
          <p:cNvPr id="66" name="직무에서 마주할 세 가지 과제가"/>
          <p:cNvSpPr txBox="1"/>
          <p:nvPr/>
        </p:nvSpPr>
        <p:spPr>
          <a:xfrm>
            <a:off x="609600" y="666750"/>
            <a:ext cx="3545239"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직무에서 마주할 세 가지 과제가</a:t>
            </a:r>
            <a:endParaRPr lang="en-US" sz="2300" dirty="0"/>
          </a:p>
        </p:txBody>
      </p:sp>
      <p:sp>
        <p:nvSpPr>
          <p:cNvPr id="67" name="제 연구와 맞닿아 있습니다."/>
          <p:cNvSpPr txBox="1"/>
          <p:nvPr/>
        </p:nvSpPr>
        <p:spPr>
          <a:xfrm>
            <a:off x="609600" y="1028898"/>
            <a:ext cx="3055979" cy="349250"/>
          </a:xfrm>
          <a:prstGeom prst="rect">
            <a:avLst/>
          </a:prstGeom>
          <a:noFill/>
          <a:ln/>
        </p:spPr>
        <p:txBody>
          <a:bodyPr wrap="none" lIns="0" tIns="0" rIns="0" bIns="0" rtlCol="0" anchor="ctr"/>
          <a:lstStyle/>
          <a:p>
            <a:pPr algn="l" indent="0" marL="0">
              <a:buNone/>
            </a:pP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제 연구와 맞닿아</a:t>
            </a:r>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있습니다.</a:t>
            </a:r>
            <a:endParaRPr lang="en-US" sz="2300" dirty="0"/>
          </a:p>
        </p:txBody>
      </p:sp>
      <p:sp>
        <p:nvSpPr>
          <p:cNvPr id="6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6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7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7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04</a:t>
            </a:r>
            <a:endParaRPr lang="en-US" sz="700" dirty="0"/>
          </a:p>
        </p:txBody>
      </p:sp>
      <p:sp>
        <p:nvSpPr>
          <p:cNvPr id="7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05</a:t>
            </a:r>
            <a:endParaRPr lang="en-US" sz="700" dirty="0"/>
          </a:p>
        </p:txBody>
      </p:sp>
      <p:sp>
        <p:nvSpPr>
          <p:cNvPr id="73" name="직무 과제"/>
          <p:cNvSpPr txBox="1"/>
          <p:nvPr/>
        </p:nvSpPr>
        <p:spPr>
          <a:xfrm>
            <a:off x="8636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직무 과제</a:t>
            </a:r>
            <a:endParaRPr lang="en-US" sz="1200" dirty="0"/>
          </a:p>
        </p:txBody>
      </p:sp>
      <p:sp>
        <p:nvSpPr>
          <p:cNvPr id="74" name="연구 접점"/>
          <p:cNvSpPr txBox="1"/>
          <p:nvPr/>
        </p:nvSpPr>
        <p:spPr>
          <a:xfrm>
            <a:off x="66040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접점</a:t>
            </a:r>
            <a:endParaRPr lang="en-US" sz="1200" dirty="0"/>
          </a:p>
        </p:txBody>
      </p:sp>
      <p:sp>
        <p:nvSpPr>
          <p:cNvPr id="75" name="과제 1"/>
          <p:cNvSpPr txBox="1"/>
          <p:nvPr/>
        </p:nvSpPr>
        <p:spPr>
          <a:xfrm>
            <a:off x="1549400" y="2285107"/>
            <a:ext cx="346571"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1</a:t>
            </a:r>
            <a:endParaRPr lang="en-US" sz="800" dirty="0"/>
          </a:p>
        </p:txBody>
      </p:sp>
      <p:sp>
        <p:nvSpPr>
          <p:cNvPr id="76" name="Virtual FAB 구축"/>
          <p:cNvSpPr txBox="1"/>
          <p:nvPr/>
        </p:nvSpPr>
        <p:spPr>
          <a:xfrm>
            <a:off x="1549400" y="2481957"/>
            <a:ext cx="1271423"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Virtual FAB 구축</a:t>
            </a:r>
            <a:endParaRPr lang="en-US" sz="1400" dirty="0"/>
          </a:p>
        </p:txBody>
      </p:sp>
      <p:sp>
        <p:nvSpPr>
          <p:cNvPr id="77" name="여러 출처의 도면·모델 데이터를"/>
          <p:cNvSpPr txBox="1"/>
          <p:nvPr/>
        </p:nvSpPr>
        <p:spPr>
          <a:xfrm>
            <a:off x="3841750" y="2311797"/>
            <a:ext cx="1748377"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여러 출처의 도면·모델 데이터를</a:t>
            </a:r>
            <a:endParaRPr lang="en-US" sz="1100" dirty="0"/>
          </a:p>
        </p:txBody>
      </p:sp>
      <p:sp>
        <p:nvSpPr>
          <p:cNvPr id="78" name="하나로 통합"/>
          <p:cNvSpPr txBox="1"/>
          <p:nvPr/>
        </p:nvSpPr>
        <p:spPr>
          <a:xfrm>
            <a:off x="3841750" y="2521347"/>
            <a:ext cx="667643"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하나로 통합</a:t>
            </a:r>
            <a:endParaRPr lang="en-US" sz="1100" dirty="0"/>
          </a:p>
        </p:txBody>
      </p:sp>
      <p:sp>
        <p:nvSpPr>
          <p:cNvPr id="79" name="서로 다른 도면의"/>
          <p:cNvSpPr txBox="1"/>
          <p:nvPr/>
        </p:nvSpPr>
        <p:spPr>
          <a:xfrm>
            <a:off x="6604000" y="2303264"/>
            <a:ext cx="959273"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서로 다른 도면의</a:t>
            </a:r>
            <a:endParaRPr lang="en-US" sz="1150" dirty="0"/>
          </a:p>
        </p:txBody>
      </p:sp>
      <p:sp>
        <p:nvSpPr>
          <p:cNvPr id="80" name="불완전한 정보를 짝지어"/>
          <p:cNvSpPr txBox="1"/>
          <p:nvPr/>
        </p:nvSpPr>
        <p:spPr>
          <a:xfrm>
            <a:off x="6604000" y="2514997"/>
            <a:ext cx="1344412"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불완전한 정보를 짝지어</a:t>
            </a:r>
            <a:endParaRPr lang="en-US" sz="1150" dirty="0"/>
          </a:p>
        </p:txBody>
      </p:sp>
      <p:sp>
        <p:nvSpPr>
          <p:cNvPr id="81" name="하나의 3D 모델로 통합"/>
          <p:cNvSpPr txBox="1"/>
          <p:nvPr/>
        </p:nvSpPr>
        <p:spPr>
          <a:xfrm>
            <a:off x="8978900" y="2399407"/>
            <a:ext cx="1473142"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하나의 3D 모델로 통합</a:t>
            </a:r>
            <a:endParaRPr lang="en-US" sz="1300" dirty="0"/>
          </a:p>
        </p:txBody>
      </p:sp>
      <p:sp>
        <p:nvSpPr>
          <p:cNvPr id="82" name="과제 2"/>
          <p:cNvSpPr txBox="1"/>
          <p:nvPr/>
        </p:nvSpPr>
        <p:spPr>
          <a:xfrm>
            <a:off x="1549400" y="3453507"/>
            <a:ext cx="360759"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2</a:t>
            </a:r>
            <a:endParaRPr lang="en-US" sz="800" dirty="0"/>
          </a:p>
        </p:txBody>
      </p:sp>
      <p:sp>
        <p:nvSpPr>
          <p:cNvPr id="83" name="기존 시설의 디지털 전환"/>
          <p:cNvSpPr txBox="1"/>
          <p:nvPr/>
        </p:nvSpPr>
        <p:spPr>
          <a:xfrm>
            <a:off x="1549400" y="3650357"/>
            <a:ext cx="1657298"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기존 시설의 디지털 전환</a:t>
            </a:r>
            <a:endParaRPr lang="en-US" sz="1400" dirty="0"/>
          </a:p>
        </p:txBody>
      </p:sp>
      <p:sp>
        <p:nvSpPr>
          <p:cNvPr id="84" name="이미지 도면만 남은"/>
          <p:cNvSpPr txBox="1"/>
          <p:nvPr/>
        </p:nvSpPr>
        <p:spPr>
          <a:xfrm>
            <a:off x="3841750" y="3480197"/>
            <a:ext cx="1059186"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이미지 도면만 남은</a:t>
            </a:r>
            <a:endParaRPr lang="en-US" sz="1100" dirty="0"/>
          </a:p>
        </p:txBody>
      </p:sp>
      <p:sp>
        <p:nvSpPr>
          <p:cNvPr id="85" name="기존 시설이 많음"/>
          <p:cNvSpPr txBox="1"/>
          <p:nvPr/>
        </p:nvSpPr>
        <p:spPr>
          <a:xfrm>
            <a:off x="3841750" y="3689747"/>
            <a:ext cx="934873"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기존 시설이 많음</a:t>
            </a:r>
            <a:endParaRPr lang="en-US" sz="1100" dirty="0"/>
          </a:p>
        </p:txBody>
      </p:sp>
      <p:sp>
        <p:nvSpPr>
          <p:cNvPr id="86" name="CAD 정보 없이"/>
          <p:cNvSpPr txBox="1"/>
          <p:nvPr/>
        </p:nvSpPr>
        <p:spPr>
          <a:xfrm>
            <a:off x="6604000" y="3471664"/>
            <a:ext cx="888107"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CAD 정보 없이</a:t>
            </a:r>
            <a:endParaRPr lang="en-US" sz="1150" dirty="0"/>
          </a:p>
        </p:txBody>
      </p:sp>
      <p:sp>
        <p:nvSpPr>
          <p:cNvPr id="87" name="이미지 도면에서 BIM 생성"/>
          <p:cNvSpPr txBox="1"/>
          <p:nvPr/>
        </p:nvSpPr>
        <p:spPr>
          <a:xfrm>
            <a:off x="6604000" y="3683397"/>
            <a:ext cx="1506377"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이미지 도면에서 BIM 생성</a:t>
            </a:r>
            <a:endParaRPr lang="en-US" sz="1150" dirty="0"/>
          </a:p>
        </p:txBody>
      </p:sp>
      <p:sp>
        <p:nvSpPr>
          <p:cNvPr id="88" name="디지털 전환 기간 단축"/>
          <p:cNvSpPr txBox="1"/>
          <p:nvPr/>
        </p:nvSpPr>
        <p:spPr>
          <a:xfrm>
            <a:off x="8978900" y="3567807"/>
            <a:ext cx="1394684"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디지털 전환 기간 단축</a:t>
            </a:r>
            <a:endParaRPr lang="en-US" sz="1300" dirty="0"/>
          </a:p>
        </p:txBody>
      </p:sp>
      <p:sp>
        <p:nvSpPr>
          <p:cNvPr id="89" name="과제 3"/>
          <p:cNvSpPr txBox="1"/>
          <p:nvPr/>
        </p:nvSpPr>
        <p:spPr>
          <a:xfrm>
            <a:off x="1549400" y="4621907"/>
            <a:ext cx="363637"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3</a:t>
            </a:r>
            <a:endParaRPr lang="en-US" sz="800" dirty="0"/>
          </a:p>
        </p:txBody>
      </p:sp>
      <p:sp>
        <p:nvSpPr>
          <p:cNvPr id="90" name="5D(물량·원가) 관리"/>
          <p:cNvSpPr txBox="1"/>
          <p:nvPr/>
        </p:nvSpPr>
        <p:spPr>
          <a:xfrm>
            <a:off x="1549400" y="4818757"/>
            <a:ext cx="1390477"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5D(물량·원가) 관리</a:t>
            </a:r>
            <a:endParaRPr lang="en-US" sz="1400" dirty="0"/>
          </a:p>
        </p:txBody>
      </p:sp>
      <p:sp>
        <p:nvSpPr>
          <p:cNvPr id="91" name="BIM 데이터가 정확해야"/>
          <p:cNvSpPr txBox="1"/>
          <p:nvPr/>
        </p:nvSpPr>
        <p:spPr>
          <a:xfrm>
            <a:off x="3841750" y="4648597"/>
            <a:ext cx="1305498"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데이터가 정확해야</a:t>
            </a:r>
            <a:endParaRPr lang="en-US" sz="1100" dirty="0"/>
          </a:p>
        </p:txBody>
      </p:sp>
      <p:sp>
        <p:nvSpPr>
          <p:cNvPr id="92" name="물량·원가 관리가 의미 있음"/>
          <p:cNvSpPr txBox="1"/>
          <p:nvPr/>
        </p:nvSpPr>
        <p:spPr>
          <a:xfrm>
            <a:off x="3841750" y="4858147"/>
            <a:ext cx="1499856"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물량·원가 관리가 의미 있음</a:t>
            </a:r>
            <a:endParaRPr lang="en-US" sz="1100" dirty="0"/>
          </a:p>
        </p:txBody>
      </p:sp>
      <p:sp>
        <p:nvSpPr>
          <p:cNvPr id="93" name="축척 보정·생성 완성도"/>
          <p:cNvSpPr txBox="1"/>
          <p:nvPr/>
        </p:nvSpPr>
        <p:spPr>
          <a:xfrm>
            <a:off x="6604000" y="4640064"/>
            <a:ext cx="1254280"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축척 보정·생성 완성도</a:t>
            </a:r>
            <a:endParaRPr lang="en-US" sz="1150" dirty="0"/>
          </a:p>
        </p:txBody>
      </p:sp>
      <p:sp>
        <p:nvSpPr>
          <p:cNvPr id="94" name="검증 경험"/>
          <p:cNvSpPr txBox="1"/>
          <p:nvPr/>
        </p:nvSpPr>
        <p:spPr>
          <a:xfrm>
            <a:off x="6604000" y="4851797"/>
            <a:ext cx="563860" cy="177800"/>
          </a:xfrm>
          <a:prstGeom prst="rect">
            <a:avLst/>
          </a:prstGeom>
          <a:noFill/>
          <a:ln/>
        </p:spPr>
        <p:txBody>
          <a:bodyPr wrap="none" lIns="0" tIns="0" rIns="0" bIns="0" rtlCol="0" anchor="ctr"/>
          <a:lstStyle/>
          <a:p>
            <a:pPr algn="l" indent="0" marL="0">
              <a:buNone/>
            </a:pPr>
            <a:r>
              <a:rPr lang="ko-KR" altLang="en-US" sz="1150" b="1" spc="-40" kern="0" dirty="0">
                <a:solidFill>
                  <a:srgbClr val="141820"/>
                </a:solidFill>
                <a:latin typeface="Pretendard" pitchFamily="34" charset="0"/>
                <a:ea typeface="Pretendard" pitchFamily="34" charset="-127"/>
                <a:cs typeface="Pretendard" pitchFamily="34" charset="-120"/>
              </a:rPr>
              <a:t>검증 경험</a:t>
            </a:r>
            <a:endParaRPr lang="en-US" sz="1150" dirty="0"/>
          </a:p>
        </p:txBody>
      </p:sp>
      <p:sp>
        <p:nvSpPr>
          <p:cNvPr id="95" name="모델 데이터 품질 검증에"/>
          <p:cNvSpPr txBox="1"/>
          <p:nvPr/>
        </p:nvSpPr>
        <p:spPr>
          <a:xfrm>
            <a:off x="8978900" y="4620716"/>
            <a:ext cx="1538980"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모델 데이터 품질 검증에</a:t>
            </a:r>
            <a:endParaRPr lang="en-US" sz="1300" dirty="0"/>
          </a:p>
        </p:txBody>
      </p:sp>
      <p:sp>
        <p:nvSpPr>
          <p:cNvPr id="96" name="바로 활용"/>
          <p:cNvSpPr txBox="1"/>
          <p:nvPr/>
        </p:nvSpPr>
        <p:spPr>
          <a:xfrm>
            <a:off x="8978900" y="4851797"/>
            <a:ext cx="625475"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바로 활용</a:t>
            </a:r>
            <a:endParaRPr lang="en-US" sz="1300" dirty="0"/>
          </a:p>
        </p:txBody>
      </p:sp>
      <p:sp>
        <p:nvSpPr>
          <p:cNvPr id="97"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98" name="도면 속 불완전한 정보를 정확한 3D 데이터로 잇는 경험으로,"/>
          <p:cNvSpPr txBox="1"/>
          <p:nvPr/>
        </p:nvSpPr>
        <p:spPr>
          <a:xfrm>
            <a:off x="1854994" y="5755680"/>
            <a:ext cx="4027136"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도면 속 불완전한 정보를 </a:t>
            </a:r>
            <a:pPr algn="l" indent="0" marL="0">
              <a:buNone/>
            </a:pPr>
            <a:r>
              <a:rPr lang="ko-KR" altLang="en-US" sz="1350" b="1" spc="-47" kern="0" dirty="0">
                <a:solidFill>
                  <a:srgbClr val="FFB3C1"/>
                </a:solidFill>
                <a:latin typeface="Pretendard" pitchFamily="34" charset="0"/>
                <a:ea typeface="Pretendard" pitchFamily="34" charset="-127"/>
                <a:cs typeface="Pretendard" pitchFamily="34" charset="-120"/>
              </a:rPr>
              <a:t>정확한 3D 데이터</a:t>
            </a:r>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로 잇는 경험으로,</a:t>
            </a:r>
            <a:endParaRPr lang="en-US" sz="1350" dirty="0"/>
          </a:p>
        </p:txBody>
      </p:sp>
      <p:sp>
        <p:nvSpPr>
          <p:cNvPr id="99" name="SK하이닉스 Virtual FAB의 데이터 품질을 높이겠습니다."/>
          <p:cNvSpPr txBox="1"/>
          <p:nvPr/>
        </p:nvSpPr>
        <p:spPr>
          <a:xfrm>
            <a:off x="1854994" y="5995690"/>
            <a:ext cx="3852025"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SK하이닉스 Virtual FAB의 데이터 품질을 높이겠습니다.</a:t>
            </a:r>
            <a:endParaRPr lang="en-US" sz="1350" dirty="0"/>
          </a:p>
        </p:txBody>
      </p:sp>
      <p:sp>
        <p:nvSpPr>
          <p:cNvPr id="100" name="석사 연구 발표  ·  평면도와 입면도 객체 인식 및 정보 통합을 통한 "/>
          <p:cNvSpPr txBox="1"/>
          <p:nvPr/>
        </p:nvSpPr>
        <p:spPr>
          <a:xfrm>
            <a:off x="609600" y="6472238"/>
            <a:ext cx="339484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a:t>
            </a:r>
            <a:endParaRPr lang="en-US" sz="750" dirty="0"/>
          </a:p>
        </p:txBody>
      </p:sp>
      <p:sp>
        <p:nvSpPr>
          <p:cNvPr id="101" name="11 / 12"/>
          <p:cNvSpPr txBox="1"/>
          <p:nvPr/>
        </p:nvSpPr>
        <p:spPr>
          <a:xfrm>
            <a:off x="11270754" y="6472238"/>
            <a:ext cx="362446"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11</a:t>
            </a:r>
            <a:pPr algn="l" indent="0" marL="0">
              <a:buNone/>
            </a:pPr>
            <a:r>
              <a:rPr lang="ko-KR" altLang="en-US" sz="750" spc="45" kern="0" dirty="0">
                <a:solidFill>
                  <a:srgbClr val="737C8B"/>
                </a:solidFill>
                <a:latin typeface="Pretendard SemiBold" pitchFamily="34" charset="0"/>
                <a:ea typeface="Pretendard SemiBold" pitchFamily="34" charset="-127"/>
                <a:cs typeface="Pretendard SemiBold" pitchFamily="34" charset="-120"/>
              </a:rPr>
              <a:t>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body::before"/>
          <p:cNvSpPr/>
          <p:nvPr/>
        </p:nvSpPr>
        <p:spPr>
          <a:xfrm>
            <a:off x="7112000" y="0"/>
            <a:ext cx="5080000" cy="6858000"/>
          </a:xfrm>
          <a:prstGeom prst="rect">
            <a:avLst/>
          </a:prstGeom>
          <a:gradFill rotWithShape="1">
            <a:gsLst>
              <a:gs pos="0">
                <a:srgbClr val="F5F7FA"/>
              </a:gs>
              <a:gs pos="100000">
                <a:srgbClr val="E6ECF4"/>
              </a:gs>
            </a:gsLst>
            <a:lin ang="5400000" scaled="0"/>
          </a:gradFill>
          <a:ln>
            <a:noFill/>
          </a:ln>
        </p:spPr>
        <p:txBody>
          <a:bodyPr rtlCol="0" anchor="ctr"/>
          <a:lstStyle/>
          <a:p>
            <a:pPr algn="ctr"/>
            <a:endParaRPr lang="ko-KR" dirty="0"/>
          </a:p>
        </p:txBody>
      </p:sp>
      <p:sp>
        <p:nvSpPr>
          <p:cNvPr id="4" name="i"/>
          <p:cNvSpPr/>
          <p:nvPr/>
        </p:nvSpPr>
        <p:spPr>
          <a:xfrm>
            <a:off x="609600" y="615950"/>
            <a:ext cx="177800" cy="25400"/>
          </a:xfrm>
          <a:prstGeom prst="roundRect">
            <a:avLst>
              <a:gd name="adj" fmla="val 50000"/>
            </a:avLst>
          </a:prstGeom>
          <a:solidFill>
            <a:srgbClr val="EA002C"/>
          </a:solidFill>
          <a:ln>
            <a:noFill/>
          </a:ln>
        </p:spPr>
        <p:txBody>
          <a:bodyPr rtlCol="0" anchor="ctr"/>
          <a:lstStyle/>
          <a:p>
            <a:pPr algn="ctr"/>
            <a:endParaRPr lang="ko-KR" dirty="0"/>
          </a:p>
        </p:txBody>
      </p:sp>
      <p:sp>
        <p:nvSpPr>
          <p:cNvPr id="5" name="i"/>
          <p:cNvSpPr/>
          <p:nvPr/>
        </p:nvSpPr>
        <p:spPr>
          <a:xfrm>
            <a:off x="609600" y="3746202"/>
            <a:ext cx="254000" cy="25400"/>
          </a:xfrm>
          <a:prstGeom prst="roundRect">
            <a:avLst>
              <a:gd name="adj" fmla="val 50000"/>
            </a:avLst>
          </a:prstGeom>
          <a:solidFill>
            <a:srgbClr val="EA002C"/>
          </a:solidFill>
          <a:ln>
            <a:noFill/>
          </a:ln>
        </p:spPr>
        <p:txBody>
          <a:bodyPr rtlCol="0" anchor="ctr"/>
          <a:lstStyle/>
          <a:p>
            <a:pPr algn="ctr"/>
            <a:endParaRPr lang="ko-KR" dirty="0"/>
          </a:p>
        </p:txBody>
      </p:sp>
      <p:sp>
        <p:nvSpPr>
          <p:cNvPr id="6" name="s12-meta 선"/>
          <p:cNvSpPr/>
          <p:nvPr/>
        </p:nvSpPr>
        <p:spPr>
          <a:xfrm>
            <a:off x="612775" y="5781080"/>
            <a:ext cx="5734050" cy="1"/>
          </a:xfrm>
          <a:custGeom>
            <a:avLst/>
            <a:gdLst/>
            <a:ahLst/>
            <a:cxnLst/>
            <a:rect l="0" t="0" r="r" b="b"/>
            <a:pathLst>
              <a:path w="5734050" h="1" fill="none">
                <a:moveTo>
                  <a:pt x="0" y="0"/>
                </a:moveTo>
                <a:lnTo>
                  <a:pt x="5734050" y="0"/>
                </a:lnTo>
              </a:path>
            </a:pathLst>
          </a:custGeom>
          <a:noFill/>
          <a:ln w="6350">
            <a:solidFill>
              <a:srgbClr val="E1E5EB"/>
            </a:solidFill>
            <a:round/>
          </a:ln>
        </p:spPr>
        <p:txBody>
          <a:bodyPr rtlCol="0" anchor="ctr"/>
          <a:lstStyle/>
          <a:p>
            <a:pPr algn="ctr"/>
            <a:endParaRPr lang="ko-KR" dirty="0"/>
          </a:p>
        </p:txBody>
      </p:sp>
      <p:sp>
        <p:nvSpPr>
          <p:cNvPr id="7" name="div 선"/>
          <p:cNvSpPr/>
          <p:nvPr/>
        </p:nvSpPr>
        <p:spPr>
          <a:xfrm>
            <a:off x="2430661"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sp>
        <p:nvSpPr>
          <p:cNvPr id="8" name="div 선"/>
          <p:cNvSpPr/>
          <p:nvPr/>
        </p:nvSpPr>
        <p:spPr>
          <a:xfrm>
            <a:off x="3749278"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pic>
        <p:nvPicPr>
          <p:cNvPr id="9" name="s12-logo" descr="s12-logo">    </p:cNvPr>
          <p:cNvPicPr>
            <a:picLocks noChangeAspect="1"/>
          </p:cNvPicPr>
          <p:nvPr/>
        </p:nvPicPr>
        <p:blipFill>
          <a:blip r:embed="rId1"/>
          <a:stretch>
            <a:fillRect/>
          </a:stretch>
        </p:blipFill>
        <p:spPr>
          <a:xfrm>
            <a:off x="10733617" y="412750"/>
            <a:ext cx="802217" cy="423333"/>
          </a:xfrm>
          <a:prstGeom prst="rect">
            <a:avLst/>
          </a:prstGeom>
        </p:spPr>
      </p:pic>
      <p:sp>
        <p:nvSpPr>
          <p:cNvPr id="10" name="s12-card"/>
          <p:cNvSpPr/>
          <p:nvPr/>
        </p:nvSpPr>
        <p:spPr>
          <a:xfrm>
            <a:off x="7416800" y="1803400"/>
            <a:ext cx="4165600" cy="3219053"/>
          </a:xfrm>
          <a:prstGeom prst="roundRect">
            <a:avLst>
              <a:gd name="adj" fmla="val 3945"/>
            </a:avLst>
          </a:prstGeom>
          <a:solidFill>
            <a:srgbClr val="FFFFFF"/>
          </a:solidFill>
          <a:ln>
            <a:noFill/>
          </a:ln>
          <a:effectLst>
            <a:outerShdw blurRad="355600" dist="152400" dir="5400000" algn="ctr" rotWithShape="0">
              <a:srgbClr val="102A4C">
                <a:alpha val="14000"/>
              </a:srgbClr>
            </a:outerShdw>
          </a:effectLst>
        </p:spPr>
        <p:txBody>
          <a:bodyPr rtlCol="0" anchor="ctr"/>
          <a:lstStyle/>
          <a:p>
            <a:pPr algn="ctr"/>
            <a:endParaRPr lang="ko-KR" dirty="0"/>
          </a:p>
        </p:txBody>
      </p:sp>
      <p:pic>
        <p:nvPicPr>
          <p:cNvPr id="11" name="img" descr="img">    </p:cNvPr>
          <p:cNvPicPr>
            <a:picLocks noChangeAspect="1"/>
          </p:cNvPicPr>
          <p:nvPr/>
        </p:nvPicPr>
        <p:blipFill>
          <a:blip r:embed="rId2"/>
          <a:stretch>
            <a:fillRect/>
          </a:stretch>
        </p:blipFill>
        <p:spPr>
          <a:xfrm>
            <a:off x="7594600" y="1930400"/>
            <a:ext cx="3810000" cy="1803400"/>
          </a:xfrm>
          <a:prstGeom prst="rect">
            <a:avLst/>
          </a:prstGeom>
        </p:spPr>
      </p:pic>
      <p:sp>
        <p:nvSpPr>
          <p:cNvPr id="12" name="i"/>
          <p:cNvSpPr/>
          <p:nvPr/>
        </p:nvSpPr>
        <p:spPr>
          <a:xfrm>
            <a:off x="7620000" y="3902670"/>
            <a:ext cx="63500" cy="63500"/>
          </a:xfrm>
          <a:prstGeom prst="ellipse">
            <a:avLst/>
          </a:prstGeom>
          <a:solidFill>
            <a:srgbClr val="EA002C"/>
          </a:solidFill>
          <a:ln>
            <a:noFill/>
          </a:ln>
        </p:spPr>
        <p:txBody>
          <a:bodyPr rtlCol="0" anchor="ctr"/>
          <a:lstStyle/>
          <a:p>
            <a:pPr algn="ctr"/>
            <a:endParaRPr lang="ko-KR" dirty="0"/>
          </a:p>
        </p:txBody>
      </p:sp>
      <p:sp>
        <p:nvSpPr>
          <p:cNvPr id="13" name="석사 연구 발표"/>
          <p:cNvSpPr txBox="1"/>
          <p:nvPr/>
        </p:nvSpPr>
        <p:spPr>
          <a:xfrm>
            <a:off x="876300" y="553839"/>
            <a:ext cx="7513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석사 연구 발표</a:t>
            </a:r>
            <a:endParaRPr lang="en-US" sz="950" dirty="0"/>
          </a:p>
        </p:txBody>
      </p:sp>
      <p:sp>
        <p:nvSpPr>
          <p:cNvPr id="14" name="감사합니다"/>
          <p:cNvSpPr txBox="1"/>
          <p:nvPr/>
        </p:nvSpPr>
        <p:spPr>
          <a:xfrm>
            <a:off x="609600" y="2539702"/>
            <a:ext cx="3369286" cy="908050"/>
          </a:xfrm>
          <a:prstGeom prst="rect">
            <a:avLst/>
          </a:prstGeom>
          <a:noFill/>
          <a:ln/>
        </p:spPr>
        <p:txBody>
          <a:bodyPr wrap="none" lIns="0" tIns="0" rIns="0" bIns="0" rtlCol="0" anchor="ctr"/>
          <a:lstStyle/>
          <a:p>
            <a:pPr algn="l" indent="0" marL="0">
              <a:buNone/>
            </a:pPr>
            <a:r>
              <a:rPr lang="ko-KR" altLang="en-US" sz="6000" spc="-180" kern="0" dirty="0">
                <a:solidFill>
                  <a:srgbClr val="102A4C"/>
                </a:solidFill>
                <a:latin typeface="Pretendard ExtraBold" pitchFamily="34" charset="0"/>
                <a:ea typeface="Pretendard ExtraBold" pitchFamily="34" charset="-127"/>
                <a:cs typeface="Pretendard ExtraBold" pitchFamily="34" charset="-120"/>
              </a:rPr>
              <a:t>감사합니다</a:t>
            </a:r>
            <a:endParaRPr lang="en-US" sz="6000" dirty="0"/>
          </a:p>
        </p:txBody>
      </p:sp>
      <p:sp>
        <p:nvSpPr>
          <p:cNvPr id="15" name="Q&amp;A"/>
          <p:cNvSpPr txBox="1"/>
          <p:nvPr/>
        </p:nvSpPr>
        <p:spPr>
          <a:xfrm>
            <a:off x="990600" y="3606502"/>
            <a:ext cx="574080" cy="304800"/>
          </a:xfrm>
          <a:prstGeom prst="rect">
            <a:avLst/>
          </a:prstGeom>
          <a:noFill/>
          <a:ln/>
        </p:spPr>
        <p:txBody>
          <a:bodyPr wrap="none" lIns="0" tIns="0" rIns="0" bIns="0" rtlCol="0" anchor="ctr"/>
          <a:lstStyle/>
          <a:p>
            <a:pPr algn="l" indent="0" marL="0">
              <a:buNone/>
            </a:pPr>
            <a:r>
              <a:rPr lang="ko-KR" altLang="en-US" sz="2000" b="1" spc="-40" kern="0" dirty="0">
                <a:solidFill>
                  <a:srgbClr val="3F4654"/>
                </a:solidFill>
                <a:latin typeface="Pretendard" pitchFamily="34" charset="0"/>
                <a:ea typeface="Pretendard" pitchFamily="34" charset="-127"/>
                <a:cs typeface="Pretendard" pitchFamily="34" charset="-120"/>
              </a:rPr>
              <a:t>Q&amp;A</a:t>
            </a:r>
            <a:endParaRPr lang="en-US" sz="2000" dirty="0"/>
          </a:p>
        </p:txBody>
      </p:sp>
      <p:sp>
        <p:nvSpPr>
          <p:cNvPr id="16" name="지원 직무"/>
          <p:cNvSpPr txBox="1"/>
          <p:nvPr/>
        </p:nvSpPr>
        <p:spPr>
          <a:xfrm>
            <a:off x="609600" y="5949355"/>
            <a:ext cx="435670"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 직무</a:t>
            </a:r>
            <a:endParaRPr lang="en-US" sz="800" dirty="0"/>
          </a:p>
        </p:txBody>
      </p:sp>
      <p:sp>
        <p:nvSpPr>
          <p:cNvPr id="17" name="Utility 기술 (건축, BIM/5D)"/>
          <p:cNvSpPr txBox="1"/>
          <p:nvPr/>
        </p:nvSpPr>
        <p:spPr>
          <a:xfrm>
            <a:off x="609600" y="6134695"/>
            <a:ext cx="1657719"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Utility 기술 (건축, BIM/5D)</a:t>
            </a:r>
            <a:endParaRPr lang="en-US" sz="1100" dirty="0"/>
          </a:p>
        </p:txBody>
      </p:sp>
      <p:sp>
        <p:nvSpPr>
          <p:cNvPr id="18" name="발표일"/>
          <p:cNvSpPr txBox="1"/>
          <p:nvPr/>
        </p:nvSpPr>
        <p:spPr>
          <a:xfrm>
            <a:off x="2687836"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발표일</a:t>
            </a:r>
            <a:endParaRPr lang="en-US" sz="800" dirty="0"/>
          </a:p>
        </p:txBody>
      </p:sp>
      <p:sp>
        <p:nvSpPr>
          <p:cNvPr id="19" name="2026. 12. 3."/>
          <p:cNvSpPr txBox="1"/>
          <p:nvPr/>
        </p:nvSpPr>
        <p:spPr>
          <a:xfrm>
            <a:off x="2687836" y="6134695"/>
            <a:ext cx="855067"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2026. 12. 3.</a:t>
            </a:r>
            <a:endParaRPr lang="en-US" sz="1100" dirty="0"/>
          </a:p>
        </p:txBody>
      </p:sp>
      <p:sp>
        <p:nvSpPr>
          <p:cNvPr id="20" name="지원자"/>
          <p:cNvSpPr txBox="1"/>
          <p:nvPr/>
        </p:nvSpPr>
        <p:spPr>
          <a:xfrm>
            <a:off x="4006453"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지원자</a:t>
            </a:r>
            <a:endParaRPr lang="en-US" sz="800" dirty="0"/>
          </a:p>
        </p:txBody>
      </p:sp>
      <p:sp>
        <p:nvSpPr>
          <p:cNvPr id="21" name="○○○"/>
          <p:cNvSpPr txBox="1"/>
          <p:nvPr/>
        </p:nvSpPr>
        <p:spPr>
          <a:xfrm>
            <a:off x="4006453" y="6134695"/>
            <a:ext cx="421184"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a:t>
            </a:r>
            <a:endParaRPr lang="en-US" sz="1100" dirty="0"/>
          </a:p>
        </p:txBody>
      </p:sp>
      <p:sp>
        <p:nvSpPr>
          <p:cNvPr id="22" name="게재 논문"/>
          <p:cNvSpPr txBox="1"/>
          <p:nvPr/>
        </p:nvSpPr>
        <p:spPr>
          <a:xfrm>
            <a:off x="7747000" y="3873500"/>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102A4C"/>
                </a:solidFill>
                <a:latin typeface="Pretendard" pitchFamily="34" charset="0"/>
                <a:ea typeface="Pretendard" pitchFamily="34" charset="-127"/>
                <a:cs typeface="Pretendard" pitchFamily="34" charset="-120"/>
              </a:rPr>
              <a:t>게재 논문</a:t>
            </a:r>
            <a:endParaRPr lang="en-US" sz="800" dirty="0"/>
          </a:p>
        </p:txBody>
      </p:sp>
      <p:sp>
        <p:nvSpPr>
          <p:cNvPr id="23" name="Lee, H., Jang, S., Lee, J., Jeong, H. D."/>
          <p:cNvSpPr txBox="1"/>
          <p:nvPr/>
        </p:nvSpPr>
        <p:spPr>
          <a:xfrm>
            <a:off x="7620000" y="4090591"/>
            <a:ext cx="3751165" cy="146050"/>
          </a:xfrm>
          <a:prstGeom prst="rect">
            <a:avLst/>
          </a:prstGeom>
          <a:noFill/>
          <a:ln/>
        </p:spPr>
        <p:txBody>
          <a:bodyPr wrap="none" lIns="0" tIns="0" rIns="0" bIns="0" rtlCol="0" anchor="ctr"/>
          <a:lstStyle/>
          <a:p>
            <a:pPr algn="l" indent="0" marL="0">
              <a:buNone/>
            </a:pPr>
            <a:r>
              <a:rPr lang="ko-KR" altLang="en-US" sz="950" spc="-10" kern="0" dirty="0">
                <a:solidFill>
                  <a:srgbClr val="3F4654"/>
                </a:solidFill>
                <a:latin typeface="Pretendard Medium" pitchFamily="34" charset="0"/>
                <a:ea typeface="Pretendard Medium" pitchFamily="34" charset="-127"/>
                <a:cs typeface="Pretendard Medium" pitchFamily="34" charset="-120"/>
              </a:rPr>
              <a:t>Lee, H., Jang, S., Lee, J., Jeong, H. D., &amp; Lee, G. (2026). Automated</a:t>
            </a:r>
            <a:endParaRPr lang="en-US" sz="950" dirty="0"/>
          </a:p>
        </p:txBody>
      </p:sp>
      <p:sp>
        <p:nvSpPr>
          <p:cNvPr id="24" name="BIM generation from inconsistent multi-v"/>
          <p:cNvSpPr txBox="1"/>
          <p:nvPr/>
        </p:nvSpPr>
        <p:spPr>
          <a:xfrm>
            <a:off x="7620000" y="4277519"/>
            <a:ext cx="3625380" cy="146050"/>
          </a:xfrm>
          <a:prstGeom prst="rect">
            <a:avLst/>
          </a:prstGeom>
          <a:noFill/>
          <a:ln/>
        </p:spPr>
        <p:txBody>
          <a:bodyPr wrap="none" lIns="0" tIns="0" rIns="0" bIns="0" rtlCol="0" anchor="ctr"/>
          <a:lstStyle/>
          <a:p>
            <a:pPr algn="l" indent="0" marL="0">
              <a:buNone/>
            </a:pPr>
            <a:r>
              <a:rPr lang="ko-KR" altLang="en-US" sz="950" spc="-10" kern="0" dirty="0">
                <a:solidFill>
                  <a:srgbClr val="3F4654"/>
                </a:solidFill>
                <a:latin typeface="Pretendard Medium" pitchFamily="34" charset="0"/>
                <a:ea typeface="Pretendard Medium" pitchFamily="34" charset="-127"/>
                <a:cs typeface="Pretendard Medium" pitchFamily="34" charset="-120"/>
              </a:rPr>
              <a:t>BIM generation from inconsistent multi-view raster architectural</a:t>
            </a:r>
            <a:endParaRPr lang="en-US" sz="950" dirty="0"/>
          </a:p>
        </p:txBody>
      </p:sp>
      <p:sp>
        <p:nvSpPr>
          <p:cNvPr id="25" name="drawings with missing dimensions."/>
          <p:cNvSpPr txBox="1"/>
          <p:nvPr/>
        </p:nvSpPr>
        <p:spPr>
          <a:xfrm>
            <a:off x="7620000" y="4464447"/>
            <a:ext cx="1981859" cy="146050"/>
          </a:xfrm>
          <a:prstGeom prst="rect">
            <a:avLst/>
          </a:prstGeom>
          <a:noFill/>
          <a:ln/>
        </p:spPr>
        <p:txBody>
          <a:bodyPr wrap="none" lIns="0" tIns="0" rIns="0" bIns="0" rtlCol="0" anchor="ctr"/>
          <a:lstStyle/>
          <a:p>
            <a:pPr algn="l" indent="0" marL="0">
              <a:buNone/>
            </a:pPr>
            <a:r>
              <a:rPr lang="ko-KR" altLang="en-US" sz="950" spc="-10" kern="0" dirty="0">
                <a:solidFill>
                  <a:srgbClr val="3F4654"/>
                </a:solidFill>
                <a:latin typeface="Pretendard Medium" pitchFamily="34" charset="0"/>
                <a:ea typeface="Pretendard Medium" pitchFamily="34" charset="-127"/>
                <a:cs typeface="Pretendard Medium" pitchFamily="34" charset="-120"/>
              </a:rPr>
              <a:t>drawings with missing dimensions.</a:t>
            </a:r>
            <a:endParaRPr lang="en-US" sz="950" dirty="0"/>
          </a:p>
        </p:txBody>
      </p:sp>
      <p:sp>
        <p:nvSpPr>
          <p:cNvPr id="26" name="Automation in Construction, 187, 106971."/>
          <p:cNvSpPr txBox="1"/>
          <p:nvPr/>
        </p:nvSpPr>
        <p:spPr>
          <a:xfrm>
            <a:off x="7620000" y="4651375"/>
            <a:ext cx="2385088" cy="146050"/>
          </a:xfrm>
          <a:prstGeom prst="rect">
            <a:avLst/>
          </a:prstGeom>
          <a:noFill/>
          <a:ln/>
        </p:spPr>
        <p:txBody>
          <a:bodyPr wrap="none" lIns="0" tIns="0" rIns="0" bIns="0" rtlCol="0" anchor="ctr"/>
          <a:lstStyle/>
          <a:p>
            <a:pPr algn="l" indent="0" marL="0">
              <a:buNone/>
            </a:pPr>
            <a:r>
              <a:rPr lang="ko-KR" altLang="en-US" sz="950" b="1" spc="-10" kern="0" dirty="0">
                <a:solidFill>
                  <a:srgbClr val="102A4C"/>
                </a:solidFill>
                <a:latin typeface="Pretendard" pitchFamily="34" charset="0"/>
                <a:ea typeface="Pretendard" pitchFamily="34" charset="-127"/>
                <a:cs typeface="Pretendard" pitchFamily="34" charset="-120"/>
              </a:rPr>
              <a:t>Automation in Construction</a:t>
            </a:r>
            <a:pPr algn="l" indent="0" marL="0">
              <a:buNone/>
            </a:pPr>
            <a:r>
              <a:rPr lang="ko-KR" altLang="en-US" sz="950" spc="-10" kern="0" dirty="0">
                <a:solidFill>
                  <a:srgbClr val="3F4654"/>
                </a:solidFill>
                <a:latin typeface="Pretendard Medium" pitchFamily="34" charset="0"/>
                <a:ea typeface="Pretendard Medium" pitchFamily="34" charset="-127"/>
                <a:cs typeface="Pretendard Medium" pitchFamily="34" charset="-120"/>
              </a:rPr>
              <a:t>, 187, 106971.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ExtraBold"/>
        <a:ea typeface="Pretendard Medium"/>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Medium"/>
        <a:ea typeface="Pretendard Medium"/>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BIM 자동 생성 연구</dc:title>
  <dc:subject>PptxGenJS Presentation</dc:subject>
  <dc:creator>PptxGenJS</dc:creator>
  <cp:lastModifiedBy>PptxGenJS</cp:lastModifiedBy>
  <cp:revision>1</cp:revision>
  <dcterms:created xsi:type="dcterms:W3CDTF">2026-10-29T11:44:13Z</dcterms:created>
  <dcterms:modified xsi:type="dcterms:W3CDTF">2026-10-29T11:44:13Z</dcterms:modified>
</cp:coreProperties>
</file>