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89227df2-25c3-04e3-d727-29c21778bd8f}">
          <p14:sldIdLst>
            <p14:sldId id="256"/>
            <p14:sldId id="257"/>
          </p14:sldIdLst>
        </p14:section>
        <p14:section name="01 훈련 배경" id="{df73fd41-96b7-bdac-b52f-3218d1678752}">
          <p14:sldIdLst>
            <p14:sldId id="258"/>
            <p14:sldId id="259"/>
            <p14:sldId id="260"/>
          </p14:sldIdLst>
        </p14:section>
        <p14:section name="02 훈련 계획" id="{be217e38-ea70-c326-e5dc-a11570bb0ae7}">
          <p14:sldIdLst>
            <p14:sldId id="261"/>
            <p14:sldId id="262"/>
            <p14:sldId id="263"/>
          </p14:sldIdLst>
        </p14:section>
        <p14:section name="03 현장 여건" id="{5feb3161-e5d3-3134-aea2-fcdceccccf3e}">
          <p14:sldIdLst>
            <p14:sldId id="264"/>
            <p14:sldId id="265"/>
          </p14:sldIdLst>
        </p14:section>
        <p14:section name="04 대응 및 복구" id="{61c5b9d9-d390-c649-5ae0-0d2522923eb3}">
          <p14:sldIdLst>
            <p14:sldId id="266"/>
            <p14:sldId id="267"/>
            <p14:sldId id="268"/>
          </p14:sldIdLst>
        </p14:section>
        <p14:section name="마무리" id="{a3e20fff-ff7b-8abd-4cc3-2554f114066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 재난대응 안전한국훈련 온석터널 훈련개요를 보고드리겠습니다. 오늘 훈련은 국도32호선 온석터널에서 위험물 누출과 화재가 함께 발생하는 복합재난을 가정한 유관기관 합동대응훈련입니다.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보고 순서입니다. 훈련 배경, 훈련 계획, 현장 여건, 그리고 대응 및 복구 순으로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훈련은 행정안전부 총괄 아래 재난 및 안전관리 기본법 제35조와 같은 법 시행령 제43조의14에 근거해 추진합니다. 2023년 충주, 2024년 보은, 2025년 논산에 이어 올해는 예산에서 추진하며, 복합재난 상황에서의 실전적 합동대응 역량 확보, 즉 현장 대응능력 강화가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터널은 폐쇄공간이라 시야와 대피가 제약되고, 사고 시 후속차량 정체가 빠르게 심화됩니다. 여기에 충남 산업단지와 서산 대산산단 여건상 화물차 사고 비율은 전국 3위, 위험물질 운송차량 사고는 전국 2위입니다. 도로관리청 단독 대응으로는 한계가 있어 유관기관 공조가 필수입니다.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7월 27일 서천IC 인근에서 약 1.63톤의 황산이 누출되는 사고가 있었습니다. 도로통제와 합동방제가 이뤄졌고 인근 주민 77명이 대피했습니다. 본 훈련은 가상의 벤젠 유출 상황을 설정해 이 실제 사고의 교훈을 반영했습니다.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훈련은 10월 22일 목요일 14시부터 16시까지 국도32호선 온석터널 서산방향에서 진행합니다. 1부 14시부터 15시까지는 현장 합동대응, 2부 15시 10분부터 16시까지는 강평과 기관 협업 개선을 논의하는 토론훈련입니다. 토론의제는 비상대응체계 가동, 유출 확대 시 주민보호, 재발방지 및 협업 개선 세 가지입니다.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시나리오는 졸음운전 화물차의 벽면 충돌로 시작해 탱크로리 추돌과 밸브 손상, 벤젠 20리터 누출 및 착화, 그리고 후방 초등학생 차량 고립으로 이어집니다. 가상 인명피해는 중상 운전자 2명, 연기흡입 경상 인솔자 3명, 대피 교사와 학생 23명입니다. 화학물질 누출과 화재가 동반된 연쇄적 생명 위협과 고립 상황이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훈련에는 11개 기관·단체, 약 90명, 장비 16대가 참여합니다. 국토부 3개 기관, 소방·경찰, 지자체·의료, 그리고 서산화학재난합동방재센터와 제20전비 화생방지원대, 성연초등학교, 주민평가단이 함께합니다. 기관 간 유기적 연계와 재난취약계층 보호에 중점을 두고, 대피구조·응급의료 협업과 학생 참여를 통해 대응역량을 강화하겠습니다.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온석터널은 2016년 준공된 단터널로, 서산방향 340미터, 당진방향 350미터입니다. 소화기는 방향별 14개씩 총 28개, CCTV는 방향별 3대씩 총 6대가 설치되어 있습니다. 조명을 60%에서 100%로 상향하고, CCTV 상시감시로 약 2분 내 초기 대응이 가능하도록 했습니다. 초기인지, 현장통제, 신속출동, 기관공조로 단터널의 현장 대응력을 강화하겠습니다.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교통통제는 온석교차로 진입램프를 차단하고, 우회 노선은 온석교차로에서 회전교차로(서령로)를 거쳐 일람교차로로 안내합니다. 부산교차로로 진입한 본선차량은 비상회차로를 활용해 교차 통행시킵니다. 우회와 교차통행을 병행하고, VMS와 내비게이션사를 통한 실시간 정보 제공으로 시민 불편을 최소화하겠습니다.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사고는 터널통합관리센터가 인지하고 즉시 방재설비 가동과 출동을 지시합니다. 동시에 경찰, 소방, ITS센터로 상황을 전파하고, 예산국토는 관계기관 협조를 요청하며 대전국토청은 상황판단과 지역사고수습본부 운영을 맡습니다. 초동 조치의 핵심은 동시다발적 상황 전파를 통한 골든타임 확보입니다.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경찰이 교통통제와 진입로를 확보하고, 소방은 화재진압·인명구조와 초기제독을 맡습니다. 서산화학방재센터는 물질 측정·분석과 영향범위를 판단하고, 서산시는 현장통합지원본부, 보건소는 현장응급의료소를 운영하며, 공군 제20전투비행단은 제독차량을 지원합니다. 단선적 조치가 아니라 각 기관의 전문성이 현장에서 동시에 맞물려 작동하는 병행 대응입니다.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상황이 종료되면 파손차량을 견인하고 시설을 복구한 뒤, 터널 구조와 시설물 안전점검을 거쳐 관계기관 협의 후 통행을 재개합니다. 훈련 중 도출된 개선사항은 행동 매뉴얼과 향후 후속조치에 즉각 반영하겠습니다.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온석터널 훈련개요 보고를 마칩니다. 훈련에 참여해주신 유관기관과 관계자 여러분께 감사드립니다.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247900"/>
            <a:ext cx="5334000" cy="1714500"/>
          </a:xfrm>
          <a:prstGeom prst="rect">
            <a:avLst/>
          </a:prstGeom>
          <a:noFill/>
          <a:ln/>
        </p:spPr>
        <p:txBody>
          <a:bodyPr wrap="square" rtlCol="0"/>
          <a:lstStyle>
            <a:lvl1pPr algn="l" indent="0" marL="0">
              <a:lnSpc>
                <a:spcPct val="97600"/>
              </a:lnSpc>
              <a:buNone/>
              <a:defRPr lang="en-US" sz="5400" spc="-100" kern="0" dirty="0">
                <a:solidFill>
                  <a:schemeClr val="bg1"/>
                </a:solidFill>
                <a:latin typeface="Paperlogy 9 Black" pitchFamily="34" charset="0"/>
                <a:ea typeface="Paperlogy 9 Black" pitchFamily="34" charset="-127"/>
                <a:cs typeface="Paperlogy 9 Black" pitchFamily="34" charset="-120"/>
              </a:defRPr>
            </a:lvl1pPr>
          </a:lstStyle>
          <a:p>
            <a:pPr algn="l" indent="0" marL="0">
              <a:lnSpc>
                <a:spcPct val="976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571750"/>
            <a:ext cx="4953000" cy="914400"/>
          </a:xfrm>
          <a:prstGeom prst="rect">
            <a:avLst/>
          </a:prstGeom>
          <a:noFill/>
          <a:ln/>
        </p:spPr>
        <p:txBody>
          <a:bodyPr wrap="square" rtlCol="0"/>
          <a:lstStyle>
            <a:lvl1pPr algn="l" indent="0" marL="0">
              <a:lnSpc>
                <a:spcPct val="97600"/>
              </a:lnSpc>
              <a:buNone/>
              <a:defRPr lang="en-US" sz="6000" spc="-100" kern="0" dirty="0">
                <a:solidFill>
                  <a:schemeClr val="bg1"/>
                </a:solidFill>
                <a:latin typeface="Paperlogy 9 Black" pitchFamily="34" charset="0"/>
                <a:ea typeface="Paperlogy 9 Black" pitchFamily="34" charset="-127"/>
                <a:cs typeface="Paperlogy 9 Black" pitchFamily="34" charset="-120"/>
              </a:defRPr>
            </a:lvl1pPr>
          </a:lstStyle>
          <a:p>
            <a:pPr algn="l" indent="0" marL="0">
              <a:lnSpc>
                <a:spcPct val="97600"/>
              </a:lnSpc>
              <a:buNone/>
            </a:pP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85800" y="6438900"/>
            <a:ext cx="6667500" cy="190500"/>
          </a:xfrm>
          <a:prstGeom prst="rect">
            <a:avLst/>
          </a:prstGeom>
          <a:noFill/>
          <a:ln/>
        </p:spPr>
        <p:txBody>
          <a:bodyPr wrap="square" lIns="0" tIns="0" rIns="0" bIns="0" rtlCol="0" anchor="ctr"/>
          <a:lstStyle/>
          <a:p>
            <a:pPr algn="l" indent="0" marL="0">
              <a:lnSpc>
                <a:spcPct val="101900"/>
              </a:lnSpc>
              <a:buNone/>
            </a:pPr>
            <a:r>
              <a:rPr lang="ko-KR" altLang="en-US" sz="1000" dirty="0">
                <a:solidFill>
                  <a:schemeClr val="accent5"/>
                </a:solidFill>
                <a:latin typeface="Paperlogy 4 Regular" pitchFamily="34" charset="0"/>
                <a:ea typeface="Paperlogy 4 Regular" pitchFamily="34" charset="-127"/>
                <a:cs typeface="Paperlogy 4 Regular" pitchFamily="34" charset="-120"/>
              </a:rPr>
              <a:t>2026 재난대응 안전한국훈련  |  온석터널 훈련개요 브리핑</a:t>
            </a:r>
            <a:endParaRPr lang="ko-KR" sz="1000" dirty="0"/>
          </a:p>
        </p:txBody>
      </p:sp>
      <p:sp>
        <p:nvSpPr>
          <p:cNvPr id="3" name="Text 1"/>
          <p:cNvSpPr/>
          <p:nvPr>
            <p:ph idx="101" type="title" hasCustomPrompt="1"/>
          </p:nvPr>
        </p:nvSpPr>
        <p:spPr>
          <a:xfrm>
            <a:off x="685800" y="1447800"/>
            <a:ext cx="3619500" cy="666750"/>
          </a:xfrm>
          <a:prstGeom prst="rect">
            <a:avLst/>
          </a:prstGeom>
          <a:noFill/>
          <a:ln/>
        </p:spPr>
        <p:txBody>
          <a:bodyPr wrap="square" rtlCol="0"/>
          <a:lstStyle>
            <a:lvl1pPr algn="l" indent="0" marL="0">
              <a:lnSpc>
                <a:spcPct val="97600"/>
              </a:lnSpc>
              <a:buNone/>
              <a:defRPr lang="en-US" sz="4400" spc="-50" kern="0" dirty="0">
                <a:solidFill>
                  <a:schemeClr val="tx2"/>
                </a:solidFill>
                <a:latin typeface="Paperlogy 8 ExtraBold" pitchFamily="34" charset="0"/>
                <a:ea typeface="Paperlogy 8 ExtraBold" pitchFamily="34" charset="-127"/>
                <a:cs typeface="Paperlogy 8 ExtraBold" pitchFamily="34" charset="-120"/>
              </a:defRPr>
            </a:lvl1pPr>
          </a:lstStyle>
          <a:p>
            <a:pPr algn="l" indent="0" marL="0">
              <a:lnSpc>
                <a:spcPct val="97600"/>
              </a:lnSpc>
              <a:buNone/>
            </a:pPr>
            <a:endParaRPr lang="en-US" sz="4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85800" y="6438900"/>
            <a:ext cx="6667500" cy="190500"/>
          </a:xfrm>
          <a:prstGeom prst="rect">
            <a:avLst/>
          </a:prstGeom>
          <a:noFill/>
          <a:ln/>
        </p:spPr>
        <p:txBody>
          <a:bodyPr wrap="square" lIns="0" tIns="0" rIns="0" bIns="0" rtlCol="0" anchor="ctr"/>
          <a:lstStyle/>
          <a:p>
            <a:pPr algn="l" indent="0" marL="0">
              <a:lnSpc>
                <a:spcPct val="101900"/>
              </a:lnSpc>
              <a:buNone/>
            </a:pPr>
            <a:r>
              <a:rPr lang="ko-KR" altLang="en-US" sz="1000" dirty="0">
                <a:solidFill>
                  <a:schemeClr val="accent5"/>
                </a:solidFill>
                <a:latin typeface="Paperlogy 4 Regular" pitchFamily="34" charset="0"/>
                <a:ea typeface="Paperlogy 4 Regular" pitchFamily="34" charset="-127"/>
                <a:cs typeface="Paperlogy 4 Regular" pitchFamily="34" charset="-120"/>
              </a:rPr>
              <a:t>2026 재난대응 안전한국훈련  |  온석터널 훈련개요 브리핑</a:t>
            </a:r>
            <a:endParaRPr lang="ko-KR" sz="1000" dirty="0"/>
          </a:p>
        </p:txBody>
      </p:sp>
      <p:sp>
        <p:nvSpPr>
          <p:cNvPr id="3" name="Text 1"/>
          <p:cNvSpPr/>
          <p:nvPr>
            <p:ph idx="101" type="title" hasCustomPrompt="1"/>
          </p:nvPr>
        </p:nvSpPr>
        <p:spPr>
          <a:xfrm>
            <a:off x="685800" y="666750"/>
            <a:ext cx="10820400" cy="495300"/>
          </a:xfrm>
          <a:prstGeom prst="rect">
            <a:avLst/>
          </a:prstGeom>
          <a:noFill/>
          <a:ln/>
        </p:spPr>
        <p:txBody>
          <a:bodyPr wrap="square" rtlCol="0"/>
          <a:lstStyle>
            <a:lvl1pPr algn="l" indent="0" marL="0">
              <a:lnSpc>
                <a:spcPct val="101900"/>
              </a:lnSpc>
              <a:buNone/>
              <a:defRPr lang="en-US" sz="3000" spc="-50" kern="0" dirty="0">
                <a:solidFill>
                  <a:schemeClr val="tx2"/>
                </a:solidFill>
                <a:latin typeface="Paperlogy 8 ExtraBold" pitchFamily="34" charset="0"/>
                <a:ea typeface="Paperlogy 8 ExtraBold" pitchFamily="34" charset="-127"/>
                <a:cs typeface="Paperlogy 8 ExtraBold" pitchFamily="34" charset="-120"/>
              </a:defRPr>
            </a:lvl1pPr>
          </a:lstStyle>
          <a:p>
            <a:pPr algn="l" indent="0" marL="0">
              <a:lnSpc>
                <a:spcPct val="101900"/>
              </a:lnSpc>
              <a:buNone/>
            </a:pPr>
            <a:endParaRPr lang="en-US" sz="3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5.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5.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5.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5.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5.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5.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5.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5.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5.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5.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5.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85800" y="2247900"/>
            <a:ext cx="5334000" cy="1714500"/>
          </a:xfrm>
          <a:prstGeom prst="rect">
            <a:avLst/>
          </a:prstGeom>
          <a:noFill/>
          <a:ln/>
        </p:spPr>
        <p:txBody>
          <a:bodyPr wrap="square" lIns="0" tIns="0" rIns="0" bIns="0" rtlCol="0" anchor="t"/>
          <a:lstStyle/>
          <a:p>
            <a:pPr algn="l" indent="0" marL="0">
              <a:lnSpc>
                <a:spcPct val="97600"/>
              </a:lnSpc>
              <a:buNone/>
            </a:pPr>
            <a:r>
              <a:rPr lang="ko-KR" altLang="en-US" sz="5400" spc="-100" kern="0" dirty="0">
                <a:solidFill>
                  <a:schemeClr val="bg1"/>
                </a:solidFill>
                <a:latin typeface="Paperlogy 9 Black" pitchFamily="34" charset="0"/>
                <a:ea typeface="Paperlogy 9 Black" pitchFamily="34" charset="-127"/>
                <a:cs typeface="Paperlogy 9 Black" pitchFamily="34" charset="-120"/>
              </a:rPr>
              <a:t>온석터널</a:t>
            </a:r>
            <a:endParaRPr lang="en-US" sz="5400" dirty="0"/>
          </a:p>
          <a:p>
            <a:pPr algn="l" indent="0" marL="0">
              <a:lnSpc>
                <a:spcPct val="97600"/>
              </a:lnSpc>
              <a:buNone/>
            </a:pPr>
            <a:r>
              <a:rPr lang="ko-KR" altLang="en-US" sz="5400" spc="-100" kern="0" dirty="0">
                <a:solidFill>
                  <a:schemeClr val="bg1"/>
                </a:solidFill>
                <a:latin typeface="Paperlogy 9 Black" pitchFamily="34" charset="0"/>
                <a:ea typeface="Paperlogy 9 Black" pitchFamily="34" charset="-127"/>
                <a:cs typeface="Paperlogy 9 Black" pitchFamily="34" charset="-120"/>
              </a:rPr>
              <a:t>훈련개요 브리핑</a:t>
            </a:r>
            <a:endParaRPr lang="en-US" sz="5400" dirty="0"/>
          </a:p>
        </p:txBody>
      </p:sp>
      <p:pic>
        <p:nvPicPr>
          <p:cNvPr id="3" name="Tunnel artwork" descr="">    </p:cNvPr>
          <p:cNvPicPr>
            <a:picLocks noChangeAspect="1"/>
          </p:cNvPicPr>
          <p:nvPr/>
        </p:nvPicPr>
        <p:blipFill>
          <a:blip r:embed="rId1"/>
          <a:stretch>
            <a:fillRect/>
          </a:stretch>
        </p:blipFill>
        <p:spPr>
          <a:xfrm>
            <a:off x="5334000" y="0"/>
            <a:ext cx="6858000" cy="6858000"/>
          </a:xfrm>
          <a:prstGeom prst="rect">
            <a:avLst/>
          </a:prstGeom>
        </p:spPr>
      </p:pic>
      <p:pic>
        <p:nvPicPr>
          <p:cNvPr id="4" name="Image 1" descr="">    </p:cNvPr>
          <p:cNvPicPr>
            <a:picLocks noChangeAspect="1"/>
          </p:cNvPicPr>
          <p:nvPr/>
        </p:nvPicPr>
        <p:blipFill>
          <a:blip r:embed="rId2"/>
          <a:stretch>
            <a:fillRect/>
          </a:stretch>
        </p:blipFill>
        <p:spPr>
          <a:xfrm>
            <a:off x="685800" y="1895475"/>
            <a:ext cx="190500" cy="190500"/>
          </a:xfrm>
          <a:prstGeom prst="rect">
            <a:avLst/>
          </a:prstGeom>
        </p:spPr>
      </p:pic>
      <p:sp>
        <p:nvSpPr>
          <p:cNvPr id="5" name="Text 1"/>
          <p:cNvSpPr txBox="1"/>
          <p:nvPr/>
        </p:nvSpPr>
        <p:spPr>
          <a:xfrm>
            <a:off x="971550" y="1847850"/>
            <a:ext cx="4953000" cy="2857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3"/>
                </a:solidFill>
                <a:latin typeface="Paperlogy 6 SemiBold" pitchFamily="34" charset="0"/>
                <a:ea typeface="Paperlogy 6 SemiBold" pitchFamily="34" charset="-127"/>
                <a:cs typeface="Paperlogy 6 SemiBold" pitchFamily="34" charset="-120"/>
              </a:rPr>
              <a:t>2026 재난대응 안전한국훈련</a:t>
            </a:r>
            <a:endParaRPr lang="ko-KR" sz="1600" dirty="0"/>
          </a:p>
        </p:txBody>
      </p:sp>
      <p:sp>
        <p:nvSpPr>
          <p:cNvPr id="6" name="Text 2"/>
          <p:cNvSpPr txBox="1"/>
          <p:nvPr/>
        </p:nvSpPr>
        <p:spPr>
          <a:xfrm>
            <a:off x="685800" y="4076700"/>
            <a:ext cx="5334000" cy="2857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accent4"/>
                </a:solidFill>
                <a:latin typeface="Paperlogy 5 Medium" pitchFamily="34" charset="0"/>
                <a:ea typeface="Paperlogy 5 Medium" pitchFamily="34" charset="-127"/>
                <a:cs typeface="Paperlogy 5 Medium" pitchFamily="34" charset="-120"/>
              </a:rPr>
              <a:t>국도32호선 온석터널 복합재난 합동대응훈련</a:t>
            </a:r>
            <a:endParaRPr lang="ko-KR" sz="1700" dirty="0"/>
          </a:p>
        </p:txBody>
      </p:sp>
      <p:sp>
        <p:nvSpPr>
          <p:cNvPr id="7" name="Text 3"/>
          <p:cNvSpPr txBox="1"/>
          <p:nvPr/>
        </p:nvSpPr>
        <p:spPr>
          <a:xfrm>
            <a:off x="685800" y="5200650"/>
            <a:ext cx="4572000" cy="32385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accent3"/>
                </a:solidFill>
                <a:latin typeface="Paperlogy 7 Bold" pitchFamily="34" charset="0"/>
                <a:ea typeface="Paperlogy 7 Bold" pitchFamily="34" charset="-127"/>
                <a:cs typeface="Paperlogy 7 Bold" pitchFamily="34" charset="-120"/>
              </a:rPr>
              <a:t>2026. 10. 22. (목)</a:t>
            </a:r>
            <a:endParaRPr lang="ko-KR" sz="2000" dirty="0"/>
          </a:p>
        </p:txBody>
      </p:sp>
      <p:sp>
        <p:nvSpPr>
          <p:cNvPr id="8" name="Text 4"/>
          <p:cNvSpPr txBox="1"/>
          <p:nvPr/>
        </p:nvSpPr>
        <p:spPr>
          <a:xfrm>
            <a:off x="685800" y="5581650"/>
            <a:ext cx="57150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bg1"/>
                </a:solidFill>
                <a:latin typeface="Paperlogy 5 Medium" pitchFamily="34" charset="0"/>
                <a:ea typeface="Paperlogy 5 Medium" pitchFamily="34" charset="-127"/>
                <a:cs typeface="Paperlogy 5 Medium" pitchFamily="34" charset="-120"/>
              </a:rPr>
              <a:t>예산국토관리사무소  시설안전관리과장  최병목</a:t>
            </a:r>
            <a:endParaRPr lang="ko-KR"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685800" y="1447800"/>
            <a:ext cx="3619500" cy="666750"/>
          </a:xfrm>
          <a:prstGeom prst="rect">
            <a:avLst/>
          </a:prstGeom>
          <a:noFill/>
          <a:ln/>
        </p:spPr>
        <p:txBody>
          <a:bodyPr wrap="square" lIns="0" tIns="0" rIns="0" bIns="0" rtlCol="0" anchor="t"/>
          <a:lstStyle/>
          <a:p>
            <a:pPr algn="l" indent="0" marL="0">
              <a:lnSpc>
                <a:spcPct val="97600"/>
              </a:lnSpc>
              <a:buNone/>
            </a:pPr>
            <a:r>
              <a:rPr lang="ko-KR" altLang="en-US" sz="4400" spc="-50" kern="0" dirty="0">
                <a:solidFill>
                  <a:schemeClr val="tx2"/>
                </a:solidFill>
                <a:latin typeface="Paperlogy 8 ExtraBold" pitchFamily="34" charset="0"/>
                <a:ea typeface="Paperlogy 8 ExtraBold" pitchFamily="34" charset="-127"/>
                <a:cs typeface="Paperlogy 8 ExtraBold" pitchFamily="34" charset="-120"/>
              </a:rPr>
              <a:t>목차</a:t>
            </a:r>
            <a:endParaRPr lang="en-US" sz="4400" dirty="0"/>
          </a:p>
        </p:txBody>
      </p:sp>
      <p:pic>
        <p:nvPicPr>
          <p:cNvPr id="3" name="Portal artwork" descr="">    </p:cNvPr>
          <p:cNvPicPr>
            <a:picLocks noChangeAspect="1"/>
          </p:cNvPicPr>
          <p:nvPr/>
        </p:nvPicPr>
        <p:blipFill>
          <a:blip r:embed="rId1"/>
          <a:stretch>
            <a:fillRect/>
          </a:stretch>
        </p:blipFill>
        <p:spPr>
          <a:xfrm>
            <a:off x="590550" y="4000500"/>
            <a:ext cx="3619500" cy="2857500"/>
          </a:xfrm>
          <a:prstGeom prst="rect">
            <a:avLst/>
          </a:prstGeom>
        </p:spPr>
      </p:pic>
      <p:pic>
        <p:nvPicPr>
          <p:cNvPr id="4" name="Image 1" descr="">    </p:cNvPr>
          <p:cNvPicPr>
            <a:picLocks noChangeAspect="1"/>
          </p:cNvPicPr>
          <p:nvPr/>
        </p:nvPicPr>
        <p:blipFill>
          <a:blip r:embed="rId2"/>
          <a:stretch>
            <a:fillRect/>
          </a:stretch>
        </p:blipFill>
        <p:spPr>
          <a:xfrm>
            <a:off x="685800" y="1171575"/>
            <a:ext cx="152400" cy="152400"/>
          </a:xfrm>
          <a:prstGeom prst="rect">
            <a:avLst/>
          </a:prstGeom>
        </p:spPr>
      </p:pic>
      <p:sp>
        <p:nvSpPr>
          <p:cNvPr id="5" name="Text 1"/>
          <p:cNvSpPr txBox="1"/>
          <p:nvPr/>
        </p:nvSpPr>
        <p:spPr>
          <a:xfrm>
            <a:off x="914400" y="1143000"/>
            <a:ext cx="2857500" cy="209550"/>
          </a:xfrm>
          <a:prstGeom prst="rect">
            <a:avLst/>
          </a:prstGeom>
          <a:noFill/>
          <a:ln/>
        </p:spPr>
        <p:txBody>
          <a:bodyPr wrap="square" lIns="0" tIns="0" rIns="0" bIns="0" rtlCol="0" anchor="ctr"/>
          <a:lstStyle/>
          <a:p>
            <a:pPr algn="l" indent="0" marL="0">
              <a:lnSpc>
                <a:spcPct val="101900"/>
              </a:lnSpc>
              <a:buNone/>
            </a:pPr>
            <a:r>
              <a:rPr lang="ko-KR" altLang="en-US" sz="1200" spc="200" kern="0" dirty="0">
                <a:solidFill>
                  <a:schemeClr val="accent2"/>
                </a:solidFill>
                <a:latin typeface="Paperlogy 8 ExtraBold" pitchFamily="34" charset="0"/>
                <a:ea typeface="Paperlogy 8 ExtraBold" pitchFamily="34" charset="-127"/>
                <a:cs typeface="Paperlogy 8 ExtraBold" pitchFamily="34" charset="-120"/>
              </a:rPr>
              <a:t>CONTENTS</a:t>
            </a:r>
            <a:endParaRPr lang="ko-KR" sz="1200" dirty="0"/>
          </a:p>
        </p:txBody>
      </p:sp>
      <p:sp>
        <p:nvSpPr>
          <p:cNvPr id="6" name="Text 2"/>
          <p:cNvSpPr txBox="1"/>
          <p:nvPr/>
        </p:nvSpPr>
        <p:spPr>
          <a:xfrm>
            <a:off x="685800" y="2247900"/>
            <a:ext cx="3619500" cy="6096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5"/>
                </a:solidFill>
                <a:latin typeface="Paperlogy 4 Regular" pitchFamily="34" charset="0"/>
                <a:ea typeface="Paperlogy 4 Regular" pitchFamily="34" charset="-127"/>
                <a:cs typeface="Paperlogy 4 Regular" pitchFamily="34" charset="-120"/>
              </a:rPr>
              <a:t>훈련 배경부터 대응·복구까지</a:t>
            </a:r>
            <a:endParaRPr lang="ko-KR" sz="1600" dirty="0"/>
          </a:p>
          <a:p>
            <a:pPr algn="l" indent="0" marL="0">
              <a:lnSpc>
                <a:spcPct val="127400"/>
              </a:lnSpc>
              <a:buNone/>
            </a:pPr>
            <a:r>
              <a:rPr lang="ko-KR" altLang="en-US" sz="1600" dirty="0">
                <a:solidFill>
                  <a:schemeClr val="accent5"/>
                </a:solidFill>
                <a:latin typeface="Paperlogy 4 Regular" pitchFamily="34" charset="0"/>
                <a:ea typeface="Paperlogy 4 Regular" pitchFamily="34" charset="-127"/>
                <a:cs typeface="Paperlogy 4 Regular" pitchFamily="34" charset="-120"/>
              </a:rPr>
              <a:t>4개 파트로 보고드립니다</a:t>
            </a:r>
            <a:endParaRPr lang="ko-KR" sz="1600" dirty="0"/>
          </a:p>
        </p:txBody>
      </p:sp>
      <p:sp>
        <p:nvSpPr>
          <p:cNvPr id="7" name="Text 3"/>
          <p:cNvSpPr txBox="1"/>
          <p:nvPr/>
        </p:nvSpPr>
        <p:spPr>
          <a:xfrm>
            <a:off x="4953000" y="1314450"/>
            <a:ext cx="952500" cy="571500"/>
          </a:xfrm>
          <a:prstGeom prst="rect">
            <a:avLst/>
          </a:prstGeom>
          <a:noFill/>
          <a:ln/>
        </p:spPr>
        <p:txBody>
          <a:bodyPr wrap="square" lIns="0" tIns="0" rIns="0" bIns="0" rtlCol="0" anchor="ctr"/>
          <a:lstStyle/>
          <a:p>
            <a:pPr algn="l" indent="0" marL="0">
              <a:lnSpc>
                <a:spcPct val="101900"/>
              </a:lnSpc>
              <a:buNone/>
            </a:pPr>
            <a:r>
              <a:rPr lang="ko-KR" altLang="en-US" sz="3600" spc="-50" kern="0" dirty="0">
                <a:solidFill>
                  <a:schemeClr val="accent2"/>
                </a:solidFill>
                <a:latin typeface="Paperlogy 8 ExtraBold" pitchFamily="34" charset="0"/>
                <a:ea typeface="Paperlogy 8 ExtraBold" pitchFamily="34" charset="-127"/>
                <a:cs typeface="Paperlogy 8 ExtraBold" pitchFamily="34" charset="-120"/>
              </a:rPr>
              <a:t>01</a:t>
            </a:r>
            <a:endParaRPr lang="ko-KR" sz="3600" dirty="0"/>
          </a:p>
        </p:txBody>
      </p:sp>
      <p:sp>
        <p:nvSpPr>
          <p:cNvPr id="8" name="Text 4"/>
          <p:cNvSpPr txBox="1"/>
          <p:nvPr/>
        </p:nvSpPr>
        <p:spPr>
          <a:xfrm>
            <a:off x="5943600" y="1352550"/>
            <a:ext cx="4191000" cy="36195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훈련 배경</a:t>
            </a:r>
            <a:endParaRPr lang="ko-KR" sz="2200" dirty="0"/>
          </a:p>
        </p:txBody>
      </p:sp>
      <p:sp>
        <p:nvSpPr>
          <p:cNvPr id="9" name="Text 5"/>
          <p:cNvSpPr txBox="1"/>
          <p:nvPr/>
        </p:nvSpPr>
        <p:spPr>
          <a:xfrm>
            <a:off x="5943600" y="1733550"/>
            <a:ext cx="55626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훈련목적 및 추진체계 · 훈련배경 · 최근 실제 사고 사례</a:t>
            </a:r>
            <a:endParaRPr lang="ko-KR" sz="1400" dirty="0"/>
          </a:p>
        </p:txBody>
      </p:sp>
      <p:sp>
        <p:nvSpPr>
          <p:cNvPr id="10" name="Text 6"/>
          <p:cNvSpPr txBox="1"/>
          <p:nvPr/>
        </p:nvSpPr>
        <p:spPr>
          <a:xfrm>
            <a:off x="10363200" y="1371600"/>
            <a:ext cx="1143000" cy="32385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3 – 5</a:t>
            </a:r>
            <a:endParaRPr lang="ko-KR" sz="1300" dirty="0"/>
          </a:p>
        </p:txBody>
      </p:sp>
      <p:sp>
        <p:nvSpPr>
          <p:cNvPr id="11" name="Shape 7"/>
          <p:cNvSpPr/>
          <p:nvPr/>
        </p:nvSpPr>
        <p:spPr>
          <a:xfrm>
            <a:off x="4953000" y="2286000"/>
            <a:ext cx="6553200" cy="0"/>
          </a:xfrm>
          <a:prstGeom prst="line">
            <a:avLst/>
          </a:prstGeom>
          <a:noFill/>
          <a:ln w="14288">
            <a:solidFill>
              <a:schemeClr val="accent6"/>
            </a:solidFill>
            <a:prstDash val="solid"/>
          </a:ln>
        </p:spPr>
      </p:sp>
      <p:sp>
        <p:nvSpPr>
          <p:cNvPr id="12" name="Text 8"/>
          <p:cNvSpPr txBox="1"/>
          <p:nvPr/>
        </p:nvSpPr>
        <p:spPr>
          <a:xfrm>
            <a:off x="4953000" y="2457450"/>
            <a:ext cx="952500" cy="571500"/>
          </a:xfrm>
          <a:prstGeom prst="rect">
            <a:avLst/>
          </a:prstGeom>
          <a:noFill/>
          <a:ln/>
        </p:spPr>
        <p:txBody>
          <a:bodyPr wrap="square" lIns="0" tIns="0" rIns="0" bIns="0" rtlCol="0" anchor="ctr"/>
          <a:lstStyle/>
          <a:p>
            <a:pPr algn="l" indent="0" marL="0">
              <a:lnSpc>
                <a:spcPct val="101900"/>
              </a:lnSpc>
              <a:buNone/>
            </a:pPr>
            <a:r>
              <a:rPr lang="ko-KR" altLang="en-US" sz="3600" spc="-50" kern="0" dirty="0">
                <a:solidFill>
                  <a:schemeClr val="accent2"/>
                </a:solidFill>
                <a:latin typeface="Paperlogy 8 ExtraBold" pitchFamily="34" charset="0"/>
                <a:ea typeface="Paperlogy 8 ExtraBold" pitchFamily="34" charset="-127"/>
                <a:cs typeface="Paperlogy 8 ExtraBold" pitchFamily="34" charset="-120"/>
              </a:rPr>
              <a:t>02</a:t>
            </a:r>
            <a:endParaRPr lang="ko-KR" sz="3600" dirty="0"/>
          </a:p>
        </p:txBody>
      </p:sp>
      <p:sp>
        <p:nvSpPr>
          <p:cNvPr id="13" name="Text 9"/>
          <p:cNvSpPr txBox="1"/>
          <p:nvPr/>
        </p:nvSpPr>
        <p:spPr>
          <a:xfrm>
            <a:off x="5943600" y="2495550"/>
            <a:ext cx="4191000" cy="36195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훈련 계획</a:t>
            </a:r>
            <a:endParaRPr lang="ko-KR" sz="2200" dirty="0"/>
          </a:p>
        </p:txBody>
      </p:sp>
      <p:sp>
        <p:nvSpPr>
          <p:cNvPr id="14" name="Text 10"/>
          <p:cNvSpPr txBox="1"/>
          <p:nvPr/>
        </p:nvSpPr>
        <p:spPr>
          <a:xfrm>
            <a:off x="5943600" y="2876550"/>
            <a:ext cx="55626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훈련개요 · 훈련상황(복합재난 시나리오) · 참여규모 및 중점</a:t>
            </a:r>
            <a:endParaRPr lang="ko-KR" sz="1400" dirty="0"/>
          </a:p>
        </p:txBody>
      </p:sp>
      <p:sp>
        <p:nvSpPr>
          <p:cNvPr id="15" name="Text 11"/>
          <p:cNvSpPr txBox="1"/>
          <p:nvPr/>
        </p:nvSpPr>
        <p:spPr>
          <a:xfrm>
            <a:off x="10363200" y="2514600"/>
            <a:ext cx="1143000" cy="32385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6 – 8</a:t>
            </a:r>
            <a:endParaRPr lang="ko-KR" sz="1300" dirty="0"/>
          </a:p>
        </p:txBody>
      </p:sp>
      <p:sp>
        <p:nvSpPr>
          <p:cNvPr id="16" name="Shape 12"/>
          <p:cNvSpPr/>
          <p:nvPr/>
        </p:nvSpPr>
        <p:spPr>
          <a:xfrm>
            <a:off x="4953000" y="3429000"/>
            <a:ext cx="6553200" cy="0"/>
          </a:xfrm>
          <a:prstGeom prst="line">
            <a:avLst/>
          </a:prstGeom>
          <a:noFill/>
          <a:ln w="14288">
            <a:solidFill>
              <a:schemeClr val="accent6"/>
            </a:solidFill>
            <a:prstDash val="solid"/>
          </a:ln>
        </p:spPr>
      </p:sp>
      <p:sp>
        <p:nvSpPr>
          <p:cNvPr id="17" name="Text 13"/>
          <p:cNvSpPr txBox="1"/>
          <p:nvPr/>
        </p:nvSpPr>
        <p:spPr>
          <a:xfrm>
            <a:off x="4953000" y="3600450"/>
            <a:ext cx="952500" cy="571500"/>
          </a:xfrm>
          <a:prstGeom prst="rect">
            <a:avLst/>
          </a:prstGeom>
          <a:noFill/>
          <a:ln/>
        </p:spPr>
        <p:txBody>
          <a:bodyPr wrap="square" lIns="0" tIns="0" rIns="0" bIns="0" rtlCol="0" anchor="ctr"/>
          <a:lstStyle/>
          <a:p>
            <a:pPr algn="l" indent="0" marL="0">
              <a:lnSpc>
                <a:spcPct val="101900"/>
              </a:lnSpc>
              <a:buNone/>
            </a:pPr>
            <a:r>
              <a:rPr lang="ko-KR" altLang="en-US" sz="3600" spc="-50" kern="0" dirty="0">
                <a:solidFill>
                  <a:schemeClr val="accent2"/>
                </a:solidFill>
                <a:latin typeface="Paperlogy 8 ExtraBold" pitchFamily="34" charset="0"/>
                <a:ea typeface="Paperlogy 8 ExtraBold" pitchFamily="34" charset="-127"/>
                <a:cs typeface="Paperlogy 8 ExtraBold" pitchFamily="34" charset="-120"/>
              </a:rPr>
              <a:t>03</a:t>
            </a:r>
            <a:endParaRPr lang="ko-KR" sz="3600" dirty="0"/>
          </a:p>
        </p:txBody>
      </p:sp>
      <p:sp>
        <p:nvSpPr>
          <p:cNvPr id="18" name="Text 14"/>
          <p:cNvSpPr txBox="1"/>
          <p:nvPr/>
        </p:nvSpPr>
        <p:spPr>
          <a:xfrm>
            <a:off x="5943600" y="3638550"/>
            <a:ext cx="4191000" cy="36195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현장 여건</a:t>
            </a:r>
            <a:endParaRPr lang="ko-KR" sz="2200" dirty="0"/>
          </a:p>
        </p:txBody>
      </p:sp>
      <p:sp>
        <p:nvSpPr>
          <p:cNvPr id="19" name="Text 15"/>
          <p:cNvSpPr txBox="1"/>
          <p:nvPr/>
        </p:nvSpPr>
        <p:spPr>
          <a:xfrm>
            <a:off x="5943600" y="4019550"/>
            <a:ext cx="55626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온석터널 현황 · 교통통제 및 우회도로</a:t>
            </a:r>
            <a:endParaRPr lang="ko-KR" sz="1400" dirty="0"/>
          </a:p>
        </p:txBody>
      </p:sp>
      <p:sp>
        <p:nvSpPr>
          <p:cNvPr id="20" name="Text 16"/>
          <p:cNvSpPr txBox="1"/>
          <p:nvPr/>
        </p:nvSpPr>
        <p:spPr>
          <a:xfrm>
            <a:off x="10363200" y="3657600"/>
            <a:ext cx="1143000" cy="32385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9 – 10</a:t>
            </a:r>
            <a:endParaRPr lang="ko-KR" sz="1300" dirty="0"/>
          </a:p>
        </p:txBody>
      </p:sp>
      <p:sp>
        <p:nvSpPr>
          <p:cNvPr id="21" name="Shape 17"/>
          <p:cNvSpPr/>
          <p:nvPr/>
        </p:nvSpPr>
        <p:spPr>
          <a:xfrm>
            <a:off x="4953000" y="4572000"/>
            <a:ext cx="6553200" cy="0"/>
          </a:xfrm>
          <a:prstGeom prst="line">
            <a:avLst/>
          </a:prstGeom>
          <a:noFill/>
          <a:ln w="14288">
            <a:solidFill>
              <a:schemeClr val="accent6"/>
            </a:solidFill>
            <a:prstDash val="solid"/>
          </a:ln>
        </p:spPr>
      </p:sp>
      <p:sp>
        <p:nvSpPr>
          <p:cNvPr id="22" name="Text 18"/>
          <p:cNvSpPr txBox="1"/>
          <p:nvPr/>
        </p:nvSpPr>
        <p:spPr>
          <a:xfrm>
            <a:off x="4953000" y="4743450"/>
            <a:ext cx="952500" cy="571500"/>
          </a:xfrm>
          <a:prstGeom prst="rect">
            <a:avLst/>
          </a:prstGeom>
          <a:noFill/>
          <a:ln/>
        </p:spPr>
        <p:txBody>
          <a:bodyPr wrap="square" lIns="0" tIns="0" rIns="0" bIns="0" rtlCol="0" anchor="ctr"/>
          <a:lstStyle/>
          <a:p>
            <a:pPr algn="l" indent="0" marL="0">
              <a:lnSpc>
                <a:spcPct val="101900"/>
              </a:lnSpc>
              <a:buNone/>
            </a:pPr>
            <a:r>
              <a:rPr lang="ko-KR" altLang="en-US" sz="3600" spc="-50" kern="0" dirty="0">
                <a:solidFill>
                  <a:schemeClr val="accent2"/>
                </a:solidFill>
                <a:latin typeface="Paperlogy 8 ExtraBold" pitchFamily="34" charset="0"/>
                <a:ea typeface="Paperlogy 8 ExtraBold" pitchFamily="34" charset="-127"/>
                <a:cs typeface="Paperlogy 8 ExtraBold" pitchFamily="34" charset="-120"/>
              </a:rPr>
              <a:t>04</a:t>
            </a:r>
            <a:endParaRPr lang="ko-KR" sz="3600" dirty="0"/>
          </a:p>
        </p:txBody>
      </p:sp>
      <p:sp>
        <p:nvSpPr>
          <p:cNvPr id="23" name="Text 19"/>
          <p:cNvSpPr txBox="1"/>
          <p:nvPr/>
        </p:nvSpPr>
        <p:spPr>
          <a:xfrm>
            <a:off x="5943600" y="4781550"/>
            <a:ext cx="4191000" cy="36195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대응 및 복구</a:t>
            </a:r>
            <a:endParaRPr lang="ko-KR" sz="2200" dirty="0"/>
          </a:p>
        </p:txBody>
      </p:sp>
      <p:sp>
        <p:nvSpPr>
          <p:cNvPr id="24" name="Text 20"/>
          <p:cNvSpPr txBox="1"/>
          <p:nvPr/>
        </p:nvSpPr>
        <p:spPr>
          <a:xfrm>
            <a:off x="5943600" y="5162550"/>
            <a:ext cx="55626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상황전파 체계 · 기관별 대응 현황 · 수습복구 및 마무리</a:t>
            </a:r>
            <a:endParaRPr lang="ko-KR" sz="1400" dirty="0"/>
          </a:p>
        </p:txBody>
      </p:sp>
      <p:sp>
        <p:nvSpPr>
          <p:cNvPr id="25" name="Text 21"/>
          <p:cNvSpPr txBox="1"/>
          <p:nvPr/>
        </p:nvSpPr>
        <p:spPr>
          <a:xfrm>
            <a:off x="10363200" y="4800600"/>
            <a:ext cx="1143000" cy="32385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11 – 13</a:t>
            </a:r>
            <a:endParaRPr lang="ko-KR" sz="13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훈련목적 및 추진체계</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01</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배경</a:t>
            </a:r>
            <a:endParaRPr lang="ko-KR" sz="1200" dirty="0"/>
          </a:p>
        </p:txBody>
      </p:sp>
      <p:sp>
        <p:nvSpPr>
          <p:cNvPr id="5" name="Legal basis card"/>
          <p:cNvSpPr/>
          <p:nvPr/>
        </p:nvSpPr>
        <p:spPr>
          <a:xfrm>
            <a:off x="685800" y="1447800"/>
            <a:ext cx="6705600" cy="2057400"/>
          </a:xfrm>
          <a:prstGeom prst="roundRect">
            <a:avLst>
              <a:gd name="adj" fmla="val 8333"/>
            </a:avLst>
          </a:prstGeom>
          <a:solidFill>
            <a:schemeClr val="bg2"/>
          </a:solidFill>
          <a:ln/>
        </p:spPr>
      </p:sp>
      <p:sp>
        <p:nvSpPr>
          <p:cNvPr id="6" name="Shape 3"/>
          <p:cNvSpPr/>
          <p:nvPr/>
        </p:nvSpPr>
        <p:spPr>
          <a:xfrm>
            <a:off x="952500" y="1695450"/>
            <a:ext cx="495300" cy="495300"/>
          </a:xfrm>
          <a:prstGeom prst="ellipse">
            <a:avLst/>
          </a:prstGeom>
          <a:solidFill>
            <a:schemeClr val="tx2"/>
          </a:solidFill>
          <a:ln/>
        </p:spPr>
      </p:sp>
      <p:pic>
        <p:nvPicPr>
          <p:cNvPr id="7" name="Image 1" descr="">    </p:cNvPr>
          <p:cNvPicPr>
            <a:picLocks noChangeAspect="1"/>
          </p:cNvPicPr>
          <p:nvPr/>
        </p:nvPicPr>
        <p:blipFill>
          <a:blip r:embed="rId2"/>
          <a:stretch>
            <a:fillRect/>
          </a:stretch>
        </p:blipFill>
        <p:spPr>
          <a:xfrm>
            <a:off x="1076325" y="1819275"/>
            <a:ext cx="247650" cy="247650"/>
          </a:xfrm>
          <a:prstGeom prst="rect">
            <a:avLst/>
          </a:prstGeom>
        </p:spPr>
      </p:pic>
      <p:sp>
        <p:nvSpPr>
          <p:cNvPr id="8" name="Text 4"/>
          <p:cNvSpPr txBox="1"/>
          <p:nvPr/>
        </p:nvSpPr>
        <p:spPr>
          <a:xfrm>
            <a:off x="1600200" y="1695450"/>
            <a:ext cx="2857500" cy="4953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추진 근거</a:t>
            </a:r>
            <a:endParaRPr lang="ko-KR" sz="1900" dirty="0"/>
          </a:p>
        </p:txBody>
      </p:sp>
      <p:sp>
        <p:nvSpPr>
          <p:cNvPr id="9" name="Shape 5"/>
          <p:cNvSpPr/>
          <p:nvPr/>
        </p:nvSpPr>
        <p:spPr>
          <a:xfrm>
            <a:off x="5753100" y="1771650"/>
            <a:ext cx="1371600" cy="342900"/>
          </a:xfrm>
          <a:prstGeom prst="roundRect">
            <a:avLst>
              <a:gd name="adj" fmla="val 50000"/>
            </a:avLst>
          </a:prstGeom>
          <a:solidFill>
            <a:schemeClr val="bg1"/>
          </a:solidFill>
          <a:ln w="14288">
            <a:solidFill>
              <a:schemeClr val="accent2"/>
            </a:solidFill>
            <a:prstDash val="solid"/>
          </a:ln>
        </p:spPr>
      </p:sp>
      <p:sp>
        <p:nvSpPr>
          <p:cNvPr id="10" name="Text 6"/>
          <p:cNvSpPr txBox="1"/>
          <p:nvPr/>
        </p:nvSpPr>
        <p:spPr>
          <a:xfrm>
            <a:off x="5753100" y="1771650"/>
            <a:ext cx="1371600" cy="342900"/>
          </a:xfrm>
          <a:prstGeom prst="rect">
            <a:avLst/>
          </a:prstGeom>
          <a:noFill/>
          <a:ln/>
        </p:spPr>
        <p:txBody>
          <a:bodyPr wrap="square" lIns="0" tIns="0" rIns="0" bIns="0" rtlCol="0" anchor="ctr"/>
          <a:lstStyle/>
          <a:p>
            <a:pPr algn="ctr" indent="0" marL="0">
              <a:lnSpc>
                <a:spcPct val="101900"/>
              </a:lnSpc>
              <a:buNone/>
            </a:pPr>
            <a:r>
              <a:rPr lang="ko-KR" altLang="en-US" sz="1300" dirty="0">
                <a:solidFill>
                  <a:schemeClr val="accent2"/>
                </a:solidFill>
                <a:latin typeface="Paperlogy 6 SemiBold" pitchFamily="34" charset="0"/>
                <a:ea typeface="Paperlogy 6 SemiBold" pitchFamily="34" charset="-127"/>
                <a:cs typeface="Paperlogy 6 SemiBold" pitchFamily="34" charset="-120"/>
              </a:rPr>
              <a:t>행정안전부 총괄</a:t>
            </a:r>
            <a:endParaRPr lang="ko-KR" sz="1300" dirty="0"/>
          </a:p>
        </p:txBody>
      </p:sp>
      <p:sp>
        <p:nvSpPr>
          <p:cNvPr id="11" name="Shape 7"/>
          <p:cNvSpPr/>
          <p:nvPr/>
        </p:nvSpPr>
        <p:spPr>
          <a:xfrm>
            <a:off x="952500" y="2362200"/>
            <a:ext cx="6172200" cy="476250"/>
          </a:xfrm>
          <a:prstGeom prst="roundRect">
            <a:avLst>
              <a:gd name="adj" fmla="val 24000"/>
            </a:avLst>
          </a:prstGeom>
          <a:solidFill>
            <a:schemeClr val="bg1"/>
          </a:solidFill>
          <a:ln/>
        </p:spPr>
      </p:sp>
      <p:sp>
        <p:nvSpPr>
          <p:cNvPr id="12" name="Text 8"/>
          <p:cNvSpPr txBox="1"/>
          <p:nvPr/>
        </p:nvSpPr>
        <p:spPr>
          <a:xfrm>
            <a:off x="1162050" y="2362200"/>
            <a:ext cx="7620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법률</a:t>
            </a:r>
            <a:endParaRPr lang="ko-KR" sz="1400" dirty="0"/>
          </a:p>
        </p:txBody>
      </p:sp>
      <p:sp>
        <p:nvSpPr>
          <p:cNvPr id="13" name="Text 9"/>
          <p:cNvSpPr txBox="1"/>
          <p:nvPr/>
        </p:nvSpPr>
        <p:spPr>
          <a:xfrm>
            <a:off x="1943100" y="2362200"/>
            <a:ext cx="5048250" cy="47625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재난 및 안전관리 기본법 제35조</a:t>
            </a:r>
            <a:endParaRPr lang="ko-KR" sz="1900" dirty="0"/>
          </a:p>
        </p:txBody>
      </p:sp>
      <p:sp>
        <p:nvSpPr>
          <p:cNvPr id="14" name="Shape 10"/>
          <p:cNvSpPr/>
          <p:nvPr/>
        </p:nvSpPr>
        <p:spPr>
          <a:xfrm>
            <a:off x="952500" y="2933700"/>
            <a:ext cx="6172200" cy="476250"/>
          </a:xfrm>
          <a:prstGeom prst="roundRect">
            <a:avLst>
              <a:gd name="adj" fmla="val 24000"/>
            </a:avLst>
          </a:prstGeom>
          <a:solidFill>
            <a:schemeClr val="bg1"/>
          </a:solidFill>
          <a:ln/>
        </p:spPr>
      </p:sp>
      <p:sp>
        <p:nvSpPr>
          <p:cNvPr id="15" name="Text 11"/>
          <p:cNvSpPr txBox="1"/>
          <p:nvPr/>
        </p:nvSpPr>
        <p:spPr>
          <a:xfrm>
            <a:off x="1162050" y="2933700"/>
            <a:ext cx="7620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시행령</a:t>
            </a:r>
            <a:endParaRPr lang="ko-KR" sz="1400" dirty="0"/>
          </a:p>
        </p:txBody>
      </p:sp>
      <p:sp>
        <p:nvSpPr>
          <p:cNvPr id="16" name="Text 12"/>
          <p:cNvSpPr txBox="1"/>
          <p:nvPr/>
        </p:nvSpPr>
        <p:spPr>
          <a:xfrm>
            <a:off x="1943100" y="2933700"/>
            <a:ext cx="5048250" cy="47625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같은 법 시행령 제43조의14</a:t>
            </a:r>
            <a:endParaRPr lang="ko-KR" sz="1900" dirty="0"/>
          </a:p>
        </p:txBody>
      </p:sp>
      <p:sp>
        <p:nvSpPr>
          <p:cNvPr id="17" name="Text 13"/>
          <p:cNvSpPr txBox="1"/>
          <p:nvPr/>
        </p:nvSpPr>
        <p:spPr>
          <a:xfrm>
            <a:off x="685800" y="3810000"/>
            <a:ext cx="3810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연도별 추진 현황</a:t>
            </a:r>
            <a:endParaRPr lang="ko-KR" sz="1800" dirty="0"/>
          </a:p>
        </p:txBody>
      </p:sp>
      <p:sp>
        <p:nvSpPr>
          <p:cNvPr id="18" name="Shape 14"/>
          <p:cNvSpPr/>
          <p:nvPr/>
        </p:nvSpPr>
        <p:spPr>
          <a:xfrm>
            <a:off x="1047750" y="4838700"/>
            <a:ext cx="6096000" cy="0"/>
          </a:xfrm>
          <a:prstGeom prst="line">
            <a:avLst/>
          </a:prstGeom>
          <a:noFill/>
          <a:ln w="28575">
            <a:solidFill>
              <a:schemeClr val="accent6"/>
            </a:solidFill>
            <a:prstDash val="solid"/>
          </a:ln>
        </p:spPr>
      </p:sp>
      <p:sp>
        <p:nvSpPr>
          <p:cNvPr id="19" name="Shape 15"/>
          <p:cNvSpPr/>
          <p:nvPr/>
        </p:nvSpPr>
        <p:spPr>
          <a:xfrm>
            <a:off x="1143000" y="4743450"/>
            <a:ext cx="190500" cy="190500"/>
          </a:xfrm>
          <a:prstGeom prst="ellipse">
            <a:avLst/>
          </a:prstGeom>
          <a:solidFill>
            <a:schemeClr val="bg1"/>
          </a:solidFill>
          <a:ln w="28575">
            <a:solidFill>
              <a:schemeClr val="accent1"/>
            </a:solidFill>
            <a:prstDash val="solid"/>
          </a:ln>
        </p:spPr>
      </p:sp>
      <p:sp>
        <p:nvSpPr>
          <p:cNvPr id="20" name="Text 16"/>
          <p:cNvSpPr txBox="1"/>
          <p:nvPr/>
        </p:nvSpPr>
        <p:spPr>
          <a:xfrm>
            <a:off x="476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2023</a:t>
            </a:r>
            <a:endParaRPr lang="ko-KR" sz="2400" dirty="0"/>
          </a:p>
        </p:txBody>
      </p:sp>
      <p:sp>
        <p:nvSpPr>
          <p:cNvPr id="21" name="Text 17"/>
          <p:cNvSpPr txBox="1"/>
          <p:nvPr/>
        </p:nvSpPr>
        <p:spPr>
          <a:xfrm>
            <a:off x="476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충주</a:t>
            </a:r>
            <a:endParaRPr lang="ko-KR" sz="1700" dirty="0"/>
          </a:p>
        </p:txBody>
      </p:sp>
      <p:sp>
        <p:nvSpPr>
          <p:cNvPr id="22" name="Shape 18"/>
          <p:cNvSpPr/>
          <p:nvPr/>
        </p:nvSpPr>
        <p:spPr>
          <a:xfrm>
            <a:off x="3048000" y="4743450"/>
            <a:ext cx="190500" cy="190500"/>
          </a:xfrm>
          <a:prstGeom prst="ellipse">
            <a:avLst/>
          </a:prstGeom>
          <a:solidFill>
            <a:schemeClr val="bg1"/>
          </a:solidFill>
          <a:ln w="28575">
            <a:solidFill>
              <a:schemeClr val="accent1"/>
            </a:solidFill>
            <a:prstDash val="solid"/>
          </a:ln>
        </p:spPr>
      </p:sp>
      <p:sp>
        <p:nvSpPr>
          <p:cNvPr id="23" name="Text 19"/>
          <p:cNvSpPr txBox="1"/>
          <p:nvPr/>
        </p:nvSpPr>
        <p:spPr>
          <a:xfrm>
            <a:off x="2381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2024</a:t>
            </a:r>
            <a:endParaRPr lang="ko-KR" sz="2400" dirty="0"/>
          </a:p>
        </p:txBody>
      </p:sp>
      <p:sp>
        <p:nvSpPr>
          <p:cNvPr id="24" name="Text 20"/>
          <p:cNvSpPr txBox="1"/>
          <p:nvPr/>
        </p:nvSpPr>
        <p:spPr>
          <a:xfrm>
            <a:off x="2381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보은</a:t>
            </a:r>
            <a:endParaRPr lang="ko-KR" sz="1700" dirty="0"/>
          </a:p>
        </p:txBody>
      </p:sp>
      <p:sp>
        <p:nvSpPr>
          <p:cNvPr id="25" name="Shape 21"/>
          <p:cNvSpPr/>
          <p:nvPr/>
        </p:nvSpPr>
        <p:spPr>
          <a:xfrm>
            <a:off x="4953000" y="4743450"/>
            <a:ext cx="190500" cy="190500"/>
          </a:xfrm>
          <a:prstGeom prst="ellipse">
            <a:avLst/>
          </a:prstGeom>
          <a:solidFill>
            <a:schemeClr val="bg1"/>
          </a:solidFill>
          <a:ln w="28575">
            <a:solidFill>
              <a:schemeClr val="accent1"/>
            </a:solidFill>
            <a:prstDash val="solid"/>
          </a:ln>
        </p:spPr>
      </p:sp>
      <p:sp>
        <p:nvSpPr>
          <p:cNvPr id="26" name="Text 22"/>
          <p:cNvSpPr txBox="1"/>
          <p:nvPr/>
        </p:nvSpPr>
        <p:spPr>
          <a:xfrm>
            <a:off x="4286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2025</a:t>
            </a:r>
            <a:endParaRPr lang="ko-KR" sz="2400" dirty="0"/>
          </a:p>
        </p:txBody>
      </p:sp>
      <p:sp>
        <p:nvSpPr>
          <p:cNvPr id="27" name="Text 23"/>
          <p:cNvSpPr txBox="1"/>
          <p:nvPr/>
        </p:nvSpPr>
        <p:spPr>
          <a:xfrm>
            <a:off x="4286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논산</a:t>
            </a:r>
            <a:endParaRPr lang="ko-KR" sz="1700" dirty="0"/>
          </a:p>
        </p:txBody>
      </p:sp>
      <p:sp>
        <p:nvSpPr>
          <p:cNvPr id="28" name="Shape 24"/>
          <p:cNvSpPr/>
          <p:nvPr/>
        </p:nvSpPr>
        <p:spPr>
          <a:xfrm>
            <a:off x="6743700" y="4629150"/>
            <a:ext cx="419100" cy="419100"/>
          </a:xfrm>
          <a:prstGeom prst="ellipse">
            <a:avLst/>
          </a:prstGeom>
          <a:solidFill>
            <a:schemeClr val="accent2">
              <a:alpha val="16000"/>
            </a:schemeClr>
          </a:solidFill>
          <a:ln/>
        </p:spPr>
      </p:sp>
      <p:sp>
        <p:nvSpPr>
          <p:cNvPr id="29" name="Shape 25"/>
          <p:cNvSpPr/>
          <p:nvPr/>
        </p:nvSpPr>
        <p:spPr>
          <a:xfrm>
            <a:off x="6838950" y="4724400"/>
            <a:ext cx="228600" cy="228600"/>
          </a:xfrm>
          <a:prstGeom prst="ellipse">
            <a:avLst/>
          </a:prstGeom>
          <a:solidFill>
            <a:schemeClr val="accent2"/>
          </a:solidFill>
          <a:ln/>
        </p:spPr>
      </p:sp>
      <p:sp>
        <p:nvSpPr>
          <p:cNvPr id="30" name="Text 26"/>
          <p:cNvSpPr txBox="1"/>
          <p:nvPr/>
        </p:nvSpPr>
        <p:spPr>
          <a:xfrm>
            <a:off x="6191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accent2"/>
                </a:solidFill>
                <a:latin typeface="Paperlogy 8 ExtraBold" pitchFamily="34" charset="0"/>
                <a:ea typeface="Paperlogy 8 ExtraBold" pitchFamily="34" charset="-127"/>
                <a:cs typeface="Paperlogy 8 ExtraBold" pitchFamily="34" charset="-120"/>
              </a:rPr>
              <a:t>2026</a:t>
            </a:r>
            <a:endParaRPr lang="ko-KR" sz="2400" dirty="0"/>
          </a:p>
        </p:txBody>
      </p:sp>
      <p:sp>
        <p:nvSpPr>
          <p:cNvPr id="31" name="Text 27"/>
          <p:cNvSpPr txBox="1"/>
          <p:nvPr/>
        </p:nvSpPr>
        <p:spPr>
          <a:xfrm>
            <a:off x="6191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2"/>
                </a:solidFill>
                <a:latin typeface="Paperlogy 7 Bold" pitchFamily="34" charset="0"/>
                <a:ea typeface="Paperlogy 7 Bold" pitchFamily="34" charset="-127"/>
                <a:cs typeface="Paperlogy 7 Bold" pitchFamily="34" charset="-120"/>
              </a:rPr>
              <a:t>예산</a:t>
            </a:r>
            <a:endParaRPr lang="ko-KR" sz="1700" dirty="0"/>
          </a:p>
        </p:txBody>
      </p:sp>
      <p:sp>
        <p:nvSpPr>
          <p:cNvPr id="32" name="Shape 28"/>
          <p:cNvSpPr/>
          <p:nvPr/>
        </p:nvSpPr>
        <p:spPr>
          <a:xfrm>
            <a:off x="6629400" y="5467350"/>
            <a:ext cx="647700" cy="247650"/>
          </a:xfrm>
          <a:prstGeom prst="roundRect">
            <a:avLst>
              <a:gd name="adj" fmla="val 50000"/>
            </a:avLst>
          </a:prstGeom>
          <a:solidFill>
            <a:schemeClr val="accent2"/>
          </a:solidFill>
          <a:ln/>
        </p:spPr>
      </p:sp>
      <p:sp>
        <p:nvSpPr>
          <p:cNvPr id="33" name="Text 29"/>
          <p:cNvSpPr txBox="1"/>
          <p:nvPr/>
        </p:nvSpPr>
        <p:spPr>
          <a:xfrm>
            <a:off x="6629400" y="5467350"/>
            <a:ext cx="647700" cy="24765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bg1"/>
                </a:solidFill>
                <a:latin typeface="Paperlogy 6 SemiBold" pitchFamily="34" charset="0"/>
                <a:ea typeface="Paperlogy 6 SemiBold" pitchFamily="34" charset="-127"/>
                <a:cs typeface="Paperlogy 6 SemiBold" pitchFamily="34" charset="-120"/>
              </a:rPr>
              <a:t>올해</a:t>
            </a:r>
            <a:endParaRPr lang="ko-KR" sz="1200" dirty="0"/>
          </a:p>
        </p:txBody>
      </p:sp>
      <p:sp>
        <p:nvSpPr>
          <p:cNvPr id="34" name="Key message card"/>
          <p:cNvSpPr/>
          <p:nvPr/>
        </p:nvSpPr>
        <p:spPr>
          <a:xfrm>
            <a:off x="7696200" y="1447800"/>
            <a:ext cx="3810000" cy="4648200"/>
          </a:xfrm>
          <a:prstGeom prst="roundRect">
            <a:avLst>
              <a:gd name="adj" fmla="val 4500"/>
            </a:avLst>
          </a:prstGeom>
          <a:solidFill>
            <a:schemeClr val="tx2"/>
          </a:solidFill>
          <a:ln/>
        </p:spPr>
      </p:sp>
      <p:pic>
        <p:nvPicPr>
          <p:cNvPr id="35" name="Portal watermark" descr="">    </p:cNvPr>
          <p:cNvPicPr>
            <a:picLocks noChangeAspect="1"/>
          </p:cNvPicPr>
          <p:nvPr/>
        </p:nvPicPr>
        <p:blipFill>
          <a:blip r:embed="rId3"/>
          <a:stretch>
            <a:fillRect/>
          </a:stretch>
        </p:blipFill>
        <p:spPr>
          <a:xfrm>
            <a:off x="9220200" y="4191000"/>
            <a:ext cx="2286000" cy="1905000"/>
          </a:xfrm>
          <a:prstGeom prst="rect">
            <a:avLst/>
          </a:prstGeom>
        </p:spPr>
      </p:pic>
      <p:pic>
        <p:nvPicPr>
          <p:cNvPr id="36" name="Image 3" descr="">    </p:cNvPr>
          <p:cNvPicPr>
            <a:picLocks noChangeAspect="1"/>
          </p:cNvPicPr>
          <p:nvPr/>
        </p:nvPicPr>
        <p:blipFill>
          <a:blip r:embed="rId4"/>
          <a:stretch>
            <a:fillRect/>
          </a:stretch>
        </p:blipFill>
        <p:spPr>
          <a:xfrm>
            <a:off x="8001000" y="1781175"/>
            <a:ext cx="171450" cy="171450"/>
          </a:xfrm>
          <a:prstGeom prst="rect">
            <a:avLst/>
          </a:prstGeom>
        </p:spPr>
      </p:pic>
      <p:sp>
        <p:nvSpPr>
          <p:cNvPr id="37" name="Text 31"/>
          <p:cNvSpPr txBox="1"/>
          <p:nvPr/>
        </p:nvSpPr>
        <p:spPr>
          <a:xfrm>
            <a:off x="8248650" y="1752600"/>
            <a:ext cx="295275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목적</a:t>
            </a:r>
            <a:endParaRPr lang="ko-KR" sz="1400" dirty="0"/>
          </a:p>
        </p:txBody>
      </p:sp>
      <p:pic>
        <p:nvPicPr>
          <p:cNvPr id="38" name="Image 4" descr="">    </p:cNvPr>
          <p:cNvPicPr>
            <a:picLocks noChangeAspect="1"/>
          </p:cNvPicPr>
          <p:nvPr/>
        </p:nvPicPr>
        <p:blipFill>
          <a:blip r:embed="rId5"/>
          <a:stretch>
            <a:fillRect/>
          </a:stretch>
        </p:blipFill>
        <p:spPr>
          <a:xfrm>
            <a:off x="8001000" y="2209800"/>
            <a:ext cx="419100" cy="419100"/>
          </a:xfrm>
          <a:prstGeom prst="rect">
            <a:avLst/>
          </a:prstGeom>
        </p:spPr>
      </p:pic>
      <p:sp>
        <p:nvSpPr>
          <p:cNvPr id="39" name="Text 32"/>
          <p:cNvSpPr txBox="1"/>
          <p:nvPr/>
        </p:nvSpPr>
        <p:spPr>
          <a:xfrm>
            <a:off x="8001000" y="2895600"/>
            <a:ext cx="3200400" cy="1095375"/>
          </a:xfrm>
          <a:prstGeom prst="rect">
            <a:avLst/>
          </a:prstGeom>
          <a:noFill/>
          <a:ln/>
        </p:spPr>
        <p:txBody>
          <a:bodyPr wrap="square" lIns="0" tIns="0" rIns="0" bIns="0" rtlCol="0" anchor="t"/>
          <a:lstStyle/>
          <a:p>
            <a:pPr algn="l" indent="0" marL="0">
              <a:lnSpc>
                <a:spcPct val="103600"/>
              </a:lnSpc>
              <a:buNone/>
            </a:pPr>
            <a:r>
              <a:rPr lang="ko-KR" altLang="en-US" sz="3400" spc="-50" kern="0" dirty="0">
                <a:solidFill>
                  <a:schemeClr val="bg1"/>
                </a:solidFill>
                <a:latin typeface="Paperlogy 8 ExtraBold" pitchFamily="34" charset="0"/>
                <a:ea typeface="Paperlogy 8 ExtraBold" pitchFamily="34" charset="-127"/>
                <a:cs typeface="Paperlogy 8 ExtraBold" pitchFamily="34" charset="-120"/>
              </a:rPr>
              <a:t>현장</a:t>
            </a:r>
            <a:endParaRPr lang="ko-KR" sz="3400" dirty="0"/>
          </a:p>
          <a:p>
            <a:pPr algn="l" indent="0" marL="0">
              <a:lnSpc>
                <a:spcPct val="103600"/>
              </a:lnSpc>
              <a:buNone/>
            </a:pPr>
            <a:r>
              <a:rPr lang="ko-KR" altLang="en-US" sz="3400" spc="-50" kern="0" dirty="0">
                <a:solidFill>
                  <a:schemeClr val="bg1"/>
                </a:solidFill>
                <a:latin typeface="Paperlogy 8 ExtraBold" pitchFamily="34" charset="0"/>
                <a:ea typeface="Paperlogy 8 ExtraBold" pitchFamily="34" charset="-127"/>
                <a:cs typeface="Paperlogy 8 ExtraBold" pitchFamily="34" charset="-120"/>
              </a:rPr>
              <a:t>대응능력 강화</a:t>
            </a:r>
            <a:endParaRPr lang="ko-KR" sz="3400" dirty="0"/>
          </a:p>
        </p:txBody>
      </p:sp>
      <p:sp>
        <p:nvSpPr>
          <p:cNvPr id="40" name="Text 33"/>
          <p:cNvSpPr txBox="1"/>
          <p:nvPr/>
        </p:nvSpPr>
        <p:spPr>
          <a:xfrm>
            <a:off x="8001000" y="4124325"/>
            <a:ext cx="3200400" cy="685800"/>
          </a:xfrm>
          <a:prstGeom prst="rect">
            <a:avLst/>
          </a:prstGeom>
          <a:noFill/>
          <a:ln/>
        </p:spPr>
        <p:txBody>
          <a:bodyPr wrap="square" lIns="0" tIns="0" rIns="0" bIns="0" rtlCol="0" anchor="t"/>
          <a:lstStyle/>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복합재난 상황에서의</a:t>
            </a:r>
            <a:endParaRPr lang="ko-KR" sz="1700" dirty="0"/>
          </a:p>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실전적 합동대응 역량 확보</a:t>
            </a:r>
            <a:endParaRPr lang="ko-KR" sz="17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훈련배경</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01</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배경</a:t>
            </a:r>
            <a:endParaRPr lang="ko-KR" sz="1200" dirty="0"/>
          </a:p>
        </p:txBody>
      </p:sp>
      <p:sp>
        <p:nvSpPr>
          <p:cNvPr id="5" name="Text 2"/>
          <p:cNvSpPr txBox="1"/>
          <p:nvPr/>
        </p:nvSpPr>
        <p:spPr>
          <a:xfrm>
            <a:off x="685800" y="1447800"/>
            <a:ext cx="3429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터널 구조적 특성</a:t>
            </a:r>
            <a:endParaRPr lang="ko-KR" sz="1800" dirty="0"/>
          </a:p>
        </p:txBody>
      </p:sp>
      <p:sp>
        <p:nvSpPr>
          <p:cNvPr id="6" name="Shape 3"/>
          <p:cNvSpPr/>
          <p:nvPr/>
        </p:nvSpPr>
        <p:spPr>
          <a:xfrm>
            <a:off x="685800" y="1828800"/>
            <a:ext cx="3429000" cy="800100"/>
          </a:xfrm>
          <a:prstGeom prst="roundRect">
            <a:avLst>
              <a:gd name="adj" fmla="val 16667"/>
            </a:avLst>
          </a:prstGeom>
          <a:solidFill>
            <a:schemeClr val="bg1"/>
          </a:solidFill>
          <a:ln w="14288">
            <a:solidFill>
              <a:schemeClr val="accent6"/>
            </a:solidFill>
            <a:prstDash val="solid"/>
          </a:ln>
        </p:spPr>
      </p:sp>
      <p:sp>
        <p:nvSpPr>
          <p:cNvPr id="7" name="Shape 4"/>
          <p:cNvSpPr/>
          <p:nvPr/>
        </p:nvSpPr>
        <p:spPr>
          <a:xfrm>
            <a:off x="876300" y="1981200"/>
            <a:ext cx="495300" cy="495300"/>
          </a:xfrm>
          <a:prstGeom prst="ellipse">
            <a:avLst/>
          </a:prstGeom>
          <a:solidFill>
            <a:schemeClr val="accent2">
              <a:alpha val="12000"/>
            </a:schemeClr>
          </a:solidFill>
          <a:ln/>
        </p:spPr>
      </p:sp>
      <p:pic>
        <p:nvPicPr>
          <p:cNvPr id="8" name="Image 1" descr="">    </p:cNvPr>
          <p:cNvPicPr>
            <a:picLocks noChangeAspect="1"/>
          </p:cNvPicPr>
          <p:nvPr/>
        </p:nvPicPr>
        <p:blipFill>
          <a:blip r:embed="rId2"/>
          <a:stretch>
            <a:fillRect/>
          </a:stretch>
        </p:blipFill>
        <p:spPr>
          <a:xfrm>
            <a:off x="1000125" y="2105025"/>
            <a:ext cx="247650" cy="247650"/>
          </a:xfrm>
          <a:prstGeom prst="rect">
            <a:avLst/>
          </a:prstGeom>
        </p:spPr>
      </p:pic>
      <p:sp>
        <p:nvSpPr>
          <p:cNvPr id="9" name="Text 5"/>
          <p:cNvSpPr txBox="1"/>
          <p:nvPr/>
        </p:nvSpPr>
        <p:spPr>
          <a:xfrm>
            <a:off x="1543050" y="1828800"/>
            <a:ext cx="2381250" cy="8001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폐쇄공간</a:t>
            </a:r>
            <a:endParaRPr lang="ko-KR" sz="1900" dirty="0"/>
          </a:p>
        </p:txBody>
      </p:sp>
      <p:sp>
        <p:nvSpPr>
          <p:cNvPr id="10" name="Shape 6"/>
          <p:cNvSpPr/>
          <p:nvPr/>
        </p:nvSpPr>
        <p:spPr>
          <a:xfrm>
            <a:off x="685800" y="2743200"/>
            <a:ext cx="3429000" cy="800100"/>
          </a:xfrm>
          <a:prstGeom prst="roundRect">
            <a:avLst>
              <a:gd name="adj" fmla="val 16667"/>
            </a:avLst>
          </a:prstGeom>
          <a:solidFill>
            <a:schemeClr val="bg1"/>
          </a:solidFill>
          <a:ln w="14288">
            <a:solidFill>
              <a:schemeClr val="accent6"/>
            </a:solidFill>
            <a:prstDash val="solid"/>
          </a:ln>
        </p:spPr>
      </p:sp>
      <p:sp>
        <p:nvSpPr>
          <p:cNvPr id="11" name="Shape 7"/>
          <p:cNvSpPr/>
          <p:nvPr/>
        </p:nvSpPr>
        <p:spPr>
          <a:xfrm>
            <a:off x="876300" y="2895600"/>
            <a:ext cx="495300" cy="495300"/>
          </a:xfrm>
          <a:prstGeom prst="ellipse">
            <a:avLst/>
          </a:prstGeom>
          <a:solidFill>
            <a:schemeClr val="accent2">
              <a:alpha val="12000"/>
            </a:schemeClr>
          </a:solidFill>
          <a:ln/>
        </p:spPr>
      </p:sp>
      <p:pic>
        <p:nvPicPr>
          <p:cNvPr id="12" name="Image 2" descr="">    </p:cNvPr>
          <p:cNvPicPr>
            <a:picLocks noChangeAspect="1"/>
          </p:cNvPicPr>
          <p:nvPr/>
        </p:nvPicPr>
        <p:blipFill>
          <a:blip r:embed="rId3"/>
          <a:stretch>
            <a:fillRect/>
          </a:stretch>
        </p:blipFill>
        <p:spPr>
          <a:xfrm>
            <a:off x="1000125" y="3019425"/>
            <a:ext cx="247650" cy="247650"/>
          </a:xfrm>
          <a:prstGeom prst="rect">
            <a:avLst/>
          </a:prstGeom>
        </p:spPr>
      </p:pic>
      <p:sp>
        <p:nvSpPr>
          <p:cNvPr id="13" name="Text 8"/>
          <p:cNvSpPr txBox="1"/>
          <p:nvPr/>
        </p:nvSpPr>
        <p:spPr>
          <a:xfrm>
            <a:off x="1543050" y="2743200"/>
            <a:ext cx="2381250" cy="8001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시야와 대피 제약</a:t>
            </a:r>
            <a:endParaRPr lang="ko-KR" sz="1900" dirty="0"/>
          </a:p>
        </p:txBody>
      </p:sp>
      <p:sp>
        <p:nvSpPr>
          <p:cNvPr id="14" name="Shape 9"/>
          <p:cNvSpPr/>
          <p:nvPr/>
        </p:nvSpPr>
        <p:spPr>
          <a:xfrm>
            <a:off x="685800" y="3657600"/>
            <a:ext cx="3429000" cy="800100"/>
          </a:xfrm>
          <a:prstGeom prst="roundRect">
            <a:avLst>
              <a:gd name="adj" fmla="val 16667"/>
            </a:avLst>
          </a:prstGeom>
          <a:solidFill>
            <a:schemeClr val="bg1"/>
          </a:solidFill>
          <a:ln w="14288">
            <a:solidFill>
              <a:schemeClr val="accent6"/>
            </a:solidFill>
            <a:prstDash val="solid"/>
          </a:ln>
        </p:spPr>
      </p:sp>
      <p:sp>
        <p:nvSpPr>
          <p:cNvPr id="15" name="Shape 10"/>
          <p:cNvSpPr/>
          <p:nvPr/>
        </p:nvSpPr>
        <p:spPr>
          <a:xfrm>
            <a:off x="876300" y="3810000"/>
            <a:ext cx="495300" cy="495300"/>
          </a:xfrm>
          <a:prstGeom prst="ellipse">
            <a:avLst/>
          </a:prstGeom>
          <a:solidFill>
            <a:schemeClr val="accent2">
              <a:alpha val="12000"/>
            </a:schemeClr>
          </a:solidFill>
          <a:ln/>
        </p:spPr>
      </p:sp>
      <p:pic>
        <p:nvPicPr>
          <p:cNvPr id="16" name="Image 3" descr="">    </p:cNvPr>
          <p:cNvPicPr>
            <a:picLocks noChangeAspect="1"/>
          </p:cNvPicPr>
          <p:nvPr/>
        </p:nvPicPr>
        <p:blipFill>
          <a:blip r:embed="rId4"/>
          <a:stretch>
            <a:fillRect/>
          </a:stretch>
        </p:blipFill>
        <p:spPr>
          <a:xfrm>
            <a:off x="1000125" y="3933825"/>
            <a:ext cx="247650" cy="247650"/>
          </a:xfrm>
          <a:prstGeom prst="rect">
            <a:avLst/>
          </a:prstGeom>
        </p:spPr>
      </p:pic>
      <p:sp>
        <p:nvSpPr>
          <p:cNvPr id="17" name="Text 11"/>
          <p:cNvSpPr txBox="1"/>
          <p:nvPr/>
        </p:nvSpPr>
        <p:spPr>
          <a:xfrm>
            <a:off x="1543050" y="3657600"/>
            <a:ext cx="2381250" cy="8001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후속차량 정체 심화</a:t>
            </a:r>
            <a:endParaRPr lang="ko-KR" sz="1900" dirty="0"/>
          </a:p>
        </p:txBody>
      </p:sp>
      <p:sp>
        <p:nvSpPr>
          <p:cNvPr id="18" name="Text 12"/>
          <p:cNvSpPr txBox="1"/>
          <p:nvPr/>
        </p:nvSpPr>
        <p:spPr>
          <a:xfrm>
            <a:off x="4419600" y="1447800"/>
            <a:ext cx="70866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지역 여건</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충남 산업단지와 서산 대산산단</a:t>
            </a:r>
            <a:endParaRPr lang="ko-KR" sz="1800" dirty="0"/>
          </a:p>
        </p:txBody>
      </p:sp>
      <p:sp>
        <p:nvSpPr>
          <p:cNvPr id="19" name="Shape 13"/>
          <p:cNvSpPr/>
          <p:nvPr/>
        </p:nvSpPr>
        <p:spPr>
          <a:xfrm>
            <a:off x="4419600" y="1828800"/>
            <a:ext cx="3467100" cy="2628900"/>
          </a:xfrm>
          <a:prstGeom prst="roundRect">
            <a:avLst>
              <a:gd name="adj" fmla="val 6522"/>
            </a:avLst>
          </a:prstGeom>
          <a:solidFill>
            <a:schemeClr val="tx2"/>
          </a:solidFill>
          <a:ln/>
        </p:spPr>
      </p:sp>
      <p:pic>
        <p:nvPicPr>
          <p:cNvPr id="20" name="Image 4" descr="">    </p:cNvPr>
          <p:cNvPicPr>
            <a:picLocks noChangeAspect="1"/>
          </p:cNvPicPr>
          <p:nvPr/>
        </p:nvPicPr>
        <p:blipFill>
          <a:blip r:embed="rId5"/>
          <a:stretch>
            <a:fillRect/>
          </a:stretch>
        </p:blipFill>
        <p:spPr>
          <a:xfrm>
            <a:off x="7315200" y="2095500"/>
            <a:ext cx="304800" cy="304800"/>
          </a:xfrm>
          <a:prstGeom prst="rect">
            <a:avLst/>
          </a:prstGeom>
        </p:spPr>
      </p:pic>
      <p:sp>
        <p:nvSpPr>
          <p:cNvPr id="21" name="Text 14"/>
          <p:cNvSpPr txBox="1"/>
          <p:nvPr/>
        </p:nvSpPr>
        <p:spPr>
          <a:xfrm>
            <a:off x="4686300" y="2095500"/>
            <a:ext cx="24765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4"/>
                </a:solidFill>
                <a:latin typeface="Paperlogy 6 SemiBold" pitchFamily="34" charset="0"/>
                <a:ea typeface="Paperlogy 6 SemiBold" pitchFamily="34" charset="-127"/>
                <a:cs typeface="Paperlogy 6 SemiBold" pitchFamily="34" charset="-120"/>
              </a:rPr>
              <a:t>화물차 사고 비율</a:t>
            </a:r>
            <a:endParaRPr lang="ko-KR" sz="1600" dirty="0"/>
          </a:p>
        </p:txBody>
      </p:sp>
      <p:sp>
        <p:nvSpPr>
          <p:cNvPr id="22" name="Text 15"/>
          <p:cNvSpPr txBox="1"/>
          <p:nvPr/>
        </p:nvSpPr>
        <p:spPr>
          <a:xfrm>
            <a:off x="4686300" y="2857500"/>
            <a:ext cx="3048000" cy="1238250"/>
          </a:xfrm>
          <a:prstGeom prst="rect">
            <a:avLst/>
          </a:prstGeom>
          <a:noFill/>
          <a:ln/>
        </p:spPr>
        <p:txBody>
          <a:bodyPr wrap="square" lIns="0" tIns="0" rIns="0" bIns="0" rtlCol="0" anchor="b"/>
          <a:lstStyle/>
          <a:p>
            <a:pPr algn="l" indent="0" marL="0">
              <a:lnSpc>
                <a:spcPct val="84900"/>
              </a:lnSpc>
              <a:buNone/>
            </a:pPr>
            <a:r>
              <a:rPr lang="ko-KR" altLang="en-US" sz="2400" dirty="0">
                <a:solidFill>
                  <a:schemeClr val="bg1"/>
                </a:solidFill>
                <a:latin typeface="Paperlogy 7 Bold" pitchFamily="34" charset="0"/>
                <a:ea typeface="Paperlogy 7 Bold" pitchFamily="34" charset="-127"/>
                <a:cs typeface="Paperlogy 7 Bold" pitchFamily="34" charset="-120"/>
              </a:rPr>
              <a:t>전국 </a:t>
            </a:r>
            <a:pPr algn="l" indent="0" marL="0">
              <a:lnSpc>
                <a:spcPct val="84900"/>
              </a:lnSpc>
              <a:buNone/>
            </a:pPr>
            <a:r>
              <a:rPr lang="ko-KR" altLang="en-US" sz="9600" dirty="0">
                <a:solidFill>
                  <a:schemeClr val="accent3"/>
                </a:solidFill>
                <a:latin typeface="Paperlogy 9 Black" pitchFamily="34" charset="0"/>
                <a:ea typeface="Paperlogy 9 Black" pitchFamily="34" charset="-127"/>
                <a:cs typeface="Paperlogy 9 Black" pitchFamily="34" charset="-120"/>
              </a:rPr>
              <a:t>3</a:t>
            </a:r>
            <a:pPr algn="l" indent="0" marL="0">
              <a:lnSpc>
                <a:spcPct val="84900"/>
              </a:lnSpc>
              <a:buNone/>
            </a:pPr>
            <a:r>
              <a:rPr lang="ko-KR" altLang="en-US" sz="3200" dirty="0">
                <a:solidFill>
                  <a:schemeClr val="bg1"/>
                </a:solidFill>
                <a:latin typeface="Paperlogy 8 ExtraBold" pitchFamily="34" charset="0"/>
                <a:ea typeface="Paperlogy 8 ExtraBold" pitchFamily="34" charset="-127"/>
                <a:cs typeface="Paperlogy 8 ExtraBold" pitchFamily="34" charset="-120"/>
              </a:rPr>
              <a:t>위</a:t>
            </a:r>
            <a:endParaRPr lang="ko-KR" sz="1400" dirty="0"/>
          </a:p>
        </p:txBody>
      </p:sp>
      <p:sp>
        <p:nvSpPr>
          <p:cNvPr id="23" name="Shape 16"/>
          <p:cNvSpPr/>
          <p:nvPr/>
        </p:nvSpPr>
        <p:spPr>
          <a:xfrm>
            <a:off x="8039100" y="1828800"/>
            <a:ext cx="3467100" cy="2628900"/>
          </a:xfrm>
          <a:prstGeom prst="roundRect">
            <a:avLst>
              <a:gd name="adj" fmla="val 6522"/>
            </a:avLst>
          </a:prstGeom>
          <a:solidFill>
            <a:schemeClr val="tx2"/>
          </a:solidFill>
          <a:ln/>
        </p:spPr>
      </p:sp>
      <p:pic>
        <p:nvPicPr>
          <p:cNvPr id="24" name="Image 5" descr="">    </p:cNvPr>
          <p:cNvPicPr>
            <a:picLocks noChangeAspect="1"/>
          </p:cNvPicPr>
          <p:nvPr/>
        </p:nvPicPr>
        <p:blipFill>
          <a:blip r:embed="rId6"/>
          <a:stretch>
            <a:fillRect/>
          </a:stretch>
        </p:blipFill>
        <p:spPr>
          <a:xfrm>
            <a:off x="10934700" y="2095500"/>
            <a:ext cx="304800" cy="304800"/>
          </a:xfrm>
          <a:prstGeom prst="rect">
            <a:avLst/>
          </a:prstGeom>
        </p:spPr>
      </p:pic>
      <p:sp>
        <p:nvSpPr>
          <p:cNvPr id="25" name="Text 17"/>
          <p:cNvSpPr txBox="1"/>
          <p:nvPr/>
        </p:nvSpPr>
        <p:spPr>
          <a:xfrm>
            <a:off x="8305800" y="2095500"/>
            <a:ext cx="24765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4"/>
                </a:solidFill>
                <a:latin typeface="Paperlogy 6 SemiBold" pitchFamily="34" charset="0"/>
                <a:ea typeface="Paperlogy 6 SemiBold" pitchFamily="34" charset="-127"/>
                <a:cs typeface="Paperlogy 6 SemiBold" pitchFamily="34" charset="-120"/>
              </a:rPr>
              <a:t>위험물질 운송차량 사고</a:t>
            </a:r>
            <a:endParaRPr lang="ko-KR" sz="1600" dirty="0"/>
          </a:p>
        </p:txBody>
      </p:sp>
      <p:sp>
        <p:nvSpPr>
          <p:cNvPr id="26" name="Text 18"/>
          <p:cNvSpPr txBox="1"/>
          <p:nvPr/>
        </p:nvSpPr>
        <p:spPr>
          <a:xfrm>
            <a:off x="8305800" y="2857500"/>
            <a:ext cx="3048000" cy="1238250"/>
          </a:xfrm>
          <a:prstGeom prst="rect">
            <a:avLst/>
          </a:prstGeom>
          <a:noFill/>
          <a:ln/>
        </p:spPr>
        <p:txBody>
          <a:bodyPr wrap="square" lIns="0" tIns="0" rIns="0" bIns="0" rtlCol="0" anchor="b"/>
          <a:lstStyle/>
          <a:p>
            <a:pPr algn="l" indent="0" marL="0">
              <a:lnSpc>
                <a:spcPct val="84900"/>
              </a:lnSpc>
              <a:buNone/>
            </a:pPr>
            <a:r>
              <a:rPr lang="ko-KR" altLang="en-US" sz="2400" dirty="0">
                <a:solidFill>
                  <a:schemeClr val="bg1"/>
                </a:solidFill>
                <a:latin typeface="Paperlogy 7 Bold" pitchFamily="34" charset="0"/>
                <a:ea typeface="Paperlogy 7 Bold" pitchFamily="34" charset="-127"/>
                <a:cs typeface="Paperlogy 7 Bold" pitchFamily="34" charset="-120"/>
              </a:rPr>
              <a:t>전국 </a:t>
            </a:r>
            <a:pPr algn="l" indent="0" marL="0">
              <a:lnSpc>
                <a:spcPct val="84900"/>
              </a:lnSpc>
              <a:buNone/>
            </a:pPr>
            <a:r>
              <a:rPr lang="ko-KR" altLang="en-US" sz="9600" dirty="0">
                <a:solidFill>
                  <a:schemeClr val="accent3"/>
                </a:solidFill>
                <a:latin typeface="Paperlogy 9 Black" pitchFamily="34" charset="0"/>
                <a:ea typeface="Paperlogy 9 Black" pitchFamily="34" charset="-127"/>
                <a:cs typeface="Paperlogy 9 Black" pitchFamily="34" charset="-120"/>
              </a:rPr>
              <a:t>2</a:t>
            </a:r>
            <a:pPr algn="l" indent="0" marL="0">
              <a:lnSpc>
                <a:spcPct val="84900"/>
              </a:lnSpc>
              <a:buNone/>
            </a:pPr>
            <a:r>
              <a:rPr lang="ko-KR" altLang="en-US" sz="3200" dirty="0">
                <a:solidFill>
                  <a:schemeClr val="bg1"/>
                </a:solidFill>
                <a:latin typeface="Paperlogy 8 ExtraBold" pitchFamily="34" charset="0"/>
                <a:ea typeface="Paperlogy 8 ExtraBold" pitchFamily="34" charset="-127"/>
                <a:cs typeface="Paperlogy 8 ExtraBold" pitchFamily="34" charset="-120"/>
              </a:rPr>
              <a:t>위</a:t>
            </a:r>
            <a:endParaRPr lang="ko-KR" sz="1400" dirty="0"/>
          </a:p>
        </p:txBody>
      </p:sp>
      <p:sp>
        <p:nvSpPr>
          <p:cNvPr id="27" name="Text 19"/>
          <p:cNvSpPr txBox="1"/>
          <p:nvPr/>
        </p:nvSpPr>
        <p:spPr>
          <a:xfrm>
            <a:off x="8039100" y="4514850"/>
            <a:ext cx="3467100" cy="19050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4 Regular" pitchFamily="34" charset="0"/>
                <a:ea typeface="Paperlogy 4 Regular" pitchFamily="34" charset="-127"/>
                <a:cs typeface="Paperlogy 4 Regular" pitchFamily="34" charset="-120"/>
              </a:rPr>
              <a:t>* 실시계획 통계 재인용</a:t>
            </a:r>
            <a:endParaRPr lang="ko-KR" sz="1100" dirty="0"/>
          </a:p>
        </p:txBody>
      </p:sp>
      <p:sp>
        <p:nvSpPr>
          <p:cNvPr id="28" name="Conclusion banner"/>
          <p:cNvSpPr/>
          <p:nvPr/>
        </p:nvSpPr>
        <p:spPr>
          <a:xfrm>
            <a:off x="685800" y="4876800"/>
            <a:ext cx="10820400" cy="1219200"/>
          </a:xfrm>
          <a:prstGeom prst="roundRect">
            <a:avLst>
              <a:gd name="adj" fmla="val 14063"/>
            </a:avLst>
          </a:prstGeom>
          <a:solidFill>
            <a:schemeClr val="accent2">
              <a:alpha val="7000"/>
            </a:schemeClr>
          </a:solidFill>
          <a:ln/>
        </p:spPr>
      </p:sp>
      <p:sp>
        <p:nvSpPr>
          <p:cNvPr id="29" name="Shape 21"/>
          <p:cNvSpPr/>
          <p:nvPr/>
        </p:nvSpPr>
        <p:spPr>
          <a:xfrm>
            <a:off x="990600" y="5181600"/>
            <a:ext cx="609600" cy="609600"/>
          </a:xfrm>
          <a:prstGeom prst="ellipse">
            <a:avLst/>
          </a:prstGeom>
          <a:solidFill>
            <a:schemeClr val="accent2"/>
          </a:solidFill>
          <a:ln/>
        </p:spPr>
      </p:sp>
      <p:pic>
        <p:nvPicPr>
          <p:cNvPr id="30" name="Image 6" descr="">    </p:cNvPr>
          <p:cNvPicPr>
            <a:picLocks noChangeAspect="1"/>
          </p:cNvPicPr>
          <p:nvPr/>
        </p:nvPicPr>
        <p:blipFill>
          <a:blip r:embed="rId7"/>
          <a:stretch>
            <a:fillRect/>
          </a:stretch>
        </p:blipFill>
        <p:spPr>
          <a:xfrm>
            <a:off x="1143000" y="5334000"/>
            <a:ext cx="304800" cy="304800"/>
          </a:xfrm>
          <a:prstGeom prst="rect">
            <a:avLst/>
          </a:prstGeom>
        </p:spPr>
      </p:pic>
      <p:sp>
        <p:nvSpPr>
          <p:cNvPr id="31" name="Text 22"/>
          <p:cNvSpPr txBox="1"/>
          <p:nvPr/>
        </p:nvSpPr>
        <p:spPr>
          <a:xfrm>
            <a:off x="1866900" y="5086350"/>
            <a:ext cx="8572500" cy="361950"/>
          </a:xfrm>
          <a:prstGeom prst="rect">
            <a:avLst/>
          </a:prstGeom>
          <a:noFill/>
          <a:ln/>
        </p:spPr>
        <p:txBody>
          <a:bodyPr wrap="square" lIns="0" tIns="0" rIns="0" bIns="0" rtlCol="0" anchor="ctr"/>
          <a:lstStyle/>
          <a:p>
            <a:pPr algn="l" indent="0" marL="0">
              <a:lnSpc>
                <a:spcPct val="101900"/>
              </a:lnSpc>
              <a:buNone/>
            </a:pPr>
            <a:r>
              <a:rPr lang="ko-KR" altLang="en-US" sz="2400" spc="-30" kern="0" dirty="0">
                <a:solidFill>
                  <a:schemeClr val="tx2"/>
                </a:solidFill>
                <a:latin typeface="Paperlogy 8 ExtraBold" pitchFamily="34" charset="0"/>
                <a:ea typeface="Paperlogy 8 ExtraBold" pitchFamily="34" charset="-127"/>
                <a:cs typeface="Paperlogy 8 ExtraBold" pitchFamily="34" charset="-120"/>
              </a:rPr>
              <a:t>복합재난 합동대응 필요</a:t>
            </a:r>
            <a:endParaRPr lang="ko-KR" sz="2400" dirty="0"/>
          </a:p>
        </p:txBody>
      </p:sp>
      <p:sp>
        <p:nvSpPr>
          <p:cNvPr id="32" name="Text 23"/>
          <p:cNvSpPr txBox="1"/>
          <p:nvPr/>
        </p:nvSpPr>
        <p:spPr>
          <a:xfrm>
            <a:off x="1866900" y="5486400"/>
            <a:ext cx="9144000" cy="2857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tx1"/>
                </a:solidFill>
                <a:latin typeface="Paperlogy 5 Medium" pitchFamily="34" charset="0"/>
                <a:ea typeface="Paperlogy 5 Medium" pitchFamily="34" charset="-127"/>
                <a:cs typeface="Paperlogy 5 Medium" pitchFamily="34" charset="-120"/>
              </a:rPr>
              <a:t>도로관리청 단독 대응의 한계를 극복하기 위한 유관기관 공조 필수</a:t>
            </a:r>
            <a:endParaRPr lang="ko-KR" sz="17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최근 실제 사고 사례</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01</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배경</a:t>
            </a:r>
            <a:endParaRPr lang="ko-KR" sz="1200" dirty="0"/>
          </a:p>
        </p:txBody>
      </p:sp>
      <p:sp>
        <p:nvSpPr>
          <p:cNvPr id="5" name="Shape 2"/>
          <p:cNvSpPr/>
          <p:nvPr/>
        </p:nvSpPr>
        <p:spPr>
          <a:xfrm>
            <a:off x="685800" y="1504950"/>
            <a:ext cx="990600" cy="304800"/>
          </a:xfrm>
          <a:prstGeom prst="roundRect">
            <a:avLst>
              <a:gd name="adj" fmla="val 50000"/>
            </a:avLst>
          </a:prstGeom>
          <a:solidFill>
            <a:schemeClr val="accent2"/>
          </a:solidFill>
          <a:ln/>
        </p:spPr>
      </p:sp>
      <p:sp>
        <p:nvSpPr>
          <p:cNvPr id="6" name="Text 3"/>
          <p:cNvSpPr txBox="1"/>
          <p:nvPr/>
        </p:nvSpPr>
        <p:spPr>
          <a:xfrm>
            <a:off x="685800" y="1504950"/>
            <a:ext cx="990600" cy="304800"/>
          </a:xfrm>
          <a:prstGeom prst="rect">
            <a:avLst/>
          </a:prstGeom>
          <a:noFill/>
          <a:ln/>
        </p:spPr>
        <p:txBody>
          <a:bodyPr wrap="square" lIns="0" tIns="0" rIns="0" bIns="0" rtlCol="0" anchor="ctr"/>
          <a:lstStyle/>
          <a:p>
            <a:pPr algn="ctr"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실제 사고</a:t>
            </a:r>
            <a:endParaRPr lang="ko-KR" sz="1400" dirty="0"/>
          </a:p>
        </p:txBody>
      </p:sp>
      <p:sp>
        <p:nvSpPr>
          <p:cNvPr id="7" name="Text 4"/>
          <p:cNvSpPr txBox="1"/>
          <p:nvPr/>
        </p:nvSpPr>
        <p:spPr>
          <a:xfrm>
            <a:off x="1828800" y="1466850"/>
            <a:ext cx="533400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tx1"/>
                </a:solidFill>
                <a:latin typeface="Paperlogy 7 Bold" pitchFamily="34" charset="0"/>
                <a:ea typeface="Paperlogy 7 Bold" pitchFamily="34" charset="-127"/>
                <a:cs typeface="Paperlogy 7 Bold" pitchFamily="34" charset="-120"/>
              </a:rPr>
              <a:t>2026. 7. 27.  서천IC 인근</a:t>
            </a:r>
            <a:endParaRPr lang="ko-KR" sz="2400" dirty="0"/>
          </a:p>
        </p:txBody>
      </p:sp>
      <p:sp>
        <p:nvSpPr>
          <p:cNvPr id="8" name="Shape 5"/>
          <p:cNvSpPr/>
          <p:nvPr/>
        </p:nvSpPr>
        <p:spPr>
          <a:xfrm>
            <a:off x="685800" y="2057400"/>
            <a:ext cx="3200400" cy="1905000"/>
          </a:xfrm>
          <a:prstGeom prst="roundRect">
            <a:avLst>
              <a:gd name="adj" fmla="val 9000"/>
            </a:avLst>
          </a:prstGeom>
          <a:solidFill>
            <a:schemeClr val="bg2"/>
          </a:solidFill>
          <a:ln/>
        </p:spPr>
      </p:sp>
      <p:pic>
        <p:nvPicPr>
          <p:cNvPr id="9" name="Image 1" descr="">    </p:cNvPr>
          <p:cNvPicPr>
            <a:picLocks noChangeAspect="1"/>
          </p:cNvPicPr>
          <p:nvPr/>
        </p:nvPicPr>
        <p:blipFill>
          <a:blip r:embed="rId2"/>
          <a:stretch>
            <a:fillRect/>
          </a:stretch>
        </p:blipFill>
        <p:spPr>
          <a:xfrm>
            <a:off x="952500" y="2324100"/>
            <a:ext cx="266700" cy="266700"/>
          </a:xfrm>
          <a:prstGeom prst="rect">
            <a:avLst/>
          </a:prstGeom>
        </p:spPr>
      </p:pic>
      <p:sp>
        <p:nvSpPr>
          <p:cNvPr id="10" name="Text 6"/>
          <p:cNvSpPr txBox="1"/>
          <p:nvPr/>
        </p:nvSpPr>
        <p:spPr>
          <a:xfrm>
            <a:off x="1314450" y="2305050"/>
            <a:ext cx="22860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6 SemiBold" pitchFamily="34" charset="0"/>
                <a:ea typeface="Paperlogy 6 SemiBold" pitchFamily="34" charset="-127"/>
                <a:cs typeface="Paperlogy 6 SemiBold" pitchFamily="34" charset="-120"/>
              </a:rPr>
              <a:t>황산 누출</a:t>
            </a:r>
            <a:endParaRPr lang="ko-KR" sz="1600" dirty="0"/>
          </a:p>
        </p:txBody>
      </p:sp>
      <p:sp>
        <p:nvSpPr>
          <p:cNvPr id="11" name="Text 7"/>
          <p:cNvSpPr txBox="1"/>
          <p:nvPr/>
        </p:nvSpPr>
        <p:spPr>
          <a:xfrm>
            <a:off x="952500" y="2857500"/>
            <a:ext cx="2762250" cy="876300"/>
          </a:xfrm>
          <a:prstGeom prst="rect">
            <a:avLst/>
          </a:prstGeom>
          <a:noFill/>
          <a:ln/>
        </p:spPr>
        <p:txBody>
          <a:bodyPr wrap="square" lIns="0" tIns="0" rIns="0" bIns="0" rtlCol="0" anchor="ctr"/>
          <a:lstStyle/>
          <a:p>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약 </a:t>
            </a:r>
            <a:pPr algn="l" indent="0" marL="0">
              <a:lnSpc>
                <a:spcPct val="84900"/>
              </a:lnSpc>
              <a:buNone/>
            </a:pPr>
            <a:r>
              <a:rPr lang="ko-KR" altLang="en-US" sz="5600" dirty="0">
                <a:solidFill>
                  <a:schemeClr val="tx2"/>
                </a:solidFill>
                <a:latin typeface="Paperlogy 8 ExtraBold" pitchFamily="34" charset="0"/>
                <a:ea typeface="Paperlogy 8 ExtraBold" pitchFamily="34" charset="-127"/>
                <a:cs typeface="Paperlogy 8 ExtraBold" pitchFamily="34" charset="-120"/>
              </a:rPr>
              <a:t>1.63</a:t>
            </a:r>
            <a:pPr algn="l" indent="0" marL="0">
              <a:lnSpc>
                <a:spcPct val="84900"/>
              </a:lnSpc>
              <a:buNone/>
            </a:pPr>
            <a:r>
              <a:rPr lang="ko-KR" altLang="en-US" sz="2600" dirty="0">
                <a:solidFill>
                  <a:schemeClr val="tx2"/>
                </a:solidFill>
                <a:latin typeface="Paperlogy 7 Bold" pitchFamily="34" charset="0"/>
                <a:ea typeface="Paperlogy 7 Bold" pitchFamily="34" charset="-127"/>
                <a:cs typeface="Paperlogy 7 Bold" pitchFamily="34" charset="-120"/>
              </a:rPr>
              <a:t>톤</a:t>
            </a:r>
            <a:endParaRPr lang="ko-KR" sz="1400" dirty="0"/>
          </a:p>
        </p:txBody>
      </p:sp>
      <p:sp>
        <p:nvSpPr>
          <p:cNvPr id="12" name="Shape 8"/>
          <p:cNvSpPr/>
          <p:nvPr/>
        </p:nvSpPr>
        <p:spPr>
          <a:xfrm>
            <a:off x="4038600" y="2057400"/>
            <a:ext cx="3200400" cy="1905000"/>
          </a:xfrm>
          <a:prstGeom prst="roundRect">
            <a:avLst>
              <a:gd name="adj" fmla="val 9000"/>
            </a:avLst>
          </a:prstGeom>
          <a:solidFill>
            <a:schemeClr val="bg2"/>
          </a:solidFill>
          <a:ln/>
        </p:spPr>
      </p:sp>
      <p:pic>
        <p:nvPicPr>
          <p:cNvPr id="13" name="Image 2" descr="">    </p:cNvPr>
          <p:cNvPicPr>
            <a:picLocks noChangeAspect="1"/>
          </p:cNvPicPr>
          <p:nvPr/>
        </p:nvPicPr>
        <p:blipFill>
          <a:blip r:embed="rId3"/>
          <a:stretch>
            <a:fillRect/>
          </a:stretch>
        </p:blipFill>
        <p:spPr>
          <a:xfrm>
            <a:off x="4305300" y="2324100"/>
            <a:ext cx="266700" cy="266700"/>
          </a:xfrm>
          <a:prstGeom prst="rect">
            <a:avLst/>
          </a:prstGeom>
        </p:spPr>
      </p:pic>
      <p:sp>
        <p:nvSpPr>
          <p:cNvPr id="14" name="Text 9"/>
          <p:cNvSpPr txBox="1"/>
          <p:nvPr/>
        </p:nvSpPr>
        <p:spPr>
          <a:xfrm>
            <a:off x="4667250" y="2305050"/>
            <a:ext cx="22860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6 SemiBold" pitchFamily="34" charset="0"/>
                <a:ea typeface="Paperlogy 6 SemiBold" pitchFamily="34" charset="-127"/>
                <a:cs typeface="Paperlogy 6 SemiBold" pitchFamily="34" charset="-120"/>
              </a:rPr>
              <a:t>인근 주민 대피</a:t>
            </a:r>
            <a:endParaRPr lang="ko-KR" sz="1600" dirty="0"/>
          </a:p>
        </p:txBody>
      </p:sp>
      <p:sp>
        <p:nvSpPr>
          <p:cNvPr id="15" name="Text 10"/>
          <p:cNvSpPr txBox="1"/>
          <p:nvPr/>
        </p:nvSpPr>
        <p:spPr>
          <a:xfrm>
            <a:off x="4305300" y="2857500"/>
            <a:ext cx="2762250" cy="876300"/>
          </a:xfrm>
          <a:prstGeom prst="rect">
            <a:avLst/>
          </a:prstGeom>
          <a:noFill/>
          <a:ln/>
        </p:spPr>
        <p:txBody>
          <a:bodyPr wrap="square" lIns="0" tIns="0" rIns="0" bIns="0" rtlCol="0" anchor="ctr"/>
          <a:lstStyle/>
          <a:p>
            <a:pPr algn="l" indent="0" marL="0">
              <a:lnSpc>
                <a:spcPct val="84900"/>
              </a:lnSpc>
              <a:buNone/>
            </a:pPr>
            <a:r>
              <a:rPr lang="ko-KR" altLang="en-US" sz="5600" dirty="0">
                <a:solidFill>
                  <a:schemeClr val="tx2"/>
                </a:solidFill>
                <a:latin typeface="Paperlogy 8 ExtraBold" pitchFamily="34" charset="0"/>
                <a:ea typeface="Paperlogy 8 ExtraBold" pitchFamily="34" charset="-127"/>
                <a:cs typeface="Paperlogy 8 ExtraBold" pitchFamily="34" charset="-120"/>
              </a:rPr>
              <a:t>77</a:t>
            </a:r>
            <a:pPr algn="l" indent="0" marL="0">
              <a:lnSpc>
                <a:spcPct val="84900"/>
              </a:lnSpc>
              <a:buNone/>
            </a:pPr>
            <a:r>
              <a:rPr lang="ko-KR" altLang="en-US" sz="26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16" name="Shape 11"/>
          <p:cNvSpPr/>
          <p:nvPr/>
        </p:nvSpPr>
        <p:spPr>
          <a:xfrm>
            <a:off x="685800" y="4191000"/>
            <a:ext cx="6553200" cy="0"/>
          </a:xfrm>
          <a:prstGeom prst="line">
            <a:avLst/>
          </a:prstGeom>
          <a:noFill/>
          <a:ln w="14288">
            <a:solidFill>
              <a:schemeClr val="accent6"/>
            </a:solidFill>
            <a:prstDash val="solid"/>
          </a:ln>
        </p:spPr>
      </p:sp>
      <p:sp>
        <p:nvSpPr>
          <p:cNvPr id="17" name="Text 12"/>
          <p:cNvSpPr txBox="1"/>
          <p:nvPr/>
        </p:nvSpPr>
        <p:spPr>
          <a:xfrm>
            <a:off x="685800" y="4191000"/>
            <a:ext cx="1047750" cy="5524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사고개요</a:t>
            </a:r>
            <a:endParaRPr lang="ko-KR" sz="1500" dirty="0"/>
          </a:p>
        </p:txBody>
      </p:sp>
      <p:sp>
        <p:nvSpPr>
          <p:cNvPr id="18" name="Text 13"/>
          <p:cNvSpPr txBox="1"/>
          <p:nvPr/>
        </p:nvSpPr>
        <p:spPr>
          <a:xfrm>
            <a:off x="1809750" y="4191000"/>
            <a:ext cx="5429250" cy="5524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5 Medium" pitchFamily="34" charset="0"/>
                <a:ea typeface="Paperlogy 5 Medium" pitchFamily="34" charset="-127"/>
                <a:cs typeface="Paperlogy 5 Medium" pitchFamily="34" charset="-120"/>
              </a:rPr>
              <a:t>황산 누출 (약 1.63톤)</a:t>
            </a:r>
            <a:endParaRPr lang="ko-KR" sz="1800" dirty="0"/>
          </a:p>
        </p:txBody>
      </p:sp>
      <p:sp>
        <p:nvSpPr>
          <p:cNvPr id="19" name="Shape 14"/>
          <p:cNvSpPr/>
          <p:nvPr/>
        </p:nvSpPr>
        <p:spPr>
          <a:xfrm>
            <a:off x="685800" y="4743450"/>
            <a:ext cx="6553200" cy="0"/>
          </a:xfrm>
          <a:prstGeom prst="line">
            <a:avLst/>
          </a:prstGeom>
          <a:noFill/>
          <a:ln w="14288">
            <a:solidFill>
              <a:schemeClr val="accent6"/>
            </a:solidFill>
            <a:prstDash val="solid"/>
          </a:ln>
        </p:spPr>
      </p:sp>
      <p:sp>
        <p:nvSpPr>
          <p:cNvPr id="20" name="Text 15"/>
          <p:cNvSpPr txBox="1"/>
          <p:nvPr/>
        </p:nvSpPr>
        <p:spPr>
          <a:xfrm>
            <a:off x="685800" y="4743450"/>
            <a:ext cx="1047750" cy="5524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조치사항</a:t>
            </a:r>
            <a:endParaRPr lang="ko-KR" sz="1500" dirty="0"/>
          </a:p>
        </p:txBody>
      </p:sp>
      <p:sp>
        <p:nvSpPr>
          <p:cNvPr id="21" name="Text 16"/>
          <p:cNvSpPr txBox="1"/>
          <p:nvPr/>
        </p:nvSpPr>
        <p:spPr>
          <a:xfrm>
            <a:off x="1809750" y="4743450"/>
            <a:ext cx="5429250" cy="5524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5 Medium" pitchFamily="34" charset="0"/>
                <a:ea typeface="Paperlogy 5 Medium" pitchFamily="34" charset="-127"/>
                <a:cs typeface="Paperlogy 5 Medium" pitchFamily="34" charset="-120"/>
              </a:rPr>
              <a:t>도로통제 및 합동방제, 인근 주민 77명 대피</a:t>
            </a:r>
            <a:endParaRPr lang="ko-KR" sz="1800" dirty="0"/>
          </a:p>
        </p:txBody>
      </p:sp>
      <p:sp>
        <p:nvSpPr>
          <p:cNvPr id="22" name="Shape 17"/>
          <p:cNvSpPr/>
          <p:nvPr/>
        </p:nvSpPr>
        <p:spPr>
          <a:xfrm>
            <a:off x="685800" y="5295900"/>
            <a:ext cx="6553200" cy="0"/>
          </a:xfrm>
          <a:prstGeom prst="line">
            <a:avLst/>
          </a:prstGeom>
          <a:noFill/>
          <a:ln w="14288">
            <a:solidFill>
              <a:schemeClr val="accent6"/>
            </a:solidFill>
            <a:prstDash val="solid"/>
          </a:ln>
        </p:spPr>
      </p:sp>
      <p:pic>
        <p:nvPicPr>
          <p:cNvPr id="23" name="Image 3" descr="">    </p:cNvPr>
          <p:cNvPicPr>
            <a:picLocks noChangeAspect="1"/>
          </p:cNvPicPr>
          <p:nvPr/>
        </p:nvPicPr>
        <p:blipFill>
          <a:blip r:embed="rId4"/>
          <a:stretch>
            <a:fillRect/>
          </a:stretch>
        </p:blipFill>
        <p:spPr>
          <a:xfrm>
            <a:off x="685800" y="5524500"/>
            <a:ext cx="171450" cy="171450"/>
          </a:xfrm>
          <a:prstGeom prst="rect">
            <a:avLst/>
          </a:prstGeom>
        </p:spPr>
      </p:pic>
      <p:sp>
        <p:nvSpPr>
          <p:cNvPr id="24" name="Text 18"/>
          <p:cNvSpPr txBox="1"/>
          <p:nvPr/>
        </p:nvSpPr>
        <p:spPr>
          <a:xfrm>
            <a:off x="952500" y="5467350"/>
            <a:ext cx="3810000" cy="2857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4 Regular" pitchFamily="34" charset="0"/>
                <a:ea typeface="Paperlogy 4 Regular" pitchFamily="34" charset="-127"/>
                <a:cs typeface="Paperlogy 4 Regular" pitchFamily="34" charset="-120"/>
              </a:rPr>
              <a:t>출처 : 아주경제, 대전MBC</a:t>
            </a:r>
            <a:endParaRPr lang="ko-KR" sz="1300" dirty="0"/>
          </a:p>
        </p:txBody>
      </p:sp>
      <p:sp>
        <p:nvSpPr>
          <p:cNvPr id="25" name="Key message card"/>
          <p:cNvSpPr/>
          <p:nvPr/>
        </p:nvSpPr>
        <p:spPr>
          <a:xfrm>
            <a:off x="7543800" y="1447800"/>
            <a:ext cx="3962400" cy="4648200"/>
          </a:xfrm>
          <a:prstGeom prst="roundRect">
            <a:avLst>
              <a:gd name="adj" fmla="val 4327"/>
            </a:avLst>
          </a:prstGeom>
          <a:solidFill>
            <a:schemeClr val="tx2"/>
          </a:solidFill>
          <a:ln/>
        </p:spPr>
      </p:sp>
      <p:pic>
        <p:nvPicPr>
          <p:cNvPr id="26" name="Image 4" descr="">    </p:cNvPr>
          <p:cNvPicPr>
            <a:picLocks noChangeAspect="1"/>
          </p:cNvPicPr>
          <p:nvPr/>
        </p:nvPicPr>
        <p:blipFill>
          <a:blip r:embed="rId5"/>
          <a:stretch>
            <a:fillRect/>
          </a:stretch>
        </p:blipFill>
        <p:spPr>
          <a:xfrm>
            <a:off x="7848600" y="1781175"/>
            <a:ext cx="171450" cy="171450"/>
          </a:xfrm>
          <a:prstGeom prst="rect">
            <a:avLst/>
          </a:prstGeom>
        </p:spPr>
      </p:pic>
      <p:sp>
        <p:nvSpPr>
          <p:cNvPr id="27" name="Text 20"/>
          <p:cNvSpPr txBox="1"/>
          <p:nvPr/>
        </p:nvSpPr>
        <p:spPr>
          <a:xfrm>
            <a:off x="8096250" y="1752600"/>
            <a:ext cx="310515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시사점</a:t>
            </a:r>
            <a:endParaRPr lang="ko-KR" sz="1400" dirty="0"/>
          </a:p>
        </p:txBody>
      </p:sp>
      <p:sp>
        <p:nvSpPr>
          <p:cNvPr id="28" name="Text 21"/>
          <p:cNvSpPr txBox="1"/>
          <p:nvPr/>
        </p:nvSpPr>
        <p:spPr>
          <a:xfrm>
            <a:off x="7848600" y="2209800"/>
            <a:ext cx="3352800" cy="1038225"/>
          </a:xfrm>
          <a:prstGeom prst="rect">
            <a:avLst/>
          </a:prstGeom>
          <a:noFill/>
          <a:ln/>
        </p:spPr>
        <p:txBody>
          <a:bodyPr wrap="square" lIns="0" tIns="0" rIns="0" bIns="0" rtlCol="0" anchor="t"/>
          <a:lstStyle/>
          <a:p>
            <a:pPr algn="l" indent="0" marL="0">
              <a:lnSpc>
                <a:spcPct val="103600"/>
              </a:lnSpc>
              <a:buNone/>
            </a:pPr>
            <a:r>
              <a:rPr lang="ko-KR" altLang="en-US" sz="3200" spc="-50" kern="0" dirty="0">
                <a:solidFill>
                  <a:schemeClr val="bg1"/>
                </a:solidFill>
                <a:latin typeface="Paperlogy 8 ExtraBold" pitchFamily="34" charset="0"/>
                <a:ea typeface="Paperlogy 8 ExtraBold" pitchFamily="34" charset="-127"/>
                <a:cs typeface="Paperlogy 8 ExtraBold" pitchFamily="34" charset="-120"/>
              </a:rPr>
              <a:t>실제 사고의</a:t>
            </a:r>
            <a:endParaRPr lang="ko-KR" sz="3200" dirty="0"/>
          </a:p>
          <a:p>
            <a:pPr algn="l" indent="0" marL="0">
              <a:lnSpc>
                <a:spcPct val="103600"/>
              </a:lnSpc>
              <a:buNone/>
            </a:pPr>
            <a:r>
              <a:rPr lang="ko-KR" altLang="en-US" sz="3200" spc="-50" kern="0" dirty="0">
                <a:solidFill>
                  <a:schemeClr val="bg1"/>
                </a:solidFill>
                <a:latin typeface="Paperlogy 8 ExtraBold" pitchFamily="34" charset="0"/>
                <a:ea typeface="Paperlogy 8 ExtraBold" pitchFamily="34" charset="-127"/>
                <a:cs typeface="Paperlogy 8 ExtraBold" pitchFamily="34" charset="-120"/>
              </a:rPr>
              <a:t>교훈을 반영</a:t>
            </a:r>
            <a:endParaRPr lang="ko-KR" sz="3200" dirty="0"/>
          </a:p>
        </p:txBody>
      </p:sp>
      <p:sp>
        <p:nvSpPr>
          <p:cNvPr id="29" name="Text 22"/>
          <p:cNvSpPr txBox="1"/>
          <p:nvPr/>
        </p:nvSpPr>
        <p:spPr>
          <a:xfrm>
            <a:off x="7848600" y="3381375"/>
            <a:ext cx="3352800" cy="6477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본 훈련은 가상의 벤젠 유출 상황을</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설정하여 실제 사고의 교훈을 반영</a:t>
            </a:r>
            <a:endParaRPr lang="ko-KR" sz="1600" dirty="0"/>
          </a:p>
        </p:txBody>
      </p:sp>
      <p:sp>
        <p:nvSpPr>
          <p:cNvPr id="30" name="Shape 23"/>
          <p:cNvSpPr/>
          <p:nvPr/>
        </p:nvSpPr>
        <p:spPr>
          <a:xfrm>
            <a:off x="7848600" y="4800600"/>
            <a:ext cx="3352800" cy="476250"/>
          </a:xfrm>
          <a:prstGeom prst="roundRect">
            <a:avLst>
              <a:gd name="adj" fmla="val 24000"/>
            </a:avLst>
          </a:prstGeom>
          <a:solidFill>
            <a:schemeClr val="bg1">
              <a:alpha val="8000"/>
            </a:schemeClr>
          </a:solidFill>
          <a:ln/>
        </p:spPr>
      </p:sp>
      <p:sp>
        <p:nvSpPr>
          <p:cNvPr id="31" name="Text 24"/>
          <p:cNvSpPr txBox="1"/>
          <p:nvPr/>
        </p:nvSpPr>
        <p:spPr>
          <a:xfrm>
            <a:off x="8039100" y="4800600"/>
            <a:ext cx="952500" cy="4762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4"/>
                </a:solidFill>
                <a:latin typeface="Paperlogy 6 SemiBold" pitchFamily="34" charset="0"/>
                <a:ea typeface="Paperlogy 6 SemiBold" pitchFamily="34" charset="-127"/>
                <a:cs typeface="Paperlogy 6 SemiBold" pitchFamily="34" charset="-120"/>
              </a:rPr>
              <a:t>실제 사고</a:t>
            </a:r>
            <a:endParaRPr lang="ko-KR" sz="1300" dirty="0"/>
          </a:p>
        </p:txBody>
      </p:sp>
      <p:sp>
        <p:nvSpPr>
          <p:cNvPr id="32" name="Text 25"/>
          <p:cNvSpPr txBox="1"/>
          <p:nvPr/>
        </p:nvSpPr>
        <p:spPr>
          <a:xfrm>
            <a:off x="8991600" y="4800600"/>
            <a:ext cx="2095500" cy="4762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bg1"/>
                </a:solidFill>
                <a:latin typeface="Paperlogy 5 Medium" pitchFamily="34" charset="0"/>
                <a:ea typeface="Paperlogy 5 Medium" pitchFamily="34" charset="-127"/>
                <a:cs typeface="Paperlogy 5 Medium" pitchFamily="34" charset="-120"/>
              </a:rPr>
              <a:t>황산 누출 · 약 1.63톤</a:t>
            </a:r>
            <a:endParaRPr lang="ko-KR" sz="1500" dirty="0"/>
          </a:p>
        </p:txBody>
      </p:sp>
      <p:sp>
        <p:nvSpPr>
          <p:cNvPr id="33" name="Shape 26"/>
          <p:cNvSpPr/>
          <p:nvPr/>
        </p:nvSpPr>
        <p:spPr>
          <a:xfrm>
            <a:off x="7848600" y="5372100"/>
            <a:ext cx="3352800" cy="476250"/>
          </a:xfrm>
          <a:prstGeom prst="roundRect">
            <a:avLst>
              <a:gd name="adj" fmla="val 24000"/>
            </a:avLst>
          </a:prstGeom>
          <a:solidFill>
            <a:schemeClr val="bg1">
              <a:alpha val="8000"/>
            </a:schemeClr>
          </a:solidFill>
          <a:ln/>
        </p:spPr>
      </p:sp>
      <p:sp>
        <p:nvSpPr>
          <p:cNvPr id="34" name="Text 27"/>
          <p:cNvSpPr txBox="1"/>
          <p:nvPr/>
        </p:nvSpPr>
        <p:spPr>
          <a:xfrm>
            <a:off x="8039100" y="5372100"/>
            <a:ext cx="952500" cy="4762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훈련 상황</a:t>
            </a:r>
            <a:endParaRPr lang="ko-KR" sz="1300" dirty="0"/>
          </a:p>
        </p:txBody>
      </p:sp>
      <p:sp>
        <p:nvSpPr>
          <p:cNvPr id="35" name="Text 28"/>
          <p:cNvSpPr txBox="1"/>
          <p:nvPr/>
        </p:nvSpPr>
        <p:spPr>
          <a:xfrm>
            <a:off x="8991600" y="5372100"/>
            <a:ext cx="2095500" cy="4762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bg1"/>
                </a:solidFill>
                <a:latin typeface="Paperlogy 5 Medium" pitchFamily="34" charset="0"/>
                <a:ea typeface="Paperlogy 5 Medium" pitchFamily="34" charset="-127"/>
                <a:cs typeface="Paperlogy 5 Medium" pitchFamily="34" charset="-120"/>
              </a:rPr>
              <a:t>벤젠 20L 누출 · 착화</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훈련개요</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02</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계획</a:t>
            </a:r>
            <a:endParaRPr lang="ko-KR" sz="1200" dirty="0"/>
          </a:p>
        </p:txBody>
      </p:sp>
      <p:sp>
        <p:nvSpPr>
          <p:cNvPr id="5" name="Shape 2"/>
          <p:cNvSpPr/>
          <p:nvPr/>
        </p:nvSpPr>
        <p:spPr>
          <a:xfrm>
            <a:off x="685800" y="1447800"/>
            <a:ext cx="5334000" cy="914400"/>
          </a:xfrm>
          <a:prstGeom prst="roundRect">
            <a:avLst>
              <a:gd name="adj" fmla="val 18750"/>
            </a:avLst>
          </a:prstGeom>
          <a:solidFill>
            <a:schemeClr val="bg2"/>
          </a:solidFill>
          <a:ln/>
        </p:spPr>
      </p:sp>
      <p:sp>
        <p:nvSpPr>
          <p:cNvPr id="6" name="Shape 3"/>
          <p:cNvSpPr/>
          <p:nvPr/>
        </p:nvSpPr>
        <p:spPr>
          <a:xfrm>
            <a:off x="914400" y="1657350"/>
            <a:ext cx="495300" cy="495300"/>
          </a:xfrm>
          <a:prstGeom prst="ellipse">
            <a:avLst/>
          </a:prstGeom>
          <a:solidFill>
            <a:schemeClr val="tx2"/>
          </a:solidFill>
          <a:ln/>
        </p:spPr>
      </p:sp>
      <p:pic>
        <p:nvPicPr>
          <p:cNvPr id="7" name="Image 1" descr="">    </p:cNvPr>
          <p:cNvPicPr>
            <a:picLocks noChangeAspect="1"/>
          </p:cNvPicPr>
          <p:nvPr/>
        </p:nvPicPr>
        <p:blipFill>
          <a:blip r:embed="rId2"/>
          <a:stretch>
            <a:fillRect/>
          </a:stretch>
        </p:blipFill>
        <p:spPr>
          <a:xfrm>
            <a:off x="1038225" y="1781175"/>
            <a:ext cx="247650" cy="247650"/>
          </a:xfrm>
          <a:prstGeom prst="rect">
            <a:avLst/>
          </a:prstGeom>
        </p:spPr>
      </p:pic>
      <p:sp>
        <p:nvSpPr>
          <p:cNvPr id="8" name="Text 4"/>
          <p:cNvSpPr txBox="1"/>
          <p:nvPr/>
        </p:nvSpPr>
        <p:spPr>
          <a:xfrm>
            <a:off x="1562100" y="1600200"/>
            <a:ext cx="4191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6 SemiBold" pitchFamily="34" charset="0"/>
                <a:ea typeface="Paperlogy 6 SemiBold" pitchFamily="34" charset="-127"/>
                <a:cs typeface="Paperlogy 6 SemiBold" pitchFamily="34" charset="-120"/>
              </a:rPr>
              <a:t>일시</a:t>
            </a:r>
            <a:endParaRPr lang="ko-KR" sz="1400" dirty="0"/>
          </a:p>
        </p:txBody>
      </p:sp>
      <p:sp>
        <p:nvSpPr>
          <p:cNvPr id="9" name="Text 5"/>
          <p:cNvSpPr txBox="1"/>
          <p:nvPr/>
        </p:nvSpPr>
        <p:spPr>
          <a:xfrm>
            <a:off x="1562100" y="1828800"/>
            <a:ext cx="4343400" cy="361950"/>
          </a:xfrm>
          <a:prstGeom prst="rect">
            <a:avLst/>
          </a:prstGeom>
          <a:noFill/>
          <a:ln/>
        </p:spPr>
        <p:txBody>
          <a:bodyPr wrap="square" lIns="0" tIns="0" rIns="0" bIns="0" rtlCol="0" anchor="ctr"/>
          <a:lstStyle/>
          <a:p>
            <a:pPr algn="l" indent="0" marL="0">
              <a:lnSpc>
                <a:spcPct val="101900"/>
              </a:lnSpc>
              <a:buNone/>
            </a:pPr>
            <a:r>
              <a:rPr lang="ko-KR" altLang="en-US" sz="2100" dirty="0">
                <a:solidFill>
                  <a:schemeClr val="tx1"/>
                </a:solidFill>
                <a:latin typeface="Paperlogy 7 Bold" pitchFamily="34" charset="0"/>
                <a:ea typeface="Paperlogy 7 Bold" pitchFamily="34" charset="-127"/>
                <a:cs typeface="Paperlogy 7 Bold" pitchFamily="34" charset="-120"/>
              </a:rPr>
              <a:t>2026. 10. 22. (목) 14:00 ~ 16:00</a:t>
            </a:r>
            <a:endParaRPr lang="ko-KR" sz="2100" dirty="0"/>
          </a:p>
        </p:txBody>
      </p:sp>
      <p:sp>
        <p:nvSpPr>
          <p:cNvPr id="10" name="Shape 6"/>
          <p:cNvSpPr/>
          <p:nvPr/>
        </p:nvSpPr>
        <p:spPr>
          <a:xfrm>
            <a:off x="6172200" y="1447800"/>
            <a:ext cx="5334000" cy="914400"/>
          </a:xfrm>
          <a:prstGeom prst="roundRect">
            <a:avLst>
              <a:gd name="adj" fmla="val 18750"/>
            </a:avLst>
          </a:prstGeom>
          <a:solidFill>
            <a:schemeClr val="bg2"/>
          </a:solidFill>
          <a:ln/>
        </p:spPr>
      </p:sp>
      <p:sp>
        <p:nvSpPr>
          <p:cNvPr id="11" name="Shape 7"/>
          <p:cNvSpPr/>
          <p:nvPr/>
        </p:nvSpPr>
        <p:spPr>
          <a:xfrm>
            <a:off x="6400800" y="1657350"/>
            <a:ext cx="495300" cy="495300"/>
          </a:xfrm>
          <a:prstGeom prst="ellipse">
            <a:avLst/>
          </a:prstGeom>
          <a:solidFill>
            <a:schemeClr val="tx2"/>
          </a:solidFill>
          <a:ln/>
        </p:spPr>
      </p:sp>
      <p:pic>
        <p:nvPicPr>
          <p:cNvPr id="12" name="Image 2" descr="">    </p:cNvPr>
          <p:cNvPicPr>
            <a:picLocks noChangeAspect="1"/>
          </p:cNvPicPr>
          <p:nvPr/>
        </p:nvPicPr>
        <p:blipFill>
          <a:blip r:embed="rId3"/>
          <a:stretch>
            <a:fillRect/>
          </a:stretch>
        </p:blipFill>
        <p:spPr>
          <a:xfrm>
            <a:off x="6524625" y="1781175"/>
            <a:ext cx="247650" cy="247650"/>
          </a:xfrm>
          <a:prstGeom prst="rect">
            <a:avLst/>
          </a:prstGeom>
        </p:spPr>
      </p:pic>
      <p:sp>
        <p:nvSpPr>
          <p:cNvPr id="13" name="Text 8"/>
          <p:cNvSpPr txBox="1"/>
          <p:nvPr/>
        </p:nvSpPr>
        <p:spPr>
          <a:xfrm>
            <a:off x="7048500" y="1600200"/>
            <a:ext cx="4191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6 SemiBold" pitchFamily="34" charset="0"/>
                <a:ea typeface="Paperlogy 6 SemiBold" pitchFamily="34" charset="-127"/>
                <a:cs typeface="Paperlogy 6 SemiBold" pitchFamily="34" charset="-120"/>
              </a:rPr>
              <a:t>장소</a:t>
            </a:r>
            <a:endParaRPr lang="ko-KR" sz="1400" dirty="0"/>
          </a:p>
        </p:txBody>
      </p:sp>
      <p:sp>
        <p:nvSpPr>
          <p:cNvPr id="14" name="Text 9"/>
          <p:cNvSpPr txBox="1"/>
          <p:nvPr/>
        </p:nvSpPr>
        <p:spPr>
          <a:xfrm>
            <a:off x="7048500" y="1828800"/>
            <a:ext cx="4343400" cy="361950"/>
          </a:xfrm>
          <a:prstGeom prst="rect">
            <a:avLst/>
          </a:prstGeom>
          <a:noFill/>
          <a:ln/>
        </p:spPr>
        <p:txBody>
          <a:bodyPr wrap="square" lIns="0" tIns="0" rIns="0" bIns="0" rtlCol="0" anchor="ctr"/>
          <a:lstStyle/>
          <a:p>
            <a:pPr algn="l" indent="0" marL="0">
              <a:lnSpc>
                <a:spcPct val="101900"/>
              </a:lnSpc>
              <a:buNone/>
            </a:pPr>
            <a:r>
              <a:rPr lang="ko-KR" altLang="en-US" sz="2100" dirty="0">
                <a:solidFill>
                  <a:schemeClr val="tx1"/>
                </a:solidFill>
                <a:latin typeface="Paperlogy 7 Bold" pitchFamily="34" charset="0"/>
                <a:ea typeface="Paperlogy 7 Bold" pitchFamily="34" charset="-127"/>
                <a:cs typeface="Paperlogy 7 Bold" pitchFamily="34" charset="-120"/>
              </a:rPr>
              <a:t>국도32호선 온석터널 (서산방향)</a:t>
            </a:r>
            <a:endParaRPr lang="ko-KR" sz="2100" dirty="0"/>
          </a:p>
        </p:txBody>
      </p:sp>
      <p:sp>
        <p:nvSpPr>
          <p:cNvPr id="15" name="Text 10"/>
          <p:cNvSpPr txBox="1"/>
          <p:nvPr/>
        </p:nvSpPr>
        <p:spPr>
          <a:xfrm>
            <a:off x="685800" y="26289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훈련 진행</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총 2시간</a:t>
            </a:r>
            <a:endParaRPr lang="ko-KR" sz="1800" dirty="0"/>
          </a:p>
        </p:txBody>
      </p:sp>
      <p:sp>
        <p:nvSpPr>
          <p:cNvPr id="16" name="Part 1 bar"/>
          <p:cNvSpPr/>
          <p:nvPr/>
        </p:nvSpPr>
        <p:spPr>
          <a:xfrm>
            <a:off x="685800" y="3009900"/>
            <a:ext cx="5334000" cy="1066800"/>
          </a:xfrm>
          <a:prstGeom prst="roundRect">
            <a:avLst>
              <a:gd name="adj" fmla="val 14286"/>
            </a:avLst>
          </a:prstGeom>
          <a:solidFill>
            <a:schemeClr val="tx2"/>
          </a:solidFill>
          <a:ln/>
        </p:spPr>
      </p:sp>
      <p:sp>
        <p:nvSpPr>
          <p:cNvPr id="17" name="Text 12"/>
          <p:cNvSpPr txBox="1"/>
          <p:nvPr/>
        </p:nvSpPr>
        <p:spPr>
          <a:xfrm>
            <a:off x="952500" y="3143250"/>
            <a:ext cx="38100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3"/>
                </a:solidFill>
                <a:latin typeface="Paperlogy 7 Bold" pitchFamily="34" charset="0"/>
                <a:ea typeface="Paperlogy 7 Bold" pitchFamily="34" charset="-127"/>
                <a:cs typeface="Paperlogy 7 Bold" pitchFamily="34" charset="-120"/>
              </a:rPr>
              <a:t>1부</a:t>
            </a:r>
            <a:endParaRPr lang="ko-KR" sz="1500" dirty="0"/>
          </a:p>
        </p:txBody>
      </p:sp>
      <p:sp>
        <p:nvSpPr>
          <p:cNvPr id="18" name="Text 13"/>
          <p:cNvSpPr txBox="1"/>
          <p:nvPr/>
        </p:nvSpPr>
        <p:spPr>
          <a:xfrm>
            <a:off x="952500" y="3371850"/>
            <a:ext cx="495300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bg1"/>
                </a:solidFill>
                <a:latin typeface="Paperlogy 8 ExtraBold" pitchFamily="34" charset="0"/>
                <a:ea typeface="Paperlogy 8 ExtraBold" pitchFamily="34" charset="-127"/>
                <a:cs typeface="Paperlogy 8 ExtraBold" pitchFamily="34" charset="-120"/>
              </a:rPr>
              <a:t>현장 합동대응</a:t>
            </a:r>
            <a:endParaRPr lang="ko-KR" sz="2400" dirty="0"/>
          </a:p>
        </p:txBody>
      </p:sp>
      <p:sp>
        <p:nvSpPr>
          <p:cNvPr id="19" name="Text 14"/>
          <p:cNvSpPr txBox="1"/>
          <p:nvPr/>
        </p:nvSpPr>
        <p:spPr>
          <a:xfrm>
            <a:off x="952500" y="3752850"/>
            <a:ext cx="3810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4"/>
                </a:solidFill>
                <a:latin typeface="Paperlogy 5 Medium" pitchFamily="34" charset="0"/>
                <a:ea typeface="Paperlogy 5 Medium" pitchFamily="34" charset="-127"/>
                <a:cs typeface="Paperlogy 5 Medium" pitchFamily="34" charset="-120"/>
              </a:rPr>
              <a:t>14:00 ~ 15:00  ·  60분</a:t>
            </a:r>
            <a:endParaRPr lang="ko-KR" sz="1400" dirty="0"/>
          </a:p>
        </p:txBody>
      </p:sp>
      <p:sp>
        <p:nvSpPr>
          <p:cNvPr id="20" name="Shape 15"/>
          <p:cNvSpPr/>
          <p:nvPr/>
        </p:nvSpPr>
        <p:spPr>
          <a:xfrm>
            <a:off x="6134100" y="3009900"/>
            <a:ext cx="787400" cy="1066800"/>
          </a:xfrm>
          <a:prstGeom prst="roundRect">
            <a:avLst>
              <a:gd name="adj" fmla="val 19355"/>
            </a:avLst>
          </a:prstGeom>
          <a:ln w="14288">
            <a:solidFill>
              <a:schemeClr val="accent6"/>
            </a:solidFill>
            <a:prstDash val="dash"/>
          </a:ln>
        </p:spPr>
      </p:sp>
      <p:sp>
        <p:nvSpPr>
          <p:cNvPr id="21" name="Text 16"/>
          <p:cNvSpPr txBox="1"/>
          <p:nvPr/>
        </p:nvSpPr>
        <p:spPr>
          <a:xfrm>
            <a:off x="6134100" y="3009900"/>
            <a:ext cx="787400" cy="106680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accent5"/>
                </a:solidFill>
                <a:latin typeface="Paperlogy 5 Medium" pitchFamily="34" charset="0"/>
                <a:ea typeface="Paperlogy 5 Medium" pitchFamily="34" charset="-127"/>
                <a:cs typeface="Paperlogy 5 Medium" pitchFamily="34" charset="-120"/>
              </a:rPr>
              <a:t>10분</a:t>
            </a:r>
            <a:endParaRPr lang="ko-KR" sz="1200" dirty="0"/>
          </a:p>
        </p:txBody>
      </p:sp>
      <p:sp>
        <p:nvSpPr>
          <p:cNvPr id="22" name="Part 2 bar"/>
          <p:cNvSpPr/>
          <p:nvPr/>
        </p:nvSpPr>
        <p:spPr>
          <a:xfrm>
            <a:off x="6997700" y="3009900"/>
            <a:ext cx="4508500" cy="1066800"/>
          </a:xfrm>
          <a:prstGeom prst="roundRect">
            <a:avLst>
              <a:gd name="adj" fmla="val 14286"/>
            </a:avLst>
          </a:prstGeom>
          <a:solidFill>
            <a:schemeClr val="accent1"/>
          </a:solidFill>
          <a:ln/>
        </p:spPr>
      </p:sp>
      <p:sp>
        <p:nvSpPr>
          <p:cNvPr id="23" name="Text 18"/>
          <p:cNvSpPr txBox="1"/>
          <p:nvPr/>
        </p:nvSpPr>
        <p:spPr>
          <a:xfrm>
            <a:off x="7264400" y="3143250"/>
            <a:ext cx="38100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3"/>
                </a:solidFill>
                <a:latin typeface="Paperlogy 7 Bold" pitchFamily="34" charset="0"/>
                <a:ea typeface="Paperlogy 7 Bold" pitchFamily="34" charset="-127"/>
                <a:cs typeface="Paperlogy 7 Bold" pitchFamily="34" charset="-120"/>
              </a:rPr>
              <a:t>2부  ·  토론훈련</a:t>
            </a:r>
            <a:endParaRPr lang="ko-KR" sz="1500" dirty="0"/>
          </a:p>
        </p:txBody>
      </p:sp>
      <p:sp>
        <p:nvSpPr>
          <p:cNvPr id="24" name="Text 19"/>
          <p:cNvSpPr txBox="1"/>
          <p:nvPr/>
        </p:nvSpPr>
        <p:spPr>
          <a:xfrm>
            <a:off x="7264400" y="3371850"/>
            <a:ext cx="409575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bg1"/>
                </a:solidFill>
                <a:latin typeface="Paperlogy 8 ExtraBold" pitchFamily="34" charset="0"/>
                <a:ea typeface="Paperlogy 8 ExtraBold" pitchFamily="34" charset="-127"/>
                <a:cs typeface="Paperlogy 8 ExtraBold" pitchFamily="34" charset="-120"/>
              </a:rPr>
              <a:t>강평 및 기관 협업 개선 논의</a:t>
            </a:r>
            <a:endParaRPr lang="ko-KR" sz="2400" dirty="0"/>
          </a:p>
        </p:txBody>
      </p:sp>
      <p:sp>
        <p:nvSpPr>
          <p:cNvPr id="25" name="Text 20"/>
          <p:cNvSpPr txBox="1"/>
          <p:nvPr/>
        </p:nvSpPr>
        <p:spPr>
          <a:xfrm>
            <a:off x="7264400" y="3752850"/>
            <a:ext cx="3810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4"/>
                </a:solidFill>
                <a:latin typeface="Paperlogy 5 Medium" pitchFamily="34" charset="0"/>
                <a:ea typeface="Paperlogy 5 Medium" pitchFamily="34" charset="-127"/>
                <a:cs typeface="Paperlogy 5 Medium" pitchFamily="34" charset="-120"/>
              </a:rPr>
              <a:t>15:10 ~ 16:00  ·  50분</a:t>
            </a:r>
            <a:endParaRPr lang="ko-KR" sz="1400" dirty="0"/>
          </a:p>
        </p:txBody>
      </p:sp>
      <p:sp>
        <p:nvSpPr>
          <p:cNvPr id="26" name="Text 21"/>
          <p:cNvSpPr txBox="1"/>
          <p:nvPr/>
        </p:nvSpPr>
        <p:spPr>
          <a:xfrm>
            <a:off x="685800" y="4114800"/>
            <a:ext cx="762000" cy="190500"/>
          </a:xfrm>
          <a:prstGeom prst="rect">
            <a:avLst/>
          </a:prstGeom>
          <a:noFill/>
          <a:ln/>
        </p:spPr>
        <p:txBody>
          <a:bodyPr wrap="square" lIns="0" tIns="0" rIns="0" bIns="0" rtlCol="0" anchor="ctr"/>
          <a:lstStyle/>
          <a:p>
            <a:pPr algn="l"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14:00</a:t>
            </a:r>
            <a:endParaRPr lang="ko-KR" sz="1100" dirty="0"/>
          </a:p>
        </p:txBody>
      </p:sp>
      <p:sp>
        <p:nvSpPr>
          <p:cNvPr id="27" name="Text 22"/>
          <p:cNvSpPr txBox="1"/>
          <p:nvPr/>
        </p:nvSpPr>
        <p:spPr>
          <a:xfrm>
            <a:off x="5295900" y="4114800"/>
            <a:ext cx="762000" cy="19050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15:00</a:t>
            </a:r>
            <a:endParaRPr lang="ko-KR" sz="1100" dirty="0"/>
          </a:p>
        </p:txBody>
      </p:sp>
      <p:sp>
        <p:nvSpPr>
          <p:cNvPr id="28" name="Text 23"/>
          <p:cNvSpPr txBox="1"/>
          <p:nvPr/>
        </p:nvSpPr>
        <p:spPr>
          <a:xfrm>
            <a:off x="6997700" y="4114800"/>
            <a:ext cx="762000" cy="190500"/>
          </a:xfrm>
          <a:prstGeom prst="rect">
            <a:avLst/>
          </a:prstGeom>
          <a:noFill/>
          <a:ln/>
        </p:spPr>
        <p:txBody>
          <a:bodyPr wrap="square" lIns="0" tIns="0" rIns="0" bIns="0" rtlCol="0" anchor="ctr"/>
          <a:lstStyle/>
          <a:p>
            <a:pPr algn="l"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15:10</a:t>
            </a:r>
            <a:endParaRPr lang="ko-KR" sz="1100" dirty="0"/>
          </a:p>
        </p:txBody>
      </p:sp>
      <p:sp>
        <p:nvSpPr>
          <p:cNvPr id="29" name="Text 24"/>
          <p:cNvSpPr txBox="1"/>
          <p:nvPr/>
        </p:nvSpPr>
        <p:spPr>
          <a:xfrm>
            <a:off x="10744200" y="4114800"/>
            <a:ext cx="762000" cy="19050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16:00</a:t>
            </a:r>
            <a:endParaRPr lang="ko-KR" sz="1100" dirty="0"/>
          </a:p>
        </p:txBody>
      </p:sp>
      <p:sp>
        <p:nvSpPr>
          <p:cNvPr id="30" name="Text 25"/>
          <p:cNvSpPr txBox="1"/>
          <p:nvPr/>
        </p:nvSpPr>
        <p:spPr>
          <a:xfrm>
            <a:off x="685800" y="451485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토론의제</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2부 토론훈련</a:t>
            </a:r>
            <a:endParaRPr lang="ko-KR" sz="1800" dirty="0"/>
          </a:p>
        </p:txBody>
      </p:sp>
      <p:sp>
        <p:nvSpPr>
          <p:cNvPr id="31" name="Shape 26"/>
          <p:cNvSpPr/>
          <p:nvPr/>
        </p:nvSpPr>
        <p:spPr>
          <a:xfrm>
            <a:off x="685800" y="4895850"/>
            <a:ext cx="3505200" cy="1200150"/>
          </a:xfrm>
          <a:prstGeom prst="roundRect">
            <a:avLst>
              <a:gd name="adj" fmla="val 12698"/>
            </a:avLst>
          </a:prstGeom>
          <a:solidFill>
            <a:schemeClr val="bg1"/>
          </a:solidFill>
          <a:ln w="14288">
            <a:solidFill>
              <a:schemeClr val="accent6"/>
            </a:solidFill>
            <a:prstDash val="solid"/>
          </a:ln>
        </p:spPr>
      </p:sp>
      <p:sp>
        <p:nvSpPr>
          <p:cNvPr id="32" name="Text 27"/>
          <p:cNvSpPr txBox="1"/>
          <p:nvPr/>
        </p:nvSpPr>
        <p:spPr>
          <a:xfrm>
            <a:off x="9144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01</a:t>
            </a:r>
            <a:endParaRPr lang="ko-KR" sz="1600" dirty="0"/>
          </a:p>
        </p:txBody>
      </p:sp>
      <p:pic>
        <p:nvPicPr>
          <p:cNvPr id="33" name="Image 3" descr="">    </p:cNvPr>
          <p:cNvPicPr>
            <a:picLocks noChangeAspect="1"/>
          </p:cNvPicPr>
          <p:nvPr/>
        </p:nvPicPr>
        <p:blipFill>
          <a:blip r:embed="rId4"/>
          <a:stretch>
            <a:fillRect/>
          </a:stretch>
        </p:blipFill>
        <p:spPr>
          <a:xfrm>
            <a:off x="3676650" y="5067300"/>
            <a:ext cx="285750" cy="285750"/>
          </a:xfrm>
          <a:prstGeom prst="rect">
            <a:avLst/>
          </a:prstGeom>
        </p:spPr>
      </p:pic>
      <p:sp>
        <p:nvSpPr>
          <p:cNvPr id="34" name="Text 28"/>
          <p:cNvSpPr txBox="1"/>
          <p:nvPr/>
        </p:nvSpPr>
        <p:spPr>
          <a:xfrm>
            <a:off x="9144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비상대응체계 가동</a:t>
            </a:r>
            <a:endParaRPr lang="ko-KR" sz="2000" dirty="0"/>
          </a:p>
        </p:txBody>
      </p:sp>
      <p:sp>
        <p:nvSpPr>
          <p:cNvPr id="35" name="Shape 29"/>
          <p:cNvSpPr/>
          <p:nvPr/>
        </p:nvSpPr>
        <p:spPr>
          <a:xfrm>
            <a:off x="4343400" y="4895850"/>
            <a:ext cx="3505200" cy="1200150"/>
          </a:xfrm>
          <a:prstGeom prst="roundRect">
            <a:avLst>
              <a:gd name="adj" fmla="val 12698"/>
            </a:avLst>
          </a:prstGeom>
          <a:solidFill>
            <a:schemeClr val="bg1"/>
          </a:solidFill>
          <a:ln w="14288">
            <a:solidFill>
              <a:schemeClr val="accent6"/>
            </a:solidFill>
            <a:prstDash val="solid"/>
          </a:ln>
        </p:spPr>
      </p:sp>
      <p:sp>
        <p:nvSpPr>
          <p:cNvPr id="36" name="Text 30"/>
          <p:cNvSpPr txBox="1"/>
          <p:nvPr/>
        </p:nvSpPr>
        <p:spPr>
          <a:xfrm>
            <a:off x="45720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02</a:t>
            </a:r>
            <a:endParaRPr lang="ko-KR" sz="1600" dirty="0"/>
          </a:p>
        </p:txBody>
      </p:sp>
      <p:pic>
        <p:nvPicPr>
          <p:cNvPr id="37" name="Image 4" descr="">    </p:cNvPr>
          <p:cNvPicPr>
            <a:picLocks noChangeAspect="1"/>
          </p:cNvPicPr>
          <p:nvPr/>
        </p:nvPicPr>
        <p:blipFill>
          <a:blip r:embed="rId5"/>
          <a:stretch>
            <a:fillRect/>
          </a:stretch>
        </p:blipFill>
        <p:spPr>
          <a:xfrm>
            <a:off x="7334250" y="5067300"/>
            <a:ext cx="285750" cy="285750"/>
          </a:xfrm>
          <a:prstGeom prst="rect">
            <a:avLst/>
          </a:prstGeom>
        </p:spPr>
      </p:pic>
      <p:sp>
        <p:nvSpPr>
          <p:cNvPr id="38" name="Text 31"/>
          <p:cNvSpPr txBox="1"/>
          <p:nvPr/>
        </p:nvSpPr>
        <p:spPr>
          <a:xfrm>
            <a:off x="45720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유출 확대 시 주민보호</a:t>
            </a:r>
            <a:endParaRPr lang="ko-KR" sz="2000" dirty="0"/>
          </a:p>
        </p:txBody>
      </p:sp>
      <p:sp>
        <p:nvSpPr>
          <p:cNvPr id="39" name="Shape 32"/>
          <p:cNvSpPr/>
          <p:nvPr/>
        </p:nvSpPr>
        <p:spPr>
          <a:xfrm>
            <a:off x="8001000" y="4895850"/>
            <a:ext cx="3505200" cy="1200150"/>
          </a:xfrm>
          <a:prstGeom prst="roundRect">
            <a:avLst>
              <a:gd name="adj" fmla="val 12698"/>
            </a:avLst>
          </a:prstGeom>
          <a:solidFill>
            <a:schemeClr val="bg1"/>
          </a:solidFill>
          <a:ln w="14288">
            <a:solidFill>
              <a:schemeClr val="accent6"/>
            </a:solidFill>
            <a:prstDash val="solid"/>
          </a:ln>
        </p:spPr>
      </p:sp>
      <p:sp>
        <p:nvSpPr>
          <p:cNvPr id="40" name="Text 33"/>
          <p:cNvSpPr txBox="1"/>
          <p:nvPr/>
        </p:nvSpPr>
        <p:spPr>
          <a:xfrm>
            <a:off x="82296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03</a:t>
            </a:r>
            <a:endParaRPr lang="ko-KR" sz="1600" dirty="0"/>
          </a:p>
        </p:txBody>
      </p:sp>
      <p:pic>
        <p:nvPicPr>
          <p:cNvPr id="41" name="Image 5" descr="">    </p:cNvPr>
          <p:cNvPicPr>
            <a:picLocks noChangeAspect="1"/>
          </p:cNvPicPr>
          <p:nvPr/>
        </p:nvPicPr>
        <p:blipFill>
          <a:blip r:embed="rId6"/>
          <a:stretch>
            <a:fillRect/>
          </a:stretch>
        </p:blipFill>
        <p:spPr>
          <a:xfrm>
            <a:off x="10991850" y="5067300"/>
            <a:ext cx="285750" cy="285750"/>
          </a:xfrm>
          <a:prstGeom prst="rect">
            <a:avLst/>
          </a:prstGeom>
        </p:spPr>
      </p:pic>
      <p:sp>
        <p:nvSpPr>
          <p:cNvPr id="42" name="Text 34"/>
          <p:cNvSpPr txBox="1"/>
          <p:nvPr/>
        </p:nvSpPr>
        <p:spPr>
          <a:xfrm>
            <a:off x="82296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재발방지 및 협업 개선</a:t>
            </a:r>
            <a:endParaRPr lang="ko-KR" sz="2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훈련상황 (복합재난 시나리오)</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02</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계획</a:t>
            </a:r>
            <a:endParaRPr lang="ko-KR" sz="1200" dirty="0"/>
          </a:p>
        </p:txBody>
      </p:sp>
      <p:sp>
        <p:nvSpPr>
          <p:cNvPr id="5" name="Text 2"/>
          <p:cNvSpPr txBox="1"/>
          <p:nvPr/>
        </p:nvSpPr>
        <p:spPr>
          <a:xfrm>
            <a:off x="685800" y="14478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시나리오 전개</a:t>
            </a:r>
            <a:endParaRPr lang="ko-KR" sz="1800" dirty="0"/>
          </a:p>
        </p:txBody>
      </p:sp>
      <p:sp>
        <p:nvSpPr>
          <p:cNvPr id="6" name="Shape 3"/>
          <p:cNvSpPr/>
          <p:nvPr/>
        </p:nvSpPr>
        <p:spPr>
          <a:xfrm>
            <a:off x="685800" y="1828800"/>
            <a:ext cx="2533650" cy="1562100"/>
          </a:xfrm>
          <a:prstGeom prst="roundRect">
            <a:avLst>
              <a:gd name="adj" fmla="val 9756"/>
            </a:avLst>
          </a:prstGeom>
          <a:solidFill>
            <a:schemeClr val="bg1"/>
          </a:solidFill>
          <a:ln w="14288">
            <a:solidFill>
              <a:schemeClr val="accent6"/>
            </a:solidFill>
            <a:prstDash val="solid"/>
          </a:ln>
        </p:spPr>
      </p:sp>
      <p:sp>
        <p:nvSpPr>
          <p:cNvPr id="7" name="Shape 4"/>
          <p:cNvSpPr/>
          <p:nvPr/>
        </p:nvSpPr>
        <p:spPr>
          <a:xfrm>
            <a:off x="895350" y="2038350"/>
            <a:ext cx="342900" cy="342900"/>
          </a:xfrm>
          <a:prstGeom prst="ellipse">
            <a:avLst/>
          </a:prstGeom>
          <a:solidFill>
            <a:schemeClr val="tx2"/>
          </a:solidFill>
          <a:ln/>
        </p:spPr>
      </p:sp>
      <p:sp>
        <p:nvSpPr>
          <p:cNvPr id="8" name="Text 5"/>
          <p:cNvSpPr txBox="1"/>
          <p:nvPr/>
        </p:nvSpPr>
        <p:spPr>
          <a:xfrm>
            <a:off x="89535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1</a:t>
            </a:r>
            <a:endParaRPr lang="ko-KR" sz="1500" dirty="0"/>
          </a:p>
        </p:txBody>
      </p:sp>
      <p:pic>
        <p:nvPicPr>
          <p:cNvPr id="9" name="Image 1" descr="">    </p:cNvPr>
          <p:cNvPicPr>
            <a:picLocks noChangeAspect="1"/>
          </p:cNvPicPr>
          <p:nvPr/>
        </p:nvPicPr>
        <p:blipFill>
          <a:blip r:embed="rId2"/>
          <a:stretch>
            <a:fillRect/>
          </a:stretch>
        </p:blipFill>
        <p:spPr>
          <a:xfrm>
            <a:off x="2724150" y="2066925"/>
            <a:ext cx="285750" cy="285750"/>
          </a:xfrm>
          <a:prstGeom prst="rect">
            <a:avLst/>
          </a:prstGeom>
        </p:spPr>
      </p:pic>
      <p:sp>
        <p:nvSpPr>
          <p:cNvPr id="10" name="Text 6"/>
          <p:cNvSpPr txBox="1"/>
          <p:nvPr/>
        </p:nvSpPr>
        <p:spPr>
          <a:xfrm>
            <a:off x="89535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졸음운전 화물차</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벽면 충돌</a:t>
            </a:r>
            <a:endParaRPr lang="ko-KR" sz="1900" dirty="0"/>
          </a:p>
        </p:txBody>
      </p:sp>
      <p:sp>
        <p:nvSpPr>
          <p:cNvPr id="11" name="Shape 7"/>
          <p:cNvSpPr/>
          <p:nvPr/>
        </p:nvSpPr>
        <p:spPr>
          <a:xfrm>
            <a:off x="3181350" y="2457450"/>
            <a:ext cx="304800" cy="304800"/>
          </a:xfrm>
          <a:prstGeom prst="ellipse">
            <a:avLst/>
          </a:prstGeom>
          <a:solidFill>
            <a:schemeClr val="bg1"/>
          </a:solidFill>
          <a:ln w="14288">
            <a:solidFill>
              <a:schemeClr val="accent6"/>
            </a:solidFill>
            <a:prstDash val="solid"/>
          </a:ln>
        </p:spPr>
      </p:sp>
      <p:pic>
        <p:nvPicPr>
          <p:cNvPr id="12" name="Image 2" descr="">    </p:cNvPr>
          <p:cNvPicPr>
            <a:picLocks noChangeAspect="1"/>
          </p:cNvPicPr>
          <p:nvPr/>
        </p:nvPicPr>
        <p:blipFill>
          <a:blip r:embed="rId3"/>
          <a:stretch>
            <a:fillRect/>
          </a:stretch>
        </p:blipFill>
        <p:spPr>
          <a:xfrm>
            <a:off x="3238500" y="2514600"/>
            <a:ext cx="190500" cy="190500"/>
          </a:xfrm>
          <a:prstGeom prst="rect">
            <a:avLst/>
          </a:prstGeom>
        </p:spPr>
      </p:pic>
      <p:sp>
        <p:nvSpPr>
          <p:cNvPr id="13" name="Shape 8"/>
          <p:cNvSpPr/>
          <p:nvPr/>
        </p:nvSpPr>
        <p:spPr>
          <a:xfrm>
            <a:off x="3448050" y="1828800"/>
            <a:ext cx="2533650" cy="1562100"/>
          </a:xfrm>
          <a:prstGeom prst="roundRect">
            <a:avLst>
              <a:gd name="adj" fmla="val 9756"/>
            </a:avLst>
          </a:prstGeom>
          <a:solidFill>
            <a:schemeClr val="bg1"/>
          </a:solidFill>
          <a:ln w="14288">
            <a:solidFill>
              <a:schemeClr val="accent6"/>
            </a:solidFill>
            <a:prstDash val="solid"/>
          </a:ln>
        </p:spPr>
      </p:sp>
      <p:sp>
        <p:nvSpPr>
          <p:cNvPr id="14" name="Shape 9"/>
          <p:cNvSpPr/>
          <p:nvPr/>
        </p:nvSpPr>
        <p:spPr>
          <a:xfrm>
            <a:off x="3657600" y="2038350"/>
            <a:ext cx="342900" cy="342900"/>
          </a:xfrm>
          <a:prstGeom prst="ellipse">
            <a:avLst/>
          </a:prstGeom>
          <a:solidFill>
            <a:schemeClr val="tx2"/>
          </a:solidFill>
          <a:ln/>
        </p:spPr>
      </p:sp>
      <p:sp>
        <p:nvSpPr>
          <p:cNvPr id="15" name="Text 10"/>
          <p:cNvSpPr txBox="1"/>
          <p:nvPr/>
        </p:nvSpPr>
        <p:spPr>
          <a:xfrm>
            <a:off x="365760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2</a:t>
            </a:r>
            <a:endParaRPr lang="ko-KR" sz="1500" dirty="0"/>
          </a:p>
        </p:txBody>
      </p:sp>
      <p:pic>
        <p:nvPicPr>
          <p:cNvPr id="16" name="Image 3" descr="">    </p:cNvPr>
          <p:cNvPicPr>
            <a:picLocks noChangeAspect="1"/>
          </p:cNvPicPr>
          <p:nvPr/>
        </p:nvPicPr>
        <p:blipFill>
          <a:blip r:embed="rId4"/>
          <a:stretch>
            <a:fillRect/>
          </a:stretch>
        </p:blipFill>
        <p:spPr>
          <a:xfrm>
            <a:off x="5486400" y="2066925"/>
            <a:ext cx="285750" cy="285750"/>
          </a:xfrm>
          <a:prstGeom prst="rect">
            <a:avLst/>
          </a:prstGeom>
        </p:spPr>
      </p:pic>
      <p:sp>
        <p:nvSpPr>
          <p:cNvPr id="17" name="Text 11"/>
          <p:cNvSpPr txBox="1"/>
          <p:nvPr/>
        </p:nvSpPr>
        <p:spPr>
          <a:xfrm>
            <a:off x="365760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탱크로리 추돌 및</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밸브 손상</a:t>
            </a:r>
            <a:endParaRPr lang="ko-KR" sz="1900" dirty="0"/>
          </a:p>
        </p:txBody>
      </p:sp>
      <p:sp>
        <p:nvSpPr>
          <p:cNvPr id="18" name="Shape 12"/>
          <p:cNvSpPr/>
          <p:nvPr/>
        </p:nvSpPr>
        <p:spPr>
          <a:xfrm>
            <a:off x="5943600" y="2457450"/>
            <a:ext cx="304800" cy="304800"/>
          </a:xfrm>
          <a:prstGeom prst="ellipse">
            <a:avLst/>
          </a:prstGeom>
          <a:solidFill>
            <a:schemeClr val="bg1"/>
          </a:solidFill>
          <a:ln w="14288">
            <a:solidFill>
              <a:schemeClr val="accent6"/>
            </a:solidFill>
            <a:prstDash val="solid"/>
          </a:ln>
        </p:spPr>
      </p:sp>
      <p:pic>
        <p:nvPicPr>
          <p:cNvPr id="19" name="Image 4" descr="">    </p:cNvPr>
          <p:cNvPicPr>
            <a:picLocks noChangeAspect="1"/>
          </p:cNvPicPr>
          <p:nvPr/>
        </p:nvPicPr>
        <p:blipFill>
          <a:blip r:embed="rId5"/>
          <a:stretch>
            <a:fillRect/>
          </a:stretch>
        </p:blipFill>
        <p:spPr>
          <a:xfrm>
            <a:off x="6000750" y="2514600"/>
            <a:ext cx="190500" cy="190500"/>
          </a:xfrm>
          <a:prstGeom prst="rect">
            <a:avLst/>
          </a:prstGeom>
        </p:spPr>
      </p:pic>
      <p:sp>
        <p:nvSpPr>
          <p:cNvPr id="20" name="Shape 13"/>
          <p:cNvSpPr/>
          <p:nvPr/>
        </p:nvSpPr>
        <p:spPr>
          <a:xfrm>
            <a:off x="6210300" y="1828800"/>
            <a:ext cx="2533650" cy="1562100"/>
          </a:xfrm>
          <a:prstGeom prst="roundRect">
            <a:avLst>
              <a:gd name="adj" fmla="val 9756"/>
            </a:avLst>
          </a:prstGeom>
          <a:solidFill>
            <a:schemeClr val="accent2">
              <a:alpha val="6000"/>
            </a:schemeClr>
          </a:solidFill>
          <a:ln w="23813">
            <a:solidFill>
              <a:schemeClr val="accent2"/>
            </a:solidFill>
            <a:prstDash val="solid"/>
          </a:ln>
        </p:spPr>
      </p:sp>
      <p:sp>
        <p:nvSpPr>
          <p:cNvPr id="21" name="Shape 14"/>
          <p:cNvSpPr/>
          <p:nvPr/>
        </p:nvSpPr>
        <p:spPr>
          <a:xfrm>
            <a:off x="6419850" y="2038350"/>
            <a:ext cx="342900" cy="342900"/>
          </a:xfrm>
          <a:prstGeom prst="ellipse">
            <a:avLst/>
          </a:prstGeom>
          <a:solidFill>
            <a:schemeClr val="accent2"/>
          </a:solidFill>
          <a:ln/>
        </p:spPr>
      </p:sp>
      <p:sp>
        <p:nvSpPr>
          <p:cNvPr id="22" name="Text 15"/>
          <p:cNvSpPr txBox="1"/>
          <p:nvPr/>
        </p:nvSpPr>
        <p:spPr>
          <a:xfrm>
            <a:off x="641985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3</a:t>
            </a:r>
            <a:endParaRPr lang="ko-KR" sz="1500" dirty="0"/>
          </a:p>
        </p:txBody>
      </p:sp>
      <p:pic>
        <p:nvPicPr>
          <p:cNvPr id="23" name="Image 5" descr="">    </p:cNvPr>
          <p:cNvPicPr>
            <a:picLocks noChangeAspect="1"/>
          </p:cNvPicPr>
          <p:nvPr/>
        </p:nvPicPr>
        <p:blipFill>
          <a:blip r:embed="rId6"/>
          <a:stretch>
            <a:fillRect/>
          </a:stretch>
        </p:blipFill>
        <p:spPr>
          <a:xfrm>
            <a:off x="8248650" y="2066925"/>
            <a:ext cx="285750" cy="285750"/>
          </a:xfrm>
          <a:prstGeom prst="rect">
            <a:avLst/>
          </a:prstGeom>
        </p:spPr>
      </p:pic>
      <p:sp>
        <p:nvSpPr>
          <p:cNvPr id="24" name="Text 16"/>
          <p:cNvSpPr txBox="1"/>
          <p:nvPr/>
        </p:nvSpPr>
        <p:spPr>
          <a:xfrm>
            <a:off x="641985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벤젠 20L</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누출 및 착화</a:t>
            </a:r>
            <a:endParaRPr lang="ko-KR" sz="1900" dirty="0"/>
          </a:p>
        </p:txBody>
      </p:sp>
      <p:sp>
        <p:nvSpPr>
          <p:cNvPr id="25" name="Shape 17"/>
          <p:cNvSpPr/>
          <p:nvPr/>
        </p:nvSpPr>
        <p:spPr>
          <a:xfrm>
            <a:off x="8705850" y="2457450"/>
            <a:ext cx="304800" cy="304800"/>
          </a:xfrm>
          <a:prstGeom prst="ellipse">
            <a:avLst/>
          </a:prstGeom>
          <a:solidFill>
            <a:schemeClr val="bg1"/>
          </a:solidFill>
          <a:ln w="14288">
            <a:solidFill>
              <a:schemeClr val="accent6"/>
            </a:solidFill>
            <a:prstDash val="solid"/>
          </a:ln>
        </p:spPr>
      </p:sp>
      <p:pic>
        <p:nvPicPr>
          <p:cNvPr id="26" name="Image 6" descr="">    </p:cNvPr>
          <p:cNvPicPr>
            <a:picLocks noChangeAspect="1"/>
          </p:cNvPicPr>
          <p:nvPr/>
        </p:nvPicPr>
        <p:blipFill>
          <a:blip r:embed="rId7"/>
          <a:stretch>
            <a:fillRect/>
          </a:stretch>
        </p:blipFill>
        <p:spPr>
          <a:xfrm>
            <a:off x="8763000" y="2514600"/>
            <a:ext cx="190500" cy="190500"/>
          </a:xfrm>
          <a:prstGeom prst="rect">
            <a:avLst/>
          </a:prstGeom>
        </p:spPr>
      </p:pic>
      <p:sp>
        <p:nvSpPr>
          <p:cNvPr id="27" name="Shape 18"/>
          <p:cNvSpPr/>
          <p:nvPr/>
        </p:nvSpPr>
        <p:spPr>
          <a:xfrm>
            <a:off x="8972550" y="1828800"/>
            <a:ext cx="2533650" cy="1562100"/>
          </a:xfrm>
          <a:prstGeom prst="roundRect">
            <a:avLst>
              <a:gd name="adj" fmla="val 9756"/>
            </a:avLst>
          </a:prstGeom>
          <a:solidFill>
            <a:schemeClr val="bg1"/>
          </a:solidFill>
          <a:ln w="14288">
            <a:solidFill>
              <a:schemeClr val="accent6"/>
            </a:solidFill>
            <a:prstDash val="solid"/>
          </a:ln>
        </p:spPr>
      </p:sp>
      <p:sp>
        <p:nvSpPr>
          <p:cNvPr id="28" name="Shape 19"/>
          <p:cNvSpPr/>
          <p:nvPr/>
        </p:nvSpPr>
        <p:spPr>
          <a:xfrm>
            <a:off x="9182100" y="2038350"/>
            <a:ext cx="342900" cy="342900"/>
          </a:xfrm>
          <a:prstGeom prst="ellipse">
            <a:avLst/>
          </a:prstGeom>
          <a:solidFill>
            <a:schemeClr val="tx2"/>
          </a:solidFill>
          <a:ln/>
        </p:spPr>
      </p:sp>
      <p:sp>
        <p:nvSpPr>
          <p:cNvPr id="29" name="Text 20"/>
          <p:cNvSpPr txBox="1"/>
          <p:nvPr/>
        </p:nvSpPr>
        <p:spPr>
          <a:xfrm>
            <a:off x="918210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4</a:t>
            </a:r>
            <a:endParaRPr lang="ko-KR" sz="1500" dirty="0"/>
          </a:p>
        </p:txBody>
      </p:sp>
      <p:pic>
        <p:nvPicPr>
          <p:cNvPr id="30" name="Image 7" descr="">    </p:cNvPr>
          <p:cNvPicPr>
            <a:picLocks noChangeAspect="1"/>
          </p:cNvPicPr>
          <p:nvPr/>
        </p:nvPicPr>
        <p:blipFill>
          <a:blip r:embed="rId8"/>
          <a:stretch>
            <a:fillRect/>
          </a:stretch>
        </p:blipFill>
        <p:spPr>
          <a:xfrm>
            <a:off x="11010900" y="2066925"/>
            <a:ext cx="285750" cy="285750"/>
          </a:xfrm>
          <a:prstGeom prst="rect">
            <a:avLst/>
          </a:prstGeom>
        </p:spPr>
      </p:pic>
      <p:sp>
        <p:nvSpPr>
          <p:cNvPr id="31" name="Text 21"/>
          <p:cNvSpPr txBox="1"/>
          <p:nvPr/>
        </p:nvSpPr>
        <p:spPr>
          <a:xfrm>
            <a:off x="918210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후방 초등학생</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차량 고립</a:t>
            </a:r>
            <a:endParaRPr lang="ko-KR" sz="1900" dirty="0"/>
          </a:p>
        </p:txBody>
      </p:sp>
      <p:sp>
        <p:nvSpPr>
          <p:cNvPr id="32" name="Text 22"/>
          <p:cNvSpPr txBox="1"/>
          <p:nvPr/>
        </p:nvSpPr>
        <p:spPr>
          <a:xfrm>
            <a:off x="685800" y="36576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가상 인명피해</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시나리오 기준</a:t>
            </a:r>
            <a:endParaRPr lang="ko-KR" sz="1800" dirty="0"/>
          </a:p>
        </p:txBody>
      </p:sp>
      <p:sp>
        <p:nvSpPr>
          <p:cNvPr id="33" name="Shape 23"/>
          <p:cNvSpPr/>
          <p:nvPr/>
        </p:nvSpPr>
        <p:spPr>
          <a:xfrm>
            <a:off x="685800" y="4038600"/>
            <a:ext cx="2085975" cy="2057400"/>
          </a:xfrm>
          <a:prstGeom prst="roundRect">
            <a:avLst>
              <a:gd name="adj" fmla="val 8333"/>
            </a:avLst>
          </a:prstGeom>
          <a:solidFill>
            <a:schemeClr val="bg2"/>
          </a:solidFill>
          <a:ln/>
        </p:spPr>
      </p:sp>
      <p:sp>
        <p:nvSpPr>
          <p:cNvPr id="34" name="Text 24"/>
          <p:cNvSpPr txBox="1"/>
          <p:nvPr/>
        </p:nvSpPr>
        <p:spPr>
          <a:xfrm>
            <a:off x="914400"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7 Bold" pitchFamily="34" charset="0"/>
                <a:ea typeface="Paperlogy 7 Bold" pitchFamily="34" charset="-127"/>
                <a:cs typeface="Paperlogy 7 Bold" pitchFamily="34" charset="-120"/>
              </a:rPr>
              <a:t>중상</a:t>
            </a:r>
            <a:endParaRPr lang="ko-KR" sz="1500" dirty="0"/>
          </a:p>
        </p:txBody>
      </p:sp>
      <p:sp>
        <p:nvSpPr>
          <p:cNvPr id="35" name="Text 25"/>
          <p:cNvSpPr txBox="1"/>
          <p:nvPr/>
        </p:nvSpPr>
        <p:spPr>
          <a:xfrm>
            <a:off x="914400"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2</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36" name="Text 26"/>
          <p:cNvSpPr txBox="1"/>
          <p:nvPr/>
        </p:nvSpPr>
        <p:spPr>
          <a:xfrm>
            <a:off x="914400"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운전자</a:t>
            </a:r>
            <a:endParaRPr lang="ko-KR" sz="1600" dirty="0"/>
          </a:p>
        </p:txBody>
      </p:sp>
      <p:sp>
        <p:nvSpPr>
          <p:cNvPr id="37" name="Shape 27"/>
          <p:cNvSpPr/>
          <p:nvPr/>
        </p:nvSpPr>
        <p:spPr>
          <a:xfrm>
            <a:off x="2924175" y="4038600"/>
            <a:ext cx="2085975" cy="2057400"/>
          </a:xfrm>
          <a:prstGeom prst="roundRect">
            <a:avLst>
              <a:gd name="adj" fmla="val 8333"/>
            </a:avLst>
          </a:prstGeom>
          <a:solidFill>
            <a:schemeClr val="bg2"/>
          </a:solidFill>
          <a:ln/>
        </p:spPr>
      </p:sp>
      <p:sp>
        <p:nvSpPr>
          <p:cNvPr id="38" name="Text 28"/>
          <p:cNvSpPr txBox="1"/>
          <p:nvPr/>
        </p:nvSpPr>
        <p:spPr>
          <a:xfrm>
            <a:off x="3152775"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7 Bold" pitchFamily="34" charset="0"/>
                <a:ea typeface="Paperlogy 7 Bold" pitchFamily="34" charset="-127"/>
                <a:cs typeface="Paperlogy 7 Bold" pitchFamily="34" charset="-120"/>
              </a:rPr>
              <a:t>경상 (연기흡입)</a:t>
            </a:r>
            <a:endParaRPr lang="ko-KR" sz="1500" dirty="0"/>
          </a:p>
        </p:txBody>
      </p:sp>
      <p:sp>
        <p:nvSpPr>
          <p:cNvPr id="39" name="Text 29"/>
          <p:cNvSpPr txBox="1"/>
          <p:nvPr/>
        </p:nvSpPr>
        <p:spPr>
          <a:xfrm>
            <a:off x="3152775"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3</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40" name="Text 30"/>
          <p:cNvSpPr txBox="1"/>
          <p:nvPr/>
        </p:nvSpPr>
        <p:spPr>
          <a:xfrm>
            <a:off x="3152775"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인솔자</a:t>
            </a:r>
            <a:endParaRPr lang="ko-KR" sz="1600" dirty="0"/>
          </a:p>
        </p:txBody>
      </p:sp>
      <p:sp>
        <p:nvSpPr>
          <p:cNvPr id="41" name="Shape 31"/>
          <p:cNvSpPr/>
          <p:nvPr/>
        </p:nvSpPr>
        <p:spPr>
          <a:xfrm>
            <a:off x="5162550" y="4038600"/>
            <a:ext cx="2085975" cy="2057400"/>
          </a:xfrm>
          <a:prstGeom prst="roundRect">
            <a:avLst>
              <a:gd name="adj" fmla="val 8333"/>
            </a:avLst>
          </a:prstGeom>
          <a:solidFill>
            <a:schemeClr val="bg2"/>
          </a:solidFill>
          <a:ln/>
        </p:spPr>
      </p:sp>
      <p:sp>
        <p:nvSpPr>
          <p:cNvPr id="42" name="Text 32"/>
          <p:cNvSpPr txBox="1"/>
          <p:nvPr/>
        </p:nvSpPr>
        <p:spPr>
          <a:xfrm>
            <a:off x="5391150"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7 Bold" pitchFamily="34" charset="0"/>
                <a:ea typeface="Paperlogy 7 Bold" pitchFamily="34" charset="-127"/>
                <a:cs typeface="Paperlogy 7 Bold" pitchFamily="34" charset="-120"/>
              </a:rPr>
              <a:t>대피</a:t>
            </a:r>
            <a:endParaRPr lang="ko-KR" sz="1500" dirty="0"/>
          </a:p>
        </p:txBody>
      </p:sp>
      <p:sp>
        <p:nvSpPr>
          <p:cNvPr id="43" name="Text 33"/>
          <p:cNvSpPr txBox="1"/>
          <p:nvPr/>
        </p:nvSpPr>
        <p:spPr>
          <a:xfrm>
            <a:off x="5391150"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23</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44" name="Text 34"/>
          <p:cNvSpPr txBox="1"/>
          <p:nvPr/>
        </p:nvSpPr>
        <p:spPr>
          <a:xfrm>
            <a:off x="5391150"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교사 · 학생</a:t>
            </a:r>
            <a:endParaRPr lang="ko-KR" sz="1600" dirty="0"/>
          </a:p>
        </p:txBody>
      </p:sp>
      <p:sp>
        <p:nvSpPr>
          <p:cNvPr id="45" name="Key message card"/>
          <p:cNvSpPr/>
          <p:nvPr/>
        </p:nvSpPr>
        <p:spPr>
          <a:xfrm>
            <a:off x="7543800" y="3657600"/>
            <a:ext cx="3962400" cy="2438400"/>
          </a:xfrm>
          <a:prstGeom prst="roundRect">
            <a:avLst>
              <a:gd name="adj" fmla="val 7031"/>
            </a:avLst>
          </a:prstGeom>
          <a:solidFill>
            <a:schemeClr val="tx2"/>
          </a:solidFill>
          <a:ln/>
        </p:spPr>
      </p:sp>
      <p:pic>
        <p:nvPicPr>
          <p:cNvPr id="46" name="Image 8" descr="">    </p:cNvPr>
          <p:cNvPicPr>
            <a:picLocks noChangeAspect="1"/>
          </p:cNvPicPr>
          <p:nvPr/>
        </p:nvPicPr>
        <p:blipFill>
          <a:blip r:embed="rId9"/>
          <a:stretch>
            <a:fillRect/>
          </a:stretch>
        </p:blipFill>
        <p:spPr>
          <a:xfrm>
            <a:off x="7848600" y="3990975"/>
            <a:ext cx="171450" cy="171450"/>
          </a:xfrm>
          <a:prstGeom prst="rect">
            <a:avLst/>
          </a:prstGeom>
        </p:spPr>
      </p:pic>
      <p:sp>
        <p:nvSpPr>
          <p:cNvPr id="47" name="Text 36"/>
          <p:cNvSpPr txBox="1"/>
          <p:nvPr/>
        </p:nvSpPr>
        <p:spPr>
          <a:xfrm>
            <a:off x="8096250" y="3962400"/>
            <a:ext cx="310515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주요 피해 특성</a:t>
            </a:r>
            <a:endParaRPr lang="ko-KR" sz="1400" dirty="0"/>
          </a:p>
        </p:txBody>
      </p:sp>
      <p:sp>
        <p:nvSpPr>
          <p:cNvPr id="48" name="Text 37"/>
          <p:cNvSpPr txBox="1"/>
          <p:nvPr/>
        </p:nvSpPr>
        <p:spPr>
          <a:xfrm>
            <a:off x="7848600" y="4419600"/>
            <a:ext cx="3352800" cy="847725"/>
          </a:xfrm>
          <a:prstGeom prst="rect">
            <a:avLst/>
          </a:prstGeom>
          <a:noFill/>
          <a:ln/>
        </p:spPr>
        <p:txBody>
          <a:bodyPr wrap="square" lIns="0" tIns="0" rIns="0" bIns="0" rtlCol="0" anchor="t"/>
          <a:lstStyle/>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연쇄적 생명 위협</a:t>
            </a:r>
            <a:endParaRPr lang="ko-KR" sz="2600" dirty="0"/>
          </a:p>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및 고립 발생</a:t>
            </a:r>
            <a:endParaRPr lang="ko-KR" sz="2600" dirty="0"/>
          </a:p>
        </p:txBody>
      </p:sp>
      <p:sp>
        <p:nvSpPr>
          <p:cNvPr id="49" name="Text 38"/>
          <p:cNvSpPr txBox="1"/>
          <p:nvPr/>
        </p:nvSpPr>
        <p:spPr>
          <a:xfrm>
            <a:off x="7848600" y="5400675"/>
            <a:ext cx="3352800" cy="323850"/>
          </a:xfrm>
          <a:prstGeom prst="rect">
            <a:avLst/>
          </a:prstGeom>
          <a:noFill/>
          <a:ln/>
        </p:spPr>
        <p:txBody>
          <a:bodyPr wrap="square" lIns="0" tIns="0" rIns="0" bIns="0" rtlCol="0" anchor="t"/>
          <a:lstStyle/>
          <a:p>
            <a:pPr algn="l" indent="0" marL="0">
              <a:lnSpc>
                <a:spcPct val="127400"/>
              </a:lnSpc>
              <a:buNone/>
            </a:pPr>
            <a:r>
              <a:rPr lang="ko-KR" altLang="en-US" sz="1500" dirty="0">
                <a:solidFill>
                  <a:schemeClr val="accent4"/>
                </a:solidFill>
                <a:latin typeface="Paperlogy 4 Regular" pitchFamily="34" charset="0"/>
                <a:ea typeface="Paperlogy 4 Regular" pitchFamily="34" charset="-127"/>
                <a:cs typeface="Paperlogy 4 Regular" pitchFamily="34" charset="-120"/>
              </a:rPr>
              <a:t>화학물질 누출과 화재가 동반된 복합 피해</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참여규모 및 중점</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02</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 계획</a:t>
            </a:r>
            <a:endParaRPr lang="ko-KR" sz="1200" dirty="0"/>
          </a:p>
        </p:txBody>
      </p:sp>
      <p:sp>
        <p:nvSpPr>
          <p:cNvPr id="5" name="Shape 2"/>
          <p:cNvSpPr/>
          <p:nvPr/>
        </p:nvSpPr>
        <p:spPr>
          <a:xfrm>
            <a:off x="685800" y="1447800"/>
            <a:ext cx="2085975" cy="1028700"/>
          </a:xfrm>
          <a:prstGeom prst="roundRect">
            <a:avLst>
              <a:gd name="adj" fmla="val 14815"/>
            </a:avLst>
          </a:prstGeom>
          <a:solidFill>
            <a:schemeClr val="bg2"/>
          </a:solidFill>
          <a:ln/>
        </p:spPr>
      </p:sp>
      <p:sp>
        <p:nvSpPr>
          <p:cNvPr id="6" name="Text 3"/>
          <p:cNvSpPr txBox="1"/>
          <p:nvPr/>
        </p:nvSpPr>
        <p:spPr>
          <a:xfrm>
            <a:off x="914400" y="1562100"/>
            <a:ext cx="1714500" cy="552450"/>
          </a:xfrm>
          <a:prstGeom prst="rect">
            <a:avLst/>
          </a:prstGeom>
          <a:noFill/>
          <a:ln/>
        </p:spPr>
        <p:txBody>
          <a:bodyPr wrap="square" lIns="0" tIns="0" rIns="0" bIns="0" rtlCol="0" anchor="ctr"/>
          <a:lstStyle/>
          <a:p>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11</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개</a:t>
            </a:r>
            <a:endParaRPr lang="ko-KR" sz="1400" dirty="0"/>
          </a:p>
        </p:txBody>
      </p:sp>
      <p:sp>
        <p:nvSpPr>
          <p:cNvPr id="7" name="Text 4"/>
          <p:cNvSpPr txBox="1"/>
          <p:nvPr/>
        </p:nvSpPr>
        <p:spPr>
          <a:xfrm>
            <a:off x="914400"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참여 기관·단체</a:t>
            </a:r>
            <a:endParaRPr lang="ko-KR" sz="1400" dirty="0"/>
          </a:p>
        </p:txBody>
      </p:sp>
      <p:sp>
        <p:nvSpPr>
          <p:cNvPr id="8" name="Shape 5"/>
          <p:cNvSpPr/>
          <p:nvPr/>
        </p:nvSpPr>
        <p:spPr>
          <a:xfrm>
            <a:off x="2924175" y="1447800"/>
            <a:ext cx="2085975" cy="1028700"/>
          </a:xfrm>
          <a:prstGeom prst="roundRect">
            <a:avLst>
              <a:gd name="adj" fmla="val 14815"/>
            </a:avLst>
          </a:prstGeom>
          <a:solidFill>
            <a:schemeClr val="bg2"/>
          </a:solidFill>
          <a:ln/>
        </p:spPr>
      </p:sp>
      <p:sp>
        <p:nvSpPr>
          <p:cNvPr id="9" name="Text 6"/>
          <p:cNvSpPr txBox="1"/>
          <p:nvPr/>
        </p:nvSpPr>
        <p:spPr>
          <a:xfrm>
            <a:off x="3152775" y="1562100"/>
            <a:ext cx="1714500" cy="552450"/>
          </a:xfrm>
          <a:prstGeom prst="rect">
            <a:avLst/>
          </a:prstGeom>
          <a:noFill/>
          <a:ln/>
        </p:spPr>
        <p:txBody>
          <a:bodyPr wrap="square" lIns="0" tIns="0" rIns="0" bIns="0" rtlCol="0" anchor="ctr"/>
          <a:lstStyle/>
          <a:p>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약 </a:t>
            </a:r>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90</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10" name="Text 7"/>
          <p:cNvSpPr txBox="1"/>
          <p:nvPr/>
        </p:nvSpPr>
        <p:spPr>
          <a:xfrm>
            <a:off x="3152775"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참여 인원</a:t>
            </a:r>
            <a:endParaRPr lang="ko-KR" sz="1400" dirty="0"/>
          </a:p>
        </p:txBody>
      </p:sp>
      <p:sp>
        <p:nvSpPr>
          <p:cNvPr id="11" name="Shape 8"/>
          <p:cNvSpPr/>
          <p:nvPr/>
        </p:nvSpPr>
        <p:spPr>
          <a:xfrm>
            <a:off x="5162550" y="1447800"/>
            <a:ext cx="2085975" cy="1028700"/>
          </a:xfrm>
          <a:prstGeom prst="roundRect">
            <a:avLst>
              <a:gd name="adj" fmla="val 14815"/>
            </a:avLst>
          </a:prstGeom>
          <a:solidFill>
            <a:schemeClr val="bg2"/>
          </a:solidFill>
          <a:ln/>
        </p:spPr>
      </p:sp>
      <p:sp>
        <p:nvSpPr>
          <p:cNvPr id="12" name="Text 9"/>
          <p:cNvSpPr txBox="1"/>
          <p:nvPr/>
        </p:nvSpPr>
        <p:spPr>
          <a:xfrm>
            <a:off x="5391150" y="1562100"/>
            <a:ext cx="1714500" cy="552450"/>
          </a:xfrm>
          <a:prstGeom prst="rect">
            <a:avLst/>
          </a:prstGeom>
          <a:noFill/>
          <a:ln/>
        </p:spPr>
        <p:txBody>
          <a:bodyPr wrap="square" lIns="0" tIns="0" rIns="0" bIns="0" rtlCol="0" anchor="ctr"/>
          <a:lstStyle/>
          <a:p>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16</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대</a:t>
            </a:r>
            <a:endParaRPr lang="ko-KR" sz="1400" dirty="0"/>
          </a:p>
        </p:txBody>
      </p:sp>
      <p:sp>
        <p:nvSpPr>
          <p:cNvPr id="13" name="Text 10"/>
          <p:cNvSpPr txBox="1"/>
          <p:nvPr/>
        </p:nvSpPr>
        <p:spPr>
          <a:xfrm>
            <a:off x="5391150"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투입 장비</a:t>
            </a:r>
            <a:endParaRPr lang="ko-KR" sz="1400" dirty="0"/>
          </a:p>
        </p:txBody>
      </p:sp>
      <p:graphicFrame>
        <p:nvGraphicFramePr>
          <p:cNvPr id="9" name="Participants table"/>
          <p:cNvGraphicFramePr>
            <a:graphicFrameLocks noGrp="1"/>
          </p:cNvGraphicFramePr>
          <p:nvPr>
            <p:extLst>
              <p:ext uri="{D42A27DB-BD31-4B8C-83A1-F6EECF244321}">
                <p14:modId xmlns:p14="http://schemas.microsoft.com/office/powerpoint/2010/main" val="1579011935"/>
              </p:ext>
            </p:extLst>
          </p:nvPr>
        </p:nvGraphicFramePr>
        <p:xfrm>
          <a:off x="685800" y="2705100"/>
          <a:ext cx="6553200" cy="914400"/>
        </p:xfrm>
        <a:graphic>
          <a:graphicData uri="http://schemas.openxmlformats.org/drawingml/2006/table">
            <a:tbl>
              <a:tblPr/>
              <a:tblGrid>
                <a:gridCol w="1428750"/>
                <a:gridCol w="4362450"/>
                <a:gridCol w="762000"/>
              </a:tblGrid>
              <a:tr h="419100">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구분</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참여 기관·단체</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수</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국토부</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대전국토청, 예산국토, 온석터널센터</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3</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소방·경찰</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서산소방서, 서산경찰서</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2</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지자체·의료</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서산시청, 서산시보건소</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2</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1028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특수·기타</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서산화학재난합동방재센터, 성연초등학교,</a:t>
                      </a:r>
                      <a:endParaRPr lang="en-US" sz="1200" dirty="0"/>
                    </a:p>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제20전비 화생방지원대, 주민평가단</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4</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bl>
          </a:graphicData>
        </a:graphic>
      </p:graphicFrame>
      <p:sp>
        <p:nvSpPr>
          <p:cNvPr id="15" name="Key message card"/>
          <p:cNvSpPr/>
          <p:nvPr/>
        </p:nvSpPr>
        <p:spPr>
          <a:xfrm>
            <a:off x="7543800" y="1447800"/>
            <a:ext cx="3962400" cy="4648200"/>
          </a:xfrm>
          <a:prstGeom prst="roundRect">
            <a:avLst>
              <a:gd name="adj" fmla="val 4327"/>
            </a:avLst>
          </a:prstGeom>
          <a:solidFill>
            <a:schemeClr val="tx2"/>
          </a:solidFill>
          <a:ln/>
        </p:spPr>
      </p:sp>
      <p:pic>
        <p:nvPicPr>
          <p:cNvPr id="16" name="Portal watermark" descr="">    </p:cNvPr>
          <p:cNvPicPr>
            <a:picLocks noChangeAspect="1"/>
          </p:cNvPicPr>
          <p:nvPr/>
        </p:nvPicPr>
        <p:blipFill>
          <a:blip r:embed="rId2"/>
          <a:stretch>
            <a:fillRect/>
          </a:stretch>
        </p:blipFill>
        <p:spPr>
          <a:xfrm>
            <a:off x="9220200" y="4191000"/>
            <a:ext cx="2286000" cy="1905000"/>
          </a:xfrm>
          <a:prstGeom prst="rect">
            <a:avLst/>
          </a:prstGeom>
        </p:spPr>
      </p:pic>
      <p:pic>
        <p:nvPicPr>
          <p:cNvPr id="17" name="Image 2" descr="">    </p:cNvPr>
          <p:cNvPicPr>
            <a:picLocks noChangeAspect="1"/>
          </p:cNvPicPr>
          <p:nvPr/>
        </p:nvPicPr>
        <p:blipFill>
          <a:blip r:embed="rId3"/>
          <a:stretch>
            <a:fillRect/>
          </a:stretch>
        </p:blipFill>
        <p:spPr>
          <a:xfrm>
            <a:off x="7848600" y="1781175"/>
            <a:ext cx="171450" cy="171450"/>
          </a:xfrm>
          <a:prstGeom prst="rect">
            <a:avLst/>
          </a:prstGeom>
        </p:spPr>
      </p:pic>
      <p:sp>
        <p:nvSpPr>
          <p:cNvPr id="18" name="Text 12"/>
          <p:cNvSpPr txBox="1"/>
          <p:nvPr/>
        </p:nvSpPr>
        <p:spPr>
          <a:xfrm>
            <a:off x="8096250" y="1752600"/>
            <a:ext cx="310515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중점</a:t>
            </a:r>
            <a:endParaRPr lang="ko-KR" sz="1400" dirty="0"/>
          </a:p>
        </p:txBody>
      </p:sp>
      <p:pic>
        <p:nvPicPr>
          <p:cNvPr id="19" name="Image 3" descr="">    </p:cNvPr>
          <p:cNvPicPr>
            <a:picLocks noChangeAspect="1"/>
          </p:cNvPicPr>
          <p:nvPr/>
        </p:nvPicPr>
        <p:blipFill>
          <a:blip r:embed="rId4"/>
          <a:stretch>
            <a:fillRect/>
          </a:stretch>
        </p:blipFill>
        <p:spPr>
          <a:xfrm>
            <a:off x="7848600" y="2209800"/>
            <a:ext cx="419100" cy="419100"/>
          </a:xfrm>
          <a:prstGeom prst="rect">
            <a:avLst/>
          </a:prstGeom>
        </p:spPr>
      </p:pic>
      <p:sp>
        <p:nvSpPr>
          <p:cNvPr id="20" name="Text 13"/>
          <p:cNvSpPr txBox="1"/>
          <p:nvPr/>
        </p:nvSpPr>
        <p:spPr>
          <a:xfrm>
            <a:off x="7848600" y="2895600"/>
            <a:ext cx="3352800" cy="847725"/>
          </a:xfrm>
          <a:prstGeom prst="rect">
            <a:avLst/>
          </a:prstGeom>
          <a:noFill/>
          <a:ln/>
        </p:spPr>
        <p:txBody>
          <a:bodyPr wrap="square" lIns="0" tIns="0" rIns="0" bIns="0" rtlCol="0" anchor="t"/>
          <a:lstStyle/>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기관 간 유기적 연계</a:t>
            </a:r>
            <a:endParaRPr lang="ko-KR" sz="2600" dirty="0"/>
          </a:p>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재난취약계층 보호</a:t>
            </a:r>
            <a:endParaRPr lang="ko-KR" sz="2600" dirty="0"/>
          </a:p>
        </p:txBody>
      </p:sp>
      <p:sp>
        <p:nvSpPr>
          <p:cNvPr id="21" name="Text 14"/>
          <p:cNvSpPr txBox="1"/>
          <p:nvPr/>
        </p:nvSpPr>
        <p:spPr>
          <a:xfrm>
            <a:off x="7848600" y="3876675"/>
            <a:ext cx="3352800" cy="6477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대피구조·응급의료 협업 및</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학생 참여에 따른 대응역량 강화</a:t>
            </a:r>
            <a:endParaRPr lang="ko-KR" sz="16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온석터널 현황</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03</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현장 여건</a:t>
            </a:r>
            <a:endParaRPr lang="ko-KR" sz="1200" dirty="0"/>
          </a:p>
        </p:txBody>
      </p:sp>
      <p:sp>
        <p:nvSpPr>
          <p:cNvPr id="5" name="Shape 2"/>
          <p:cNvSpPr/>
          <p:nvPr/>
        </p:nvSpPr>
        <p:spPr>
          <a:xfrm>
            <a:off x="685800" y="1447800"/>
            <a:ext cx="2590800" cy="1600200"/>
          </a:xfrm>
          <a:prstGeom prst="roundRect">
            <a:avLst>
              <a:gd name="adj" fmla="val 9524"/>
            </a:avLst>
          </a:prstGeom>
          <a:solidFill>
            <a:schemeClr val="bg1"/>
          </a:solidFill>
          <a:ln w="14288">
            <a:solidFill>
              <a:schemeClr val="accent6"/>
            </a:solidFill>
            <a:prstDash val="solid"/>
          </a:ln>
        </p:spPr>
      </p:sp>
      <p:sp>
        <p:nvSpPr>
          <p:cNvPr id="6" name="Shape 3"/>
          <p:cNvSpPr/>
          <p:nvPr/>
        </p:nvSpPr>
        <p:spPr>
          <a:xfrm>
            <a:off x="876300" y="1638300"/>
            <a:ext cx="457200" cy="457200"/>
          </a:xfrm>
          <a:prstGeom prst="ellipse">
            <a:avLst/>
          </a:prstGeom>
          <a:solidFill>
            <a:schemeClr val="tx2"/>
          </a:solidFill>
          <a:ln/>
        </p:spPr>
      </p:sp>
      <p:pic>
        <p:nvPicPr>
          <p:cNvPr id="7" name="Image 1" descr="">    </p:cNvPr>
          <p:cNvPicPr>
            <a:picLocks noChangeAspect="1"/>
          </p:cNvPicPr>
          <p:nvPr/>
        </p:nvPicPr>
        <p:blipFill>
          <a:blip r:embed="rId2"/>
          <a:stretch>
            <a:fillRect/>
          </a:stretch>
        </p:blipFill>
        <p:spPr>
          <a:xfrm>
            <a:off x="990600" y="1752600"/>
            <a:ext cx="228600" cy="228600"/>
          </a:xfrm>
          <a:prstGeom prst="rect">
            <a:avLst/>
          </a:prstGeom>
        </p:spPr>
      </p:pic>
      <p:sp>
        <p:nvSpPr>
          <p:cNvPr id="8" name="Text 4"/>
          <p:cNvSpPr txBox="1"/>
          <p:nvPr/>
        </p:nvSpPr>
        <p:spPr>
          <a:xfrm>
            <a:off x="1447800" y="1638300"/>
            <a:ext cx="114300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준공</a:t>
            </a:r>
            <a:endParaRPr lang="ko-KR" sz="1500" dirty="0"/>
          </a:p>
        </p:txBody>
      </p:sp>
      <p:sp>
        <p:nvSpPr>
          <p:cNvPr id="9" name="Text 5"/>
          <p:cNvSpPr txBox="1"/>
          <p:nvPr/>
        </p:nvSpPr>
        <p:spPr>
          <a:xfrm>
            <a:off x="8763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2016</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년</a:t>
            </a:r>
            <a:endParaRPr lang="ko-KR" sz="1400" dirty="0"/>
          </a:p>
        </p:txBody>
      </p:sp>
      <p:sp>
        <p:nvSpPr>
          <p:cNvPr id="10" name="Text 6"/>
          <p:cNvSpPr txBox="1"/>
          <p:nvPr/>
        </p:nvSpPr>
        <p:spPr>
          <a:xfrm>
            <a:off x="8763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국도32호선</a:t>
            </a:r>
            <a:endParaRPr lang="ko-KR" sz="1400" dirty="0"/>
          </a:p>
        </p:txBody>
      </p:sp>
      <p:sp>
        <p:nvSpPr>
          <p:cNvPr id="11" name="Shape 7"/>
          <p:cNvSpPr/>
          <p:nvPr/>
        </p:nvSpPr>
        <p:spPr>
          <a:xfrm>
            <a:off x="3429000" y="1447800"/>
            <a:ext cx="2590800" cy="1600200"/>
          </a:xfrm>
          <a:prstGeom prst="roundRect">
            <a:avLst>
              <a:gd name="adj" fmla="val 9524"/>
            </a:avLst>
          </a:prstGeom>
          <a:solidFill>
            <a:schemeClr val="bg1"/>
          </a:solidFill>
          <a:ln w="14288">
            <a:solidFill>
              <a:schemeClr val="accent6"/>
            </a:solidFill>
            <a:prstDash val="solid"/>
          </a:ln>
        </p:spPr>
      </p:sp>
      <p:sp>
        <p:nvSpPr>
          <p:cNvPr id="12" name="Shape 8"/>
          <p:cNvSpPr/>
          <p:nvPr/>
        </p:nvSpPr>
        <p:spPr>
          <a:xfrm>
            <a:off x="3619500" y="1638300"/>
            <a:ext cx="457200" cy="457200"/>
          </a:xfrm>
          <a:prstGeom prst="ellipse">
            <a:avLst/>
          </a:prstGeom>
          <a:solidFill>
            <a:schemeClr val="tx2"/>
          </a:solidFill>
          <a:ln/>
        </p:spPr>
      </p:sp>
      <p:pic>
        <p:nvPicPr>
          <p:cNvPr id="13" name="Image 2" descr="">    </p:cNvPr>
          <p:cNvPicPr>
            <a:picLocks noChangeAspect="1"/>
          </p:cNvPicPr>
          <p:nvPr/>
        </p:nvPicPr>
        <p:blipFill>
          <a:blip r:embed="rId3"/>
          <a:stretch>
            <a:fillRect/>
          </a:stretch>
        </p:blipFill>
        <p:spPr>
          <a:xfrm>
            <a:off x="3733800" y="1752600"/>
            <a:ext cx="228600" cy="228600"/>
          </a:xfrm>
          <a:prstGeom prst="rect">
            <a:avLst/>
          </a:prstGeom>
        </p:spPr>
      </p:pic>
      <p:sp>
        <p:nvSpPr>
          <p:cNvPr id="14" name="Text 9"/>
          <p:cNvSpPr txBox="1"/>
          <p:nvPr/>
        </p:nvSpPr>
        <p:spPr>
          <a:xfrm>
            <a:off x="4191000" y="1638300"/>
            <a:ext cx="114300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연장</a:t>
            </a:r>
            <a:endParaRPr lang="ko-KR" sz="1500" dirty="0"/>
          </a:p>
        </p:txBody>
      </p:sp>
      <p:sp>
        <p:nvSpPr>
          <p:cNvPr id="15" name="Shape 10"/>
          <p:cNvSpPr/>
          <p:nvPr/>
        </p:nvSpPr>
        <p:spPr>
          <a:xfrm>
            <a:off x="5219700" y="1743075"/>
            <a:ext cx="609600" cy="247650"/>
          </a:xfrm>
          <a:prstGeom prst="roundRect">
            <a:avLst>
              <a:gd name="adj" fmla="val 50000"/>
            </a:avLst>
          </a:prstGeom>
          <a:ln w="14288">
            <a:solidFill>
              <a:schemeClr val="accent2"/>
            </a:solidFill>
            <a:prstDash val="solid"/>
          </a:ln>
        </p:spPr>
      </p:sp>
      <p:sp>
        <p:nvSpPr>
          <p:cNvPr id="16" name="Text 11"/>
          <p:cNvSpPr txBox="1"/>
          <p:nvPr/>
        </p:nvSpPr>
        <p:spPr>
          <a:xfrm>
            <a:off x="5219700" y="1743075"/>
            <a:ext cx="609600" cy="24765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accent2"/>
                </a:solidFill>
                <a:latin typeface="Paperlogy 6 SemiBold" pitchFamily="34" charset="0"/>
                <a:ea typeface="Paperlogy 6 SemiBold" pitchFamily="34" charset="-127"/>
                <a:cs typeface="Paperlogy 6 SemiBold" pitchFamily="34" charset="-120"/>
              </a:rPr>
              <a:t>단터널</a:t>
            </a:r>
            <a:endParaRPr lang="ko-KR" sz="1200" dirty="0"/>
          </a:p>
        </p:txBody>
      </p:sp>
      <p:sp>
        <p:nvSpPr>
          <p:cNvPr id="17" name="Text 12"/>
          <p:cNvSpPr txBox="1"/>
          <p:nvPr/>
        </p:nvSpPr>
        <p:spPr>
          <a:xfrm>
            <a:off x="36195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340</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m</a:t>
            </a:r>
            <a:pPr algn="l" indent="0" marL="0">
              <a:lnSpc>
                <a:spcPct val="84900"/>
              </a:lnSpc>
              <a:buNone/>
            </a:pPr>
            <a:r>
              <a:rPr lang="ko-KR" altLang="en-US" sz="2000" dirty="0">
                <a:solidFill>
                  <a:schemeClr val="tx1"/>
                </a:solidFill>
                <a:latin typeface="Paperlogy 7 Bold" pitchFamily="34" charset="0"/>
                <a:ea typeface="Paperlogy 7 Bold" pitchFamily="34" charset="-127"/>
                <a:cs typeface="Paperlogy 7 Bold" pitchFamily="34" charset="-120"/>
              </a:rPr>
              <a:t>  ·  </a:t>
            </a:r>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350</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m</a:t>
            </a:r>
            <a:endParaRPr lang="ko-KR" sz="1400" dirty="0"/>
          </a:p>
        </p:txBody>
      </p:sp>
      <p:sp>
        <p:nvSpPr>
          <p:cNvPr id="18" name="Text 13"/>
          <p:cNvSpPr txBox="1"/>
          <p:nvPr/>
        </p:nvSpPr>
        <p:spPr>
          <a:xfrm>
            <a:off x="36195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서산방향 · 당진방향</a:t>
            </a:r>
            <a:endParaRPr lang="ko-KR" sz="1400" dirty="0"/>
          </a:p>
        </p:txBody>
      </p:sp>
      <p:sp>
        <p:nvSpPr>
          <p:cNvPr id="19" name="Shape 14"/>
          <p:cNvSpPr/>
          <p:nvPr/>
        </p:nvSpPr>
        <p:spPr>
          <a:xfrm>
            <a:off x="6172200" y="1447800"/>
            <a:ext cx="2590800" cy="1600200"/>
          </a:xfrm>
          <a:prstGeom prst="roundRect">
            <a:avLst>
              <a:gd name="adj" fmla="val 9524"/>
            </a:avLst>
          </a:prstGeom>
          <a:solidFill>
            <a:schemeClr val="bg1"/>
          </a:solidFill>
          <a:ln w="14288">
            <a:solidFill>
              <a:schemeClr val="accent6"/>
            </a:solidFill>
            <a:prstDash val="solid"/>
          </a:ln>
        </p:spPr>
      </p:sp>
      <p:sp>
        <p:nvSpPr>
          <p:cNvPr id="20" name="Shape 15"/>
          <p:cNvSpPr/>
          <p:nvPr/>
        </p:nvSpPr>
        <p:spPr>
          <a:xfrm>
            <a:off x="6362700" y="1638300"/>
            <a:ext cx="457200" cy="457200"/>
          </a:xfrm>
          <a:prstGeom prst="ellipse">
            <a:avLst/>
          </a:prstGeom>
          <a:solidFill>
            <a:schemeClr val="tx2"/>
          </a:solidFill>
          <a:ln/>
        </p:spPr>
      </p:sp>
      <p:pic>
        <p:nvPicPr>
          <p:cNvPr id="21" name="Image 3" descr="">    </p:cNvPr>
          <p:cNvPicPr>
            <a:picLocks noChangeAspect="1"/>
          </p:cNvPicPr>
          <p:nvPr/>
        </p:nvPicPr>
        <p:blipFill>
          <a:blip r:embed="rId4"/>
          <a:stretch>
            <a:fillRect/>
          </a:stretch>
        </p:blipFill>
        <p:spPr>
          <a:xfrm>
            <a:off x="6477000" y="1752600"/>
            <a:ext cx="228600" cy="228600"/>
          </a:xfrm>
          <a:prstGeom prst="rect">
            <a:avLst/>
          </a:prstGeom>
        </p:spPr>
      </p:pic>
      <p:sp>
        <p:nvSpPr>
          <p:cNvPr id="22" name="Text 16"/>
          <p:cNvSpPr txBox="1"/>
          <p:nvPr/>
        </p:nvSpPr>
        <p:spPr>
          <a:xfrm>
            <a:off x="6934200" y="1638300"/>
            <a:ext cx="114300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소화기</a:t>
            </a:r>
            <a:endParaRPr lang="ko-KR" sz="1500" dirty="0"/>
          </a:p>
        </p:txBody>
      </p:sp>
      <p:sp>
        <p:nvSpPr>
          <p:cNvPr id="23" name="Text 17"/>
          <p:cNvSpPr txBox="1"/>
          <p:nvPr/>
        </p:nvSpPr>
        <p:spPr>
          <a:xfrm>
            <a:off x="63627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28</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개</a:t>
            </a:r>
            <a:endParaRPr lang="ko-KR" sz="1400" dirty="0"/>
          </a:p>
        </p:txBody>
      </p:sp>
      <p:sp>
        <p:nvSpPr>
          <p:cNvPr id="24" name="Text 18"/>
          <p:cNvSpPr txBox="1"/>
          <p:nvPr/>
        </p:nvSpPr>
        <p:spPr>
          <a:xfrm>
            <a:off x="63627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방향별 14개</a:t>
            </a:r>
            <a:endParaRPr lang="ko-KR" sz="1400" dirty="0"/>
          </a:p>
        </p:txBody>
      </p:sp>
      <p:sp>
        <p:nvSpPr>
          <p:cNvPr id="25" name="Shape 19"/>
          <p:cNvSpPr/>
          <p:nvPr/>
        </p:nvSpPr>
        <p:spPr>
          <a:xfrm>
            <a:off x="8915400" y="1447800"/>
            <a:ext cx="2590800" cy="1600200"/>
          </a:xfrm>
          <a:prstGeom prst="roundRect">
            <a:avLst>
              <a:gd name="adj" fmla="val 9524"/>
            </a:avLst>
          </a:prstGeom>
          <a:solidFill>
            <a:schemeClr val="bg1"/>
          </a:solidFill>
          <a:ln w="14288">
            <a:solidFill>
              <a:schemeClr val="accent6"/>
            </a:solidFill>
            <a:prstDash val="solid"/>
          </a:ln>
        </p:spPr>
      </p:sp>
      <p:sp>
        <p:nvSpPr>
          <p:cNvPr id="26" name="Shape 20"/>
          <p:cNvSpPr/>
          <p:nvPr/>
        </p:nvSpPr>
        <p:spPr>
          <a:xfrm>
            <a:off x="9105900" y="1638300"/>
            <a:ext cx="457200" cy="457200"/>
          </a:xfrm>
          <a:prstGeom prst="ellipse">
            <a:avLst/>
          </a:prstGeom>
          <a:solidFill>
            <a:schemeClr val="tx2"/>
          </a:solidFill>
          <a:ln/>
        </p:spPr>
      </p:sp>
      <p:pic>
        <p:nvPicPr>
          <p:cNvPr id="27" name="Image 4" descr="">    </p:cNvPr>
          <p:cNvPicPr>
            <a:picLocks noChangeAspect="1"/>
          </p:cNvPicPr>
          <p:nvPr/>
        </p:nvPicPr>
        <p:blipFill>
          <a:blip r:embed="rId5"/>
          <a:stretch>
            <a:fillRect/>
          </a:stretch>
        </p:blipFill>
        <p:spPr>
          <a:xfrm>
            <a:off x="9220200" y="1752600"/>
            <a:ext cx="228600" cy="228600"/>
          </a:xfrm>
          <a:prstGeom prst="rect">
            <a:avLst/>
          </a:prstGeom>
        </p:spPr>
      </p:pic>
      <p:sp>
        <p:nvSpPr>
          <p:cNvPr id="28" name="Text 21"/>
          <p:cNvSpPr txBox="1"/>
          <p:nvPr/>
        </p:nvSpPr>
        <p:spPr>
          <a:xfrm>
            <a:off x="9677400" y="1638300"/>
            <a:ext cx="114300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CCTV</a:t>
            </a:r>
            <a:endParaRPr lang="ko-KR" sz="1500" dirty="0"/>
          </a:p>
        </p:txBody>
      </p:sp>
      <p:sp>
        <p:nvSpPr>
          <p:cNvPr id="29" name="Text 22"/>
          <p:cNvSpPr txBox="1"/>
          <p:nvPr/>
        </p:nvSpPr>
        <p:spPr>
          <a:xfrm>
            <a:off x="91059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6</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대</a:t>
            </a:r>
            <a:endParaRPr lang="ko-KR" sz="1400" dirty="0"/>
          </a:p>
        </p:txBody>
      </p:sp>
      <p:sp>
        <p:nvSpPr>
          <p:cNvPr id="30" name="Text 23"/>
          <p:cNvSpPr txBox="1"/>
          <p:nvPr/>
        </p:nvSpPr>
        <p:spPr>
          <a:xfrm>
            <a:off x="91059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방향별 3대</a:t>
            </a:r>
            <a:endParaRPr lang="ko-KR" sz="1400" dirty="0"/>
          </a:p>
        </p:txBody>
      </p:sp>
      <p:sp>
        <p:nvSpPr>
          <p:cNvPr id="31" name="Text 24"/>
          <p:cNvSpPr txBox="1"/>
          <p:nvPr/>
        </p:nvSpPr>
        <p:spPr>
          <a:xfrm>
            <a:off x="685800" y="33147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안전시설 개선</a:t>
            </a:r>
            <a:endParaRPr lang="ko-KR" sz="1800" dirty="0"/>
          </a:p>
        </p:txBody>
      </p:sp>
      <p:sp>
        <p:nvSpPr>
          <p:cNvPr id="32" name="Shape 25"/>
          <p:cNvSpPr/>
          <p:nvPr/>
        </p:nvSpPr>
        <p:spPr>
          <a:xfrm>
            <a:off x="685800" y="3695700"/>
            <a:ext cx="5334000" cy="1333500"/>
          </a:xfrm>
          <a:prstGeom prst="roundRect">
            <a:avLst>
              <a:gd name="adj" fmla="val 12857"/>
            </a:avLst>
          </a:prstGeom>
          <a:solidFill>
            <a:schemeClr val="bg2"/>
          </a:solidFill>
          <a:ln/>
        </p:spPr>
      </p:sp>
      <p:pic>
        <p:nvPicPr>
          <p:cNvPr id="33" name="Image 5" descr="">    </p:cNvPr>
          <p:cNvPicPr>
            <a:picLocks noChangeAspect="1"/>
          </p:cNvPicPr>
          <p:nvPr/>
        </p:nvPicPr>
        <p:blipFill>
          <a:blip r:embed="rId6"/>
          <a:stretch>
            <a:fillRect/>
          </a:stretch>
        </p:blipFill>
        <p:spPr>
          <a:xfrm>
            <a:off x="914400" y="3905250"/>
            <a:ext cx="247650" cy="247650"/>
          </a:xfrm>
          <a:prstGeom prst="rect">
            <a:avLst/>
          </a:prstGeom>
        </p:spPr>
      </p:pic>
      <p:sp>
        <p:nvSpPr>
          <p:cNvPr id="34" name="Text 26"/>
          <p:cNvSpPr txBox="1"/>
          <p:nvPr/>
        </p:nvSpPr>
        <p:spPr>
          <a:xfrm>
            <a:off x="1257300" y="3867150"/>
            <a:ext cx="2857500" cy="3238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터널 조명 상향</a:t>
            </a:r>
            <a:endParaRPr lang="ko-KR" sz="1800" dirty="0"/>
          </a:p>
        </p:txBody>
      </p:sp>
      <p:sp>
        <p:nvSpPr>
          <p:cNvPr id="35" name="Text 27"/>
          <p:cNvSpPr txBox="1"/>
          <p:nvPr/>
        </p:nvSpPr>
        <p:spPr>
          <a:xfrm>
            <a:off x="914400" y="4343400"/>
            <a:ext cx="5334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기존</a:t>
            </a:r>
            <a:endParaRPr lang="ko-KR" sz="1300" dirty="0"/>
          </a:p>
        </p:txBody>
      </p:sp>
      <p:sp>
        <p:nvSpPr>
          <p:cNvPr id="36" name="Shape 28"/>
          <p:cNvSpPr/>
          <p:nvPr/>
        </p:nvSpPr>
        <p:spPr>
          <a:xfrm>
            <a:off x="1447800" y="4391025"/>
            <a:ext cx="3429000" cy="133350"/>
          </a:xfrm>
          <a:prstGeom prst="roundRect">
            <a:avLst>
              <a:gd name="adj" fmla="val 50000"/>
            </a:avLst>
          </a:prstGeom>
          <a:solidFill>
            <a:schemeClr val="bg1"/>
          </a:solidFill>
          <a:ln/>
        </p:spPr>
      </p:sp>
      <p:sp>
        <p:nvSpPr>
          <p:cNvPr id="37" name="Shape 29"/>
          <p:cNvSpPr/>
          <p:nvPr/>
        </p:nvSpPr>
        <p:spPr>
          <a:xfrm>
            <a:off x="1447800" y="4391025"/>
            <a:ext cx="2057400" cy="133350"/>
          </a:xfrm>
          <a:prstGeom prst="roundRect">
            <a:avLst>
              <a:gd name="adj" fmla="val 50000"/>
            </a:avLst>
          </a:prstGeom>
          <a:solidFill>
            <a:schemeClr val="accent4"/>
          </a:solidFill>
          <a:ln/>
        </p:spPr>
      </p:sp>
      <p:sp>
        <p:nvSpPr>
          <p:cNvPr id="38" name="Text 30"/>
          <p:cNvSpPr txBox="1"/>
          <p:nvPr/>
        </p:nvSpPr>
        <p:spPr>
          <a:xfrm>
            <a:off x="4991100" y="4343400"/>
            <a:ext cx="8763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8 ExtraBold" pitchFamily="34" charset="0"/>
                <a:ea typeface="Paperlogy 8 ExtraBold" pitchFamily="34" charset="-127"/>
                <a:cs typeface="Paperlogy 8 ExtraBold" pitchFamily="34" charset="-120"/>
              </a:rPr>
              <a:t>60%</a:t>
            </a:r>
            <a:endParaRPr lang="ko-KR" sz="1500" dirty="0"/>
          </a:p>
        </p:txBody>
      </p:sp>
      <p:sp>
        <p:nvSpPr>
          <p:cNvPr id="39" name="Text 31"/>
          <p:cNvSpPr txBox="1"/>
          <p:nvPr/>
        </p:nvSpPr>
        <p:spPr>
          <a:xfrm>
            <a:off x="914400" y="4667250"/>
            <a:ext cx="5334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개선</a:t>
            </a:r>
            <a:endParaRPr lang="ko-KR" sz="1300" dirty="0"/>
          </a:p>
        </p:txBody>
      </p:sp>
      <p:sp>
        <p:nvSpPr>
          <p:cNvPr id="40" name="Shape 32"/>
          <p:cNvSpPr/>
          <p:nvPr/>
        </p:nvSpPr>
        <p:spPr>
          <a:xfrm>
            <a:off x="1447800" y="4714875"/>
            <a:ext cx="3429000" cy="133350"/>
          </a:xfrm>
          <a:prstGeom prst="roundRect">
            <a:avLst>
              <a:gd name="adj" fmla="val 50000"/>
            </a:avLst>
          </a:prstGeom>
          <a:solidFill>
            <a:schemeClr val="bg1"/>
          </a:solidFill>
          <a:ln/>
        </p:spPr>
      </p:sp>
      <p:sp>
        <p:nvSpPr>
          <p:cNvPr id="41" name="Shape 33"/>
          <p:cNvSpPr/>
          <p:nvPr/>
        </p:nvSpPr>
        <p:spPr>
          <a:xfrm>
            <a:off x="1447800" y="4714875"/>
            <a:ext cx="3429000" cy="133350"/>
          </a:xfrm>
          <a:prstGeom prst="roundRect">
            <a:avLst>
              <a:gd name="adj" fmla="val 50000"/>
            </a:avLst>
          </a:prstGeom>
          <a:solidFill>
            <a:schemeClr val="accent2"/>
          </a:solidFill>
          <a:ln/>
        </p:spPr>
      </p:sp>
      <p:sp>
        <p:nvSpPr>
          <p:cNvPr id="42" name="Text 34"/>
          <p:cNvSpPr txBox="1"/>
          <p:nvPr/>
        </p:nvSpPr>
        <p:spPr>
          <a:xfrm>
            <a:off x="4991100" y="4667250"/>
            <a:ext cx="8763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8 ExtraBold" pitchFamily="34" charset="0"/>
                <a:ea typeface="Paperlogy 8 ExtraBold" pitchFamily="34" charset="-127"/>
                <a:cs typeface="Paperlogy 8 ExtraBold" pitchFamily="34" charset="-120"/>
              </a:rPr>
              <a:t>100%</a:t>
            </a:r>
            <a:endParaRPr lang="ko-KR" sz="1500" dirty="0"/>
          </a:p>
        </p:txBody>
      </p:sp>
      <p:sp>
        <p:nvSpPr>
          <p:cNvPr id="43" name="Shape 35"/>
          <p:cNvSpPr/>
          <p:nvPr/>
        </p:nvSpPr>
        <p:spPr>
          <a:xfrm>
            <a:off x="6172200" y="3695700"/>
            <a:ext cx="5334000" cy="1333500"/>
          </a:xfrm>
          <a:prstGeom prst="roundRect">
            <a:avLst>
              <a:gd name="adj" fmla="val 12857"/>
            </a:avLst>
          </a:prstGeom>
          <a:solidFill>
            <a:schemeClr val="bg2"/>
          </a:solidFill>
          <a:ln/>
        </p:spPr>
      </p:sp>
      <p:pic>
        <p:nvPicPr>
          <p:cNvPr id="44" name="Image 6" descr="">    </p:cNvPr>
          <p:cNvPicPr>
            <a:picLocks noChangeAspect="1"/>
          </p:cNvPicPr>
          <p:nvPr/>
        </p:nvPicPr>
        <p:blipFill>
          <a:blip r:embed="rId7"/>
          <a:stretch>
            <a:fillRect/>
          </a:stretch>
        </p:blipFill>
        <p:spPr>
          <a:xfrm>
            <a:off x="6400800" y="3905250"/>
            <a:ext cx="247650" cy="247650"/>
          </a:xfrm>
          <a:prstGeom prst="rect">
            <a:avLst/>
          </a:prstGeom>
        </p:spPr>
      </p:pic>
      <p:sp>
        <p:nvSpPr>
          <p:cNvPr id="45" name="Text 36"/>
          <p:cNvSpPr txBox="1"/>
          <p:nvPr/>
        </p:nvSpPr>
        <p:spPr>
          <a:xfrm>
            <a:off x="6743700" y="3867150"/>
            <a:ext cx="2857500" cy="3238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CCTV 상시감시</a:t>
            </a:r>
            <a:endParaRPr lang="ko-KR" sz="1800" dirty="0"/>
          </a:p>
        </p:txBody>
      </p:sp>
      <p:sp>
        <p:nvSpPr>
          <p:cNvPr id="46" name="Text 37"/>
          <p:cNvSpPr txBox="1"/>
          <p:nvPr/>
        </p:nvSpPr>
        <p:spPr>
          <a:xfrm>
            <a:off x="6400800" y="4267200"/>
            <a:ext cx="4953000" cy="609600"/>
          </a:xfrm>
          <a:prstGeom prst="rect">
            <a:avLst/>
          </a:prstGeom>
          <a:noFill/>
          <a:ln/>
        </p:spPr>
        <p:txBody>
          <a:bodyPr wrap="square" lIns="0" tIns="0" rIns="0" bIns="0" rtlCol="0" anchor="ctr"/>
          <a:lstStyle/>
          <a:p>
            <a:pPr algn="l" indent="0" marL="0">
              <a:lnSpc>
                <a:spcPct val="84900"/>
              </a:lnSpc>
              <a:buNone/>
            </a:pPr>
            <a:r>
              <a:rPr lang="ko-KR" altLang="en-US" sz="2200" dirty="0">
                <a:solidFill>
                  <a:schemeClr val="tx1"/>
                </a:solidFill>
                <a:latin typeface="Paperlogy 7 Bold" pitchFamily="34" charset="0"/>
                <a:ea typeface="Paperlogy 7 Bold" pitchFamily="34" charset="-127"/>
                <a:cs typeface="Paperlogy 7 Bold" pitchFamily="34" charset="-120"/>
              </a:rPr>
              <a:t>약 </a:t>
            </a:r>
            <a:pPr algn="l" indent="0" marL="0">
              <a:lnSpc>
                <a:spcPct val="84900"/>
              </a:lnSpc>
              <a:buNone/>
            </a:pPr>
            <a:r>
              <a:rPr lang="ko-KR" altLang="en-US" sz="4400" dirty="0">
                <a:solidFill>
                  <a:schemeClr val="accent2"/>
                </a:solidFill>
                <a:latin typeface="Paperlogy 8 ExtraBold" pitchFamily="34" charset="0"/>
                <a:ea typeface="Paperlogy 8 ExtraBold" pitchFamily="34" charset="-127"/>
                <a:cs typeface="Paperlogy 8 ExtraBold" pitchFamily="34" charset="-120"/>
              </a:rPr>
              <a:t>2</a:t>
            </a:r>
            <a:pPr algn="l" indent="0" marL="0">
              <a:lnSpc>
                <a:spcPct val="84900"/>
              </a:lnSpc>
              <a:buNone/>
            </a:pPr>
            <a:r>
              <a:rPr lang="ko-KR" altLang="en-US" sz="2200" dirty="0">
                <a:solidFill>
                  <a:schemeClr val="tx1"/>
                </a:solidFill>
                <a:latin typeface="Paperlogy 7 Bold" pitchFamily="34" charset="0"/>
                <a:ea typeface="Paperlogy 7 Bold" pitchFamily="34" charset="-127"/>
                <a:cs typeface="Paperlogy 7 Bold" pitchFamily="34" charset="-120"/>
              </a:rPr>
              <a:t>분 내</a:t>
            </a:r>
            <a:pPr algn="l" indent="0" marL="0">
              <a:lnSpc>
                <a:spcPct val="84900"/>
              </a:lnSpc>
              <a:buNone/>
            </a:pPr>
            <a:r>
              <a:rPr lang="ko-KR" altLang="en-US" sz="2200" dirty="0">
                <a:solidFill>
                  <a:schemeClr val="tx1"/>
                </a:solidFill>
                <a:latin typeface="Paperlogy 7 Bold" pitchFamily="34" charset="0"/>
                <a:ea typeface="Paperlogy 7 Bold" pitchFamily="34" charset="-127"/>
                <a:cs typeface="Paperlogy 7 Bold" pitchFamily="34" charset="-120"/>
              </a:rPr>
              <a:t>  초기 대응</a:t>
            </a:r>
            <a:endParaRPr lang="ko-KR" sz="1400" dirty="0"/>
          </a:p>
        </p:txBody>
      </p:sp>
      <p:sp>
        <p:nvSpPr>
          <p:cNvPr id="47" name="Key message strip"/>
          <p:cNvSpPr/>
          <p:nvPr/>
        </p:nvSpPr>
        <p:spPr>
          <a:xfrm>
            <a:off x="685800" y="5295900"/>
            <a:ext cx="10820400" cy="800100"/>
          </a:xfrm>
          <a:prstGeom prst="roundRect">
            <a:avLst>
              <a:gd name="adj" fmla="val 21429"/>
            </a:avLst>
          </a:prstGeom>
          <a:solidFill>
            <a:schemeClr val="tx2"/>
          </a:solidFill>
          <a:ln/>
        </p:spPr>
      </p:sp>
      <p:pic>
        <p:nvPicPr>
          <p:cNvPr id="48" name="Image 7" descr="">    </p:cNvPr>
          <p:cNvPicPr>
            <a:picLocks noChangeAspect="1"/>
          </p:cNvPicPr>
          <p:nvPr/>
        </p:nvPicPr>
        <p:blipFill>
          <a:blip r:embed="rId8"/>
          <a:stretch>
            <a:fillRect/>
          </a:stretch>
        </p:blipFill>
        <p:spPr>
          <a:xfrm>
            <a:off x="990600" y="5600700"/>
            <a:ext cx="190500" cy="190500"/>
          </a:xfrm>
          <a:prstGeom prst="rect">
            <a:avLst/>
          </a:prstGeom>
        </p:spPr>
      </p:pic>
      <p:sp>
        <p:nvSpPr>
          <p:cNvPr id="49" name="Text 39"/>
          <p:cNvSpPr txBox="1"/>
          <p:nvPr/>
        </p:nvSpPr>
        <p:spPr>
          <a:xfrm>
            <a:off x="1295400" y="5295900"/>
            <a:ext cx="4191000" cy="8001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bg1"/>
                </a:solidFill>
                <a:latin typeface="Paperlogy 8 ExtraBold" pitchFamily="34" charset="0"/>
                <a:ea typeface="Paperlogy 8 ExtraBold" pitchFamily="34" charset="-127"/>
                <a:cs typeface="Paperlogy 8 ExtraBold" pitchFamily="34" charset="-120"/>
              </a:rPr>
              <a:t>단터널의 현장 대응력 강화</a:t>
            </a:r>
            <a:endParaRPr lang="ko-KR" sz="2200" dirty="0"/>
          </a:p>
        </p:txBody>
      </p:sp>
      <p:sp>
        <p:nvSpPr>
          <p:cNvPr id="50" name="Shape 40"/>
          <p:cNvSpPr/>
          <p:nvPr/>
        </p:nvSpPr>
        <p:spPr>
          <a:xfrm>
            <a:off x="6438900" y="5505450"/>
            <a:ext cx="1123950" cy="381000"/>
          </a:xfrm>
          <a:prstGeom prst="roundRect">
            <a:avLst>
              <a:gd name="adj" fmla="val 50000"/>
            </a:avLst>
          </a:prstGeom>
          <a:ln w="14288">
            <a:solidFill>
              <a:schemeClr val="accent3"/>
            </a:solidFill>
            <a:prstDash val="solid"/>
          </a:ln>
        </p:spPr>
      </p:sp>
      <p:sp>
        <p:nvSpPr>
          <p:cNvPr id="51" name="Text 41"/>
          <p:cNvSpPr txBox="1"/>
          <p:nvPr/>
        </p:nvSpPr>
        <p:spPr>
          <a:xfrm>
            <a:off x="643890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초기인지</a:t>
            </a:r>
            <a:endParaRPr lang="ko-KR" sz="1500" dirty="0"/>
          </a:p>
        </p:txBody>
      </p:sp>
      <p:sp>
        <p:nvSpPr>
          <p:cNvPr id="52" name="Shape 42"/>
          <p:cNvSpPr/>
          <p:nvPr/>
        </p:nvSpPr>
        <p:spPr>
          <a:xfrm>
            <a:off x="7677150" y="5505450"/>
            <a:ext cx="1123950" cy="381000"/>
          </a:xfrm>
          <a:prstGeom prst="roundRect">
            <a:avLst>
              <a:gd name="adj" fmla="val 50000"/>
            </a:avLst>
          </a:prstGeom>
          <a:ln w="14288">
            <a:solidFill>
              <a:schemeClr val="accent3"/>
            </a:solidFill>
            <a:prstDash val="solid"/>
          </a:ln>
        </p:spPr>
      </p:sp>
      <p:sp>
        <p:nvSpPr>
          <p:cNvPr id="53" name="Text 43"/>
          <p:cNvSpPr txBox="1"/>
          <p:nvPr/>
        </p:nvSpPr>
        <p:spPr>
          <a:xfrm>
            <a:off x="767715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현장통제</a:t>
            </a:r>
            <a:endParaRPr lang="ko-KR" sz="1500" dirty="0"/>
          </a:p>
        </p:txBody>
      </p:sp>
      <p:sp>
        <p:nvSpPr>
          <p:cNvPr id="54" name="Shape 44"/>
          <p:cNvSpPr/>
          <p:nvPr/>
        </p:nvSpPr>
        <p:spPr>
          <a:xfrm>
            <a:off x="8915400" y="5505450"/>
            <a:ext cx="1123950" cy="381000"/>
          </a:xfrm>
          <a:prstGeom prst="roundRect">
            <a:avLst>
              <a:gd name="adj" fmla="val 50000"/>
            </a:avLst>
          </a:prstGeom>
          <a:ln w="14288">
            <a:solidFill>
              <a:schemeClr val="accent3"/>
            </a:solidFill>
            <a:prstDash val="solid"/>
          </a:ln>
        </p:spPr>
      </p:sp>
      <p:sp>
        <p:nvSpPr>
          <p:cNvPr id="55" name="Text 45"/>
          <p:cNvSpPr txBox="1"/>
          <p:nvPr/>
        </p:nvSpPr>
        <p:spPr>
          <a:xfrm>
            <a:off x="891540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신속출동</a:t>
            </a:r>
            <a:endParaRPr lang="ko-KR" sz="1500" dirty="0"/>
          </a:p>
        </p:txBody>
      </p:sp>
      <p:sp>
        <p:nvSpPr>
          <p:cNvPr id="56" name="Shape 46"/>
          <p:cNvSpPr/>
          <p:nvPr/>
        </p:nvSpPr>
        <p:spPr>
          <a:xfrm>
            <a:off x="10153650" y="5505450"/>
            <a:ext cx="1123950" cy="381000"/>
          </a:xfrm>
          <a:prstGeom prst="roundRect">
            <a:avLst>
              <a:gd name="adj" fmla="val 50000"/>
            </a:avLst>
          </a:prstGeom>
          <a:ln w="14288">
            <a:solidFill>
              <a:schemeClr val="accent3"/>
            </a:solidFill>
            <a:prstDash val="solid"/>
          </a:ln>
        </p:spPr>
      </p:sp>
      <p:sp>
        <p:nvSpPr>
          <p:cNvPr id="57" name="Text 47"/>
          <p:cNvSpPr txBox="1"/>
          <p:nvPr/>
        </p:nvSpPr>
        <p:spPr>
          <a:xfrm>
            <a:off x="1015365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기관공조</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교통통제 및 우회도로</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03</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현장 여건</a:t>
            </a:r>
            <a:endParaRPr lang="ko-KR" sz="1200" dirty="0"/>
          </a:p>
        </p:txBody>
      </p:sp>
      <p:sp>
        <p:nvSpPr>
          <p:cNvPr id="5" name="Shape 2"/>
          <p:cNvSpPr/>
          <p:nvPr/>
        </p:nvSpPr>
        <p:spPr>
          <a:xfrm>
            <a:off x="685800" y="1447800"/>
            <a:ext cx="10820400" cy="990600"/>
          </a:xfrm>
          <a:prstGeom prst="roundRect">
            <a:avLst>
              <a:gd name="adj" fmla="val 17308"/>
            </a:avLst>
          </a:prstGeom>
          <a:solidFill>
            <a:schemeClr val="bg1"/>
          </a:solidFill>
          <a:ln w="14288">
            <a:solidFill>
              <a:schemeClr val="accent6"/>
            </a:solidFill>
            <a:prstDash val="solid"/>
          </a:ln>
        </p:spPr>
      </p:sp>
      <p:sp>
        <p:nvSpPr>
          <p:cNvPr id="6" name="Shape 3"/>
          <p:cNvSpPr/>
          <p:nvPr/>
        </p:nvSpPr>
        <p:spPr>
          <a:xfrm>
            <a:off x="914400" y="1676400"/>
            <a:ext cx="533400" cy="533400"/>
          </a:xfrm>
          <a:prstGeom prst="ellipse">
            <a:avLst/>
          </a:prstGeom>
          <a:solidFill>
            <a:schemeClr val="accent2"/>
          </a:solidFill>
          <a:ln/>
        </p:spPr>
      </p:sp>
      <p:pic>
        <p:nvPicPr>
          <p:cNvPr id="7" name="Image 1" descr="">    </p:cNvPr>
          <p:cNvPicPr>
            <a:picLocks noChangeAspect="1"/>
          </p:cNvPicPr>
          <p:nvPr/>
        </p:nvPicPr>
        <p:blipFill>
          <a:blip r:embed="rId2"/>
          <a:stretch>
            <a:fillRect/>
          </a:stretch>
        </p:blipFill>
        <p:spPr>
          <a:xfrm>
            <a:off x="1047750" y="1809750"/>
            <a:ext cx="266700" cy="266700"/>
          </a:xfrm>
          <a:prstGeom prst="rect">
            <a:avLst/>
          </a:prstGeom>
        </p:spPr>
      </p:pic>
      <p:sp>
        <p:nvSpPr>
          <p:cNvPr id="8" name="Text 4"/>
          <p:cNvSpPr txBox="1"/>
          <p:nvPr/>
        </p:nvSpPr>
        <p:spPr>
          <a:xfrm>
            <a:off x="1600200" y="1447800"/>
            <a:ext cx="571500" cy="990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8 ExtraBold" pitchFamily="34" charset="0"/>
                <a:ea typeface="Paperlogy 8 ExtraBold" pitchFamily="34" charset="-127"/>
                <a:cs typeface="Paperlogy 8 ExtraBold" pitchFamily="34" charset="-120"/>
              </a:rPr>
              <a:t>01</a:t>
            </a:r>
            <a:endParaRPr lang="ko-KR" sz="1500" dirty="0"/>
          </a:p>
        </p:txBody>
      </p:sp>
      <p:sp>
        <p:nvSpPr>
          <p:cNvPr id="9" name="Text 5"/>
          <p:cNvSpPr txBox="1"/>
          <p:nvPr/>
        </p:nvSpPr>
        <p:spPr>
          <a:xfrm>
            <a:off x="1962150" y="1447800"/>
            <a:ext cx="1619250" cy="9906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차단 지점</a:t>
            </a:r>
            <a:endParaRPr lang="ko-KR" sz="2000" dirty="0"/>
          </a:p>
        </p:txBody>
      </p:sp>
      <p:sp>
        <p:nvSpPr>
          <p:cNvPr id="10" name="Shape 6"/>
          <p:cNvSpPr/>
          <p:nvPr/>
        </p:nvSpPr>
        <p:spPr>
          <a:xfrm>
            <a:off x="3657600" y="1657350"/>
            <a:ext cx="0" cy="571500"/>
          </a:xfrm>
          <a:prstGeom prst="line">
            <a:avLst/>
          </a:prstGeom>
          <a:noFill/>
          <a:ln w="14288">
            <a:solidFill>
              <a:schemeClr val="accent6"/>
            </a:solidFill>
            <a:prstDash val="solid"/>
          </a:ln>
        </p:spPr>
      </p:sp>
      <p:sp>
        <p:nvSpPr>
          <p:cNvPr id="11" name="Text 7"/>
          <p:cNvSpPr txBox="1"/>
          <p:nvPr/>
        </p:nvSpPr>
        <p:spPr>
          <a:xfrm>
            <a:off x="3924300" y="1447800"/>
            <a:ext cx="5334000" cy="9906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온석교차로 진입램프 </a:t>
            </a:r>
            <a:pPr algn="l" indent="0" marL="0">
              <a:lnSpc>
                <a:spcPct val="101900"/>
              </a:lnSpc>
              <a:buNone/>
            </a:pPr>
            <a:r>
              <a:rPr lang="ko-KR" altLang="en-US" sz="2200" dirty="0">
                <a:solidFill>
                  <a:schemeClr val="accent2"/>
                </a:solidFill>
                <a:latin typeface="Paperlogy 7 Bold" pitchFamily="34" charset="0"/>
                <a:ea typeface="Paperlogy 7 Bold" pitchFamily="34" charset="-127"/>
                <a:cs typeface="Paperlogy 7 Bold" pitchFamily="34" charset="-120"/>
              </a:rPr>
              <a:t>차단</a:t>
            </a:r>
            <a:endParaRPr lang="ko-KR" sz="2200" dirty="0"/>
          </a:p>
        </p:txBody>
      </p:sp>
      <p:sp>
        <p:nvSpPr>
          <p:cNvPr id="12" name="Shape 8"/>
          <p:cNvSpPr/>
          <p:nvPr/>
        </p:nvSpPr>
        <p:spPr>
          <a:xfrm>
            <a:off x="685800" y="2590800"/>
            <a:ext cx="10820400" cy="1219200"/>
          </a:xfrm>
          <a:prstGeom prst="roundRect">
            <a:avLst>
              <a:gd name="adj" fmla="val 14063"/>
            </a:avLst>
          </a:prstGeom>
          <a:solidFill>
            <a:schemeClr val="bg1"/>
          </a:solidFill>
          <a:ln w="14288">
            <a:solidFill>
              <a:schemeClr val="accent6"/>
            </a:solidFill>
            <a:prstDash val="solid"/>
          </a:ln>
        </p:spPr>
      </p:sp>
      <p:sp>
        <p:nvSpPr>
          <p:cNvPr id="13" name="Shape 9"/>
          <p:cNvSpPr/>
          <p:nvPr/>
        </p:nvSpPr>
        <p:spPr>
          <a:xfrm>
            <a:off x="914400" y="2933700"/>
            <a:ext cx="533400" cy="533400"/>
          </a:xfrm>
          <a:prstGeom prst="ellipse">
            <a:avLst/>
          </a:prstGeom>
          <a:solidFill>
            <a:schemeClr val="accent1"/>
          </a:solidFill>
          <a:ln/>
        </p:spPr>
      </p:sp>
      <p:pic>
        <p:nvPicPr>
          <p:cNvPr id="14" name="Image 2" descr="">    </p:cNvPr>
          <p:cNvPicPr>
            <a:picLocks noChangeAspect="1"/>
          </p:cNvPicPr>
          <p:nvPr/>
        </p:nvPicPr>
        <p:blipFill>
          <a:blip r:embed="rId3"/>
          <a:stretch>
            <a:fillRect/>
          </a:stretch>
        </p:blipFill>
        <p:spPr>
          <a:xfrm>
            <a:off x="1047750" y="3067050"/>
            <a:ext cx="266700" cy="266700"/>
          </a:xfrm>
          <a:prstGeom prst="rect">
            <a:avLst/>
          </a:prstGeom>
        </p:spPr>
      </p:pic>
      <p:sp>
        <p:nvSpPr>
          <p:cNvPr id="15" name="Text 10"/>
          <p:cNvSpPr txBox="1"/>
          <p:nvPr/>
        </p:nvSpPr>
        <p:spPr>
          <a:xfrm>
            <a:off x="1600200" y="2590800"/>
            <a:ext cx="571500" cy="1219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8 ExtraBold" pitchFamily="34" charset="0"/>
                <a:ea typeface="Paperlogy 8 ExtraBold" pitchFamily="34" charset="-127"/>
                <a:cs typeface="Paperlogy 8 ExtraBold" pitchFamily="34" charset="-120"/>
              </a:rPr>
              <a:t>02</a:t>
            </a:r>
            <a:endParaRPr lang="ko-KR" sz="1500" dirty="0"/>
          </a:p>
        </p:txBody>
      </p:sp>
      <p:sp>
        <p:nvSpPr>
          <p:cNvPr id="16" name="Text 11"/>
          <p:cNvSpPr txBox="1"/>
          <p:nvPr/>
        </p:nvSpPr>
        <p:spPr>
          <a:xfrm>
            <a:off x="1962150" y="2590800"/>
            <a:ext cx="1619250" cy="12192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우회 노선</a:t>
            </a:r>
            <a:endParaRPr lang="ko-KR" sz="2000" dirty="0"/>
          </a:p>
        </p:txBody>
      </p:sp>
      <p:sp>
        <p:nvSpPr>
          <p:cNvPr id="17" name="Shape 12"/>
          <p:cNvSpPr/>
          <p:nvPr/>
        </p:nvSpPr>
        <p:spPr>
          <a:xfrm>
            <a:off x="3657600" y="2800350"/>
            <a:ext cx="0" cy="800100"/>
          </a:xfrm>
          <a:prstGeom prst="line">
            <a:avLst/>
          </a:prstGeom>
          <a:noFill/>
          <a:ln w="14288">
            <a:solidFill>
              <a:schemeClr val="accent6"/>
            </a:solidFill>
            <a:prstDash val="solid"/>
          </a:ln>
        </p:spPr>
      </p:sp>
      <p:sp>
        <p:nvSpPr>
          <p:cNvPr id="18" name="Shape 13"/>
          <p:cNvSpPr/>
          <p:nvPr/>
        </p:nvSpPr>
        <p:spPr>
          <a:xfrm>
            <a:off x="3924300" y="2971800"/>
            <a:ext cx="1619250" cy="457200"/>
          </a:xfrm>
          <a:prstGeom prst="roundRect">
            <a:avLst>
              <a:gd name="adj" fmla="val 50000"/>
            </a:avLst>
          </a:prstGeom>
          <a:solidFill>
            <a:schemeClr val="bg2"/>
          </a:solidFill>
          <a:ln/>
        </p:spPr>
      </p:sp>
      <p:sp>
        <p:nvSpPr>
          <p:cNvPr id="19" name="Text 14"/>
          <p:cNvSpPr txBox="1"/>
          <p:nvPr/>
        </p:nvSpPr>
        <p:spPr>
          <a:xfrm>
            <a:off x="3924300" y="2971800"/>
            <a:ext cx="1619250" cy="4572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tx1"/>
                </a:solidFill>
                <a:latin typeface="Paperlogy 7 Bold" pitchFamily="34" charset="0"/>
                <a:ea typeface="Paperlogy 7 Bold" pitchFamily="34" charset="-127"/>
                <a:cs typeface="Paperlogy 7 Bold" pitchFamily="34" charset="-120"/>
              </a:rPr>
              <a:t>온석교차로</a:t>
            </a:r>
            <a:endParaRPr lang="ko-KR" sz="1700" dirty="0"/>
          </a:p>
        </p:txBody>
      </p:sp>
      <p:sp>
        <p:nvSpPr>
          <p:cNvPr id="20" name="Shape 15"/>
          <p:cNvSpPr/>
          <p:nvPr/>
        </p:nvSpPr>
        <p:spPr>
          <a:xfrm>
            <a:off x="5638800" y="3200400"/>
            <a:ext cx="361950" cy="0"/>
          </a:xfrm>
          <a:prstGeom prst="line">
            <a:avLst/>
          </a:prstGeom>
          <a:noFill/>
          <a:ln w="23813">
            <a:solidFill>
              <a:schemeClr val="accent1"/>
            </a:solidFill>
            <a:prstDash val="solid"/>
            <a:tailEnd type="triangle"/>
          </a:ln>
        </p:spPr>
      </p:sp>
      <p:sp>
        <p:nvSpPr>
          <p:cNvPr id="21" name="Shape 16"/>
          <p:cNvSpPr/>
          <p:nvPr/>
        </p:nvSpPr>
        <p:spPr>
          <a:xfrm>
            <a:off x="6096000" y="2971800"/>
            <a:ext cx="2286000" cy="457200"/>
          </a:xfrm>
          <a:prstGeom prst="roundRect">
            <a:avLst>
              <a:gd name="adj" fmla="val 50000"/>
            </a:avLst>
          </a:prstGeom>
          <a:solidFill>
            <a:schemeClr val="bg2"/>
          </a:solidFill>
          <a:ln/>
        </p:spPr>
      </p:sp>
      <p:sp>
        <p:nvSpPr>
          <p:cNvPr id="22" name="Text 17"/>
          <p:cNvSpPr txBox="1"/>
          <p:nvPr/>
        </p:nvSpPr>
        <p:spPr>
          <a:xfrm>
            <a:off x="6096000" y="2971800"/>
            <a:ext cx="2286000" cy="4572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tx1"/>
                </a:solidFill>
                <a:latin typeface="Paperlogy 7 Bold" pitchFamily="34" charset="0"/>
                <a:ea typeface="Paperlogy 7 Bold" pitchFamily="34" charset="-127"/>
                <a:cs typeface="Paperlogy 7 Bold" pitchFamily="34" charset="-120"/>
              </a:rPr>
              <a:t>회전교차로 (서령로)</a:t>
            </a:r>
            <a:endParaRPr lang="ko-KR" sz="1700" dirty="0"/>
          </a:p>
        </p:txBody>
      </p:sp>
      <p:sp>
        <p:nvSpPr>
          <p:cNvPr id="23" name="Shape 18"/>
          <p:cNvSpPr/>
          <p:nvPr/>
        </p:nvSpPr>
        <p:spPr>
          <a:xfrm>
            <a:off x="8477250" y="3200400"/>
            <a:ext cx="361950" cy="0"/>
          </a:xfrm>
          <a:prstGeom prst="line">
            <a:avLst/>
          </a:prstGeom>
          <a:noFill/>
          <a:ln w="23813">
            <a:solidFill>
              <a:schemeClr val="accent1"/>
            </a:solidFill>
            <a:prstDash val="solid"/>
            <a:tailEnd type="triangle"/>
          </a:ln>
        </p:spPr>
      </p:sp>
      <p:sp>
        <p:nvSpPr>
          <p:cNvPr id="24" name="Shape 19"/>
          <p:cNvSpPr/>
          <p:nvPr/>
        </p:nvSpPr>
        <p:spPr>
          <a:xfrm>
            <a:off x="8934450" y="2971800"/>
            <a:ext cx="1619250" cy="457200"/>
          </a:xfrm>
          <a:prstGeom prst="roundRect">
            <a:avLst>
              <a:gd name="adj" fmla="val 50000"/>
            </a:avLst>
          </a:prstGeom>
          <a:solidFill>
            <a:schemeClr val="bg2"/>
          </a:solidFill>
          <a:ln/>
        </p:spPr>
      </p:sp>
      <p:sp>
        <p:nvSpPr>
          <p:cNvPr id="25" name="Text 20"/>
          <p:cNvSpPr txBox="1"/>
          <p:nvPr/>
        </p:nvSpPr>
        <p:spPr>
          <a:xfrm>
            <a:off x="8934450" y="2971800"/>
            <a:ext cx="1619250" cy="4572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tx1"/>
                </a:solidFill>
                <a:latin typeface="Paperlogy 7 Bold" pitchFamily="34" charset="0"/>
                <a:ea typeface="Paperlogy 7 Bold" pitchFamily="34" charset="-127"/>
                <a:cs typeface="Paperlogy 7 Bold" pitchFamily="34" charset="-120"/>
              </a:rPr>
              <a:t>일람교차로</a:t>
            </a:r>
            <a:endParaRPr lang="ko-KR" sz="1700" dirty="0"/>
          </a:p>
        </p:txBody>
      </p:sp>
      <p:sp>
        <p:nvSpPr>
          <p:cNvPr id="26" name="Shape 21"/>
          <p:cNvSpPr/>
          <p:nvPr/>
        </p:nvSpPr>
        <p:spPr>
          <a:xfrm>
            <a:off x="685800" y="3962400"/>
            <a:ext cx="10820400" cy="990600"/>
          </a:xfrm>
          <a:prstGeom prst="roundRect">
            <a:avLst>
              <a:gd name="adj" fmla="val 17308"/>
            </a:avLst>
          </a:prstGeom>
          <a:solidFill>
            <a:schemeClr val="bg1"/>
          </a:solidFill>
          <a:ln w="14288">
            <a:solidFill>
              <a:schemeClr val="accent6"/>
            </a:solidFill>
            <a:prstDash val="solid"/>
          </a:ln>
        </p:spPr>
      </p:sp>
      <p:sp>
        <p:nvSpPr>
          <p:cNvPr id="27" name="Shape 22"/>
          <p:cNvSpPr/>
          <p:nvPr/>
        </p:nvSpPr>
        <p:spPr>
          <a:xfrm>
            <a:off x="914400" y="4191000"/>
            <a:ext cx="533400" cy="533400"/>
          </a:xfrm>
          <a:prstGeom prst="ellipse">
            <a:avLst/>
          </a:prstGeom>
          <a:solidFill>
            <a:schemeClr val="tx2"/>
          </a:solidFill>
          <a:ln/>
        </p:spPr>
      </p:sp>
      <p:pic>
        <p:nvPicPr>
          <p:cNvPr id="28" name="Image 3" descr="">    </p:cNvPr>
          <p:cNvPicPr>
            <a:picLocks noChangeAspect="1"/>
          </p:cNvPicPr>
          <p:nvPr/>
        </p:nvPicPr>
        <p:blipFill>
          <a:blip r:embed="rId4"/>
          <a:stretch>
            <a:fillRect/>
          </a:stretch>
        </p:blipFill>
        <p:spPr>
          <a:xfrm>
            <a:off x="1047750" y="4324350"/>
            <a:ext cx="266700" cy="266700"/>
          </a:xfrm>
          <a:prstGeom prst="rect">
            <a:avLst/>
          </a:prstGeom>
        </p:spPr>
      </p:pic>
      <p:sp>
        <p:nvSpPr>
          <p:cNvPr id="29" name="Text 23"/>
          <p:cNvSpPr txBox="1"/>
          <p:nvPr/>
        </p:nvSpPr>
        <p:spPr>
          <a:xfrm>
            <a:off x="1600200" y="3962400"/>
            <a:ext cx="571500" cy="990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8 ExtraBold" pitchFamily="34" charset="0"/>
                <a:ea typeface="Paperlogy 8 ExtraBold" pitchFamily="34" charset="-127"/>
                <a:cs typeface="Paperlogy 8 ExtraBold" pitchFamily="34" charset="-120"/>
              </a:rPr>
              <a:t>03</a:t>
            </a:r>
            <a:endParaRPr lang="ko-KR" sz="1500" dirty="0"/>
          </a:p>
        </p:txBody>
      </p:sp>
      <p:sp>
        <p:nvSpPr>
          <p:cNvPr id="30" name="Text 24"/>
          <p:cNvSpPr txBox="1"/>
          <p:nvPr/>
        </p:nvSpPr>
        <p:spPr>
          <a:xfrm>
            <a:off x="1962150" y="3962400"/>
            <a:ext cx="1619250" cy="9906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교차 통행</a:t>
            </a:r>
            <a:endParaRPr lang="ko-KR" sz="2000" dirty="0"/>
          </a:p>
        </p:txBody>
      </p:sp>
      <p:sp>
        <p:nvSpPr>
          <p:cNvPr id="31" name="Shape 25"/>
          <p:cNvSpPr/>
          <p:nvPr/>
        </p:nvSpPr>
        <p:spPr>
          <a:xfrm>
            <a:off x="3657600" y="4171950"/>
            <a:ext cx="0" cy="571500"/>
          </a:xfrm>
          <a:prstGeom prst="line">
            <a:avLst/>
          </a:prstGeom>
          <a:noFill/>
          <a:ln w="14288">
            <a:solidFill>
              <a:schemeClr val="accent6"/>
            </a:solidFill>
            <a:prstDash val="solid"/>
          </a:ln>
        </p:spPr>
      </p:sp>
      <p:sp>
        <p:nvSpPr>
          <p:cNvPr id="32" name="Text 26"/>
          <p:cNvSpPr txBox="1"/>
          <p:nvPr/>
        </p:nvSpPr>
        <p:spPr>
          <a:xfrm>
            <a:off x="3924300" y="3962400"/>
            <a:ext cx="3238500" cy="9906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부산교차로 진입 본선차량</a:t>
            </a:r>
            <a:endParaRPr lang="ko-KR" sz="2200" dirty="0"/>
          </a:p>
        </p:txBody>
      </p:sp>
      <p:sp>
        <p:nvSpPr>
          <p:cNvPr id="33" name="Shape 27"/>
          <p:cNvSpPr/>
          <p:nvPr/>
        </p:nvSpPr>
        <p:spPr>
          <a:xfrm>
            <a:off x="7124700" y="4457700"/>
            <a:ext cx="419100" cy="0"/>
          </a:xfrm>
          <a:prstGeom prst="line">
            <a:avLst/>
          </a:prstGeom>
          <a:noFill/>
          <a:ln w="23813">
            <a:solidFill>
              <a:schemeClr val="accent1"/>
            </a:solidFill>
            <a:prstDash val="solid"/>
            <a:tailEnd type="triangle"/>
          </a:ln>
        </p:spPr>
      </p:sp>
      <p:sp>
        <p:nvSpPr>
          <p:cNvPr id="34" name="Shape 28"/>
          <p:cNvSpPr/>
          <p:nvPr/>
        </p:nvSpPr>
        <p:spPr>
          <a:xfrm>
            <a:off x="7658100" y="4248150"/>
            <a:ext cx="1714500" cy="419100"/>
          </a:xfrm>
          <a:prstGeom prst="roundRect">
            <a:avLst>
              <a:gd name="adj" fmla="val 50000"/>
            </a:avLst>
          </a:prstGeom>
          <a:solidFill>
            <a:schemeClr val="accent1">
              <a:alpha val="10000"/>
            </a:schemeClr>
          </a:solidFill>
          <a:ln/>
        </p:spPr>
      </p:sp>
      <p:sp>
        <p:nvSpPr>
          <p:cNvPr id="35" name="Text 29"/>
          <p:cNvSpPr txBox="1"/>
          <p:nvPr/>
        </p:nvSpPr>
        <p:spPr>
          <a:xfrm>
            <a:off x="7658100" y="4248150"/>
            <a:ext cx="1714500" cy="4191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accent1"/>
                </a:solidFill>
                <a:latin typeface="Paperlogy 7 Bold" pitchFamily="34" charset="0"/>
                <a:ea typeface="Paperlogy 7 Bold" pitchFamily="34" charset="-127"/>
                <a:cs typeface="Paperlogy 7 Bold" pitchFamily="34" charset="-120"/>
              </a:rPr>
              <a:t>비상회차로 활용</a:t>
            </a:r>
            <a:endParaRPr lang="ko-KR" sz="1600" dirty="0"/>
          </a:p>
        </p:txBody>
      </p:sp>
      <p:sp>
        <p:nvSpPr>
          <p:cNvPr id="36" name="Key message strip"/>
          <p:cNvSpPr/>
          <p:nvPr/>
        </p:nvSpPr>
        <p:spPr>
          <a:xfrm>
            <a:off x="685800" y="5181600"/>
            <a:ext cx="10820400" cy="914400"/>
          </a:xfrm>
          <a:prstGeom prst="roundRect">
            <a:avLst>
              <a:gd name="adj" fmla="val 18750"/>
            </a:avLst>
          </a:prstGeom>
          <a:solidFill>
            <a:schemeClr val="tx2"/>
          </a:solidFill>
          <a:ln/>
        </p:spPr>
      </p:sp>
      <p:sp>
        <p:nvSpPr>
          <p:cNvPr id="37" name="Text 31"/>
          <p:cNvSpPr txBox="1"/>
          <p:nvPr/>
        </p:nvSpPr>
        <p:spPr>
          <a:xfrm>
            <a:off x="990600" y="5295900"/>
            <a:ext cx="5715000" cy="3429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bg1"/>
                </a:solidFill>
                <a:latin typeface="Paperlogy 8 ExtraBold" pitchFamily="34" charset="0"/>
                <a:ea typeface="Paperlogy 8 ExtraBold" pitchFamily="34" charset="-127"/>
                <a:cs typeface="Paperlogy 8 ExtraBold" pitchFamily="34" charset="-120"/>
              </a:rPr>
              <a:t>우회와 교차통행 병행</a:t>
            </a:r>
            <a:endParaRPr lang="ko-KR" sz="2200" dirty="0"/>
          </a:p>
        </p:txBody>
      </p:sp>
      <p:sp>
        <p:nvSpPr>
          <p:cNvPr id="38" name="Text 32"/>
          <p:cNvSpPr txBox="1"/>
          <p:nvPr/>
        </p:nvSpPr>
        <p:spPr>
          <a:xfrm>
            <a:off x="990600" y="5657850"/>
            <a:ext cx="7239000" cy="2667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4"/>
                </a:solidFill>
                <a:latin typeface="Paperlogy 4 Regular" pitchFamily="34" charset="0"/>
                <a:ea typeface="Paperlogy 4 Regular" pitchFamily="34" charset="-127"/>
                <a:cs typeface="Paperlogy 4 Regular" pitchFamily="34" charset="-120"/>
              </a:rPr>
              <a:t>VMS 및 내비게이션사를 통한 실시간 정보 제공으로 시민 불편 최소화</a:t>
            </a:r>
            <a:endParaRPr lang="ko-KR" sz="1500" dirty="0"/>
          </a:p>
        </p:txBody>
      </p:sp>
      <p:sp>
        <p:nvSpPr>
          <p:cNvPr id="39" name="Shape 33"/>
          <p:cNvSpPr/>
          <p:nvPr/>
        </p:nvSpPr>
        <p:spPr>
          <a:xfrm>
            <a:off x="8458200" y="5410200"/>
            <a:ext cx="1333500" cy="457200"/>
          </a:xfrm>
          <a:prstGeom prst="roundRect">
            <a:avLst>
              <a:gd name="adj" fmla="val 25000"/>
            </a:avLst>
          </a:prstGeom>
          <a:solidFill>
            <a:schemeClr val="bg1">
              <a:alpha val="8000"/>
            </a:schemeClr>
          </a:solidFill>
          <a:ln/>
        </p:spPr>
      </p:sp>
      <p:pic>
        <p:nvPicPr>
          <p:cNvPr id="40" name="Image 4" descr="">    </p:cNvPr>
          <p:cNvPicPr>
            <a:picLocks noChangeAspect="1"/>
          </p:cNvPicPr>
          <p:nvPr/>
        </p:nvPicPr>
        <p:blipFill>
          <a:blip r:embed="rId5"/>
          <a:stretch>
            <a:fillRect/>
          </a:stretch>
        </p:blipFill>
        <p:spPr>
          <a:xfrm>
            <a:off x="8610600" y="5524500"/>
            <a:ext cx="228600" cy="228600"/>
          </a:xfrm>
          <a:prstGeom prst="rect">
            <a:avLst/>
          </a:prstGeom>
        </p:spPr>
      </p:pic>
      <p:sp>
        <p:nvSpPr>
          <p:cNvPr id="41" name="Text 34"/>
          <p:cNvSpPr txBox="1"/>
          <p:nvPr/>
        </p:nvSpPr>
        <p:spPr>
          <a:xfrm>
            <a:off x="8915400" y="5410200"/>
            <a:ext cx="838200" cy="4572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VMS 안내</a:t>
            </a:r>
            <a:endParaRPr lang="ko-KR" sz="1400" dirty="0"/>
          </a:p>
        </p:txBody>
      </p:sp>
      <p:sp>
        <p:nvSpPr>
          <p:cNvPr id="42" name="Shape 35"/>
          <p:cNvSpPr/>
          <p:nvPr/>
        </p:nvSpPr>
        <p:spPr>
          <a:xfrm>
            <a:off x="9906000" y="5410200"/>
            <a:ext cx="1333500" cy="457200"/>
          </a:xfrm>
          <a:prstGeom prst="roundRect">
            <a:avLst>
              <a:gd name="adj" fmla="val 25000"/>
            </a:avLst>
          </a:prstGeom>
          <a:solidFill>
            <a:schemeClr val="bg1">
              <a:alpha val="8000"/>
            </a:schemeClr>
          </a:solidFill>
          <a:ln/>
        </p:spPr>
      </p:sp>
      <p:pic>
        <p:nvPicPr>
          <p:cNvPr id="43" name="Image 5" descr="">    </p:cNvPr>
          <p:cNvPicPr>
            <a:picLocks noChangeAspect="1"/>
          </p:cNvPicPr>
          <p:nvPr/>
        </p:nvPicPr>
        <p:blipFill>
          <a:blip r:embed="rId6"/>
          <a:stretch>
            <a:fillRect/>
          </a:stretch>
        </p:blipFill>
        <p:spPr>
          <a:xfrm>
            <a:off x="10058400" y="5524500"/>
            <a:ext cx="228600" cy="228600"/>
          </a:xfrm>
          <a:prstGeom prst="rect">
            <a:avLst/>
          </a:prstGeom>
        </p:spPr>
      </p:pic>
      <p:sp>
        <p:nvSpPr>
          <p:cNvPr id="44" name="Text 36"/>
          <p:cNvSpPr txBox="1"/>
          <p:nvPr/>
        </p:nvSpPr>
        <p:spPr>
          <a:xfrm>
            <a:off x="10363200" y="5410200"/>
            <a:ext cx="838200" cy="4572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내비게이션</a:t>
            </a:r>
            <a:endParaRPr lang="ko-KR" sz="1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상황전파 체계</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04</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대응 및 복구</a:t>
            </a:r>
            <a:endParaRPr lang="ko-KR" sz="1200" dirty="0"/>
          </a:p>
        </p:txBody>
      </p:sp>
      <p:sp>
        <p:nvSpPr>
          <p:cNvPr id="5" name="Text 2"/>
          <p:cNvSpPr txBox="1"/>
          <p:nvPr/>
        </p:nvSpPr>
        <p:spPr>
          <a:xfrm>
            <a:off x="3733800" y="1695450"/>
            <a:ext cx="2857500" cy="2095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1"/>
                </a:solidFill>
                <a:latin typeface="Paperlogy 6 SemiBold" pitchFamily="34" charset="0"/>
                <a:ea typeface="Paperlogy 6 SemiBold" pitchFamily="34" charset="-127"/>
                <a:cs typeface="Paperlogy 6 SemiBold" pitchFamily="34" charset="-120"/>
              </a:rPr>
              <a:t>보고 · 협조 요청</a:t>
            </a:r>
            <a:endParaRPr lang="ko-KR" sz="1400" dirty="0"/>
          </a:p>
        </p:txBody>
      </p:sp>
      <p:sp>
        <p:nvSpPr>
          <p:cNvPr id="6" name="Shape 3"/>
          <p:cNvSpPr/>
          <p:nvPr/>
        </p:nvSpPr>
        <p:spPr>
          <a:xfrm>
            <a:off x="3733800" y="1981200"/>
            <a:ext cx="1905000" cy="1028700"/>
          </a:xfrm>
          <a:prstGeom prst="roundRect">
            <a:avLst>
              <a:gd name="adj" fmla="val 14815"/>
            </a:avLst>
          </a:prstGeom>
          <a:solidFill>
            <a:schemeClr val="bg1"/>
          </a:solidFill>
          <a:ln w="19050">
            <a:solidFill>
              <a:schemeClr val="accent1"/>
            </a:solidFill>
            <a:prstDash val="solid"/>
          </a:ln>
        </p:spPr>
      </p:sp>
      <p:sp>
        <p:nvSpPr>
          <p:cNvPr id="7" name="Text 4"/>
          <p:cNvSpPr txBox="1"/>
          <p:nvPr/>
        </p:nvSpPr>
        <p:spPr>
          <a:xfrm>
            <a:off x="3733800" y="2133600"/>
            <a:ext cx="1905000" cy="30480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예산국토</a:t>
            </a:r>
            <a:endParaRPr lang="ko-KR" sz="2000" dirty="0"/>
          </a:p>
        </p:txBody>
      </p:sp>
      <p:sp>
        <p:nvSpPr>
          <p:cNvPr id="8" name="Text 5"/>
          <p:cNvSpPr txBox="1"/>
          <p:nvPr/>
        </p:nvSpPr>
        <p:spPr>
          <a:xfrm>
            <a:off x="3733800" y="2495550"/>
            <a:ext cx="1905000" cy="266700"/>
          </a:xfrm>
          <a:prstGeom prst="rect">
            <a:avLst/>
          </a:prstGeom>
          <a:noFill/>
          <a:ln/>
        </p:spPr>
        <p:txBody>
          <a:bodyPr wrap="square" lIns="0" tIns="0" rIns="0" bIns="0" rtlCol="0" anchor="ctr"/>
          <a:lstStyle/>
          <a:p>
            <a:pPr algn="ctr"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관계기관 협조요청</a:t>
            </a:r>
            <a:endParaRPr lang="ko-KR" sz="1400" dirty="0"/>
          </a:p>
        </p:txBody>
      </p:sp>
      <p:sp>
        <p:nvSpPr>
          <p:cNvPr id="9" name="Shape 6"/>
          <p:cNvSpPr/>
          <p:nvPr/>
        </p:nvSpPr>
        <p:spPr>
          <a:xfrm>
            <a:off x="6172200" y="1981200"/>
            <a:ext cx="1905000" cy="1028700"/>
          </a:xfrm>
          <a:prstGeom prst="roundRect">
            <a:avLst>
              <a:gd name="adj" fmla="val 14815"/>
            </a:avLst>
          </a:prstGeom>
          <a:solidFill>
            <a:schemeClr val="tx2"/>
          </a:solidFill>
          <a:ln/>
        </p:spPr>
      </p:sp>
      <p:sp>
        <p:nvSpPr>
          <p:cNvPr id="10" name="Text 7"/>
          <p:cNvSpPr txBox="1"/>
          <p:nvPr/>
        </p:nvSpPr>
        <p:spPr>
          <a:xfrm>
            <a:off x="6172200" y="2095500"/>
            <a:ext cx="1905000" cy="30480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bg1"/>
                </a:solidFill>
                <a:latin typeface="Paperlogy 7 Bold" pitchFamily="34" charset="0"/>
                <a:ea typeface="Paperlogy 7 Bold" pitchFamily="34" charset="-127"/>
                <a:cs typeface="Paperlogy 7 Bold" pitchFamily="34" charset="-120"/>
              </a:rPr>
              <a:t>대전국토청</a:t>
            </a:r>
            <a:endParaRPr lang="ko-KR" sz="2000" dirty="0"/>
          </a:p>
        </p:txBody>
      </p:sp>
      <p:sp>
        <p:nvSpPr>
          <p:cNvPr id="11" name="Text 8"/>
          <p:cNvSpPr txBox="1"/>
          <p:nvPr/>
        </p:nvSpPr>
        <p:spPr>
          <a:xfrm>
            <a:off x="6172200" y="2419350"/>
            <a:ext cx="1905000" cy="476250"/>
          </a:xfrm>
          <a:prstGeom prst="rect">
            <a:avLst/>
          </a:prstGeom>
          <a:noFill/>
          <a:ln/>
        </p:spPr>
        <p:txBody>
          <a:bodyPr wrap="square" lIns="0" tIns="0" rIns="0" bIns="0" rtlCol="0" anchor="ctr"/>
          <a:lstStyle/>
          <a:p>
            <a:pPr algn="ctr" indent="0" marL="0">
              <a:lnSpc>
                <a:spcPct val="114600"/>
              </a:lnSpc>
              <a:buNone/>
            </a:pPr>
            <a:r>
              <a:rPr lang="ko-KR" altLang="en-US" sz="1400" dirty="0">
                <a:solidFill>
                  <a:schemeClr val="accent4"/>
                </a:solidFill>
                <a:latin typeface="Paperlogy 4 Regular" pitchFamily="34" charset="0"/>
                <a:ea typeface="Paperlogy 4 Regular" pitchFamily="34" charset="-127"/>
                <a:cs typeface="Paperlogy 4 Regular" pitchFamily="34" charset="-120"/>
              </a:rPr>
              <a:t>상황판단</a:t>
            </a:r>
            <a:endParaRPr lang="ko-KR" sz="1400" dirty="0"/>
          </a:p>
          <a:p>
            <a:pPr algn="ctr" indent="0" marL="0">
              <a:lnSpc>
                <a:spcPct val="114600"/>
              </a:lnSpc>
              <a:buNone/>
            </a:pPr>
            <a:r>
              <a:rPr lang="ko-KR" altLang="en-US" sz="1400" dirty="0">
                <a:solidFill>
                  <a:schemeClr val="accent4"/>
                </a:solidFill>
                <a:latin typeface="Paperlogy 4 Regular" pitchFamily="34" charset="0"/>
                <a:ea typeface="Paperlogy 4 Regular" pitchFamily="34" charset="-127"/>
                <a:cs typeface="Paperlogy 4 Regular" pitchFamily="34" charset="-120"/>
              </a:rPr>
              <a:t>지역사고수습본부</a:t>
            </a:r>
            <a:endParaRPr lang="ko-KR" sz="1400" dirty="0"/>
          </a:p>
        </p:txBody>
      </p:sp>
      <p:sp>
        <p:nvSpPr>
          <p:cNvPr id="12" name="Shape 9"/>
          <p:cNvSpPr/>
          <p:nvPr/>
        </p:nvSpPr>
        <p:spPr>
          <a:xfrm>
            <a:off x="5676900" y="2495550"/>
            <a:ext cx="457200" cy="0"/>
          </a:xfrm>
          <a:prstGeom prst="line">
            <a:avLst/>
          </a:prstGeom>
          <a:noFill/>
          <a:ln w="23813">
            <a:solidFill>
              <a:schemeClr val="accent1"/>
            </a:solidFill>
            <a:prstDash val="solid"/>
            <a:tailEnd type="triangle"/>
          </a:ln>
        </p:spPr>
      </p:sp>
      <p:sp>
        <p:nvSpPr>
          <p:cNvPr id="13" name="Origin node"/>
          <p:cNvSpPr/>
          <p:nvPr/>
        </p:nvSpPr>
        <p:spPr>
          <a:xfrm>
            <a:off x="685800" y="3238500"/>
            <a:ext cx="2400300" cy="1447800"/>
          </a:xfrm>
          <a:prstGeom prst="roundRect">
            <a:avLst>
              <a:gd name="adj" fmla="val 11842"/>
            </a:avLst>
          </a:prstGeom>
          <a:solidFill>
            <a:schemeClr val="accent2">
              <a:alpha val="7000"/>
            </a:schemeClr>
          </a:solidFill>
          <a:ln w="23813">
            <a:solidFill>
              <a:schemeClr val="accent2"/>
            </a:solidFill>
            <a:prstDash val="solid"/>
          </a:ln>
        </p:spPr>
      </p:sp>
      <p:pic>
        <p:nvPicPr>
          <p:cNvPr id="14" name="Image 1" descr="">    </p:cNvPr>
          <p:cNvPicPr>
            <a:picLocks noChangeAspect="1"/>
          </p:cNvPicPr>
          <p:nvPr/>
        </p:nvPicPr>
        <p:blipFill>
          <a:blip r:embed="rId2"/>
          <a:stretch>
            <a:fillRect/>
          </a:stretch>
        </p:blipFill>
        <p:spPr>
          <a:xfrm>
            <a:off x="914400" y="3429000"/>
            <a:ext cx="285750" cy="285750"/>
          </a:xfrm>
          <a:prstGeom prst="rect">
            <a:avLst/>
          </a:prstGeom>
        </p:spPr>
      </p:pic>
      <p:sp>
        <p:nvSpPr>
          <p:cNvPr id="15" name="Text 11"/>
          <p:cNvSpPr txBox="1"/>
          <p:nvPr/>
        </p:nvSpPr>
        <p:spPr>
          <a:xfrm>
            <a:off x="914400" y="3810000"/>
            <a:ext cx="2095500" cy="3048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터널통합관리센터</a:t>
            </a:r>
            <a:endParaRPr lang="ko-KR" sz="2000" dirty="0"/>
          </a:p>
        </p:txBody>
      </p:sp>
      <p:sp>
        <p:nvSpPr>
          <p:cNvPr id="16" name="Text 12"/>
          <p:cNvSpPr txBox="1"/>
          <p:nvPr/>
        </p:nvSpPr>
        <p:spPr>
          <a:xfrm>
            <a:off x="914400" y="4152900"/>
            <a:ext cx="2095500" cy="3048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사고인지 · 방재가동 · 출동</a:t>
            </a:r>
            <a:endParaRPr lang="ko-KR" sz="1400" dirty="0"/>
          </a:p>
        </p:txBody>
      </p:sp>
      <p:sp>
        <p:nvSpPr>
          <p:cNvPr id="17" name="Shape 13"/>
          <p:cNvSpPr/>
          <p:nvPr/>
        </p:nvSpPr>
        <p:spPr>
          <a:xfrm>
            <a:off x="3105150" y="3657600"/>
            <a:ext cx="304800" cy="0"/>
          </a:xfrm>
          <a:prstGeom prst="line">
            <a:avLst/>
          </a:prstGeom>
          <a:noFill/>
          <a:ln w="23813">
            <a:solidFill>
              <a:schemeClr val="accent1"/>
            </a:solidFill>
            <a:prstDash val="solid"/>
          </a:ln>
        </p:spPr>
      </p:sp>
      <p:sp>
        <p:nvSpPr>
          <p:cNvPr id="18" name="Shape 14"/>
          <p:cNvSpPr/>
          <p:nvPr/>
        </p:nvSpPr>
        <p:spPr>
          <a:xfrm flipV="1">
            <a:off x="3409950" y="2495550"/>
            <a:ext cx="0" cy="1162050"/>
          </a:xfrm>
          <a:prstGeom prst="line">
            <a:avLst/>
          </a:prstGeom>
          <a:noFill/>
          <a:ln w="23813">
            <a:solidFill>
              <a:schemeClr val="accent1"/>
            </a:solidFill>
            <a:prstDash val="solid"/>
          </a:ln>
        </p:spPr>
      </p:sp>
      <p:sp>
        <p:nvSpPr>
          <p:cNvPr id="19" name="Shape 15"/>
          <p:cNvSpPr/>
          <p:nvPr/>
        </p:nvSpPr>
        <p:spPr>
          <a:xfrm>
            <a:off x="3409950" y="2495550"/>
            <a:ext cx="285750" cy="0"/>
          </a:xfrm>
          <a:prstGeom prst="line">
            <a:avLst/>
          </a:prstGeom>
          <a:noFill/>
          <a:ln w="23813">
            <a:solidFill>
              <a:schemeClr val="accent1"/>
            </a:solidFill>
            <a:prstDash val="solid"/>
            <a:tailEnd type="triangle"/>
          </a:ln>
        </p:spPr>
      </p:sp>
      <p:sp>
        <p:nvSpPr>
          <p:cNvPr id="20" name="Shape 16"/>
          <p:cNvSpPr/>
          <p:nvPr/>
        </p:nvSpPr>
        <p:spPr>
          <a:xfrm>
            <a:off x="3105150" y="4267200"/>
            <a:ext cx="304800" cy="0"/>
          </a:xfrm>
          <a:prstGeom prst="line">
            <a:avLst/>
          </a:prstGeom>
          <a:noFill/>
          <a:ln w="23813">
            <a:solidFill>
              <a:schemeClr val="accent2"/>
            </a:solidFill>
            <a:prstDash val="solid"/>
          </a:ln>
        </p:spPr>
      </p:sp>
      <p:sp>
        <p:nvSpPr>
          <p:cNvPr id="21" name="Shape 17"/>
          <p:cNvSpPr/>
          <p:nvPr/>
        </p:nvSpPr>
        <p:spPr>
          <a:xfrm>
            <a:off x="3409950" y="4267200"/>
            <a:ext cx="0" cy="304800"/>
          </a:xfrm>
          <a:prstGeom prst="line">
            <a:avLst/>
          </a:prstGeom>
          <a:noFill/>
          <a:ln w="23813">
            <a:solidFill>
              <a:schemeClr val="accent2"/>
            </a:solidFill>
            <a:prstDash val="solid"/>
          </a:ln>
        </p:spPr>
      </p:sp>
      <p:sp>
        <p:nvSpPr>
          <p:cNvPr id="22" name="Shape 18"/>
          <p:cNvSpPr/>
          <p:nvPr/>
        </p:nvSpPr>
        <p:spPr>
          <a:xfrm>
            <a:off x="3409950" y="4572000"/>
            <a:ext cx="3924300" cy="0"/>
          </a:xfrm>
          <a:prstGeom prst="line">
            <a:avLst/>
          </a:prstGeom>
          <a:noFill/>
          <a:ln w="23813">
            <a:solidFill>
              <a:schemeClr val="accent2"/>
            </a:solidFill>
            <a:prstDash val="solid"/>
          </a:ln>
        </p:spPr>
      </p:sp>
      <p:sp>
        <p:nvSpPr>
          <p:cNvPr id="23" name="Text 19"/>
          <p:cNvSpPr txBox="1"/>
          <p:nvPr/>
        </p:nvSpPr>
        <p:spPr>
          <a:xfrm>
            <a:off x="3733800" y="4248150"/>
            <a:ext cx="19050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동시 전파</a:t>
            </a:r>
            <a:endParaRPr lang="ko-KR" sz="1400" dirty="0"/>
          </a:p>
        </p:txBody>
      </p:sp>
      <p:sp>
        <p:nvSpPr>
          <p:cNvPr id="24" name="Shape 20"/>
          <p:cNvSpPr/>
          <p:nvPr/>
        </p:nvSpPr>
        <p:spPr>
          <a:xfrm>
            <a:off x="4400550" y="4572000"/>
            <a:ext cx="0" cy="285750"/>
          </a:xfrm>
          <a:prstGeom prst="line">
            <a:avLst/>
          </a:prstGeom>
          <a:noFill/>
          <a:ln w="23813">
            <a:solidFill>
              <a:schemeClr val="accent2"/>
            </a:solidFill>
            <a:prstDash val="solid"/>
            <a:tailEnd type="triangle"/>
          </a:ln>
        </p:spPr>
      </p:sp>
      <p:sp>
        <p:nvSpPr>
          <p:cNvPr id="25" name="Shape 21"/>
          <p:cNvSpPr/>
          <p:nvPr/>
        </p:nvSpPr>
        <p:spPr>
          <a:xfrm>
            <a:off x="3733800" y="4895850"/>
            <a:ext cx="1333500" cy="876300"/>
          </a:xfrm>
          <a:prstGeom prst="roundRect">
            <a:avLst>
              <a:gd name="adj" fmla="val 17391"/>
            </a:avLst>
          </a:prstGeom>
          <a:solidFill>
            <a:schemeClr val="bg1"/>
          </a:solidFill>
          <a:ln w="19050">
            <a:solidFill>
              <a:schemeClr val="accent2"/>
            </a:solidFill>
            <a:prstDash val="solid"/>
          </a:ln>
        </p:spPr>
      </p:sp>
      <p:pic>
        <p:nvPicPr>
          <p:cNvPr id="26" name="Image 2" descr="">    </p:cNvPr>
          <p:cNvPicPr>
            <a:picLocks noChangeAspect="1"/>
          </p:cNvPicPr>
          <p:nvPr/>
        </p:nvPicPr>
        <p:blipFill>
          <a:blip r:embed="rId3"/>
          <a:stretch>
            <a:fillRect/>
          </a:stretch>
        </p:blipFill>
        <p:spPr>
          <a:xfrm>
            <a:off x="4276725" y="5029200"/>
            <a:ext cx="247650" cy="247650"/>
          </a:xfrm>
          <a:prstGeom prst="rect">
            <a:avLst/>
          </a:prstGeom>
        </p:spPr>
      </p:pic>
      <p:sp>
        <p:nvSpPr>
          <p:cNvPr id="27" name="Text 22"/>
          <p:cNvSpPr txBox="1"/>
          <p:nvPr/>
        </p:nvSpPr>
        <p:spPr>
          <a:xfrm>
            <a:off x="3733800" y="53340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경찰</a:t>
            </a:r>
            <a:endParaRPr lang="ko-KR" sz="1900" dirty="0"/>
          </a:p>
        </p:txBody>
      </p:sp>
      <p:sp>
        <p:nvSpPr>
          <p:cNvPr id="28" name="Shape 23"/>
          <p:cNvSpPr/>
          <p:nvPr/>
        </p:nvSpPr>
        <p:spPr>
          <a:xfrm>
            <a:off x="5867400" y="4572000"/>
            <a:ext cx="0" cy="285750"/>
          </a:xfrm>
          <a:prstGeom prst="line">
            <a:avLst/>
          </a:prstGeom>
          <a:noFill/>
          <a:ln w="23813">
            <a:solidFill>
              <a:schemeClr val="accent2"/>
            </a:solidFill>
            <a:prstDash val="solid"/>
            <a:tailEnd type="triangle"/>
          </a:ln>
        </p:spPr>
      </p:sp>
      <p:sp>
        <p:nvSpPr>
          <p:cNvPr id="29" name="Shape 24"/>
          <p:cNvSpPr/>
          <p:nvPr/>
        </p:nvSpPr>
        <p:spPr>
          <a:xfrm>
            <a:off x="5200650" y="4895850"/>
            <a:ext cx="1333500" cy="876300"/>
          </a:xfrm>
          <a:prstGeom prst="roundRect">
            <a:avLst>
              <a:gd name="adj" fmla="val 17391"/>
            </a:avLst>
          </a:prstGeom>
          <a:solidFill>
            <a:schemeClr val="bg1"/>
          </a:solidFill>
          <a:ln w="19050">
            <a:solidFill>
              <a:schemeClr val="accent2"/>
            </a:solidFill>
            <a:prstDash val="solid"/>
          </a:ln>
        </p:spPr>
      </p:sp>
      <p:pic>
        <p:nvPicPr>
          <p:cNvPr id="30" name="Image 3" descr="">    </p:cNvPr>
          <p:cNvPicPr>
            <a:picLocks noChangeAspect="1"/>
          </p:cNvPicPr>
          <p:nvPr/>
        </p:nvPicPr>
        <p:blipFill>
          <a:blip r:embed="rId4"/>
          <a:stretch>
            <a:fillRect/>
          </a:stretch>
        </p:blipFill>
        <p:spPr>
          <a:xfrm>
            <a:off x="5743575" y="5029200"/>
            <a:ext cx="247650" cy="247650"/>
          </a:xfrm>
          <a:prstGeom prst="rect">
            <a:avLst/>
          </a:prstGeom>
        </p:spPr>
      </p:pic>
      <p:sp>
        <p:nvSpPr>
          <p:cNvPr id="31" name="Text 25"/>
          <p:cNvSpPr txBox="1"/>
          <p:nvPr/>
        </p:nvSpPr>
        <p:spPr>
          <a:xfrm>
            <a:off x="5200650" y="53340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소방</a:t>
            </a:r>
            <a:endParaRPr lang="ko-KR" sz="1900" dirty="0"/>
          </a:p>
        </p:txBody>
      </p:sp>
      <p:sp>
        <p:nvSpPr>
          <p:cNvPr id="32" name="Shape 26"/>
          <p:cNvSpPr/>
          <p:nvPr/>
        </p:nvSpPr>
        <p:spPr>
          <a:xfrm>
            <a:off x="7334250" y="4572000"/>
            <a:ext cx="0" cy="285750"/>
          </a:xfrm>
          <a:prstGeom prst="line">
            <a:avLst/>
          </a:prstGeom>
          <a:noFill/>
          <a:ln w="23813">
            <a:solidFill>
              <a:schemeClr val="accent2"/>
            </a:solidFill>
            <a:prstDash val="solid"/>
            <a:tailEnd type="triangle"/>
          </a:ln>
        </p:spPr>
      </p:sp>
      <p:sp>
        <p:nvSpPr>
          <p:cNvPr id="33" name="Shape 27"/>
          <p:cNvSpPr/>
          <p:nvPr/>
        </p:nvSpPr>
        <p:spPr>
          <a:xfrm>
            <a:off x="6667500" y="4895850"/>
            <a:ext cx="1333500" cy="876300"/>
          </a:xfrm>
          <a:prstGeom prst="roundRect">
            <a:avLst>
              <a:gd name="adj" fmla="val 17391"/>
            </a:avLst>
          </a:prstGeom>
          <a:solidFill>
            <a:schemeClr val="bg1"/>
          </a:solidFill>
          <a:ln w="19050">
            <a:solidFill>
              <a:schemeClr val="accent2"/>
            </a:solidFill>
            <a:prstDash val="solid"/>
          </a:ln>
        </p:spPr>
      </p:sp>
      <p:pic>
        <p:nvPicPr>
          <p:cNvPr id="34" name="Image 4" descr="">    </p:cNvPr>
          <p:cNvPicPr>
            <a:picLocks noChangeAspect="1"/>
          </p:cNvPicPr>
          <p:nvPr/>
        </p:nvPicPr>
        <p:blipFill>
          <a:blip r:embed="rId5"/>
          <a:stretch>
            <a:fillRect/>
          </a:stretch>
        </p:blipFill>
        <p:spPr>
          <a:xfrm>
            <a:off x="7210425" y="5029200"/>
            <a:ext cx="247650" cy="247650"/>
          </a:xfrm>
          <a:prstGeom prst="rect">
            <a:avLst/>
          </a:prstGeom>
        </p:spPr>
      </p:pic>
      <p:sp>
        <p:nvSpPr>
          <p:cNvPr id="35" name="Text 28"/>
          <p:cNvSpPr txBox="1"/>
          <p:nvPr/>
        </p:nvSpPr>
        <p:spPr>
          <a:xfrm>
            <a:off x="6667500" y="53340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ITS센터</a:t>
            </a:r>
            <a:endParaRPr lang="ko-KR" sz="1900" dirty="0"/>
          </a:p>
        </p:txBody>
      </p:sp>
      <p:sp>
        <p:nvSpPr>
          <p:cNvPr id="36" name="Key message card"/>
          <p:cNvSpPr/>
          <p:nvPr/>
        </p:nvSpPr>
        <p:spPr>
          <a:xfrm>
            <a:off x="8382000" y="1447800"/>
            <a:ext cx="3124200" cy="4648200"/>
          </a:xfrm>
          <a:prstGeom prst="roundRect">
            <a:avLst>
              <a:gd name="adj" fmla="val 5488"/>
            </a:avLst>
          </a:prstGeom>
          <a:solidFill>
            <a:schemeClr val="tx2"/>
          </a:solidFill>
          <a:ln/>
        </p:spPr>
      </p:sp>
      <p:pic>
        <p:nvPicPr>
          <p:cNvPr id="37" name="Portal watermark" descr="">    </p:cNvPr>
          <p:cNvPicPr>
            <a:picLocks noChangeAspect="1"/>
          </p:cNvPicPr>
          <p:nvPr/>
        </p:nvPicPr>
        <p:blipFill>
          <a:blip r:embed="rId6"/>
          <a:stretch>
            <a:fillRect/>
          </a:stretch>
        </p:blipFill>
        <p:spPr>
          <a:xfrm>
            <a:off x="9220200" y="4191000"/>
            <a:ext cx="2286000" cy="1905000"/>
          </a:xfrm>
          <a:prstGeom prst="rect">
            <a:avLst/>
          </a:prstGeom>
        </p:spPr>
      </p:pic>
      <p:pic>
        <p:nvPicPr>
          <p:cNvPr id="38" name="Image 6" descr="">    </p:cNvPr>
          <p:cNvPicPr>
            <a:picLocks noChangeAspect="1"/>
          </p:cNvPicPr>
          <p:nvPr/>
        </p:nvPicPr>
        <p:blipFill>
          <a:blip r:embed="rId7"/>
          <a:stretch>
            <a:fillRect/>
          </a:stretch>
        </p:blipFill>
        <p:spPr>
          <a:xfrm>
            <a:off x="8686800" y="1781175"/>
            <a:ext cx="171450" cy="171450"/>
          </a:xfrm>
          <a:prstGeom prst="rect">
            <a:avLst/>
          </a:prstGeom>
        </p:spPr>
      </p:pic>
      <p:sp>
        <p:nvSpPr>
          <p:cNvPr id="39" name="Text 30"/>
          <p:cNvSpPr txBox="1"/>
          <p:nvPr/>
        </p:nvSpPr>
        <p:spPr>
          <a:xfrm>
            <a:off x="8934450" y="1752600"/>
            <a:ext cx="226695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초동 조치 핵심</a:t>
            </a:r>
            <a:endParaRPr lang="ko-KR" sz="1400" dirty="0"/>
          </a:p>
        </p:txBody>
      </p:sp>
      <p:pic>
        <p:nvPicPr>
          <p:cNvPr id="40" name="Image 7" descr="">    </p:cNvPr>
          <p:cNvPicPr>
            <a:picLocks noChangeAspect="1"/>
          </p:cNvPicPr>
          <p:nvPr/>
        </p:nvPicPr>
        <p:blipFill>
          <a:blip r:embed="rId8"/>
          <a:stretch>
            <a:fillRect/>
          </a:stretch>
        </p:blipFill>
        <p:spPr>
          <a:xfrm>
            <a:off x="8686800" y="2209800"/>
            <a:ext cx="419100" cy="419100"/>
          </a:xfrm>
          <a:prstGeom prst="rect">
            <a:avLst/>
          </a:prstGeom>
        </p:spPr>
      </p:pic>
      <p:sp>
        <p:nvSpPr>
          <p:cNvPr id="41" name="Text 31"/>
          <p:cNvSpPr txBox="1"/>
          <p:nvPr/>
        </p:nvSpPr>
        <p:spPr>
          <a:xfrm>
            <a:off x="8686800" y="2895600"/>
            <a:ext cx="2514600" cy="971550"/>
          </a:xfrm>
          <a:prstGeom prst="rect">
            <a:avLst/>
          </a:prstGeom>
          <a:noFill/>
          <a:ln/>
        </p:spPr>
        <p:txBody>
          <a:bodyPr wrap="square" lIns="0" tIns="0" rIns="0" bIns="0" rtlCol="0" anchor="t"/>
          <a:lstStyle/>
          <a:p>
            <a:pPr algn="l" indent="0" marL="0">
              <a:lnSpc>
                <a:spcPct val="103600"/>
              </a:lnSpc>
              <a:buNone/>
            </a:pPr>
            <a:r>
              <a:rPr lang="ko-KR" altLang="en-US" sz="3000" spc="-50" kern="0" dirty="0">
                <a:solidFill>
                  <a:schemeClr val="bg1"/>
                </a:solidFill>
                <a:latin typeface="Paperlogy 8 ExtraBold" pitchFamily="34" charset="0"/>
                <a:ea typeface="Paperlogy 8 ExtraBold" pitchFamily="34" charset="-127"/>
                <a:cs typeface="Paperlogy 8 ExtraBold" pitchFamily="34" charset="-120"/>
              </a:rPr>
              <a:t>동시다발적</a:t>
            </a:r>
            <a:endParaRPr lang="ko-KR" sz="3000" dirty="0"/>
          </a:p>
          <a:p>
            <a:pPr algn="l" indent="0" marL="0">
              <a:lnSpc>
                <a:spcPct val="103600"/>
              </a:lnSpc>
              <a:buNone/>
            </a:pPr>
            <a:r>
              <a:rPr lang="ko-KR" altLang="en-US" sz="3000" spc="-50" kern="0" dirty="0">
                <a:solidFill>
                  <a:schemeClr val="bg1"/>
                </a:solidFill>
                <a:latin typeface="Paperlogy 8 ExtraBold" pitchFamily="34" charset="0"/>
                <a:ea typeface="Paperlogy 8 ExtraBold" pitchFamily="34" charset="-127"/>
                <a:cs typeface="Paperlogy 8 ExtraBold" pitchFamily="34" charset="-120"/>
              </a:rPr>
              <a:t>상황 전파</a:t>
            </a:r>
            <a:endParaRPr lang="ko-KR" sz="3000" dirty="0"/>
          </a:p>
        </p:txBody>
      </p:sp>
      <p:sp>
        <p:nvSpPr>
          <p:cNvPr id="42" name="Text 32"/>
          <p:cNvSpPr txBox="1"/>
          <p:nvPr/>
        </p:nvSpPr>
        <p:spPr>
          <a:xfrm>
            <a:off x="8686800" y="4000500"/>
            <a:ext cx="2514600" cy="685800"/>
          </a:xfrm>
          <a:prstGeom prst="rect">
            <a:avLst/>
          </a:prstGeom>
          <a:noFill/>
          <a:ln/>
        </p:spPr>
        <p:txBody>
          <a:bodyPr wrap="square" lIns="0" tIns="0" rIns="0" bIns="0" rtlCol="0" anchor="t"/>
          <a:lstStyle/>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초동 조치의 핵심인</a:t>
            </a:r>
            <a:endParaRPr lang="ko-KR" sz="1700" dirty="0"/>
          </a:p>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골든타임 확보</a:t>
            </a:r>
            <a:endParaRPr lang="ko-KR" sz="17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기관별 대응 현황</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04</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대응 및 복구</a:t>
            </a:r>
            <a:endParaRPr lang="ko-KR" sz="1200" dirty="0"/>
          </a:p>
        </p:txBody>
      </p:sp>
      <p:sp>
        <p:nvSpPr>
          <p:cNvPr id="5" name="Shape 2"/>
          <p:cNvSpPr/>
          <p:nvPr/>
        </p:nvSpPr>
        <p:spPr>
          <a:xfrm>
            <a:off x="4495800" y="2171700"/>
            <a:ext cx="649918" cy="479701"/>
          </a:xfrm>
          <a:prstGeom prst="line">
            <a:avLst/>
          </a:prstGeom>
          <a:noFill/>
          <a:ln w="19050">
            <a:solidFill>
              <a:schemeClr val="accent4"/>
            </a:solidFill>
            <a:prstDash val="solid"/>
          </a:ln>
        </p:spPr>
      </p:sp>
      <p:sp>
        <p:nvSpPr>
          <p:cNvPr id="6" name="Shape 3"/>
          <p:cNvSpPr/>
          <p:nvPr/>
        </p:nvSpPr>
        <p:spPr>
          <a:xfrm>
            <a:off x="5098093" y="2603776"/>
            <a:ext cx="95250" cy="95250"/>
          </a:xfrm>
          <a:prstGeom prst="ellipse">
            <a:avLst/>
          </a:prstGeom>
          <a:solidFill>
            <a:schemeClr val="accent1"/>
          </a:solidFill>
          <a:ln/>
        </p:spPr>
      </p:sp>
      <p:sp>
        <p:nvSpPr>
          <p:cNvPr id="7" name="Shape 4"/>
          <p:cNvSpPr/>
          <p:nvPr/>
        </p:nvSpPr>
        <p:spPr>
          <a:xfrm flipV="1">
            <a:off x="4495800" y="3380913"/>
            <a:ext cx="419435" cy="9987"/>
          </a:xfrm>
          <a:prstGeom prst="line">
            <a:avLst/>
          </a:prstGeom>
          <a:noFill/>
          <a:ln w="19050">
            <a:solidFill>
              <a:schemeClr val="accent4"/>
            </a:solidFill>
            <a:prstDash val="solid"/>
          </a:ln>
        </p:spPr>
      </p:sp>
      <p:sp>
        <p:nvSpPr>
          <p:cNvPr id="8" name="Shape 5"/>
          <p:cNvSpPr/>
          <p:nvPr/>
        </p:nvSpPr>
        <p:spPr>
          <a:xfrm>
            <a:off x="4867610" y="3333288"/>
            <a:ext cx="95250" cy="95250"/>
          </a:xfrm>
          <a:prstGeom prst="ellipse">
            <a:avLst/>
          </a:prstGeom>
          <a:solidFill>
            <a:schemeClr val="accent1"/>
          </a:solidFill>
          <a:ln/>
        </p:spPr>
      </p:sp>
      <p:sp>
        <p:nvSpPr>
          <p:cNvPr id="9" name="Shape 6"/>
          <p:cNvSpPr/>
          <p:nvPr/>
        </p:nvSpPr>
        <p:spPr>
          <a:xfrm flipV="1">
            <a:off x="4495800" y="4082509"/>
            <a:ext cx="671479" cy="527591"/>
          </a:xfrm>
          <a:prstGeom prst="line">
            <a:avLst/>
          </a:prstGeom>
          <a:noFill/>
          <a:ln w="19050">
            <a:solidFill>
              <a:schemeClr val="accent4"/>
            </a:solidFill>
            <a:prstDash val="solid"/>
          </a:ln>
        </p:spPr>
      </p:sp>
      <p:sp>
        <p:nvSpPr>
          <p:cNvPr id="10" name="Shape 7"/>
          <p:cNvSpPr/>
          <p:nvPr/>
        </p:nvSpPr>
        <p:spPr>
          <a:xfrm>
            <a:off x="5119654" y="4034884"/>
            <a:ext cx="95250" cy="95250"/>
          </a:xfrm>
          <a:prstGeom prst="ellipse">
            <a:avLst/>
          </a:prstGeom>
          <a:solidFill>
            <a:schemeClr val="accent1"/>
          </a:solidFill>
          <a:ln/>
        </p:spPr>
      </p:sp>
      <p:sp>
        <p:nvSpPr>
          <p:cNvPr id="11" name="Shape 8"/>
          <p:cNvSpPr/>
          <p:nvPr/>
        </p:nvSpPr>
        <p:spPr>
          <a:xfrm flipH="1">
            <a:off x="7046282" y="2171700"/>
            <a:ext cx="649918" cy="479701"/>
          </a:xfrm>
          <a:prstGeom prst="line">
            <a:avLst/>
          </a:prstGeom>
          <a:noFill/>
          <a:ln w="19050">
            <a:solidFill>
              <a:schemeClr val="accent4"/>
            </a:solidFill>
            <a:prstDash val="solid"/>
          </a:ln>
        </p:spPr>
      </p:sp>
      <p:sp>
        <p:nvSpPr>
          <p:cNvPr id="12" name="Shape 9"/>
          <p:cNvSpPr/>
          <p:nvPr/>
        </p:nvSpPr>
        <p:spPr>
          <a:xfrm>
            <a:off x="6998657" y="2603776"/>
            <a:ext cx="95250" cy="95250"/>
          </a:xfrm>
          <a:prstGeom prst="ellipse">
            <a:avLst/>
          </a:prstGeom>
          <a:solidFill>
            <a:schemeClr val="accent1"/>
          </a:solidFill>
          <a:ln/>
        </p:spPr>
      </p:sp>
      <p:sp>
        <p:nvSpPr>
          <p:cNvPr id="13" name="Shape 10"/>
          <p:cNvSpPr/>
          <p:nvPr/>
        </p:nvSpPr>
        <p:spPr>
          <a:xfrm flipH="1" flipV="1">
            <a:off x="7276765" y="3380913"/>
            <a:ext cx="419435" cy="9987"/>
          </a:xfrm>
          <a:prstGeom prst="line">
            <a:avLst/>
          </a:prstGeom>
          <a:noFill/>
          <a:ln w="19050">
            <a:solidFill>
              <a:schemeClr val="accent4"/>
            </a:solidFill>
            <a:prstDash val="solid"/>
          </a:ln>
        </p:spPr>
      </p:sp>
      <p:sp>
        <p:nvSpPr>
          <p:cNvPr id="14" name="Shape 11"/>
          <p:cNvSpPr/>
          <p:nvPr/>
        </p:nvSpPr>
        <p:spPr>
          <a:xfrm>
            <a:off x="7229140" y="3333288"/>
            <a:ext cx="95250" cy="95250"/>
          </a:xfrm>
          <a:prstGeom prst="ellipse">
            <a:avLst/>
          </a:prstGeom>
          <a:solidFill>
            <a:schemeClr val="accent1"/>
          </a:solidFill>
          <a:ln/>
        </p:spPr>
      </p:sp>
      <p:sp>
        <p:nvSpPr>
          <p:cNvPr id="15" name="Shape 12"/>
          <p:cNvSpPr/>
          <p:nvPr/>
        </p:nvSpPr>
        <p:spPr>
          <a:xfrm flipH="1" flipV="1">
            <a:off x="7024721" y="4082509"/>
            <a:ext cx="671479" cy="527591"/>
          </a:xfrm>
          <a:prstGeom prst="line">
            <a:avLst/>
          </a:prstGeom>
          <a:noFill/>
          <a:ln w="19050">
            <a:solidFill>
              <a:schemeClr val="accent4"/>
            </a:solidFill>
            <a:prstDash val="solid"/>
          </a:ln>
        </p:spPr>
      </p:sp>
      <p:sp>
        <p:nvSpPr>
          <p:cNvPr id="16" name="Shape 13"/>
          <p:cNvSpPr/>
          <p:nvPr/>
        </p:nvSpPr>
        <p:spPr>
          <a:xfrm>
            <a:off x="6977096" y="4034884"/>
            <a:ext cx="95250" cy="95250"/>
          </a:xfrm>
          <a:prstGeom prst="ellipse">
            <a:avLst/>
          </a:prstGeom>
          <a:solidFill>
            <a:schemeClr val="accent1"/>
          </a:solidFill>
          <a:ln/>
        </p:spPr>
      </p:sp>
      <p:sp>
        <p:nvSpPr>
          <p:cNvPr id="17" name="Shape 14"/>
          <p:cNvSpPr/>
          <p:nvPr/>
        </p:nvSpPr>
        <p:spPr>
          <a:xfrm>
            <a:off x="4914900" y="2171700"/>
            <a:ext cx="2362200" cy="2362200"/>
          </a:xfrm>
          <a:prstGeom prst="ellipse">
            <a:avLst/>
          </a:prstGeom>
          <a:ln w="14288">
            <a:solidFill>
              <a:schemeClr val="accent4"/>
            </a:solidFill>
            <a:prstDash val="dash"/>
          </a:ln>
        </p:spPr>
      </p:sp>
      <p:sp>
        <p:nvSpPr>
          <p:cNvPr id="18" name="Hub"/>
          <p:cNvSpPr/>
          <p:nvPr/>
        </p:nvSpPr>
        <p:spPr>
          <a:xfrm>
            <a:off x="5105400" y="2362200"/>
            <a:ext cx="1981200" cy="1981200"/>
          </a:xfrm>
          <a:prstGeom prst="ellipse">
            <a:avLst/>
          </a:prstGeom>
          <a:solidFill>
            <a:schemeClr val="tx2"/>
          </a:solidFill>
          <a:ln/>
        </p:spPr>
      </p:sp>
      <p:pic>
        <p:nvPicPr>
          <p:cNvPr id="19" name="Image 1" descr="">    </p:cNvPr>
          <p:cNvPicPr>
            <a:picLocks noChangeAspect="1"/>
          </p:cNvPicPr>
          <p:nvPr/>
        </p:nvPicPr>
        <p:blipFill>
          <a:blip r:embed="rId2"/>
          <a:stretch>
            <a:fillRect/>
          </a:stretch>
        </p:blipFill>
        <p:spPr>
          <a:xfrm>
            <a:off x="5962650" y="2724150"/>
            <a:ext cx="266700" cy="266700"/>
          </a:xfrm>
          <a:prstGeom prst="rect">
            <a:avLst/>
          </a:prstGeom>
        </p:spPr>
      </p:pic>
      <p:sp>
        <p:nvSpPr>
          <p:cNvPr id="20" name="Text 16"/>
          <p:cNvSpPr txBox="1"/>
          <p:nvPr/>
        </p:nvSpPr>
        <p:spPr>
          <a:xfrm>
            <a:off x="5143500" y="3067050"/>
            <a:ext cx="1905000" cy="666750"/>
          </a:xfrm>
          <a:prstGeom prst="rect">
            <a:avLst/>
          </a:prstGeom>
          <a:noFill/>
          <a:ln/>
        </p:spPr>
        <p:txBody>
          <a:bodyPr wrap="square" lIns="0" tIns="0" rIns="0" bIns="0" rtlCol="0" anchor="ctr"/>
          <a:lstStyle/>
          <a:p>
            <a:pPr algn="ctr" indent="0" marL="0">
              <a:lnSpc>
                <a:spcPct val="106100"/>
              </a:lnSpc>
              <a:buNone/>
            </a:pPr>
            <a:r>
              <a:rPr lang="ko-KR" altLang="en-US" sz="2000" dirty="0">
                <a:solidFill>
                  <a:schemeClr val="bg1"/>
                </a:solidFill>
                <a:latin typeface="Paperlogy 8 ExtraBold" pitchFamily="34" charset="0"/>
                <a:ea typeface="Paperlogy 8 ExtraBold" pitchFamily="34" charset="-127"/>
                <a:cs typeface="Paperlogy 8 ExtraBold" pitchFamily="34" charset="-120"/>
              </a:rPr>
              <a:t>온석터널</a:t>
            </a:r>
            <a:endParaRPr lang="ko-KR" sz="2000" dirty="0"/>
          </a:p>
          <a:p>
            <a:pPr algn="ctr" indent="0" marL="0">
              <a:lnSpc>
                <a:spcPct val="106100"/>
              </a:lnSpc>
              <a:buNone/>
            </a:pPr>
            <a:r>
              <a:rPr lang="ko-KR" altLang="en-US" sz="2000" dirty="0">
                <a:solidFill>
                  <a:schemeClr val="bg1"/>
                </a:solidFill>
                <a:latin typeface="Paperlogy 8 ExtraBold" pitchFamily="34" charset="0"/>
                <a:ea typeface="Paperlogy 8 ExtraBold" pitchFamily="34" charset="-127"/>
                <a:cs typeface="Paperlogy 8 ExtraBold" pitchFamily="34" charset="-120"/>
              </a:rPr>
              <a:t>사고 현장</a:t>
            </a:r>
            <a:endParaRPr lang="ko-KR" sz="2000" dirty="0"/>
          </a:p>
        </p:txBody>
      </p:sp>
      <p:sp>
        <p:nvSpPr>
          <p:cNvPr id="21" name="Text 17"/>
          <p:cNvSpPr txBox="1"/>
          <p:nvPr/>
        </p:nvSpPr>
        <p:spPr>
          <a:xfrm>
            <a:off x="5143500" y="3771900"/>
            <a:ext cx="1905000" cy="209550"/>
          </a:xfrm>
          <a:prstGeom prst="rect">
            <a:avLst/>
          </a:prstGeom>
          <a:noFill/>
          <a:ln/>
        </p:spPr>
        <p:txBody>
          <a:bodyPr wrap="square" lIns="0" tIns="0" rIns="0" bIns="0" rtlCol="0" anchor="ctr"/>
          <a:lstStyle/>
          <a:p>
            <a:pPr algn="ctr" indent="0" marL="0">
              <a:lnSpc>
                <a:spcPct val="101900"/>
              </a:lnSpc>
              <a:buNone/>
            </a:pPr>
            <a:r>
              <a:rPr lang="ko-KR" altLang="en-US" sz="1200" spc="100" kern="0" dirty="0">
                <a:solidFill>
                  <a:schemeClr val="accent3"/>
                </a:solidFill>
                <a:latin typeface="Paperlogy 6 SemiBold" pitchFamily="34" charset="0"/>
                <a:ea typeface="Paperlogy 6 SemiBold" pitchFamily="34" charset="-127"/>
                <a:cs typeface="Paperlogy 6 SemiBold" pitchFamily="34" charset="-120"/>
              </a:rPr>
              <a:t>Concurrent</a:t>
            </a:r>
            <a:endParaRPr lang="ko-KR" sz="1200" dirty="0"/>
          </a:p>
        </p:txBody>
      </p:sp>
      <p:sp>
        <p:nvSpPr>
          <p:cNvPr id="22" name="Shape 18"/>
          <p:cNvSpPr/>
          <p:nvPr/>
        </p:nvSpPr>
        <p:spPr>
          <a:xfrm>
            <a:off x="685800" y="1638300"/>
            <a:ext cx="3810000" cy="1066800"/>
          </a:xfrm>
          <a:prstGeom prst="roundRect">
            <a:avLst>
              <a:gd name="adj" fmla="val 14286"/>
            </a:avLst>
          </a:prstGeom>
          <a:solidFill>
            <a:schemeClr val="bg1"/>
          </a:solidFill>
          <a:ln w="14288">
            <a:solidFill>
              <a:schemeClr val="accent6"/>
            </a:solidFill>
            <a:prstDash val="solid"/>
          </a:ln>
        </p:spPr>
      </p:sp>
      <p:sp>
        <p:nvSpPr>
          <p:cNvPr id="23" name="Shape 19"/>
          <p:cNvSpPr/>
          <p:nvPr/>
        </p:nvSpPr>
        <p:spPr>
          <a:xfrm>
            <a:off x="876300" y="1905000"/>
            <a:ext cx="533400" cy="533400"/>
          </a:xfrm>
          <a:prstGeom prst="ellipse">
            <a:avLst/>
          </a:prstGeom>
          <a:solidFill>
            <a:schemeClr val="accent1">
              <a:alpha val="10000"/>
            </a:schemeClr>
          </a:solidFill>
          <a:ln/>
        </p:spPr>
      </p:sp>
      <p:pic>
        <p:nvPicPr>
          <p:cNvPr id="24" name="Image 2" descr="">    </p:cNvPr>
          <p:cNvPicPr>
            <a:picLocks noChangeAspect="1"/>
          </p:cNvPicPr>
          <p:nvPr/>
        </p:nvPicPr>
        <p:blipFill>
          <a:blip r:embed="rId3"/>
          <a:stretch>
            <a:fillRect/>
          </a:stretch>
        </p:blipFill>
        <p:spPr>
          <a:xfrm>
            <a:off x="1009650" y="2038350"/>
            <a:ext cx="266700" cy="266700"/>
          </a:xfrm>
          <a:prstGeom prst="rect">
            <a:avLst/>
          </a:prstGeom>
        </p:spPr>
      </p:pic>
      <p:sp>
        <p:nvSpPr>
          <p:cNvPr id="25" name="Text 20"/>
          <p:cNvSpPr txBox="1"/>
          <p:nvPr/>
        </p:nvSpPr>
        <p:spPr>
          <a:xfrm>
            <a:off x="1562100" y="18478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경찰</a:t>
            </a:r>
            <a:endParaRPr lang="ko-KR" sz="1800" dirty="0"/>
          </a:p>
        </p:txBody>
      </p:sp>
      <p:sp>
        <p:nvSpPr>
          <p:cNvPr id="26" name="Text 21"/>
          <p:cNvSpPr txBox="1"/>
          <p:nvPr/>
        </p:nvSpPr>
        <p:spPr>
          <a:xfrm>
            <a:off x="1562100" y="21526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교통통제 및 진입로 확보</a:t>
            </a:r>
            <a:endParaRPr lang="ko-KR" sz="1500" dirty="0"/>
          </a:p>
        </p:txBody>
      </p:sp>
      <p:sp>
        <p:nvSpPr>
          <p:cNvPr id="27" name="Shape 22"/>
          <p:cNvSpPr/>
          <p:nvPr/>
        </p:nvSpPr>
        <p:spPr>
          <a:xfrm>
            <a:off x="685800" y="2857500"/>
            <a:ext cx="3810000" cy="1066800"/>
          </a:xfrm>
          <a:prstGeom prst="roundRect">
            <a:avLst>
              <a:gd name="adj" fmla="val 14286"/>
            </a:avLst>
          </a:prstGeom>
          <a:solidFill>
            <a:schemeClr val="bg1"/>
          </a:solidFill>
          <a:ln w="14288">
            <a:solidFill>
              <a:schemeClr val="accent6"/>
            </a:solidFill>
            <a:prstDash val="solid"/>
          </a:ln>
        </p:spPr>
      </p:sp>
      <p:sp>
        <p:nvSpPr>
          <p:cNvPr id="28" name="Shape 23"/>
          <p:cNvSpPr/>
          <p:nvPr/>
        </p:nvSpPr>
        <p:spPr>
          <a:xfrm>
            <a:off x="876300" y="3124200"/>
            <a:ext cx="533400" cy="533400"/>
          </a:xfrm>
          <a:prstGeom prst="ellipse">
            <a:avLst/>
          </a:prstGeom>
          <a:solidFill>
            <a:schemeClr val="accent1">
              <a:alpha val="10000"/>
            </a:schemeClr>
          </a:solidFill>
          <a:ln/>
        </p:spPr>
      </p:sp>
      <p:pic>
        <p:nvPicPr>
          <p:cNvPr id="29" name="Image 3" descr="">    </p:cNvPr>
          <p:cNvPicPr>
            <a:picLocks noChangeAspect="1"/>
          </p:cNvPicPr>
          <p:nvPr/>
        </p:nvPicPr>
        <p:blipFill>
          <a:blip r:embed="rId4"/>
          <a:stretch>
            <a:fillRect/>
          </a:stretch>
        </p:blipFill>
        <p:spPr>
          <a:xfrm>
            <a:off x="1009650" y="3257550"/>
            <a:ext cx="266700" cy="266700"/>
          </a:xfrm>
          <a:prstGeom prst="rect">
            <a:avLst/>
          </a:prstGeom>
        </p:spPr>
      </p:pic>
      <p:sp>
        <p:nvSpPr>
          <p:cNvPr id="30" name="Text 24"/>
          <p:cNvSpPr txBox="1"/>
          <p:nvPr/>
        </p:nvSpPr>
        <p:spPr>
          <a:xfrm>
            <a:off x="1562100" y="30670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소방</a:t>
            </a:r>
            <a:endParaRPr lang="ko-KR" sz="1800" dirty="0"/>
          </a:p>
        </p:txBody>
      </p:sp>
      <p:sp>
        <p:nvSpPr>
          <p:cNvPr id="31" name="Text 25"/>
          <p:cNvSpPr txBox="1"/>
          <p:nvPr/>
        </p:nvSpPr>
        <p:spPr>
          <a:xfrm>
            <a:off x="1562100" y="33718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화재진압 · 인명구조 및 초기제독</a:t>
            </a:r>
            <a:endParaRPr lang="ko-KR" sz="1500" dirty="0"/>
          </a:p>
        </p:txBody>
      </p:sp>
      <p:sp>
        <p:nvSpPr>
          <p:cNvPr id="32" name="Shape 26"/>
          <p:cNvSpPr/>
          <p:nvPr/>
        </p:nvSpPr>
        <p:spPr>
          <a:xfrm>
            <a:off x="685800" y="4076700"/>
            <a:ext cx="3810000" cy="1066800"/>
          </a:xfrm>
          <a:prstGeom prst="roundRect">
            <a:avLst>
              <a:gd name="adj" fmla="val 14286"/>
            </a:avLst>
          </a:prstGeom>
          <a:solidFill>
            <a:schemeClr val="bg1"/>
          </a:solidFill>
          <a:ln w="14288">
            <a:solidFill>
              <a:schemeClr val="accent6"/>
            </a:solidFill>
            <a:prstDash val="solid"/>
          </a:ln>
        </p:spPr>
      </p:sp>
      <p:sp>
        <p:nvSpPr>
          <p:cNvPr id="33" name="Shape 27"/>
          <p:cNvSpPr/>
          <p:nvPr/>
        </p:nvSpPr>
        <p:spPr>
          <a:xfrm>
            <a:off x="876300" y="4343400"/>
            <a:ext cx="533400" cy="533400"/>
          </a:xfrm>
          <a:prstGeom prst="ellipse">
            <a:avLst/>
          </a:prstGeom>
          <a:solidFill>
            <a:schemeClr val="accent1">
              <a:alpha val="10000"/>
            </a:schemeClr>
          </a:solidFill>
          <a:ln/>
        </p:spPr>
      </p:sp>
      <p:pic>
        <p:nvPicPr>
          <p:cNvPr id="34" name="Image 4" descr="">    </p:cNvPr>
          <p:cNvPicPr>
            <a:picLocks noChangeAspect="1"/>
          </p:cNvPicPr>
          <p:nvPr/>
        </p:nvPicPr>
        <p:blipFill>
          <a:blip r:embed="rId5"/>
          <a:stretch>
            <a:fillRect/>
          </a:stretch>
        </p:blipFill>
        <p:spPr>
          <a:xfrm>
            <a:off x="1009650" y="4476750"/>
            <a:ext cx="266700" cy="266700"/>
          </a:xfrm>
          <a:prstGeom prst="rect">
            <a:avLst/>
          </a:prstGeom>
        </p:spPr>
      </p:pic>
      <p:sp>
        <p:nvSpPr>
          <p:cNvPr id="35" name="Text 28"/>
          <p:cNvSpPr txBox="1"/>
          <p:nvPr/>
        </p:nvSpPr>
        <p:spPr>
          <a:xfrm>
            <a:off x="1562100" y="42862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서산화학방재센터</a:t>
            </a:r>
            <a:endParaRPr lang="ko-KR" sz="1800" dirty="0"/>
          </a:p>
        </p:txBody>
      </p:sp>
      <p:sp>
        <p:nvSpPr>
          <p:cNvPr id="36" name="Text 29"/>
          <p:cNvSpPr txBox="1"/>
          <p:nvPr/>
        </p:nvSpPr>
        <p:spPr>
          <a:xfrm>
            <a:off x="1562100" y="45910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물질 측정 · 분석 및 영향범위 판단</a:t>
            </a:r>
            <a:endParaRPr lang="ko-KR" sz="1500" dirty="0"/>
          </a:p>
        </p:txBody>
      </p:sp>
      <p:sp>
        <p:nvSpPr>
          <p:cNvPr id="37" name="Shape 30"/>
          <p:cNvSpPr/>
          <p:nvPr/>
        </p:nvSpPr>
        <p:spPr>
          <a:xfrm>
            <a:off x="7696200" y="1638300"/>
            <a:ext cx="3810000" cy="1066800"/>
          </a:xfrm>
          <a:prstGeom prst="roundRect">
            <a:avLst>
              <a:gd name="adj" fmla="val 14286"/>
            </a:avLst>
          </a:prstGeom>
          <a:solidFill>
            <a:schemeClr val="bg1"/>
          </a:solidFill>
          <a:ln w="14288">
            <a:solidFill>
              <a:schemeClr val="accent6"/>
            </a:solidFill>
            <a:prstDash val="solid"/>
          </a:ln>
        </p:spPr>
      </p:sp>
      <p:sp>
        <p:nvSpPr>
          <p:cNvPr id="38" name="Shape 31"/>
          <p:cNvSpPr/>
          <p:nvPr/>
        </p:nvSpPr>
        <p:spPr>
          <a:xfrm>
            <a:off x="7886700" y="1905000"/>
            <a:ext cx="533400" cy="533400"/>
          </a:xfrm>
          <a:prstGeom prst="ellipse">
            <a:avLst/>
          </a:prstGeom>
          <a:solidFill>
            <a:schemeClr val="accent1">
              <a:alpha val="10000"/>
            </a:schemeClr>
          </a:solidFill>
          <a:ln/>
        </p:spPr>
      </p:sp>
      <p:pic>
        <p:nvPicPr>
          <p:cNvPr id="39" name="Image 5" descr="">    </p:cNvPr>
          <p:cNvPicPr>
            <a:picLocks noChangeAspect="1"/>
          </p:cNvPicPr>
          <p:nvPr/>
        </p:nvPicPr>
        <p:blipFill>
          <a:blip r:embed="rId6"/>
          <a:stretch>
            <a:fillRect/>
          </a:stretch>
        </p:blipFill>
        <p:spPr>
          <a:xfrm>
            <a:off x="8020050" y="2038350"/>
            <a:ext cx="266700" cy="266700"/>
          </a:xfrm>
          <a:prstGeom prst="rect">
            <a:avLst/>
          </a:prstGeom>
        </p:spPr>
      </p:pic>
      <p:sp>
        <p:nvSpPr>
          <p:cNvPr id="40" name="Text 32"/>
          <p:cNvSpPr txBox="1"/>
          <p:nvPr/>
        </p:nvSpPr>
        <p:spPr>
          <a:xfrm>
            <a:off x="8572500" y="18478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서산시</a:t>
            </a:r>
            <a:endParaRPr lang="ko-KR" sz="1800" dirty="0"/>
          </a:p>
        </p:txBody>
      </p:sp>
      <p:sp>
        <p:nvSpPr>
          <p:cNvPr id="41" name="Text 33"/>
          <p:cNvSpPr txBox="1"/>
          <p:nvPr/>
        </p:nvSpPr>
        <p:spPr>
          <a:xfrm>
            <a:off x="8572500" y="21526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현장통합지원본부 운영</a:t>
            </a:r>
            <a:endParaRPr lang="ko-KR" sz="1500" dirty="0"/>
          </a:p>
        </p:txBody>
      </p:sp>
      <p:sp>
        <p:nvSpPr>
          <p:cNvPr id="42" name="Shape 34"/>
          <p:cNvSpPr/>
          <p:nvPr/>
        </p:nvSpPr>
        <p:spPr>
          <a:xfrm>
            <a:off x="7696200" y="2857500"/>
            <a:ext cx="3810000" cy="1066800"/>
          </a:xfrm>
          <a:prstGeom prst="roundRect">
            <a:avLst>
              <a:gd name="adj" fmla="val 14286"/>
            </a:avLst>
          </a:prstGeom>
          <a:solidFill>
            <a:schemeClr val="bg1"/>
          </a:solidFill>
          <a:ln w="14288">
            <a:solidFill>
              <a:schemeClr val="accent6"/>
            </a:solidFill>
            <a:prstDash val="solid"/>
          </a:ln>
        </p:spPr>
      </p:sp>
      <p:sp>
        <p:nvSpPr>
          <p:cNvPr id="43" name="Shape 35"/>
          <p:cNvSpPr/>
          <p:nvPr/>
        </p:nvSpPr>
        <p:spPr>
          <a:xfrm>
            <a:off x="7886700" y="3124200"/>
            <a:ext cx="533400" cy="533400"/>
          </a:xfrm>
          <a:prstGeom prst="ellipse">
            <a:avLst/>
          </a:prstGeom>
          <a:solidFill>
            <a:schemeClr val="accent1">
              <a:alpha val="10000"/>
            </a:schemeClr>
          </a:solidFill>
          <a:ln/>
        </p:spPr>
      </p:sp>
      <p:pic>
        <p:nvPicPr>
          <p:cNvPr id="44" name="Image 6" descr="">    </p:cNvPr>
          <p:cNvPicPr>
            <a:picLocks noChangeAspect="1"/>
          </p:cNvPicPr>
          <p:nvPr/>
        </p:nvPicPr>
        <p:blipFill>
          <a:blip r:embed="rId7"/>
          <a:stretch>
            <a:fillRect/>
          </a:stretch>
        </p:blipFill>
        <p:spPr>
          <a:xfrm>
            <a:off x="8020050" y="3257550"/>
            <a:ext cx="266700" cy="266700"/>
          </a:xfrm>
          <a:prstGeom prst="rect">
            <a:avLst/>
          </a:prstGeom>
        </p:spPr>
      </p:pic>
      <p:sp>
        <p:nvSpPr>
          <p:cNvPr id="45" name="Text 36"/>
          <p:cNvSpPr txBox="1"/>
          <p:nvPr/>
        </p:nvSpPr>
        <p:spPr>
          <a:xfrm>
            <a:off x="8572500" y="30670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보건소</a:t>
            </a:r>
            <a:endParaRPr lang="ko-KR" sz="1800" dirty="0"/>
          </a:p>
        </p:txBody>
      </p:sp>
      <p:sp>
        <p:nvSpPr>
          <p:cNvPr id="46" name="Text 37"/>
          <p:cNvSpPr txBox="1"/>
          <p:nvPr/>
        </p:nvSpPr>
        <p:spPr>
          <a:xfrm>
            <a:off x="8572500" y="33718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현장응급의료소 운영</a:t>
            </a:r>
            <a:endParaRPr lang="ko-KR" sz="1500" dirty="0"/>
          </a:p>
        </p:txBody>
      </p:sp>
      <p:sp>
        <p:nvSpPr>
          <p:cNvPr id="47" name="Shape 38"/>
          <p:cNvSpPr/>
          <p:nvPr/>
        </p:nvSpPr>
        <p:spPr>
          <a:xfrm>
            <a:off x="7696200" y="4076700"/>
            <a:ext cx="3810000" cy="1066800"/>
          </a:xfrm>
          <a:prstGeom prst="roundRect">
            <a:avLst>
              <a:gd name="adj" fmla="val 14286"/>
            </a:avLst>
          </a:prstGeom>
          <a:solidFill>
            <a:schemeClr val="bg1"/>
          </a:solidFill>
          <a:ln w="14288">
            <a:solidFill>
              <a:schemeClr val="accent6"/>
            </a:solidFill>
            <a:prstDash val="solid"/>
          </a:ln>
        </p:spPr>
      </p:sp>
      <p:sp>
        <p:nvSpPr>
          <p:cNvPr id="48" name="Shape 39"/>
          <p:cNvSpPr/>
          <p:nvPr/>
        </p:nvSpPr>
        <p:spPr>
          <a:xfrm>
            <a:off x="7886700" y="4343400"/>
            <a:ext cx="533400" cy="533400"/>
          </a:xfrm>
          <a:prstGeom prst="ellipse">
            <a:avLst/>
          </a:prstGeom>
          <a:solidFill>
            <a:schemeClr val="accent1">
              <a:alpha val="10000"/>
            </a:schemeClr>
          </a:solidFill>
          <a:ln/>
        </p:spPr>
      </p:sp>
      <p:pic>
        <p:nvPicPr>
          <p:cNvPr id="49" name="Image 7" descr="">    </p:cNvPr>
          <p:cNvPicPr>
            <a:picLocks noChangeAspect="1"/>
          </p:cNvPicPr>
          <p:nvPr/>
        </p:nvPicPr>
        <p:blipFill>
          <a:blip r:embed="rId8"/>
          <a:stretch>
            <a:fillRect/>
          </a:stretch>
        </p:blipFill>
        <p:spPr>
          <a:xfrm>
            <a:off x="8020050" y="4476750"/>
            <a:ext cx="266700" cy="266700"/>
          </a:xfrm>
          <a:prstGeom prst="rect">
            <a:avLst/>
          </a:prstGeom>
        </p:spPr>
      </p:pic>
      <p:sp>
        <p:nvSpPr>
          <p:cNvPr id="50" name="Text 40"/>
          <p:cNvSpPr txBox="1"/>
          <p:nvPr/>
        </p:nvSpPr>
        <p:spPr>
          <a:xfrm>
            <a:off x="8572500" y="4286250"/>
            <a:ext cx="276225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공군 제20전투비행단</a:t>
            </a:r>
            <a:endParaRPr lang="ko-KR" sz="1800" dirty="0"/>
          </a:p>
        </p:txBody>
      </p:sp>
      <p:sp>
        <p:nvSpPr>
          <p:cNvPr id="51" name="Text 41"/>
          <p:cNvSpPr txBox="1"/>
          <p:nvPr/>
        </p:nvSpPr>
        <p:spPr>
          <a:xfrm>
            <a:off x="8572500" y="45910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제독차량 지원</a:t>
            </a:r>
            <a:endParaRPr lang="ko-KR" sz="1500" dirty="0"/>
          </a:p>
        </p:txBody>
      </p:sp>
      <p:sp>
        <p:nvSpPr>
          <p:cNvPr id="52" name="Text 42"/>
          <p:cNvSpPr txBox="1"/>
          <p:nvPr/>
        </p:nvSpPr>
        <p:spPr>
          <a:xfrm>
            <a:off x="685800" y="5410200"/>
            <a:ext cx="10820400" cy="32385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tx2"/>
                </a:solidFill>
                <a:latin typeface="Paperlogy 8 ExtraBold" pitchFamily="34" charset="0"/>
                <a:ea typeface="Paperlogy 8 ExtraBold" pitchFamily="34" charset="-127"/>
                <a:cs typeface="Paperlogy 8 ExtraBold" pitchFamily="34" charset="-120"/>
              </a:rPr>
              <a:t>상황에 따른 연계 및 병행(Concurrent) 대응</a:t>
            </a:r>
            <a:endParaRPr lang="ko-KR" sz="2000" dirty="0"/>
          </a:p>
        </p:txBody>
      </p:sp>
      <p:sp>
        <p:nvSpPr>
          <p:cNvPr id="53" name="Text 43"/>
          <p:cNvSpPr txBox="1"/>
          <p:nvPr/>
        </p:nvSpPr>
        <p:spPr>
          <a:xfrm>
            <a:off x="685800" y="5753100"/>
            <a:ext cx="10820400" cy="2667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단선적 조치가 아닌, 각 기관의 전문성이 현장에서 동시 다발적으로 맞물려 작동</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수습복구 및 마무리</a:t>
            </a:r>
            <a:endParaRPr lang="en-US" sz="3000" dirty="0"/>
          </a:p>
        </p:txBody>
      </p:sp>
      <p:pic>
        <p:nvPicPr>
          <p:cNvPr id="3" name="Image 0" descr="">    </p:cNvPr>
          <p:cNvPicPr>
            <a:picLocks noChangeAspect="1"/>
          </p:cNvPicPr>
          <p:nvPr/>
        </p:nvPicPr>
        <p:blipFill>
          <a:blip r:embed="rId1"/>
          <a:stretch>
            <a:fillRect/>
          </a:stretch>
        </p:blipFill>
        <p:spPr>
          <a:xfrm>
            <a:off x="685800" y="447675"/>
            <a:ext cx="152400" cy="152400"/>
          </a:xfrm>
          <a:prstGeom prst="rect">
            <a:avLst/>
          </a:prstGeom>
        </p:spPr>
      </p:pic>
      <p:sp>
        <p:nvSpPr>
          <p:cNvPr id="4" name="Text 1"/>
          <p:cNvSpPr txBox="1"/>
          <p:nvPr/>
        </p:nvSpPr>
        <p:spPr>
          <a:xfrm>
            <a:off x="914400" y="419100"/>
            <a:ext cx="4953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04</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대응 및 복구</a:t>
            </a:r>
            <a:endParaRPr lang="ko-KR" sz="1200" dirty="0"/>
          </a:p>
        </p:txBody>
      </p:sp>
      <p:sp>
        <p:nvSpPr>
          <p:cNvPr id="5" name="Text 2"/>
          <p:cNvSpPr txBox="1"/>
          <p:nvPr/>
        </p:nvSpPr>
        <p:spPr>
          <a:xfrm>
            <a:off x="685800" y="14478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수습복구 절차</a:t>
            </a:r>
            <a:endParaRPr lang="ko-KR" sz="1800" dirty="0"/>
          </a:p>
        </p:txBody>
      </p:sp>
      <p:sp>
        <p:nvSpPr>
          <p:cNvPr id="6" name="Shape 3"/>
          <p:cNvSpPr/>
          <p:nvPr/>
        </p:nvSpPr>
        <p:spPr>
          <a:xfrm>
            <a:off x="685800" y="1828800"/>
            <a:ext cx="3352800" cy="2400300"/>
          </a:xfrm>
          <a:prstGeom prst="roundRect">
            <a:avLst>
              <a:gd name="adj" fmla="val 7143"/>
            </a:avLst>
          </a:prstGeom>
          <a:solidFill>
            <a:schemeClr val="bg1"/>
          </a:solidFill>
          <a:ln w="14288">
            <a:solidFill>
              <a:schemeClr val="accent6"/>
            </a:solidFill>
            <a:prstDash val="solid"/>
          </a:ln>
        </p:spPr>
      </p:sp>
      <p:sp>
        <p:nvSpPr>
          <p:cNvPr id="7" name="Text 4"/>
          <p:cNvSpPr txBox="1"/>
          <p:nvPr/>
        </p:nvSpPr>
        <p:spPr>
          <a:xfrm>
            <a:off x="9525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1"/>
                </a:solidFill>
                <a:latin typeface="Paperlogy 8 ExtraBold" pitchFamily="34" charset="0"/>
                <a:ea typeface="Paperlogy 8 ExtraBold" pitchFamily="34" charset="-127"/>
                <a:cs typeface="Paperlogy 8 ExtraBold" pitchFamily="34" charset="-120"/>
              </a:rPr>
              <a:t>01</a:t>
            </a:r>
            <a:endParaRPr lang="ko-KR" sz="4000" dirty="0"/>
          </a:p>
        </p:txBody>
      </p:sp>
      <p:sp>
        <p:nvSpPr>
          <p:cNvPr id="8" name="Shape 5"/>
          <p:cNvSpPr/>
          <p:nvPr/>
        </p:nvSpPr>
        <p:spPr>
          <a:xfrm>
            <a:off x="3200400" y="2038350"/>
            <a:ext cx="571500" cy="571500"/>
          </a:xfrm>
          <a:prstGeom prst="ellipse">
            <a:avLst/>
          </a:prstGeom>
          <a:solidFill>
            <a:schemeClr val="accent1">
              <a:alpha val="10000"/>
            </a:schemeClr>
          </a:solidFill>
          <a:ln/>
        </p:spPr>
      </p:sp>
      <p:pic>
        <p:nvPicPr>
          <p:cNvPr id="9" name="Image 1" descr="">    </p:cNvPr>
          <p:cNvPicPr>
            <a:picLocks noChangeAspect="1"/>
          </p:cNvPicPr>
          <p:nvPr/>
        </p:nvPicPr>
        <p:blipFill>
          <a:blip r:embed="rId2"/>
          <a:stretch>
            <a:fillRect/>
          </a:stretch>
        </p:blipFill>
        <p:spPr>
          <a:xfrm>
            <a:off x="3343275" y="2181225"/>
            <a:ext cx="285750" cy="285750"/>
          </a:xfrm>
          <a:prstGeom prst="rect">
            <a:avLst/>
          </a:prstGeom>
        </p:spPr>
      </p:pic>
      <p:sp>
        <p:nvSpPr>
          <p:cNvPr id="10" name="Text 6"/>
          <p:cNvSpPr txBox="1"/>
          <p:nvPr/>
        </p:nvSpPr>
        <p:spPr>
          <a:xfrm>
            <a:off x="9525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파손차량 견인 및</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시설복구</a:t>
            </a:r>
            <a:endParaRPr lang="ko-KR" sz="2200" dirty="0"/>
          </a:p>
        </p:txBody>
      </p:sp>
      <p:sp>
        <p:nvSpPr>
          <p:cNvPr id="11" name="Shape 7"/>
          <p:cNvSpPr/>
          <p:nvPr/>
        </p:nvSpPr>
        <p:spPr>
          <a:xfrm>
            <a:off x="4076700" y="2876550"/>
            <a:ext cx="304800" cy="304800"/>
          </a:xfrm>
          <a:prstGeom prst="ellipse">
            <a:avLst/>
          </a:prstGeom>
          <a:solidFill>
            <a:schemeClr val="bg1"/>
          </a:solidFill>
          <a:ln w="14288">
            <a:solidFill>
              <a:schemeClr val="accent6"/>
            </a:solidFill>
            <a:prstDash val="solid"/>
          </a:ln>
        </p:spPr>
      </p:sp>
      <p:pic>
        <p:nvPicPr>
          <p:cNvPr id="12" name="Image 2" descr="">    </p:cNvPr>
          <p:cNvPicPr>
            <a:picLocks noChangeAspect="1"/>
          </p:cNvPicPr>
          <p:nvPr/>
        </p:nvPicPr>
        <p:blipFill>
          <a:blip r:embed="rId3"/>
          <a:stretch>
            <a:fillRect/>
          </a:stretch>
        </p:blipFill>
        <p:spPr>
          <a:xfrm>
            <a:off x="4133850" y="2933700"/>
            <a:ext cx="190500" cy="190500"/>
          </a:xfrm>
          <a:prstGeom prst="rect">
            <a:avLst/>
          </a:prstGeom>
        </p:spPr>
      </p:pic>
      <p:sp>
        <p:nvSpPr>
          <p:cNvPr id="13" name="Shape 8"/>
          <p:cNvSpPr/>
          <p:nvPr/>
        </p:nvSpPr>
        <p:spPr>
          <a:xfrm>
            <a:off x="4419600" y="1828800"/>
            <a:ext cx="3352800" cy="2400300"/>
          </a:xfrm>
          <a:prstGeom prst="roundRect">
            <a:avLst>
              <a:gd name="adj" fmla="val 7143"/>
            </a:avLst>
          </a:prstGeom>
          <a:solidFill>
            <a:schemeClr val="bg1"/>
          </a:solidFill>
          <a:ln w="14288">
            <a:solidFill>
              <a:schemeClr val="accent6"/>
            </a:solidFill>
            <a:prstDash val="solid"/>
          </a:ln>
        </p:spPr>
      </p:sp>
      <p:sp>
        <p:nvSpPr>
          <p:cNvPr id="14" name="Text 9"/>
          <p:cNvSpPr txBox="1"/>
          <p:nvPr/>
        </p:nvSpPr>
        <p:spPr>
          <a:xfrm>
            <a:off x="46863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1"/>
                </a:solidFill>
                <a:latin typeface="Paperlogy 8 ExtraBold" pitchFamily="34" charset="0"/>
                <a:ea typeface="Paperlogy 8 ExtraBold" pitchFamily="34" charset="-127"/>
                <a:cs typeface="Paperlogy 8 ExtraBold" pitchFamily="34" charset="-120"/>
              </a:rPr>
              <a:t>02</a:t>
            </a:r>
            <a:endParaRPr lang="ko-KR" sz="4000" dirty="0"/>
          </a:p>
        </p:txBody>
      </p:sp>
      <p:sp>
        <p:nvSpPr>
          <p:cNvPr id="15" name="Shape 10"/>
          <p:cNvSpPr/>
          <p:nvPr/>
        </p:nvSpPr>
        <p:spPr>
          <a:xfrm>
            <a:off x="6934200" y="2038350"/>
            <a:ext cx="571500" cy="571500"/>
          </a:xfrm>
          <a:prstGeom prst="ellipse">
            <a:avLst/>
          </a:prstGeom>
          <a:solidFill>
            <a:schemeClr val="accent1">
              <a:alpha val="10000"/>
            </a:schemeClr>
          </a:solidFill>
          <a:ln/>
        </p:spPr>
      </p:sp>
      <p:pic>
        <p:nvPicPr>
          <p:cNvPr id="16" name="Image 3" descr="">    </p:cNvPr>
          <p:cNvPicPr>
            <a:picLocks noChangeAspect="1"/>
          </p:cNvPicPr>
          <p:nvPr/>
        </p:nvPicPr>
        <p:blipFill>
          <a:blip r:embed="rId4"/>
          <a:stretch>
            <a:fillRect/>
          </a:stretch>
        </p:blipFill>
        <p:spPr>
          <a:xfrm>
            <a:off x="7077075" y="2181225"/>
            <a:ext cx="285750" cy="285750"/>
          </a:xfrm>
          <a:prstGeom prst="rect">
            <a:avLst/>
          </a:prstGeom>
        </p:spPr>
      </p:pic>
      <p:sp>
        <p:nvSpPr>
          <p:cNvPr id="17" name="Text 11"/>
          <p:cNvSpPr txBox="1"/>
          <p:nvPr/>
        </p:nvSpPr>
        <p:spPr>
          <a:xfrm>
            <a:off x="46863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터널 구조 · 시설물</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안전점검</a:t>
            </a:r>
            <a:endParaRPr lang="ko-KR" sz="2200" dirty="0"/>
          </a:p>
        </p:txBody>
      </p:sp>
      <p:sp>
        <p:nvSpPr>
          <p:cNvPr id="18" name="Shape 12"/>
          <p:cNvSpPr/>
          <p:nvPr/>
        </p:nvSpPr>
        <p:spPr>
          <a:xfrm>
            <a:off x="7810500" y="2876550"/>
            <a:ext cx="304800" cy="304800"/>
          </a:xfrm>
          <a:prstGeom prst="ellipse">
            <a:avLst/>
          </a:prstGeom>
          <a:solidFill>
            <a:schemeClr val="bg1"/>
          </a:solidFill>
          <a:ln w="14288">
            <a:solidFill>
              <a:schemeClr val="accent6"/>
            </a:solidFill>
            <a:prstDash val="solid"/>
          </a:ln>
        </p:spPr>
      </p:sp>
      <p:pic>
        <p:nvPicPr>
          <p:cNvPr id="19" name="Image 4" descr="">    </p:cNvPr>
          <p:cNvPicPr>
            <a:picLocks noChangeAspect="1"/>
          </p:cNvPicPr>
          <p:nvPr/>
        </p:nvPicPr>
        <p:blipFill>
          <a:blip r:embed="rId5"/>
          <a:stretch>
            <a:fillRect/>
          </a:stretch>
        </p:blipFill>
        <p:spPr>
          <a:xfrm>
            <a:off x="7867650" y="2933700"/>
            <a:ext cx="190500" cy="190500"/>
          </a:xfrm>
          <a:prstGeom prst="rect">
            <a:avLst/>
          </a:prstGeom>
        </p:spPr>
      </p:pic>
      <p:sp>
        <p:nvSpPr>
          <p:cNvPr id="20" name="Shape 13"/>
          <p:cNvSpPr/>
          <p:nvPr/>
        </p:nvSpPr>
        <p:spPr>
          <a:xfrm>
            <a:off x="8153400" y="1828800"/>
            <a:ext cx="3352800" cy="2400300"/>
          </a:xfrm>
          <a:prstGeom prst="roundRect">
            <a:avLst>
              <a:gd name="adj" fmla="val 7143"/>
            </a:avLst>
          </a:prstGeom>
          <a:solidFill>
            <a:schemeClr val="accent2">
              <a:alpha val="6000"/>
            </a:schemeClr>
          </a:solidFill>
          <a:ln w="23813">
            <a:solidFill>
              <a:schemeClr val="accent2"/>
            </a:solidFill>
            <a:prstDash val="solid"/>
          </a:ln>
        </p:spPr>
      </p:sp>
      <p:sp>
        <p:nvSpPr>
          <p:cNvPr id="21" name="Text 14"/>
          <p:cNvSpPr txBox="1"/>
          <p:nvPr/>
        </p:nvSpPr>
        <p:spPr>
          <a:xfrm>
            <a:off x="84201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2"/>
                </a:solidFill>
                <a:latin typeface="Paperlogy 8 ExtraBold" pitchFamily="34" charset="0"/>
                <a:ea typeface="Paperlogy 8 ExtraBold" pitchFamily="34" charset="-127"/>
                <a:cs typeface="Paperlogy 8 ExtraBold" pitchFamily="34" charset="-120"/>
              </a:rPr>
              <a:t>03</a:t>
            </a:r>
            <a:endParaRPr lang="ko-KR" sz="4000" dirty="0"/>
          </a:p>
        </p:txBody>
      </p:sp>
      <p:sp>
        <p:nvSpPr>
          <p:cNvPr id="22" name="Shape 15"/>
          <p:cNvSpPr/>
          <p:nvPr/>
        </p:nvSpPr>
        <p:spPr>
          <a:xfrm>
            <a:off x="10668000" y="2038350"/>
            <a:ext cx="571500" cy="571500"/>
          </a:xfrm>
          <a:prstGeom prst="ellipse">
            <a:avLst/>
          </a:prstGeom>
          <a:solidFill>
            <a:schemeClr val="accent2">
              <a:alpha val="10000"/>
            </a:schemeClr>
          </a:solidFill>
          <a:ln/>
        </p:spPr>
      </p:sp>
      <p:pic>
        <p:nvPicPr>
          <p:cNvPr id="23" name="Image 5" descr="">    </p:cNvPr>
          <p:cNvPicPr>
            <a:picLocks noChangeAspect="1"/>
          </p:cNvPicPr>
          <p:nvPr/>
        </p:nvPicPr>
        <p:blipFill>
          <a:blip r:embed="rId6"/>
          <a:stretch>
            <a:fillRect/>
          </a:stretch>
        </p:blipFill>
        <p:spPr>
          <a:xfrm>
            <a:off x="10810875" y="2181225"/>
            <a:ext cx="285750" cy="285750"/>
          </a:xfrm>
          <a:prstGeom prst="rect">
            <a:avLst/>
          </a:prstGeom>
        </p:spPr>
      </p:pic>
      <p:sp>
        <p:nvSpPr>
          <p:cNvPr id="24" name="Text 16"/>
          <p:cNvSpPr txBox="1"/>
          <p:nvPr/>
        </p:nvSpPr>
        <p:spPr>
          <a:xfrm>
            <a:off x="84201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관계기관 협의 후</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통행재개</a:t>
            </a:r>
            <a:endParaRPr lang="ko-KR" sz="2200" dirty="0"/>
          </a:p>
        </p:txBody>
      </p:sp>
      <p:sp>
        <p:nvSpPr>
          <p:cNvPr id="25" name="Shape 17"/>
          <p:cNvSpPr/>
          <p:nvPr/>
        </p:nvSpPr>
        <p:spPr>
          <a:xfrm>
            <a:off x="685800" y="4533900"/>
            <a:ext cx="10820400" cy="1295400"/>
          </a:xfrm>
          <a:prstGeom prst="roundRect">
            <a:avLst>
              <a:gd name="adj" fmla="val 13235"/>
            </a:avLst>
          </a:prstGeom>
          <a:solidFill>
            <a:schemeClr val="bg2"/>
          </a:solidFill>
          <a:ln/>
        </p:spPr>
      </p:sp>
      <p:sp>
        <p:nvSpPr>
          <p:cNvPr id="26" name="Shape 18"/>
          <p:cNvSpPr/>
          <p:nvPr/>
        </p:nvSpPr>
        <p:spPr>
          <a:xfrm>
            <a:off x="990600" y="4895850"/>
            <a:ext cx="571500" cy="571500"/>
          </a:xfrm>
          <a:prstGeom prst="ellipse">
            <a:avLst/>
          </a:prstGeom>
          <a:solidFill>
            <a:schemeClr val="tx2"/>
          </a:solidFill>
          <a:ln/>
        </p:spPr>
      </p:sp>
      <p:pic>
        <p:nvPicPr>
          <p:cNvPr id="27" name="Image 6" descr="">    </p:cNvPr>
          <p:cNvPicPr>
            <a:picLocks noChangeAspect="1"/>
          </p:cNvPicPr>
          <p:nvPr/>
        </p:nvPicPr>
        <p:blipFill>
          <a:blip r:embed="rId7"/>
          <a:stretch>
            <a:fillRect/>
          </a:stretch>
        </p:blipFill>
        <p:spPr>
          <a:xfrm>
            <a:off x="1133475" y="5038725"/>
            <a:ext cx="285750" cy="285750"/>
          </a:xfrm>
          <a:prstGeom prst="rect">
            <a:avLst/>
          </a:prstGeom>
        </p:spPr>
      </p:pic>
      <p:sp>
        <p:nvSpPr>
          <p:cNvPr id="28" name="Text 19"/>
          <p:cNvSpPr txBox="1"/>
          <p:nvPr/>
        </p:nvSpPr>
        <p:spPr>
          <a:xfrm>
            <a:off x="1790700" y="4800600"/>
            <a:ext cx="38100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개선사항 환류</a:t>
            </a:r>
            <a:endParaRPr lang="ko-KR" sz="1400" dirty="0"/>
          </a:p>
        </p:txBody>
      </p:sp>
      <p:sp>
        <p:nvSpPr>
          <p:cNvPr id="29" name="Text 20"/>
          <p:cNvSpPr txBox="1"/>
          <p:nvPr/>
        </p:nvSpPr>
        <p:spPr>
          <a:xfrm>
            <a:off x="1790700" y="5067300"/>
            <a:ext cx="9334500" cy="4191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훈련 중 도출된 개선사항은 행동 매뉴얼 및 향후 후속조치에 즉각 반영</a:t>
            </a:r>
            <a:endParaRPr lang="ko-KR" sz="2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2571750"/>
            <a:ext cx="4953000" cy="914400"/>
          </a:xfrm>
          <a:prstGeom prst="rect">
            <a:avLst/>
          </a:prstGeom>
          <a:noFill/>
          <a:ln/>
        </p:spPr>
        <p:txBody>
          <a:bodyPr wrap="square" lIns="0" tIns="0" rIns="0" bIns="0" rtlCol="0" anchor="t"/>
          <a:lstStyle/>
          <a:p>
            <a:pPr algn="l" indent="0" marL="0">
              <a:lnSpc>
                <a:spcPct val="97600"/>
              </a:lnSpc>
              <a:buNone/>
            </a:pPr>
            <a:r>
              <a:rPr lang="ko-KR" altLang="en-US" sz="6000" spc="-100" kern="0" dirty="0">
                <a:solidFill>
                  <a:schemeClr val="bg1"/>
                </a:solidFill>
                <a:latin typeface="Paperlogy 9 Black" pitchFamily="34" charset="0"/>
                <a:ea typeface="Paperlogy 9 Black" pitchFamily="34" charset="-127"/>
                <a:cs typeface="Paperlogy 9 Black" pitchFamily="34" charset="-120"/>
              </a:rPr>
              <a:t>감사합니다</a:t>
            </a:r>
            <a:endParaRPr lang="en-US" sz="6000" dirty="0"/>
          </a:p>
        </p:txBody>
      </p:sp>
      <p:pic>
        <p:nvPicPr>
          <p:cNvPr id="3" name="Tunnel artwork" descr="">    </p:cNvPr>
          <p:cNvPicPr>
            <a:picLocks noChangeAspect="1"/>
          </p:cNvPicPr>
          <p:nvPr/>
        </p:nvPicPr>
        <p:blipFill>
          <a:blip r:embed="rId1"/>
          <a:stretch>
            <a:fillRect/>
          </a:stretch>
        </p:blipFill>
        <p:spPr>
          <a:xfrm>
            <a:off x="5334000" y="0"/>
            <a:ext cx="6858000" cy="6858000"/>
          </a:xfrm>
          <a:prstGeom prst="rect">
            <a:avLst/>
          </a:prstGeom>
        </p:spPr>
      </p:pic>
      <p:pic>
        <p:nvPicPr>
          <p:cNvPr id="4" name="Image 1" descr="">    </p:cNvPr>
          <p:cNvPicPr>
            <a:picLocks noChangeAspect="1"/>
          </p:cNvPicPr>
          <p:nvPr/>
        </p:nvPicPr>
        <p:blipFill>
          <a:blip r:embed="rId2"/>
          <a:stretch>
            <a:fillRect/>
          </a:stretch>
        </p:blipFill>
        <p:spPr>
          <a:xfrm>
            <a:off x="685800" y="2219325"/>
            <a:ext cx="190500" cy="190500"/>
          </a:xfrm>
          <a:prstGeom prst="rect">
            <a:avLst/>
          </a:prstGeom>
        </p:spPr>
      </p:pic>
      <p:sp>
        <p:nvSpPr>
          <p:cNvPr id="5" name="Text 1"/>
          <p:cNvSpPr txBox="1"/>
          <p:nvPr/>
        </p:nvSpPr>
        <p:spPr>
          <a:xfrm>
            <a:off x="971550" y="2171700"/>
            <a:ext cx="4953000" cy="2857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3"/>
                </a:solidFill>
                <a:latin typeface="Paperlogy 6 SemiBold" pitchFamily="34" charset="0"/>
                <a:ea typeface="Paperlogy 6 SemiBold" pitchFamily="34" charset="-127"/>
                <a:cs typeface="Paperlogy 6 SemiBold" pitchFamily="34" charset="-120"/>
              </a:rPr>
              <a:t>현장에서 작동하는 협조체계</a:t>
            </a:r>
            <a:endParaRPr lang="ko-KR" sz="1600" dirty="0"/>
          </a:p>
        </p:txBody>
      </p:sp>
      <p:sp>
        <p:nvSpPr>
          <p:cNvPr id="6" name="Text 2"/>
          <p:cNvSpPr txBox="1"/>
          <p:nvPr/>
        </p:nvSpPr>
        <p:spPr>
          <a:xfrm>
            <a:off x="685800" y="3657600"/>
            <a:ext cx="4953000" cy="723900"/>
          </a:xfrm>
          <a:prstGeom prst="rect">
            <a:avLst/>
          </a:prstGeom>
          <a:noFill/>
          <a:ln/>
        </p:spPr>
        <p:txBody>
          <a:bodyPr wrap="square" lIns="0" tIns="0" rIns="0" bIns="0" rtlCol="0" anchor="t"/>
          <a:lstStyle/>
          <a:p>
            <a:pPr algn="l" indent="0" marL="0">
              <a:lnSpc>
                <a:spcPct val="127400"/>
              </a:lnSpc>
              <a:buNone/>
            </a:pPr>
            <a:r>
              <a:rPr lang="ko-KR" altLang="en-US" sz="1900" dirty="0">
                <a:solidFill>
                  <a:schemeClr val="accent4"/>
                </a:solidFill>
                <a:latin typeface="Paperlogy 5 Medium" pitchFamily="34" charset="0"/>
                <a:ea typeface="Paperlogy 5 Medium" pitchFamily="34" charset="-127"/>
                <a:cs typeface="Paperlogy 5 Medium" pitchFamily="34" charset="-120"/>
              </a:rPr>
              <a:t>훈련에 참여해주신 유관기관 및</a:t>
            </a:r>
            <a:endParaRPr lang="ko-KR" sz="1900" dirty="0"/>
          </a:p>
          <a:p>
            <a:pPr algn="l" indent="0" marL="0">
              <a:lnSpc>
                <a:spcPct val="127400"/>
              </a:lnSpc>
              <a:buNone/>
            </a:pPr>
            <a:r>
              <a:rPr lang="ko-KR" altLang="en-US" sz="1900" dirty="0">
                <a:solidFill>
                  <a:schemeClr val="accent4"/>
                </a:solidFill>
                <a:latin typeface="Paperlogy 5 Medium" pitchFamily="34" charset="0"/>
                <a:ea typeface="Paperlogy 5 Medium" pitchFamily="34" charset="-127"/>
                <a:cs typeface="Paperlogy 5 Medium" pitchFamily="34" charset="-120"/>
              </a:rPr>
              <a:t>관계자 여러분께 감사드립니다.</a:t>
            </a:r>
            <a:endParaRPr lang="ko-KR" sz="1900" dirty="0"/>
          </a:p>
        </p:txBody>
      </p:sp>
      <p:sp>
        <p:nvSpPr>
          <p:cNvPr id="7" name="Text 3"/>
          <p:cNvSpPr txBox="1"/>
          <p:nvPr/>
        </p:nvSpPr>
        <p:spPr>
          <a:xfrm>
            <a:off x="685800" y="5219700"/>
            <a:ext cx="4572000" cy="2857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3"/>
                </a:solidFill>
                <a:latin typeface="Paperlogy 7 Bold" pitchFamily="34" charset="0"/>
                <a:ea typeface="Paperlogy 7 Bold" pitchFamily="34" charset="-127"/>
                <a:cs typeface="Paperlogy 7 Bold" pitchFamily="34" charset="-120"/>
              </a:rPr>
              <a:t>2026 재난대응 안전한국훈련</a:t>
            </a:r>
            <a:endParaRPr lang="ko-KR" sz="1600" dirty="0"/>
          </a:p>
        </p:txBody>
      </p:sp>
      <p:sp>
        <p:nvSpPr>
          <p:cNvPr id="8" name="Text 4"/>
          <p:cNvSpPr txBox="1"/>
          <p:nvPr/>
        </p:nvSpPr>
        <p:spPr>
          <a:xfrm>
            <a:off x="685800" y="5581650"/>
            <a:ext cx="57150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bg1"/>
                </a:solidFill>
                <a:latin typeface="Paperlogy 5 Medium" pitchFamily="34" charset="0"/>
                <a:ea typeface="Paperlogy 5 Medium" pitchFamily="34" charset="-127"/>
                <a:cs typeface="Paperlogy 5 Medium" pitchFamily="34" charset="-120"/>
              </a:rPr>
              <a:t>예산국토관리사무소  시설안전관리과</a:t>
            </a:r>
            <a:endParaRPr lang="ko-KR" sz="1600" dirty="0"/>
          </a:p>
        </p:txBody>
      </p:sp>
    </p:spTree>
  </p:cSld>
  <p:clrMapOvr>
    <a:masterClrMapping/>
  </p:clrMapOvr>
</p:sld>
</file>

<file path=ppt/theme/theme1.xml><?xml version="1.0" encoding="utf-8"?>
<a:theme xmlns:a="http://schemas.openxmlformats.org/drawingml/2006/main" name="Onseok Tunnel Briefing">
  <a:themeElements>
    <a:clrScheme name="Onseok Tunnel Briefing">
      <a:dk1>
        <a:srgbClr val="141C2E"/>
      </a:dk1>
      <a:lt1>
        <a:srgbClr val="FFFFFF"/>
      </a:lt1>
      <a:dk2>
        <a:srgbClr val="0D1F3C"/>
      </a:dk2>
      <a:lt2>
        <a:srgbClr val="EEF2F7"/>
      </a:lt2>
      <a:accent1>
        <a:srgbClr val="1E4B8F"/>
      </a:accent1>
      <a:accent2>
        <a:srgbClr val="D9480F"/>
      </a:accent2>
      <a:accent3>
        <a:srgbClr val="FFB02E"/>
      </a:accent3>
      <a:accent4>
        <a:srgbClr val="AFC2E3"/>
      </a:accent4>
      <a:accent5>
        <a:srgbClr val="5A6478"/>
      </a:accent5>
      <a:accent6>
        <a:srgbClr val="D5DDE8"/>
      </a:accent6>
      <a:hlink>
        <a:srgbClr val="1E4B8F"/>
      </a:hlink>
      <a:folHlink>
        <a:srgbClr val="5A6478"/>
      </a:folHlink>
    </a:clrScheme>
    <a:fontScheme name="Onseok Tunnel Briefing">
      <a:majorFont>
        <a:latin typeface="Paperlogy 8 ExtraBold"/>
        <a:ea typeface="Paperlogy 8 ExtraBold"/>
        <a:cs typeface=""/>
        <a:font script="Jpan" typeface="游ゴシック Light"/>
        <a:font script="Hang" typeface="Paperlogy 8 ExtraBol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perlogy 4 Regular"/>
        <a:ea typeface="Paperlogy 4 Regular"/>
        <a:cs typeface=""/>
        <a:font script="Jpan" typeface="游ゴシック"/>
        <a:font script="Hang" typeface="Paperlogy 4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예산국토관리사무소</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온석터널 훈련개요 브리핑</dc:title>
  <dc:subject>2026 재난대응 안전한국훈련</dc:subject>
  <dc:creator>예산국토관리사무소 시설안전관리과</dc:creator>
  <cp:lastModifiedBy>예산국토관리사무소 시설안전관리과</cp:lastModifiedBy>
  <cp:revision>1</cp:revision>
  <dcterms:created xsi:type="dcterms:W3CDTF">2026-10-19T08:15:03Z</dcterms:created>
  <dcterms:modified xsi:type="dcterms:W3CDTF">2026-10-19T08:15:03Z</dcterms:modified>
</cp:coreProperties>
</file>